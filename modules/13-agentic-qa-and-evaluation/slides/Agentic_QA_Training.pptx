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notesMasterIdLst>
    <p:notesMasterId r:id="rId4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notesMaster" Target="notesMasters/notesMaster1.xml"/><Relationship Id="rId50" Type="http://schemas.openxmlformats.org/officeDocument/2006/relationships/presProps" Target="presProps.xml"/><Relationship Id="rId51" Type="http://schemas.openxmlformats.org/officeDocument/2006/relationships/viewProps" Target="viewProps.xml"/><Relationship Id="rId52" Type="http://schemas.openxmlformats.org/officeDocument/2006/relationships/theme" Target="theme/theme1.xml"/><Relationship Id="rId5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in minute one with a chat check-in: 'one word: what have you shipped to prod?'. Set the norm that everyone types. This is a working session, not a lecture.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Anchor every later technique back to one of these six. Ask the room: which of these have you actually hit? Cold-call two people by name.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table is the mental reframe for the whole session. Land row 5 hard: a perfectly available agent can be confidently wrong. That is the gap QA closes.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spine. Topics 1, 2 and 4 build the fourth signal. Topic 3 reads all four. Keep coming back to 'available and still wrong'.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Directly answers the client ask: where does QA sit in the agent lifecycle. Make the point that gating and observability are deploy/operate concerns, while strategy and eval start at design and build.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~30 minutes. The goal: leave with a layered test suite, not a single end-to-end check. Predict-then-reveal works well in this section.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each point to TravelMind. Ask: if we only had the demo, which of the six failures would ship? Name a person to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top down so they see value, then bottom up so they see what to build first. Emphasise: most of your tests are cheap deterministic tool checks. Real-model tests are few and run on change, not every commit.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design lesson: separating tool logic from the @tool decorator is what makes tools unit-testable. This is a real refinement over decorating in place.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the invariant assertion on the last line: we check that a real rebooking option surfaced, not the exact wording. That is how you test non-deterministic 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this live as a numbered roll-call: each person names one thing that must always be true. Builds the invariant list with the room before showing the solution.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the three comment headers map to the pyramid. The invariant pattern (offered or none_msg) is the single most useful idea to take away from Topic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~30 minutes. The takeaway: a golden set plus a layered eval that runs on every prompt change. Show the regression live by worsening a prompt.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Pushback to pre-empt: 'isn't using an LLM to grade an LLM circular?' Answer: yes if ungrounded. You ground the judge with the tool FACTS and calibrate it against human labels. It is a triage tool, not ground truth.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explicit that RAGAS is not for the tool-calling booking flow (no retrieved context there). It is for the policy KB answers. Using the right grader on the right surface is the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live demo moment. Run it, show v7 lower, show the failing id, fix, re-run. Nothing persuades a QA room like watching a regression caught automatically.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~30 minutes. Land the Session-Trace-Span model and the aws/spans log group. Show a real trace if AWS access is live; otherwise walk a screenshot.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three-tier hierarchy is the whole mental model. Each LLM call and tool call is a span with tokens and latency. The Transaction Search gotcha has burned many teams; call it 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reframe: cost is not only finance. A spike is the cheapest early warning of a looping or retrying agent. Wire an alarm on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back to Topic 1: the post-condition assertion is exactly the kind of invariant you would also encode as a behaviour test. The topics reinforce each other.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~30 minutes. The payoff slide of the session: everything composes into one gate. Show the gate failing, then passing.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artifact is what you hand the client. It is the proof that the gap is closed for a given build. Auditable, repeatable, signed.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moment to connect all four topics: the eval number that failed the gate came from Topic 2, the cost and latency from Topic 3, the tests from Topic 1. The gate just composed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~10 minutes. Walk the single end-to-end example, then the recap, then exit tickets in chat.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single most important slide. It proves the four topics are one workflow. Walk it slowly. Ask the room which step they are weakest on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exit ticket in chat: one thing you will add to your pipeline this sprint. Read three aloud. End on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5544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PRACTITIONER BOOTCAMP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2011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AI Quality Engineering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548640" y="315468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agents you can trust in production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4114800"/>
            <a:ext cx="11091672" cy="1371600"/>
          </a:xfrm>
          <a:prstGeom prst="roundRect">
            <a:avLst>
              <a:gd name="adj" fmla="val 4667"/>
            </a:avLst>
          </a:prstGeom>
          <a:solidFill>
            <a:srgbClr val="1E293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4297680"/>
            <a:ext cx="10543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hours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topics, each from why-it-matters to a working artifact. Anchored on TravelMind. Ends with one end-to-end run.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demo passed. Production is a different animal.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demo passes. Every one of these shows up in production unless you design and test against it.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575304" cy="1417320"/>
          </a:xfrm>
          <a:prstGeom prst="roundRect">
            <a:avLst>
              <a:gd name="adj" fmla="val 45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965960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Looping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32095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retries the same dates 30 times when no flights exist.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06824" y="1828800"/>
            <a:ext cx="3575304" cy="1417320"/>
          </a:xfrm>
          <a:prstGeom prst="roundRect">
            <a:avLst>
              <a:gd name="adj" fmla="val 45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89704" y="1965960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Silent tool failure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489704" y="2377440"/>
            <a:ext cx="32095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 times out, the agent continues and claims 'rebooked'.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065008" y="1828800"/>
            <a:ext cx="3575304" cy="1417320"/>
          </a:xfrm>
          <a:prstGeom prst="roundRect">
            <a:avLst>
              <a:gd name="adj" fmla="val 45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47888" y="1965960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Hallucinated step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47888" y="2377440"/>
            <a:ext cx="32095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reports 'refund issued' without ever calling the refund tool.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429000"/>
            <a:ext cx="3575304" cy="1417320"/>
          </a:xfrm>
          <a:prstGeom prst="roundRect">
            <a:avLst>
              <a:gd name="adj" fmla="val 45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31520" y="3566160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bleed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31520" y="3977640"/>
            <a:ext cx="32095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previous customer's PNR leaks into this customer's answer.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306824" y="3429000"/>
            <a:ext cx="3575304" cy="1417320"/>
          </a:xfrm>
          <a:prstGeom prst="roundRect">
            <a:avLst>
              <a:gd name="adj" fmla="val 45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489704" y="3566160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 drift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489704" y="3977640"/>
            <a:ext cx="32095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treats authorisation as payment. The charge never settles.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065008" y="3429000"/>
            <a:ext cx="3575304" cy="1417320"/>
          </a:xfrm>
          <a:prstGeom prst="roundRect">
            <a:avLst>
              <a:gd name="adj" fmla="val 45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247888" y="3566160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Unsafe autonomy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247888" y="3977640"/>
            <a:ext cx="32095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high-value rebooking goes through with no approval gate.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48640" y="49834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six are the test surface for the next two hours.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PRINCIPLES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traditional QA breaks for agents</a:t>
            </a:r>
            <a:endParaRPr lang="en-US" sz="27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1672" cy="914400"/>
        </p:xfrm>
        <a:graphic>
          <a:graphicData uri="http://schemas.openxmlformats.org/drawingml/2006/table">
            <a:tbl>
              <a:tblPr/>
              <a:tblGrid>
                <a:gridCol w="4846320"/>
                <a:gridCol w="59436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Traditional software QA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Agentic QA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input gives the same output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input can give a different output each run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Assert on an exact expected value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Assert on properties: end state, tool calls, invariants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Bug means a wrong line of code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 can be a wrong decision by the 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 or fail is binary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 is a score against a threshold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Green build means correct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Available and still wrong is possible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 = lines and branches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 = scenarios, tools, hand-offs, adversarial inputs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9893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shift: you stop testing for one right string and start testing for behaviour that holds under non-determinism.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signals. QA owns the one APM misses.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35758" cy="2926080"/>
          </a:xfrm>
          <a:prstGeom prst="roundRect">
            <a:avLst>
              <a:gd name="adj" fmla="val 242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719072"/>
            <a:ext cx="23065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 Metrics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13232" y="2286000"/>
            <a:ext cx="230657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Latency, throughput, error rate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13232" y="3291840"/>
            <a:ext cx="23065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up and fast?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13232" y="3886200"/>
            <a:ext cx="23065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APM gives you this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67278" y="1554480"/>
            <a:ext cx="2635758" cy="2926080"/>
          </a:xfrm>
          <a:prstGeom prst="roundRect">
            <a:avLst>
              <a:gd name="adj" fmla="val 242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31870" y="1719072"/>
            <a:ext cx="23065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 Logs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31870" y="2286000"/>
            <a:ext cx="230657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happened, step by step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31870" y="3291840"/>
            <a:ext cx="23065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it do?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31870" y="3886200"/>
            <a:ext cx="23065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APM gives you this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85916" y="1554480"/>
            <a:ext cx="2635758" cy="2926080"/>
          </a:xfrm>
          <a:prstGeom prst="roundRect">
            <a:avLst>
              <a:gd name="adj" fmla="val 242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50508" y="1719072"/>
            <a:ext cx="23065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 Traces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50508" y="2286000"/>
            <a:ext cx="230657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Spans per tool and model call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50508" y="3291840"/>
            <a:ext cx="23065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did it break?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50508" y="3886200"/>
            <a:ext cx="23065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APM gives you this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004554" y="1554480"/>
            <a:ext cx="2635758" cy="2926080"/>
          </a:xfrm>
          <a:prstGeom prst="roundRect">
            <a:avLst>
              <a:gd name="adj" fmla="val 2428"/>
            </a:avLst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169146" y="1719072"/>
            <a:ext cx="23065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 Quality evals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169146" y="2286000"/>
            <a:ext cx="230657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the answer correct and safe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69146" y="3291840"/>
            <a:ext cx="23065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it right?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69146" y="3886200"/>
            <a:ext cx="23065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QA gives you this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4846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three are technical signals. The fourth is a product-quality signal. Skipping it is the most common mistake when porting APM habits onto agents.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QA ENTERS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QA across the development lifecycle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072030" cy="2468880"/>
          </a:xfrm>
          <a:prstGeom prst="roundRect">
            <a:avLst>
              <a:gd name="adj" fmla="val 308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993392"/>
            <a:ext cx="179771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2514600"/>
            <a:ext cx="179771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done. Test inventory. Risk map.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3794760"/>
            <a:ext cx="17977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648102" y="3063240"/>
            <a:ext cx="128016" cy="0"/>
          </a:xfrm>
          <a:prstGeom prst="line">
            <a:avLst/>
          </a:prstGeom>
          <a:noFill/>
          <a:ln w="25400">
            <a:solidFill>
              <a:srgbClr val="B45309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803550" y="1828800"/>
            <a:ext cx="2072030" cy="2468880"/>
          </a:xfrm>
          <a:prstGeom prst="roundRect">
            <a:avLst>
              <a:gd name="adj" fmla="val 308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940710" y="1993392"/>
            <a:ext cx="179771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940710" y="2514600"/>
            <a:ext cx="179771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Tool-contract tests. Golden set.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940710" y="3794760"/>
            <a:ext cx="17977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 · T2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903013" y="3063240"/>
            <a:ext cx="128016" cy="0"/>
          </a:xfrm>
          <a:prstGeom prst="line">
            <a:avLst/>
          </a:prstGeom>
          <a:noFill/>
          <a:ln w="25400">
            <a:solidFill>
              <a:srgbClr val="B45309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058461" y="1828800"/>
            <a:ext cx="2072030" cy="2468880"/>
          </a:xfrm>
          <a:prstGeom prst="roundRect">
            <a:avLst>
              <a:gd name="adj" fmla="val 308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195621" y="1993392"/>
            <a:ext cx="179771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195621" y="2514600"/>
            <a:ext cx="179771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 + multi-agent tests. Eval pipeline + judge.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195621" y="3794760"/>
            <a:ext cx="17977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 · T2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157923" y="3063240"/>
            <a:ext cx="128016" cy="0"/>
          </a:xfrm>
          <a:prstGeom prst="line">
            <a:avLst/>
          </a:prstGeom>
          <a:noFill/>
          <a:ln w="25400">
            <a:solidFill>
              <a:srgbClr val="B45309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313371" y="1828800"/>
            <a:ext cx="2072030" cy="2468880"/>
          </a:xfrm>
          <a:prstGeom prst="roundRect">
            <a:avLst>
              <a:gd name="adj" fmla="val 308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450531" y="1993392"/>
            <a:ext cx="179771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450531" y="2514600"/>
            <a:ext cx="179771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 + sign-off. Observability wired in.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450531" y="3794760"/>
            <a:ext cx="17977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 · T4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412834" y="3063240"/>
            <a:ext cx="128016" cy="0"/>
          </a:xfrm>
          <a:prstGeom prst="line">
            <a:avLst/>
          </a:prstGeom>
          <a:noFill/>
          <a:ln w="25400">
            <a:solidFill>
              <a:srgbClr val="B45309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568282" y="1828800"/>
            <a:ext cx="2072030" cy="2468880"/>
          </a:xfrm>
          <a:prstGeom prst="roundRect">
            <a:avLst>
              <a:gd name="adj" fmla="val 308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705442" y="1993392"/>
            <a:ext cx="179771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705442" y="2514600"/>
            <a:ext cx="179771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Trace-driven debugging. Cost quality. Drift regression.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705442" y="3794760"/>
            <a:ext cx="17977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 · T3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8640" y="47091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is not a phase at the end. It threads every stage. T1 to T4 are the four topics today.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TWO HOURS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topics, one through-line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1672" cy="91440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664208"/>
            <a:ext cx="512064" cy="512064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6642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63040" y="1581912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Test Strategy &amp; Multi-Agent Test Design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63040" y="19659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what to test when output is probabilistic.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902952" y="1737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min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542032"/>
            <a:ext cx="11091672" cy="91440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49808" y="2743200"/>
            <a:ext cx="512064" cy="512064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" y="27432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463040" y="2660904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Regression, Eval Pipelines &amp; LLM-as-Judge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63040" y="304495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quality and catch silent drift.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902952" y="281635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min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621024"/>
            <a:ext cx="11091672" cy="91440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49808" y="3822192"/>
            <a:ext cx="512064" cy="512064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" y="38221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463040" y="3739896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Observability-Driven Debugging &amp; Cost Quality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63040" y="4123944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traces, find root cause, treat cost as a signal.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902952" y="389534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min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4700016"/>
            <a:ext cx="11091672" cy="91440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49808" y="4901184"/>
            <a:ext cx="512064" cy="512064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24" name="Text 22"/>
          <p:cNvSpPr/>
          <p:nvPr/>
        </p:nvSpPr>
        <p:spPr>
          <a:xfrm>
            <a:off x="749808" y="490118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463040" y="4818888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 Gates in the Pipeline + Sign-off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463040" y="5202936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bad builds. Produce a sign-off the team trusts.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902952" y="497433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min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8640" y="59436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topic ends with a worked example. We close with one change taken end to end through all four.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574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OF 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2468880"/>
            <a:ext cx="110916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Test Strategy &amp;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Multi-Agent Test Design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3886200"/>
            <a:ext cx="10177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test strategy for systems where the output is probabilistic and the failure can be a decision, not a line of code.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WHY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is needed, why it is essential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08676" cy="4206240"/>
          </a:xfrm>
          <a:prstGeom prst="roundRect">
            <a:avLst>
              <a:gd name="adj" fmla="val 1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459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is needed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4937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chooses its own path. You cannot enumerate every path by hand.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passing demo proves one happy run, not the thousand a customer will drive.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six production failures all hide behind a green demo.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strategy you test what is easy, not what is risky.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31636" y="1463040"/>
            <a:ext cx="5408676" cy="4206240"/>
          </a:xfrm>
          <a:prstGeom prst="roundRect">
            <a:avLst>
              <a:gd name="adj" fmla="val 1522"/>
            </a:avLst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60236" y="16459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is essential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60236" y="2148840"/>
            <a:ext cx="4937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strategy turns 'test the agent' into specific, ranked, repeatable checks.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tells you what to re-run when a model, prompt, or pattern changes.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the only way to keep a non-deterministic system from regressing silently.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the foundation the other three topics build on.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HOW IT DIFFERS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Strategy, not a single test case</a:t>
            </a:r>
            <a:endParaRPr lang="en-US" sz="27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1672" cy="914400"/>
        </p:xfrm>
        <a:graphic>
          <a:graphicData uri="http://schemas.openxmlformats.org/drawingml/2006/table">
            <a:tbl>
              <a:tblPr/>
              <a:tblGrid>
                <a:gridCol w="4846320"/>
                <a:gridCol w="59436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Traditional test design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Agentic test design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to expected-output pairs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 to acceptance-criteria, scored on observable outputs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assertion per case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Assert tool calls, end state, and invariants together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Mock everything, fully deterministic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Mock the model seam; accept bounded non-determinism above 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Regress when code changes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Regress when model, prompt, or orchestration changes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Flat suite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pyramid: tools, behaviour, scenario, adversarial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7607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discipline, different unit of test. The unit is a behaviour under conditions, not a function returning a value.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agent test pyramid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91672" cy="786384"/>
          </a:xfrm>
          <a:prstGeom prst="roundRect">
            <a:avLst>
              <a:gd name="adj" fmla="val 8140"/>
            </a:avLst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472184"/>
            <a:ext cx="49912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Adversarial probes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539892" y="1472184"/>
            <a:ext cx="443666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Jailbreaks, bad PNRs, prompt injection via tool output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976561" y="1472184"/>
            <a:ext cx="1572311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few, high value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600200" y="2350008"/>
            <a:ext cx="8988552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783080" y="2404872"/>
            <a:ext cx="404484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Scenario tests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45048" y="2404872"/>
            <a:ext cx="3595421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booking-exception flows, end to end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240469" y="2404872"/>
            <a:ext cx="1256843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651760" y="3282696"/>
            <a:ext cx="6885432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834640" y="3337560"/>
            <a:ext cx="309844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Behaviour tests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750204" y="3337560"/>
            <a:ext cx="2754173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it pick the right tool, reach the right end state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504377" y="3337560"/>
            <a:ext cx="94137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703320" y="4215384"/>
            <a:ext cx="4782312" cy="786384"/>
          </a:xfrm>
          <a:prstGeom prst="roundRect">
            <a:avLst>
              <a:gd name="adj" fmla="val 814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886200" y="4270248"/>
            <a:ext cx="2152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Tool-contract tests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855360" y="4270248"/>
            <a:ext cx="191292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tool returns the agreed shape and values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68285" y="4270248"/>
            <a:ext cx="62590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many, fast, deterministic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58978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Determinism boundary:  </a:t>
            </a:r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two layers run with the model mocked, on every commit. Top two run on a real model, on prompt or model change.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CODE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 1 — tool-contract tests (deterministic)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tool logic in plain functions. The agent wraps them with @tool at wiring time. Now the logic is testable with no model and no AWS.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1091672" cy="4297680"/>
          </a:xfrm>
          <a:prstGeom prst="roundRect">
            <a:avLst>
              <a:gd name="adj" fmla="val 1064"/>
            </a:avLst>
          </a:prstGeom>
          <a:solidFill>
            <a:srgbClr val="0F172A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13232" y="1947672"/>
            <a:ext cx="10762488" cy="4059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test_contracts.py  --  runs on every commit. No model. No AWS.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pytest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travelmind_tools import (lookup_booking,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get_disruption_reason, get_rebooking_options)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test_lookup_has_required_fields():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out = lookup_booking("JX48Q2")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 {"pnr","status","flight","date"} &lt;= set(out)  # shape is the contract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 out["pnr"] == "JX48Q2"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@pytest.mark.parametrize("pnr", ["JX48Q2", "AB12CD"])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test_status_is_a_known_value(pnr):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 lookup_booking(pnr)["status"] in {"CONFIRMED","CANCELLED","DELAYED"}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test_rebooking_returns_options():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opts = get_rebooking_options("JX48Q2")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 isinstance(opts, list) and len(opts) &gt;= 1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 {"flight","dep"} &lt;= set(opts[0])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62636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lines are the contract. If a tool ever returns a surprise shape or an unknown status, this fails before the agent ever runs.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CODE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 2-3 — behaviour and trajectory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Spy the tools, run the agent, assert on decisions and end state. Never assert an exact sentence.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091672" cy="3931920"/>
          </a:xfrm>
          <a:prstGeom prst="roundRect">
            <a:avLst>
              <a:gd name="adj" fmla="val 1163"/>
            </a:avLst>
          </a:prstGeom>
          <a:solidFill>
            <a:srgbClr val="0F172A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13232" y="1901952"/>
            <a:ext cx="10762488" cy="3694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test_behaviour.py  --  runs on prompt or model change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calls = []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spy(fn):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w(*a, **k): calls.append(fn.__name__); return fn(*a, **k)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w.__name__, w.__doc__ = fn.__name__, fn.__doc__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w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= Agent(model=bedrock, system_prompt=TRAVELMIND,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tools=[tool(spy(lookup_booking)), tool(spy(get_rebooking_options))])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test_rebooking_trajectory():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calls.clear()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out = str(agent("PNR JX48Q2 was cancelled. Rebook me."))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 "lookup_booking" in calls        # checked before acting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 "get_rebooking_options" in calls  # offered alternatives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 ("AI-318" in out) or ("6E-552" in out)  # a real option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58978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Multi-agent:  </a:t>
            </a:r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edges are fixed, so assert each node completed. Swarm hand-off order is not, so assert reachability and end state, never the sequence.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AVOID &amp; PRODUCTION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Traps and what holds up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08676" cy="4114800"/>
          </a:xfrm>
          <a:prstGeom prst="roundRect">
            <a:avLst>
              <a:gd name="adj" fmla="val 15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276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9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Avoid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10312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Asserting an exact response string. It will flake on the next model tick.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every test on a live model. Slow, costly, non-deterministic CI.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only the happy path. The six failures live in the unhappy ones.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Asserting Swarm hand-off order. It is not guaranteed.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31636" y="1463040"/>
            <a:ext cx="5408676" cy="4114800"/>
          </a:xfrm>
          <a:prstGeom prst="roundRect">
            <a:avLst>
              <a:gd name="adj" fmla="val 15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60236" y="16276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65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 insights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60236" y="210312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 TravelMind test inventory: scenario, tools touched, end state.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behaviour tests on any model, prompt, or orchestration change.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real-model test on a few seeds and assert invariants across all.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tests on every commit; behaviour tests on change; nightly full run.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WORKED EXAMPLE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Brainstorm: what to test in the rebooking flow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customer with a weather-cancelled PNR asks to be rebooked. Before writing code, map the surface.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408676" cy="12801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947672"/>
            <a:ext cx="50429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must always be true?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50429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option is offered, or a clear 'no options' message. No invented flight.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31636" y="1828800"/>
            <a:ext cx="5408676" cy="12801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14516" y="1947672"/>
            <a:ext cx="50429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tools must fire?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14516" y="2331720"/>
            <a:ext cx="50429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lookup_booking, then get_rebooking_options. Order matters here.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255264"/>
            <a:ext cx="5408676" cy="12801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31520" y="3374136"/>
            <a:ext cx="50429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the end state?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3758184"/>
            <a:ext cx="50429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named rebooking option surfaced, or an honest empty result.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31636" y="3255264"/>
            <a:ext cx="5408676" cy="12801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14516" y="3374136"/>
            <a:ext cx="50429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can it go wrong?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14516" y="3758184"/>
            <a:ext cx="50429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Skips lookup and guesses. Loops on no-results. Claims rebooked silently.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681728"/>
            <a:ext cx="5408676" cy="12801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31520" y="4800600"/>
            <a:ext cx="50429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deterministic?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1520" y="5184648"/>
            <a:ext cx="50429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shapes and status values. Test these without a model.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31636" y="4681728"/>
            <a:ext cx="5408676" cy="12801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14516" y="4800600"/>
            <a:ext cx="50429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needs a real model?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14516" y="5184648"/>
            <a:ext cx="50429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it choose the right tools and end correctly. Few seeds, invariants.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WORKED EXAMPLE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Solution: the rebooking test suite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1672" cy="4754880"/>
          </a:xfrm>
          <a:prstGeom prst="roundRect">
            <a:avLst>
              <a:gd name="adj" fmla="val 962"/>
            </a:avLst>
          </a:prstGeom>
          <a:solidFill>
            <a:srgbClr val="0F172A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490472"/>
            <a:ext cx="10762488" cy="4517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Deterministic contract (every commit)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test_options_have_flight_and_dep():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o in get_rebooking_options("JX48Q2"):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assert {"flight","dep"} &lt;= set(o)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Behaviour on a real model (on change), few seeds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@pytest.mark.parametrize("seed", range(3))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test_rebooks_or_says_none(seed):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calls.clear()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out = str(agent("PNR JX48Q2 cancelled. Options?"))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 "lookup_booking" in calls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offered = ("AI-318" in out) or ("6E-552" in out)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none_msg = "no options" in out.lower()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 offered or none_msg   # invariant holds every seed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Adversarial: a PNR that does not exist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test_bad_pnr_is_not_invented():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out = str(agent("Rebook PNR ZZZZZZ")).lower()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 "ai-3" not in out   # no hallucinated flight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62179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layers, one flow. Cheap checks guard the shape, model checks guard the behaviour, the probe guards against invention.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574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OF 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2468880"/>
            <a:ext cx="110916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Regression, Eval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Pipelines &amp; LLM-as-Judge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3886200"/>
            <a:ext cx="10177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a measurement discipline around probabilistic output so a prompt edit cannot quietly make the agent worse.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· WHY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is needed, why it is essential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08676" cy="4206240"/>
          </a:xfrm>
          <a:prstGeom prst="roundRect">
            <a:avLst>
              <a:gd name="adj" fmla="val 1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459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is needed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one-word prompt edit can swing quality and you will not see it by eye.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has no single right answer, so you cannot diff against a fixed string.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Swapping the model re-rolls every behaviour at once.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baseline you are guessing whether a change helped or hurt.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31636" y="1463040"/>
            <a:ext cx="5408676" cy="4206240"/>
          </a:xfrm>
          <a:prstGeom prst="roundRect">
            <a:avLst>
              <a:gd name="adj" fmla="val 1522"/>
            </a:avLst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60236" y="16459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is essential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60236" y="214884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golden set turns 'seems fine' into a number you can compare.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on every prompt change catches silent drift the day it happens.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the score the deploy gate reads to allow or block a release.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tells you when a model swap needs a full re-evaluation.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· HOW IT DIFFERS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Evaluation, not assertion</a:t>
            </a:r>
            <a:endParaRPr lang="en-US" sz="27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1672" cy="914400"/>
        </p:xfrm>
        <a:graphic>
          <a:graphicData uri="http://schemas.openxmlformats.org/drawingml/2006/table">
            <a:tbl>
              <a:tblPr/>
              <a:tblGrid>
                <a:gridCol w="4846320"/>
                <a:gridCol w="59436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Traditional regression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Agentic evaluation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value is fixed and known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Acceptance criteria, not an exact answer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comparison: equal or not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score, compared to a threshold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Deterministic, repeatable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Probabilistic; you average and watch variance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Triggered by a code change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Triggered by a prompt or model change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grader needed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Sometimes a model grades the model, with care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7607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not checking equality. You are measuring quality and asking whether it cleared the bar.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· 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graders, cheapest first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91672" cy="1188720"/>
          </a:xfrm>
          <a:prstGeom prst="roundRect">
            <a:avLst>
              <a:gd name="adj" fmla="val 538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5506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 Deterministic checks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931920" y="1655064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Substring, JSON shape, must-include and must-not. Free, instant.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079992" y="1655064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first, always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11091672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302666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 LLM-as-judge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931920" y="3026664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stronger model scores tone, completeness, no-invention against a rubric.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079992" y="3026664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substring cannot grade it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251960"/>
            <a:ext cx="11091672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" y="439826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 RAGAS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931920" y="4398264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 and relevance for retrieval-grounded answers.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079992" y="4398264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answer is from a knowledge base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58064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for the judge only when a cheap check cannot grade the property. Reach for RAGAS only when there is retrieved context to be faithful to.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· CODE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Golden set + regression harness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1672" cy="1417320"/>
          </a:xfrm>
          <a:prstGeom prst="roundRect">
            <a:avLst>
              <a:gd name="adj" fmla="val 3226"/>
            </a:avLst>
          </a:prstGeom>
          <a:solidFill>
            <a:srgbClr val="0F172A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490472"/>
            <a:ext cx="10762488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golden_set.jsonl -- criteria, not exact answers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{"id":"g1","input":"Is PNR JX48Q2 affected?",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"must":["cancelled","weather"],"must_not":["confirmed"]}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{"id":"g2","input":"Rebooking options for JX48Q2?",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"must":["AI-318"],"must_not":[]}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926080"/>
            <a:ext cx="11091672" cy="2743200"/>
          </a:xfrm>
          <a:prstGeom prst="roundRect">
            <a:avLst>
              <a:gd name="adj" fmla="val 1667"/>
            </a:avLst>
          </a:prstGeom>
          <a:solidFill>
            <a:srgbClr val="0F172A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13232" y="3044952"/>
            <a:ext cx="10762488" cy="2505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eval_harness.py -- runs on every prompt change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json; from travelmind_agent import agent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check(c):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out = str(agent(c["input"])).lower()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inc = all(t.lower() in out for t in c["must"])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exc = all(t.lower() not in out for t in c["must_not"])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inc and exc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cases = [json.loads(l) for l in open("golden_set.jsonl")]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rate = sum(check(c) for c in cases) / len(cases)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print(f"pass rate {rate:.0%}")   # the deploy gate reads this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58064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here. Most quality checks are substring and shape. They cost nothing and they catch the obvious regressions.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· CODE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LLM-as-judge, grounded and de-biased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1672" cy="4206240"/>
          </a:xfrm>
          <a:prstGeom prst="roundRect">
            <a:avLst>
              <a:gd name="adj" fmla="val 1087"/>
            </a:avLst>
          </a:prstGeom>
          <a:solidFill>
            <a:srgbClr val="0F172A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490472"/>
            <a:ext cx="10762488" cy="3968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judge.py -- grades what a substring cannot: tone, completeness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json; from strands import Agent; from strands.models import BedrockModel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JUDGE = "us.anthropic.claude-sonnet-4-5-20250929-v1:0"  # stronger than agent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RUBRIC = ('Score 1-5 on correctness vs FACTS, completeness, and '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'no invented PNR/flight/policy. '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'Return ONLY JSON {"score":N,"reason":"..."}')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judge(question, reply, facts):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 = Agent(model=BedrockModel(model_id=JUDGE, region_name="us-east-1"),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system_prompt=RUBRIC)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json.loads(str(j(f"Q:{question}\nFACTS:{facts}\nREPLY:{reply}")))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ground it with FACTS from the tools, or the judge guesses too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for pairwise: score (A,B) and (B,A), average -&gt; cancels position bias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57150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judge is a tool, not an oracle. Ground it, constrain it to JSON, and trust it only as far as it agrees with your human labels.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· CODE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RAGAS for retrieval-grounded answers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answer comes from the policy knowledge base, faithfulness measures how much of it the retrieved context actually supports.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091672" cy="4206240"/>
          </a:xfrm>
          <a:prstGeom prst="roundRect">
            <a:avLst>
              <a:gd name="adj" fmla="val 1087"/>
            </a:avLst>
          </a:prstGeom>
          <a:solidFill>
            <a:srgbClr val="0F172A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13232" y="1901952"/>
            <a:ext cx="10762488" cy="3968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ragas_eval.py -- current collections API (single_turn_ascore)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ragas.dataset_schema import SingleTurnSample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ragas.metrics import Faithfulness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ragas.llms import LangchainLLMWrapper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langchain_aws import ChatBedrock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evaluator = LangchainLLMWrapper(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ChatBedrock(model_id=JUDGE, region_name="us-east-1"))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sample = SingleTurnSample(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user_input="Refund window for a weather cancellation?",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response=agent_reply,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retrieved_contexts=[policy_chunk_1, policy_chunk_2])  # from the KB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= await Faithfulness(llm=evaluator).single_turn_ascore(sample)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faithfulness = claims supported by context / total claims  (0..1)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60807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 needs retrieved context, so it fits the RAG answers, not the pure booking flow. Right metric, right surface.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· AVOID &amp; PRODUCTION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Judge traps and what holds up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08676" cy="4114800"/>
          </a:xfrm>
          <a:prstGeom prst="roundRect">
            <a:avLst>
              <a:gd name="adj" fmla="val 15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276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9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Avoid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10312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bias: judges favour whichever answer comes first. Swap and average.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Verbosity bias: judges reward longer answers. Cap length in the rubric.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Self-preference: a model flatters its own style. Use a different judge family.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Treating the judge score as ground truth with no human calibration.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31636" y="1463040"/>
            <a:ext cx="5408676" cy="4114800"/>
          </a:xfrm>
          <a:prstGeom prst="roundRect">
            <a:avLst>
              <a:gd name="adj" fmla="val 15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60236" y="16276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65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 insights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60236" y="210312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 every eval run to a prompt version. No version, no comparison.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the deploy on pass rate, not on vibes.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model swap, re-run the whole golden set before promoting.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the golden set from real failures. Every incident becomes a case.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· WORKED EXAMPLE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Brainstorm: did the new prompt help or hurt?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teammate rewrites the system prompt to be more concise. It looks better. Prove it before it ships.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408676" cy="12801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947672"/>
            <a:ext cx="50429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the baseline?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50429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v6 pass rate on the golden set. You need it before changing anything.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31636" y="1828800"/>
            <a:ext cx="5408676" cy="12801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14516" y="1947672"/>
            <a:ext cx="50429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the change?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14516" y="2331720"/>
            <a:ext cx="50429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v7, the concise prompt. Same model, same tools, same cases.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255264"/>
            <a:ext cx="5408676" cy="12801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31520" y="3374136"/>
            <a:ext cx="50429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could concise break?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3758184"/>
            <a:ext cx="50429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may drop the disruption reason or the policy citation.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31636" y="3255264"/>
            <a:ext cx="5408676" cy="12801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14516" y="3374136"/>
            <a:ext cx="50429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grader catches that?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14516" y="3758184"/>
            <a:ext cx="50429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must-include for 'weather'; judge for completeness.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681728"/>
            <a:ext cx="5408676" cy="12801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31520" y="4800600"/>
            <a:ext cx="50429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the decision rule?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1520" y="5184648"/>
            <a:ext cx="50429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only if v7 pass rate is greater than or equal to v6.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31636" y="4681728"/>
            <a:ext cx="5408676" cy="12801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14516" y="4800600"/>
            <a:ext cx="50429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 you keep?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14516" y="5184648"/>
            <a:ext cx="50429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runs, tagged v6 and v7, so the diff is auditable later.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· WORKED EXAMPLE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Solution: catch the regression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1672" cy="4572000"/>
          </a:xfrm>
          <a:prstGeom prst="roundRect">
            <a:avLst>
              <a:gd name="adj" fmla="val 1000"/>
            </a:avLst>
          </a:prstGeom>
          <a:solidFill>
            <a:srgbClr val="0F172A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490472"/>
            <a:ext cx="10762488" cy="4334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compare two prompt versions on the same golden set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eval_prompt(version):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set_prompt(version)                 # swap system prompt, nothing else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sum(check(c) for c in cases) / len(cases)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v6 = eval_prompt("v6")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v7 = eval_prompt("v7")                  # the concise rewrite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print(f"v6 {v6:.0%}   v7 {v7:.0%}")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observed:  v6 94%   v7 88%   -&gt; concise dropped 'weather' on g1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low = [c["id"] for c in cases if not check(c)]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print("now failing:", low)            # ['g1']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 v7 &gt;= v6, "do not promote: v7 regressed"   # gate blocks it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fix: restore the one line that names the disruption reason -&gt; v7 93%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60350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number, not the eye, caught it. Six points of quality were about to ship behind a cleaner-looking prompt.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574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 OF 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2468880"/>
            <a:ext cx="110916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Observability-Driven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Debugging &amp; Cost Quality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3886200"/>
            <a:ext cx="10177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cannot step through a non-deterministic agent. You read its traces. And a cost spike is often a quality bug in disguise.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 · WHY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is needed, why it is essential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08676" cy="4206240"/>
          </a:xfrm>
          <a:prstGeom prst="roundRect">
            <a:avLst>
              <a:gd name="adj" fmla="val 1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459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is needed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breakpoint to set. The reasoning happens inside the model.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failure can be a tool, the model, or the orchestration. They look alike from outside.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get swallowed. The agent says 'done' while a tool quietly failed.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burn is invisible until the bill or the latency tells you.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31636" y="1463040"/>
            <a:ext cx="5408676" cy="4206240"/>
          </a:xfrm>
          <a:prstGeom prst="roundRect">
            <a:avLst>
              <a:gd name="adj" fmla="val 1522"/>
            </a:avLst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60236" y="16459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is essential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60236" y="214884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Spans show input, output, latency and tokens for every call, so you localise fast.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 turn 'it was wrong sometimes' into 'it failed here, on this tool'.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resolution is a live quality signal, not a month-end surprise.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how QA debugs in production, where you cannot re-run on demand.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 · HOW IT DIFFERS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read traces, you do not step-debug</a:t>
            </a:r>
            <a:endParaRPr lang="en-US" sz="27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1672" cy="914400"/>
        </p:xfrm>
        <a:graphic>
          <a:graphicData uri="http://schemas.openxmlformats.org/drawingml/2006/table">
            <a:tbl>
              <a:tblPr/>
              <a:tblGrid>
                <a:gridCol w="4846320"/>
                <a:gridCol w="59436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Traditional debugging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debugging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a breakpoint, step through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spans across a trace after the fact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 trace points to a line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Span tree points to a tool, model, or hand-off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Reproduce by re-running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input may not reproduce; you keep the trace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is a finance concern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spike signals retries or a loop: a quality bug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 means correct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 can hide a swallowed tool failure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7607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artefact you debug from is the trace, captured at the moment it happened, because you may never see that exact run again.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 · 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Session, trace, span on CloudWatch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949440" cy="777240"/>
          </a:xfrm>
          <a:prstGeom prst="roundRect">
            <a:avLst>
              <a:gd name="adj" fmla="val 823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60020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468880" y="16002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customer conversation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577840" y="16002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 many traces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2219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2423160"/>
            <a:ext cx="6949440" cy="777240"/>
          </a:xfrm>
          <a:prstGeom prst="roundRect">
            <a:avLst>
              <a:gd name="adj" fmla="val 823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49808" y="251460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468880" y="25146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request inside the session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577840" y="25146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 many spans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14400" y="31363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3337560"/>
            <a:ext cx="6949440" cy="777240"/>
          </a:xfrm>
          <a:prstGeom prst="roundRect">
            <a:avLst>
              <a:gd name="adj" fmla="val 8235"/>
            </a:avLst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49808" y="342900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468880" y="34290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tool call or one model call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577840" y="34290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input, output, latency, tokens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863840" y="1508760"/>
            <a:ext cx="3776472" cy="2926080"/>
          </a:xfrm>
          <a:prstGeom prst="roundRect">
            <a:avLst>
              <a:gd name="adj" fmla="val 218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046720" y="16459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 to know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046720" y="2103120"/>
            <a:ext cx="3200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 emits OTEL spans natively.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Runtime auto-instruments.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Spans land in CloudWatch Logs aws/spans.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guardrail block carries its action and category on the span.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47091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Gotcha:  </a:t>
            </a:r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first-time accounts must enable CloudWatch Transaction Search (Application Signals) once per region, or the dashboards stay blank.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 · CODE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 it on, then read a failing trace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1672" cy="228600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490472"/>
            <a:ext cx="10762488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Strands emits OpenTelemetry spans automatically.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AgentCore Runtime: instrumentation is automatic.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Local / Lambda / ECS: add to requirements.txt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aws-opentelemetry-distro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then launch with: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opentelemetry-instrument python -m travelmind_agent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ONE-TIME per account + region (or dashboards are blank):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CloudWatch -&gt; Application Signals -&gt; Transaction Search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3794760"/>
            <a:ext cx="11091672" cy="1920240"/>
          </a:xfrm>
          <a:prstGeom prst="roundRect">
            <a:avLst>
              <a:gd name="adj" fmla="val 2381"/>
            </a:avLst>
          </a:prstGeom>
          <a:solidFill>
            <a:srgbClr val="0F172A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13232" y="3913632"/>
            <a:ext cx="10762488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CloudWatch Logs Insights   log group: aws/spans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fields @timestamp, name, durationNano, status.code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filter name like /tool/            # tool-call spans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filter status.code = "ERROR"       # only failures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sort @timestamp desc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limit 20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field paths follow OTEL GenAI conventions; confirm in aws/spans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58521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query jumps you straight to failed tool spans. From there the span shows the input, the error, and the tokens spent before it failed.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 · COST QUALITY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is a quality signal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7040880" cy="3657600"/>
          </a:xfrm>
          <a:prstGeom prst="roundRect">
            <a:avLst>
              <a:gd name="adj" fmla="val 1250"/>
            </a:avLst>
          </a:prstGeom>
          <a:solidFill>
            <a:srgbClr val="0F172A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536192"/>
            <a:ext cx="6711696" cy="3419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cost.py -- read tokens from the span or result.metrics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PRICES = {                  # USD per 1M tokens, on-demand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"haiku-4.5": (1.00, 5.00),   # (input, output)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"sonnet-4":  (3.00, 15.00),  # confirm on the pricing page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run_cost(in_tok, out_tok, model="haiku-4.5"):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pin, pout = PRICES[model]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in_tok/1e6*pin + out_tok/1e6*pout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print(round(run_cost(4200, 380), 5), "USD / resolution")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 sudden cost spike = silent retries or a runaway loop = a bug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955280" y="1417320"/>
            <a:ext cx="3685032" cy="3657600"/>
          </a:xfrm>
          <a:prstGeom prst="roundRect">
            <a:avLst>
              <a:gd name="adj" fmla="val 1750"/>
            </a:avLst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138160" y="15727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it as quality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38160" y="2011680"/>
            <a:ext cx="3200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resolution trending up means more turns per task.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turns usually means retries, loops, or a weaker prompt.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on cost and on p95 latency, not just on errors.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cheap wrong answer is still a failure. Pair cost with the eval score.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52578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counts come from the span, or from result.metrics on a Strands run. Same number, two places to read it.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 · AVOID &amp; PRODUCTION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Traps and what holds up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08676" cy="4114800"/>
          </a:xfrm>
          <a:prstGeom prst="roundRect">
            <a:avLst>
              <a:gd name="adj" fmla="val 15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276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9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Avoid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10312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with no quality signal, only uptime and latency.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success as correct. Check the tool spans, not just the final status.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Transaction Search, then wondering why dashboards are empty.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so much that the real failure is buried. Span, do not dump.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31636" y="1463040"/>
            <a:ext cx="5408676" cy="4114800"/>
          </a:xfrm>
          <a:prstGeom prst="roundRect">
            <a:avLst>
              <a:gd name="adj" fmla="val 15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60236" y="16276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65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 insights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60236" y="210312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all four signals together: metrics, logs, traces, quality.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on error rate, p95 latency, and cost per resolution.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few custom spans at your own risk points; do not pollute the trace.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 triage runbook: tool failure vs model failure vs orchestration.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 · WORKED EXAMPLE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Brainstorm: the agent gave a wrong answer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customer reports TravelMind confirmed a rebooking that never happened. One run, already over. Where do you look?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408676" cy="12801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947672"/>
            <a:ext cx="50429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 you have?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50429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session id from the conversation. That is your way into the trace.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31636" y="1828800"/>
            <a:ext cx="5408676" cy="12801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14516" y="1947672"/>
            <a:ext cx="50429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question of the trace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14516" y="2331720"/>
            <a:ext cx="50429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spans ran, and did any carry an error status?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255264"/>
            <a:ext cx="5408676" cy="12801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31520" y="3374136"/>
            <a:ext cx="50429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Tool, model, or flow?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3758184"/>
            <a:ext cx="50429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rebook tool span shows an error but the reply says done: swallowed failure.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31636" y="3255264"/>
            <a:ext cx="5408676" cy="12801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14516" y="3374136"/>
            <a:ext cx="50429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the span show?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14516" y="3758184"/>
            <a:ext cx="50429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PNR, the tool error, and the tokens spent before it failed.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681728"/>
            <a:ext cx="5408676" cy="12801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31520" y="4800600"/>
            <a:ext cx="50429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cost a clue?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1520" y="5184648"/>
            <a:ext cx="50429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run took far more tokens than usual, suspect a retry loop too.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31636" y="4681728"/>
            <a:ext cx="5408676" cy="12801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14516" y="4800600"/>
            <a:ext cx="50429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the fix class?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14516" y="5184648"/>
            <a:ext cx="50429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tool errors to the model and add a post-condition check.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 · WORKED EXAMPLE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Solution: localise to one span, then cost it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1672" cy="4663440"/>
          </a:xfrm>
          <a:prstGeom prst="roundRect">
            <a:avLst>
              <a:gd name="adj" fmla="val 980"/>
            </a:avLst>
          </a:prstGeom>
          <a:solidFill>
            <a:srgbClr val="0F172A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490472"/>
            <a:ext cx="10762488" cy="442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Pull the trace for the reported session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fields @timestamp, name, status.code, durationNano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filter sessionId = "sess-8841"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sort @timestamp asc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result: get_rebooking_options span -&gt; status ERROR (timeout)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    final model span -&gt; says 'rebooked' anyway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Confirm the cost/turn anomaly on that run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print(run_cost(9100, 640))   # 0.0123 USD  vs  0.005 typical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2.4x tokens -&gt; the model retried around the silent failure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Fix: return tool errors to the model + post-condition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tool_failed: return {"error": "rebooking unavailable"}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 booking_confirmed(pnr)   # do not claim success unconfirmed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61264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named the failing span, cost confirmed the retry, the fix stops the agent claiming success it cannot verify. Three signals, one root cause.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574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4 OF 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2468880"/>
            <a:ext cx="110916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 Gates in the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+ Sign-off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3886200"/>
            <a:ext cx="10177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the first three topics into a gate that blocks a bad build, and a sign-off report the release owner can stand behind.</a:t>
            </a:r>
            <a:endParaRPr lang="en-US" sz="1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4 · WHY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is needed, why it is essential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08676" cy="4206240"/>
          </a:xfrm>
          <a:prstGeom prst="roundRect">
            <a:avLst>
              <a:gd name="adj" fmla="val 1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459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is needed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and evals only help if something stops a release when they fail.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human eyeballing dashboards before each deploy does not scale and will miss.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 systems need a threshold, not a green or red light.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incident needs a paper trail: what passed, on what build, signed by whom.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31636" y="1463040"/>
            <a:ext cx="5408676" cy="4206240"/>
          </a:xfrm>
          <a:prstGeom prst="roundRect">
            <a:avLst>
              <a:gd name="adj" fmla="val 1522"/>
            </a:avLst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60236" y="16459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is essential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60236" y="214884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 is where QA gets teeth: fail the gate, block the promote.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composes Topics 1 to 3 into one automated decision.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sign-off report makes the release auditable and repeatable.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the difference between hoping it is fine and knowing it cleared the bar.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4 · HOW IT DIFFERS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 on thresholds, not on pass-fail</a:t>
            </a:r>
            <a:endParaRPr lang="en-US" sz="27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1672" cy="914400"/>
        </p:xfrm>
        <a:graphic>
          <a:graphicData uri="http://schemas.openxmlformats.org/drawingml/2006/table">
            <a:tbl>
              <a:tblPr/>
              <a:tblGrid>
                <a:gridCol w="4846320"/>
                <a:gridCol w="59436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Traditional CI gate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Agentic quality gate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 tests pass or fail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 plus a quality score above a threshold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is green or red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clears eval, cost, latency, and safety bars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signal: the test suite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Four signals composed into one decision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Rollback is rare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rollback lever is a first-class, pre-wired step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Sign-off is implicit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Sign-off is a generated artifact with evidence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7607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 does not ask 'did the tests pass'. It asks 'did this build clear every bar we agreed on', and proves it.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4 · 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bars, one decision, one report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35758" cy="2194560"/>
          </a:xfrm>
          <a:prstGeom prst="roundRect">
            <a:avLst>
              <a:gd name="adj" fmla="val 291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94944" y="1719072"/>
            <a:ext cx="234315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 pass rate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94944" y="2423160"/>
            <a:ext cx="23431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set + judge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94944" y="2971800"/>
            <a:ext cx="23431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 least 90%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367278" y="1554480"/>
            <a:ext cx="2635758" cy="2194560"/>
          </a:xfrm>
          <a:prstGeom prst="roundRect">
            <a:avLst>
              <a:gd name="adj" fmla="val 291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13582" y="1719072"/>
            <a:ext cx="234315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per resolution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513582" y="2423160"/>
            <a:ext cx="23431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spans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13582" y="2971800"/>
            <a:ext cx="23431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 most $0.02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85916" y="1554480"/>
            <a:ext cx="2635758" cy="2194560"/>
          </a:xfrm>
          <a:prstGeom prst="roundRect">
            <a:avLst>
              <a:gd name="adj" fmla="val 291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32220" y="1719072"/>
            <a:ext cx="234315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p95 latency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332220" y="2423160"/>
            <a:ext cx="23431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spans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32220" y="2971800"/>
            <a:ext cx="23431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 most 4000 ms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004554" y="1554480"/>
            <a:ext cx="2635758" cy="2194560"/>
          </a:xfrm>
          <a:prstGeom prst="roundRect">
            <a:avLst>
              <a:gd name="adj" fmla="val 291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50858" y="1719072"/>
            <a:ext cx="234315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 and PII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150858" y="2423160"/>
            <a:ext cx="23431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probes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50858" y="2971800"/>
            <a:ext cx="23431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8640" y="406908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sits:  </a:t>
            </a:r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pre-deploy, as a required CI step. It reads the outputs of Topics 1 to 3, composes them, and exits non-zero to block promotion. A failed gate can trigger the rollback lever automatically.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51206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thresholds with the client. These are starting numbers, not gospel. Agree them, then enforce them.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4 · CODE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quality_gate.py — the gate with teeth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1672" cy="4846320"/>
          </a:xfrm>
          <a:prstGeom prst="roundRect">
            <a:avLst>
              <a:gd name="adj" fmla="val 943"/>
            </a:avLst>
          </a:prstGeom>
          <a:solidFill>
            <a:srgbClr val="0F172A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490472"/>
            <a:ext cx="10762488" cy="4608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quality_gate.py -- CI step before promotion. Non-zero exit blocks deploy.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json, sys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BARS = {"eval":0.90, "cost":0.02, "p95":4000, "safety":1.00}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load(f): return json.load(open(f))   # outputs from Topics 1-3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 = load("test_report.json")   # pytest: tool + behaviour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evals = load("eval_report.json")   # pass rate, safety, judge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   = load("cost_latency.json")  # from the spans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checks = 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"tests":  tests["failed"] == 0,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"eval":   evals["pass_rate"]   &gt;= BARS["eval"],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"cost":   obs["cost_usd"]      &lt;= BARS["cost"],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"p95":    obs["p95_ms"]        &lt;= BARS["p95"],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"safety": evals["safety_rate"] &gt;= BARS["safety"],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write_signoff(checks, evals, obs)        # the artifact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not all(checks.values()):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print("GATE FAILED", [k for k,v in checks.items() if not v]); sys.exit(1)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print("GATE PASSED")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2636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bar reads a file produced earlier in this session. The gate is the assembly point, not new work.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4 · ARTIFACT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sign-off report it produces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91672" cy="91440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554480"/>
            <a:ext cx="10634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TravelMind Release Sign-off
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 travelmind-2026.06.11-rc3    Model haiku-4.5    Prompt v7</a:t>
            </a:r>
            <a:endParaRPr lang="en-US" sz="16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514600"/>
          <a:ext cx="11091672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2377440"/>
                <a:gridCol w="2103120"/>
                <a:gridCol w="237744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Threshold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+ behaviour tests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failures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 pass rate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least 90%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per resolution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most $0.02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p95 latency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most 4000 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3120 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Safety and PII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 </a:t>
            </a:r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for blue-green promotion.    Signed: QA owner.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4 · AVOID &amp; PRODUCTION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Traps and what holds up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08676" cy="4114800"/>
          </a:xfrm>
          <a:prstGeom prst="roundRect">
            <a:avLst>
              <a:gd name="adj" fmla="val 15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276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9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Avoid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10312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gate that warns but never blocks. Teams learn to ignore it in a week.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Flaky tests in the gate. One false block and people add 'skip' everywhere.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Gating on a vanity metric no one trusts. The bar must mean something.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rollback lever. A gate that catches a bad deploy with no way back is half a system.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31636" y="1463040"/>
            <a:ext cx="5408676" cy="4114800"/>
          </a:xfrm>
          <a:prstGeom prst="roundRect">
            <a:avLst>
              <a:gd name="adj" fmla="val 15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60236" y="16276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65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 insights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60236" y="210312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Quarantine flaky tests fast; a flaky gate is worse than no gate.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 triage SLA: a blocked deploy gets looked at within the hour.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the thresholds with the code. Tightening a bar is a reviewed change.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the gate to the rollback lever, so a failed canary reverts itself.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4 · WORKED EXAMPLE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Brainstorm: gates for the TravelMind release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rc3 is ready to promote. Decide what must be true before it reaches customers.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408676" cy="12801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947672"/>
            <a:ext cx="50429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must never regress?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50429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contracts and safety. Both are hard gates at 100%.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31636" y="1828800"/>
            <a:ext cx="5408676" cy="12801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14516" y="1947672"/>
            <a:ext cx="50429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the quality floor?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14516" y="2331720"/>
            <a:ext cx="50429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Golden-set pass rate. Agreed with the client at 90%.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255264"/>
            <a:ext cx="5408676" cy="12801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31520" y="3374136"/>
            <a:ext cx="50429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the cost ceiling?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3758184"/>
            <a:ext cx="50429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resolution that keeps the margin. Here $0.02.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31636" y="3255264"/>
            <a:ext cx="5408676" cy="12801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14516" y="3374136"/>
            <a:ext cx="50429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the latency SLO?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14516" y="3758184"/>
            <a:ext cx="50429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 the customer will tolerate. Here 4000 ms.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681728"/>
            <a:ext cx="5408676" cy="12801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31520" y="4800600"/>
            <a:ext cx="50429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happens on fail?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1520" y="5184648"/>
            <a:ext cx="50429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the promote, write the report, page the QA owner.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31636" y="4681728"/>
            <a:ext cx="5408676" cy="12801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14516" y="4800600"/>
            <a:ext cx="50429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proves it shipped clean?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14516" y="5184648"/>
            <a:ext cx="50429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signed report tied to the exact build and prompt version.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4 · WORKED EXAMPLE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Solution: block the bad build, sign the good one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1672" cy="4572000"/>
          </a:xfrm>
          <a:prstGeom prst="roundRect">
            <a:avLst>
              <a:gd name="adj" fmla="val 1000"/>
            </a:avLst>
          </a:prstGeom>
          <a:solidFill>
            <a:srgbClr val="0F172A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490472"/>
            <a:ext cx="10762488" cy="4334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run the gate against rc2 (the concise-prompt build before the fix)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quality_gate.py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GATE FAILED ['eval']        # pass rate 88% &lt; 90%, promotion blocked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echo $?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                          # CI stops here, rc2 never ships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fix the prompt (Topic 2), re-run tests + eval + obs, gate again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quality_gate.py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GATE PASSED                 # eval 94%, cost $0.011, p95 3120ms, safety 100%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echo $?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                           # promotion proceeds to blue-green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sign-off report written, tied to build rc3 + prompt v7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cat signoff_travelmind_rc3.md   # the artifact you hand the client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60350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gate, two builds, two outcomes. The bad one was stopped automatically; the good one shipped with a signed record.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574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BRINGING IT ALL TOGETHER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2468880"/>
            <a:ext cx="110916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change, end to end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3886200"/>
            <a:ext cx="10177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topics are not four tools. They are one loop that every change runs through.</a:t>
            </a:r>
            <a:endParaRPr lang="en-US" sz="1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TO END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QA loop around every release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072030" cy="2377440"/>
          </a:xfrm>
          <a:prstGeom prst="roundRect">
            <a:avLst>
              <a:gd name="adj" fmla="val 308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993392"/>
            <a:ext cx="179771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 Strategy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2514600"/>
            <a:ext cx="179771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defined: contracts, behaviour, scenario, probes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3749040"/>
            <a:ext cx="17977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648102" y="3017520"/>
            <a:ext cx="128016" cy="0"/>
          </a:xfrm>
          <a:prstGeom prst="line">
            <a:avLst/>
          </a:prstGeom>
          <a:noFill/>
          <a:ln w="25400">
            <a:solidFill>
              <a:srgbClr val="B45309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803550" y="1828800"/>
            <a:ext cx="2072030" cy="2377440"/>
          </a:xfrm>
          <a:prstGeom prst="roundRect">
            <a:avLst>
              <a:gd name="adj" fmla="val 308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940710" y="1993392"/>
            <a:ext cx="179771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 Evaluate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940710" y="2514600"/>
            <a:ext cx="179771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set + judge score the build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940710" y="3749040"/>
            <a:ext cx="17977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903013" y="3017520"/>
            <a:ext cx="128016" cy="0"/>
          </a:xfrm>
          <a:prstGeom prst="line">
            <a:avLst/>
          </a:prstGeom>
          <a:noFill/>
          <a:ln w="25400">
            <a:solidFill>
              <a:srgbClr val="B45309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058461" y="1828800"/>
            <a:ext cx="2072030" cy="2377440"/>
          </a:xfrm>
          <a:prstGeom prst="roundRect">
            <a:avLst>
              <a:gd name="adj" fmla="val 308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195621" y="1993392"/>
            <a:ext cx="179771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 Observe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195621" y="2514600"/>
            <a:ext cx="179771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 and cost confirm what the score implies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195621" y="3749040"/>
            <a:ext cx="17977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157923" y="3017520"/>
            <a:ext cx="128016" cy="0"/>
          </a:xfrm>
          <a:prstGeom prst="line">
            <a:avLst/>
          </a:prstGeom>
          <a:noFill/>
          <a:ln w="25400">
            <a:solidFill>
              <a:srgbClr val="B45309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313371" y="1828800"/>
            <a:ext cx="2072030" cy="2377440"/>
          </a:xfrm>
          <a:prstGeom prst="roundRect">
            <a:avLst>
              <a:gd name="adj" fmla="val 308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450531" y="1993392"/>
            <a:ext cx="179771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 Gate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450531" y="2514600"/>
            <a:ext cx="179771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bars composed into one block-or-pass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450531" y="3749040"/>
            <a:ext cx="17977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T4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412834" y="3017520"/>
            <a:ext cx="128016" cy="0"/>
          </a:xfrm>
          <a:prstGeom prst="line">
            <a:avLst/>
          </a:prstGeom>
          <a:noFill/>
          <a:ln w="25400">
            <a:solidFill>
              <a:srgbClr val="B45309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568282" y="1828800"/>
            <a:ext cx="2072030" cy="2377440"/>
          </a:xfrm>
          <a:prstGeom prst="roundRect">
            <a:avLst>
              <a:gd name="adj" fmla="val 3089"/>
            </a:avLst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705442" y="1993392"/>
            <a:ext cx="179771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 Sign off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705442" y="2514600"/>
            <a:ext cx="179771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report, then blue-green promote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705442" y="3749040"/>
            <a:ext cx="17977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T4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1584655" y="4389120"/>
            <a:ext cx="901964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548640" y="446227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production incident becomes a new test and a new golden case, and the loop tightens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TO END · WORKED EXAMPLE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prompt edit, through all four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1672" cy="658368"/>
          </a:xfrm>
          <a:prstGeom prst="roundRect">
            <a:avLst>
              <a:gd name="adj" fmla="val 9722"/>
            </a:avLst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499616"/>
            <a:ext cx="1280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change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103120" y="1499616"/>
            <a:ext cx="90799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teammate ships v7, a more concise system prompt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231136"/>
            <a:ext cx="11091672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2267712"/>
            <a:ext cx="1280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103120" y="2267712"/>
            <a:ext cx="90799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 Behaviour test catches it skipping lookup on a follow-up. Prompt fixed.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999232"/>
            <a:ext cx="11091672" cy="658368"/>
          </a:xfrm>
          <a:prstGeom prst="roundRect">
            <a:avLst>
              <a:gd name="adj" fmla="val 97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3035808"/>
            <a:ext cx="1280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103120" y="3035808"/>
            <a:ext cx="90799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 Golden-set pass rate falls 94% to 88%. Judge flags incomplete answers. One line restored.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3767328"/>
            <a:ext cx="11091672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" y="3803904"/>
            <a:ext cx="1280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103120" y="3803904"/>
            <a:ext cx="90799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  Trace shows tokens down 18% (good) but one tool span retried. Investigated and cleared.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4535424"/>
            <a:ext cx="11091672" cy="658368"/>
          </a:xfrm>
          <a:prstGeom prst="roundRect">
            <a:avLst>
              <a:gd name="adj" fmla="val 97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" y="4572000"/>
            <a:ext cx="1280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103120" y="4572000"/>
            <a:ext cx="90799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  Re-run: eval 94%, cost $0.011, p95 3120 ms, safety 100%. Gate passes. Report signed.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5303520"/>
            <a:ext cx="11091672" cy="658368"/>
          </a:xfrm>
          <a:prstGeom prst="roundRect">
            <a:avLst>
              <a:gd name="adj" fmla="val 9722"/>
            </a:avLst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31520" y="5340096"/>
            <a:ext cx="1280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103120" y="5340096"/>
            <a:ext cx="90799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via blue-green. The retry finding becomes a new behaviour test.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48640" y="61722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edit. Four topics. Caught, measured, traced, gated, signed, shipped. That is agentic QA working as a system.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topics, one line each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1672" cy="777240"/>
          </a:xfrm>
          <a:prstGeom prst="roundRect">
            <a:avLst>
              <a:gd name="adj" fmla="val 7059"/>
            </a:avLst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2024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 Test strategy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931920" y="1920240"/>
            <a:ext cx="81655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behaviour under non-determinism: contracts, trajectory, invariants.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11091672" cy="777240"/>
          </a:xfrm>
          <a:prstGeom prst="roundRect">
            <a:avLst>
              <a:gd name="adj" fmla="val 7059"/>
            </a:avLst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83464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 Eval pipeline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931920" y="2834640"/>
            <a:ext cx="81655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quality on a golden set; catch silent drift on every prompt change.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11091672" cy="777240"/>
          </a:xfrm>
          <a:prstGeom prst="roundRect">
            <a:avLst>
              <a:gd name="adj" fmla="val 7059"/>
            </a:avLst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74904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 Observability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931920" y="3749040"/>
            <a:ext cx="81655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Session-Trace-Span; treat a cost spike as a quality bug.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572000"/>
            <a:ext cx="11091672" cy="777240"/>
          </a:xfrm>
          <a:prstGeom prst="roundRect">
            <a:avLst>
              <a:gd name="adj" fmla="val 7059"/>
            </a:avLst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66344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 Quality gate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931920" y="4663440"/>
            <a:ext cx="81655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all of it into a block-or-pass decision and a signed report.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576072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owns the fourth signal. Available is not the same as correct. Today you have the tools to prove correct.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47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AI Quality Engineering</dc:title>
  <dc:subject>PptxGenJS Presentation</dc:subject>
  <dc:creator>Akash Das</dc:creator>
  <cp:lastModifiedBy>Akash Das</cp:lastModifiedBy>
  <cp:revision>1</cp:revision>
  <dcterms:created xsi:type="dcterms:W3CDTF">2026-06-11T04:01:33Z</dcterms:created>
  <dcterms:modified xsi:type="dcterms:W3CDTF">2026-06-11T04:01:33Z</dcterms:modified>
</cp:coreProperties>
</file>