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session as a backend engineering progression, not a chatbot demo. The core line: call a model, control it, manage context, and let it request approved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travel examples after every concept. Keep the code demo generic first, then map to booking/refund/hotel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quote to reduce intimidation, but immediately bring the room back to engineering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all Bedrock features yet. Let the first call become the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video says Bedrock offers many models, optimized differently. Make learners test under controlled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architects and PMs a reason to care, without derailing into model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anchor everything. Later, tool use and RAG are just extensions of this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that Bedrock client names differ later: bedrock-runtime vs bedrock-agent-runtime.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audience will lose confidence if setup breaks. Keep a working machine or Cloud9/IDE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this to Spring Boot: a configured AWS SDK client bean/service adapter.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for multi-turn and tool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QA: deterministic tests use lower temperature. For cost: maxTokens is a basic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travel: dumping entire fare rule PDFs into every prompt is a bad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memory is not magic. It is context reconstruction.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their backend instinct should activate: persistence, session IDs, retention, and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line should be repeated. It makes the manual code feel purposeful, not tedious.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firm: the model should not pretend to know live data. It should ask for a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to draw this in their notebook. It will pay off when you introduce Strands.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weather tool is simple by design. Do not overcomplicate it. The mechanism matters more than weather.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place to connect with OpenAPI/Swagger.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enterprise apps, authorization matters. The agent should not gain privileges beyond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stop reasons vary by API/model. Explain the idea, not an exhaustive enum.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learners understand how agents act without becoming unsafe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activity brings PMs, QAs, and architects in without derailing code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pacing check. If answers are weak, do not move to RAG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to Deck 2 with the distinction between action and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at the end for source hygiene.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DECK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Amazon Bedrock: From First Prompt to Tool-Using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27889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For Spring Boot-heavy enterprise developers moving into GenAI engineering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81635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79223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76810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74398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71985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69573" y="453542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Model call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19379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2531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Control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16967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0119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Memory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14554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7706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Tools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12142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5294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RAG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09729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2881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Guardrails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07317" y="4160520"/>
            <a:ext cx="1341555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0469" y="4325112"/>
            <a:ext cx="1195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Agent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605332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Day 4 · Agentic AI / Amazon Bedrock / Strands / AgentCore context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calibration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 them as backend engineers, not AI researchers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7+ years average experience, but new to LLM application mechanics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3840480"/>
          </a:xfrm>
          <a:prstGeom prst="roundRect">
            <a:avLst>
              <a:gd name="adj" fmla="val 95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365760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27048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Audience segment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527048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What they already know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1417320"/>
            <a:ext cx="365760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527048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What can break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185416"/>
            <a:ext cx="3657600" cy="76809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276856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Spring Boot devs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185416"/>
            <a:ext cx="3657600" cy="76809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2276856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APIs, services, DBs, 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9560" y="2185416"/>
            <a:ext cx="3657600" cy="76809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276856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May treat Bedrock as just another REST call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953512"/>
            <a:ext cx="3657600" cy="76809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044952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Architects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2953512"/>
            <a:ext cx="3657600" cy="76809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3044952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System boundaries, governance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2953512"/>
            <a:ext cx="3657600" cy="76809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3044952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May jump to production too early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721608"/>
            <a:ext cx="3657600" cy="76809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813048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PMs / QA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3721608"/>
            <a:ext cx="3657600" cy="76809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813048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Workflows, validations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9560" y="3721608"/>
            <a:ext cx="3657600" cy="768096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3813048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May miss implementation constraints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489704"/>
            <a:ext cx="3657600" cy="76809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4581144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Mixed cohort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51960" y="4489704"/>
            <a:ext cx="3657600" cy="76809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25112" y="4581144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Enterprise systems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09560" y="4489704"/>
            <a:ext cx="3657600" cy="768096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4581144"/>
            <a:ext cx="3511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Needs scratch-level explanation of every AI concept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11680" y="54864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57984" y="5623560"/>
            <a:ext cx="7845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Teaching stance: one loop at a time. No full-file code dumps.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progression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From raw model call to controlled tool use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58568" y="183794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183794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71032" y="183794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27264" y="183794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83496" y="1837944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5819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Bedrock + models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96312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15819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Converse API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52544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5819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Messages + tokens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5819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Multi-turn memory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65008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5819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Tool use loop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21240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4392" y="15819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6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mapping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2834640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700784" y="3017520"/>
            <a:ext cx="9345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“It can feel like you need to understand everything before you can build anything, but you don’t.”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00784" y="3584448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opening frame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88720" y="4251960"/>
            <a:ext cx="9784080" cy="960120"/>
          </a:xfrm>
          <a:prstGeom prst="roundRect">
            <a:avLst>
              <a:gd name="adj" fmla="val 5714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4251960"/>
            <a:ext cx="7315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9888" y="4389120"/>
            <a:ext cx="9464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Trainer framing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89888" y="4709160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Today we stop treating GenAI as a chatbot and start treating it as a programmable backend capability.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 · Bedrock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Amazon Bedrock 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Managed model access, not model hosting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71600"/>
            <a:ext cx="73152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087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Plain definition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8288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Bedrock lets application code call powerful foundation models without setting up servers or running model infrastructure.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371600"/>
            <a:ext cx="73152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087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Why it matters to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18288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You can expose AI features inside existing travel workflows without training or hosting a model yourself.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46704" y="40690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71032" y="40690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40690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" y="3657600"/>
            <a:ext cx="2368296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822192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App code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584448" y="3657600"/>
            <a:ext cx="2368296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822192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Bedrock API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08776" y="3657600"/>
            <a:ext cx="2368296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3822192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Foundation model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833104" y="3657600"/>
            <a:ext cx="2368296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06256" y="3822192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Response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011680" y="5074920"/>
            <a:ext cx="8046720" cy="585216"/>
          </a:xfrm>
          <a:prstGeom prst="roundRect">
            <a:avLst>
              <a:gd name="adj" fmla="val 9375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57984" y="5212080"/>
            <a:ext cx="7754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Key mental model: Bedrock is an AWS service boundary around model access.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 · Model choice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right model is an engineering decision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Not a brand preference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10927080" cy="4251960"/>
          </a:xfrm>
          <a:prstGeom prst="roundRect">
            <a:avLst>
              <a:gd name="adj" fmla="val 860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3642360" cy="7086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08176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Dimension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2440" y="1298448"/>
            <a:ext cx="3642360" cy="7086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5592" y="1408176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Ask this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4800" y="1298448"/>
            <a:ext cx="3642360" cy="7086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7952" y="1408176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implication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00710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9854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2440" y="200710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5592" y="209854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How many tokens per request?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24800" y="200710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7952" y="209854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High-volume support cannot use expensive models everywhere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715768"/>
            <a:ext cx="3642360" cy="7086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80720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2440" y="2715768"/>
            <a:ext cx="3642360" cy="7086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5592" y="280720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How quickly must it respond?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24800" y="2715768"/>
            <a:ext cx="3642360" cy="7086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97952" y="280720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Booking support needs fast response loops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42442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51586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Reasoning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82440" y="342442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5592" y="351586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How complex are the policies?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24800" y="342442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97952" y="351586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Refund exceptions need stronger reasoning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133088"/>
            <a:ext cx="3642360" cy="7086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22452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Context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82440" y="4133088"/>
            <a:ext cx="3642360" cy="7086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5592" y="422452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How much text must fit?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24800" y="4133088"/>
            <a:ext cx="3642360" cy="70866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97952" y="422452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Long SOPs need RAG, not giant prompts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484174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93318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Tool use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82440" y="484174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5592" y="493318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Does it request functions reliably?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24800" y="4841748"/>
            <a:ext cx="3642360" cy="70866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97952" y="4933188"/>
            <a:ext cx="3496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Operational actions need dependable tool calls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28800" y="5742432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75104" y="5879592"/>
            <a:ext cx="8302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Activity: compare 2 models on the same travel-policy prompt before choosing.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playground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Model Playground before writing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Fastest way to test quality, tone, latency, and cost-risk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5448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Prompt to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874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“A customer wants to cancel a prepaid hotel booking after the supplier already confirmed. Explain the likely policy and escalation path.”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417320"/>
            <a:ext cx="73152" cy="1325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54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to observe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01968" y="1874520"/>
            <a:ext cx="4754880" cy="758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CBD5E1"/>
                </a:solidFill>
              </a:rPr>
              <a:t>Does it ask for missing facts?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Does it invent policy?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Is the answer too verbose?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Is it suitable for customer-facing support?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3246120"/>
            <a:ext cx="10058400" cy="2240280"/>
          </a:xfrm>
          <a:prstGeom prst="roundRect">
            <a:avLst>
              <a:gd name="adj" fmla="val 1633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246120"/>
            <a:ext cx="2011680" cy="5600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355848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Model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63240" y="3246120"/>
            <a:ext cx="2011680" cy="5600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3355848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Quality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3246120"/>
            <a:ext cx="2011680" cy="5600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8072" y="3355848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Latency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86600" y="3246120"/>
            <a:ext cx="2011680" cy="5600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3355848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Cost risk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98280" y="3246120"/>
            <a:ext cx="2011680" cy="5600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3355848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Use case fit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1560" y="380619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89763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Nova Lite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63240" y="380619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389763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Good baseline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80619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389763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Fast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86600" y="380619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389763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8280" y="380619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1432" y="389763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FAQ, draft responses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51560" y="4366260"/>
            <a:ext cx="2011680" cy="56007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4712" y="445770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Stronger model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63240" y="4366260"/>
            <a:ext cx="2011680" cy="56007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445770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Better reasoning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74920" y="4366260"/>
            <a:ext cx="2011680" cy="56007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445770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Slower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86600" y="4366260"/>
            <a:ext cx="2011680" cy="56007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9752" y="445770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Higher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98280" y="4366260"/>
            <a:ext cx="2011680" cy="56007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71432" y="445770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Policy exceptions, escalation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51560" y="492633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24712" y="501777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Smaller model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063240" y="492633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36392" y="501777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Limited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74920" y="492633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48072" y="501777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Very fast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492633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9752" y="501777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Lowest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98280" y="4926330"/>
            <a:ext cx="2011680" cy="56007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71432" y="5017770"/>
            <a:ext cx="186537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Classification, routing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2 · Inference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means: input goes in, generated output comes 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basic programmable unit of GenAI applications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83080" y="2308860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308860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60920" y="2308860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19202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39112"/>
            <a:ext cx="1682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Application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2039112"/>
            <a:ext cx="1682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Bedrock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Runtime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039112"/>
            <a:ext cx="1682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Foundation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5440" y="19202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8592" y="2039112"/>
            <a:ext cx="1682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Generated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response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3657600"/>
            <a:ext cx="73152" cy="10972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79476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Important correction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model does not remember earlier requests unless your application sends that context again.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657600"/>
            <a:ext cx="73152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7947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Enterprise implication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0528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Logging, cost control, validation, auth, and error handling remain application responsibilities.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2 · Converse API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Converse API gives a standard request shape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Same pattern across supported Bedrock chat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394960" cy="210312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50876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7276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CONVERSE API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5065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bedrock_runtime.converse(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system=system_prompt,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messages=[...],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inferenceConfig={...}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1417320"/>
            <a:ext cx="4892040" cy="2103120"/>
          </a:xfrm>
          <a:prstGeom prst="roundRect">
            <a:avLst>
              <a:gd name="adj" fmla="val 260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17320"/>
            <a:ext cx="73152" cy="2103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1554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Request anatomy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1874520"/>
            <a:ext cx="4572000" cy="1536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CBD5E1"/>
                </a:solidFill>
              </a:rPr>
              <a:t>modelId: which foundation model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system: behavior instructions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messages: user/assistant conversation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inferenceConfig: generation controls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4343400"/>
            <a:ext cx="8503920" cy="640080"/>
          </a:xfrm>
          <a:prstGeom prst="roundRect">
            <a:avLst>
              <a:gd name="adj" fmla="val 8571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4480560"/>
            <a:ext cx="8211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Java/Spring analogy: this is your AI service adapter boundary.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Boto3 setup: keep it boring and pre-tested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Do not burn class time on environment debugging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394960" cy="219456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50876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7276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LOCAL SETUP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41832" y="1810512"/>
            <a:ext cx="50657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AWS credentials must be configured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3.12+ recommended by the sample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4937760" cy="2194560"/>
          </a:xfrm>
          <a:prstGeom prst="roundRect">
            <a:avLst>
              <a:gd name="adj" fmla="val 25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417320"/>
            <a:ext cx="73152" cy="21945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55448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Pre-flight checks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47688" y="1874520"/>
            <a:ext cx="4617720" cy="1627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CBD5E1"/>
                </a:solidFill>
              </a:rPr>
              <a:t>AWS credentials configured locally</a:t>
            </a:r>
            <a:endParaRPr lang="en-US" sz="1450" dirty="0"/>
          </a:p>
          <a:p>
            <a:r>
              <a:rPr lang="en-US" sz="1450" dirty="0">
                <a:solidFill>
                  <a:srgbClr val="CBD5E1"/>
                </a:solidFill>
              </a:rPr>
              <a:t>Model access enabled in Bedrock</a:t>
            </a:r>
            <a:endParaRPr lang="en-US" sz="1450" dirty="0"/>
          </a:p>
          <a:p>
            <a:r>
              <a:rPr lang="en-US" sz="1450" dirty="0">
                <a:solidFill>
                  <a:srgbClr val="CBD5E1"/>
                </a:solidFill>
              </a:rPr>
              <a:t>Region fixed to us-east-1 for demo</a:t>
            </a:r>
            <a:endParaRPr lang="en-US" sz="1450" dirty="0"/>
          </a:p>
          <a:p>
            <a:r>
              <a:rPr lang="en-US" sz="1450" dirty="0">
                <a:solidFill>
                  <a:srgbClr val="CBD5E1"/>
                </a:solidFill>
              </a:rPr>
              <a:t>Repo cloned and dependencies installed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011680" y="457200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45720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470916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Trainer decision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12848" y="5029200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</a:rPr>
              <a:t>If credentials fail, explain IAM conceptually and move on using prepared screenshots/output.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first call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1: client + model 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Start with the AWS service boundary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577840" cy="2834640"/>
          </a:xfrm>
          <a:prstGeom prst="roundRect">
            <a:avLst>
              <a:gd name="adj" fmla="val 129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50876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7276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converse_api.py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52486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boto3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bedrock_runtime = boto3.client(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"bedrock-runtime",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region_name="us-east-1"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 = "us.amazon.nova-lite-v1:0"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4709160" cy="2834640"/>
          </a:xfrm>
          <a:prstGeom prst="roundRect">
            <a:avLst>
              <a:gd name="adj" fmla="val 1935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417320"/>
            <a:ext cx="73152" cy="2834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5544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Explain this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30568" y="1874520"/>
            <a:ext cx="4389120" cy="2267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CBD5E1"/>
                </a:solidFill>
              </a:rPr>
              <a:t>boto3 is the AWS SDK for Python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bedrock-runtime is used for direct model calls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model_id selects Nova Lite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No prompt has been sent yet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74520" y="4892040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5029200"/>
            <a:ext cx="8302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Do not show the full file yet. Build the mental model line by line.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prompt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2: system prompt + messages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Structured conversation, not one giant prompt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760720" cy="3337560"/>
          </a:xfrm>
          <a:prstGeom prst="roundRect">
            <a:avLst>
              <a:gd name="adj" fmla="val 10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46304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2704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REQUEST BODY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04672" y="1764792"/>
            <a:ext cx="543153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 = [{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"You are a helpful technical assistant who explains concepts clearly and concisely."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user_message = "What is serverless computing?"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messages=[{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"user",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[{"text": user_message}]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434840" cy="2331720"/>
          </a:xfrm>
          <a:prstGeom prst="roundRect">
            <a:avLst>
              <a:gd name="adj" fmla="val 1569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371600"/>
            <a:ext cx="221742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481328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Part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83980" y="1371600"/>
            <a:ext cx="221742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7132" y="1481328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Meaning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1837944"/>
            <a:ext cx="22174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929384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83980" y="1837944"/>
            <a:ext cx="22174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7132" y="1929384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Behavior contract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304288"/>
            <a:ext cx="22174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2395728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role: user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83980" y="2304288"/>
            <a:ext cx="22174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7132" y="2395728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Human/request origin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770632"/>
            <a:ext cx="22174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862072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role: assistant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83980" y="2770632"/>
            <a:ext cx="22174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7132" y="2862072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Model response in history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3236976"/>
            <a:ext cx="22174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3328416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content.text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83980" y="3236976"/>
            <a:ext cx="22174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7132" y="3328416"/>
            <a:ext cx="2071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Natural language payload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4023360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4023360"/>
            <a:ext cx="73152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4160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Trainer line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67728" y="4480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CBD5E1"/>
                </a:solidFill>
              </a:rPr>
              <a:t>Stop saying “we send a prompt”. Say “we send a structured message array”. That shift matters for tools and agents.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response control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3: inferenceConfig + response parsing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Control output, then read operational metadata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6263640" cy="3611880"/>
          </a:xfrm>
          <a:prstGeom prst="roundRect">
            <a:avLst>
              <a:gd name="adj" fmla="val 101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1732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8132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FIRST MODEL CALL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5934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bedrock_runtime.converse(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system=system_prompt,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messages=messages,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inferenceConfig={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"temperature": 0.7,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"maxTokens": 2000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output_text = response["output"]["message"]["content"][0]["text"]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269480" y="1325880"/>
            <a:ext cx="4206240" cy="3611880"/>
          </a:xfrm>
          <a:prstGeom prst="roundRect">
            <a:avLst>
              <a:gd name="adj" fmla="val 151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1325880"/>
            <a:ext cx="73152" cy="361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0648" y="14630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Control knobs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70648" y="1783080"/>
            <a:ext cx="3886200" cy="3044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temperature: response variability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maxTokens: output budget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output.message.content: generated text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usage: input/output token accounting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are the unit of cost, context, and latency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Not just a billing footnote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72184" y="1508760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“A token is basically a small chunk of text… a whole word, part of a word, or even punctuation.”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72184" y="216712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token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4800600" cy="3108960"/>
          </a:xfrm>
          <a:prstGeom prst="roundRect">
            <a:avLst>
              <a:gd name="adj" fmla="val 1176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325880"/>
            <a:ext cx="16002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356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Design choice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16002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4356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Token impact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0" y="1325880"/>
            <a:ext cx="16002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65792" y="14356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Risk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1947672"/>
            <a:ext cx="1600200" cy="62179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03911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Long system prompt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092440" y="1947672"/>
            <a:ext cx="1600200" cy="62179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203911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Repeated every request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692640" y="1947672"/>
            <a:ext cx="1600200" cy="62179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203911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Hidden baseline cost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92240" y="2569464"/>
            <a:ext cx="1600200" cy="621792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660904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Full chat history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092440" y="2569464"/>
            <a:ext cx="1600200" cy="621792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2660904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Grows every turn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692640" y="2569464"/>
            <a:ext cx="1600200" cy="621792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5792" y="2660904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Cost + context overflow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492240" y="3191256"/>
            <a:ext cx="1600200" cy="62179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28269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Large documents in prompt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092440" y="3191256"/>
            <a:ext cx="1600200" cy="62179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328269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Huge input tokens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692640" y="3191256"/>
            <a:ext cx="1600200" cy="62179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65792" y="328269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Slow and expensive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492240" y="3813048"/>
            <a:ext cx="1600200" cy="621792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390448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No maxTokens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092440" y="3813048"/>
            <a:ext cx="1600200" cy="621792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5592" y="390448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Runaway output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9692640" y="3813048"/>
            <a:ext cx="1600200" cy="621792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65792" y="390448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Billing surprise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1737360" y="5074920"/>
            <a:ext cx="8778240" cy="548640"/>
          </a:xfrm>
          <a:prstGeom prst="roundRect">
            <a:avLst>
              <a:gd name="adj" fmla="val 10000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83664" y="5212080"/>
            <a:ext cx="8485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Rule: if the context is large or reusable, think RAG or prompt caching later.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Multi-turn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Multi-turn is application-managed memory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Models are stateless by 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189738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189738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189738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0" y="189738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78240" y="1897380"/>
            <a:ext cx="-3063240" cy="150876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6459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64792"/>
            <a:ext cx="1408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turn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16459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764792"/>
            <a:ext cx="1408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Assistant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turn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764792"/>
            <a:ext cx="1408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turn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6459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764792"/>
            <a:ext cx="1408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Assistant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turn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16459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1764792"/>
            <a:ext cx="1408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turn 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182112"/>
            <a:ext cx="1865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Every API call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resends history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461772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617720"/>
            <a:ext cx="73152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75488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What the repo demonstrates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5074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cooking assistant manually appends user and assistant messages to conversation_history before every call.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461772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617720"/>
            <a:ext cx="7315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47548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equivalent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01968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travel assistant must remember: booking type, customer context, policy already discussed, and unresolved next action.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multi-turn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4: conversation_history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application builds and resends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6537960" cy="4206240"/>
          </a:xfrm>
          <a:prstGeom prst="roundRect">
            <a:avLst>
              <a:gd name="adj" fmla="val 87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389888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5389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multi_turn.py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58952" y="1691640"/>
            <a:ext cx="62087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conversation_history = []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conversation_history.append({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"user",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[{"text": user_message_1}]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response_1 = bedrock_runtime.converse(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system=system_prompt,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messages=conversation_history,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inferenceConfig={"temperature": 0.7, "maxTokens": 200}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98448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1298448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528" y="14356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Then append assistant 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53528" y="1755648"/>
            <a:ext cx="3794760" cy="1627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Extract assistant text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Append as role: assistant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Append next user turn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Send the full history again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374904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3749040"/>
            <a:ext cx="73152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38862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Cost warning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53528" y="42062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By turn 10, the app may be paying to resend earlier turns unless it summarizes, truncates, or retrieves intelligently.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way first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learn the hard way first?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Frameworks hide the loop. Production incidents expose the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96668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45280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93892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42504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91116" y="20116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600200"/>
            <a:ext cx="159258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64792"/>
            <a:ext cx="14462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User input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2534412" y="1600200"/>
            <a:ext cx="159258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7564" y="1764792"/>
            <a:ext cx="14462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Model call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83024" y="1600200"/>
            <a:ext cx="159258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6176" y="1764792"/>
            <a:ext cx="14462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Model response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31636" y="1600200"/>
            <a:ext cx="159258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4788" y="1764792"/>
            <a:ext cx="14462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Need action/data?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080248" y="1600200"/>
            <a:ext cx="159258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3400" y="1764792"/>
            <a:ext cx="14462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Tool/RAG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928860" y="1600200"/>
            <a:ext cx="1592580" cy="82296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2012" y="1764792"/>
            <a:ext cx="14462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Final answer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1005840" y="3154680"/>
            <a:ext cx="4709160" cy="1463040"/>
          </a:xfrm>
          <a:prstGeom prst="roundRect">
            <a:avLst>
              <a:gd name="adj" fmla="val 375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154680"/>
            <a:ext cx="73152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32918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Manual approach teaches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3611880"/>
            <a:ext cx="43891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Request shape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Conversation state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Token cost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Tool orchestration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Response validation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3154680"/>
            <a:ext cx="4709160" cy="1463040"/>
          </a:xfrm>
          <a:prstGeom prst="roundRect">
            <a:avLst>
              <a:gd name="adj" fmla="val 375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154680"/>
            <a:ext cx="73152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32918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Framework approach later gives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93408" y="3611880"/>
            <a:ext cx="43891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Less boilerplate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Tool execution loop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Memory abstraction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Faster agent prototypes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65960" y="534924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12264" y="5486400"/>
            <a:ext cx="7936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Do not open Strands until they can explain the manual loop.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Tool use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use: when text generation is not enough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model requests actions; your application executes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</a:rPr>
              <a:t>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26464" y="1508760"/>
            <a:ext cx="9802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8FAFC"/>
                </a:solidFill>
              </a:rPr>
              <a:t>“Tools are functions that a model can request your application to run in order to interact with the real world.”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26464" y="2029968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Video transcript · Tool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10241280" cy="2331720"/>
          </a:xfrm>
          <a:prstGeom prst="roundRect">
            <a:avLst>
              <a:gd name="adj" fmla="val 1569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88920"/>
            <a:ext cx="341376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898648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User asks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3880" y="2788920"/>
            <a:ext cx="341376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7032" y="2898648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LLM alone?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87640" y="2788920"/>
            <a:ext cx="341376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0792" y="2898648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Tool needed?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3255264"/>
            <a:ext cx="341376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346704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Check live booking status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73880" y="3255264"/>
            <a:ext cx="341376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7032" y="3346704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87640" y="3255264"/>
            <a:ext cx="341376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0792" y="3346704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Yes: booking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0120" y="3721608"/>
            <a:ext cx="341376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813048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Calculate refund amount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73880" y="3721608"/>
            <a:ext cx="341376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7032" y="3813048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Risky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87640" y="3721608"/>
            <a:ext cx="341376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0792" y="3813048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Yes: policy + pricing service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0120" y="4187952"/>
            <a:ext cx="341376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4279392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Summarize generic policy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73880" y="4187952"/>
            <a:ext cx="341376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7032" y="4279392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Maybe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87640" y="4187952"/>
            <a:ext cx="341376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0792" y="4279392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RAG preferred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0120" y="4654296"/>
            <a:ext cx="341376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4745736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Update a record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73880" y="4654296"/>
            <a:ext cx="341376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47032" y="4745736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787640" y="4654296"/>
            <a:ext cx="341376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0792" y="4745736"/>
            <a:ext cx="3267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Yes: controlled action API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loop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four-step tool-use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This is the operational core of agents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2468880"/>
            <a:ext cx="2194560" cy="-66294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11880" y="1805940"/>
            <a:ext cx="265176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63640" y="1805940"/>
            <a:ext cx="265176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915400" y="1805940"/>
            <a:ext cx="0" cy="164592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15400" y="3451860"/>
            <a:ext cx="-2651760" cy="137160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4823460"/>
            <a:ext cx="-265176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2D3EE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14884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2677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question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146304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581912"/>
            <a:ext cx="1591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App sends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message +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146304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581912"/>
            <a:ext cx="1591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Model returns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tool_use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46304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1581912"/>
            <a:ext cx="1591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App runs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function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3227832"/>
            <a:ext cx="1591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Tool result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back to model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448056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4599432"/>
            <a:ext cx="1591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Final answer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0" y="448056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6352" y="4599432"/>
            <a:ext cx="1591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App returns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response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77440" y="562356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B7185">
              <a:alpha val="90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5760720"/>
            <a:ext cx="7022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Critical: the model never executes the function directly.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tool function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5: local function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“tool” is ordinary application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715000" cy="3520440"/>
          </a:xfrm>
          <a:prstGeom prst="roundRect">
            <a:avLst>
              <a:gd name="adj" fmla="val 10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389888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5389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tool_use.py · Step 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50392" y="1691640"/>
            <a:ext cx="53858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get_weather(location, unit="fahrenheit"):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weather_data =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"location": location,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"temperature": 58 if unit == "fahrenheit" else 14,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"unit": unit,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"condition": "Partly cloudy",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"humidity": "72%",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"wind": "8 mph NW",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weather_data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12280" y="1298448"/>
            <a:ext cx="4434840" cy="2103120"/>
          </a:xfrm>
          <a:prstGeom prst="roundRect">
            <a:avLst>
              <a:gd name="adj" fmla="val 260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1298448"/>
            <a:ext cx="73152" cy="2103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1435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replacements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3448" y="1755648"/>
            <a:ext cx="4114800" cy="1536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get_booking_status(pnr)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get_refund_policy(route, fareClass)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check_hotel_confirmation(bookingId)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create_support_ticket(issueType)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3794760"/>
            <a:ext cx="4434840" cy="1005840"/>
          </a:xfrm>
          <a:prstGeom prst="roundRect">
            <a:avLst>
              <a:gd name="adj" fmla="val 5455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3794760"/>
            <a:ext cx="73152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39319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Teaching point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13448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This can be a local function, database query, REST call, Lambda function, or internal enterprise API.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tool schema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6: tool schema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Documentation the model can reason over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6263640" cy="3977640"/>
          </a:xfrm>
          <a:prstGeom prst="roundRect">
            <a:avLst>
              <a:gd name="adj" fmla="val 92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389888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5389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tool_use.py · Step 2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04672" y="1691640"/>
            <a:ext cx="59344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TOOL_CONFIG =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"tools": [{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"toolSpec":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"get_weather",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"description": "Get the current weather for a given location.",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"inputSchema":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"json":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"type": "object",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"properties": {"location": {"type": "string"}},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"required": ["location"]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}}}}]}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269480" y="1298448"/>
            <a:ext cx="3977640" cy="2331720"/>
          </a:xfrm>
          <a:prstGeom prst="roundRect">
            <a:avLst>
              <a:gd name="adj" fmla="val 1569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1298448"/>
            <a:ext cx="198882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1408176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Schema element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258300" y="1298448"/>
            <a:ext cx="1988820" cy="4663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1452" y="1408176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764792"/>
            <a:ext cx="19888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1856232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name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258300" y="1764792"/>
            <a:ext cx="19888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1452" y="1856232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The model returns this tool name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269480" y="2231136"/>
            <a:ext cx="19888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322576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description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258300" y="2231136"/>
            <a:ext cx="19888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31452" y="2322576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Tells model when to use it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269480" y="2697480"/>
            <a:ext cx="19888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2788920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inputSchema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258300" y="2697480"/>
            <a:ext cx="1988820" cy="466344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1452" y="2788920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Defines accepted arguments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269480" y="3163824"/>
            <a:ext cx="19888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3255264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required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258300" y="3163824"/>
            <a:ext cx="1988820" cy="466344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31452" y="3255264"/>
            <a:ext cx="18425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Prevents missing critical input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269480" y="393192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39319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Architect warning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70648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Bad tool descriptions cause wrong tool selection. Treat tool schemas like API contracts.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tool dispatch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7: tool registry and dispatcher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Only approved functions can be called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669280" cy="2834640"/>
          </a:xfrm>
          <a:prstGeom prst="roundRect">
            <a:avLst>
              <a:gd name="adj" fmla="val 129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50876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7276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tool_use.py · Step 3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50392" y="1810512"/>
            <a:ext cx="53400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TOOL_FUNCTIONS = {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"get_weather": get_weather,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run_tool(tool_name, tool_input):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= TOOL_FUNCTIONS.get(tool_name)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func is None: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{"error": f"Unknown tool: {tool_name}"}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func(**tool_input)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572000" cy="2331720"/>
          </a:xfrm>
          <a:prstGeom prst="roundRect">
            <a:avLst>
              <a:gd name="adj" fmla="val 2353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417320"/>
            <a:ext cx="73152" cy="2331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2008" y="155448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Security boundary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22008" y="1874520"/>
            <a:ext cx="4251960" cy="1764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No arbitrary function execution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Validate and authorize tool calls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Log tool name, arguments, result status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Mask sensitive data before model sees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00200" y="4800600"/>
            <a:ext cx="896112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46504" y="4937760"/>
            <a:ext cx="8668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The tool registry is an allow-list, not a convenience dictionary.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stopReason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8: stopReason drives the next state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Tool use is a state machine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6629400" cy="3840480"/>
          </a:xfrm>
          <a:prstGeom prst="roundRect">
            <a:avLst>
              <a:gd name="adj" fmla="val 95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37160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3560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tool_use.py · Step 4A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58952" y="1673352"/>
            <a:ext cx="630021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bedrock.converse(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messages=messages,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toolConfig=TOOL_CONFIG,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inferenceConfig={"temperature": 0.0, "maxTokens": 300},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 = response["stopReason"]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assistant_message = response["output"]["message"]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stop_reason == "tool_use":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extract toolUse block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543800" y="1280160"/>
            <a:ext cx="3794760" cy="2651760"/>
          </a:xfrm>
          <a:prstGeom prst="roundRect">
            <a:avLst>
              <a:gd name="adj" fmla="val 206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1280160"/>
            <a:ext cx="73152" cy="2651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4968" y="1417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44968" y="1737360"/>
            <a:ext cx="3474720" cy="20848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CBD5E1"/>
                </a:solidFill>
              </a:rPr>
              <a:t>end_turn: model is done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tool_use: app must call a tool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max_tokens: output was cut off</a:t>
            </a:r>
            <a:endParaRPr lang="en-US" sz="1350" dirty="0"/>
          </a:p>
          <a:p>
            <a:r>
              <a:rPr lang="en-US" sz="1350" dirty="0">
                <a:solidFill>
                  <a:srgbClr val="CBD5E1"/>
                </a:solidFill>
              </a:rPr>
              <a:t>guardrail_intervened: policy blocked/changed output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43800" y="4251960"/>
            <a:ext cx="3794760" cy="713232"/>
          </a:xfrm>
          <a:prstGeom prst="roundRect">
            <a:avLst>
              <a:gd name="adj" fmla="val 7692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4251960"/>
            <a:ext cx="73152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4389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QA angle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44968" y="4709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Test that the right prompt triggers tool_use and an irrelevant prompt does not.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reveal · tool result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reveal 9: send the tool result 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model uses real data to write the final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6492240" cy="4160520"/>
          </a:xfrm>
          <a:prstGeom prst="roundRect">
            <a:avLst>
              <a:gd name="adj" fmla="val 87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325880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8988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</a:rPr>
              <a:t>tool_use.py · Step 4B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04672" y="1627632"/>
            <a:ext cx="616305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messages.append(assistant_message)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"user",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[{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"toolResult":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"toolUseId": tool_use_id,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"content": [{"json": result}],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final_response = bedrock.converse(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messages=messages,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toolConfig=TOOL_CONFIG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7452360" y="14173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141732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528" y="15544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Why toolUseId matters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53528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It connects the model’s tool request to the tool result returned by the application.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52360" y="2697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69748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28346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Final answer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53528" y="3154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The model now generates user-friendly text using the structured tool result.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52360" y="3977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3977640"/>
            <a:ext cx="73152" cy="9144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41148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Design warning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53528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Do not expose raw internal JSON if the final answer should be customer-safe.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design one -style tool schema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10 minutes, no laptops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00" cy="3840480"/>
          </a:xfrm>
          <a:prstGeom prst="roundRect">
            <a:avLst>
              <a:gd name="adj" fmla="val 952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27432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8988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Group task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27432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38988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Prompt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274320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1168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Tool name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274320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01168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Use verb_noun format: get_booking_status, calculate_refund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274320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65176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Description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3474720" y="2560320"/>
            <a:ext cx="274320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265176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When should the model use this tool?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274320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2918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Inputs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3474720" y="3200400"/>
            <a:ext cx="274320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2918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What arguments are mandatory?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274320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93192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Output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3474720" y="3840480"/>
            <a:ext cx="2743200" cy="6400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93192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What JSON should the function return?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731520" y="4480560"/>
            <a:ext cx="274320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57200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Guardrail concern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3474720" y="4480560"/>
            <a:ext cx="274320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457200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What must never be leaked or executed?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6629400" y="1508760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1508760"/>
            <a:ext cx="73152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0568" y="164592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Example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30568" y="19659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get_booking_status(pnr) returns booking state, supplier confirmation status, passenger count, refund eligibility flag, and escalation code.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0" y="3200400"/>
            <a:ext cx="4663440" cy="960120"/>
          </a:xfrm>
          <a:prstGeom prst="roundRect">
            <a:avLst>
              <a:gd name="adj" fmla="val 5714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320040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333756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Share-out rule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30568" y="36576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Each group explains why the model should not answer this query from memory.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29400" y="452628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16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4526280"/>
            <a:ext cx="73152" cy="7772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0568" y="466344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Advanced prompt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30568" y="49834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What authorization check is required before this tool runs?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quiz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Questions first. Reveal answers on the next slide.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98755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1. Why should the model not answer live booking-status questions from memory?
</a:t>
            </a:r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2. What is the difference between system and messages?
</a:t>
            </a:r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3. Why do long multi-turn conversations become expensive?
</a:t>
            </a:r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4. What does stopReason = tool_use mean?
</a:t>
            </a:r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5. Who executes the function: the model or the application?
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834640" y="5394960"/>
            <a:ext cx="6492240" cy="502920"/>
          </a:xfrm>
          <a:prstGeom prst="roundRect">
            <a:avLst>
              <a:gd name="adj" fmla="val 10909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80944" y="553212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Ask them to answer in pairs before revealing.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answers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answers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Use this to close Deck 1 and transition to RAG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789920" cy="3383280"/>
          </a:xfrm>
          <a:prstGeom prst="roundRect">
            <a:avLst>
              <a:gd name="adj" fmla="val 1081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5394960" cy="563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81328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Question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394960" cy="563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481328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Expected answer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1935480"/>
            <a:ext cx="5394960" cy="5638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2692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Live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935480"/>
            <a:ext cx="5394960" cy="5638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202692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It lives in operational systems, not model training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499360"/>
            <a:ext cx="5394960" cy="5638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59080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System vs messages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499360"/>
            <a:ext cx="5394960" cy="5638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59080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System = behavior; messages = conversation payload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5394960" cy="5638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15468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Multi-turn cost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063240"/>
            <a:ext cx="5394960" cy="5638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315468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History is resent, increasing input tokens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627120"/>
            <a:ext cx="5394960" cy="5638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71856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tool_use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627120"/>
            <a:ext cx="5394960" cy="563880"/>
          </a:xfrm>
          <a:prstGeom prst="rect">
            <a:avLst/>
          </a:prstGeom>
          <a:solidFill>
            <a:srgbClr val="162033">
              <a:alpha val="96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71856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app must run an approved tool and return result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191000"/>
            <a:ext cx="5394960" cy="5638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28244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Who executes?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191000"/>
            <a:ext cx="5394960" cy="5638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4282440"/>
            <a:ext cx="5248656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application executes; model only requests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65960" y="51663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12264" y="5303520"/>
            <a:ext cx="7936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Transition: tools solve live actions. RAG solves private knowledge.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26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8251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material used for this deck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9326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Primary tutorial, transcript, and companion sample repo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1033272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F8FAFC"/>
                </a:solidFill>
              </a:rPr>
              <a:t>AWS Builder Center article: Amazon Bedrock for Beginners From First Prompt to AI Agent, Morgan, Apr 15, 2026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Verbatim YouTube transcript snippets supplied by the requester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Companion repo: aws-samples/sample-amazon-bedrock-for-beginners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Code shown progressively; full code intentionally not dumped on slides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65683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Amazon Bedrock Day 4 · Deck 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292840" y="66568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Generated for training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1 - Bedrock Foundations to Tool Use</dc:title>
  <dc:subject>Amazon Bedrock Day 4 Training</dc:subject>
  <dc:creator>OpenAI</dc:creator>
  <cp:lastModifiedBy>OpenAI</cp:lastModifiedBy>
  <cp:revision>1</cp:revision>
  <dcterms:created xsi:type="dcterms:W3CDTF">2026-05-14T03:49:03Z</dcterms:created>
  <dcterms:modified xsi:type="dcterms:W3CDTF">2026-05-14T03:49:03Z</dcterms:modified>
</cp:coreProperties>
</file>