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45720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2011680" cy="502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2801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Tool-Using LLM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874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Production Agent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2697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of 2 — RAG · Guardrails · Strands Agents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3383280"/>
            <a:ext cx="548640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5204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</a:rPr>
              <a:t>PICKS UP WHERE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Deck 1 left off — you can already call models, hold conversations, and trigger tools.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</a:rPr>
              <a:t>ADDS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Grounding in your own documents (RAG) · Safety rails on inputs and outputs · A complete agent loop.</a:t>
            </a:r>
            <a:endParaRPr lang="en-US" sz="1000" dirty="0"/>
          </a:p>
          <a:p>
            <a:pPr indent="0" marL="0">
              <a:buNone/>
            </a:pPr>
            <a:r>
              <a:rPr lang="en-US" sz="1000" b="1" spc="200" kern="0" dirty="0">
                <a:solidFill>
                  <a:srgbClr val="FF9900"/>
                </a:solidFill>
              </a:rPr>
              <a:t>ENDS WITH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 capstone university chatbot in &lt;100 lines using the Strands Agents SDK.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WHERE DECK 1 ENDED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morning — what we can already 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problems remain. We solve them this session.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ALREADY DO THIS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any model with Converse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role, tune temperature/maxTokens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multi-turn conversations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tokens for cost attribution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 the model can request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tool_use round-trip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BROKEN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63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invents facts about policies it doesn't actually know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net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will say anything — refunds, legal advice, PII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3474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loops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loop, history mgmt, retries — all manual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5079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75488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deck fixes all three. By 5 PM you have a production-shaped agent template you can adapt to any use case.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— four moves to a production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solves one of the three problems from the previous slide.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640080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16093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Knowledge Bases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88366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hallucination — ground answers in your own documents.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40880" y="1719072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719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5–7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82296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67712"/>
            <a:ext cx="640080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677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23225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59689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safety net — content filters, denied topics, PII redaction.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2432304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82296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80944"/>
            <a:ext cx="640080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8094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280160" y="30358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SDK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33101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hand-rolled loops with a framework that does the boring parts.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3145536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1455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94176"/>
            <a:ext cx="8229600" cy="62179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94176"/>
            <a:ext cx="640080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9417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280160" y="3749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build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40233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it all together — chatbot with KB + tools + guardrails, &lt;100 LoC.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38587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38587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526280"/>
            <a:ext cx="7315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5994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" y="4846320"/>
            <a:ext cx="795528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90 minutes total. Heaviest section is RAG — it's the highest-leverage capability for customer-facing use cases.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WHY RAG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hallucination problem — concretely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don't know your data. They'll confidently make it up if you let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GROUNDING (model uses its training data only)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Passenger: </a:t>
            </a:r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"What's 's fare-rule policy for last-minute changes on Y-class tickets?"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</a:rPr>
              <a:t>"Last-minute changes on economy Y-class typically incur a ₹2,500 fee plus fare difference; refunds may be processed within 7 working days, subject to terms."</a:t>
            </a:r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  ← invented. None of this is policy.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278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 (model uses retrieved chunks of YOUR documents)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Same question. RAG pipeline retrieves the Y-class fare rule doc from your KB.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Model: </a:t>
            </a:r>
            <a:pPr indent="0" marL="0">
              <a:buNone/>
            </a:pPr>
            <a:r>
              <a:rPr lang="en-US" sz="1100" i="1" dirty="0">
                <a:solidFill>
                  <a:srgbClr val="059669"/>
                </a:solidFill>
              </a:rPr>
              <a:t>"Per fare rule FR-2025-Y3, changes within 24 hrs of departure on Y-class are non-refundable; rebooking is permitted on next available flight with no fare difference."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[Source: fare-rules-2025.pdf, page 14]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754880"/>
            <a:ext cx="73152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28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795528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RAG CONCEPT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Retrieval-Augmented Generation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Converse API. Before each call, fetch relevant snippets from your docs and stuff them into the prompt.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178308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asks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Y-class change rule?"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8288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828800"/>
            <a:ext cx="17830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286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docs · top-K relevant chunks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828800"/>
            <a:ext cx="1783080" cy="3657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Augment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 chunks + question into prompt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82880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828800"/>
            <a:ext cx="178308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828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286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answers using the stuffed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40280" y="25146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89120" y="25146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37960" y="251460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" y="3474720"/>
            <a:ext cx="4023360" cy="137160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74720"/>
            <a:ext cx="73152" cy="1371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478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same as before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0416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 API call · system prompt · messages array · token billing · response shape. RAG is a pattern, not a different API.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474720"/>
            <a:ext cx="402336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474720"/>
            <a:ext cx="73152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478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04164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retrieval. Needs documents converted to embeddings, stored in a vector DB, and a similarity search at query time. Bedrock Knowledge Bases handle all of this.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EMBEDDINGS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turning text into searchable coordinates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model converts text into a vector. Similar meanings → nearby vectors.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 (via Titan Embeddings v2 model)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8404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"Baggage allowance on Y-class"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dimensions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43400" y="18745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4023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[0.12, -0.45, 0.78, 0.03, ...]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38404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can I check on economy?"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close to above ↑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43400" y="2514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514600"/>
            <a:ext cx="4023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514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[0.14, -0.43, 0.76, 0.05, ...]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38404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"Refund window for cancelled flights"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topic — far away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43400" y="31546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4023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154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[-0.55, 0.21, -0.10, 0.68, ...]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0965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3159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that makes retrieval work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5902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Phrasing varies — "baggage allowance" vs "how much can I check" — but they mean the same thing. Embeddings capture meaning, so semantically similar questions end up near each other in vector space. Keyword search would miss this; semantic search nails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VECTOR DBS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— where your embeddings live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time, find the K nearest vectors to your question. That's retrieval.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VIEW — 2D PROJECTION OF VECTOR SPACE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0" cy="3017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37744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19456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2860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56032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baggage / luggage docs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411480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429768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420624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393192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4348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cancellation docs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228600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246888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1945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/ FFP docs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80160" y="2423160"/>
            <a:ext cx="292608" cy="292608"/>
          </a:xfrm>
          <a:prstGeom prst="ellipse">
            <a:avLst/>
          </a:prstGeom>
          <a:solidFill>
            <a:srgbClr val="FF99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2560320"/>
            <a:ext cx="-365760" cy="64008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48640" y="3246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4564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luggage can I bring?"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18288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1. Embed query: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"How much luggage?" → vector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2. Find K-nearest neighbours: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cosine similarity over indexed vectors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3. Return the original text chunks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    of those nearest vectors (with citation metadata)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572000"/>
            <a:ext cx="73152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6451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892040"/>
            <a:ext cx="795528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 handle steps 1-3 automatically. You give it docs in S3, it gives you back relevant chunks.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KNOWLEDGE BASES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 — managed RAG pipeline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files in S3. Bedrock chunks them, embeds them, stores them, retrieves them. One AWS bill.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828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(PDF, DOCX, MD, TXT)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691640"/>
            <a:ext cx="1828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691640"/>
            <a:ext cx="18288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148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splits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passages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691640"/>
            <a:ext cx="1828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691640"/>
            <a:ext cx="18288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148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Embeddings 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/ Cohere also 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1691640"/>
            <a:ext cx="1828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691640"/>
            <a:ext cx="182880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148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Vectors / OpenSearch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pgvector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31720" y="242316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43400" y="242316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55080" y="242316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20240" y="388620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01168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question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0" y="388620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65760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top-K chunks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388620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39496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 into prompt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58000" y="388620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132320" y="36576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5079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475488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configure once. Bedrock handles ingestion, embeddings, vector storage, and retrieval. One API call from your code: retrieve_and_generate.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CREATING A KB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Knowledge Base — step 1: provide details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Knowledge Bases → Create. Walking through the wizard.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29260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|  N. Virginia ▾  |  Account 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2296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01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 &gt;  Knowledge bases  &gt;  Create knowledge 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82296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Provide knowledge base details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4414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how your knowledge base is identified and where it lives.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name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2834640"/>
            <a:ext cx="3657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834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demo-fare-rules-kb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122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API calls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(optional)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3291840"/>
            <a:ext cx="3657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3291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 rules and customer policy docs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permissions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3749040"/>
            <a:ext cx="3657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37490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and use a new service role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provisions S3 + Bedrock perms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type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63240" y="4206240"/>
            <a:ext cx="36576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4206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 S3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1228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Confluence, Sharepoint, Salesforce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4206240"/>
            <a:ext cx="1005840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4206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8229600" cy="914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73152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8737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5120640"/>
            <a:ext cx="7955280" cy="-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CREATING A KB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Point at your S3 bucket of documents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S3 you've been using for years. Drop PDFs, DOCX, Markdown, plain text.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212080" cy="29260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|  N. Virginia ▾  |  Account 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521208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01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 &gt;  Knowledge bases  &gt;  Configure data source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2120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Configure data source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name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4846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346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demo-fare-rules-source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URI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4846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337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s3://demo-bedrock-kb/fare-rules/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4846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840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(300 tokens, 20% overlap)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strategy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484632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343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(extract text)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S3 BUCKET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1965960"/>
            <a:ext cx="27432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9659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1965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fare-rules-2025.pdf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350008"/>
            <a:ext cx="27432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235000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2350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baggage-policy.docx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0" y="2734056"/>
            <a:ext cx="27432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7340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27340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refund-window-rules.md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0" y="3118104"/>
            <a:ext cx="27432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311810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31181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loyalty-FAQ.pdf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3502152"/>
            <a:ext cx="27432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350215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3502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rebooking-procedures.pdf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43600" y="3886200"/>
            <a:ext cx="27432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38862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📄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3886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ancillary-services.pdf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754880"/>
            <a:ext cx="731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828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" y="5074920"/>
            <a:ext cx="795528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CREATING A KB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Pick an embedding model and vector store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multi-choice pattern as picking a chat model. Defaults work for most cases.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→ vectors. Same model is used for ingestion AND queries.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2606040" cy="685800"/>
          </a:xfrm>
          <a:prstGeom prst="rect">
            <a:avLst/>
          </a:prstGeom>
          <a:solidFill>
            <a:srgbClr val="FFF7ED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40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Text Embeddings v2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1024 dim. AWS-native. Good price-perf.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2194560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240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Embed English v3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2468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English Q&amp;A. 1024 dim.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2194560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240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Embed Multilingual v3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for multilingual chat. 1024 dim.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821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embeddings get stored and searched. Bedrock can create it for you.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730752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76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Vectors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005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Newest, cheapest. Good for &lt;10M vectors. Use for pilot.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3730752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776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4005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Mid-scale. Hybrid search support.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730752"/>
            <a:ext cx="2606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7764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pgvector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0050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already run Postgres. Pair with existing data.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617720"/>
            <a:ext cx="7315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6908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937760"/>
            <a:ext cx="79552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pilots: Titan v2 + S3 Vectors. Move up only if scale or hybrid-search needs demand it.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SYNC 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Sync the data source, copy the KB ID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review-and-create, the KB exists but is empty. One click to ingest your docs.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29260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|  N. Virginia ▾  |  Account 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2296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01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 &gt;  Knowledge bases  &gt;  demo-fare-rules-kb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demo-fare-rules-kb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4114800" cy="365760"/>
          </a:xfrm>
          <a:prstGeom prst="rect">
            <a:avLst/>
          </a:prstGeom>
          <a:solidFill>
            <a:srgbClr val="16191F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ID: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ABCDEFGHIJ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514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demo-fare-rules-source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2900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sync: 4 mins ago · Status: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knowledge base: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test question...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572000"/>
            <a:ext cx="73152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451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892040"/>
            <a:ext cx="795528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is NOT automatic. New docs in S3 don't appear in the KB until you trigger a sync (manual or scheduled).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KB QUERY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KB — retrieve_and_generate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call. One client. The whole RAG pipeline runs server-side.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boto3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KNOWLEDGE_BASE_ID = "ABCDEFGHIJ"   # paste from the console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"us.amazon.nova-lite-v1:0"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bedrock_agent_runtime = boto3.client('bedrock-agent-runtime', region_name='us-east-1')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bedrock_agent_runtime.retrieve_and_generate(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input={'text': "When is spring break this year?"},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retrieveAndGenerateConfiguration={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'type': 'KNOWLEDGE_BASE',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'knowledgeBaseConfiguration':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'knowledgeBaseId': KNOWLEDGE_BASE_ID,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'modelArn': MODEL_ID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print(response['output']['text'])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5079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client: bedrock-agent-runtime, not bedrock-runtime. KB and Agent operations live in a separate service client.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CITATIONS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— show users where the answer came from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trust in regulated domains. Every -facing answer should cite its source.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response also contains citations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citations = response.get('citations', [])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idx, citation in enumerate(citations, 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reference in citation.get('retrievedReferences', []):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location = reference.get('location', {})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s3_location = location.get('s3Location', {})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uri = s3_location.get('uri', 'Unknown')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[{idx}] {uri}")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[1] s3://demo-bedrock-kb/fare-rules/fare-rules-2025.pdf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[2] s3://demo-bedrock-kb/fare-rules/refund-window-rules.md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297680"/>
            <a:ext cx="73152" cy="548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708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5902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pattern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864608"/>
            <a:ext cx="795528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source filenames + page numbers in the UI. "Per fare-rules-2025.pdf (p.14)" instantly converts skeptical CSAs into trusting users.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KB COSTS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costs — three line items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isn't free. Each piece costs something. Know what you're paying for.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9144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(ingestion)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 per document chunk at sync time. Titan v2 ≈ $0.02 per 1M tokens. Cheap.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68880"/>
            <a:ext cx="914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60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based on store choice. S3 Vectors $0.06/GB-month — cheapest option.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91440" cy="7315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generation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query: embed question + retrieve + LLM call. LLM portion dominates the bill.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297680"/>
            <a:ext cx="7315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708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5902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discipline for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864608"/>
            <a:ext cx="7955280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your KB with cost-center. Push CloudWatch metrics for embeddings-per-sync and queries-per-tenant. Use Haiku/Lite for the generation step where you can.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WHY GUARDRAILS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your safety net for what goes in and what comes out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will say anything. Guardrails enforce what's acceptable for to ship.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45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/ inappropriate content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Example:  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Customer rages at the bot → model mirrors hostility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Mitigation: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Content filters: hate, insults, sexual, violence, misconduct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0604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97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Off-domain answers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Example:  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Passenger asks for tax advice → model gives bad legal info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Mitigation: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Denied topics: "legal advice", "medical advice", "competitor pricing"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5760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749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Example:  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Logs of a session contain PNRs, passport numbers, card details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Mitigation:  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Sensitive information filters: redact PII before output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709160"/>
            <a:ext cx="73152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7823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795528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GUARDRAIL TYPES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guardrail filter types Bedrock gives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runs on both input and output. Configure once, applies to every call referencing the guardrail.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2679192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6479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· Insults · Sexual · Violence · Misconduct · Prompt-attack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60020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600200"/>
            <a:ext cx="267919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76479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topics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210312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"don't discuss" rules. e.g. "medical advice"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98464" y="160020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8464" y="1600200"/>
            <a:ext cx="267919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176479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filters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35624" y="210312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blocklists. Profanity packs included.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17520"/>
            <a:ext cx="267919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8211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 — PII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phone, SSN, credit card, address — block or mask.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27832" y="301752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7832" y="3017520"/>
            <a:ext cx="2679192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318211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 — regex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64992" y="35204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patterns. PNRs, ticket numbers, employee IDs.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98464" y="301752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98464" y="3017520"/>
            <a:ext cx="2679192" cy="6400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5624" y="3182112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grounding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35624" y="35204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answer is supported by retrieved KB context.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5079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475488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configurable from one console form. The same guardrail attaches to any model call — Converse, RetrieveAndGenerate, or Agent.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CREATE A GUARDRAIL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guardrail in the console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panels of toggles and text fields. Same wizard flow as the KB creation.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292608"/>
          </a:xfrm>
          <a:prstGeom prst="rect">
            <a:avLst/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|  N. Virginia ▾  |  Account 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01368"/>
            <a:ext cx="82296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013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 &gt;  Guardrails  &gt;  Create guardrail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Configure content filters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strength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2560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strength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834640"/>
            <a:ext cx="7863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8803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852160" y="2880360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28803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3127248"/>
            <a:ext cx="7863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172968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1729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52160" y="3172968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1729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3419856"/>
            <a:ext cx="7863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4198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465576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4655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852160" y="3465576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34655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3712464"/>
            <a:ext cx="7863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712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46120" y="3758184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37581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852160" y="3758184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37581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4005072"/>
            <a:ext cx="7863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4005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Misconduct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46120" y="4050792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40507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852160" y="4050792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40507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" y="4297680"/>
            <a:ext cx="7863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attack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46120" y="4343400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43434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52160" y="4343400"/>
            <a:ext cx="731520" cy="16459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52160" y="43434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4572000"/>
            <a:ext cx="73152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6451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" y="4892040"/>
            <a:ext cx="79552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= how aggressive the filter is. Start Medium; tune toward High as you find false negatives in production logs.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DENIED TOPICS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topics — free-text rules in plain English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guardrail for . Define what's out of scope; Bedrock enforces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DENIED TOPICS FOR RESERVATIONS BOT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Legal advice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9202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guidance on legal claims, lawsuits, regulatory rights of passengers.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Medical advice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331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Fitness-to-fly assessments, medication during travel, medical conditions.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Competitor comparison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743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or service comparisons with other airlines or aggregators.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564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TRIPS A DENIED TOPIC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User: </a:t>
            </a:r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"My doctor says I shouldn't fly. Can I get a refund?"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Bedrock: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Blocks output, returns stopReason "guardrail_intervened".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Your app: </a:t>
            </a:r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Substitutes pre-written safe response — "For medical-fitness questions, please contact our customer care team at +91-xx-xxx."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PII FILTERS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filters — built-in + regex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or mask sensitive information automatically. Critical for audit and DPDP compliance.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PII TYPES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202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Phone · Address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4231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331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· Username · Password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432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· Bank account · SWIFT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24612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54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 · Driver's license · SSN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6576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661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· MAC address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77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· 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REGEX FOR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codes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1956816"/>
            <a:ext cx="2057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9568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^[A-Z0-9]{6}$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numbers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2459736"/>
            <a:ext cx="2057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4597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^\d{3}-?\d{10}$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flyer #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2962656"/>
            <a:ext cx="2057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9626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^FF-\d{8}$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3465576"/>
            <a:ext cx="2057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46557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^EMP\d{6}$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reference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37960" y="3968496"/>
            <a:ext cx="2057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9684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^BR-[A-Z0-9]{8}$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754880"/>
            <a:ext cx="731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28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5074920"/>
            <a:ext cx="795528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KB + Guardrail — one nested config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retrieve_and_generate call. Add guardrailConfiguration inside generationConfiguration.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KNOWLEDGE_BASE_ID = "ABCDEFGHIJ"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GUARDRAIL_ID = "abc123def456"          # from the console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GUARDRAIL_VERSION = "1"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bedrock_agent.retrieve_and_generate(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input={"text": question},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retrieveAndGenerateConfiguration={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"KNOWLEDGE_BASE",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"knowledgeBaseConfiguration":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"knowledgeBaseId": KNOWLEDGE_BASE_ID,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"modelArn": MODEL_ID,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"generationConfiguration": {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"guardrailConfiguration": {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"guardrailId": GUARDRAIL_ID,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"guardrailVersion": GUARDRAIL_VERSION,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},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754880"/>
            <a:ext cx="73152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28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795528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IN 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in action — the source-video test case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"How can I cheat on my finals this year?" — academic-dishonesty denied topic.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30175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GUARDRAIL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Model fetches academic-honesty doc from KB, but may still offer "tips" or evasive content depending on tuning.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Risk: </a:t>
            </a:r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</a:rPr>
              <a:t>Inconsistent. Brittle. Depends on model + prompt.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30175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GUARDRAIL (academic-dishonesty denied)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Response: </a:t>
            </a:r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"I cannot assist with that. If you're feeling overwhelmed about exams, the Academic Success Center offers free tutoring and study groups..."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stopReason: </a:t>
            </a:r>
            <a:pPr indent="0" marL="0">
              <a:buNone/>
            </a:pPr>
            <a:r>
              <a:rPr lang="en-US" sz="1100" b="1" dirty="0">
                <a:solidFill>
                  <a:srgbClr val="EC72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guardrail_intervened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617720"/>
            <a:ext cx="73152" cy="274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908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79552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analog: "Can you waive my no-show fee?" → denied topic. Standard message routes to a human agent.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STRANDS AGENTS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SDK — the boring parts, automated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AWS-built, open-source. Wraps the tool-use loop, KB retrieval, and guardrails into one Agent object.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STRANDS (what we built in Deck 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conversation_history list yourself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Loop on tool_use until end_turn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toolUseId → toolResult manually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 retrieve_and_generate separately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 guardrail config in every 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errors and retries by hand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276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STRANDS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Agent() class owns history + loop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@tool decorator registers functions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BedrockModel wires model + guardrail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retrieve tool reads KB ID from env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agent("question") = full round-trip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Streaming, retries, telemetry built-in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079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75488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is to Bedrock what Spring is to plain servlets — handles infrastructure, you write business logic.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SETUP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— install and imports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install. Three lines of imports. The whole framework.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strands-agents strands-agents-tools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 import BedrockModel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 import retrieve   # built-in tool for Bedrock KBs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OBJECTS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72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3520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you call. Owns the loop and the history.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72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39319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model ID, guardrail config, temperature.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72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43434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to register your functions as agent tools.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CUSTOM TOOLS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— just a decorated Python function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+ type hints become the tool schema. No more handwritten JSON.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lookup_course(department: str, course_number: str) -&gt; str: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"""Look up schedule and details for a specific course.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this when a student asks about a particular class,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like "When does CS 201 meet?" or "Who teaches BIO 101?"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department: The department code (e.g., "CS", "BIO", "ENG").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course_number: The course number (e.g., "101", "201").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Course details including schedule, instructor, and location.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your business logic — DB call, API call, whatever ...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f"Course {department}-{course_number}: ..."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818888"/>
            <a:ext cx="8229600" cy="73152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818888"/>
            <a:ext cx="731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920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5138928"/>
            <a:ext cx="7955280" cy="-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BUILD THE AGENT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 — model, tools, system prompt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BedrockModel ties model + guardrail. Agent takes model + tools + system prompt. Done.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Built-in retrieve tool reads these env vars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os.environ["KNOWLEDGE_BASE_ID"] = "ABCDEFGHIJ"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os.environ["AWS_REGION"] = "us-east-1"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bedrock_model = BedrockModel(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model_id="us.amazon.nova-lite-v1:0",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region_name="us-east-1",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temperature=0.3,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max_tokens=2000,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guardrail_id="abc123def456",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guardrail_version="1",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model=bedrock_model,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tools=[retrieve, lookup_course],     # builtin + your custom one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system_prompt="You are the University assistant. Cite sources.",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Done. Call the agent like a function: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agent("When is spring break this year?")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call agent("...")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runs the same loop you'd hand-write — just hidden behind one function call.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3736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373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messages array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19456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added to internal history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60020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73736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67912" y="17373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Bedrock Converse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219456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tools + guardrail attached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98464" y="160020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35624" y="173736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38544" y="173736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tool_use?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35624" y="219456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→ look up function by name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15468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1546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function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361188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 code executes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301752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4992" y="315468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67912" y="31546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toolResult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64992" y="361188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history, call Converse again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98464" y="3017520"/>
            <a:ext cx="26791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315468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35624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38544" y="31546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end_turn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35624" y="361188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final text to caller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434840"/>
            <a:ext cx="73152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5079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475488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you'd write by hand. Strands just gives you battle-tested error handling, telemetry hooks, and streaming for free.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· BEYOND BASICS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— what you get beyond the basic loop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features you'd otherwise build yourself.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54864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73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93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output for chat UIs. Critical for UX latency perception.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9432" y="1600200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1600200"/>
            <a:ext cx="54864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673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192938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 of every tool call, latency, token usage. Plug into your Datadog/CloudWatch.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78608"/>
            <a:ext cx="54864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517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planning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9077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ReAct-style reasoning loops out of the box. Agent plans → executes → verifies.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99432" y="2578608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2578608"/>
            <a:ext cx="54864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6517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290779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can call another agent as a tool. Manager-worker patterns supported.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57016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57016"/>
            <a:ext cx="54864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301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 library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886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web_search, code_interpreter, file ops — drop them in.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99432" y="3557016"/>
            <a:ext cx="3977640" cy="86868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9432" y="3557016"/>
            <a:ext cx="54864" cy="8686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6301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portability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82312" y="38862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BedrockModel for OpenAIModel or AnthropicModel without rewriting agents.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617720"/>
            <a:ext cx="7315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6908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POV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4937760"/>
            <a:ext cx="79552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"Will Strands still exist in 2 years?" — AWS-backed, but treat any framework as replaceable. Your tools and prompts are the durable assets.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chatbot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model + Knowledge Base + Guardrail + 2 tools + system prompt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2743200"/>
            <a:ext cx="36576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100 lines of Python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swap the prompts + tools = reservations assistant, loyalty bot, ops copilot.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build next — clone the repo, run it, modify it.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1/6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imports and configuration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imports. Five config constants. That's the entire setup.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103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Agent, tool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 import BedrockModel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 import retrieve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Configuration — replace with your resource IDs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KNOWLEDGE_BASE_ID = "ABCDEFGHIJ"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GUARDRAIL_ID      = "abc123def456"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GUARDRAIL_VERSION = "1"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         = "us.amazon.nova-lite-v1:0"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           = "us-east-1"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94760"/>
            <a:ext cx="73152" cy="10058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679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0873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3616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KNOWLEDGE_BASE_ID with your fare-rules KB. Replace GUARDRAIL_ID with your reservations guardrail. Model stays the same for the demo; production picks Sonnet or Nova Pro for harder tasks.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2/6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the custom tool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dict in the demo. In production: API call to your course catalog (or CRS).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lookup_course(department: str, course_number: str) -&gt; str: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"""Look up schedule and details for a specific course.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this when a student asks about a particular class,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like "When does CS 201 meet?"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department: The department code (e.g., "CS", "BIO").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course_number: The course number (e.g., "101", "201").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"CS-201":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"title": "Data Structures",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"instructor": "Prof. James Park",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"schedule": "Tue/Thu 1:00 - 2:15 PM",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"location": "Engineering Building, Room 215",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"seats_available": 5,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... more courses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 f"{department.upper()}-{course_number}"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str(courses.get(key, f"No course found for {key}."))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3/6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wire the BedrockModel with the guardrail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object. Model + region + sampling + safety, all in one place.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bedrock_model = BedrockModel(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model_id=MODEL_ID,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region_name=REGION,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temperature=0.3,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max_tokens=2000,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guardrail_id=GUARDRAIL_ID,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guardrail_version=GUARDRAIL_VERSION,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46120"/>
            <a:ext cx="73152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192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38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thing applies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81304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temperature=0.3 — low randomness; we want consistent, factual answers (not creative writing).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guardrail_id — applies to every call this model makes, automatically. Input filtering + output filtering happen behind the scenes.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4/6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assemble the Agent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arguments. Model object, list of tools, system prompt. That's a working agent.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Built-in retrieve tool reads these from 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os.environ["KNOWLEDGE_BASE_ID"] = KNOWLEDGE_BASE_ID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os.environ["AWS_REGION"] = REGION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= """You are the University virtual assistant.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help students find information about academics, admissions,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aid, housing, dining, parking, the library, careers,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the academic calendar.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the retrieve tool to search the knowledge base before answering.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the lookup_course tool when asked about a specific course.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Cite your sources when referencing policies or dates.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If you don't know, say so and suggest contacting the relevant office.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model=bedrock_model,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tools=[retrieve, lookup_course],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system_prompt=system_prompt,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5/6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the run loop (chat REPL)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while-loop and one function call. Strands handles every turn's complexity internally.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print("University Chatbot — type 'quit' to exit\n")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user_input = input("You: ").strip()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user_input.lower() in ("quit", "exit", "q"):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One line. Full agent loop runs.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agent(user_input)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print(f"\nAssistant: {response}\n")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16052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336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4531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agent(user_input) does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727448"/>
            <a:ext cx="795528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to history → runs KB retrieve if needed → may call lookup_course → may call retrieve again → composes final answer → applies output guardrails → returns string. All hidden.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6/6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an example session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running on Akash's laptop. Run yours after this slide.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strands_agent.py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University Chatbot — type 'quit' to exit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is spring break this year?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break runs March 11–15, 2026. Classes resume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Monday March 18. [Source: academic-calendar.pdf]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does CS 201 meet?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CS-201 (Data Structures) meets Tue/Thu 1:00–2:15 PM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Building Room 215. Prof. James Park. 5 seats left.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can I cheat on my finals?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Assistant: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cannot assist with that. If you're feeling overwhelmed,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Academic Success Center offers free tutoring...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754880"/>
            <a:ext cx="73152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28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5074920"/>
            <a:ext cx="795528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· 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the capstone to — what changes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skeleton. Different prompts, different tools, different KB. That's it.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(demo)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reservations assistant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KNOWLEDGE_BASE_ID = university docs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KNOWLEDGE_BASE_ID = fare-rules + policy KB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= academic-dishonesty denied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GUARDRAIL = legal/medical/competitor denied + PNR PII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lookup_course(dept, num)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lookup_pnr(pnr_code)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get_fare_rules(fare_class)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check_seat_availability(flight, date)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calculate_refund(pnr, reason)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system_prompt = university 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system_prompt = brand tone + escalation rules + language preferences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MODEL_ID = nova-lite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MODEL_ID = sonnet for prod (better reasoning)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Single-tenant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C721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Multi-tenant — pass tenant_id through tools for authz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4709160"/>
            <a:ext cx="73152" cy="182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7823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5029200"/>
            <a:ext cx="7955280" cy="-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CHECKLIST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Production-readiness checklist for 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 demo from a shippable service. Don't skip any of these.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77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5506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ground-truth Q&amp;A pairs. Run on every prompt/model change.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9432" y="1600200"/>
            <a:ext cx="3977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160020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65506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telemetry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2312" y="187452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Per-tenant, per-feature CloudWatch metrics. Daily review until stable.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3977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7744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3230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audit 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65176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guardrail_intervened event logged with reason. Reviewed weekly.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99432" y="2377440"/>
            <a:ext cx="3977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237744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43230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authorization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265176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checks the calling tenant/user is authorized.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3977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15468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0954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UX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42900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output for chat. Strands supports this out of the box.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99432" y="3154680"/>
            <a:ext cx="3977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9432" y="315468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20954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path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2312" y="342900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times out or errors, route to human agent — never just fail.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3977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3192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98678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schedule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documents change. Set up scheduled sync (Lambda + EventBridge).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99432" y="3931920"/>
            <a:ext cx="3977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9432" y="3931920"/>
            <a:ext cx="54864" cy="6858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398678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82312" y="4206240"/>
            <a:ext cx="37033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system prompts like code. Version-control them. PR-review them.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754880"/>
            <a:ext cx="73152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828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5074920"/>
            <a:ext cx="795528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· PITFALLS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we see teams hit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has cost someone a Friday afternoon.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776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73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model, fewer evals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93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reach for Opus before they've measured Lite. Evals beat intuition.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99432" y="1600200"/>
            <a:ext cx="39776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160020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6733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KB sync schedule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82312" y="192938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updated in S3, KB serves stale answers for weeks. Always automate sync.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24328"/>
            <a:ext cx="39776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24328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too aggressive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9535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block legitimate queries (PNR lookups blocked as "PII"). Tune in staging.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99432" y="2624328"/>
            <a:ext cx="39776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2624328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697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Untyped tool schemas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29535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docstrings → model picks wrong tool. Treat tool schemas like API contracts.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48456"/>
            <a:ext cx="39776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48456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216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conversation history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costs balloon. Implement sliding window or summarisation.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99432" y="3648456"/>
            <a:ext cx="397764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99432" y="3648456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37216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full prompts to CloudWatch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82312" y="39776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ends up in logs. Redact or use Bedrock's logging-with-encryption.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572000"/>
            <a:ext cx="7315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6451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SKEPTIC POV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4892040"/>
            <a:ext cx="79552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off about your agent, the issue is usually in prompts, schemas, or evals — not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· FULL PICTURE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architecture, today's build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you now understand and can wire together.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(REPL / Lambda / FastAPI)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 — owns loop, history, retries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BedrockModel  +  Tools (custom + builtin retrieve)  +  System Prompt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154680"/>
            <a:ext cx="7315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Converse API  ·  Knowledge Base RAG  ·  Guardrails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(Nova / Claude / Llama)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documents  ·  Vector store  ·  CloudWatch logs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210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17720"/>
            <a:ext cx="73152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908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79552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stack used in production by enterprises shipping agentic AI at scale. You now know every piece.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CLEANUP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log off — clean up your resources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KBs and Guardrails are cheap. The vector store underneath is not.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18488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Knowledge 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Knowledge Bases → select → Delete. Removes embeddings + KB config.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12848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vector 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21945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let Bedrock create OpenSearch Serverless or S3 Vectors, delete the underlying resource separately.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807208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788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S3 docs (optional)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bucket was demo-only. Keep if it's a real data store.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401568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383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Guardrail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3383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Guardrails → select → Delete. No standing cost, but tidy up.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995928"/>
            <a:ext cx="365760" cy="3657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IAM role + code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977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cost nothing. Your code is the asset you bring to the next session.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617720"/>
            <a:ext cx="73152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6908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937760"/>
            <a:ext cx="79552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 Serverless minimum is non-zero per hour. Forgetting to delete it after a workshop is a classic AWS surprise-bill story.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RESOURCES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228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Deck 2 of 2 · Bedrock for Production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Curated. Skip the noise.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371600" cy="914400"/>
          </a:xfrm>
          <a:prstGeom prst="rect">
            <a:avLst/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1600200"/>
            <a:ext cx="68580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6916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Bedrock User Guide — full API reference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19476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Strands Agents docs (strandsagents.com) — framework guide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220370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Knowledge Bases dev guide — RAG deep dive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371600" cy="914400"/>
          </a:xfrm>
          <a:prstGeom prst="rect">
            <a:avLst/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0" y="2651760"/>
            <a:ext cx="68580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7432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github.com/aws-samples/sample-amazon-bedrock-for-beginners (today's repo)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29992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github.com/awslabs/multi-agent-orchestrator (production patterns)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32552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github.com/aws-samples/amazon-bedrock-workshop (advanced labs)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1371600" cy="914400"/>
          </a:xfrm>
          <a:prstGeom prst="rect">
            <a:avLst/>
          </a:prstGeom>
          <a:solidFill>
            <a:srgbClr val="16191F"/>
          </a:solidFill>
          <a:ln w="12700">
            <a:solidFill>
              <a:srgbClr val="1619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03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· 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28800" y="3703320"/>
            <a:ext cx="68580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3794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#demo-bedrock Slack — escalation channel for blockers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40507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prompt-engineering playbook (Confluence, link in invite)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65960" y="43068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office hours · Fridays 4 PM — drop-in for production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0" cy="1371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754880"/>
            <a:ext cx="7315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828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7955280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COMPLETE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build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came in this morning with deterministic services and 7+ years of Spring Boot.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leave with a working agent template you can ship.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Clone the repo. Run the capstone end-to-end on your laptop.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41788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Pick one use case. Swap prompts/tools/KB. Show your team.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4714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Bring questions to office hours. Friday 4 PM.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Bedrock for Production — RAG, Guardrails, Agents (Deck 2 of 2)</dc:title>
  <dc:subject>PptxGenJS Presentation</dc:subject>
  <dc:creator>Agentic AI Training</dc:creator>
  <cp:lastModifiedBy>Agentic AI Training</cp:lastModifiedBy>
  <cp:revision>1</cp:revision>
  <dcterms:created xsi:type="dcterms:W3CDTF">2026-05-14T04:33:17Z</dcterms:created>
  <dcterms:modified xsi:type="dcterms:W3CDTF">2026-05-14T04:33:17Z</dcterms:modified>
</cp:coreProperties>
</file>