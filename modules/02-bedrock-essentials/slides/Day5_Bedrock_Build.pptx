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AGENTIC AI PRACTITIONER PROGRAM · DAY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874520"/>
            <a:ext cx="109087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First Useful Bedrock Build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40080" y="320040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workflow. One agent. Both running on Amazon Bedrock.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40080" y="39776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break: 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workflow that turns a messy customer message into clean structured data.   </a:t>
            </a:r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end: 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 agent that answers a real question by deciding which tools to call.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40080" y="50749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 hours  ·  Anchor case: TravelMind  ·  Real, minimal, replicable code  ·  Substance over style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5715000"/>
            <a:ext cx="164592" cy="16459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8" name="Shape 6"/>
          <p:cNvSpPr/>
          <p:nvPr/>
        </p:nvSpPr>
        <p:spPr>
          <a:xfrm>
            <a:off x="950976" y="5715000"/>
            <a:ext cx="164592" cy="164592"/>
          </a:xfrm>
          <a:prstGeom prst="rect">
            <a:avLst/>
          </a:prstGeom>
          <a:solidFill>
            <a:srgbClr val="D9DDE3"/>
          </a:solidFill>
          <a:ln/>
        </p:spPr>
      </p:sp>
      <p:sp>
        <p:nvSpPr>
          <p:cNvPr id="9" name="Shape 7"/>
          <p:cNvSpPr/>
          <p:nvPr/>
        </p:nvSpPr>
        <p:spPr>
          <a:xfrm>
            <a:off x="1261872" y="5715000"/>
            <a:ext cx="164592" cy="164592"/>
          </a:xfrm>
          <a:prstGeom prst="rect">
            <a:avLst/>
          </a:prstGeom>
          <a:solidFill>
            <a:srgbClr val="D9DDE3"/>
          </a:solidFill>
          <a:ln/>
        </p:spPr>
      </p:sp>
      <p:sp>
        <p:nvSpPr>
          <p:cNvPr id="10" name="Shape 8"/>
          <p:cNvSpPr/>
          <p:nvPr/>
        </p:nvSpPr>
        <p:spPr>
          <a:xfrm>
            <a:off x="1572768" y="5715000"/>
            <a:ext cx="164592" cy="164592"/>
          </a:xfrm>
          <a:prstGeom prst="rect">
            <a:avLst/>
          </a:prstGeom>
          <a:solidFill>
            <a:srgbClr val="D9DDE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493776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411480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68096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 hours in. Today the pieces connect into something that runs.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have seen Bedrock, Converse, tool use and a Strands agent in walkthrough. Today you build two of them yourself, smallest useful version of each, on TravelMind.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5257800" cy="2926080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788920"/>
            <a:ext cx="5257800" cy="54864"/>
          </a:xfrm>
          <a:prstGeom prst="rect">
            <a:avLst/>
          </a:prstGeom>
          <a:solidFill>
            <a:srgbClr val="2E6B4F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01752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 1  ·  THE WORKFLOW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35584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Bedrock as a reliable component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14400" y="3931920"/>
            <a:ext cx="4709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own the steps; the model is one part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Messy free text in, structured JSON out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Predictable, cheap, testable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version you ship next week without losing sleep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91072" y="2788920"/>
            <a:ext cx="5257800" cy="2926080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91072" y="2788920"/>
            <a:ext cx="5257800" cy="54864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14" name="Text 12"/>
          <p:cNvSpPr/>
          <p:nvPr/>
        </p:nvSpPr>
        <p:spPr>
          <a:xfrm>
            <a:off x="6565392" y="301752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27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 2  ·  THE AGENT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65392" y="335584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Bedrock that decides and acts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565392" y="3931920"/>
            <a:ext cx="4709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decides the next step, in a loop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calls tools you defined; your code runs them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power, more ways to fail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Caged with loop guards, tools and guardrails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59893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4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rule, same as Day 1: push back. If a step looks like overkill for your project, say so. That is the skill.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493776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411480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QUIZ · 5 QUESTIONS · NOT GRADED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68096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Calibrate the room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15568" y="1837944"/>
            <a:ext cx="10433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10,000 support emails into a fixed JSON schema, same fields every time. Workflow or agent?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715768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715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15568" y="2679192"/>
            <a:ext cx="10433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boto3 client runs inference: bedrock or bedrock-runtime?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3557016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5570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15568" y="3520440"/>
            <a:ext cx="10433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replies with stopReason = "tool_use". What is it asking you to do?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40080" y="4398264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398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15568" y="4361688"/>
            <a:ext cx="10433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0 vs 0.7: which is more repeatable for a parsing job?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40080" y="5239512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52395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15568" y="5202936"/>
            <a:ext cx="10433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or false: an inference profile and a model ID are the same thing.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0080" y="61722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surface through the session. Vote out loud.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493776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411480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DECISION TODAY IS ABOUT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68096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Workflow or Agent?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0879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808476"/>
                <a:gridCol w="380847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 Workflow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Who decides the steps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You, in code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model, at runtime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Path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Fixed pipeline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Open, loops until the goal is met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Tools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Optional, you call them in order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 chooses which and when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Predictability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Lower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Lower, bounded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Variable, can spike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Debugging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 it top to bottom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Path changes every run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when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 can write the steps down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model must decide the steps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598932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of thumb: 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~80% of real "AI features" should start as a workflow. Reach for an agent only when the branching is genuinely combinatorial.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2286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27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BEDROCK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78408" y="2697480"/>
            <a:ext cx="10241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2026 reality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005840" y="397764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 in late 2025 broke most of the tutorials you will find online. Here is the current path.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05840" y="5074920"/>
            <a:ext cx="164592" cy="16459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8" name="Shape 6"/>
          <p:cNvSpPr/>
          <p:nvPr/>
        </p:nvSpPr>
        <p:spPr>
          <a:xfrm>
            <a:off x="1316736" y="5074920"/>
            <a:ext cx="164592" cy="164592"/>
          </a:xfrm>
          <a:prstGeom prst="rect">
            <a:avLst/>
          </a:prstGeom>
          <a:solidFill>
            <a:srgbClr val="D9DDE3"/>
          </a:solidFill>
          <a:ln/>
        </p:spPr>
      </p:sp>
      <p:sp>
        <p:nvSpPr>
          <p:cNvPr id="9" name="Shape 7"/>
          <p:cNvSpPr/>
          <p:nvPr/>
        </p:nvSpPr>
        <p:spPr>
          <a:xfrm>
            <a:off x="1627632" y="5074920"/>
            <a:ext cx="164592" cy="164592"/>
          </a:xfrm>
          <a:prstGeom prst="rect">
            <a:avLst/>
          </a:prstGeom>
          <a:solidFill>
            <a:srgbClr val="D9DDE3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493776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411480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 · ACCESS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68096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"Model access" page is gone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of Oct 2025, serverless foundation models are enabled automatically. The old click-every-model dashboard was retired.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68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15568" y="2432304"/>
            <a:ext cx="10433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 models are auto-enabled in every commercial region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115568" y="2743200"/>
            <a:ext cx="10433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more manual "request access" per model. Works in console playground, SDK, and Bedrock features (Agents, Flows, Guardrails, Knowledge Bases, Evaluations).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429000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429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15568" y="3392424"/>
            <a:ext cx="10433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(Claude) is the one exception: a one-time usage form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115568" y="3703320"/>
            <a:ext cx="10433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it once via the console (pick a Claude model in the playground) or the API. From the org management account it enables Claude across all member accounts.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389120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389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15568" y="4352544"/>
            <a:ext cx="10433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is now standard AWS access control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115568" y="4663440"/>
            <a:ext cx="10433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Admins restrict models with IAM policies and SCPs. The PutFoundationModelEntitlement permission no longer does anything.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603504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A84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matters: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blog says "go to Model access and enable Claude," it is out of date. Don't burn 20 minutes looking for a page that no longer exists.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493776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411480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CONSOLE · 60 SECONDS TO A FIRST RESPONSE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68096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Catalog → Playground → API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15568" y="1837944"/>
            <a:ext cx="10433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Amazon Bedrock console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115568" y="2148840"/>
            <a:ext cx="10433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console.aws.amazon.com/bedrock — left nav is your map: Model catalog, Playgrounds, Guardrails, Knowledge Bases, Inference and Assessment.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788920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788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15568" y="2752344"/>
            <a:ext cx="10433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catalog → pick a model → read the model card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115568" y="3063240"/>
            <a:ext cx="10433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card shows the model ID, supported regions, modalities and the EULA. This is your source of truth, not your memory.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703320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703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15568" y="3666744"/>
            <a:ext cx="10433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in Playground and test a prompt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115568" y="3977640"/>
            <a:ext cx="10433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Free-form or chat playground. First time you select a Claude model, the usage form appears here. Compare models side by side before you write code.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4617720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617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15568" y="4581144"/>
            <a:ext cx="10433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to code with the SDK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115568" y="4892040"/>
            <a:ext cx="10433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in the playground maps to a Converse API call. The playground is for deciding; code is for building.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" y="608076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it works in the playground first. Debugging a prompt and debugging IAM at the same time is how afternoons disappear.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493776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411480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GOTCHA THAT STOPS EVERY BEGINNER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68096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Inference profiles are not optional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0908792" cy="868680"/>
          </a:xfrm>
          <a:prstGeom prst="rect">
            <a:avLst/>
          </a:prstGeom>
          <a:solidFill>
            <a:srgbClr val="FBF1EC"/>
          </a:solidFill>
          <a:ln w="9525">
            <a:solidFill>
              <a:srgbClr val="E3C7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901952"/>
            <a:ext cx="10451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A84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ValidationException: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43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Invocation of model ID anthropic.claude-... with on-demand throughput isn't supported. Retry with the ID or ARN of an inference profile that contains this model.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2788920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current Claude models reject the bare model ID for on-demand use. You must call them through a cross-region inference profile. The fix is a prefix.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429000"/>
            <a:ext cx="3453384" cy="2148840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3429000"/>
            <a:ext cx="3453384" cy="54864"/>
          </a:xfrm>
          <a:prstGeom prst="rect">
            <a:avLst/>
          </a:prstGeom>
          <a:solidFill>
            <a:srgbClr val="D9DDE3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3630168"/>
            <a:ext cx="3051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model ID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41248" y="4206240"/>
            <a:ext cx="3051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anthropic.claude-sonnet-4-5-...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41248" y="4617720"/>
            <a:ext cx="3051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Direct. Often rejected on-demand. Used in IAM ARNs.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67784" y="3429000"/>
            <a:ext cx="3453384" cy="2148840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67784" y="3429000"/>
            <a:ext cx="3453384" cy="54864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16" name="Text 14"/>
          <p:cNvSpPr/>
          <p:nvPr/>
        </p:nvSpPr>
        <p:spPr>
          <a:xfrm>
            <a:off x="4568952" y="3630168"/>
            <a:ext cx="3051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Cross-region profile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68952" y="4206240"/>
            <a:ext cx="3051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27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us. / eu. / apac. / jp. / global.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68952" y="4617720"/>
            <a:ext cx="3051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prefix you actually use. Routes across regions for throughput. global. is ~10% cheaper, no data residency.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95488" y="3429000"/>
            <a:ext cx="3453384" cy="2148840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95488" y="3429000"/>
            <a:ext cx="3453384" cy="54864"/>
          </a:xfrm>
          <a:prstGeom prst="rect">
            <a:avLst/>
          </a:prstGeom>
          <a:solidFill>
            <a:srgbClr val="D9DDE3"/>
          </a:solidFill>
          <a:ln/>
        </p:spPr>
      </p:sp>
      <p:sp>
        <p:nvSpPr>
          <p:cNvPr id="21" name="Text 19"/>
          <p:cNvSpPr/>
          <p:nvPr/>
        </p:nvSpPr>
        <p:spPr>
          <a:xfrm>
            <a:off x="8296656" y="3630168"/>
            <a:ext cx="3051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profile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296656" y="4206240"/>
            <a:ext cx="3051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your-custom-profile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96656" y="4617720"/>
            <a:ext cx="3051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create it for per-team cost tracking in Cost Explorer.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589788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to find it: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Bedrock console → Inference and Assessment → Cross-region inference. Copy the profile ID or ARN.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493776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411480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MINIMUM VIABLE CONNECTION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68096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 from code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6903720" cy="2378583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783080"/>
            <a:ext cx="54864" cy="2378583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929384"/>
            <a:ext cx="6537960" cy="22139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boto3, json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botocore.config import Config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bedrock = boto3.client(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"bedrock-runtime",        </a:t>
            </a:r>
            <a:pPr indent="0" marL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8A9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runtime = inference. "bedrock" = management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region_name="us-east-1",   </a:t>
            </a:r>
            <a:pPr indent="0" marL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8A9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 model in one region may not exist in another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config=Config(retries={"max_attempts": 4,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"mode": "adaptive"})  </a:t>
            </a:r>
            <a:pPr indent="0" marL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8A9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throttling is real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MODEL_ID = "us.anthropic.claude-sonnet-4-6"   </a:t>
            </a:r>
            <a:pPr indent="0" marL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8A9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us. prefix = inference profile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818120" y="1783080"/>
            <a:ext cx="3730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things that trip people up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818120" y="2240280"/>
            <a:ext cx="3730752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clients: -runtime invokes, bedrock manages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Region: check the model card first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retries: ThrottlingException is the #1 runtime failure under load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Credentials: a role in prod, never keys in code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5074920"/>
            <a:ext cx="10908792" cy="960120"/>
          </a:xfrm>
          <a:prstGeom prst="rect">
            <a:avLst/>
          </a:prstGeom>
          <a:solidFill>
            <a:srgbClr val="EEF1F5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5193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IAM actions you actually need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68680" y="5504688"/>
            <a:ext cx="10451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43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bedrock:InvokeModel   ·   bedrock:InvokeModelWithResponseStream   ·   bedrock:Converse   ·   bedrock:ConverseStream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493776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411480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CALL TO STANDARDIZE ON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68096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Converse, not InvokeModel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5271516" cy="1828800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11680"/>
            <a:ext cx="4814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InvokeModel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468880"/>
            <a:ext cx="4814316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Raw, provider-specific request bodies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JSON shape per model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Switching models means a rewrite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77356" y="1828800"/>
            <a:ext cx="5271516" cy="1828800"/>
          </a:xfrm>
          <a:prstGeom prst="rect">
            <a:avLst/>
          </a:prstGeom>
          <a:solidFill>
            <a:srgbClr val="EFF4F0"/>
          </a:solidFill>
          <a:ln w="9525">
            <a:solidFill>
              <a:srgbClr val="C3D6C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77356" y="1828800"/>
            <a:ext cx="5271516" cy="54864"/>
          </a:xfrm>
          <a:prstGeom prst="rect">
            <a:avLst/>
          </a:prstGeom>
          <a:solidFill>
            <a:srgbClr val="2E6B4F"/>
          </a:solidFill>
          <a:ln/>
        </p:spPr>
      </p:sp>
      <p:sp>
        <p:nvSpPr>
          <p:cNvPr id="11" name="Text 9"/>
          <p:cNvSpPr/>
          <p:nvPr/>
        </p:nvSpPr>
        <p:spPr>
          <a:xfrm>
            <a:off x="6505956" y="2011680"/>
            <a:ext cx="4814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Converse  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05956" y="2468880"/>
            <a:ext cx="4814316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shape for every model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Messages, system, inference config, tools, guardrails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models = change one string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88620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message shape is always a list of content blocks, never a bare string: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297680"/>
            <a:ext cx="10908792" cy="521665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4297680"/>
            <a:ext cx="54864" cy="521665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4443984"/>
            <a:ext cx="10543032" cy="357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{"role": "user", "content": [{"text": "..."}]}   </a:t>
            </a:r>
            <a:pPr indent="0" marL="0">
              <a:lnSpc>
                <a:spcPct val="100000"/>
              </a:lnSpc>
              <a:buNone/>
            </a:pPr>
            <a:r>
              <a:rPr lang="en-US" sz="1300" i="1" dirty="0">
                <a:solidFill>
                  <a:srgbClr val="8A9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content is a list — matters the moment you add tools or images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525780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InvokeModel only for a provider-specific feature Converse has not exposed yet. Rare.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2286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27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 1 · THE WORKFLOW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78408" y="2697480"/>
            <a:ext cx="10241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a workflow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005840" y="397764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Messy customer text in. Clean, structured, system-ready data out. The safe default you can ship.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05840" y="5074920"/>
            <a:ext cx="164592" cy="16459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8" name="Shape 6"/>
          <p:cNvSpPr/>
          <p:nvPr/>
        </p:nvSpPr>
        <p:spPr>
          <a:xfrm>
            <a:off x="1316736" y="5074920"/>
            <a:ext cx="164592" cy="164592"/>
          </a:xfrm>
          <a:prstGeom prst="rect">
            <a:avLst/>
          </a:prstGeom>
          <a:solidFill>
            <a:srgbClr val="D9DDE3"/>
          </a:solidFill>
          <a:ln/>
        </p:spPr>
      </p:sp>
      <p:sp>
        <p:nvSpPr>
          <p:cNvPr id="9" name="Shape 7"/>
          <p:cNvSpPr/>
          <p:nvPr/>
        </p:nvSpPr>
        <p:spPr>
          <a:xfrm>
            <a:off x="1627632" y="5074920"/>
            <a:ext cx="164592" cy="164592"/>
          </a:xfrm>
          <a:prstGeom prst="rect">
            <a:avLst/>
          </a:prstGeom>
          <a:solidFill>
            <a:srgbClr val="D9DDE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493776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411480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TRAVELMIND INTAKE WORKFLOW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68096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 text in, structured data out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5120640" cy="2377440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574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CUSTOMER MESSAGE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2395728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"hey so me and my wife wanna fly to goa sometime next weekend if its not too pricey, economy is fine, we're a bit flexible on dates"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0" y="2788920"/>
            <a:ext cx="502920" cy="457200"/>
          </a:xfrm>
          <a:prstGeom prst="rightArrow">
            <a:avLst/>
          </a:prstGeom>
          <a:solidFill>
            <a:srgbClr val="C2703D"/>
          </a:solidFill>
          <a:ln/>
        </p:spPr>
      </p:sp>
      <p:sp>
        <p:nvSpPr>
          <p:cNvPr id="10" name="Shape 8"/>
          <p:cNvSpPr/>
          <p:nvPr/>
        </p:nvSpPr>
        <p:spPr>
          <a:xfrm>
            <a:off x="6629400" y="1874520"/>
            <a:ext cx="4919472" cy="2377440"/>
          </a:xfrm>
          <a:prstGeom prst="rect">
            <a:avLst/>
          </a:prstGeom>
          <a:solidFill>
            <a:srgbClr val="F3F6FA"/>
          </a:solidFill>
          <a:ln w="9525">
            <a:solidFill>
              <a:srgbClr val="C7D3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0" y="20574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BOOKING INTENT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812280" y="2377440"/>
            <a:ext cx="4553712" cy="1720901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12280" y="2377440"/>
            <a:ext cx="54864" cy="1720901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14" name="Text 12"/>
          <p:cNvSpPr/>
          <p:nvPr/>
        </p:nvSpPr>
        <p:spPr>
          <a:xfrm>
            <a:off x="7013448" y="2523744"/>
            <a:ext cx="4187952" cy="1556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"origin": null,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"destination": "GOI",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"date_window": "next weekend",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"pax": 2,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"class": "economy",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"flexible": true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4526280"/>
            <a:ext cx="10908792" cy="1417320"/>
          </a:xfrm>
          <a:prstGeom prst="rect">
            <a:avLst/>
          </a:prstGeom>
          <a:solidFill>
            <a:srgbClr val="EEF1F5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645152"/>
            <a:ext cx="10451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is the right first build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68680" y="4983480"/>
            <a:ext cx="104515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Genuinely common: every team has a "messy input → clean record" problem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Testable: the same input should give the same output — you can put a test around it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the language part of the job; the rest is plain code (we will see where)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493776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411480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· A RESPONSE, AND A NUMBER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68096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first call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0908792" cy="1918411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783080"/>
            <a:ext cx="54864" cy="1918411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929384"/>
            <a:ext cx="10543032" cy="1753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 = bedrock.converse(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modelId=MODEL_ID,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messages=[{"role": "user", "content": [{"text": "Say hello and confirm you can read this."}]}],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inferenceConfig={"maxTokens": 100, "temperature": 0.2},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print(resp["output"]["message"]["content"][0]["text"])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print(resp["usage"])   </a:t>
            </a:r>
            <a:pPr indent="0" marL="0">
              <a:lnSpc>
                <a:spcPct val="100000"/>
              </a:lnSpc>
              <a:buNone/>
            </a:pPr>
            <a:r>
              <a:rPr lang="en-US" sz="1350" i="1" dirty="0">
                <a:solidFill>
                  <a:srgbClr val="8A9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{'inputTokens': .., 'outputTokens': .., 'totalTokens': ..}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4434840"/>
            <a:ext cx="10908792" cy="1554480"/>
          </a:xfrm>
          <a:prstGeom prst="rect">
            <a:avLst/>
          </a:prstGeom>
          <a:solidFill>
            <a:srgbClr val="EEF1F5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4572000"/>
            <a:ext cx="104515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the response path slowly: output → message → content → [0] → text. People get lost here on day one.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is in every response. Read it from the very first call — cost is a number you can see per request, not a month-end surprise.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493776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411480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· MAKE IT USABLE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68096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Force structured output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7040880" cy="2670962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737360"/>
            <a:ext cx="54864" cy="267096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883664"/>
            <a:ext cx="6675120" cy="2506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= [{"text":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"Convert messy travel requests into JSON. "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"Keys: origin, destination, date_window, pax, class, flexible. "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"Use null for anything not stated. No prose. No code fences."}]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to_intent(text):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 = bedrock.converse(modelId=MODEL_ID, system=SYSTEM,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messages=[{"role":"user","content":[{"text":text}]}],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inferenceConfig={"maxTokens":400, "temperature":0})  </a:t>
            </a:r>
            <a:pPr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8A9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0 = repeatable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raw = r["output"]["message"]["content"][0]["text"]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try:    return json.loads(raw)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except json.JSONDecodeError: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{"_error": "bad json", "_raw": raw}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955280" y="1737360"/>
            <a:ext cx="3593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know-hows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955280" y="2148840"/>
            <a:ext cx="3593592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prompt sets the contract, not the user message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0 for any parse/extract job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trust clean JSON — wrap json.loads. Juniors skip this line; seniors never do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"No code fences" saves you stripping ```json later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955280" y="5074920"/>
            <a:ext cx="3593592" cy="914400"/>
          </a:xfrm>
          <a:prstGeom prst="rect">
            <a:avLst/>
          </a:prstGeom>
          <a:solidFill>
            <a:srgbClr val="F3F6FA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56448" y="5193792"/>
            <a:ext cx="31912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Hardened option: 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Converse now supports structured-output enforcement on a tool / output schema, so the model is constrained to valid JSON instead of asked nicely.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493776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411480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· A PIPELINE IS JUST FUNCTIONS IN AN ORDER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68096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Chain the steps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1965960" cy="777240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2880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text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615184" y="2084832"/>
            <a:ext cx="393192" cy="27432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9" name="Shape 7"/>
          <p:cNvSpPr/>
          <p:nvPr/>
        </p:nvSpPr>
        <p:spPr>
          <a:xfrm>
            <a:off x="2999232" y="1828800"/>
            <a:ext cx="1965960" cy="777240"/>
          </a:xfrm>
          <a:prstGeom prst="rect">
            <a:avLst/>
          </a:prstGeom>
          <a:solidFill>
            <a:srgbClr val="F3F6FA"/>
          </a:solidFill>
          <a:ln w="9525">
            <a:solidFill>
              <a:srgbClr val="C7D3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99232" y="182880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(LLM)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974336" y="2084832"/>
            <a:ext cx="393192" cy="27432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2" name="Shape 10"/>
          <p:cNvSpPr/>
          <p:nvPr/>
        </p:nvSpPr>
        <p:spPr>
          <a:xfrm>
            <a:off x="5358384" y="1828800"/>
            <a:ext cx="1965960" cy="777240"/>
          </a:xfrm>
          <a:prstGeom prst="rect">
            <a:avLst/>
          </a:prstGeom>
          <a:solidFill>
            <a:srgbClr val="F3F6FA"/>
          </a:solidFill>
          <a:ln w="9525">
            <a:solidFill>
              <a:srgbClr val="C7D3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58384" y="182880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(LLM)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33488" y="2084832"/>
            <a:ext cx="393192" cy="27432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5" name="Shape 13"/>
          <p:cNvSpPr/>
          <p:nvPr/>
        </p:nvSpPr>
        <p:spPr>
          <a:xfrm>
            <a:off x="7717536" y="1828800"/>
            <a:ext cx="1965960" cy="777240"/>
          </a:xfrm>
          <a:prstGeom prst="rect">
            <a:avLst/>
          </a:prstGeom>
          <a:solidFill>
            <a:srgbClr val="EFF4F0"/>
          </a:solidFill>
          <a:ln w="9525">
            <a:solidFill>
              <a:srgbClr val="C3D6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17536" y="182880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(python)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692640" y="2084832"/>
            <a:ext cx="393192" cy="27432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8" name="Shape 16"/>
          <p:cNvSpPr/>
          <p:nvPr/>
        </p:nvSpPr>
        <p:spPr>
          <a:xfrm>
            <a:off x="10076688" y="1828800"/>
            <a:ext cx="1965960" cy="777240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76688" y="182880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2926080"/>
            <a:ext cx="10908792" cy="1676552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2926080"/>
            <a:ext cx="54864" cy="167655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" y="3072384"/>
            <a:ext cx="10543032" cy="151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intake_pipeline(text):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intent = classify(text)              </a:t>
            </a:r>
            <a:pPr indent="0" marL="0">
              <a:lnSpc>
                <a:spcPct val="100000"/>
              </a:lnSpc>
              <a:buNone/>
            </a:pPr>
            <a:r>
              <a:rPr lang="en-US" sz="1300" i="1" dirty="0">
                <a:solidFill>
                  <a:srgbClr val="8A9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LLM call: booking | change | complaint | other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intent != "booking":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{"route_to": intent}        </a:t>
            </a:r>
            <a:pPr indent="0" marL="0">
              <a:lnSpc>
                <a:spcPct val="100000"/>
              </a:lnSpc>
              <a:buNone/>
            </a:pPr>
            <a:r>
              <a:rPr lang="en-US" sz="1300" i="1" dirty="0">
                <a:solidFill>
                  <a:srgbClr val="8A9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short-circuit — don't waste a call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 = to_intent(text)               </a:t>
            </a:r>
            <a:pPr indent="0" marL="0">
              <a:lnSpc>
                <a:spcPct val="100000"/>
              </a:lnSpc>
              <a:buNone/>
            </a:pPr>
            <a:r>
              <a:rPr lang="en-US" sz="1300" i="1" dirty="0">
                <a:solidFill>
                  <a:srgbClr val="8A9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LLM call from Step 2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 = enrich_airport_codes(data)    </a:t>
            </a:r>
            <a:pPr indent="0" marL="0">
              <a:lnSpc>
                <a:spcPct val="100000"/>
              </a:lnSpc>
              <a:buNone/>
            </a:pPr>
            <a:r>
              <a:rPr lang="en-US" sz="1300" i="1" dirty="0">
                <a:solidFill>
                  <a:srgbClr val="8A9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plain python lookup — NOT an LLM call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data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5166360"/>
            <a:ext cx="10908792" cy="868680"/>
          </a:xfrm>
          <a:prstGeom prst="rect">
            <a:avLst/>
          </a:prstGeom>
          <a:solidFill>
            <a:srgbClr val="EEF1F5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5285232"/>
            <a:ext cx="1045159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Short-circuit early: a complaint never reaches the extractor. Fewer calls, less cost, faster.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airport lookup is a dict, not the model. Don't pay an LLM to do what a table does for free.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493776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411480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SEPARATES A DEMO FROM A THING THAT RUNS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68096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Robustness is the boring 20%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901952"/>
            <a:ext cx="118872" cy="118872"/>
          </a:xfrm>
          <a:prstGeom prst="rect">
            <a:avLst/>
          </a:prstGeom>
          <a:solidFill>
            <a:srgbClr val="2E6B4F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1828800"/>
            <a:ext cx="50337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try/except around every json.loads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77824" y="2130552"/>
            <a:ext cx="50337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will hand you broken JSON eventually.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77356" y="1901952"/>
            <a:ext cx="118872" cy="118872"/>
          </a:xfrm>
          <a:prstGeom prst="rect">
            <a:avLst/>
          </a:prstGeom>
          <a:solidFill>
            <a:srgbClr val="2E6B4F"/>
          </a:solidFill>
          <a:ln/>
        </p:spPr>
      </p:sp>
      <p:sp>
        <p:nvSpPr>
          <p:cNvPr id="10" name="Text 8"/>
          <p:cNvSpPr/>
          <p:nvPr/>
        </p:nvSpPr>
        <p:spPr>
          <a:xfrm>
            <a:off x="6515100" y="1828800"/>
            <a:ext cx="50337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retries on the client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15100" y="2130552"/>
            <a:ext cx="50337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Backs off ThrottlingException for you.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2816352"/>
            <a:ext cx="118872" cy="118872"/>
          </a:xfrm>
          <a:prstGeom prst="rect">
            <a:avLst/>
          </a:prstGeom>
          <a:solidFill>
            <a:srgbClr val="2E6B4F"/>
          </a:solidFill>
          <a:ln/>
        </p:spPr>
      </p:sp>
      <p:sp>
        <p:nvSpPr>
          <p:cNvPr id="13" name="Text 11"/>
          <p:cNvSpPr/>
          <p:nvPr/>
        </p:nvSpPr>
        <p:spPr>
          <a:xfrm>
            <a:off x="877824" y="2743200"/>
            <a:ext cx="50337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maxTokens always set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77824" y="3044952"/>
            <a:ext cx="50337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unbounded response is an unbounded bill.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77356" y="2816352"/>
            <a:ext cx="118872" cy="118872"/>
          </a:xfrm>
          <a:prstGeom prst="rect">
            <a:avLst/>
          </a:prstGeom>
          <a:solidFill>
            <a:srgbClr val="2E6B4F"/>
          </a:solidFill>
          <a:ln/>
        </p:spPr>
      </p:sp>
      <p:sp>
        <p:nvSpPr>
          <p:cNvPr id="16" name="Text 14"/>
          <p:cNvSpPr/>
          <p:nvPr/>
        </p:nvSpPr>
        <p:spPr>
          <a:xfrm>
            <a:off x="6515100" y="2743200"/>
            <a:ext cx="50337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chosen on purpose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15100" y="3044952"/>
            <a:ext cx="50337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left at the default and forgotten.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3730752"/>
            <a:ext cx="118872" cy="118872"/>
          </a:xfrm>
          <a:prstGeom prst="rect">
            <a:avLst/>
          </a:prstGeom>
          <a:solidFill>
            <a:srgbClr val="2E6B4F"/>
          </a:solidFill>
          <a:ln/>
        </p:spPr>
      </p:sp>
      <p:sp>
        <p:nvSpPr>
          <p:cNvPr id="19" name="Text 17"/>
          <p:cNvSpPr/>
          <p:nvPr/>
        </p:nvSpPr>
        <p:spPr>
          <a:xfrm>
            <a:off x="877824" y="3657600"/>
            <a:ext cx="50337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and log usage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77824" y="3959352"/>
            <a:ext cx="50337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your token cost per request.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77356" y="3730752"/>
            <a:ext cx="118872" cy="118872"/>
          </a:xfrm>
          <a:prstGeom prst="rect">
            <a:avLst/>
          </a:prstGeom>
          <a:solidFill>
            <a:srgbClr val="2E6B4F"/>
          </a:solidFill>
          <a:ln/>
        </p:spPr>
      </p:sp>
      <p:sp>
        <p:nvSpPr>
          <p:cNvPr id="22" name="Text 20"/>
          <p:cNvSpPr/>
          <p:nvPr/>
        </p:nvSpPr>
        <p:spPr>
          <a:xfrm>
            <a:off x="6515100" y="3657600"/>
            <a:ext cx="50337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timeouts on the client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15100" y="3959352"/>
            <a:ext cx="50337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hung call should fail, not hang your service.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59893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of this is glamorous. All of it is the difference between a notebook that worked once and a service that works at 2 a.m.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493776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411480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SKEPTIC'S SLIDE — AND THE SKEPTIC IS RIGHT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68096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NOT to use Bedrock for a step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10908792" cy="777240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202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transforms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297680" y="19202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math, currency conversion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0" y="2194560"/>
            <a:ext cx="365760" cy="228600"/>
          </a:xfrm>
          <a:prstGeom prst="rightArrow">
            <a:avLst/>
          </a:prstGeom>
          <a:solidFill>
            <a:srgbClr val="C2703D"/>
          </a:solidFill>
          <a:ln/>
        </p:spPr>
      </p:sp>
      <p:sp>
        <p:nvSpPr>
          <p:cNvPr id="10" name="Text 8"/>
          <p:cNvSpPr/>
          <p:nvPr/>
        </p:nvSpPr>
        <p:spPr>
          <a:xfrm>
            <a:off x="8732520" y="1920240"/>
            <a:ext cx="2633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code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2788920"/>
            <a:ext cx="10908792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7889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lookups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297680" y="278892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airport codes, user records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0" y="3063240"/>
            <a:ext cx="365760" cy="228600"/>
          </a:xfrm>
          <a:prstGeom prst="rightArrow">
            <a:avLst/>
          </a:prstGeom>
          <a:solidFill>
            <a:srgbClr val="C2703D"/>
          </a:solidFill>
          <a:ln/>
        </p:spPr>
      </p:sp>
      <p:sp>
        <p:nvSpPr>
          <p:cNvPr id="15" name="Text 13"/>
          <p:cNvSpPr/>
          <p:nvPr/>
        </p:nvSpPr>
        <p:spPr>
          <a:xfrm>
            <a:off x="8732520" y="2788920"/>
            <a:ext cx="2633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database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3657600"/>
            <a:ext cx="10908792" cy="777240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6576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against rules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297680" y="36576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this a valid PNR?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29600" y="3931920"/>
            <a:ext cx="365760" cy="228600"/>
          </a:xfrm>
          <a:prstGeom prst="rightArrow">
            <a:avLst/>
          </a:prstGeom>
          <a:solidFill>
            <a:srgbClr val="C2703D"/>
          </a:solidFill>
          <a:ln/>
        </p:spPr>
      </p:sp>
      <p:sp>
        <p:nvSpPr>
          <p:cNvPr id="20" name="Text 18"/>
          <p:cNvSpPr/>
          <p:nvPr/>
        </p:nvSpPr>
        <p:spPr>
          <a:xfrm>
            <a:off x="8732520" y="3657600"/>
            <a:ext cx="2633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code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40080" y="4526280"/>
            <a:ext cx="10908792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52628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High-volume trivial labels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297680" y="452628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clear, fixed pattern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229600" y="4800600"/>
            <a:ext cx="365760" cy="228600"/>
          </a:xfrm>
          <a:prstGeom prst="rightArrow">
            <a:avLst/>
          </a:prstGeom>
          <a:solidFill>
            <a:srgbClr val="C2703D"/>
          </a:solidFill>
          <a:ln/>
        </p:spPr>
      </p:sp>
      <p:sp>
        <p:nvSpPr>
          <p:cNvPr id="25" name="Text 23"/>
          <p:cNvSpPr/>
          <p:nvPr/>
        </p:nvSpPr>
        <p:spPr>
          <a:xfrm>
            <a:off x="8732520" y="4526280"/>
            <a:ext cx="2633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 classifier or rules first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40080" y="5943600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i="1" dirty="0">
                <a:solidFill>
                  <a:srgbClr val="A84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LLM call is the most expensive, slowest, least predictable way to do anything. Spend it only where understanding messy language actually earns its place.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493776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411480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MID-HOUR ACTIVITY · VOTE OUT LOUD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68096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Workflow or Agent?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5271516" cy="1051560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57400"/>
            <a:ext cx="48143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Nightly: summarize 3,000 reviews into one report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68680" y="2633472"/>
            <a:ext cx="1051560" cy="256032"/>
          </a:xfrm>
          <a:prstGeom prst="rect">
            <a:avLst/>
          </a:prstGeom>
          <a:solidFill>
            <a:srgbClr val="2E6B4F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63347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77356" y="1920240"/>
            <a:ext cx="5271516" cy="1051560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05956" y="2057400"/>
            <a:ext cx="48143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"Help me re-route my cancelled flight, I have a connection"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505956" y="2633472"/>
            <a:ext cx="1051560" cy="25603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13" name="Text 11"/>
          <p:cNvSpPr/>
          <p:nvPr/>
        </p:nvSpPr>
        <p:spPr>
          <a:xfrm>
            <a:off x="6505956" y="263347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154680"/>
            <a:ext cx="5271516" cy="1051560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291840"/>
            <a:ext cx="48143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 a fixed catalog into 5 languages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68680" y="3867912"/>
            <a:ext cx="1051560" cy="256032"/>
          </a:xfrm>
          <a:prstGeom prst="rect">
            <a:avLst/>
          </a:prstGeom>
          <a:solidFill>
            <a:srgbClr val="2E6B4F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86791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77356" y="3154680"/>
            <a:ext cx="5271516" cy="1051560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05956" y="3291840"/>
            <a:ext cx="48143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research helper that decides what to read next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505956" y="3867912"/>
            <a:ext cx="1051560" cy="25603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21" name="Text 19"/>
          <p:cNvSpPr/>
          <p:nvPr/>
        </p:nvSpPr>
        <p:spPr>
          <a:xfrm>
            <a:off x="6505956" y="386791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4389120"/>
            <a:ext cx="5271516" cy="1051560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4526280"/>
            <a:ext cx="48143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every lead 1–5 on a fixed rubric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868680" y="5102352"/>
            <a:ext cx="1051560" cy="256032"/>
          </a:xfrm>
          <a:prstGeom prst="rect">
            <a:avLst/>
          </a:prstGeom>
          <a:solidFill>
            <a:srgbClr val="2E6B4F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51023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77356" y="4389120"/>
            <a:ext cx="5271516" cy="1051560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05956" y="4526280"/>
            <a:ext cx="48143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"Plan my 4-day Goa trip within 30k including stay"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505956" y="5102352"/>
            <a:ext cx="1051560" cy="25603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29" name="Text 27"/>
          <p:cNvSpPr/>
          <p:nvPr/>
        </p:nvSpPr>
        <p:spPr>
          <a:xfrm>
            <a:off x="6505956" y="51023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" y="612648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can write the steps down, it is a workflow. If the model must decide the steps, it is an agent.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2286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27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 2 · THE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78408" y="2697480"/>
            <a:ext cx="10241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an agent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005840" y="397764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 the steering wheel to the model — and keep both hands near it.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05840" y="5074920"/>
            <a:ext cx="164592" cy="16459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8" name="Shape 6"/>
          <p:cNvSpPr/>
          <p:nvPr/>
        </p:nvSpPr>
        <p:spPr>
          <a:xfrm>
            <a:off x="1316736" y="5074920"/>
            <a:ext cx="164592" cy="164592"/>
          </a:xfrm>
          <a:prstGeom prst="rect">
            <a:avLst/>
          </a:prstGeom>
          <a:solidFill>
            <a:srgbClr val="D9DDE3"/>
          </a:solidFill>
          <a:ln/>
        </p:spPr>
      </p:sp>
      <p:sp>
        <p:nvSpPr>
          <p:cNvPr id="9" name="Shape 7"/>
          <p:cNvSpPr/>
          <p:nvPr/>
        </p:nvSpPr>
        <p:spPr>
          <a:xfrm>
            <a:off x="1627632" y="5074920"/>
            <a:ext cx="164592" cy="164592"/>
          </a:xfrm>
          <a:prstGeom prst="rect">
            <a:avLst/>
          </a:prstGeom>
          <a:solidFill>
            <a:srgbClr val="D9DDE3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493776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411480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PLANE VS EXECUTION PLANE — FROM DAY 1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68096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actually changes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10908792" cy="868680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920240"/>
            <a:ext cx="10451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Workflow:   </a:t>
            </a:r>
            <a:pPr indent="0" marL="0">
              <a:buNone/>
            </a:pPr>
            <a:r>
              <a:rPr lang="en-US" sz="1300" dirty="0">
                <a:solidFill>
                  <a:srgbClr val="343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 CODE decides the order  →  calls model  →  calls model  →  done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10908792" cy="868680"/>
          </a:xfrm>
          <a:prstGeom prst="rect">
            <a:avLst/>
          </a:prstGeom>
          <a:solidFill>
            <a:srgbClr val="F3F6FA"/>
          </a:solidFill>
          <a:ln w="9525">
            <a:solidFill>
              <a:srgbClr val="C7D3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926080"/>
            <a:ext cx="10451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C27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Agent:        </a:t>
            </a:r>
            <a:pPr indent="0" marL="0">
              <a:buNone/>
            </a:pPr>
            <a:r>
              <a:rPr lang="en-US" sz="1300" dirty="0">
                <a:solidFill>
                  <a:srgbClr val="343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decides  →  asks for a tool  →  YOUR CODE runs it  →  model decides again  →  ...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406908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only real change: who owns the loop.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4526280"/>
            <a:ext cx="5271516" cy="1417320"/>
          </a:xfrm>
          <a:prstGeom prst="rect">
            <a:avLst/>
          </a:prstGeom>
          <a:solidFill>
            <a:srgbClr val="EFF4F0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4645152"/>
            <a:ext cx="4814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Powerful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" y="4956048"/>
            <a:ext cx="48143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stop hard-coding branches for a problem that can go 50 ways.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77356" y="4526280"/>
            <a:ext cx="5271516" cy="1417320"/>
          </a:xfrm>
          <a:prstGeom prst="rect">
            <a:avLst/>
          </a:prstGeom>
          <a:solidFill>
            <a:srgbClr val="FBF1EC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05956" y="4645152"/>
            <a:ext cx="4814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4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Dangerous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05956" y="4956048"/>
            <a:ext cx="48143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model that decides can decide wrong, loop forever, or call a tool with garbage arguments.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493776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411480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MECHANISM, PRECISELY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68096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agent loop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2194560" cy="640080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0116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message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063240" y="2194560"/>
            <a:ext cx="457200" cy="27432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9" name="Shape 7"/>
          <p:cNvSpPr/>
          <p:nvPr/>
        </p:nvSpPr>
        <p:spPr>
          <a:xfrm>
            <a:off x="3566160" y="2011680"/>
            <a:ext cx="2194560" cy="640080"/>
          </a:xfrm>
          <a:prstGeom prst="rect">
            <a:avLst/>
          </a:prstGeom>
          <a:solidFill>
            <a:srgbClr val="1B2A41"/>
          </a:solidFill>
          <a:ln w="9525">
            <a:solidFill>
              <a:srgbClr val="1B2A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20116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80560" y="2697480"/>
            <a:ext cx="274320" cy="411480"/>
          </a:xfrm>
          <a:prstGeom prst="downArrow">
            <a:avLst/>
          </a:prstGeom>
          <a:solidFill>
            <a:srgbClr val="6B7280"/>
          </a:solidFill>
          <a:ln/>
        </p:spPr>
      </p:sp>
      <p:sp>
        <p:nvSpPr>
          <p:cNvPr id="12" name="Shape 10"/>
          <p:cNvSpPr/>
          <p:nvPr/>
        </p:nvSpPr>
        <p:spPr>
          <a:xfrm>
            <a:off x="3154680" y="3154680"/>
            <a:ext cx="3017520" cy="640080"/>
          </a:xfrm>
          <a:prstGeom prst="rect">
            <a:avLst/>
          </a:prstGeom>
          <a:solidFill>
            <a:srgbClr val="F3F6FA"/>
          </a:solidFill>
          <a:ln w="9525">
            <a:solidFill>
              <a:srgbClr val="C7D3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31546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stopReason == "tool_use" 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3337560"/>
            <a:ext cx="457200" cy="274320"/>
          </a:xfrm>
          <a:prstGeom prst="rightArrow">
            <a:avLst/>
          </a:prstGeom>
          <a:solidFill>
            <a:srgbClr val="2E6B4F"/>
          </a:solidFill>
          <a:ln/>
        </p:spPr>
      </p:sp>
      <p:sp>
        <p:nvSpPr>
          <p:cNvPr id="15" name="Shape 13"/>
          <p:cNvSpPr/>
          <p:nvPr/>
        </p:nvSpPr>
        <p:spPr>
          <a:xfrm>
            <a:off x="6720840" y="3154680"/>
            <a:ext cx="3200400" cy="640080"/>
          </a:xfrm>
          <a:prstGeom prst="rect">
            <a:avLst/>
          </a:prstGeom>
          <a:solidFill>
            <a:srgbClr val="EFF4F0"/>
          </a:solidFill>
          <a:ln w="9525">
            <a:solidFill>
              <a:srgbClr val="C3D6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12280" y="31546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→ final answer, stop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480560" y="3840480"/>
            <a:ext cx="274320" cy="365760"/>
          </a:xfrm>
          <a:prstGeom prst="downArrow">
            <a:avLst/>
          </a:prstGeom>
          <a:solidFill>
            <a:srgbClr val="C2703D"/>
          </a:solidFill>
          <a:ln/>
        </p:spPr>
      </p:sp>
      <p:sp>
        <p:nvSpPr>
          <p:cNvPr id="18" name="Shape 16"/>
          <p:cNvSpPr/>
          <p:nvPr/>
        </p:nvSpPr>
        <p:spPr>
          <a:xfrm>
            <a:off x="2834640" y="4251960"/>
            <a:ext cx="3657600" cy="640080"/>
          </a:xfrm>
          <a:prstGeom prst="rect">
            <a:avLst/>
          </a:prstGeom>
          <a:solidFill>
            <a:srgbClr val="FBF1EC"/>
          </a:solidFill>
          <a:ln w="9525">
            <a:solidFill>
              <a:srgbClr val="E3C7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0" y="42519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→ model returns toolUse {name, input, id}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480560" y="4937760"/>
            <a:ext cx="274320" cy="365760"/>
          </a:xfrm>
          <a:prstGeom prst="downArrow">
            <a:avLst/>
          </a:prstGeom>
          <a:solidFill>
            <a:srgbClr val="C2703D"/>
          </a:solidFill>
          <a:ln/>
        </p:spPr>
      </p:sp>
      <p:sp>
        <p:nvSpPr>
          <p:cNvPr id="21" name="Shape 19"/>
          <p:cNvSpPr/>
          <p:nvPr/>
        </p:nvSpPr>
        <p:spPr>
          <a:xfrm>
            <a:off x="2651760" y="5349240"/>
            <a:ext cx="4023360" cy="640080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0" y="53492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CODE runs the named function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188720" y="5440680"/>
            <a:ext cx="1371600" cy="274320"/>
          </a:xfrm>
          <a:prstGeom prst="leftArrow">
            <a:avLst/>
          </a:prstGeom>
          <a:solidFill>
            <a:srgbClr val="6B7280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5720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toolResult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append → loop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858000" y="4251960"/>
            <a:ext cx="3063240" cy="1737360"/>
          </a:xfrm>
          <a:prstGeom prst="rect">
            <a:avLst/>
          </a:prstGeom>
          <a:solidFill>
            <a:srgbClr val="EEF1F5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40880" y="43708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toolUseId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040880" y="4681728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ties a request to its result. Get it wrong and the model loses track. This is the part frameworks hide — which is exactly why we show it by hand once.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493776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411480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TOOL IS A FUNCTION THE MODEL IS ALLOWED TO CALL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68096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 a tool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7040880" cy="2490826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783080"/>
            <a:ext cx="54864" cy="2490826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929384"/>
            <a:ext cx="6675120" cy="2326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tool_config = {"tools": [{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"toolSpec": {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"name": "get_fare_rules",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"description": "Change, cancel and refund rules for a "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"fare class. Call when the user asks to change or cancel.",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"inputSchema": {"json": {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"type": "object",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"properties": {"fare_class": {"type": "string"}},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"required": ["fare_class"]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}}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}]}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955280" y="1783080"/>
            <a:ext cx="3593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a tool the model uses right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955280" y="2423160"/>
            <a:ext cx="3593592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description is a prompt, not a docstring — it tells the model WHEN to use it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schema constrains the input, and gives you reliable structured arguments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tool, one job. A do_everything tool confuses the model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955280" y="5029200"/>
            <a:ext cx="3593592" cy="960120"/>
          </a:xfrm>
          <a:prstGeom prst="rect">
            <a:avLst/>
          </a:prstGeom>
          <a:solidFill>
            <a:srgbClr val="F3F6FA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56448" y="5138928"/>
            <a:ext cx="31912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TravelMind tools: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get_fare_rules, check_loyalty_balance, search_flights — all mocked.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493776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411480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BY HAND, SO THE FRAMEWORK HOLDS NO MYSTERY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68096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agent loop, by hand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10908792" cy="3112618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691640"/>
            <a:ext cx="54864" cy="3112618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837944"/>
            <a:ext cx="10543032" cy="2948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run_agent(user_msg, max_iters=6):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 = [{"role":"user", "content":[{"text": user_msg}]}]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_ in range(max_iters):                 </a:t>
            </a:r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8A9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LOOP GUARD — never `while True` with an agent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 = bedrock.converse(modelId=MODEL_ID, messages=messages, toolConfig=tool_config)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out = r["output"]["message"]; messages.append(out)   </a:t>
            </a:r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8A9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keep the model's turn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r["stopReason"] != "tool_use":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out["content"][0]["text"]               </a:t>
            </a:r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8A9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final answer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results = []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b in out["content"]: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"toolUse" in b: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tu = b["toolUse"]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res = TOOLS[tu["name"]](**tu["input"])      </a:t>
            </a:r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8A9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YOUR code runs the action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results.append({"toolResult": {"toolUseId": tu["toolUseId"],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"content": [{"json": res}], "status": "success"}})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messages.append({"role":"user", "content": results})  </a:t>
            </a:r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8A9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hand results back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"Stopped: hit max tool calls"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598932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lines that matter most: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range() loop guard · appending both turns so history alternates · validating **tu["input"] (the model can hallucinate an argument).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493776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411480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RUNS · AND IT CALLS TWO TOOLS YOU DIDN'T SEQUENCE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68096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it end to end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0908792" cy="1633347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783080"/>
            <a:ext cx="54864" cy="1633347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929384"/>
            <a:ext cx="10543032" cy="1468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agent("I'm Gold tier — can I cancel my Saver economy ticket, and what's it cost in points?")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[tool] check_loyalty_balance(member_id=...)  -&gt;  {"points": 18450, "tier": "Gold"}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[tool] get_fare_rules(fare_class="Saver economy")  -&gt;  {"cancellable": true, "fee": 2000}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Final: As a Gold member your Saver economy ticket can be cancelled. The fee is 2,000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with a partial refund. You have 18,450 points and can cover the fee in points.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4663440"/>
            <a:ext cx="10908792" cy="1325880"/>
          </a:xfrm>
          <a:prstGeom prst="rect">
            <a:avLst/>
          </a:prstGeom>
          <a:solidFill>
            <a:srgbClr val="F3F6FA"/>
          </a:solidFill>
          <a:ln w="9525">
            <a:solidFill>
              <a:srgbClr val="C7D3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4800600"/>
            <a:ext cx="104515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called two tools, in an order you did not specify, then composed one answer.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workflow could not do that without you pre-wiring both branches.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"as end-to-end as 3.5 hours allows." It runs. It is useful. It is not production (next).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493776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411480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AGENT, A FRACTION OF THE CODE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68096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Strands does the loop for you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7040880" cy="2192274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783080"/>
            <a:ext cx="54864" cy="2192274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929384"/>
            <a:ext cx="6675120" cy="2027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strands import Agent, tool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@tool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get_fare_rules(fare_class: str) -&gt; dict: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"Change, cancel and refund rules for a fare class."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FARE_DB.get(fare_class, {"error": "unknown"})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= Agent(model="us.anthropic.claude-sonnet-4-6",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tools=[get_fare_rules])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print(agent("Can I cancel my Saver economy ticket?"))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0" y="1783080"/>
            <a:ext cx="3593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Hand-roll or framework?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955280" y="2240280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11" name="Text 9"/>
          <p:cNvSpPr/>
          <p:nvPr/>
        </p:nvSpPr>
        <p:spPr>
          <a:xfrm>
            <a:off x="8174736" y="2157984"/>
            <a:ext cx="3374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Strands for almost everything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174736" y="2432304"/>
            <a:ext cx="33741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@tool decorator infers the schema from type hints + docstring. It handles the loop, history, tool plumbing and the guard. Less code, fewer bugs.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955280" y="3703320"/>
            <a:ext cx="118872" cy="118872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14" name="Text 12"/>
          <p:cNvSpPr/>
          <p:nvPr/>
        </p:nvSpPr>
        <p:spPr>
          <a:xfrm>
            <a:off x="8174736" y="3621024"/>
            <a:ext cx="3374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Hand-roll only when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174736" y="3895344"/>
            <a:ext cx="33741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need custom logging, a non-standard runtime, intervention between steps, or you are debugging why an agent misbehaves.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955280" y="5029200"/>
            <a:ext cx="3593592" cy="960120"/>
          </a:xfrm>
          <a:prstGeom prst="rect">
            <a:avLst/>
          </a:prstGeom>
          <a:solidFill>
            <a:srgbClr val="F3F6FA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56448" y="5120640"/>
            <a:ext cx="31912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A84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framework you cannot reason about is a liability. That is why we built the loop by hand first.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493776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411480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PROTOTYPE HAS TO GO TO PRODUCTION · GA OCT 2025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68096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Amazon Bedrock AgentCore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write the agent (any framework, any model). AgentCore runs it in production — infrastructure, security, memory, tools, monitoring — with no servers to manage.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3483864" cy="1188720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468880"/>
            <a:ext cx="54864" cy="1188720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606040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68680" y="2944368"/>
            <a:ext cx="3072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8-hour runs, per-session isolation (microVM), A2A protocol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52544" y="2468880"/>
            <a:ext cx="3483864" cy="1188720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52544" y="2468880"/>
            <a:ext cx="54864" cy="1188720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13" name="Text 11"/>
          <p:cNvSpPr/>
          <p:nvPr/>
        </p:nvSpPr>
        <p:spPr>
          <a:xfrm>
            <a:off x="4581144" y="2606040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581144" y="2944368"/>
            <a:ext cx="3072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and long term, or your own self-managed strategy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65008" y="2468880"/>
            <a:ext cx="3483864" cy="1188720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65008" y="2468880"/>
            <a:ext cx="54864" cy="1188720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17" name="Text 15"/>
          <p:cNvSpPr/>
          <p:nvPr/>
        </p:nvSpPr>
        <p:spPr>
          <a:xfrm>
            <a:off x="8293608" y="2606040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93608" y="2944368"/>
            <a:ext cx="3072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turns APIs / Lambda into MCP tools; connects existing MCP servers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794760"/>
            <a:ext cx="3483864" cy="1188720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794760"/>
            <a:ext cx="54864" cy="1188720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3931920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68680" y="4270248"/>
            <a:ext cx="3072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for agents, secure token vault, OAuth + IAM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52544" y="3794760"/>
            <a:ext cx="3483864" cy="1188720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52544" y="3794760"/>
            <a:ext cx="54864" cy="1188720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25" name="Text 23"/>
          <p:cNvSpPr/>
          <p:nvPr/>
        </p:nvSpPr>
        <p:spPr>
          <a:xfrm>
            <a:off x="4581144" y="3931920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4581144" y="4270248"/>
            <a:ext cx="3072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execution traces and operational metrics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065008" y="3794760"/>
            <a:ext cx="3483864" cy="1188720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65008" y="3794760"/>
            <a:ext cx="54864" cy="1188720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29" name="Text 27"/>
          <p:cNvSpPr/>
          <p:nvPr/>
        </p:nvSpPr>
        <p:spPr>
          <a:xfrm>
            <a:off x="8293608" y="3931920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Interpreter + Browser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8293608" y="4270248"/>
            <a:ext cx="3072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code and drive web apps, sandboxed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0080" y="5212080"/>
            <a:ext cx="10908792" cy="777240"/>
          </a:xfrm>
          <a:prstGeom prst="rect">
            <a:avLst/>
          </a:prstGeom>
          <a:solidFill>
            <a:srgbClr val="EEF1F5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680" y="5321808"/>
            <a:ext cx="10451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for it when: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Bedrock Agents = fast managed start. AgentCore = full control of agent logic without building infra. Composable — use one service or all seven. You can run both.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493776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411480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SHIP AN AGENT NAKED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68096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Guardrails + a window in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28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15568" y="1792224"/>
            <a:ext cx="6199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Guardrail in the Bedrock console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115568" y="2103120"/>
            <a:ext cx="6199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filters, denied topics, PII masking, word filters, contextual grounding.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743200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743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15568" y="2706624"/>
            <a:ext cx="6199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a version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115568" y="3017520"/>
            <a:ext cx="6199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 are versioned, like prompts. You attach a specific version.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657600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657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15568" y="3621024"/>
            <a:ext cx="6199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 it in the same Converse call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115568" y="3931920"/>
            <a:ext cx="6199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extra parameter. Enable cross-region on the guardrail if you use a cross-region profile.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680960" y="1828800"/>
            <a:ext cx="3867912" cy="1590142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80960" y="1828800"/>
            <a:ext cx="54864" cy="159014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20" name="Text 18"/>
          <p:cNvSpPr/>
          <p:nvPr/>
        </p:nvSpPr>
        <p:spPr>
          <a:xfrm>
            <a:off x="7882128" y="1975104"/>
            <a:ext cx="3502152" cy="142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 = bedrock.converse(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modelId=MODEL_ID,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messages=messages,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toolConfig=tool_config,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guardrailConfig={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"guardrailIdentifier":"tm-pii",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"guardrailVersion":"1"})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709160"/>
            <a:ext cx="10908792" cy="1280160"/>
          </a:xfrm>
          <a:prstGeom prst="rect">
            <a:avLst/>
          </a:prstGeom>
          <a:solidFill>
            <a:srgbClr val="FBF1EC"/>
          </a:solidFill>
          <a:ln w="9525">
            <a:solidFill>
              <a:srgbClr val="E3C7B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846320"/>
            <a:ext cx="104515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workflow you can read top to bottom. An agent you cannot — the path changes every run. The trace is your only window in.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 or irreversible actions get a human checkpoint. Separate read tools from write tools.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493776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411480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MID-HOUR ACTIVITY · WHAT IS WRONG HERE?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68096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Spot the gap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0908792" cy="925144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783080"/>
            <a:ext cx="54864" cy="925144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929384"/>
            <a:ext cx="10543032" cy="760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agent("cancel my ticket")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[tool] get_fare_rules(fare_class="economy")  -&gt;  {"cancellable": true, "fee": 2000}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328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Final: Cancelled. Fee 2,000 applied.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324612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catches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721608"/>
            <a:ext cx="118872" cy="118872"/>
          </a:xfrm>
          <a:prstGeom prst="rect">
            <a:avLst/>
          </a:prstGeom>
          <a:solidFill>
            <a:srgbClr val="A8443B"/>
          </a:solidFill>
          <a:ln/>
        </p:spPr>
      </p:sp>
      <p:sp>
        <p:nvSpPr>
          <p:cNvPr id="11" name="Text 9"/>
          <p:cNvSpPr/>
          <p:nvPr/>
        </p:nvSpPr>
        <p:spPr>
          <a:xfrm>
            <a:off x="877824" y="3657600"/>
            <a:ext cx="50337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guessed "economy" — no fare class was given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77356" y="3721608"/>
            <a:ext cx="118872" cy="118872"/>
          </a:xfrm>
          <a:prstGeom prst="rect">
            <a:avLst/>
          </a:prstGeom>
          <a:solidFill>
            <a:srgbClr val="A8443B"/>
          </a:solidFill>
          <a:ln/>
        </p:spPr>
      </p:sp>
      <p:sp>
        <p:nvSpPr>
          <p:cNvPr id="13" name="Text 11"/>
          <p:cNvSpPr/>
          <p:nvPr/>
        </p:nvSpPr>
        <p:spPr>
          <a:xfrm>
            <a:off x="6515100" y="3657600"/>
            <a:ext cx="50337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confirmation before a money action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590288"/>
            <a:ext cx="118872" cy="118872"/>
          </a:xfrm>
          <a:prstGeom prst="rect">
            <a:avLst/>
          </a:prstGeom>
          <a:solidFill>
            <a:srgbClr val="A8443B"/>
          </a:solidFill>
          <a:ln/>
        </p:spPr>
      </p:sp>
      <p:sp>
        <p:nvSpPr>
          <p:cNvPr id="15" name="Text 13"/>
          <p:cNvSpPr/>
          <p:nvPr/>
        </p:nvSpPr>
        <p:spPr>
          <a:xfrm>
            <a:off x="877824" y="4526280"/>
            <a:ext cx="50337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tool actually cancelled anything — it only read rules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77356" y="4590288"/>
            <a:ext cx="118872" cy="118872"/>
          </a:xfrm>
          <a:prstGeom prst="rect">
            <a:avLst/>
          </a:prstGeom>
          <a:solidFill>
            <a:srgbClr val="A8443B"/>
          </a:solidFill>
          <a:ln/>
        </p:spPr>
      </p:sp>
      <p:sp>
        <p:nvSpPr>
          <p:cNvPr id="17" name="Text 15"/>
          <p:cNvSpPr/>
          <p:nvPr/>
        </p:nvSpPr>
        <p:spPr>
          <a:xfrm>
            <a:off x="6515100" y="4526280"/>
            <a:ext cx="50337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"Cancelled" is a hallucinated outcome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0080" y="59893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defense for these is on the next slide. This is why agents get guardrails, validation, and human checkpoints.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493776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411480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WILL MEET ALL OF THESE IN WEEK ONE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68096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Failure modes &amp; cheapest fix</a:t>
            </a:r>
            <a:endParaRPr lang="en-US" sz="30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0879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06240"/>
                <a:gridCol w="3959352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Failure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looks like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Cheapest fix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Infinite loop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Same tool called over and over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Loop guard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Hallucinated argument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 called with an invented value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Validate args before running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Silent tool failure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 errors, agent carries 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Return status:"error", don't swallow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Wrong tool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Refund question triggers search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Sharpen the tool description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 blow-up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query = 40 model calls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Loop guard + token budget + smaller model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Confident wrong answer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"Cancelled" when nothing happened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43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Human checkpoint; split read / write tools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59893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one is common, and every fix is cheap if you designed for it and expensive if you didn't. Photo this slide.</a:t>
            </a:r>
            <a:endParaRPr lang="en-US" sz="13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493776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411480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THIS BACK TO YOUR OWN WORK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68096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your project: workflow, agent, or both?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10908792" cy="914400"/>
          </a:xfrm>
          <a:prstGeom prst="rect">
            <a:avLst/>
          </a:prstGeom>
          <a:solidFill>
            <a:srgbClr val="F5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65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Q1.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you write down the steps in advance?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Yes: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WORKFLOW. Stop. Don't add an agent for résumé value.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017520"/>
            <a:ext cx="10908792" cy="914400"/>
          </a:xfrm>
          <a:prstGeom prst="rect">
            <a:avLst/>
          </a:prstGeom>
          <a:solidFill>
            <a:srgbClr val="F3F6FA"/>
          </a:solidFill>
          <a:ln w="9525">
            <a:solidFill>
              <a:srgbClr val="C7D3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01752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Q2.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the model choose actions at runtime?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C27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Yes: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AGENT. Tools small, loop guarded, actions gated, traced.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069080"/>
            <a:ext cx="10908792" cy="914400"/>
          </a:xfrm>
          <a:prstGeom prst="rect">
            <a:avLst/>
          </a:prstGeom>
          <a:solidFill>
            <a:srgbClr val="EFF4F0"/>
          </a:solidFill>
          <a:ln w="9525">
            <a:solidFill>
              <a:srgbClr val="C3D6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06908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Mixed?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mostly deterministic WORKFLOW with one bounded agentic step. This is most real enterprise systems.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516636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A84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line to use in your own design reviews:   </a:t>
            </a:r>
            <a:pPr indent="0" marL="0">
              <a:lnSpc>
                <a:spcPct val="110000"/>
              </a:lnSpc>
              <a:buNone/>
            </a:pPr>
            <a:r>
              <a:rPr lang="en-US" sz="1350" i="1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"Is this an agent because the problem needs one, or because agents are in fashion this quarter?"</a:t>
            </a:r>
            <a:endParaRPr lang="en-US" sz="13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493776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411480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AND THE PRODUCTION REALITY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68096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today's build is still missing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agent: a handful of model calls per query, a few thousand tokens. Real money, but small. Read usage and you always know the number.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487168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8" name="Text 6"/>
          <p:cNvSpPr/>
          <p:nvPr/>
        </p:nvSpPr>
        <p:spPr>
          <a:xfrm>
            <a:off x="877824" y="2423160"/>
            <a:ext cx="50337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across turns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77824" y="2724912"/>
            <a:ext cx="50337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forgets between calls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77356" y="2487168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11" name="Text 9"/>
          <p:cNvSpPr/>
          <p:nvPr/>
        </p:nvSpPr>
        <p:spPr>
          <a:xfrm>
            <a:off x="6515100" y="2423160"/>
            <a:ext cx="50337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routing + fallback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15100" y="2724912"/>
            <a:ext cx="50337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model, no plan B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401568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14" name="Text 12"/>
          <p:cNvSpPr/>
          <p:nvPr/>
        </p:nvSpPr>
        <p:spPr>
          <a:xfrm>
            <a:off x="877824" y="3337560"/>
            <a:ext cx="50337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observability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77824" y="3639312"/>
            <a:ext cx="50337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traces, spans, token + cost dashboards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77356" y="3401568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17" name="Text 15"/>
          <p:cNvSpPr/>
          <p:nvPr/>
        </p:nvSpPr>
        <p:spPr>
          <a:xfrm>
            <a:off x="6515100" y="3337560"/>
            <a:ext cx="50337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15100" y="3639312"/>
            <a:ext cx="50337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you know it's good, repeatably?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315968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20" name="Text 18"/>
          <p:cNvSpPr/>
          <p:nvPr/>
        </p:nvSpPr>
        <p:spPr>
          <a:xfrm>
            <a:off x="877824" y="4251960"/>
            <a:ext cx="50337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+ rollback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77824" y="4553712"/>
            <a:ext cx="50337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config, versioning, blue-green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77356" y="4315968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23" name="Text 21"/>
          <p:cNvSpPr/>
          <p:nvPr/>
        </p:nvSpPr>
        <p:spPr>
          <a:xfrm>
            <a:off x="6515100" y="4251960"/>
            <a:ext cx="50337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coordination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15100" y="4553712"/>
            <a:ext cx="50337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agent only, so far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" y="5212080"/>
            <a:ext cx="10908792" cy="777240"/>
          </a:xfrm>
          <a:prstGeom prst="rect">
            <a:avLst/>
          </a:prstGeom>
          <a:solidFill>
            <a:srgbClr val="EEF1F5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5321808"/>
            <a:ext cx="10451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missing piece is a dedicated day ahead: memory and retrieval, routing and evaluation, observability and deployment, multi-agent orchestration. Today gave you the spine.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493776"/>
            <a:ext cx="118872" cy="118872"/>
          </a:xfrm>
          <a:prstGeom prst="rect">
            <a:avLst/>
          </a:prstGeom>
          <a:solidFill>
            <a:srgbClr val="C2703D"/>
          </a:solidFill>
          <a:ln/>
        </p:spPr>
      </p:sp>
      <p:sp>
        <p:nvSpPr>
          <p:cNvPr id="4" name="Text 2"/>
          <p:cNvSpPr/>
          <p:nvPr/>
        </p:nvSpPr>
        <p:spPr>
          <a:xfrm>
            <a:off x="859536" y="411480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TAKEAWAY THAT SURVIVES THE ROOM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68096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can do Monday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20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15568" y="1883664"/>
            <a:ext cx="10433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 up the bedrock-runtime client with adaptive retries. One file.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761488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761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15568" y="2724912"/>
            <a:ext cx="10433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one messy-text task in your own work into a Converse workflow with forced JSON.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3602736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602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15568" y="3566160"/>
            <a:ext cx="10433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 one repetitive lookup as a tool and let a small agent call it — with a loop guard.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40080" y="4443984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4439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15568" y="4407408"/>
            <a:ext cx="10433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build anything, ask the Q1/Q2 question out loud.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40080" y="5285232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5285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15568" y="5248656"/>
            <a:ext cx="10433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usage on every call. Know your cost before finance does.</a:t>
            </a:r>
            <a:endParaRPr lang="en-US" sz="14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822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C27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QUIZ · 10 QUESTIONS · LEADERBOARD 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78408" y="12344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you go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C27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boto3 client invokes a model?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92240" y="22860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C27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On-demand error on a bare model ID — likely cause?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05840" y="285292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C27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stopReason = "tool_use" means you must do what?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92240" y="285292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C27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temperature 0 for a parsing job?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05840" y="3419856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C27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toolUseId connect?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92240" y="3419856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C27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must-have guard when hand-rolling an agent loop?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05840" y="398678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C27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or agent: score every lead on a fixed rubric?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92240" y="398678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C27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 you set the model's behavioral contract?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05840" y="455371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C27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reason to hand-roll instead of using Strands?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92240" y="455371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C27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43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said "Cancelled" but nothing was — two defenses?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05840" y="58521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i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we deepen the agent — multi-agent orchestration and AgentCore. Bring a problem from your own work; we'll classify it together.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5 — Bedrock Build</dc:title>
  <dc:subject>PptxGenJS Presentation</dc:subject>
  <dc:creator>Akash Das</dc:creator>
  <cp:lastModifiedBy>Akash Das</cp:lastModifiedBy>
  <cp:revision>1</cp:revision>
  <dcterms:created xsi:type="dcterms:W3CDTF">2026-05-29T04:04:10Z</dcterms:created>
  <dcterms:modified xsi:type="dcterms:W3CDTF">2026-05-29T04:04:10Z</dcterms:modified>
</cp:coreProperties>
</file>