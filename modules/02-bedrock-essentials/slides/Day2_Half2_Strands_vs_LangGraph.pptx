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0" cy="3657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2 OPENER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Strands · LangGraph · LangChain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names you'll hear in every agent conversation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11274552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2004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91640" y="320040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not interchangeable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91640" y="352044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solves a different problem at a different layer. Picking one because it's familiar is the most expensive mistake in this space.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069080"/>
            <a:ext cx="11274552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160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691640" y="416052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shape decides — not preference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91640" y="44805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Half 2 you can pick one in 30 seconds based on workflow shape, and defend it under pushback.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029200"/>
            <a:ext cx="11274552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1206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691640" y="51206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 pick wrong, then pay for years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91640" y="54406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trending on LinkedIn that week, or what your senior engineer used last project, are not architectural inputs.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discipline to install: framework choice follows workflow shape, never the reverse.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0" y="6537960"/>
            <a:ext cx="5788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vs LangGraph · Half 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frameworks, three jobs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and LangGraph compete. LangChain doesn't compete with either.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31720"/>
            <a:ext cx="11274552" cy="114300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Strands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IDENTITY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0" y="271576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AWS-origin, model-driven agent SDK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589520" y="2468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REACH FOR 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589520" y="271576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Single-agent, AWS-native, fast time-to-prod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11274552" cy="1143000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749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0" y="3749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IDENTITY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0" y="399592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graph with explicit nodes + edges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89520" y="3749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REACH FOR IT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589520" y="399592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Multi-step, shared state, HITL, multi-agent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892040"/>
            <a:ext cx="1127455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029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LangChain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layer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0" y="5029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IDENTITY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0" y="527608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templates, parsers, doc loaders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589520" y="5029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REACH FOR IT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89520" y="527608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inside Strands or LangGraph — not as architecture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2026 mistakes trace back to using LangChain as orchestration. Treat it as a utility library, like requests or pydantic.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0" y="6537960"/>
            <a:ext cx="5788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vs LangGraph · Half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1 OF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Strands: the model decides the loop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AWS-origin OSS — opinionated about what it hides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77440"/>
            <a:ext cx="4297680" cy="3840480"/>
          </a:xfrm>
          <a:prstGeom prst="rect">
            <a:avLst/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14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PHILOSOPHY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decides the loop, not the framework.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657600"/>
            <a:ext cx="39319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declare three things: </a:t>
            </a:r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system prompt, model.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runs the loop until done.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does not impose control flow — it gives the LLM autonomy and observes the result.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0" y="2377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OPERATING PRINCIPLES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0" y="2788920"/>
            <a:ext cx="670255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2971800"/>
            <a:ext cx="502920" cy="5029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29260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Model-driven control flow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97880" y="322783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hand-coded 'do X then Y.' The model decides what to call, when to call again, and when to stop.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0" y="3931920"/>
            <a:ext cx="670255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0" y="4114800"/>
            <a:ext cx="502920" cy="5029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97880" y="40690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over configuration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897880" y="437083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docstrings ARE the description. Function signatures ARE the schema. No separate registration step.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0" y="5074920"/>
            <a:ext cx="670255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5257800"/>
            <a:ext cx="502920" cy="5029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97880" y="52120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code, dev and prod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897880" y="551383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with boto3 credentials. Deploys to AgentCore Runtime — same code, different target.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LangGraph is Airflow, Strands is Lambda — 'run my function, manage the rest.'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0" y="6537960"/>
            <a:ext cx="5788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vs LangGraph · Half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IN CODE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Single-tool booking lookup — 18 lines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what is missing: no loop, no retries, no try/except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31720"/>
            <a:ext cx="6766560" cy="3977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6446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strands 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
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strands.tools 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
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
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lookup_booking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(pnr: 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buNone/>
            </a:pPr>
            <a:r>
              <a:rPr lang="en-US" sz="1100" i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"""Fetch booking details for a PNR.
</a:t>
            </a:r>
            <a:pPr indent="0" marL="0">
              <a:buNone/>
            </a:pPr>
            <a:r>
              <a:rPr lang="en-US" sz="1100" i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Args: pnr — 6-char booking ref (e.g. 'ABC123')
</a:t>
            </a:r>
            <a:pPr indent="0" marL="0">
              <a:buNone/>
            </a:pPr>
            <a:r>
              <a:rPr lang="en-US" sz="1100" i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Returns: dict with passenger, flight, status."""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travelmind_mcp.get_booking(pnr)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
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model="anthropic.claude-3-5-sonnet-...",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system_prompt=(
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"You are a booking exception handler. "
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"Look up the PNR. If status=disrupted, explain. "
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"If status=ok, confirm in one sentence."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tools=[lookup_booking],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agent("PNR ABC123 — what is its status?")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0" y="2331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TO NOTICE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18120" y="2743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 decorator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18120" y="30175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registers a function as agent-callable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0" y="3456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18120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 is the spec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18120" y="37307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reads it to decide when to call the tool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0" y="4169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18120" y="41696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= schema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18120" y="444398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pnr: str → JSON schema generated automatically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98080" y="4882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18120" y="4882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if / while / try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18120" y="515721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Loop, retries, errors all inside the SDK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98080" y="5596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18120" y="5596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agent(...) returns when done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18120" y="58704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decides 'done.' Stops when no more tool calls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0" y="6537960"/>
            <a:ext cx="5788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vs LangGraph · Half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2 OF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LangGraph: you define the graph, framework executes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Opinionated about what it exposes — every transition is visible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77440"/>
            <a:ext cx="4297680" cy="3840480"/>
          </a:xfrm>
          <a:prstGeom prst="rect">
            <a:avLst/>
          </a:prstGeom>
          <a:solidFill>
            <a:srgbClr val="DBEAFE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14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PHILOSOPHY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graph is the control flow.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657600"/>
            <a:ext cx="39319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declare: </a:t>
            </a:r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schema, nodes, edges.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walks the graph.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state — every transition visible, every step inspectable, every pause resumable.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0" y="2377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OPERATING PRINCIPLES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0" y="2788920"/>
            <a:ext cx="670255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2971800"/>
            <a:ext cx="502920" cy="50292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29260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state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97880" y="322783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object (TypedDict / Pydantic). Every node receives, mutates, returns. No hidden state.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0" y="3931920"/>
            <a:ext cx="670255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0" y="4114800"/>
            <a:ext cx="502920" cy="50292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97880" y="40690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transitions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897880" y="437083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define what runs next. Conditional edges branch on state values — not on model whim.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0" y="5074920"/>
            <a:ext cx="670255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5257800"/>
            <a:ext cx="502920" cy="50292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97880" y="52120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checkpointing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897880" y="551383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at any node. Resume from any node. Persist across machines, hours, user interventions.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does not trust the model with control flow. The graph is the control flow.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0" y="6537960"/>
            <a:ext cx="5788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vs LangGraph · Half 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IN CODE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booking lookup — 47 lines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what is added: typed state, named nodes, explicit edges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31720"/>
            <a:ext cx="7498080" cy="4023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23160"/>
            <a:ext cx="71780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langgraph.graph </a:t>
            </a:r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StateGraph, END
</a:t>
            </a:r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typing </a:t>
            </a:r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TypedDict
</a:t>
            </a:r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BookingState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(TypedDict):
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pnr: </a:t>
            </a:r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
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booking: </a:t>
            </a:r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</a:t>
            </a:r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
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response: </a:t>
            </a:r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</a:t>
            </a:r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
</a:t>
            </a:r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fetch_booking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(state):
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state["booking"] = travelmind_mcp.get_booking(state["pnr"])
</a:t>
            </a:r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
</a:t>
            </a:r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compose_response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(state):
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= state["booking"]
</a:t>
            </a:r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b["status"] == "disrupted":
</a:t>
            </a:r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state["response"] = f"PNR {state['pnr']} disrupted: {b['reason']}"
</a:t>
            </a:r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
</a:t>
            </a:r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state["response"] = f"PNR {state['pnr']} confirmed"
</a:t>
            </a:r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
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StateGraph(BookingState)
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graph.add_node("fetch", fetch_booking)
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graph.add_node("respond", compose_response)
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graph.add_edge("fetch", "respond")
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graph.add_edge("respond", END)
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graph.set_entry_point("fetch")
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graph.compile()
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app.invoke({"pnr": "ABC123", "booking": None, "response": None})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DIFFERENT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4964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BookingState contract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4964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typed — every node honors it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0" y="3456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49640" y="3456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are nodes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49640" y="37307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= state -&gt; state. No magic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0" y="4169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49640" y="41696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drive flow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49640" y="444398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exactly what runs next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0" y="4882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49640" y="48828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yet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49640" y="515721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orchestrates anything; LLM is one node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0" y="5596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49640" y="5596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compile() then invoke()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49640" y="58704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Build-time vs run-time — graph is inspectable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0" y="6537960"/>
            <a:ext cx="5788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vs LangGraph · Half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COMPARISON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problem, both frameworks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produce identical output. The cost of one is the buy of the other.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31720"/>
            <a:ext cx="11274552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31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51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0100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11274552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43200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51960" y="2743200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001000" y="2743200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36392"/>
            <a:ext cx="11274552" cy="39319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36392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write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51960" y="3136392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001000" y="3136392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529584"/>
            <a:ext cx="11274552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529584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state lives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251960" y="3529584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SDK (hidden)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01000" y="3529584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BookingState (visible)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922776"/>
            <a:ext cx="11274552" cy="39319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922776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loop lives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51960" y="3922776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SDK (model-driven)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01000" y="3922776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edges (you-driven)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4315968"/>
            <a:ext cx="11274552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315968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251960" y="4315968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Last-message log; AgentCore traces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001000" y="4315968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Per-node state snapshots; LangSmith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4709160"/>
            <a:ext cx="11274552" cy="39319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709160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Inspecting WHY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251960" y="4709160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model's reasoning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001000" y="4709160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state at each node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" y="5102352"/>
            <a:ext cx="11274552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102352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tool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251960" y="5102352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to tools=[...]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001000" y="5102352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node + edge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7200" y="5495544"/>
            <a:ext cx="11274552" cy="39319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5495544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branch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251960" y="5495544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prompt, hope model branches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001000" y="5495544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add_conditional_edges() — explicit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to leave hanging: what if a new requirement lands — supervisor approval before the response goes out?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943600" y="6537960"/>
            <a:ext cx="5788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vs LangGraph · Half 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CHANGE — LIVE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rule: supervisor approval before disrupted response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that was 3x more code is now 4x less code for this change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31720"/>
            <a:ext cx="5532120" cy="3657600"/>
          </a:xfrm>
          <a:prstGeom prst="rect">
            <a:avLst/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— what you must do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2834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Re-architect. Model can't reliably pause mid-loop. Move approval OUTSIDE the agent.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lives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77440" y="33375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agent — in your application code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on resume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77440" y="3840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reconstruct it from your app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343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added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77440" y="43434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(wrapper, approval call, resume call)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846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add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77440" y="48463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77440" y="53492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drift between agent's view and wrapper's view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99632" y="2331720"/>
            <a:ext cx="5532120" cy="3657600"/>
          </a:xfrm>
          <a:prstGeom prst="rect">
            <a:avLst/>
          </a:prstGeom>
          <a:solidFill>
            <a:srgbClr val="DBEAFE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4688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— what you must do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82512" y="2834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19872" y="2834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await_approval node. Conditional edge from compose_response. Enable checkpointer.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82512" y="3337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lives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19872" y="33375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graph — one node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82512" y="3840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on resume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19872" y="3840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 from checkpoint automatically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82512" y="4343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added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19872" y="43434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(one node, one conditional edge, checkpointer config)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82512" y="4846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add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19872" y="48463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82512" y="5349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19872" y="53492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— checkpoint is canonical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picking the wrong framework is not today's lines of code — it's the lines added on every future change.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43600" y="6537960"/>
            <a:ext cx="5788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vs LangGraph · Half 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RUBRIC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framework decision matrix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diagnostic questions, in order. Print it. Pin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2240280"/>
            <a:ext cx="3200400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2240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agent to design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2788920"/>
            <a:ext cx="3200400" cy="731520"/>
          </a:xfrm>
          <a:prstGeom prst="diamond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7889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across 3+ steps?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0" y="3035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778240" y="278892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0" y="2788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80560" y="3703320"/>
            <a:ext cx="3200400" cy="731520"/>
          </a:xfrm>
          <a:prstGeom prst="diamond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37033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or long pause needed?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0" y="3950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LangGraph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4617720"/>
            <a:ext cx="3200400" cy="731520"/>
          </a:xfrm>
          <a:prstGeom prst="diamond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46177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multi-agent coordination?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LangGraph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0" y="5623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 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12080" y="553212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5532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Strands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2240280"/>
            <a:ext cx="3520440" cy="39319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269748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YES → LangGraph.
All NO → Strands.
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at the first YES. Order matters.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utilities (prompt templates, parsers, doc loaders) are additive to either — never the primary choice.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0" y="6537960"/>
            <a:ext cx="5788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vs LangGraph · Half 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1 — STRANDS FIT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TravelMind booking exception handler (UC-A1)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students will build tomorrow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31720"/>
            <a:ext cx="11274552" cy="1325880"/>
          </a:xfrm>
          <a:prstGeom prst="rect">
            <a:avLst/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23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asks about a PNR; agent looks up booking, checks for disruptions, responds with status + next-action recommendation.
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lookup_booking · get_disruption_reason · get_rebooking_options. 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 + intermediate results derivable from tool outputs. 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none. 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539496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840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MATRIX WALKTHROUGH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across 3+ steps?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46320" y="4251960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42519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617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or long pause?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0" y="4663440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46634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5029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coordination?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46320" y="5074920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50749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5532120"/>
            <a:ext cx="5029200" cy="594360"/>
          </a:xfrm>
          <a:prstGeom prst="rect">
            <a:avLst/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5321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STRANDS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080760" y="3749040"/>
            <a:ext cx="5650992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STRANDS GIVES THIS USE CASE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42062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46520" y="42062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agent. 3 @tool decorators. ~40 lines total.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464515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46520" y="464515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decides tool order: usually lookup_booking first, then get_disruption_reason only if disrupted.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5084064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508406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AgentCore traces show every tool call + decision in the AWS console.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5522976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46520" y="552297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to AgentCore Runtime with no code change.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0" y="6537960"/>
            <a:ext cx="5788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vs LangGraph · Half 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2 — LANGGRAPH FIT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TravelMind disruption replanning (UC-A2)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cancelled mid-trip — agent rebuilds the itinerary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31720"/>
            <a:ext cx="11274552" cy="1417320"/>
          </a:xfrm>
          <a:prstGeom prst="rect">
            <a:avLst/>
          </a:prstGeom>
          <a:solidFill>
            <a:srgbClr val="DBEAFE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23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cancelled mid-trip → (1) detect cancellation, (2) check alternative flights, (3) check hotel impact, (4) propose plan, (5) get user approval, (6) rebook affected segments.
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check_flight_status · search_alternates · check_hotel_dates · propose_plan · rebook_flight · rebook_hotel.
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itinerary, disruption, alternates, proposed plan, approval, rebook receipts. 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(approval). 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be (flight + hotel specialists).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53949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31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MATRIX WALKTHROUGH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across 3+ steps?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23360" y="4343400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4343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stop here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4709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(HITL or long pause?)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023360" y="4754880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4754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yes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5120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(Multi-agent coordination?)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023360" y="5166360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0" y="5166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yes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5577840"/>
            <a:ext cx="5029200" cy="594360"/>
          </a:xfrm>
          <a:prstGeom prst="rect">
            <a:avLst/>
          </a:prstGeom>
          <a:solidFill>
            <a:srgbClr val="DBEAFE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5778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LANGGRAPH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080760" y="3840480"/>
            <a:ext cx="5650992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LANGGRAPH GIVES THIS USE CASE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42976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46520" y="42976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ReplanState is the single source of truth across the whole flow.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473659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46520" y="473659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propose_plan → await_user_approval → rebook is one conditional edge — explicit, traceable.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5175504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517550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Checkpointing: user closes app, returns 2 hours later — agent resumes with full state intact.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5614416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46520" y="561441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Multi-agent: flight + hotel subgraphs compose into the parent graph cleanly.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0" y="6537960"/>
            <a:ext cx="5788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vs LangGraph · Half 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POSTURE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frameworks deploy to AgentCore Runtime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Cloud-agnostic posture: orchestration code portable, runtime on AWS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77440"/>
            <a:ext cx="11274552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 CODE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788920"/>
            <a:ext cx="5349240" cy="502920"/>
          </a:xfrm>
          <a:prstGeom prst="roundRect">
            <a:avLst>
              <a:gd name="adj" fmla="val 9091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889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2788920"/>
            <a:ext cx="5349240" cy="502920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7889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App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3429000"/>
            <a:ext cx="228600" cy="182880"/>
          </a:xfrm>
          <a:prstGeom prst="down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15400" y="3429000"/>
            <a:ext cx="228600" cy="182880"/>
          </a:xfrm>
          <a:prstGeom prst="down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703320"/>
            <a:ext cx="11274552" cy="109728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RUNTIME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execution + Memory + Gateway + Identity + Observability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89320" y="4846320"/>
            <a:ext cx="228600" cy="182880"/>
          </a:xfrm>
          <a:prstGeom prst="down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120640"/>
            <a:ext cx="3904488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212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5532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70832" y="5120640"/>
            <a:ext cx="3904488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5212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MEMORY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53712" y="5532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+ long-term store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84464" y="5120640"/>
            <a:ext cx="3904488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67344" y="5212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67344" y="5532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endpoints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1996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choice and cloud choice are independent decisions. Don't confuse them.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0" y="6537960"/>
            <a:ext cx="5788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vs LangGraph · Half 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STORIES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anti-patterns we've seen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came from a real codebase. Each was expensive to fix.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31720"/>
            <a:ext cx="5559552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514600"/>
            <a:ext cx="502920" cy="50292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4963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as orchestration in 2026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25880" y="28346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for stateful; Strands for model-driven. LangChain only as utility inside.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2331720"/>
            <a:ext cx="5559552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2514600"/>
            <a:ext cx="502920" cy="50292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24963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'AgentCore handles the agent loop'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40880" y="28346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= runtime. Loop = Strands or LangGraph.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5559552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794760"/>
            <a:ext cx="502920" cy="50292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3776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for a 12-step HITL workflow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325880" y="41148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— you need checkpoints, explicit transitions.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72200" y="3611880"/>
            <a:ext cx="5559552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3794760"/>
            <a:ext cx="502920" cy="50292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3776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for a single-tool single-shot bot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040880" y="41148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— graph overhead unjustified.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892040"/>
            <a:ext cx="5559552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25880" y="5056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Hand-rolling the agent loop on raw Bedrock 'to stay flexible'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325880" y="53949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rebuilding Strands. Just use Strands.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72200" y="4892040"/>
            <a:ext cx="5559552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5074920"/>
            <a:ext cx="502920" cy="50292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40880" y="5056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frameworks in one codebase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040880" y="53949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orchestration layer. Mixing destroys traceability.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43600" y="6537960"/>
            <a:ext cx="5788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vs LangGraph · Half 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2 RECAP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statements you can defend out loud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tomorrow's posture change — students build alongside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31720"/>
            <a:ext cx="1127455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2316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00200" y="242316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Strands = model-driven, AWS-origin, fast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269748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Single-agent, no shared state, no HITL. Use when the workflow is 'call tools until done.'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1127455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9184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600200" y="329184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 = explicit state, explicit control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356616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state is shared across 3+ steps, when HITL is needed, or when multi-agent coordination is complex.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1127455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16052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600200" y="416052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LangChain = utility library, never orchestration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44348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inside Strands or LangGraph for prompt templates, parsers, document loaders.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5029200"/>
            <a:ext cx="11274552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120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TOMORROW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5440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access provisioned. Students build alongside.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will: design tool contracts, register tools in the gateway, build an agent that invokes flight_tools, hotel_tools, loyalty_tools.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Anchor: UC-A1 booking-exception handler — your Day 1 PRD becomes real code. Framework: Strands (per Case Study 1).
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Bring: laptop · AWS console access · your Day 1 PRD/HLD sketch.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6537960"/>
            <a:ext cx="5788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vs LangGraph · Half 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0" cy="3657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Quiz · 10 questions · 7 minutes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Kahoot-style · leaderboard on · top 3 called out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11274552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51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(foundations) + Day 2 (Bedrock, AgentCore, Strands, LangGraph)  ·  Difficulty calibrated to senior architects + PMs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QUESTIONS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1127455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4904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3749040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workflow has 5 steps and a manager approval before step 4. Best fit?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251960"/>
            <a:ext cx="1127455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25196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NOT an AgentCore primitive?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754880"/>
            <a:ext cx="1127455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75488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4754880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workflow: Strands = 18 lines, LangGraph = 47 lines. The 47 lines buy you?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257800"/>
            <a:ext cx="1127455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25780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5257800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a 7-step multi-agent flow built on LangChain AgentExecutor. Your call?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10-question pack and answers in the trainer quiz workbook (.xlsx) — separate deliverable.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0" y="6537960"/>
            <a:ext cx="5788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vs LangGraph · Half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 Half 2 — Strands vs LangGraph</dc:title>
  <dc:subject>PptxGenJS Presentation</dc:subject>
  <dc:creator>PptxGenJS</dc:creator>
  <cp:lastModifiedBy>PptxGenJS</cp:lastModifiedBy>
  <cp:revision>1</cp:revision>
  <dcterms:created xsi:type="dcterms:W3CDTF">2026-05-12T03:22:42Z</dcterms:created>
  <dcterms:modified xsi:type="dcterms:W3CDTF">2026-05-12T03:22:42Z</dcterms:modified>
</cp:coreProperties>
</file>