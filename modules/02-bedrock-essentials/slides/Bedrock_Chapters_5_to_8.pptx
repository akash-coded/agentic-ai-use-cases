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905695" y="0"/>
            <a:ext cx="2286000" cy="54864"/>
          </a:xfrm>
          <a:prstGeom prst="rect">
            <a:avLst/>
          </a:prstGeom>
          <a:solidFill>
            <a:srgbClr val="B45309"/>
          </a:solidFill>
          <a:ln w="12700">
            <a:solidFill>
              <a:srgbClr val="B45309"/>
            </a:solidFill>
            <a:prstDash val="solid"/>
          </a:ln>
        </p:spPr>
      </p:sp>
      <p:sp>
        <p:nvSpPr>
          <p:cNvPr id="3" name="Text 1"/>
          <p:cNvSpPr/>
          <p:nvPr/>
        </p:nvSpPr>
        <p:spPr>
          <a:xfrm>
            <a:off x="731520" y="2011680"/>
            <a:ext cx="7315200" cy="274320"/>
          </a:xfrm>
          <a:prstGeom prst="rect">
            <a:avLst/>
          </a:prstGeom>
          <a:noFill/>
          <a:ln/>
        </p:spPr>
        <p:txBody>
          <a:bodyPr wrap="square" lIns="0" tIns="0" rIns="0" bIns="0" rtlCol="0" anchor="ctr"/>
          <a:lstStyle/>
          <a:p>
            <a:pPr indent="0" marL="0">
              <a:buNone/>
            </a:pPr>
            <a:r>
              <a:rPr lang="en-US" sz="1100" b="1" spc="500" kern="0" dirty="0">
                <a:solidFill>
                  <a:srgbClr val="B45309"/>
                </a:solidFill>
                <a:latin typeface="Calibri" pitchFamily="34" charset="0"/>
                <a:ea typeface="Calibri" pitchFamily="34" charset="-122"/>
                <a:cs typeface="Calibri" pitchFamily="34" charset="-120"/>
              </a:rPr>
              <a:t>CHAPTERS 5 – 8</a:t>
            </a:r>
            <a:endParaRPr lang="en-US" sz="1100" dirty="0"/>
          </a:p>
        </p:txBody>
      </p:sp>
      <p:sp>
        <p:nvSpPr>
          <p:cNvPr id="4" name="Text 2"/>
          <p:cNvSpPr/>
          <p:nvPr/>
        </p:nvSpPr>
        <p:spPr>
          <a:xfrm>
            <a:off x="731520" y="2423160"/>
            <a:ext cx="10515600" cy="868680"/>
          </a:xfrm>
          <a:prstGeom prst="rect">
            <a:avLst/>
          </a:prstGeom>
          <a:noFill/>
          <a:ln/>
        </p:spPr>
        <p:txBody>
          <a:bodyPr wrap="square" lIns="0" tIns="0" rIns="0" bIns="0" rtlCol="0" anchor="ctr"/>
          <a:lstStyle/>
          <a:p>
            <a:pPr indent="0" marL="0">
              <a:buNone/>
            </a:pPr>
            <a:r>
              <a:rPr lang="en-US" sz="5200" b="1" dirty="0">
                <a:solidFill>
                  <a:srgbClr val="0F172A"/>
                </a:solidFill>
                <a:latin typeface="Georgia" pitchFamily="34" charset="0"/>
                <a:ea typeface="Georgia" pitchFamily="34" charset="-122"/>
                <a:cs typeface="Georgia" pitchFamily="34" charset="-120"/>
              </a:rPr>
              <a:t>Amazon Bedrock for Beginners</a:t>
            </a:r>
            <a:endParaRPr lang="en-US" sz="5200" dirty="0"/>
          </a:p>
        </p:txBody>
      </p:sp>
      <p:sp>
        <p:nvSpPr>
          <p:cNvPr id="5" name="Text 3"/>
          <p:cNvSpPr/>
          <p:nvPr/>
        </p:nvSpPr>
        <p:spPr>
          <a:xfrm>
            <a:off x="731520" y="3383280"/>
            <a:ext cx="10515600" cy="640080"/>
          </a:xfrm>
          <a:prstGeom prst="rect">
            <a:avLst/>
          </a:prstGeom>
          <a:noFill/>
          <a:ln/>
        </p:spPr>
        <p:txBody>
          <a:bodyPr wrap="square" lIns="0" tIns="0" rIns="0" bIns="0" rtlCol="0" anchor="ctr"/>
          <a:lstStyle/>
          <a:p>
            <a:pPr indent="0" marL="0">
              <a:buNone/>
            </a:pPr>
            <a:r>
              <a:rPr lang="en-US" sz="3600" i="1" dirty="0">
                <a:solidFill>
                  <a:srgbClr val="B45309"/>
                </a:solidFill>
                <a:latin typeface="Georgia" pitchFamily="34" charset="0"/>
                <a:ea typeface="Georgia" pitchFamily="34" charset="-122"/>
                <a:cs typeface="Georgia" pitchFamily="34" charset="-120"/>
              </a:rPr>
              <a:t>From Tool Use to a Working Agent</a:t>
            </a:r>
            <a:endParaRPr lang="en-US" sz="3600" dirty="0"/>
          </a:p>
        </p:txBody>
      </p:sp>
      <p:sp>
        <p:nvSpPr>
          <p:cNvPr id="6" name="Shape 4"/>
          <p:cNvSpPr/>
          <p:nvPr/>
        </p:nvSpPr>
        <p:spPr>
          <a:xfrm>
            <a:off x="731520" y="4251960"/>
            <a:ext cx="3657600" cy="0"/>
          </a:xfrm>
          <a:prstGeom prst="line">
            <a:avLst/>
          </a:prstGeom>
          <a:noFill/>
          <a:ln w="19050">
            <a:solidFill>
              <a:srgbClr val="0F172A"/>
            </a:solidFill>
            <a:prstDash val="solid"/>
          </a:ln>
        </p:spPr>
      </p:sp>
      <p:sp>
        <p:nvSpPr>
          <p:cNvPr id="7" name="Text 5"/>
          <p:cNvSpPr/>
          <p:nvPr/>
        </p:nvSpPr>
        <p:spPr>
          <a:xfrm>
            <a:off x="731520" y="4434840"/>
            <a:ext cx="10515600" cy="457200"/>
          </a:xfrm>
          <a:prstGeom prst="rect">
            <a:avLst/>
          </a:prstGeom>
          <a:noFill/>
          <a:ln/>
        </p:spPr>
        <p:txBody>
          <a:bodyPr wrap="square" lIns="0" tIns="0" rIns="0" bIns="0"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We extend the model's capabilities: let it call your code, give it your data, add safety, then collapse the plumbing.</a:t>
            </a:r>
            <a:endParaRPr lang="en-US" sz="1600" dirty="0"/>
          </a:p>
        </p:txBody>
      </p:sp>
      <p:sp>
        <p:nvSpPr>
          <p:cNvPr id="8" name="Text 6"/>
          <p:cNvSpPr/>
          <p:nvPr/>
        </p:nvSpPr>
        <p:spPr>
          <a:xfrm>
            <a:off x="731520" y="5349240"/>
            <a:ext cx="2606040" cy="320040"/>
          </a:xfrm>
          <a:prstGeom prst="rect">
            <a:avLst/>
          </a:prstGeom>
          <a:noFill/>
          <a:ln/>
        </p:spPr>
        <p:txBody>
          <a:bodyPr wrap="square" lIns="0" tIns="0" rIns="0" bIns="0" rtlCol="0" anchor="ctr"/>
          <a:lstStyle/>
          <a:p>
            <a:pPr indent="0" marL="0">
              <a:buNone/>
            </a:pPr>
            <a:r>
              <a:rPr lang="en-US" sz="1100" b="1" spc="150" kern="0" dirty="0">
                <a:solidFill>
                  <a:srgbClr val="64748B"/>
                </a:solidFill>
                <a:latin typeface="Calibri" pitchFamily="34" charset="0"/>
                <a:ea typeface="Calibri" pitchFamily="34" charset="-122"/>
                <a:cs typeface="Calibri" pitchFamily="34" charset="-120"/>
              </a:rPr>
              <a:t>5 · Tool use</a:t>
            </a:r>
            <a:endParaRPr lang="en-US" sz="1100" dirty="0"/>
          </a:p>
        </p:txBody>
      </p:sp>
      <p:sp>
        <p:nvSpPr>
          <p:cNvPr id="9" name="Text 7"/>
          <p:cNvSpPr/>
          <p:nvPr/>
        </p:nvSpPr>
        <p:spPr>
          <a:xfrm>
            <a:off x="3429000" y="5349240"/>
            <a:ext cx="2606040" cy="320040"/>
          </a:xfrm>
          <a:prstGeom prst="rect">
            <a:avLst/>
          </a:prstGeom>
          <a:noFill/>
          <a:ln/>
        </p:spPr>
        <p:txBody>
          <a:bodyPr wrap="square" lIns="0" tIns="0" rIns="0" bIns="0" rtlCol="0" anchor="ctr"/>
          <a:lstStyle/>
          <a:p>
            <a:pPr indent="0" marL="0">
              <a:buNone/>
            </a:pPr>
            <a:r>
              <a:rPr lang="en-US" sz="1100" b="1" spc="150" kern="0" dirty="0">
                <a:solidFill>
                  <a:srgbClr val="64748B"/>
                </a:solidFill>
                <a:latin typeface="Calibri" pitchFamily="34" charset="0"/>
                <a:ea typeface="Calibri" pitchFamily="34" charset="-122"/>
                <a:cs typeface="Calibri" pitchFamily="34" charset="-120"/>
              </a:rPr>
              <a:t>6 · Knowledge Bases</a:t>
            </a:r>
            <a:endParaRPr lang="en-US" sz="1100" dirty="0"/>
          </a:p>
        </p:txBody>
      </p:sp>
      <p:sp>
        <p:nvSpPr>
          <p:cNvPr id="10" name="Text 8"/>
          <p:cNvSpPr/>
          <p:nvPr/>
        </p:nvSpPr>
        <p:spPr>
          <a:xfrm>
            <a:off x="6126480" y="5349240"/>
            <a:ext cx="2606040" cy="320040"/>
          </a:xfrm>
          <a:prstGeom prst="rect">
            <a:avLst/>
          </a:prstGeom>
          <a:noFill/>
          <a:ln/>
        </p:spPr>
        <p:txBody>
          <a:bodyPr wrap="square" lIns="0" tIns="0" rIns="0" bIns="0" rtlCol="0" anchor="ctr"/>
          <a:lstStyle/>
          <a:p>
            <a:pPr indent="0" marL="0">
              <a:buNone/>
            </a:pPr>
            <a:r>
              <a:rPr lang="en-US" sz="1100" b="1" spc="150" kern="0" dirty="0">
                <a:solidFill>
                  <a:srgbClr val="64748B"/>
                </a:solidFill>
                <a:latin typeface="Calibri" pitchFamily="34" charset="0"/>
                <a:ea typeface="Calibri" pitchFamily="34" charset="-122"/>
                <a:cs typeface="Calibri" pitchFamily="34" charset="-120"/>
              </a:rPr>
              <a:t>7 · Guardrails</a:t>
            </a:r>
            <a:endParaRPr lang="en-US" sz="1100" dirty="0"/>
          </a:p>
        </p:txBody>
      </p:sp>
      <p:sp>
        <p:nvSpPr>
          <p:cNvPr id="11" name="Text 9"/>
          <p:cNvSpPr/>
          <p:nvPr/>
        </p:nvSpPr>
        <p:spPr>
          <a:xfrm>
            <a:off x="8823960" y="5349240"/>
            <a:ext cx="2606040" cy="320040"/>
          </a:xfrm>
          <a:prstGeom prst="rect">
            <a:avLst/>
          </a:prstGeom>
          <a:noFill/>
          <a:ln/>
        </p:spPr>
        <p:txBody>
          <a:bodyPr wrap="square" lIns="0" tIns="0" rIns="0" bIns="0" rtlCol="0" anchor="ctr"/>
          <a:lstStyle/>
          <a:p>
            <a:pPr indent="0" marL="0">
              <a:buNone/>
            </a:pPr>
            <a:r>
              <a:rPr lang="en-US" sz="1100" b="1" spc="150" kern="0" dirty="0">
                <a:solidFill>
                  <a:srgbClr val="64748B"/>
                </a:solidFill>
                <a:latin typeface="Calibri" pitchFamily="34" charset="0"/>
                <a:ea typeface="Calibri" pitchFamily="34" charset="-122"/>
                <a:cs typeface="Calibri" pitchFamily="34" charset="-120"/>
              </a:rPr>
              <a:t>8 · Strands Agents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5 · THE PROBLEM</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5</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The limit of “text in, text out”</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Everything so far has been a one-way response from the model's training data. Real apps need more.</a:t>
            </a:r>
            <a:endParaRPr lang="en-US" sz="1400" dirty="0"/>
          </a:p>
        </p:txBody>
      </p:sp>
      <p:sp>
        <p:nvSpPr>
          <p:cNvPr id="9" name="Shape 7"/>
          <p:cNvSpPr/>
          <p:nvPr/>
        </p:nvSpPr>
        <p:spPr>
          <a:xfrm>
            <a:off x="502920" y="2194560"/>
            <a:ext cx="11185855" cy="868680"/>
          </a:xfrm>
          <a:prstGeom prst="rect">
            <a:avLst/>
          </a:prstGeom>
          <a:solidFill>
            <a:srgbClr val="F8FAFC"/>
          </a:solidFill>
          <a:ln w="6350">
            <a:solidFill>
              <a:srgbClr val="E2E8F0"/>
            </a:solidFill>
            <a:prstDash val="solid"/>
          </a:ln>
        </p:spPr>
      </p:sp>
      <p:sp>
        <p:nvSpPr>
          <p:cNvPr id="10" name="Shape 8"/>
          <p:cNvSpPr/>
          <p:nvPr/>
        </p:nvSpPr>
        <p:spPr>
          <a:xfrm>
            <a:off x="502920" y="2194560"/>
            <a:ext cx="54864" cy="868680"/>
          </a:xfrm>
          <a:prstGeom prst="rect">
            <a:avLst/>
          </a:prstGeom>
          <a:solidFill>
            <a:srgbClr val="B91C1C"/>
          </a:solidFill>
          <a:ln w="12700">
            <a:solidFill>
              <a:srgbClr val="B91C1C"/>
            </a:solidFill>
            <a:prstDash val="solid"/>
          </a:ln>
        </p:spPr>
      </p:sp>
      <p:sp>
        <p:nvSpPr>
          <p:cNvPr id="11" name="Text 9"/>
          <p:cNvSpPr/>
          <p:nvPr/>
        </p:nvSpPr>
        <p:spPr>
          <a:xfrm>
            <a:off x="777240" y="2331720"/>
            <a:ext cx="10728655" cy="32004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Knowledge cutoff</a:t>
            </a:r>
            <a:endParaRPr lang="en-US" sz="2000" dirty="0"/>
          </a:p>
        </p:txBody>
      </p:sp>
      <p:sp>
        <p:nvSpPr>
          <p:cNvPr id="12" name="Text 10"/>
          <p:cNvSpPr/>
          <p:nvPr/>
        </p:nvSpPr>
        <p:spPr>
          <a:xfrm>
            <a:off x="777240" y="2651760"/>
            <a:ext cx="10728655" cy="36576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The model only knows what existed when it was trained. Nothing after.</a:t>
            </a:r>
            <a:endParaRPr lang="en-US" sz="1300" dirty="0"/>
          </a:p>
        </p:txBody>
      </p:sp>
      <p:sp>
        <p:nvSpPr>
          <p:cNvPr id="13" name="Shape 11"/>
          <p:cNvSpPr/>
          <p:nvPr/>
        </p:nvSpPr>
        <p:spPr>
          <a:xfrm>
            <a:off x="502920" y="3200400"/>
            <a:ext cx="11185855" cy="868680"/>
          </a:xfrm>
          <a:prstGeom prst="rect">
            <a:avLst/>
          </a:prstGeom>
          <a:solidFill>
            <a:srgbClr val="F8FAFC"/>
          </a:solidFill>
          <a:ln w="6350">
            <a:solidFill>
              <a:srgbClr val="E2E8F0"/>
            </a:solidFill>
            <a:prstDash val="solid"/>
          </a:ln>
        </p:spPr>
      </p:sp>
      <p:sp>
        <p:nvSpPr>
          <p:cNvPr id="14" name="Shape 12"/>
          <p:cNvSpPr/>
          <p:nvPr/>
        </p:nvSpPr>
        <p:spPr>
          <a:xfrm>
            <a:off x="502920" y="3200400"/>
            <a:ext cx="54864" cy="868680"/>
          </a:xfrm>
          <a:prstGeom prst="rect">
            <a:avLst/>
          </a:prstGeom>
          <a:solidFill>
            <a:srgbClr val="B91C1C"/>
          </a:solidFill>
          <a:ln w="12700">
            <a:solidFill>
              <a:srgbClr val="B91C1C"/>
            </a:solidFill>
            <a:prstDash val="solid"/>
          </a:ln>
        </p:spPr>
      </p:sp>
      <p:sp>
        <p:nvSpPr>
          <p:cNvPr id="15" name="Text 13"/>
          <p:cNvSpPr/>
          <p:nvPr/>
        </p:nvSpPr>
        <p:spPr>
          <a:xfrm>
            <a:off x="777240" y="3337560"/>
            <a:ext cx="10728655" cy="32004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No access to live data</a:t>
            </a:r>
            <a:endParaRPr lang="en-US" sz="2000" dirty="0"/>
          </a:p>
        </p:txBody>
      </p:sp>
      <p:sp>
        <p:nvSpPr>
          <p:cNvPr id="16" name="Text 14"/>
          <p:cNvSpPr/>
          <p:nvPr/>
        </p:nvSpPr>
        <p:spPr>
          <a:xfrm>
            <a:off x="777240" y="3657600"/>
            <a:ext cx="10728655" cy="36576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Today's weather. Current stock price. Your database. The model has none of it.</a:t>
            </a:r>
            <a:endParaRPr lang="en-US" sz="1300" dirty="0"/>
          </a:p>
        </p:txBody>
      </p:sp>
      <p:sp>
        <p:nvSpPr>
          <p:cNvPr id="17" name="Shape 15"/>
          <p:cNvSpPr/>
          <p:nvPr/>
        </p:nvSpPr>
        <p:spPr>
          <a:xfrm>
            <a:off x="502920" y="4206240"/>
            <a:ext cx="11185855" cy="868680"/>
          </a:xfrm>
          <a:prstGeom prst="rect">
            <a:avLst/>
          </a:prstGeom>
          <a:solidFill>
            <a:srgbClr val="F8FAFC"/>
          </a:solidFill>
          <a:ln w="6350">
            <a:solidFill>
              <a:srgbClr val="E2E8F0"/>
            </a:solidFill>
            <a:prstDash val="solid"/>
          </a:ln>
        </p:spPr>
      </p:sp>
      <p:sp>
        <p:nvSpPr>
          <p:cNvPr id="18" name="Shape 16"/>
          <p:cNvSpPr/>
          <p:nvPr/>
        </p:nvSpPr>
        <p:spPr>
          <a:xfrm>
            <a:off x="502920" y="4206240"/>
            <a:ext cx="54864" cy="868680"/>
          </a:xfrm>
          <a:prstGeom prst="rect">
            <a:avLst/>
          </a:prstGeom>
          <a:solidFill>
            <a:srgbClr val="B91C1C"/>
          </a:solidFill>
          <a:ln w="12700">
            <a:solidFill>
              <a:srgbClr val="B91C1C"/>
            </a:solidFill>
            <a:prstDash val="solid"/>
          </a:ln>
        </p:spPr>
      </p:sp>
      <p:sp>
        <p:nvSpPr>
          <p:cNvPr id="19" name="Text 17"/>
          <p:cNvSpPr/>
          <p:nvPr/>
        </p:nvSpPr>
        <p:spPr>
          <a:xfrm>
            <a:off x="777240" y="4343400"/>
            <a:ext cx="10728655" cy="32004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Can't take actions</a:t>
            </a:r>
            <a:endParaRPr lang="en-US" sz="2000" dirty="0"/>
          </a:p>
        </p:txBody>
      </p:sp>
      <p:sp>
        <p:nvSpPr>
          <p:cNvPr id="20" name="Text 18"/>
          <p:cNvSpPr/>
          <p:nvPr/>
        </p:nvSpPr>
        <p:spPr>
          <a:xfrm>
            <a:off x="777240" y="4663440"/>
            <a:ext cx="10728655" cy="36576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Book a flight. Send an email. Write to a file. The model cannot. By itself.</a:t>
            </a:r>
            <a:endParaRPr lang="en-US" sz="1300" dirty="0"/>
          </a:p>
        </p:txBody>
      </p:sp>
      <p:sp>
        <p:nvSpPr>
          <p:cNvPr id="21" name="Shape 19"/>
          <p:cNvSpPr/>
          <p:nvPr/>
        </p:nvSpPr>
        <p:spPr>
          <a:xfrm>
            <a:off x="502920" y="5486400"/>
            <a:ext cx="11185855" cy="777240"/>
          </a:xfrm>
          <a:prstGeom prst="rect">
            <a:avLst/>
          </a:prstGeom>
          <a:solidFill>
            <a:srgbClr val="F1F5F9"/>
          </a:solidFill>
          <a:ln w="12700">
            <a:solidFill>
              <a:srgbClr val="F1F5F9"/>
            </a:solidFill>
            <a:prstDash val="solid"/>
          </a:ln>
        </p:spPr>
      </p:sp>
      <p:sp>
        <p:nvSpPr>
          <p:cNvPr id="22" name="Shape 20"/>
          <p:cNvSpPr/>
          <p:nvPr/>
        </p:nvSpPr>
        <p:spPr>
          <a:xfrm>
            <a:off x="502920" y="5486400"/>
            <a:ext cx="45720" cy="777240"/>
          </a:xfrm>
          <a:prstGeom prst="rect">
            <a:avLst/>
          </a:prstGeom>
          <a:solidFill>
            <a:srgbClr val="B45309"/>
          </a:solidFill>
          <a:ln w="12700">
            <a:solidFill>
              <a:srgbClr val="B45309"/>
            </a:solidFill>
            <a:prstDash val="solid"/>
          </a:ln>
        </p:spPr>
      </p:sp>
      <p:sp>
        <p:nvSpPr>
          <p:cNvPr id="23" name="Text 21"/>
          <p:cNvSpPr/>
          <p:nvPr/>
        </p:nvSpPr>
        <p:spPr>
          <a:xfrm>
            <a:off x="685800" y="557784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WHY THIS MATTERS</a:t>
            </a:r>
            <a:endParaRPr lang="en-US" sz="900" dirty="0"/>
          </a:p>
        </p:txBody>
      </p:sp>
      <p:sp>
        <p:nvSpPr>
          <p:cNvPr id="24" name="Text 22"/>
          <p:cNvSpPr/>
          <p:nvPr/>
        </p:nvSpPr>
        <p:spPr>
          <a:xfrm>
            <a:off x="685800" y="5779008"/>
            <a:ext cx="10911535" cy="39319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"What's the weather in Seattle right now?" cannot work with the model alone. We need to give it a way to talk to the real world. That's tool use.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5 · DEFINITION</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5</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Tool use — functions the model can request</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single most important pattern in modern AI applications.</a:t>
            </a:r>
            <a:endParaRPr lang="en-US" sz="1400" dirty="0"/>
          </a:p>
        </p:txBody>
      </p:sp>
      <p:sp>
        <p:nvSpPr>
          <p:cNvPr id="9" name="Shape 7"/>
          <p:cNvSpPr/>
          <p:nvPr/>
        </p:nvSpPr>
        <p:spPr>
          <a:xfrm>
            <a:off x="502920" y="2011680"/>
            <a:ext cx="11185855" cy="1005840"/>
          </a:xfrm>
          <a:prstGeom prst="rect">
            <a:avLst/>
          </a:prstGeom>
          <a:solidFill>
            <a:srgbClr val="FEF3C7"/>
          </a:solidFill>
          <a:ln w="12700">
            <a:solidFill>
              <a:srgbClr val="B45309"/>
            </a:solidFill>
            <a:prstDash val="solid"/>
          </a:ln>
        </p:spPr>
      </p:sp>
      <p:sp>
        <p:nvSpPr>
          <p:cNvPr id="10" name="Shape 8"/>
          <p:cNvSpPr/>
          <p:nvPr/>
        </p:nvSpPr>
        <p:spPr>
          <a:xfrm>
            <a:off x="502920" y="2011680"/>
            <a:ext cx="73152" cy="1005840"/>
          </a:xfrm>
          <a:prstGeom prst="rect">
            <a:avLst/>
          </a:prstGeom>
          <a:solidFill>
            <a:srgbClr val="B45309"/>
          </a:solidFill>
          <a:ln w="12700">
            <a:solidFill>
              <a:srgbClr val="B45309"/>
            </a:solidFill>
            <a:prstDash val="solid"/>
          </a:ln>
        </p:spPr>
      </p:sp>
      <p:sp>
        <p:nvSpPr>
          <p:cNvPr id="11" name="Text 9"/>
          <p:cNvSpPr/>
          <p:nvPr/>
        </p:nvSpPr>
        <p:spPr>
          <a:xfrm>
            <a:off x="731520" y="2011680"/>
            <a:ext cx="10911535" cy="1005840"/>
          </a:xfrm>
          <a:prstGeom prst="rect">
            <a:avLst/>
          </a:prstGeom>
          <a:noFill/>
          <a:ln/>
        </p:spPr>
        <p:txBody>
          <a:bodyPr wrap="square" lIns="0" tIns="0" rIns="0" bIns="0" rtlCol="0" anchor="ctr"/>
          <a:lstStyle/>
          <a:p>
            <a:pPr indent="0" marL="0">
              <a:buNone/>
            </a:pPr>
            <a:r>
              <a:rPr lang="en-US" sz="2000" i="1" dirty="0">
                <a:solidFill>
                  <a:srgbClr val="0F172A"/>
                </a:solidFill>
                <a:latin typeface="Georgia" pitchFamily="34" charset="0"/>
                <a:ea typeface="Georgia" pitchFamily="34" charset="-122"/>
                <a:cs typeface="Georgia" pitchFamily="34" charset="-120"/>
              </a:rPr>
              <a:t>Tools are functions that the model can request your application to run, in order to interact with external systems.</a:t>
            </a:r>
            <a:endParaRPr lang="en-US" sz="2000" dirty="0"/>
          </a:p>
        </p:txBody>
      </p:sp>
      <p:sp>
        <p:nvSpPr>
          <p:cNvPr id="12" name="Shape 10"/>
          <p:cNvSpPr/>
          <p:nvPr/>
        </p:nvSpPr>
        <p:spPr>
          <a:xfrm>
            <a:off x="502920" y="3246120"/>
            <a:ext cx="11185855" cy="960120"/>
          </a:xfrm>
          <a:prstGeom prst="rect">
            <a:avLst/>
          </a:prstGeom>
          <a:solidFill>
            <a:srgbClr val="0F172A"/>
          </a:solidFill>
          <a:ln w="12700">
            <a:solidFill>
              <a:srgbClr val="0F172A"/>
            </a:solidFill>
            <a:prstDash val="solid"/>
          </a:ln>
        </p:spPr>
      </p:sp>
      <p:sp>
        <p:nvSpPr>
          <p:cNvPr id="13" name="Text 11"/>
          <p:cNvSpPr/>
          <p:nvPr/>
        </p:nvSpPr>
        <p:spPr>
          <a:xfrm>
            <a:off x="777240" y="3337560"/>
            <a:ext cx="10728655" cy="3657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The model does NOT execute tools itself.</a:t>
            </a:r>
            <a:endParaRPr lang="en-US" sz="2000" dirty="0"/>
          </a:p>
        </p:txBody>
      </p:sp>
      <p:sp>
        <p:nvSpPr>
          <p:cNvPr id="14" name="Text 12"/>
          <p:cNvSpPr/>
          <p:nvPr/>
        </p:nvSpPr>
        <p:spPr>
          <a:xfrm>
            <a:off x="777240" y="3703320"/>
            <a:ext cx="10728655" cy="457200"/>
          </a:xfrm>
          <a:prstGeom prst="rect">
            <a:avLst/>
          </a:prstGeom>
          <a:noFill/>
          <a:ln/>
        </p:spPr>
        <p:txBody>
          <a:bodyPr wrap="square" lIns="0" tIns="0" rIns="0" bIns="0" rtlCol="0" anchor="ctr"/>
          <a:lstStyle/>
          <a:p>
            <a:pPr indent="0" marL="0">
              <a:buNone/>
            </a:pPr>
            <a:r>
              <a:rPr lang="en-US" sz="1300" i="1" dirty="0">
                <a:solidFill>
                  <a:srgbClr val="E2E8F0"/>
                </a:solidFill>
                <a:latin typeface="Calibri" pitchFamily="34" charset="0"/>
                <a:ea typeface="Calibri" pitchFamily="34" charset="-122"/>
                <a:cs typeface="Calibri" pitchFamily="34" charset="-120"/>
              </a:rPr>
              <a:t>It sends a structured request — "I want to call this function with these arguments." Your code runs it.</a:t>
            </a:r>
            <a:endParaRPr lang="en-US" sz="1300" dirty="0"/>
          </a:p>
        </p:txBody>
      </p:sp>
      <p:sp>
        <p:nvSpPr>
          <p:cNvPr id="15" name="Text 13"/>
          <p:cNvSpPr/>
          <p:nvPr/>
        </p:nvSpPr>
        <p:spPr>
          <a:xfrm>
            <a:off x="502920" y="4434840"/>
            <a:ext cx="11185855"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EVERY ONE OF THESE IS TOOL USE</a:t>
            </a:r>
            <a:endParaRPr lang="en-US" sz="1000" dirty="0"/>
          </a:p>
        </p:txBody>
      </p:sp>
      <p:sp>
        <p:nvSpPr>
          <p:cNvPr id="16" name="Text 14"/>
          <p:cNvSpPr/>
          <p:nvPr/>
        </p:nvSpPr>
        <p:spPr>
          <a:xfrm>
            <a:off x="777240" y="4754880"/>
            <a:ext cx="7315200" cy="29260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  A chatbot that searches the web for you</a:t>
            </a:r>
            <a:endParaRPr lang="en-US" sz="1300" dirty="0"/>
          </a:p>
        </p:txBody>
      </p:sp>
      <p:sp>
        <p:nvSpPr>
          <p:cNvPr id="17" name="Shape 15"/>
          <p:cNvSpPr/>
          <p:nvPr/>
        </p:nvSpPr>
        <p:spPr>
          <a:xfrm>
            <a:off x="8686800" y="4791456"/>
            <a:ext cx="2743200" cy="256032"/>
          </a:xfrm>
          <a:prstGeom prst="roundRect">
            <a:avLst>
              <a:gd name="adj" fmla="val 14286"/>
            </a:avLst>
          </a:prstGeom>
          <a:solidFill>
            <a:srgbClr val="FEF3C7"/>
          </a:solidFill>
          <a:ln w="12700">
            <a:solidFill>
              <a:srgbClr val="B45309"/>
            </a:solidFill>
            <a:prstDash val="solid"/>
          </a:ln>
        </p:spPr>
      </p:sp>
      <p:sp>
        <p:nvSpPr>
          <p:cNvPr id="18" name="Text 16"/>
          <p:cNvSpPr/>
          <p:nvPr/>
        </p:nvSpPr>
        <p:spPr>
          <a:xfrm>
            <a:off x="8686800" y="4791456"/>
            <a:ext cx="2743200" cy="256032"/>
          </a:xfrm>
          <a:prstGeom prst="rect">
            <a:avLst/>
          </a:prstGeom>
          <a:noFill/>
          <a:ln/>
        </p:spPr>
        <p:txBody>
          <a:bodyPr wrap="square" lIns="0" tIns="0" rIns="0" bIns="0" rtlCol="0" anchor="ctr"/>
          <a:lstStyle/>
          <a:p>
            <a:pPr algn="ctr" indent="0" marL="0">
              <a:buNone/>
            </a:pPr>
            <a:r>
              <a:rPr lang="en-US" sz="950" b="1" dirty="0">
                <a:solidFill>
                  <a:srgbClr val="B45309"/>
                </a:solidFill>
                <a:latin typeface="Calibri" pitchFamily="34" charset="0"/>
                <a:ea typeface="Calibri" pitchFamily="34" charset="-122"/>
                <a:cs typeface="Calibri" pitchFamily="34" charset="-120"/>
              </a:rPr>
              <a:t>web search tool</a:t>
            </a:r>
            <a:endParaRPr lang="en-US" sz="950" dirty="0"/>
          </a:p>
        </p:txBody>
      </p:sp>
      <p:sp>
        <p:nvSpPr>
          <p:cNvPr id="19" name="Text 17"/>
          <p:cNvSpPr/>
          <p:nvPr/>
        </p:nvSpPr>
        <p:spPr>
          <a:xfrm>
            <a:off x="777240" y="5166360"/>
            <a:ext cx="7315200" cy="29260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  A coding assistant that reads files from disk</a:t>
            </a:r>
            <a:endParaRPr lang="en-US" sz="1300" dirty="0"/>
          </a:p>
        </p:txBody>
      </p:sp>
      <p:sp>
        <p:nvSpPr>
          <p:cNvPr id="20" name="Shape 18"/>
          <p:cNvSpPr/>
          <p:nvPr/>
        </p:nvSpPr>
        <p:spPr>
          <a:xfrm>
            <a:off x="8686800" y="5202936"/>
            <a:ext cx="2743200" cy="256032"/>
          </a:xfrm>
          <a:prstGeom prst="roundRect">
            <a:avLst>
              <a:gd name="adj" fmla="val 14286"/>
            </a:avLst>
          </a:prstGeom>
          <a:solidFill>
            <a:srgbClr val="FEF3C7"/>
          </a:solidFill>
          <a:ln w="12700">
            <a:solidFill>
              <a:srgbClr val="B45309"/>
            </a:solidFill>
            <a:prstDash val="solid"/>
          </a:ln>
        </p:spPr>
      </p:sp>
      <p:sp>
        <p:nvSpPr>
          <p:cNvPr id="21" name="Text 19"/>
          <p:cNvSpPr/>
          <p:nvPr/>
        </p:nvSpPr>
        <p:spPr>
          <a:xfrm>
            <a:off x="8686800" y="5202936"/>
            <a:ext cx="2743200" cy="256032"/>
          </a:xfrm>
          <a:prstGeom prst="rect">
            <a:avLst/>
          </a:prstGeom>
          <a:noFill/>
          <a:ln/>
        </p:spPr>
        <p:txBody>
          <a:bodyPr wrap="square" lIns="0" tIns="0" rIns="0" bIns="0" rtlCol="0" anchor="ctr"/>
          <a:lstStyle/>
          <a:p>
            <a:pPr algn="ctr" indent="0" marL="0">
              <a:buNone/>
            </a:pPr>
            <a:r>
              <a:rPr lang="en-US" sz="950" b="1" dirty="0">
                <a:solidFill>
                  <a:srgbClr val="B45309"/>
                </a:solidFill>
                <a:latin typeface="Calibri" pitchFamily="34" charset="0"/>
                <a:ea typeface="Calibri" pitchFamily="34" charset="-122"/>
                <a:cs typeface="Calibri" pitchFamily="34" charset="-120"/>
              </a:rPr>
              <a:t>file read tool</a:t>
            </a:r>
            <a:endParaRPr lang="en-US" sz="950" dirty="0"/>
          </a:p>
        </p:txBody>
      </p:sp>
      <p:sp>
        <p:nvSpPr>
          <p:cNvPr id="22" name="Text 20"/>
          <p:cNvSpPr/>
          <p:nvPr/>
        </p:nvSpPr>
        <p:spPr>
          <a:xfrm>
            <a:off x="777240" y="5577840"/>
            <a:ext cx="7315200" cy="29260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  A personal assistant that checks your calendar</a:t>
            </a:r>
            <a:endParaRPr lang="en-US" sz="1300" dirty="0"/>
          </a:p>
        </p:txBody>
      </p:sp>
      <p:sp>
        <p:nvSpPr>
          <p:cNvPr id="23" name="Shape 21"/>
          <p:cNvSpPr/>
          <p:nvPr/>
        </p:nvSpPr>
        <p:spPr>
          <a:xfrm>
            <a:off x="8686800" y="5614416"/>
            <a:ext cx="2743200" cy="256032"/>
          </a:xfrm>
          <a:prstGeom prst="roundRect">
            <a:avLst>
              <a:gd name="adj" fmla="val 14286"/>
            </a:avLst>
          </a:prstGeom>
          <a:solidFill>
            <a:srgbClr val="FEF3C7"/>
          </a:solidFill>
          <a:ln w="12700">
            <a:solidFill>
              <a:srgbClr val="B45309"/>
            </a:solidFill>
            <a:prstDash val="solid"/>
          </a:ln>
        </p:spPr>
      </p:sp>
      <p:sp>
        <p:nvSpPr>
          <p:cNvPr id="24" name="Text 22"/>
          <p:cNvSpPr/>
          <p:nvPr/>
        </p:nvSpPr>
        <p:spPr>
          <a:xfrm>
            <a:off x="8686800" y="5614416"/>
            <a:ext cx="2743200" cy="256032"/>
          </a:xfrm>
          <a:prstGeom prst="rect">
            <a:avLst/>
          </a:prstGeom>
          <a:noFill/>
          <a:ln/>
        </p:spPr>
        <p:txBody>
          <a:bodyPr wrap="square" lIns="0" tIns="0" rIns="0" bIns="0" rtlCol="0" anchor="ctr"/>
          <a:lstStyle/>
          <a:p>
            <a:pPr algn="ctr" indent="0" marL="0">
              <a:buNone/>
            </a:pPr>
            <a:r>
              <a:rPr lang="en-US" sz="950" b="1" dirty="0">
                <a:solidFill>
                  <a:srgbClr val="B45309"/>
                </a:solidFill>
                <a:latin typeface="Calibri" pitchFamily="34" charset="0"/>
                <a:ea typeface="Calibri" pitchFamily="34" charset="-122"/>
                <a:cs typeface="Calibri" pitchFamily="34" charset="-120"/>
              </a:rPr>
              <a:t>calendar tool</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5 · THE FLOW</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5</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The tool-use flow — eight steps</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Two API calls. One round trip through your code. The model never crosses into your zone.</a:t>
            </a:r>
            <a:endParaRPr lang="en-US" sz="1400" dirty="0"/>
          </a:p>
        </p:txBody>
      </p:sp>
      <p:sp>
        <p:nvSpPr>
          <p:cNvPr id="9" name="Shape 7"/>
          <p:cNvSpPr/>
          <p:nvPr/>
        </p:nvSpPr>
        <p:spPr>
          <a:xfrm>
            <a:off x="502920" y="2194560"/>
            <a:ext cx="5394960" cy="548640"/>
          </a:xfrm>
          <a:prstGeom prst="rect">
            <a:avLst/>
          </a:prstGeom>
          <a:solidFill>
            <a:srgbClr val="F8FAFC"/>
          </a:solidFill>
          <a:ln w="6350">
            <a:solidFill>
              <a:srgbClr val="E2E8F0"/>
            </a:solidFill>
            <a:prstDash val="solid"/>
          </a:ln>
        </p:spPr>
      </p:sp>
      <p:sp>
        <p:nvSpPr>
          <p:cNvPr id="10" name="Shape 8"/>
          <p:cNvSpPr/>
          <p:nvPr/>
        </p:nvSpPr>
        <p:spPr>
          <a:xfrm>
            <a:off x="640080" y="2286000"/>
            <a:ext cx="365760" cy="365760"/>
          </a:xfrm>
          <a:prstGeom prst="ellipse">
            <a:avLst/>
          </a:prstGeom>
          <a:solidFill>
            <a:srgbClr val="0F172A"/>
          </a:solidFill>
          <a:ln w="12700">
            <a:solidFill>
              <a:srgbClr val="0F172A"/>
            </a:solidFill>
            <a:prstDash val="solid"/>
          </a:ln>
        </p:spPr>
      </p:sp>
      <p:sp>
        <p:nvSpPr>
          <p:cNvPr id="11" name="Text 9"/>
          <p:cNvSpPr/>
          <p:nvPr/>
        </p:nvSpPr>
        <p:spPr>
          <a:xfrm>
            <a:off x="640080" y="228600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2" name="Text 10"/>
          <p:cNvSpPr/>
          <p:nvPr/>
        </p:nvSpPr>
        <p:spPr>
          <a:xfrm>
            <a:off x="1143000" y="2194560"/>
            <a:ext cx="4663440" cy="548640"/>
          </a:xfrm>
          <a:prstGeom prst="rect">
            <a:avLst/>
          </a:prstGeom>
          <a:noFill/>
          <a:ln/>
        </p:spPr>
        <p:txBody>
          <a:bodyPr wrap="square" lIns="0" tIns="0" rIns="0" bIns="0" rtlCol="0" anchor="ctr"/>
          <a:lstStyle/>
          <a:p>
            <a:pPr indent="0" marL="0">
              <a:buNone/>
            </a:pPr>
            <a:r>
              <a:rPr lang="en-US" sz="1300" dirty="0">
                <a:solidFill>
                  <a:srgbClr val="0F172A"/>
                </a:solidFill>
                <a:latin typeface="Georgia" pitchFamily="34" charset="0"/>
                <a:ea typeface="Georgia" pitchFamily="34" charset="-122"/>
                <a:cs typeface="Georgia" pitchFamily="34" charset="-120"/>
              </a:rPr>
              <a:t>Create tools in your code</a:t>
            </a:r>
            <a:endParaRPr lang="en-US" sz="1300" dirty="0"/>
          </a:p>
        </p:txBody>
      </p:sp>
      <p:sp>
        <p:nvSpPr>
          <p:cNvPr id="13" name="Shape 11"/>
          <p:cNvSpPr/>
          <p:nvPr/>
        </p:nvSpPr>
        <p:spPr>
          <a:xfrm>
            <a:off x="502920" y="2834640"/>
            <a:ext cx="5394960" cy="548640"/>
          </a:xfrm>
          <a:prstGeom prst="rect">
            <a:avLst/>
          </a:prstGeom>
          <a:solidFill>
            <a:srgbClr val="F8FAFC"/>
          </a:solidFill>
          <a:ln w="6350">
            <a:solidFill>
              <a:srgbClr val="E2E8F0"/>
            </a:solidFill>
            <a:prstDash val="solid"/>
          </a:ln>
        </p:spPr>
      </p:sp>
      <p:sp>
        <p:nvSpPr>
          <p:cNvPr id="14" name="Shape 12"/>
          <p:cNvSpPr/>
          <p:nvPr/>
        </p:nvSpPr>
        <p:spPr>
          <a:xfrm>
            <a:off x="640080" y="2926080"/>
            <a:ext cx="365760" cy="365760"/>
          </a:xfrm>
          <a:prstGeom prst="ellipse">
            <a:avLst/>
          </a:prstGeom>
          <a:solidFill>
            <a:srgbClr val="0F172A"/>
          </a:solidFill>
          <a:ln w="12700">
            <a:solidFill>
              <a:srgbClr val="0F172A"/>
            </a:solidFill>
            <a:prstDash val="solid"/>
          </a:ln>
        </p:spPr>
      </p:sp>
      <p:sp>
        <p:nvSpPr>
          <p:cNvPr id="15" name="Text 13"/>
          <p:cNvSpPr/>
          <p:nvPr/>
        </p:nvSpPr>
        <p:spPr>
          <a:xfrm>
            <a:off x="640080" y="292608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6" name="Text 14"/>
          <p:cNvSpPr/>
          <p:nvPr/>
        </p:nvSpPr>
        <p:spPr>
          <a:xfrm>
            <a:off x="1143000" y="2834640"/>
            <a:ext cx="4663440" cy="548640"/>
          </a:xfrm>
          <a:prstGeom prst="rect">
            <a:avLst/>
          </a:prstGeom>
          <a:noFill/>
          <a:ln/>
        </p:spPr>
        <p:txBody>
          <a:bodyPr wrap="square" lIns="0" tIns="0" rIns="0" bIns="0" rtlCol="0" anchor="ctr"/>
          <a:lstStyle/>
          <a:p>
            <a:pPr indent="0" marL="0">
              <a:buNone/>
            </a:pPr>
            <a:r>
              <a:rPr lang="en-US" sz="1300" dirty="0">
                <a:solidFill>
                  <a:srgbClr val="0F172A"/>
                </a:solidFill>
                <a:latin typeface="Georgia" pitchFamily="34" charset="0"/>
                <a:ea typeface="Georgia" pitchFamily="34" charset="-122"/>
                <a:cs typeface="Georgia" pitchFamily="34" charset="-120"/>
              </a:rPr>
              <a:t>Write a tool schema describing them</a:t>
            </a:r>
            <a:endParaRPr lang="en-US" sz="1300" dirty="0"/>
          </a:p>
        </p:txBody>
      </p:sp>
      <p:sp>
        <p:nvSpPr>
          <p:cNvPr id="17" name="Shape 15"/>
          <p:cNvSpPr/>
          <p:nvPr/>
        </p:nvSpPr>
        <p:spPr>
          <a:xfrm>
            <a:off x="502920" y="3474720"/>
            <a:ext cx="5394960" cy="548640"/>
          </a:xfrm>
          <a:prstGeom prst="rect">
            <a:avLst/>
          </a:prstGeom>
          <a:solidFill>
            <a:srgbClr val="F8FAFC"/>
          </a:solidFill>
          <a:ln w="6350">
            <a:solidFill>
              <a:srgbClr val="E2E8F0"/>
            </a:solidFill>
            <a:prstDash val="solid"/>
          </a:ln>
        </p:spPr>
      </p:sp>
      <p:sp>
        <p:nvSpPr>
          <p:cNvPr id="18" name="Shape 16"/>
          <p:cNvSpPr/>
          <p:nvPr/>
        </p:nvSpPr>
        <p:spPr>
          <a:xfrm>
            <a:off x="640080" y="3566160"/>
            <a:ext cx="365760" cy="365760"/>
          </a:xfrm>
          <a:prstGeom prst="ellipse">
            <a:avLst/>
          </a:prstGeom>
          <a:solidFill>
            <a:srgbClr val="0F172A"/>
          </a:solidFill>
          <a:ln w="12700">
            <a:solidFill>
              <a:srgbClr val="0F172A"/>
            </a:solidFill>
            <a:prstDash val="solid"/>
          </a:ln>
        </p:spPr>
      </p:sp>
      <p:sp>
        <p:nvSpPr>
          <p:cNvPr id="19" name="Text 17"/>
          <p:cNvSpPr/>
          <p:nvPr/>
        </p:nvSpPr>
        <p:spPr>
          <a:xfrm>
            <a:off x="640080" y="35661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0" name="Text 18"/>
          <p:cNvSpPr/>
          <p:nvPr/>
        </p:nvSpPr>
        <p:spPr>
          <a:xfrm>
            <a:off x="1143000" y="3474720"/>
            <a:ext cx="4663440" cy="548640"/>
          </a:xfrm>
          <a:prstGeom prst="rect">
            <a:avLst/>
          </a:prstGeom>
          <a:noFill/>
          <a:ln/>
        </p:spPr>
        <p:txBody>
          <a:bodyPr wrap="square" lIns="0" tIns="0" rIns="0" bIns="0" rtlCol="0" anchor="ctr"/>
          <a:lstStyle/>
          <a:p>
            <a:pPr indent="0" marL="0">
              <a:buNone/>
            </a:pPr>
            <a:r>
              <a:rPr lang="en-US" sz="1300" dirty="0">
                <a:solidFill>
                  <a:srgbClr val="0F172A"/>
                </a:solidFill>
                <a:latin typeface="Georgia" pitchFamily="34" charset="0"/>
                <a:ea typeface="Georgia" pitchFamily="34" charset="-122"/>
                <a:cs typeface="Georgia" pitchFamily="34" charset="-120"/>
              </a:rPr>
              <a:t>Send the model a prompt + schema</a:t>
            </a:r>
            <a:endParaRPr lang="en-US" sz="1300" dirty="0"/>
          </a:p>
        </p:txBody>
      </p:sp>
      <p:sp>
        <p:nvSpPr>
          <p:cNvPr id="21" name="Shape 19"/>
          <p:cNvSpPr/>
          <p:nvPr/>
        </p:nvSpPr>
        <p:spPr>
          <a:xfrm>
            <a:off x="502920" y="4114800"/>
            <a:ext cx="5394960" cy="548640"/>
          </a:xfrm>
          <a:prstGeom prst="rect">
            <a:avLst/>
          </a:prstGeom>
          <a:solidFill>
            <a:srgbClr val="FEF3C7"/>
          </a:solidFill>
          <a:ln w="6350">
            <a:solidFill>
              <a:srgbClr val="B45309"/>
            </a:solidFill>
            <a:prstDash val="solid"/>
          </a:ln>
        </p:spPr>
      </p:sp>
      <p:sp>
        <p:nvSpPr>
          <p:cNvPr id="22" name="Shape 20"/>
          <p:cNvSpPr/>
          <p:nvPr/>
        </p:nvSpPr>
        <p:spPr>
          <a:xfrm>
            <a:off x="640080" y="4206240"/>
            <a:ext cx="365760" cy="365760"/>
          </a:xfrm>
          <a:prstGeom prst="ellipse">
            <a:avLst/>
          </a:prstGeom>
          <a:solidFill>
            <a:srgbClr val="0F172A"/>
          </a:solidFill>
          <a:ln w="12700">
            <a:solidFill>
              <a:srgbClr val="0F172A"/>
            </a:solidFill>
            <a:prstDash val="solid"/>
          </a:ln>
        </p:spPr>
      </p:sp>
      <p:sp>
        <p:nvSpPr>
          <p:cNvPr id="23" name="Text 21"/>
          <p:cNvSpPr/>
          <p:nvPr/>
        </p:nvSpPr>
        <p:spPr>
          <a:xfrm>
            <a:off x="640080" y="420624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4" name="Text 22"/>
          <p:cNvSpPr/>
          <p:nvPr/>
        </p:nvSpPr>
        <p:spPr>
          <a:xfrm>
            <a:off x="1143000" y="4114800"/>
            <a:ext cx="4663440" cy="548640"/>
          </a:xfrm>
          <a:prstGeom prst="rect">
            <a:avLst/>
          </a:prstGeom>
          <a:noFill/>
          <a:ln/>
        </p:spPr>
        <p:txBody>
          <a:bodyPr wrap="square" lIns="0" tIns="0" rIns="0" bIns="0" rtlCol="0" anchor="ctr"/>
          <a:lstStyle/>
          <a:p>
            <a:pPr indent="0" marL="0">
              <a:buNone/>
            </a:pPr>
            <a:r>
              <a:rPr lang="en-US" sz="1300" dirty="0">
                <a:solidFill>
                  <a:srgbClr val="0F172A"/>
                </a:solidFill>
                <a:latin typeface="Georgia" pitchFamily="34" charset="0"/>
                <a:ea typeface="Georgia" pitchFamily="34" charset="-122"/>
                <a:cs typeface="Georgia" pitchFamily="34" charset="-120"/>
              </a:rPr>
              <a:t>Model decides if it needs a tool</a:t>
            </a:r>
            <a:endParaRPr lang="en-US" sz="1300" dirty="0"/>
          </a:p>
        </p:txBody>
      </p:sp>
      <p:sp>
        <p:nvSpPr>
          <p:cNvPr id="25" name="Shape 23"/>
          <p:cNvSpPr/>
          <p:nvPr/>
        </p:nvSpPr>
        <p:spPr>
          <a:xfrm>
            <a:off x="6172200" y="2194560"/>
            <a:ext cx="5394960" cy="548640"/>
          </a:xfrm>
          <a:prstGeom prst="rect">
            <a:avLst/>
          </a:prstGeom>
          <a:solidFill>
            <a:srgbClr val="F8FAFC"/>
          </a:solidFill>
          <a:ln w="6350">
            <a:solidFill>
              <a:srgbClr val="E2E8F0"/>
            </a:solidFill>
            <a:prstDash val="solid"/>
          </a:ln>
        </p:spPr>
      </p:sp>
      <p:sp>
        <p:nvSpPr>
          <p:cNvPr id="26" name="Shape 24"/>
          <p:cNvSpPr/>
          <p:nvPr/>
        </p:nvSpPr>
        <p:spPr>
          <a:xfrm>
            <a:off x="6309360" y="2286000"/>
            <a:ext cx="365760" cy="365760"/>
          </a:xfrm>
          <a:prstGeom prst="ellipse">
            <a:avLst/>
          </a:prstGeom>
          <a:solidFill>
            <a:srgbClr val="0F172A"/>
          </a:solidFill>
          <a:ln w="12700">
            <a:solidFill>
              <a:srgbClr val="0F172A"/>
            </a:solidFill>
            <a:prstDash val="solid"/>
          </a:ln>
        </p:spPr>
      </p:sp>
      <p:sp>
        <p:nvSpPr>
          <p:cNvPr id="27" name="Text 25"/>
          <p:cNvSpPr/>
          <p:nvPr/>
        </p:nvSpPr>
        <p:spPr>
          <a:xfrm>
            <a:off x="6309360" y="228600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8" name="Text 26"/>
          <p:cNvSpPr/>
          <p:nvPr/>
        </p:nvSpPr>
        <p:spPr>
          <a:xfrm>
            <a:off x="6812280" y="2194560"/>
            <a:ext cx="4663440" cy="548640"/>
          </a:xfrm>
          <a:prstGeom prst="rect">
            <a:avLst/>
          </a:prstGeom>
          <a:noFill/>
          <a:ln/>
        </p:spPr>
        <p:txBody>
          <a:bodyPr wrap="square" lIns="0" tIns="0" rIns="0" bIns="0" rtlCol="0" anchor="ctr"/>
          <a:lstStyle/>
          <a:p>
            <a:pPr indent="0" marL="0">
              <a:buNone/>
            </a:pPr>
            <a:r>
              <a:rPr lang="en-US" sz="1300" dirty="0">
                <a:solidFill>
                  <a:srgbClr val="0F172A"/>
                </a:solidFill>
                <a:latin typeface="Georgia" pitchFamily="34" charset="0"/>
                <a:ea typeface="Georgia" pitchFamily="34" charset="-122"/>
                <a:cs typeface="Georgia" pitchFamily="34" charset="-120"/>
              </a:rPr>
              <a:t>Model returns which tool, with what args</a:t>
            </a:r>
            <a:endParaRPr lang="en-US" sz="1300" dirty="0"/>
          </a:p>
        </p:txBody>
      </p:sp>
      <p:sp>
        <p:nvSpPr>
          <p:cNvPr id="29" name="Shape 27"/>
          <p:cNvSpPr/>
          <p:nvPr/>
        </p:nvSpPr>
        <p:spPr>
          <a:xfrm>
            <a:off x="6172200" y="2834640"/>
            <a:ext cx="5394960" cy="548640"/>
          </a:xfrm>
          <a:prstGeom prst="rect">
            <a:avLst/>
          </a:prstGeom>
          <a:solidFill>
            <a:srgbClr val="F8FAFC"/>
          </a:solidFill>
          <a:ln w="6350">
            <a:solidFill>
              <a:srgbClr val="E2E8F0"/>
            </a:solidFill>
            <a:prstDash val="solid"/>
          </a:ln>
        </p:spPr>
      </p:sp>
      <p:sp>
        <p:nvSpPr>
          <p:cNvPr id="30" name="Shape 28"/>
          <p:cNvSpPr/>
          <p:nvPr/>
        </p:nvSpPr>
        <p:spPr>
          <a:xfrm>
            <a:off x="6309360" y="2926080"/>
            <a:ext cx="365760" cy="365760"/>
          </a:xfrm>
          <a:prstGeom prst="ellipse">
            <a:avLst/>
          </a:prstGeom>
          <a:solidFill>
            <a:srgbClr val="0F172A"/>
          </a:solidFill>
          <a:ln w="12700">
            <a:solidFill>
              <a:srgbClr val="0F172A"/>
            </a:solidFill>
            <a:prstDash val="solid"/>
          </a:ln>
        </p:spPr>
      </p:sp>
      <p:sp>
        <p:nvSpPr>
          <p:cNvPr id="31" name="Text 29"/>
          <p:cNvSpPr/>
          <p:nvPr/>
        </p:nvSpPr>
        <p:spPr>
          <a:xfrm>
            <a:off x="6309360" y="292608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32" name="Text 30"/>
          <p:cNvSpPr/>
          <p:nvPr/>
        </p:nvSpPr>
        <p:spPr>
          <a:xfrm>
            <a:off x="6812280" y="2834640"/>
            <a:ext cx="4663440" cy="548640"/>
          </a:xfrm>
          <a:prstGeom prst="rect">
            <a:avLst/>
          </a:prstGeom>
          <a:noFill/>
          <a:ln/>
        </p:spPr>
        <p:txBody>
          <a:bodyPr wrap="square" lIns="0" tIns="0" rIns="0" bIns="0" rtlCol="0" anchor="ctr"/>
          <a:lstStyle/>
          <a:p>
            <a:pPr indent="0" marL="0">
              <a:buNone/>
            </a:pPr>
            <a:r>
              <a:rPr lang="en-US" sz="1300" dirty="0">
                <a:solidFill>
                  <a:srgbClr val="0F172A"/>
                </a:solidFill>
                <a:latin typeface="Georgia" pitchFamily="34" charset="0"/>
                <a:ea typeface="Georgia" pitchFamily="34" charset="-122"/>
                <a:cs typeface="Georgia" pitchFamily="34" charset="-120"/>
              </a:rPr>
              <a:t>Your code runs the tool</a:t>
            </a:r>
            <a:endParaRPr lang="en-US" sz="1300" dirty="0"/>
          </a:p>
        </p:txBody>
      </p:sp>
      <p:sp>
        <p:nvSpPr>
          <p:cNvPr id="33" name="Shape 31"/>
          <p:cNvSpPr/>
          <p:nvPr/>
        </p:nvSpPr>
        <p:spPr>
          <a:xfrm>
            <a:off x="6172200" y="3474720"/>
            <a:ext cx="5394960" cy="548640"/>
          </a:xfrm>
          <a:prstGeom prst="rect">
            <a:avLst/>
          </a:prstGeom>
          <a:solidFill>
            <a:srgbClr val="F8FAFC"/>
          </a:solidFill>
          <a:ln w="6350">
            <a:solidFill>
              <a:srgbClr val="E2E8F0"/>
            </a:solidFill>
            <a:prstDash val="solid"/>
          </a:ln>
        </p:spPr>
      </p:sp>
      <p:sp>
        <p:nvSpPr>
          <p:cNvPr id="34" name="Shape 32"/>
          <p:cNvSpPr/>
          <p:nvPr/>
        </p:nvSpPr>
        <p:spPr>
          <a:xfrm>
            <a:off x="6309360" y="3566160"/>
            <a:ext cx="365760" cy="365760"/>
          </a:xfrm>
          <a:prstGeom prst="ellipse">
            <a:avLst/>
          </a:prstGeom>
          <a:solidFill>
            <a:srgbClr val="0F172A"/>
          </a:solidFill>
          <a:ln w="12700">
            <a:solidFill>
              <a:srgbClr val="0F172A"/>
            </a:solidFill>
            <a:prstDash val="solid"/>
          </a:ln>
        </p:spPr>
      </p:sp>
      <p:sp>
        <p:nvSpPr>
          <p:cNvPr id="35" name="Text 33"/>
          <p:cNvSpPr/>
          <p:nvPr/>
        </p:nvSpPr>
        <p:spPr>
          <a:xfrm>
            <a:off x="6309360" y="35661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6" name="Text 34"/>
          <p:cNvSpPr/>
          <p:nvPr/>
        </p:nvSpPr>
        <p:spPr>
          <a:xfrm>
            <a:off x="6812280" y="3474720"/>
            <a:ext cx="4663440" cy="548640"/>
          </a:xfrm>
          <a:prstGeom prst="rect">
            <a:avLst/>
          </a:prstGeom>
          <a:noFill/>
          <a:ln/>
        </p:spPr>
        <p:txBody>
          <a:bodyPr wrap="square" lIns="0" tIns="0" rIns="0" bIns="0" rtlCol="0" anchor="ctr"/>
          <a:lstStyle/>
          <a:p>
            <a:pPr indent="0" marL="0">
              <a:buNone/>
            </a:pPr>
            <a:r>
              <a:rPr lang="en-US" sz="1300" dirty="0">
                <a:solidFill>
                  <a:srgbClr val="0F172A"/>
                </a:solidFill>
                <a:latin typeface="Georgia" pitchFamily="34" charset="0"/>
                <a:ea typeface="Georgia" pitchFamily="34" charset="-122"/>
                <a:cs typeface="Georgia" pitchFamily="34" charset="-120"/>
              </a:rPr>
              <a:t>Your code sends the result back</a:t>
            </a:r>
            <a:endParaRPr lang="en-US" sz="1300" dirty="0"/>
          </a:p>
        </p:txBody>
      </p:sp>
      <p:sp>
        <p:nvSpPr>
          <p:cNvPr id="37" name="Shape 35"/>
          <p:cNvSpPr/>
          <p:nvPr/>
        </p:nvSpPr>
        <p:spPr>
          <a:xfrm>
            <a:off x="6172200" y="4114800"/>
            <a:ext cx="5394960" cy="548640"/>
          </a:xfrm>
          <a:prstGeom prst="rect">
            <a:avLst/>
          </a:prstGeom>
          <a:solidFill>
            <a:srgbClr val="FEF3C7"/>
          </a:solidFill>
          <a:ln w="6350">
            <a:solidFill>
              <a:srgbClr val="B45309"/>
            </a:solidFill>
            <a:prstDash val="solid"/>
          </a:ln>
        </p:spPr>
      </p:sp>
      <p:sp>
        <p:nvSpPr>
          <p:cNvPr id="38" name="Shape 36"/>
          <p:cNvSpPr/>
          <p:nvPr/>
        </p:nvSpPr>
        <p:spPr>
          <a:xfrm>
            <a:off x="6309360" y="4206240"/>
            <a:ext cx="365760" cy="365760"/>
          </a:xfrm>
          <a:prstGeom prst="ellipse">
            <a:avLst/>
          </a:prstGeom>
          <a:solidFill>
            <a:srgbClr val="0F172A"/>
          </a:solidFill>
          <a:ln w="12700">
            <a:solidFill>
              <a:srgbClr val="0F172A"/>
            </a:solidFill>
            <a:prstDash val="solid"/>
          </a:ln>
        </p:spPr>
      </p:sp>
      <p:sp>
        <p:nvSpPr>
          <p:cNvPr id="39" name="Text 37"/>
          <p:cNvSpPr/>
          <p:nvPr/>
        </p:nvSpPr>
        <p:spPr>
          <a:xfrm>
            <a:off x="6309360" y="420624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40" name="Text 38"/>
          <p:cNvSpPr/>
          <p:nvPr/>
        </p:nvSpPr>
        <p:spPr>
          <a:xfrm>
            <a:off x="6812280" y="4114800"/>
            <a:ext cx="4663440" cy="548640"/>
          </a:xfrm>
          <a:prstGeom prst="rect">
            <a:avLst/>
          </a:prstGeom>
          <a:noFill/>
          <a:ln/>
        </p:spPr>
        <p:txBody>
          <a:bodyPr wrap="square" lIns="0" tIns="0" rIns="0" bIns="0" rtlCol="0" anchor="ctr"/>
          <a:lstStyle/>
          <a:p>
            <a:pPr indent="0" marL="0">
              <a:buNone/>
            </a:pPr>
            <a:r>
              <a:rPr lang="en-US" sz="1300" dirty="0">
                <a:solidFill>
                  <a:srgbClr val="0F172A"/>
                </a:solidFill>
                <a:latin typeface="Georgia" pitchFamily="34" charset="0"/>
                <a:ea typeface="Georgia" pitchFamily="34" charset="-122"/>
                <a:cs typeface="Georgia" pitchFamily="34" charset="-120"/>
              </a:rPr>
              <a:t>Model uses the result for the final answer</a:t>
            </a:r>
            <a:endParaRPr lang="en-US" sz="1300" dirty="0"/>
          </a:p>
        </p:txBody>
      </p:sp>
      <p:sp>
        <p:nvSpPr>
          <p:cNvPr id="41" name="Shape 39"/>
          <p:cNvSpPr/>
          <p:nvPr/>
        </p:nvSpPr>
        <p:spPr>
          <a:xfrm>
            <a:off x="502920" y="4937760"/>
            <a:ext cx="11185855" cy="1280160"/>
          </a:xfrm>
          <a:prstGeom prst="rect">
            <a:avLst/>
          </a:prstGeom>
          <a:solidFill>
            <a:srgbClr val="F1F5F9"/>
          </a:solidFill>
          <a:ln w="12700">
            <a:solidFill>
              <a:srgbClr val="F1F5F9"/>
            </a:solidFill>
            <a:prstDash val="solid"/>
          </a:ln>
        </p:spPr>
      </p:sp>
      <p:sp>
        <p:nvSpPr>
          <p:cNvPr id="42" name="Shape 40"/>
          <p:cNvSpPr/>
          <p:nvPr/>
        </p:nvSpPr>
        <p:spPr>
          <a:xfrm>
            <a:off x="502920" y="4937760"/>
            <a:ext cx="45720" cy="1280160"/>
          </a:xfrm>
          <a:prstGeom prst="rect">
            <a:avLst/>
          </a:prstGeom>
          <a:solidFill>
            <a:srgbClr val="B45309"/>
          </a:solidFill>
          <a:ln w="12700">
            <a:solidFill>
              <a:srgbClr val="B45309"/>
            </a:solidFill>
            <a:prstDash val="solid"/>
          </a:ln>
        </p:spPr>
      </p:sp>
      <p:sp>
        <p:nvSpPr>
          <p:cNvPr id="43" name="Text 41"/>
          <p:cNvSpPr/>
          <p:nvPr/>
        </p:nvSpPr>
        <p:spPr>
          <a:xfrm>
            <a:off x="685800" y="502920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ANCHORING THE PATTERN</a:t>
            </a:r>
            <a:endParaRPr lang="en-US" sz="900" dirty="0"/>
          </a:p>
        </p:txBody>
      </p:sp>
      <p:sp>
        <p:nvSpPr>
          <p:cNvPr id="44" name="Text 42"/>
          <p:cNvSpPr/>
          <p:nvPr/>
        </p:nvSpPr>
        <p:spPr>
          <a:xfrm>
            <a:off x="685800" y="523036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Steps 4 and 8 are the model's two reasoning moments.</a:t>
            </a:r>
            <a:endParaRPr lang="en-US" sz="1300" dirty="0"/>
          </a:p>
        </p:txBody>
      </p:sp>
      <p:sp>
        <p:nvSpPr>
          <p:cNvPr id="45" name="Text 43"/>
          <p:cNvSpPr/>
          <p:nvPr/>
        </p:nvSpPr>
        <p:spPr>
          <a:xfrm>
            <a:off x="685800" y="5522976"/>
            <a:ext cx="10911535" cy="60350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Step 4 decides whether a tool is needed. Step 8 turns the tool's result into a natural answer. Everything in between is your code. This means tool use is always at least two API calls.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5 · STEP 1 OF 4 · DEFINE</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5</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Step 1 — define the Python function</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Just a normal function. Nothing AI-specific. The model will never call this directly.</a:t>
            </a:r>
            <a:endParaRPr lang="en-US" sz="1400" dirty="0"/>
          </a:p>
        </p:txBody>
      </p:sp>
      <p:sp>
        <p:nvSpPr>
          <p:cNvPr id="9" name="Shape 7"/>
          <p:cNvSpPr/>
          <p:nvPr/>
        </p:nvSpPr>
        <p:spPr>
          <a:xfrm>
            <a:off x="502920" y="1965960"/>
            <a:ext cx="11185855" cy="3291840"/>
          </a:xfrm>
          <a:prstGeom prst="rect">
            <a:avLst/>
          </a:prstGeom>
          <a:solidFill>
            <a:srgbClr val="0F172A"/>
          </a:solidFill>
          <a:ln w="12700">
            <a:solidFill>
              <a:srgbClr val="0F172A"/>
            </a:solidFill>
            <a:prstDash val="solid"/>
          </a:ln>
        </p:spPr>
      </p:sp>
      <p:sp>
        <p:nvSpPr>
          <p:cNvPr id="10" name="Text 8"/>
          <p:cNvSpPr/>
          <p:nvPr/>
        </p:nvSpPr>
        <p:spPr>
          <a:xfrm>
            <a:off x="667512" y="2075688"/>
            <a:ext cx="10856671" cy="3072384"/>
          </a:xfrm>
          <a:prstGeom prst="rect">
            <a:avLst/>
          </a:prstGeom>
          <a:noFill/>
          <a:ln/>
        </p:spPr>
        <p:txBody>
          <a:bodyPr wrap="square" lIns="0" tIns="0" rIns="0" bIns="0"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def get_weather(location, unit="fahrenheit"):</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Simulate fetching weather data for a location.</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In a real app, this would call a weather API like OpenWeatherMap.</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weather_data =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"location": location,</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"temperature": 58 if unit == "fahrenheit" else 14,</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"unit": unit,</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"condition": "Partly cloudy",</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"humidity": "72%",</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"wind": "8 mph NW",</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return weather_data</a:t>
            </a:r>
            <a:endParaRPr lang="en-US" sz="1200" dirty="0"/>
          </a:p>
        </p:txBody>
      </p:sp>
      <p:sp>
        <p:nvSpPr>
          <p:cNvPr id="11" name="Shape 9"/>
          <p:cNvSpPr/>
          <p:nvPr/>
        </p:nvSpPr>
        <p:spPr>
          <a:xfrm>
            <a:off x="502920" y="5440680"/>
            <a:ext cx="11185855" cy="822960"/>
          </a:xfrm>
          <a:prstGeom prst="rect">
            <a:avLst/>
          </a:prstGeom>
          <a:solidFill>
            <a:srgbClr val="F1F5F9"/>
          </a:solidFill>
          <a:ln w="12700">
            <a:solidFill>
              <a:srgbClr val="F1F5F9"/>
            </a:solidFill>
            <a:prstDash val="solid"/>
          </a:ln>
        </p:spPr>
      </p:sp>
      <p:sp>
        <p:nvSpPr>
          <p:cNvPr id="12" name="Shape 10"/>
          <p:cNvSpPr/>
          <p:nvPr/>
        </p:nvSpPr>
        <p:spPr>
          <a:xfrm>
            <a:off x="502920" y="5440680"/>
            <a:ext cx="45720" cy="822960"/>
          </a:xfrm>
          <a:prstGeom prst="rect">
            <a:avLst/>
          </a:prstGeom>
          <a:solidFill>
            <a:srgbClr val="B45309"/>
          </a:solidFill>
          <a:ln w="12700">
            <a:solidFill>
              <a:srgbClr val="B45309"/>
            </a:solidFill>
            <a:prstDash val="solid"/>
          </a:ln>
        </p:spPr>
      </p:sp>
      <p:sp>
        <p:nvSpPr>
          <p:cNvPr id="13" name="Text 11"/>
          <p:cNvSpPr/>
          <p:nvPr/>
        </p:nvSpPr>
        <p:spPr>
          <a:xfrm>
            <a:off x="685800" y="553212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THE KEY POINT</a:t>
            </a:r>
            <a:endParaRPr lang="en-US" sz="900" dirty="0"/>
          </a:p>
        </p:txBody>
      </p:sp>
      <p:sp>
        <p:nvSpPr>
          <p:cNvPr id="14" name="Text 12"/>
          <p:cNvSpPr/>
          <p:nvPr/>
        </p:nvSpPr>
        <p:spPr>
          <a:xfrm>
            <a:off x="685800" y="5733288"/>
            <a:ext cx="10911535" cy="43891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In a real app, you would swap this stub for a real call: OpenWeatherMap, your database, an internal microservice, a Lambda. The model will not call this function directly. Your code will.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5 · STEP 2 OF 4 · DESCRIBE</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5</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Step 2 — describe the function to the model</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schema is how the model knows the tool exists and how to call it.</a:t>
            </a:r>
            <a:endParaRPr lang="en-US" sz="1400" dirty="0"/>
          </a:p>
        </p:txBody>
      </p:sp>
      <p:sp>
        <p:nvSpPr>
          <p:cNvPr id="9" name="Shape 7"/>
          <p:cNvSpPr/>
          <p:nvPr/>
        </p:nvSpPr>
        <p:spPr>
          <a:xfrm>
            <a:off x="502920" y="1691640"/>
            <a:ext cx="6949440" cy="4617720"/>
          </a:xfrm>
          <a:prstGeom prst="rect">
            <a:avLst/>
          </a:prstGeom>
          <a:solidFill>
            <a:srgbClr val="0F172A"/>
          </a:solidFill>
          <a:ln w="12700">
            <a:solidFill>
              <a:srgbClr val="0F172A"/>
            </a:solidFill>
            <a:prstDash val="solid"/>
          </a:ln>
        </p:spPr>
      </p:sp>
      <p:sp>
        <p:nvSpPr>
          <p:cNvPr id="10" name="Text 8"/>
          <p:cNvSpPr/>
          <p:nvPr/>
        </p:nvSpPr>
        <p:spPr>
          <a:xfrm>
            <a:off x="667512" y="1801368"/>
            <a:ext cx="6620256" cy="4398264"/>
          </a:xfrm>
          <a:prstGeom prst="rect">
            <a:avLst/>
          </a:prstGeom>
          <a:noFill/>
          <a:ln/>
        </p:spPr>
        <p:txBody>
          <a:bodyPr wrap="square" lIns="0" tIns="0" rIns="0" bIns="0" rtlCol="0" anchor="t"/>
          <a:lstStyle/>
          <a:p>
            <a:pPr indent="0" marL="0">
              <a:buNone/>
            </a:pPr>
            <a:r>
              <a:rPr lang="en-US" sz="1000" dirty="0">
                <a:solidFill>
                  <a:srgbClr val="E2E8F0"/>
                </a:solidFill>
                <a:latin typeface="Consolas" pitchFamily="34" charset="0"/>
                <a:ea typeface="Consolas" pitchFamily="34" charset="-122"/>
                <a:cs typeface="Consolas" pitchFamily="34" charset="-120"/>
              </a:rPr>
              <a:t>TOOL_CONFIG =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"tools":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"toolSpec":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"name": "get_weather",</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"description": "Get the current weather for a given location.",</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"inputSchema":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"json":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"type": "object",</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"properties":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"location":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"type": "string",</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"description": "The city and state, e.g. 'San Francisco, CA'",</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"unit":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"type": "string",</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"enum": ["fahrenheit", "celsius"],</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"description": "Temperature unit (default: fahrenheit)",</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"required": ["location"],</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E2E8F0"/>
                </a:solidFill>
                <a:latin typeface="Consolas" pitchFamily="34" charset="0"/>
                <a:ea typeface="Consolas" pitchFamily="34" charset="-122"/>
                <a:cs typeface="Consolas" pitchFamily="34" charset="-120"/>
              </a:rPr>
              <a:t>}</a:t>
            </a:r>
            <a:endParaRPr lang="en-US" sz="1000" dirty="0"/>
          </a:p>
        </p:txBody>
      </p:sp>
      <p:sp>
        <p:nvSpPr>
          <p:cNvPr id="11" name="Text 9"/>
          <p:cNvSpPr/>
          <p:nvPr/>
        </p:nvSpPr>
        <p:spPr>
          <a:xfrm>
            <a:off x="7680960" y="1691640"/>
            <a:ext cx="4023360" cy="22860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THE THREE FIELDS</a:t>
            </a:r>
            <a:endParaRPr lang="en-US" sz="1000" dirty="0"/>
          </a:p>
        </p:txBody>
      </p:sp>
      <p:sp>
        <p:nvSpPr>
          <p:cNvPr id="12" name="Text 10"/>
          <p:cNvSpPr/>
          <p:nvPr/>
        </p:nvSpPr>
        <p:spPr>
          <a:xfrm>
            <a:off x="7680960" y="2011680"/>
            <a:ext cx="4023360" cy="274320"/>
          </a:xfrm>
          <a:prstGeom prst="rect">
            <a:avLst/>
          </a:prstGeom>
          <a:noFill/>
          <a:ln/>
        </p:spPr>
        <p:txBody>
          <a:bodyPr wrap="square" lIns="0" tIns="0" rIns="0" bIns="0" rtlCol="0" anchor="ctr"/>
          <a:lstStyle/>
          <a:p>
            <a:pPr indent="0" marL="0">
              <a:buNone/>
            </a:pPr>
            <a:r>
              <a:rPr lang="en-US" sz="1400" b="1" dirty="0">
                <a:solidFill>
                  <a:srgbClr val="B45309"/>
                </a:solidFill>
                <a:latin typeface="Consolas" pitchFamily="34" charset="0"/>
                <a:ea typeface="Consolas" pitchFamily="34" charset="-122"/>
                <a:cs typeface="Consolas" pitchFamily="34" charset="-120"/>
              </a:rPr>
              <a:t>name</a:t>
            </a:r>
            <a:endParaRPr lang="en-US" sz="1400" dirty="0"/>
          </a:p>
        </p:txBody>
      </p:sp>
      <p:sp>
        <p:nvSpPr>
          <p:cNvPr id="13" name="Text 11"/>
          <p:cNvSpPr/>
          <p:nvPr/>
        </p:nvSpPr>
        <p:spPr>
          <a:xfrm>
            <a:off x="7680960" y="2286000"/>
            <a:ext cx="402336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Unique identifier the model uses to reference the tool.</a:t>
            </a:r>
            <a:endParaRPr lang="en-US" sz="1100" dirty="0"/>
          </a:p>
        </p:txBody>
      </p:sp>
      <p:sp>
        <p:nvSpPr>
          <p:cNvPr id="14" name="Text 12"/>
          <p:cNvSpPr/>
          <p:nvPr/>
        </p:nvSpPr>
        <p:spPr>
          <a:xfrm>
            <a:off x="7680960" y="2926080"/>
            <a:ext cx="4023360" cy="274320"/>
          </a:xfrm>
          <a:prstGeom prst="rect">
            <a:avLst/>
          </a:prstGeom>
          <a:noFill/>
          <a:ln/>
        </p:spPr>
        <p:txBody>
          <a:bodyPr wrap="square" lIns="0" tIns="0" rIns="0" bIns="0" rtlCol="0" anchor="ctr"/>
          <a:lstStyle/>
          <a:p>
            <a:pPr indent="0" marL="0">
              <a:buNone/>
            </a:pPr>
            <a:r>
              <a:rPr lang="en-US" sz="1400" b="1" dirty="0">
                <a:solidFill>
                  <a:srgbClr val="B45309"/>
                </a:solidFill>
                <a:latin typeface="Consolas" pitchFamily="34" charset="0"/>
                <a:ea typeface="Consolas" pitchFamily="34" charset="-122"/>
                <a:cs typeface="Consolas" pitchFamily="34" charset="-120"/>
              </a:rPr>
              <a:t>description</a:t>
            </a:r>
            <a:endParaRPr lang="en-US" sz="1400" dirty="0"/>
          </a:p>
        </p:txBody>
      </p:sp>
      <p:sp>
        <p:nvSpPr>
          <p:cNvPr id="15" name="Text 13"/>
          <p:cNvSpPr/>
          <p:nvPr/>
        </p:nvSpPr>
        <p:spPr>
          <a:xfrm>
            <a:off x="7680960" y="3200400"/>
            <a:ext cx="402336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Natural language. What it does. The model reads this to decide WHEN to use it.</a:t>
            </a:r>
            <a:endParaRPr lang="en-US" sz="1100" dirty="0"/>
          </a:p>
        </p:txBody>
      </p:sp>
      <p:sp>
        <p:nvSpPr>
          <p:cNvPr id="16" name="Text 14"/>
          <p:cNvSpPr/>
          <p:nvPr/>
        </p:nvSpPr>
        <p:spPr>
          <a:xfrm>
            <a:off x="7680960" y="3840480"/>
            <a:ext cx="4023360" cy="274320"/>
          </a:xfrm>
          <a:prstGeom prst="rect">
            <a:avLst/>
          </a:prstGeom>
          <a:noFill/>
          <a:ln/>
        </p:spPr>
        <p:txBody>
          <a:bodyPr wrap="square" lIns="0" tIns="0" rIns="0" bIns="0" rtlCol="0" anchor="ctr"/>
          <a:lstStyle/>
          <a:p>
            <a:pPr indent="0" marL="0">
              <a:buNone/>
            </a:pPr>
            <a:r>
              <a:rPr lang="en-US" sz="1400" b="1" dirty="0">
                <a:solidFill>
                  <a:srgbClr val="B45309"/>
                </a:solidFill>
                <a:latin typeface="Consolas" pitchFamily="34" charset="0"/>
                <a:ea typeface="Consolas" pitchFamily="34" charset="-122"/>
                <a:cs typeface="Consolas" pitchFamily="34" charset="-120"/>
              </a:rPr>
              <a:t>inputSchema</a:t>
            </a:r>
            <a:endParaRPr lang="en-US" sz="1400" dirty="0"/>
          </a:p>
        </p:txBody>
      </p:sp>
      <p:sp>
        <p:nvSpPr>
          <p:cNvPr id="17" name="Text 15"/>
          <p:cNvSpPr/>
          <p:nvPr/>
        </p:nvSpPr>
        <p:spPr>
          <a:xfrm>
            <a:off x="7680960" y="4114800"/>
            <a:ext cx="4023360" cy="5943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Standard JSON Schema. Parameters, types, which are required.</a:t>
            </a:r>
            <a:endParaRPr lang="en-US" sz="1100" dirty="0"/>
          </a:p>
        </p:txBody>
      </p:sp>
      <p:sp>
        <p:nvSpPr>
          <p:cNvPr id="18" name="Shape 16"/>
          <p:cNvSpPr/>
          <p:nvPr/>
        </p:nvSpPr>
        <p:spPr>
          <a:xfrm>
            <a:off x="7680960" y="4937760"/>
            <a:ext cx="4023360" cy="1371600"/>
          </a:xfrm>
          <a:prstGeom prst="rect">
            <a:avLst/>
          </a:prstGeom>
          <a:solidFill>
            <a:srgbClr val="F1F5F9"/>
          </a:solidFill>
          <a:ln w="12700">
            <a:solidFill>
              <a:srgbClr val="F1F5F9"/>
            </a:solidFill>
            <a:prstDash val="solid"/>
          </a:ln>
        </p:spPr>
      </p:sp>
      <p:sp>
        <p:nvSpPr>
          <p:cNvPr id="19" name="Shape 17"/>
          <p:cNvSpPr/>
          <p:nvPr/>
        </p:nvSpPr>
        <p:spPr>
          <a:xfrm>
            <a:off x="7680960" y="4937760"/>
            <a:ext cx="45720" cy="1371600"/>
          </a:xfrm>
          <a:prstGeom prst="rect">
            <a:avLst/>
          </a:prstGeom>
          <a:solidFill>
            <a:srgbClr val="B45309"/>
          </a:solidFill>
          <a:ln w="12700">
            <a:solidFill>
              <a:srgbClr val="B45309"/>
            </a:solidFill>
            <a:prstDash val="solid"/>
          </a:ln>
        </p:spPr>
      </p:sp>
      <p:sp>
        <p:nvSpPr>
          <p:cNvPr id="20" name="Text 18"/>
          <p:cNvSpPr/>
          <p:nvPr/>
        </p:nvSpPr>
        <p:spPr>
          <a:xfrm>
            <a:off x="7863840" y="5029200"/>
            <a:ext cx="374904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THE MOST IMPORTANT FIELD</a:t>
            </a:r>
            <a:endParaRPr lang="en-US" sz="900" dirty="0"/>
          </a:p>
        </p:txBody>
      </p:sp>
      <p:sp>
        <p:nvSpPr>
          <p:cNvPr id="21" name="Text 19"/>
          <p:cNvSpPr/>
          <p:nvPr/>
        </p:nvSpPr>
        <p:spPr>
          <a:xfrm>
            <a:off x="7863840" y="5230368"/>
            <a:ext cx="374904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description.</a:t>
            </a:r>
            <a:endParaRPr lang="en-US" sz="1300" dirty="0"/>
          </a:p>
        </p:txBody>
      </p:sp>
      <p:sp>
        <p:nvSpPr>
          <p:cNvPr id="22" name="Text 20"/>
          <p:cNvSpPr/>
          <p:nvPr/>
        </p:nvSpPr>
        <p:spPr>
          <a:xfrm>
            <a:off x="7863840" y="5522976"/>
            <a:ext cx="3749040" cy="69494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Vague description → model misuses the tool. Precise description → model picks it correctly.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5 · STEP 3 OF 4 · DISPATCH</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5</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Step 3 — the dispatch table</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When the model says “call get_weather”, your code looks up the function and runs it.</a:t>
            </a:r>
            <a:endParaRPr lang="en-US" sz="1400" dirty="0"/>
          </a:p>
        </p:txBody>
      </p:sp>
      <p:sp>
        <p:nvSpPr>
          <p:cNvPr id="9" name="Shape 7"/>
          <p:cNvSpPr/>
          <p:nvPr/>
        </p:nvSpPr>
        <p:spPr>
          <a:xfrm>
            <a:off x="502920" y="1965960"/>
            <a:ext cx="11185855" cy="2286000"/>
          </a:xfrm>
          <a:prstGeom prst="rect">
            <a:avLst/>
          </a:prstGeom>
          <a:solidFill>
            <a:srgbClr val="0F172A"/>
          </a:solidFill>
          <a:ln w="12700">
            <a:solidFill>
              <a:srgbClr val="0F172A"/>
            </a:solidFill>
            <a:prstDash val="solid"/>
          </a:ln>
        </p:spPr>
      </p:sp>
      <p:sp>
        <p:nvSpPr>
          <p:cNvPr id="10" name="Text 8"/>
          <p:cNvSpPr/>
          <p:nvPr/>
        </p:nvSpPr>
        <p:spPr>
          <a:xfrm>
            <a:off x="667512" y="2075688"/>
            <a:ext cx="10856671" cy="2066544"/>
          </a:xfrm>
          <a:prstGeom prst="rect">
            <a:avLst/>
          </a:prstGeom>
          <a:noFill/>
          <a:ln/>
        </p:spPr>
        <p:txBody>
          <a:bodyPr wrap="square" lIns="0" tIns="0" rIns="0" bIns="0"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TOOL_FUNCTIONS =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"get_weather": get_weather,</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def run_tool(tool_name, tool_input):</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func = TOOL_FUNCTIONS.get(tool_name)</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if func is None:</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return {"error": f"Unknown tool: {tool_name}"}</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return func(**tool_input)</a:t>
            </a:r>
            <a:endParaRPr lang="en-US" sz="1300" dirty="0"/>
          </a:p>
        </p:txBody>
      </p:sp>
      <p:sp>
        <p:nvSpPr>
          <p:cNvPr id="11" name="Shape 9"/>
          <p:cNvSpPr/>
          <p:nvPr/>
        </p:nvSpPr>
        <p:spPr>
          <a:xfrm>
            <a:off x="502920" y="4434840"/>
            <a:ext cx="11185855" cy="1783080"/>
          </a:xfrm>
          <a:prstGeom prst="rect">
            <a:avLst/>
          </a:prstGeom>
          <a:solidFill>
            <a:srgbClr val="F1F5F9"/>
          </a:solidFill>
          <a:ln w="12700">
            <a:solidFill>
              <a:srgbClr val="F1F5F9"/>
            </a:solidFill>
            <a:prstDash val="solid"/>
          </a:ln>
        </p:spPr>
      </p:sp>
      <p:sp>
        <p:nvSpPr>
          <p:cNvPr id="12" name="Shape 10"/>
          <p:cNvSpPr/>
          <p:nvPr/>
        </p:nvSpPr>
        <p:spPr>
          <a:xfrm>
            <a:off x="502920" y="4434840"/>
            <a:ext cx="45720" cy="1783080"/>
          </a:xfrm>
          <a:prstGeom prst="rect">
            <a:avLst/>
          </a:prstGeom>
          <a:solidFill>
            <a:srgbClr val="B45309"/>
          </a:solidFill>
          <a:ln w="12700">
            <a:solidFill>
              <a:srgbClr val="B45309"/>
            </a:solidFill>
            <a:prstDash val="solid"/>
          </a:ln>
        </p:spPr>
      </p:sp>
      <p:sp>
        <p:nvSpPr>
          <p:cNvPr id="13" name="Text 11"/>
          <p:cNvSpPr/>
          <p:nvPr/>
        </p:nvSpPr>
        <p:spPr>
          <a:xfrm>
            <a:off x="685800" y="452628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HOW THE DISPATCH WORKS</a:t>
            </a:r>
            <a:endParaRPr lang="en-US" sz="900" dirty="0"/>
          </a:p>
        </p:txBody>
      </p:sp>
      <p:sp>
        <p:nvSpPr>
          <p:cNvPr id="14" name="Text 12"/>
          <p:cNvSpPr/>
          <p:nvPr/>
        </p:nvSpPr>
        <p:spPr>
          <a:xfrm>
            <a:off x="685800" y="4727448"/>
            <a:ext cx="10911535" cy="139903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The model returns a string — "get_weather". TOOL_FUNCTIONS turns that string into the actual function object. The double-star unpacks the input dict as keyword arguments.</a:t>
            </a:r>
            <a:endParaRPr lang="en-US" sz="1100" dirty="0"/>
          </a:p>
          <a:p>
            <a:pPr indent="0" marL="0">
              <a:buNone/>
            </a:pP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If the model returns input {"location": "Seattle"}, the call becomes get_weather(location="Seattle").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5 · STEP 4 OF 4 · THE LOOP · PART 1 OF 3</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5</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First API call — send the message AND the tools</a:t>
            </a:r>
            <a:endParaRPr lang="en-US" sz="3200" dirty="0"/>
          </a:p>
        </p:txBody>
      </p:sp>
      <p:sp>
        <p:nvSpPr>
          <p:cNvPr id="8" name="Shape 6"/>
          <p:cNvSpPr/>
          <p:nvPr/>
        </p:nvSpPr>
        <p:spPr>
          <a:xfrm>
            <a:off x="502920" y="1691640"/>
            <a:ext cx="11185855" cy="2971800"/>
          </a:xfrm>
          <a:prstGeom prst="rect">
            <a:avLst/>
          </a:prstGeom>
          <a:solidFill>
            <a:srgbClr val="0F172A"/>
          </a:solidFill>
          <a:ln w="12700">
            <a:solidFill>
              <a:srgbClr val="0F172A"/>
            </a:solidFill>
            <a:prstDash val="solid"/>
          </a:ln>
        </p:spPr>
      </p:sp>
      <p:sp>
        <p:nvSpPr>
          <p:cNvPr id="9" name="Text 7"/>
          <p:cNvSpPr/>
          <p:nvPr/>
        </p:nvSpPr>
        <p:spPr>
          <a:xfrm>
            <a:off x="667512" y="1801368"/>
            <a:ext cx="10856671" cy="2752344"/>
          </a:xfrm>
          <a:prstGeom prst="rect">
            <a:avLst/>
          </a:prstGeom>
          <a:noFill/>
          <a:ln/>
        </p:spPr>
        <p:txBody>
          <a:bodyPr wrap="square" lIns="0" tIns="0" rIns="0" bIns="0"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messages =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{"role": "user", "content": [{"text": "What's the weather like in Seattle right now?"}]}</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First API call: pass the message AND the tool definitions</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response = bedrock.converse(</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modelId=model_id,</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messages=messages,</a:t>
            </a:r>
            <a:endParaRPr lang="en-US" sz="1200" dirty="0"/>
          </a:p>
          <a:p>
            <a:pPr indent="0" marL="0">
              <a:buNone/>
            </a:pPr>
            <a:r>
              <a:rPr lang="en-US" sz="1200" b="1" dirty="0">
                <a:solidFill>
                  <a:srgbClr val="6EE7B7"/>
                </a:solidFill>
                <a:latin typeface="Consolas" pitchFamily="34" charset="0"/>
                <a:ea typeface="Consolas" pitchFamily="34" charset="-122"/>
                <a:cs typeface="Consolas" pitchFamily="34" charset="-120"/>
              </a:rPr>
              <a:t>    toolConfig=TOOL_CONFIG,</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inferenceConfig={"temperature": 0.0, "maxTokens": 300},</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stop_reason = response["stopReason"]</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assistant_message = response["output"]["message"]</a:t>
            </a:r>
            <a:endParaRPr lang="en-US" sz="1200" dirty="0"/>
          </a:p>
        </p:txBody>
      </p:sp>
      <p:sp>
        <p:nvSpPr>
          <p:cNvPr id="10" name="Shape 8"/>
          <p:cNvSpPr/>
          <p:nvPr/>
        </p:nvSpPr>
        <p:spPr>
          <a:xfrm>
            <a:off x="502920" y="4846320"/>
            <a:ext cx="5486400" cy="1417320"/>
          </a:xfrm>
          <a:prstGeom prst="rect">
            <a:avLst/>
          </a:prstGeom>
          <a:solidFill>
            <a:srgbClr val="F1F5F9"/>
          </a:solidFill>
          <a:ln w="12700">
            <a:solidFill>
              <a:srgbClr val="F1F5F9"/>
            </a:solidFill>
            <a:prstDash val="solid"/>
          </a:ln>
        </p:spPr>
      </p:sp>
      <p:sp>
        <p:nvSpPr>
          <p:cNvPr id="11" name="Shape 9"/>
          <p:cNvSpPr/>
          <p:nvPr/>
        </p:nvSpPr>
        <p:spPr>
          <a:xfrm>
            <a:off x="502920" y="4846320"/>
            <a:ext cx="45720" cy="1417320"/>
          </a:xfrm>
          <a:prstGeom prst="rect">
            <a:avLst/>
          </a:prstGeom>
          <a:solidFill>
            <a:srgbClr val="B45309"/>
          </a:solidFill>
          <a:ln w="12700">
            <a:solidFill>
              <a:srgbClr val="B45309"/>
            </a:solidFill>
            <a:prstDash val="solid"/>
          </a:ln>
        </p:spPr>
      </p:sp>
      <p:sp>
        <p:nvSpPr>
          <p:cNvPr id="12" name="Text 10"/>
          <p:cNvSpPr/>
          <p:nvPr/>
        </p:nvSpPr>
        <p:spPr>
          <a:xfrm>
            <a:off x="685800" y="4937760"/>
            <a:ext cx="521208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WHAT'S NEW</a:t>
            </a:r>
            <a:endParaRPr lang="en-US" sz="900" dirty="0"/>
          </a:p>
        </p:txBody>
      </p:sp>
      <p:sp>
        <p:nvSpPr>
          <p:cNvPr id="13" name="Text 11"/>
          <p:cNvSpPr/>
          <p:nvPr/>
        </p:nvSpPr>
        <p:spPr>
          <a:xfrm>
            <a:off x="685800" y="5138928"/>
            <a:ext cx="521208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toolConfig=TOOL_CONFIG</a:t>
            </a:r>
            <a:endParaRPr lang="en-US" sz="1300" dirty="0"/>
          </a:p>
        </p:txBody>
      </p:sp>
      <p:sp>
        <p:nvSpPr>
          <p:cNvPr id="14" name="Text 12"/>
          <p:cNvSpPr/>
          <p:nvPr/>
        </p:nvSpPr>
        <p:spPr>
          <a:xfrm>
            <a:off x="685800" y="5431536"/>
            <a:ext cx="5212080" cy="74066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Same Converse call as before. The only new thing is passing the schema so the model knows what tools are available.</a:t>
            </a:r>
            <a:endParaRPr lang="en-US" sz="1100" dirty="0"/>
          </a:p>
        </p:txBody>
      </p:sp>
      <p:sp>
        <p:nvSpPr>
          <p:cNvPr id="15" name="Shape 13"/>
          <p:cNvSpPr/>
          <p:nvPr/>
        </p:nvSpPr>
        <p:spPr>
          <a:xfrm>
            <a:off x="6172200" y="4846320"/>
            <a:ext cx="5532120" cy="1417320"/>
          </a:xfrm>
          <a:prstGeom prst="rect">
            <a:avLst/>
          </a:prstGeom>
          <a:solidFill>
            <a:srgbClr val="F1F5F9"/>
          </a:solidFill>
          <a:ln w="12700">
            <a:solidFill>
              <a:srgbClr val="F1F5F9"/>
            </a:solidFill>
            <a:prstDash val="solid"/>
          </a:ln>
        </p:spPr>
      </p:sp>
      <p:sp>
        <p:nvSpPr>
          <p:cNvPr id="16" name="Shape 14"/>
          <p:cNvSpPr/>
          <p:nvPr/>
        </p:nvSpPr>
        <p:spPr>
          <a:xfrm>
            <a:off x="6172200" y="4846320"/>
            <a:ext cx="45720" cy="1417320"/>
          </a:xfrm>
          <a:prstGeom prst="rect">
            <a:avLst/>
          </a:prstGeom>
          <a:solidFill>
            <a:srgbClr val="B45309"/>
          </a:solidFill>
          <a:ln w="12700">
            <a:solidFill>
              <a:srgbClr val="B45309"/>
            </a:solidFill>
            <a:prstDash val="solid"/>
          </a:ln>
        </p:spPr>
      </p:sp>
      <p:sp>
        <p:nvSpPr>
          <p:cNvPr id="17" name="Text 15"/>
          <p:cNvSpPr/>
          <p:nvPr/>
        </p:nvSpPr>
        <p:spPr>
          <a:xfrm>
            <a:off x="6355080" y="4937760"/>
            <a:ext cx="525780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TWO FIELDS WE CARE ABOUT</a:t>
            </a:r>
            <a:endParaRPr lang="en-US" sz="900" dirty="0"/>
          </a:p>
        </p:txBody>
      </p:sp>
      <p:sp>
        <p:nvSpPr>
          <p:cNvPr id="18" name="Text 16"/>
          <p:cNvSpPr/>
          <p:nvPr/>
        </p:nvSpPr>
        <p:spPr>
          <a:xfrm>
            <a:off x="6355080" y="5138928"/>
            <a:ext cx="5257800"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stop_reason and assistant_message</a:t>
            </a:r>
            <a:endParaRPr lang="en-US" sz="1300" dirty="0"/>
          </a:p>
        </p:txBody>
      </p:sp>
      <p:sp>
        <p:nvSpPr>
          <p:cNvPr id="19" name="Text 17"/>
          <p:cNvSpPr/>
          <p:nvPr/>
        </p:nvSpPr>
        <p:spPr>
          <a:xfrm>
            <a:off x="6355080" y="5431536"/>
            <a:ext cx="5257800" cy="74066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stop_reason tells us WHY the model stopped — we want "tool_use". assistant_message holds the structured tool request.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5 · STEP 4 OF 4 · THE LOOP · PART 2 OF 3</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5</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Handle the tool_use response — then run the tool</a:t>
            </a:r>
            <a:endParaRPr lang="en-US" sz="3200" dirty="0"/>
          </a:p>
        </p:txBody>
      </p:sp>
      <p:sp>
        <p:nvSpPr>
          <p:cNvPr id="8" name="Shape 6"/>
          <p:cNvSpPr/>
          <p:nvPr/>
        </p:nvSpPr>
        <p:spPr>
          <a:xfrm>
            <a:off x="502920" y="1691640"/>
            <a:ext cx="11185855" cy="3657600"/>
          </a:xfrm>
          <a:prstGeom prst="rect">
            <a:avLst/>
          </a:prstGeom>
          <a:solidFill>
            <a:srgbClr val="0F172A"/>
          </a:solidFill>
          <a:ln w="12700">
            <a:solidFill>
              <a:srgbClr val="0F172A"/>
            </a:solidFill>
            <a:prstDash val="solid"/>
          </a:ln>
        </p:spPr>
      </p:sp>
      <p:sp>
        <p:nvSpPr>
          <p:cNvPr id="9" name="Text 7"/>
          <p:cNvSpPr/>
          <p:nvPr/>
        </p:nvSpPr>
        <p:spPr>
          <a:xfrm>
            <a:off x="667512" y="1801368"/>
            <a:ext cx="10856671" cy="3438144"/>
          </a:xfrm>
          <a:prstGeom prst="rect">
            <a:avLst/>
          </a:prstGeom>
          <a:noFill/>
          <a:ln/>
        </p:spPr>
        <p:txBody>
          <a:bodyPr wrap="square" lIns="0" tIns="0" rIns="0" bIns="0"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if stop_reason == "tool_use":</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 Find the toolUse block in the response</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tool_use_block = None</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for block in assistant_message["content"]:</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if "toolUse" in block:</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tool_use_block = block["toolUse"]</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break</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tool_name = tool_use_block["name"]         # "get_weather"</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tool_input = tool_use_block["input"]       # {"location": "Seattle"}</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tool_use_id = tool_use_block["toolUseId"]  # unique id Bedrock assigns</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 Run the actual function</a:t>
            </a:r>
            <a:endParaRPr lang="en-US" sz="1200" dirty="0"/>
          </a:p>
          <a:p>
            <a:pPr indent="0" marL="0">
              <a:buNone/>
            </a:pPr>
            <a:r>
              <a:rPr lang="en-US" sz="1200" b="1" dirty="0">
                <a:solidFill>
                  <a:srgbClr val="6EE7B7"/>
                </a:solidFill>
                <a:latin typeface="Consolas" pitchFamily="34" charset="0"/>
                <a:ea typeface="Consolas" pitchFamily="34" charset="-122"/>
                <a:cs typeface="Consolas" pitchFamily="34" charset="-120"/>
              </a:rPr>
              <a:t>    result = run_tool(tool_name, tool_input)</a:t>
            </a:r>
            <a:endParaRPr lang="en-US" sz="1200" dirty="0"/>
          </a:p>
        </p:txBody>
      </p:sp>
      <p:sp>
        <p:nvSpPr>
          <p:cNvPr id="10" name="Shape 8"/>
          <p:cNvSpPr/>
          <p:nvPr/>
        </p:nvSpPr>
        <p:spPr>
          <a:xfrm>
            <a:off x="502920" y="5486400"/>
            <a:ext cx="11185855" cy="777240"/>
          </a:xfrm>
          <a:prstGeom prst="rect">
            <a:avLst/>
          </a:prstGeom>
          <a:solidFill>
            <a:srgbClr val="F1F5F9"/>
          </a:solidFill>
          <a:ln w="12700">
            <a:solidFill>
              <a:srgbClr val="F1F5F9"/>
            </a:solidFill>
            <a:prstDash val="solid"/>
          </a:ln>
        </p:spPr>
      </p:sp>
      <p:sp>
        <p:nvSpPr>
          <p:cNvPr id="11" name="Shape 9"/>
          <p:cNvSpPr/>
          <p:nvPr/>
        </p:nvSpPr>
        <p:spPr>
          <a:xfrm>
            <a:off x="502920" y="5486400"/>
            <a:ext cx="45720" cy="777240"/>
          </a:xfrm>
          <a:prstGeom prst="rect">
            <a:avLst/>
          </a:prstGeom>
          <a:solidFill>
            <a:srgbClr val="B45309"/>
          </a:solidFill>
          <a:ln w="12700">
            <a:solidFill>
              <a:srgbClr val="B45309"/>
            </a:solidFill>
            <a:prstDash val="solid"/>
          </a:ln>
        </p:spPr>
      </p:sp>
      <p:sp>
        <p:nvSpPr>
          <p:cNvPr id="12" name="Text 10"/>
          <p:cNvSpPr/>
          <p:nvPr/>
        </p:nvSpPr>
        <p:spPr>
          <a:xfrm>
            <a:off x="685800" y="557784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THE TOOLUSEID MATTERS</a:t>
            </a:r>
            <a:endParaRPr lang="en-US" sz="900" dirty="0"/>
          </a:p>
        </p:txBody>
      </p:sp>
      <p:sp>
        <p:nvSpPr>
          <p:cNvPr id="13" name="Text 11"/>
          <p:cNvSpPr/>
          <p:nvPr/>
        </p:nvSpPr>
        <p:spPr>
          <a:xfrm>
            <a:off x="685800" y="5779008"/>
            <a:ext cx="10911535" cy="39319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When we send the result back, we have to reference the same id so the model knows which tool call this result belongs to. Critical for parallel tool use.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5 · STEP 4 OF 4 · THE LOOP · PART 3 OF 3</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5</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Send the result back — the final answer</a:t>
            </a:r>
            <a:endParaRPr lang="en-US" sz="2800" dirty="0"/>
          </a:p>
        </p:txBody>
      </p:sp>
      <p:sp>
        <p:nvSpPr>
          <p:cNvPr id="8" name="Shape 6"/>
          <p:cNvSpPr/>
          <p:nvPr/>
        </p:nvSpPr>
        <p:spPr>
          <a:xfrm>
            <a:off x="502920" y="1691640"/>
            <a:ext cx="11185855" cy="4754880"/>
          </a:xfrm>
          <a:prstGeom prst="rect">
            <a:avLst/>
          </a:prstGeom>
          <a:solidFill>
            <a:srgbClr val="0F172A"/>
          </a:solidFill>
          <a:ln w="12700">
            <a:solidFill>
              <a:srgbClr val="0F172A"/>
            </a:solidFill>
            <a:prstDash val="solid"/>
          </a:ln>
        </p:spPr>
      </p:sp>
      <p:sp>
        <p:nvSpPr>
          <p:cNvPr id="9" name="Text 7"/>
          <p:cNvSpPr/>
          <p:nvPr/>
        </p:nvSpPr>
        <p:spPr>
          <a:xfrm>
            <a:off x="667512" y="1801368"/>
            <a:ext cx="10856671" cy="4535424"/>
          </a:xfrm>
          <a:prstGeom prst="rect">
            <a:avLst/>
          </a:prstGeom>
          <a:noFill/>
          <a:ln/>
        </p:spPr>
        <p:txBody>
          <a:bodyPr wrap="square" lIns="0" tIns="0" rIns="0" bIns="0"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 Append the model's tool-use message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messages.append(assistant_message)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Append the tool result as a new "user" message</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messages.append({</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"role": "user",</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"content": [{</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"toolResult": {</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"toolUseId": tool_use_id,</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"content": [{"json": result}],</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Second API call: model generates its final answer using the tool result</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final_response = bedrock.converse(</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modelId=model_id,</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messages=messages,</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toolConfig=TOOL_CONFIG,</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inferenceConfig={"temperature": 0.0, "maxTokens": 300},</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final_text = final_response["output"]["message"]["content"][0]["text"]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print(final_text)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5 · RECAP</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11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5</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What you can now do with tool use</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model can reach into the real world. The pattern stays the same no matter what the tool is.</a:t>
            </a:r>
            <a:endParaRPr lang="en-US" sz="1400" dirty="0"/>
          </a:p>
        </p:txBody>
      </p:sp>
      <p:sp>
        <p:nvSpPr>
          <p:cNvPr id="9" name="Shape 7"/>
          <p:cNvSpPr/>
          <p:nvPr/>
        </p:nvSpPr>
        <p:spPr>
          <a:xfrm>
            <a:off x="731520" y="2103120"/>
            <a:ext cx="365760" cy="365760"/>
          </a:xfrm>
          <a:prstGeom prst="rect">
            <a:avLst/>
          </a:prstGeom>
          <a:solidFill>
            <a:srgbClr val="047857"/>
          </a:solidFill>
          <a:ln w="12700">
            <a:solidFill>
              <a:srgbClr val="047857"/>
            </a:solidFill>
            <a:prstDash val="solid"/>
          </a:ln>
        </p:spPr>
      </p:sp>
      <p:sp>
        <p:nvSpPr>
          <p:cNvPr id="10" name="Text 8"/>
          <p:cNvSpPr/>
          <p:nvPr/>
        </p:nvSpPr>
        <p:spPr>
          <a:xfrm>
            <a:off x="731520" y="210312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11" name="Text 9"/>
          <p:cNvSpPr/>
          <p:nvPr/>
        </p:nvSpPr>
        <p:spPr>
          <a:xfrm>
            <a:off x="1280160" y="2103120"/>
            <a:ext cx="10058400" cy="365760"/>
          </a:xfrm>
          <a:prstGeom prst="rect">
            <a:avLst/>
          </a:prstGeom>
          <a:noFill/>
          <a:ln/>
        </p:spPr>
        <p:txBody>
          <a:bodyPr wrap="square" lIns="0" tIns="0" rIns="0" bIns="0" rtlCol="0" anchor="ctr"/>
          <a:lstStyle/>
          <a:p>
            <a:pPr indent="0" marL="0">
              <a:buNone/>
            </a:pPr>
            <a:r>
              <a:rPr lang="en-US" sz="1700" dirty="0">
                <a:solidFill>
                  <a:srgbClr val="0F172A"/>
                </a:solidFill>
                <a:latin typeface="Georgia" pitchFamily="34" charset="0"/>
                <a:ea typeface="Georgia" pitchFamily="34" charset="-122"/>
                <a:cs typeface="Georgia" pitchFamily="34" charset="-120"/>
              </a:rPr>
              <a:t>Define a Python function (or many)</a:t>
            </a:r>
            <a:endParaRPr lang="en-US" sz="1700" dirty="0"/>
          </a:p>
        </p:txBody>
      </p:sp>
      <p:sp>
        <p:nvSpPr>
          <p:cNvPr id="12" name="Shape 10"/>
          <p:cNvSpPr/>
          <p:nvPr/>
        </p:nvSpPr>
        <p:spPr>
          <a:xfrm>
            <a:off x="731520" y="2606040"/>
            <a:ext cx="365760" cy="365760"/>
          </a:xfrm>
          <a:prstGeom prst="rect">
            <a:avLst/>
          </a:prstGeom>
          <a:solidFill>
            <a:srgbClr val="047857"/>
          </a:solidFill>
          <a:ln w="12700">
            <a:solidFill>
              <a:srgbClr val="047857"/>
            </a:solidFill>
            <a:prstDash val="solid"/>
          </a:ln>
        </p:spPr>
      </p:sp>
      <p:sp>
        <p:nvSpPr>
          <p:cNvPr id="13" name="Text 11"/>
          <p:cNvSpPr/>
          <p:nvPr/>
        </p:nvSpPr>
        <p:spPr>
          <a:xfrm>
            <a:off x="731520" y="260604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14" name="Text 12"/>
          <p:cNvSpPr/>
          <p:nvPr/>
        </p:nvSpPr>
        <p:spPr>
          <a:xfrm>
            <a:off x="1280160" y="2606040"/>
            <a:ext cx="10058400" cy="365760"/>
          </a:xfrm>
          <a:prstGeom prst="rect">
            <a:avLst/>
          </a:prstGeom>
          <a:noFill/>
          <a:ln/>
        </p:spPr>
        <p:txBody>
          <a:bodyPr wrap="square" lIns="0" tIns="0" rIns="0" bIns="0" rtlCol="0" anchor="ctr"/>
          <a:lstStyle/>
          <a:p>
            <a:pPr indent="0" marL="0">
              <a:buNone/>
            </a:pPr>
            <a:r>
              <a:rPr lang="en-US" sz="1700" dirty="0">
                <a:solidFill>
                  <a:srgbClr val="0F172A"/>
                </a:solidFill>
                <a:latin typeface="Georgia" pitchFamily="34" charset="0"/>
                <a:ea typeface="Georgia" pitchFamily="34" charset="-122"/>
                <a:cs typeface="Georgia" pitchFamily="34" charset="-120"/>
              </a:rPr>
              <a:t>Describe it to the model as a tool</a:t>
            </a:r>
            <a:endParaRPr lang="en-US" sz="1700" dirty="0"/>
          </a:p>
        </p:txBody>
      </p:sp>
      <p:sp>
        <p:nvSpPr>
          <p:cNvPr id="15" name="Shape 13"/>
          <p:cNvSpPr/>
          <p:nvPr/>
        </p:nvSpPr>
        <p:spPr>
          <a:xfrm>
            <a:off x="731520" y="3108960"/>
            <a:ext cx="365760" cy="365760"/>
          </a:xfrm>
          <a:prstGeom prst="rect">
            <a:avLst/>
          </a:prstGeom>
          <a:solidFill>
            <a:srgbClr val="047857"/>
          </a:solidFill>
          <a:ln w="12700">
            <a:solidFill>
              <a:srgbClr val="047857"/>
            </a:solidFill>
            <a:prstDash val="solid"/>
          </a:ln>
        </p:spPr>
      </p:sp>
      <p:sp>
        <p:nvSpPr>
          <p:cNvPr id="16" name="Text 14"/>
          <p:cNvSpPr/>
          <p:nvPr/>
        </p:nvSpPr>
        <p:spPr>
          <a:xfrm>
            <a:off x="731520" y="310896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17" name="Text 15"/>
          <p:cNvSpPr/>
          <p:nvPr/>
        </p:nvSpPr>
        <p:spPr>
          <a:xfrm>
            <a:off x="1280160" y="3108960"/>
            <a:ext cx="10058400" cy="365760"/>
          </a:xfrm>
          <a:prstGeom prst="rect">
            <a:avLst/>
          </a:prstGeom>
          <a:noFill/>
          <a:ln/>
        </p:spPr>
        <p:txBody>
          <a:bodyPr wrap="square" lIns="0" tIns="0" rIns="0" bIns="0" rtlCol="0" anchor="ctr"/>
          <a:lstStyle/>
          <a:p>
            <a:pPr indent="0" marL="0">
              <a:buNone/>
            </a:pPr>
            <a:r>
              <a:rPr lang="en-US" sz="1700" dirty="0">
                <a:solidFill>
                  <a:srgbClr val="0F172A"/>
                </a:solidFill>
                <a:latin typeface="Georgia" pitchFamily="34" charset="0"/>
                <a:ea typeface="Georgia" pitchFamily="34" charset="-122"/>
                <a:cs typeface="Georgia" pitchFamily="34" charset="-120"/>
              </a:rPr>
              <a:t>Dispatch the model's request back to your code</a:t>
            </a:r>
            <a:endParaRPr lang="en-US" sz="1700" dirty="0"/>
          </a:p>
        </p:txBody>
      </p:sp>
      <p:sp>
        <p:nvSpPr>
          <p:cNvPr id="18" name="Shape 16"/>
          <p:cNvSpPr/>
          <p:nvPr/>
        </p:nvSpPr>
        <p:spPr>
          <a:xfrm>
            <a:off x="731520" y="3611880"/>
            <a:ext cx="365760" cy="365760"/>
          </a:xfrm>
          <a:prstGeom prst="rect">
            <a:avLst/>
          </a:prstGeom>
          <a:solidFill>
            <a:srgbClr val="047857"/>
          </a:solidFill>
          <a:ln w="12700">
            <a:solidFill>
              <a:srgbClr val="047857"/>
            </a:solidFill>
            <a:prstDash val="solid"/>
          </a:ln>
        </p:spPr>
      </p:sp>
      <p:sp>
        <p:nvSpPr>
          <p:cNvPr id="19" name="Text 17"/>
          <p:cNvSpPr/>
          <p:nvPr/>
        </p:nvSpPr>
        <p:spPr>
          <a:xfrm>
            <a:off x="731520" y="361188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20" name="Text 18"/>
          <p:cNvSpPr/>
          <p:nvPr/>
        </p:nvSpPr>
        <p:spPr>
          <a:xfrm>
            <a:off x="1280160" y="3611880"/>
            <a:ext cx="10058400" cy="365760"/>
          </a:xfrm>
          <a:prstGeom prst="rect">
            <a:avLst/>
          </a:prstGeom>
          <a:noFill/>
          <a:ln/>
        </p:spPr>
        <p:txBody>
          <a:bodyPr wrap="square" lIns="0" tIns="0" rIns="0" bIns="0" rtlCol="0" anchor="ctr"/>
          <a:lstStyle/>
          <a:p>
            <a:pPr indent="0" marL="0">
              <a:buNone/>
            </a:pPr>
            <a:r>
              <a:rPr lang="en-US" sz="1700" dirty="0">
                <a:solidFill>
                  <a:srgbClr val="0F172A"/>
                </a:solidFill>
                <a:latin typeface="Georgia" pitchFamily="34" charset="0"/>
                <a:ea typeface="Georgia" pitchFamily="34" charset="-122"/>
                <a:cs typeface="Georgia" pitchFamily="34" charset="-120"/>
              </a:rPr>
              <a:t>Send the result back so the model can answer</a:t>
            </a:r>
            <a:endParaRPr lang="en-US" sz="1700" dirty="0"/>
          </a:p>
        </p:txBody>
      </p:sp>
      <p:sp>
        <p:nvSpPr>
          <p:cNvPr id="21" name="Text 19"/>
          <p:cNvSpPr/>
          <p:nvPr/>
        </p:nvSpPr>
        <p:spPr>
          <a:xfrm>
            <a:off x="502920" y="4297680"/>
            <a:ext cx="11185855"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THE TOOL ITSELF CAN BE ANYTHING</a:t>
            </a:r>
            <a:endParaRPr lang="en-US" sz="1000" dirty="0"/>
          </a:p>
        </p:txBody>
      </p:sp>
      <p:sp>
        <p:nvSpPr>
          <p:cNvPr id="22" name="Shape 20"/>
          <p:cNvSpPr/>
          <p:nvPr/>
        </p:nvSpPr>
        <p:spPr>
          <a:xfrm>
            <a:off x="502920" y="4617720"/>
            <a:ext cx="2743200" cy="548640"/>
          </a:xfrm>
          <a:prstGeom prst="rect">
            <a:avLst/>
          </a:prstGeom>
          <a:solidFill>
            <a:srgbClr val="F8FAFC"/>
          </a:solidFill>
          <a:ln w="6350">
            <a:solidFill>
              <a:srgbClr val="E2E8F0"/>
            </a:solidFill>
            <a:prstDash val="solid"/>
          </a:ln>
        </p:spPr>
      </p:sp>
      <p:sp>
        <p:nvSpPr>
          <p:cNvPr id="23" name="Text 21"/>
          <p:cNvSpPr/>
          <p:nvPr/>
        </p:nvSpPr>
        <p:spPr>
          <a:xfrm>
            <a:off x="502920" y="4617720"/>
            <a:ext cx="2743200" cy="548640"/>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A local function</a:t>
            </a:r>
            <a:endParaRPr lang="en-US" sz="1200" dirty="0"/>
          </a:p>
        </p:txBody>
      </p:sp>
      <p:sp>
        <p:nvSpPr>
          <p:cNvPr id="24" name="Shape 22"/>
          <p:cNvSpPr/>
          <p:nvPr/>
        </p:nvSpPr>
        <p:spPr>
          <a:xfrm>
            <a:off x="3383280" y="4617720"/>
            <a:ext cx="2743200" cy="548640"/>
          </a:xfrm>
          <a:prstGeom prst="rect">
            <a:avLst/>
          </a:prstGeom>
          <a:solidFill>
            <a:srgbClr val="F8FAFC"/>
          </a:solidFill>
          <a:ln w="6350">
            <a:solidFill>
              <a:srgbClr val="E2E8F0"/>
            </a:solidFill>
            <a:prstDash val="solid"/>
          </a:ln>
        </p:spPr>
      </p:sp>
      <p:sp>
        <p:nvSpPr>
          <p:cNvPr id="25" name="Text 23"/>
          <p:cNvSpPr/>
          <p:nvPr/>
        </p:nvSpPr>
        <p:spPr>
          <a:xfrm>
            <a:off x="3383280" y="4617720"/>
            <a:ext cx="2743200" cy="548640"/>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An API call to another service</a:t>
            </a:r>
            <a:endParaRPr lang="en-US" sz="1200" dirty="0"/>
          </a:p>
        </p:txBody>
      </p:sp>
      <p:sp>
        <p:nvSpPr>
          <p:cNvPr id="26" name="Shape 24"/>
          <p:cNvSpPr/>
          <p:nvPr/>
        </p:nvSpPr>
        <p:spPr>
          <a:xfrm>
            <a:off x="6263640" y="4617720"/>
            <a:ext cx="2743200" cy="548640"/>
          </a:xfrm>
          <a:prstGeom prst="rect">
            <a:avLst/>
          </a:prstGeom>
          <a:solidFill>
            <a:srgbClr val="F8FAFC"/>
          </a:solidFill>
          <a:ln w="6350">
            <a:solidFill>
              <a:srgbClr val="E2E8F0"/>
            </a:solidFill>
            <a:prstDash val="solid"/>
          </a:ln>
        </p:spPr>
      </p:sp>
      <p:sp>
        <p:nvSpPr>
          <p:cNvPr id="27" name="Text 25"/>
          <p:cNvSpPr/>
          <p:nvPr/>
        </p:nvSpPr>
        <p:spPr>
          <a:xfrm>
            <a:off x="6263640" y="4617720"/>
            <a:ext cx="2743200" cy="548640"/>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A database query</a:t>
            </a:r>
            <a:endParaRPr lang="en-US" sz="1200" dirty="0"/>
          </a:p>
        </p:txBody>
      </p:sp>
      <p:sp>
        <p:nvSpPr>
          <p:cNvPr id="28" name="Shape 26"/>
          <p:cNvSpPr/>
          <p:nvPr/>
        </p:nvSpPr>
        <p:spPr>
          <a:xfrm>
            <a:off x="9144000" y="4617720"/>
            <a:ext cx="2743200" cy="548640"/>
          </a:xfrm>
          <a:prstGeom prst="rect">
            <a:avLst/>
          </a:prstGeom>
          <a:solidFill>
            <a:srgbClr val="F8FAFC"/>
          </a:solidFill>
          <a:ln w="6350">
            <a:solidFill>
              <a:srgbClr val="E2E8F0"/>
            </a:solidFill>
            <a:prstDash val="solid"/>
          </a:ln>
        </p:spPr>
      </p:sp>
      <p:sp>
        <p:nvSpPr>
          <p:cNvPr id="29" name="Text 27"/>
          <p:cNvSpPr/>
          <p:nvPr/>
        </p:nvSpPr>
        <p:spPr>
          <a:xfrm>
            <a:off x="9144000" y="4617720"/>
            <a:ext cx="2743200" cy="548640"/>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A Lambda / Step Function</a:t>
            </a:r>
            <a:endParaRPr lang="en-US" sz="1200" dirty="0"/>
          </a:p>
        </p:txBody>
      </p:sp>
      <p:sp>
        <p:nvSpPr>
          <p:cNvPr id="30" name="Shape 28"/>
          <p:cNvSpPr/>
          <p:nvPr/>
        </p:nvSpPr>
        <p:spPr>
          <a:xfrm>
            <a:off x="502920" y="5440680"/>
            <a:ext cx="11185855" cy="777240"/>
          </a:xfrm>
          <a:prstGeom prst="rect">
            <a:avLst/>
          </a:prstGeom>
          <a:solidFill>
            <a:srgbClr val="F1F5F9"/>
          </a:solidFill>
          <a:ln w="12700">
            <a:solidFill>
              <a:srgbClr val="F1F5F9"/>
            </a:solidFill>
            <a:prstDash val="solid"/>
          </a:ln>
        </p:spPr>
      </p:sp>
      <p:sp>
        <p:nvSpPr>
          <p:cNvPr id="31" name="Shape 29"/>
          <p:cNvSpPr/>
          <p:nvPr/>
        </p:nvSpPr>
        <p:spPr>
          <a:xfrm>
            <a:off x="502920" y="5440680"/>
            <a:ext cx="45720" cy="777240"/>
          </a:xfrm>
          <a:prstGeom prst="rect">
            <a:avLst/>
          </a:prstGeom>
          <a:solidFill>
            <a:srgbClr val="B45309"/>
          </a:solidFill>
          <a:ln w="12700">
            <a:solidFill>
              <a:srgbClr val="B45309"/>
            </a:solidFill>
            <a:prstDash val="solid"/>
          </a:ln>
        </p:spPr>
      </p:sp>
      <p:sp>
        <p:nvSpPr>
          <p:cNvPr id="32" name="Text 30"/>
          <p:cNvSpPr/>
          <p:nvPr/>
        </p:nvSpPr>
        <p:spPr>
          <a:xfrm>
            <a:off x="685800" y="553212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WHY THIS MATTERS</a:t>
            </a:r>
            <a:endParaRPr lang="en-US" sz="900" dirty="0"/>
          </a:p>
        </p:txBody>
      </p:sp>
      <p:sp>
        <p:nvSpPr>
          <p:cNvPr id="33" name="Text 31"/>
          <p:cNvSpPr/>
          <p:nvPr/>
        </p:nvSpPr>
        <p:spPr>
          <a:xfrm>
            <a:off x="685800" y="5733288"/>
            <a:ext cx="10911535" cy="39319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Chatbots that search the web. Coding assistants that read files. Personal assistants that book meetings. They all run the exact pattern you just built.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6 · THE NEXT GAP</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12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6</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Tools let the model call code. What about your data?</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model has zero access to anything that isn't on the open internet.</a:t>
            </a:r>
            <a:endParaRPr lang="en-US" sz="1400" dirty="0"/>
          </a:p>
        </p:txBody>
      </p:sp>
      <p:sp>
        <p:nvSpPr>
          <p:cNvPr id="9" name="Text 7"/>
          <p:cNvSpPr/>
          <p:nvPr/>
        </p:nvSpPr>
        <p:spPr>
          <a:xfrm>
            <a:off x="502920" y="2103120"/>
            <a:ext cx="11185855"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THE MODEL HAS NONE OF THIS</a:t>
            </a:r>
            <a:endParaRPr lang="en-US" sz="1000" dirty="0"/>
          </a:p>
        </p:txBody>
      </p:sp>
      <p:sp>
        <p:nvSpPr>
          <p:cNvPr id="10" name="Shape 8"/>
          <p:cNvSpPr/>
          <p:nvPr/>
        </p:nvSpPr>
        <p:spPr>
          <a:xfrm>
            <a:off x="731520" y="2468880"/>
            <a:ext cx="365760" cy="365760"/>
          </a:xfrm>
          <a:prstGeom prst="rect">
            <a:avLst/>
          </a:prstGeom>
          <a:solidFill>
            <a:srgbClr val="FEE2E2"/>
          </a:solidFill>
          <a:ln w="12700">
            <a:solidFill>
              <a:srgbClr val="B91C1C"/>
            </a:solidFill>
            <a:prstDash val="solid"/>
          </a:ln>
        </p:spPr>
      </p:sp>
      <p:sp>
        <p:nvSpPr>
          <p:cNvPr id="11" name="Text 9"/>
          <p:cNvSpPr/>
          <p:nvPr/>
        </p:nvSpPr>
        <p:spPr>
          <a:xfrm>
            <a:off x="731520" y="2468880"/>
            <a:ext cx="365760" cy="365760"/>
          </a:xfrm>
          <a:prstGeom prst="rect">
            <a:avLst/>
          </a:prstGeom>
          <a:noFill/>
          <a:ln/>
        </p:spPr>
        <p:txBody>
          <a:bodyPr wrap="square" lIns="0" tIns="0" rIns="0" bIns="0" rtlCol="0" anchor="ctr"/>
          <a:lstStyle/>
          <a:p>
            <a:pPr algn="ctr" indent="0" marL="0">
              <a:buNone/>
            </a:pPr>
            <a:r>
              <a:rPr lang="en-US" sz="1800" b="1" dirty="0">
                <a:solidFill>
                  <a:srgbClr val="B91C1C"/>
                </a:solidFill>
                <a:latin typeface="Georgia" pitchFamily="34" charset="0"/>
                <a:ea typeface="Georgia" pitchFamily="34" charset="-122"/>
                <a:cs typeface="Georgia" pitchFamily="34" charset="-120"/>
              </a:rPr>
              <a:t>✕</a:t>
            </a:r>
            <a:endParaRPr lang="en-US" sz="1800" dirty="0"/>
          </a:p>
        </p:txBody>
      </p:sp>
      <p:sp>
        <p:nvSpPr>
          <p:cNvPr id="12" name="Text 10"/>
          <p:cNvSpPr/>
          <p:nvPr/>
        </p:nvSpPr>
        <p:spPr>
          <a:xfrm>
            <a:off x="1280160" y="2468880"/>
            <a:ext cx="10058400" cy="365760"/>
          </a:xfrm>
          <a:prstGeom prst="rect">
            <a:avLst/>
          </a:prstGeom>
          <a:noFill/>
          <a:ln/>
        </p:spPr>
        <p:txBody>
          <a:bodyPr wrap="square" lIns="0" tIns="0" rIns="0" bIns="0" rtlCol="0" anchor="ctr"/>
          <a:lstStyle/>
          <a:p>
            <a:pPr indent="0" marL="0">
              <a:buNone/>
            </a:pPr>
            <a:r>
              <a:rPr lang="en-US" sz="1700" dirty="0">
                <a:solidFill>
                  <a:srgbClr val="0F172A"/>
                </a:solidFill>
                <a:latin typeface="Georgia" pitchFamily="34" charset="0"/>
                <a:ea typeface="Georgia" pitchFamily="34" charset="-122"/>
                <a:cs typeface="Georgia" pitchFamily="34" charset="-120"/>
              </a:rPr>
              <a:t>Your company's internal documentation</a:t>
            </a:r>
            <a:endParaRPr lang="en-US" sz="1700" dirty="0"/>
          </a:p>
        </p:txBody>
      </p:sp>
      <p:sp>
        <p:nvSpPr>
          <p:cNvPr id="13" name="Shape 11"/>
          <p:cNvSpPr/>
          <p:nvPr/>
        </p:nvSpPr>
        <p:spPr>
          <a:xfrm>
            <a:off x="731520" y="2971800"/>
            <a:ext cx="365760" cy="365760"/>
          </a:xfrm>
          <a:prstGeom prst="rect">
            <a:avLst/>
          </a:prstGeom>
          <a:solidFill>
            <a:srgbClr val="FEE2E2"/>
          </a:solidFill>
          <a:ln w="12700">
            <a:solidFill>
              <a:srgbClr val="B91C1C"/>
            </a:solidFill>
            <a:prstDash val="solid"/>
          </a:ln>
        </p:spPr>
      </p:sp>
      <p:sp>
        <p:nvSpPr>
          <p:cNvPr id="14" name="Text 12"/>
          <p:cNvSpPr/>
          <p:nvPr/>
        </p:nvSpPr>
        <p:spPr>
          <a:xfrm>
            <a:off x="731520" y="2971800"/>
            <a:ext cx="365760" cy="365760"/>
          </a:xfrm>
          <a:prstGeom prst="rect">
            <a:avLst/>
          </a:prstGeom>
          <a:noFill/>
          <a:ln/>
        </p:spPr>
        <p:txBody>
          <a:bodyPr wrap="square" lIns="0" tIns="0" rIns="0" bIns="0" rtlCol="0" anchor="ctr"/>
          <a:lstStyle/>
          <a:p>
            <a:pPr algn="ctr" indent="0" marL="0">
              <a:buNone/>
            </a:pPr>
            <a:r>
              <a:rPr lang="en-US" sz="1800" b="1" dirty="0">
                <a:solidFill>
                  <a:srgbClr val="B91C1C"/>
                </a:solidFill>
                <a:latin typeface="Georgia" pitchFamily="34" charset="0"/>
                <a:ea typeface="Georgia" pitchFamily="34" charset="-122"/>
                <a:cs typeface="Georgia" pitchFamily="34" charset="-120"/>
              </a:rPr>
              <a:t>✕</a:t>
            </a:r>
            <a:endParaRPr lang="en-US" sz="1800" dirty="0"/>
          </a:p>
        </p:txBody>
      </p:sp>
      <p:sp>
        <p:nvSpPr>
          <p:cNvPr id="15" name="Text 13"/>
          <p:cNvSpPr/>
          <p:nvPr/>
        </p:nvSpPr>
        <p:spPr>
          <a:xfrm>
            <a:off x="1280160" y="2971800"/>
            <a:ext cx="10058400" cy="365760"/>
          </a:xfrm>
          <a:prstGeom prst="rect">
            <a:avLst/>
          </a:prstGeom>
          <a:noFill/>
          <a:ln/>
        </p:spPr>
        <p:txBody>
          <a:bodyPr wrap="square" lIns="0" tIns="0" rIns="0" bIns="0" rtlCol="0" anchor="ctr"/>
          <a:lstStyle/>
          <a:p>
            <a:pPr indent="0" marL="0">
              <a:buNone/>
            </a:pPr>
            <a:r>
              <a:rPr lang="en-US" sz="1700" dirty="0">
                <a:solidFill>
                  <a:srgbClr val="0F172A"/>
                </a:solidFill>
                <a:latin typeface="Georgia" pitchFamily="34" charset="0"/>
                <a:ea typeface="Georgia" pitchFamily="34" charset="-122"/>
                <a:cs typeface="Georgia" pitchFamily="34" charset="-120"/>
              </a:rPr>
              <a:t>Your product specs</a:t>
            </a:r>
            <a:endParaRPr lang="en-US" sz="1700" dirty="0"/>
          </a:p>
        </p:txBody>
      </p:sp>
      <p:sp>
        <p:nvSpPr>
          <p:cNvPr id="16" name="Shape 14"/>
          <p:cNvSpPr/>
          <p:nvPr/>
        </p:nvSpPr>
        <p:spPr>
          <a:xfrm>
            <a:off x="731520" y="3474720"/>
            <a:ext cx="365760" cy="365760"/>
          </a:xfrm>
          <a:prstGeom prst="rect">
            <a:avLst/>
          </a:prstGeom>
          <a:solidFill>
            <a:srgbClr val="FEE2E2"/>
          </a:solidFill>
          <a:ln w="12700">
            <a:solidFill>
              <a:srgbClr val="B91C1C"/>
            </a:solidFill>
            <a:prstDash val="solid"/>
          </a:ln>
        </p:spPr>
      </p:sp>
      <p:sp>
        <p:nvSpPr>
          <p:cNvPr id="17" name="Text 15"/>
          <p:cNvSpPr/>
          <p:nvPr/>
        </p:nvSpPr>
        <p:spPr>
          <a:xfrm>
            <a:off x="731520" y="3474720"/>
            <a:ext cx="365760" cy="365760"/>
          </a:xfrm>
          <a:prstGeom prst="rect">
            <a:avLst/>
          </a:prstGeom>
          <a:noFill/>
          <a:ln/>
        </p:spPr>
        <p:txBody>
          <a:bodyPr wrap="square" lIns="0" tIns="0" rIns="0" bIns="0" rtlCol="0" anchor="ctr"/>
          <a:lstStyle/>
          <a:p>
            <a:pPr algn="ctr" indent="0" marL="0">
              <a:buNone/>
            </a:pPr>
            <a:r>
              <a:rPr lang="en-US" sz="1800" b="1" dirty="0">
                <a:solidFill>
                  <a:srgbClr val="B91C1C"/>
                </a:solidFill>
                <a:latin typeface="Georgia" pitchFamily="34" charset="0"/>
                <a:ea typeface="Georgia" pitchFamily="34" charset="-122"/>
                <a:cs typeface="Georgia" pitchFamily="34" charset="-120"/>
              </a:rPr>
              <a:t>✕</a:t>
            </a:r>
            <a:endParaRPr lang="en-US" sz="1800" dirty="0"/>
          </a:p>
        </p:txBody>
      </p:sp>
      <p:sp>
        <p:nvSpPr>
          <p:cNvPr id="18" name="Text 16"/>
          <p:cNvSpPr/>
          <p:nvPr/>
        </p:nvSpPr>
        <p:spPr>
          <a:xfrm>
            <a:off x="1280160" y="3474720"/>
            <a:ext cx="10058400" cy="365760"/>
          </a:xfrm>
          <a:prstGeom prst="rect">
            <a:avLst/>
          </a:prstGeom>
          <a:noFill/>
          <a:ln/>
        </p:spPr>
        <p:txBody>
          <a:bodyPr wrap="square" lIns="0" tIns="0" rIns="0" bIns="0" rtlCol="0" anchor="ctr"/>
          <a:lstStyle/>
          <a:p>
            <a:pPr indent="0" marL="0">
              <a:buNone/>
            </a:pPr>
            <a:r>
              <a:rPr lang="en-US" sz="1700" dirty="0">
                <a:solidFill>
                  <a:srgbClr val="0F172A"/>
                </a:solidFill>
                <a:latin typeface="Georgia" pitchFamily="34" charset="0"/>
                <a:ea typeface="Georgia" pitchFamily="34" charset="-122"/>
                <a:cs typeface="Georgia" pitchFamily="34" charset="-120"/>
              </a:rPr>
              <a:t>Your policies and FAQs</a:t>
            </a:r>
            <a:endParaRPr lang="en-US" sz="1700" dirty="0"/>
          </a:p>
        </p:txBody>
      </p:sp>
      <p:sp>
        <p:nvSpPr>
          <p:cNvPr id="19" name="Shape 17"/>
          <p:cNvSpPr/>
          <p:nvPr/>
        </p:nvSpPr>
        <p:spPr>
          <a:xfrm>
            <a:off x="731520" y="3977640"/>
            <a:ext cx="365760" cy="365760"/>
          </a:xfrm>
          <a:prstGeom prst="rect">
            <a:avLst/>
          </a:prstGeom>
          <a:solidFill>
            <a:srgbClr val="FEE2E2"/>
          </a:solidFill>
          <a:ln w="12700">
            <a:solidFill>
              <a:srgbClr val="B91C1C"/>
            </a:solidFill>
            <a:prstDash val="solid"/>
          </a:ln>
        </p:spPr>
      </p:sp>
      <p:sp>
        <p:nvSpPr>
          <p:cNvPr id="20" name="Text 18"/>
          <p:cNvSpPr/>
          <p:nvPr/>
        </p:nvSpPr>
        <p:spPr>
          <a:xfrm>
            <a:off x="731520" y="3977640"/>
            <a:ext cx="365760" cy="365760"/>
          </a:xfrm>
          <a:prstGeom prst="rect">
            <a:avLst/>
          </a:prstGeom>
          <a:noFill/>
          <a:ln/>
        </p:spPr>
        <p:txBody>
          <a:bodyPr wrap="square" lIns="0" tIns="0" rIns="0" bIns="0" rtlCol="0" anchor="ctr"/>
          <a:lstStyle/>
          <a:p>
            <a:pPr algn="ctr" indent="0" marL="0">
              <a:buNone/>
            </a:pPr>
            <a:r>
              <a:rPr lang="en-US" sz="1800" b="1" dirty="0">
                <a:solidFill>
                  <a:srgbClr val="B91C1C"/>
                </a:solidFill>
                <a:latin typeface="Georgia" pitchFamily="34" charset="0"/>
                <a:ea typeface="Georgia" pitchFamily="34" charset="-122"/>
                <a:cs typeface="Georgia" pitchFamily="34" charset="-120"/>
              </a:rPr>
              <a:t>✕</a:t>
            </a:r>
            <a:endParaRPr lang="en-US" sz="1800" dirty="0"/>
          </a:p>
        </p:txBody>
      </p:sp>
      <p:sp>
        <p:nvSpPr>
          <p:cNvPr id="21" name="Text 19"/>
          <p:cNvSpPr/>
          <p:nvPr/>
        </p:nvSpPr>
        <p:spPr>
          <a:xfrm>
            <a:off x="1280160" y="3977640"/>
            <a:ext cx="10058400" cy="365760"/>
          </a:xfrm>
          <a:prstGeom prst="rect">
            <a:avLst/>
          </a:prstGeom>
          <a:noFill/>
          <a:ln/>
        </p:spPr>
        <p:txBody>
          <a:bodyPr wrap="square" lIns="0" tIns="0" rIns="0" bIns="0" rtlCol="0" anchor="ctr"/>
          <a:lstStyle/>
          <a:p>
            <a:pPr indent="0" marL="0">
              <a:buNone/>
            </a:pPr>
            <a:r>
              <a:rPr lang="en-US" sz="1700" dirty="0">
                <a:solidFill>
                  <a:srgbClr val="0F172A"/>
                </a:solidFill>
                <a:latin typeface="Georgia" pitchFamily="34" charset="0"/>
                <a:ea typeface="Georgia" pitchFamily="34" charset="-122"/>
                <a:cs typeface="Georgia" pitchFamily="34" charset="-120"/>
              </a:rPr>
              <a:t>Anything proprietary</a:t>
            </a:r>
            <a:endParaRPr lang="en-US" sz="1700" dirty="0"/>
          </a:p>
        </p:txBody>
      </p:sp>
      <p:sp>
        <p:nvSpPr>
          <p:cNvPr id="22" name="Shape 20"/>
          <p:cNvSpPr/>
          <p:nvPr/>
        </p:nvSpPr>
        <p:spPr>
          <a:xfrm>
            <a:off x="502920" y="5120640"/>
            <a:ext cx="11185855" cy="1143000"/>
          </a:xfrm>
          <a:prstGeom prst="rect">
            <a:avLst/>
          </a:prstGeom>
          <a:solidFill>
            <a:srgbClr val="FEE2E2"/>
          </a:solidFill>
          <a:ln w="12700">
            <a:solidFill>
              <a:srgbClr val="FEE2E2"/>
            </a:solidFill>
            <a:prstDash val="solid"/>
          </a:ln>
        </p:spPr>
      </p:sp>
      <p:sp>
        <p:nvSpPr>
          <p:cNvPr id="23" name="Shape 21"/>
          <p:cNvSpPr/>
          <p:nvPr/>
        </p:nvSpPr>
        <p:spPr>
          <a:xfrm>
            <a:off x="502920" y="5120640"/>
            <a:ext cx="45720" cy="1143000"/>
          </a:xfrm>
          <a:prstGeom prst="rect">
            <a:avLst/>
          </a:prstGeom>
          <a:solidFill>
            <a:srgbClr val="B91C1C"/>
          </a:solidFill>
          <a:ln w="12700">
            <a:solidFill>
              <a:srgbClr val="B91C1C"/>
            </a:solidFill>
            <a:prstDash val="solid"/>
          </a:ln>
        </p:spPr>
      </p:sp>
      <p:sp>
        <p:nvSpPr>
          <p:cNvPr id="24" name="Text 22"/>
          <p:cNvSpPr/>
          <p:nvPr/>
        </p:nvSpPr>
        <p:spPr>
          <a:xfrm>
            <a:off x="685800" y="5212080"/>
            <a:ext cx="10911535" cy="201168"/>
          </a:xfrm>
          <a:prstGeom prst="rect">
            <a:avLst/>
          </a:prstGeom>
          <a:noFill/>
          <a:ln/>
        </p:spPr>
        <p:txBody>
          <a:bodyPr wrap="square" lIns="0" tIns="0" rIns="0" bIns="0" rtlCol="0" anchor="ctr"/>
          <a:lstStyle/>
          <a:p>
            <a:pPr indent="0" marL="0">
              <a:buNone/>
            </a:pPr>
            <a:r>
              <a:rPr lang="en-US" sz="900" b="1" spc="300" kern="0" dirty="0">
                <a:solidFill>
                  <a:srgbClr val="B91C1C"/>
                </a:solidFill>
                <a:latin typeface="Calibri" pitchFamily="34" charset="0"/>
                <a:ea typeface="Calibri" pitchFamily="34" charset="-122"/>
                <a:cs typeface="Calibri" pitchFamily="34" charset="-120"/>
              </a:rPr>
              <a:t>THE FAILURE MODE</a:t>
            </a:r>
            <a:endParaRPr lang="en-US" sz="900" dirty="0"/>
          </a:p>
        </p:txBody>
      </p:sp>
      <p:sp>
        <p:nvSpPr>
          <p:cNvPr id="25" name="Text 23"/>
          <p:cNvSpPr/>
          <p:nvPr/>
        </p:nvSpPr>
        <p:spPr>
          <a:xfrm>
            <a:off x="685800" y="541324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Ask without grounding → the model hallucinates.</a:t>
            </a:r>
            <a:endParaRPr lang="en-US" sz="1300" dirty="0"/>
          </a:p>
        </p:txBody>
      </p:sp>
      <p:sp>
        <p:nvSpPr>
          <p:cNvPr id="26" name="Text 24"/>
          <p:cNvSpPr/>
          <p:nvPr/>
        </p:nvSpPr>
        <p:spPr>
          <a:xfrm>
            <a:off x="685800" y="5705856"/>
            <a:ext cx="10911535" cy="46634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Ask the model “what's our company's refund policy?” and it will produce something plausible-sounding that is completely made up. Because it has never seen your policy. This is the single biggest blocker to shipping AI to real users.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6 · THE FIX</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13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6</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RAG — Retrieval-Augmented Generation</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endParaRPr lang="en-US" sz="1400" dirty="0"/>
          </a:p>
        </p:txBody>
      </p:sp>
      <p:sp>
        <p:nvSpPr>
          <p:cNvPr id="9" name="Shape 7"/>
          <p:cNvSpPr/>
          <p:nvPr/>
        </p:nvSpPr>
        <p:spPr>
          <a:xfrm>
            <a:off x="502920" y="2011680"/>
            <a:ext cx="11185855" cy="1645920"/>
          </a:xfrm>
          <a:prstGeom prst="rect">
            <a:avLst/>
          </a:prstGeom>
          <a:solidFill>
            <a:srgbClr val="FEF3C7"/>
          </a:solidFill>
          <a:ln w="12700">
            <a:solidFill>
              <a:srgbClr val="B45309"/>
            </a:solidFill>
            <a:prstDash val="solid"/>
          </a:ln>
        </p:spPr>
      </p:sp>
      <p:sp>
        <p:nvSpPr>
          <p:cNvPr id="10" name="Shape 8"/>
          <p:cNvSpPr/>
          <p:nvPr/>
        </p:nvSpPr>
        <p:spPr>
          <a:xfrm>
            <a:off x="502920" y="2011680"/>
            <a:ext cx="73152" cy="1645920"/>
          </a:xfrm>
          <a:prstGeom prst="rect">
            <a:avLst/>
          </a:prstGeom>
          <a:solidFill>
            <a:srgbClr val="B45309"/>
          </a:solidFill>
          <a:ln w="12700">
            <a:solidFill>
              <a:srgbClr val="B45309"/>
            </a:solidFill>
            <a:prstDash val="solid"/>
          </a:ln>
        </p:spPr>
      </p:sp>
      <p:sp>
        <p:nvSpPr>
          <p:cNvPr id="11" name="Text 9"/>
          <p:cNvSpPr/>
          <p:nvPr/>
        </p:nvSpPr>
        <p:spPr>
          <a:xfrm>
            <a:off x="777240" y="2148840"/>
            <a:ext cx="10911535" cy="914400"/>
          </a:xfrm>
          <a:prstGeom prst="rect">
            <a:avLst/>
          </a:prstGeom>
          <a:noFill/>
          <a:ln/>
        </p:spPr>
        <p:txBody>
          <a:bodyPr wrap="square" lIns="0" tIns="0" rIns="0" bIns="0" rtlCol="0" anchor="ctr"/>
          <a:lstStyle/>
          <a:p>
            <a:pPr indent="0" marL="0">
              <a:buNone/>
            </a:pPr>
            <a:r>
              <a:rPr lang="en-US" sz="2200" i="1" dirty="0">
                <a:solidFill>
                  <a:srgbClr val="0F172A"/>
                </a:solidFill>
                <a:latin typeface="Georgia" pitchFamily="34" charset="0"/>
                <a:ea typeface="Georgia" pitchFamily="34" charset="-122"/>
                <a:cs typeface="Georgia" pitchFamily="34" charset="-120"/>
              </a:rPr>
              <a:t>Before you ask the model to answer, search your own documents for relevant information. Then include that data in the prompt.</a:t>
            </a:r>
            <a:endParaRPr lang="en-US" sz="2200" dirty="0"/>
          </a:p>
        </p:txBody>
      </p:sp>
      <p:sp>
        <p:nvSpPr>
          <p:cNvPr id="12" name="Text 10"/>
          <p:cNvSpPr/>
          <p:nvPr/>
        </p:nvSpPr>
        <p:spPr>
          <a:xfrm>
            <a:off x="777240" y="3108960"/>
            <a:ext cx="10911535" cy="365760"/>
          </a:xfrm>
          <a:prstGeom prst="rect">
            <a:avLst/>
          </a:prstGeom>
          <a:noFill/>
          <a:ln/>
        </p:spPr>
        <p:txBody>
          <a:bodyPr wrap="square" lIns="0" tIns="0" rIns="0" bIns="0" rtlCol="0" anchor="ctr"/>
          <a:lstStyle/>
          <a:p>
            <a:pPr indent="0" marL="0">
              <a:buNone/>
            </a:pPr>
            <a:r>
              <a:rPr lang="en-US" sz="1400" i="1" dirty="0">
                <a:solidFill>
                  <a:srgbClr val="334155"/>
                </a:solidFill>
                <a:latin typeface="Calibri" pitchFamily="34" charset="0"/>
                <a:ea typeface="Calibri" pitchFamily="34" charset="-122"/>
                <a:cs typeface="Calibri" pitchFamily="34" charset="-120"/>
              </a:rPr>
              <a:t>The model now answers grounded in your actual data — not just training data.</a:t>
            </a:r>
            <a:endParaRPr lang="en-US" sz="1400" dirty="0"/>
          </a:p>
        </p:txBody>
      </p:sp>
      <p:sp>
        <p:nvSpPr>
          <p:cNvPr id="13" name="Text 11"/>
          <p:cNvSpPr/>
          <p:nvPr/>
        </p:nvSpPr>
        <p:spPr>
          <a:xfrm>
            <a:off x="502920" y="4023360"/>
            <a:ext cx="11185855"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THE NAME EXPLAINS ITSELF</a:t>
            </a:r>
            <a:endParaRPr lang="en-US" sz="1000" dirty="0"/>
          </a:p>
        </p:txBody>
      </p:sp>
      <p:sp>
        <p:nvSpPr>
          <p:cNvPr id="14" name="Shape 12"/>
          <p:cNvSpPr/>
          <p:nvPr/>
        </p:nvSpPr>
        <p:spPr>
          <a:xfrm>
            <a:off x="502920" y="4343400"/>
            <a:ext cx="3657600" cy="1463040"/>
          </a:xfrm>
          <a:prstGeom prst="rect">
            <a:avLst/>
          </a:prstGeom>
          <a:solidFill>
            <a:srgbClr val="F8FAFC"/>
          </a:solidFill>
          <a:ln w="6350">
            <a:solidFill>
              <a:srgbClr val="E2E8F0"/>
            </a:solidFill>
            <a:prstDash val="solid"/>
          </a:ln>
        </p:spPr>
      </p:sp>
      <p:sp>
        <p:nvSpPr>
          <p:cNvPr id="15" name="Text 13"/>
          <p:cNvSpPr/>
          <p:nvPr/>
        </p:nvSpPr>
        <p:spPr>
          <a:xfrm>
            <a:off x="685800" y="4434840"/>
            <a:ext cx="3291840" cy="777240"/>
          </a:xfrm>
          <a:prstGeom prst="rect">
            <a:avLst/>
          </a:prstGeom>
          <a:noFill/>
          <a:ln/>
        </p:spPr>
        <p:txBody>
          <a:bodyPr wrap="square" lIns="0" tIns="0" rIns="0" bIns="0" rtlCol="0" anchor="ctr"/>
          <a:lstStyle/>
          <a:p>
            <a:pPr indent="0" marL="0">
              <a:buNone/>
            </a:pPr>
            <a:r>
              <a:rPr lang="en-US" sz="5600" b="1" dirty="0">
                <a:solidFill>
                  <a:srgbClr val="B45309"/>
                </a:solidFill>
                <a:latin typeface="Georgia" pitchFamily="34" charset="0"/>
                <a:ea typeface="Georgia" pitchFamily="34" charset="-122"/>
                <a:cs typeface="Georgia" pitchFamily="34" charset="-120"/>
              </a:rPr>
              <a:t>R</a:t>
            </a:r>
            <a:pPr indent="0" marL="0">
              <a:buNone/>
            </a:pPr>
            <a:r>
              <a:rPr lang="en-US" sz="2800" dirty="0">
                <a:solidFill>
                  <a:srgbClr val="0F172A"/>
                </a:solidFill>
                <a:latin typeface="Georgia" pitchFamily="34" charset="0"/>
                <a:ea typeface="Georgia" pitchFamily="34" charset="-122"/>
                <a:cs typeface="Georgia" pitchFamily="34" charset="-120"/>
              </a:rPr>
              <a:t>etrieve</a:t>
            </a:r>
            <a:endParaRPr lang="en-US" sz="5600" dirty="0"/>
          </a:p>
        </p:txBody>
      </p:sp>
      <p:sp>
        <p:nvSpPr>
          <p:cNvPr id="16" name="Text 14"/>
          <p:cNvSpPr/>
          <p:nvPr/>
        </p:nvSpPr>
        <p:spPr>
          <a:xfrm>
            <a:off x="685800" y="5257800"/>
            <a:ext cx="329184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data</a:t>
            </a:r>
            <a:endParaRPr lang="en-US" sz="1400" dirty="0"/>
          </a:p>
        </p:txBody>
      </p:sp>
      <p:sp>
        <p:nvSpPr>
          <p:cNvPr id="17" name="Shape 15"/>
          <p:cNvSpPr/>
          <p:nvPr/>
        </p:nvSpPr>
        <p:spPr>
          <a:xfrm>
            <a:off x="4343400" y="4343400"/>
            <a:ext cx="3657600" cy="1463040"/>
          </a:xfrm>
          <a:prstGeom prst="rect">
            <a:avLst/>
          </a:prstGeom>
          <a:solidFill>
            <a:srgbClr val="F8FAFC"/>
          </a:solidFill>
          <a:ln w="6350">
            <a:solidFill>
              <a:srgbClr val="E2E8F0"/>
            </a:solidFill>
            <a:prstDash val="solid"/>
          </a:ln>
        </p:spPr>
      </p:sp>
      <p:sp>
        <p:nvSpPr>
          <p:cNvPr id="18" name="Text 16"/>
          <p:cNvSpPr/>
          <p:nvPr/>
        </p:nvSpPr>
        <p:spPr>
          <a:xfrm>
            <a:off x="4526280" y="4434840"/>
            <a:ext cx="3291840" cy="777240"/>
          </a:xfrm>
          <a:prstGeom prst="rect">
            <a:avLst/>
          </a:prstGeom>
          <a:noFill/>
          <a:ln/>
        </p:spPr>
        <p:txBody>
          <a:bodyPr wrap="square" lIns="0" tIns="0" rIns="0" bIns="0" rtlCol="0" anchor="ctr"/>
          <a:lstStyle/>
          <a:p>
            <a:pPr indent="0" marL="0">
              <a:buNone/>
            </a:pPr>
            <a:r>
              <a:rPr lang="en-US" sz="5600" b="1" dirty="0">
                <a:solidFill>
                  <a:srgbClr val="B45309"/>
                </a:solidFill>
                <a:latin typeface="Georgia" pitchFamily="34" charset="0"/>
                <a:ea typeface="Georgia" pitchFamily="34" charset="-122"/>
                <a:cs typeface="Georgia" pitchFamily="34" charset="-120"/>
              </a:rPr>
              <a:t>A</a:t>
            </a:r>
            <a:pPr indent="0" marL="0">
              <a:buNone/>
            </a:pPr>
            <a:r>
              <a:rPr lang="en-US" sz="2800" dirty="0">
                <a:solidFill>
                  <a:srgbClr val="0F172A"/>
                </a:solidFill>
                <a:latin typeface="Georgia" pitchFamily="34" charset="0"/>
                <a:ea typeface="Georgia" pitchFamily="34" charset="-122"/>
                <a:cs typeface="Georgia" pitchFamily="34" charset="-120"/>
              </a:rPr>
              <a:t>ugment</a:t>
            </a:r>
            <a:endParaRPr lang="en-US" sz="5600" dirty="0"/>
          </a:p>
        </p:txBody>
      </p:sp>
      <p:sp>
        <p:nvSpPr>
          <p:cNvPr id="19" name="Text 17"/>
          <p:cNvSpPr/>
          <p:nvPr/>
        </p:nvSpPr>
        <p:spPr>
          <a:xfrm>
            <a:off x="4526280" y="5257800"/>
            <a:ext cx="329184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prompt</a:t>
            </a:r>
            <a:endParaRPr lang="en-US" sz="1400" dirty="0"/>
          </a:p>
        </p:txBody>
      </p:sp>
      <p:sp>
        <p:nvSpPr>
          <p:cNvPr id="20" name="Shape 18"/>
          <p:cNvSpPr/>
          <p:nvPr/>
        </p:nvSpPr>
        <p:spPr>
          <a:xfrm>
            <a:off x="8183880" y="4343400"/>
            <a:ext cx="3657600" cy="1463040"/>
          </a:xfrm>
          <a:prstGeom prst="rect">
            <a:avLst/>
          </a:prstGeom>
          <a:solidFill>
            <a:srgbClr val="F8FAFC"/>
          </a:solidFill>
          <a:ln w="6350">
            <a:solidFill>
              <a:srgbClr val="E2E8F0"/>
            </a:solidFill>
            <a:prstDash val="solid"/>
          </a:ln>
        </p:spPr>
      </p:sp>
      <p:sp>
        <p:nvSpPr>
          <p:cNvPr id="21" name="Text 19"/>
          <p:cNvSpPr/>
          <p:nvPr/>
        </p:nvSpPr>
        <p:spPr>
          <a:xfrm>
            <a:off x="8366760" y="4434840"/>
            <a:ext cx="3291840" cy="777240"/>
          </a:xfrm>
          <a:prstGeom prst="rect">
            <a:avLst/>
          </a:prstGeom>
          <a:noFill/>
          <a:ln/>
        </p:spPr>
        <p:txBody>
          <a:bodyPr wrap="square" lIns="0" tIns="0" rIns="0" bIns="0" rtlCol="0" anchor="ctr"/>
          <a:lstStyle/>
          <a:p>
            <a:pPr indent="0" marL="0">
              <a:buNone/>
            </a:pPr>
            <a:r>
              <a:rPr lang="en-US" sz="5600" b="1" dirty="0">
                <a:solidFill>
                  <a:srgbClr val="B45309"/>
                </a:solidFill>
                <a:latin typeface="Georgia" pitchFamily="34" charset="0"/>
                <a:ea typeface="Georgia" pitchFamily="34" charset="-122"/>
                <a:cs typeface="Georgia" pitchFamily="34" charset="-120"/>
              </a:rPr>
              <a:t>G</a:t>
            </a:r>
            <a:pPr indent="0" marL="0">
              <a:buNone/>
            </a:pPr>
            <a:r>
              <a:rPr lang="en-US" sz="2800" dirty="0">
                <a:solidFill>
                  <a:srgbClr val="0F172A"/>
                </a:solidFill>
                <a:latin typeface="Georgia" pitchFamily="34" charset="0"/>
                <a:ea typeface="Georgia" pitchFamily="34" charset="-122"/>
                <a:cs typeface="Georgia" pitchFamily="34" charset="-120"/>
              </a:rPr>
              <a:t>enerate</a:t>
            </a:r>
            <a:endParaRPr lang="en-US" sz="5600" dirty="0"/>
          </a:p>
        </p:txBody>
      </p:sp>
      <p:sp>
        <p:nvSpPr>
          <p:cNvPr id="22" name="Text 20"/>
          <p:cNvSpPr/>
          <p:nvPr/>
        </p:nvSpPr>
        <p:spPr>
          <a:xfrm>
            <a:off x="8366760" y="5257800"/>
            <a:ext cx="329184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response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6 · HOW RETRIEVAL WORKS</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14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6</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Keyword search vs semantic search</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RAG uses the second one. It is what makes the whole thing work.</a:t>
            </a:r>
            <a:endParaRPr lang="en-US" sz="1400" dirty="0"/>
          </a:p>
        </p:txBody>
      </p:sp>
      <p:sp>
        <p:nvSpPr>
          <p:cNvPr id="9" name="Shape 7"/>
          <p:cNvSpPr/>
          <p:nvPr/>
        </p:nvSpPr>
        <p:spPr>
          <a:xfrm>
            <a:off x="502920" y="1965960"/>
            <a:ext cx="5486400" cy="4297680"/>
          </a:xfrm>
          <a:prstGeom prst="rect">
            <a:avLst/>
          </a:prstGeom>
          <a:solidFill>
            <a:srgbClr val="F8FAFC"/>
          </a:solidFill>
          <a:ln w="6350">
            <a:solidFill>
              <a:srgbClr val="E2E8F0"/>
            </a:solidFill>
            <a:prstDash val="solid"/>
          </a:ln>
        </p:spPr>
      </p:sp>
      <p:sp>
        <p:nvSpPr>
          <p:cNvPr id="10" name="Text 8"/>
          <p:cNvSpPr/>
          <p:nvPr/>
        </p:nvSpPr>
        <p:spPr>
          <a:xfrm>
            <a:off x="685800" y="2103120"/>
            <a:ext cx="5212080" cy="274320"/>
          </a:xfrm>
          <a:prstGeom prst="rect">
            <a:avLst/>
          </a:prstGeom>
          <a:noFill/>
          <a:ln/>
        </p:spPr>
        <p:txBody>
          <a:bodyPr wrap="square" lIns="0" tIns="0" rIns="0" bIns="0" rtlCol="0" anchor="ctr"/>
          <a:lstStyle/>
          <a:p>
            <a:pPr indent="0" marL="0">
              <a:buNone/>
            </a:pPr>
            <a:r>
              <a:rPr lang="en-US" sz="1000" b="1" spc="300" kern="0" dirty="0">
                <a:solidFill>
                  <a:srgbClr val="B91C1C"/>
                </a:solidFill>
                <a:latin typeface="Calibri" pitchFamily="34" charset="0"/>
                <a:ea typeface="Calibri" pitchFamily="34" charset="-122"/>
                <a:cs typeface="Calibri" pitchFamily="34" charset="-120"/>
              </a:rPr>
              <a:t>KEYWORD SEARCH</a:t>
            </a:r>
            <a:endParaRPr lang="en-US" sz="1000" dirty="0"/>
          </a:p>
        </p:txBody>
      </p:sp>
      <p:sp>
        <p:nvSpPr>
          <p:cNvPr id="11" name="Text 9"/>
          <p:cNvSpPr/>
          <p:nvPr/>
        </p:nvSpPr>
        <p:spPr>
          <a:xfrm>
            <a:off x="685800" y="2423160"/>
            <a:ext cx="5212080" cy="32004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Looks for exact word matches.</a:t>
            </a:r>
            <a:endParaRPr lang="en-US" sz="1600" dirty="0"/>
          </a:p>
        </p:txBody>
      </p:sp>
      <p:sp>
        <p:nvSpPr>
          <p:cNvPr id="12" name="Text 10"/>
          <p:cNvSpPr/>
          <p:nvPr/>
        </p:nvSpPr>
        <p:spPr>
          <a:xfrm>
            <a:off x="685800" y="2926080"/>
            <a:ext cx="5212080" cy="3200400"/>
          </a:xfrm>
          <a:prstGeom prst="rect">
            <a:avLst/>
          </a:prstGeom>
          <a:noFill/>
          <a:ln/>
        </p:spPr>
        <p:txBody>
          <a:bodyPr wrap="square" lIns="0" tIns="0" rIns="0" bIns="0" rtlCol="0" anchor="t"/>
          <a:lstStyle/>
          <a:p>
            <a:pPr indent="0" marL="0">
              <a:buNone/>
            </a:pPr>
            <a:r>
              <a:rPr lang="en-US" sz="1100" b="1" dirty="0">
                <a:solidFill>
                  <a:srgbClr val="64748B"/>
                </a:solidFill>
              </a:rPr>
              <a:t>Search: </a:t>
            </a:r>
            <a:pPr indent="0" marL="0">
              <a:buNone/>
            </a:pPr>
            <a:r>
              <a:rPr lang="en-US" sz="1100" i="1" dirty="0">
                <a:solidFill>
                  <a:srgbClr val="0F172A"/>
                </a:solidFill>
                <a:latin typeface="Consolas" pitchFamily="34" charset="0"/>
                <a:ea typeface="Consolas" pitchFamily="34" charset="-122"/>
                <a:cs typeface="Consolas" pitchFamily="34" charset="-120"/>
              </a:rPr>
              <a:t>"refund window"</a:t>
            </a:r>
            <a:endParaRPr lang="en-US" sz="1100" dirty="0"/>
          </a:p>
          <a:p>
            <a:pPr indent="0" marL="0">
              <a:buNone/>
            </a:pPr>
            <a:r>
              <a:rPr lang="en-US" sz="600" dirty="0">
                <a:solidFill>
                  <a:srgbClr val="000000"/>
                </a:solidFill>
              </a:rPr>
              <a:t> </a:t>
            </a:r>
            <a:endParaRPr lang="en-US" sz="1100" dirty="0"/>
          </a:p>
          <a:p>
            <a:pPr indent="0" marL="0">
              <a:buNone/>
            </a:pPr>
            <a:r>
              <a:rPr lang="en-US" sz="1100" b="1" dirty="0">
                <a:solidFill>
                  <a:srgbClr val="64748B"/>
                </a:solidFill>
              </a:rPr>
              <a:t>Document: </a:t>
            </a:r>
            <a:pPr indent="0" marL="0">
              <a:buNone/>
            </a:pPr>
            <a:r>
              <a:rPr lang="en-US" sz="1100" i="1" dirty="0">
                <a:solidFill>
                  <a:srgbClr val="0F172A"/>
                </a:solidFill>
              </a:rPr>
              <a:t>"customers can return items within 30 days"</a:t>
            </a:r>
            <a:endParaRPr lang="en-US" sz="1100" dirty="0"/>
          </a:p>
          <a:p>
            <a:pPr indent="0" marL="0">
              <a:buNone/>
            </a:pPr>
            <a:r>
              <a:rPr lang="en-US" sz="600" dirty="0">
                <a:solidFill>
                  <a:srgbClr val="000000"/>
                </a:solidFill>
              </a:rPr>
              <a:t> </a:t>
            </a:r>
            <a:endParaRPr lang="en-US" sz="1100" dirty="0"/>
          </a:p>
          <a:p>
            <a:pPr indent="0" marL="0">
              <a:buNone/>
            </a:pPr>
            <a:r>
              <a:rPr lang="en-US" sz="1100" b="1" dirty="0">
                <a:solidFill>
                  <a:srgbClr val="B91C1C"/>
                </a:solidFill>
              </a:rPr>
              <a:t>Result: </a:t>
            </a:r>
            <a:pPr indent="0" marL="0">
              <a:buNone/>
            </a:pPr>
            <a:r>
              <a:rPr lang="en-US" sz="1100" b="1" dirty="0">
                <a:solidFill>
                  <a:srgbClr val="B91C1C"/>
                </a:solidFill>
              </a:rPr>
              <a:t>NO MATCH — the words don't appear.</a:t>
            </a:r>
            <a:endParaRPr lang="en-US" sz="1100" dirty="0"/>
          </a:p>
        </p:txBody>
      </p:sp>
      <p:sp>
        <p:nvSpPr>
          <p:cNvPr id="13" name="Shape 11"/>
          <p:cNvSpPr/>
          <p:nvPr/>
        </p:nvSpPr>
        <p:spPr>
          <a:xfrm>
            <a:off x="6217920" y="1965960"/>
            <a:ext cx="5486400" cy="4297680"/>
          </a:xfrm>
          <a:prstGeom prst="rect">
            <a:avLst/>
          </a:prstGeom>
          <a:solidFill>
            <a:srgbClr val="D1FAE5"/>
          </a:solidFill>
          <a:ln w="12700">
            <a:solidFill>
              <a:srgbClr val="047857"/>
            </a:solidFill>
            <a:prstDash val="solid"/>
          </a:ln>
        </p:spPr>
      </p:sp>
      <p:sp>
        <p:nvSpPr>
          <p:cNvPr id="14" name="Text 12"/>
          <p:cNvSpPr/>
          <p:nvPr/>
        </p:nvSpPr>
        <p:spPr>
          <a:xfrm>
            <a:off x="6400800" y="2103120"/>
            <a:ext cx="5212080" cy="274320"/>
          </a:xfrm>
          <a:prstGeom prst="rect">
            <a:avLst/>
          </a:prstGeom>
          <a:noFill/>
          <a:ln/>
        </p:spPr>
        <p:txBody>
          <a:bodyPr wrap="square" lIns="0" tIns="0" rIns="0" bIns="0" rtlCol="0" anchor="ctr"/>
          <a:lstStyle/>
          <a:p>
            <a:pPr indent="0" marL="0">
              <a:buNone/>
            </a:pPr>
            <a:r>
              <a:rPr lang="en-US" sz="1000" b="1" spc="300" kern="0" dirty="0">
                <a:solidFill>
                  <a:srgbClr val="047857"/>
                </a:solidFill>
                <a:latin typeface="Calibri" pitchFamily="34" charset="0"/>
                <a:ea typeface="Calibri" pitchFamily="34" charset="-122"/>
                <a:cs typeface="Calibri" pitchFamily="34" charset="-120"/>
              </a:rPr>
              <a:t>SEMANTIC SEARCH</a:t>
            </a:r>
            <a:endParaRPr lang="en-US" sz="1000" dirty="0"/>
          </a:p>
        </p:txBody>
      </p:sp>
      <p:sp>
        <p:nvSpPr>
          <p:cNvPr id="15" name="Text 13"/>
          <p:cNvSpPr/>
          <p:nvPr/>
        </p:nvSpPr>
        <p:spPr>
          <a:xfrm>
            <a:off x="6400800" y="2423160"/>
            <a:ext cx="5212080" cy="32004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Understands the meaning of the text.</a:t>
            </a:r>
            <a:endParaRPr lang="en-US" sz="1600" dirty="0"/>
          </a:p>
        </p:txBody>
      </p:sp>
      <p:sp>
        <p:nvSpPr>
          <p:cNvPr id="16" name="Text 14"/>
          <p:cNvSpPr/>
          <p:nvPr/>
        </p:nvSpPr>
        <p:spPr>
          <a:xfrm>
            <a:off x="6400800" y="2926080"/>
            <a:ext cx="5212080" cy="3200400"/>
          </a:xfrm>
          <a:prstGeom prst="rect">
            <a:avLst/>
          </a:prstGeom>
          <a:noFill/>
          <a:ln/>
        </p:spPr>
        <p:txBody>
          <a:bodyPr wrap="square" lIns="0" tIns="0" rIns="0" bIns="0" rtlCol="0" anchor="t"/>
          <a:lstStyle/>
          <a:p>
            <a:pPr indent="0" marL="0">
              <a:buNone/>
            </a:pPr>
            <a:r>
              <a:rPr lang="en-US" sz="1100" b="1" dirty="0">
                <a:solidFill>
                  <a:srgbClr val="64748B"/>
                </a:solidFill>
              </a:rPr>
              <a:t>Search: </a:t>
            </a:r>
            <a:pPr indent="0" marL="0">
              <a:buNone/>
            </a:pPr>
            <a:r>
              <a:rPr lang="en-US" sz="1100" i="1" dirty="0">
                <a:solidFill>
                  <a:srgbClr val="0F172A"/>
                </a:solidFill>
                <a:latin typeface="Consolas" pitchFamily="34" charset="0"/>
                <a:ea typeface="Consolas" pitchFamily="34" charset="-122"/>
                <a:cs typeface="Consolas" pitchFamily="34" charset="-120"/>
              </a:rPr>
              <a:t>"refund window"</a:t>
            </a:r>
            <a:endParaRPr lang="en-US" sz="1100" dirty="0"/>
          </a:p>
          <a:p>
            <a:pPr indent="0" marL="0">
              <a:buNone/>
            </a:pPr>
            <a:r>
              <a:rPr lang="en-US" sz="600" dirty="0">
                <a:solidFill>
                  <a:srgbClr val="000000"/>
                </a:solidFill>
              </a:rPr>
              <a:t> </a:t>
            </a:r>
            <a:endParaRPr lang="en-US" sz="1100" dirty="0"/>
          </a:p>
          <a:p>
            <a:pPr indent="0" marL="0">
              <a:buNone/>
            </a:pPr>
            <a:r>
              <a:rPr lang="en-US" sz="1100" b="1" dirty="0">
                <a:solidFill>
                  <a:srgbClr val="64748B"/>
                </a:solidFill>
              </a:rPr>
              <a:t>Same document: </a:t>
            </a:r>
            <a:pPr indent="0" marL="0">
              <a:buNone/>
            </a:pPr>
            <a:r>
              <a:rPr lang="en-US" sz="1100" i="1" dirty="0">
                <a:solidFill>
                  <a:srgbClr val="0F172A"/>
                </a:solidFill>
              </a:rPr>
              <a:t>"customers can return items within 30 days"</a:t>
            </a:r>
            <a:endParaRPr lang="en-US" sz="1100" dirty="0"/>
          </a:p>
          <a:p>
            <a:pPr indent="0" marL="0">
              <a:buNone/>
            </a:pPr>
            <a:r>
              <a:rPr lang="en-US" sz="600" dirty="0">
                <a:solidFill>
                  <a:srgbClr val="000000"/>
                </a:solidFill>
              </a:rPr>
              <a:t> </a:t>
            </a:r>
            <a:endParaRPr lang="en-US" sz="1100" dirty="0"/>
          </a:p>
          <a:p>
            <a:pPr indent="0" marL="0">
              <a:buNone/>
            </a:pPr>
            <a:r>
              <a:rPr lang="en-US" sz="1100" b="1" dirty="0">
                <a:solidFill>
                  <a:srgbClr val="047857"/>
                </a:solidFill>
              </a:rPr>
              <a:t>Result: </a:t>
            </a:r>
            <a:pPr indent="0" marL="0">
              <a:buNone/>
            </a:pPr>
            <a:r>
              <a:rPr lang="en-US" sz="1100" b="1" dirty="0">
                <a:solidFill>
                  <a:srgbClr val="047857"/>
                </a:solidFill>
              </a:rPr>
              <a:t>MATCH — same meaning.</a:t>
            </a:r>
            <a:endParaRPr lang="en-US" sz="1100" dirty="0"/>
          </a:p>
        </p:txBody>
      </p:sp>
      <p:sp>
        <p:nvSpPr>
          <p:cNvPr id="17" name="Text 15"/>
          <p:cNvSpPr/>
          <p:nvPr/>
        </p:nvSpPr>
        <p:spPr>
          <a:xfrm>
            <a:off x="502920" y="6309360"/>
            <a:ext cx="11185855" cy="457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A SIMPLER ANALOGY</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6 · EMBEDDINGS</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15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6</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How semantic search works — embeddings</a:t>
            </a:r>
            <a:endParaRPr lang="en-US" sz="28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Text gets converted to vectors (lists of numbers). Similar meaning → vectors close together.</a:t>
            </a:r>
            <a:endParaRPr lang="en-US" sz="1400" dirty="0"/>
          </a:p>
        </p:txBody>
      </p:sp>
      <p:sp>
        <p:nvSpPr>
          <p:cNvPr id="9" name="Text 7"/>
          <p:cNvSpPr/>
          <p:nvPr/>
        </p:nvSpPr>
        <p:spPr>
          <a:xfrm>
            <a:off x="502920" y="2103120"/>
            <a:ext cx="11185855"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AN EMBEDDING MODEL TURNS TEXT INTO A VECTOR</a:t>
            </a:r>
            <a:endParaRPr lang="en-US" sz="1000" dirty="0"/>
          </a:p>
        </p:txBody>
      </p:sp>
      <p:sp>
        <p:nvSpPr>
          <p:cNvPr id="10" name="Shape 8"/>
          <p:cNvSpPr/>
          <p:nvPr/>
        </p:nvSpPr>
        <p:spPr>
          <a:xfrm>
            <a:off x="502920" y="2468880"/>
            <a:ext cx="5120640" cy="640080"/>
          </a:xfrm>
          <a:prstGeom prst="rect">
            <a:avLst/>
          </a:prstGeom>
          <a:solidFill>
            <a:srgbClr val="F8FAFC"/>
          </a:solidFill>
          <a:ln w="6350">
            <a:solidFill>
              <a:srgbClr val="E2E8F0"/>
            </a:solidFill>
            <a:prstDash val="solid"/>
          </a:ln>
        </p:spPr>
      </p:sp>
      <p:sp>
        <p:nvSpPr>
          <p:cNvPr id="11" name="Text 9"/>
          <p:cNvSpPr/>
          <p:nvPr/>
        </p:nvSpPr>
        <p:spPr>
          <a:xfrm>
            <a:off x="685800" y="2468880"/>
            <a:ext cx="4937760" cy="640080"/>
          </a:xfrm>
          <a:prstGeom prst="rect">
            <a:avLst/>
          </a:prstGeom>
          <a:noFill/>
          <a:ln/>
        </p:spPr>
        <p:txBody>
          <a:bodyPr wrap="square" lIns="0" tIns="0" rIns="0" bIns="0" rtlCol="0" anchor="ctr"/>
          <a:lstStyle/>
          <a:p>
            <a:pPr indent="0" marL="0">
              <a:buNone/>
            </a:pPr>
            <a:r>
              <a:rPr lang="en-US" sz="1300" i="1" dirty="0">
                <a:solidFill>
                  <a:srgbClr val="0F172A"/>
                </a:solidFill>
                <a:latin typeface="Calibri" pitchFamily="34" charset="0"/>
                <a:ea typeface="Calibri" pitchFamily="34" charset="-122"/>
                <a:cs typeface="Calibri" pitchFamily="34" charset="-120"/>
              </a:rPr>
              <a:t>"customers can return items within 30 days"</a:t>
            </a:r>
            <a:endParaRPr lang="en-US" sz="1300" dirty="0"/>
          </a:p>
        </p:txBody>
      </p:sp>
      <p:sp>
        <p:nvSpPr>
          <p:cNvPr id="12" name="Text 10"/>
          <p:cNvSpPr/>
          <p:nvPr/>
        </p:nvSpPr>
        <p:spPr>
          <a:xfrm>
            <a:off x="5669280" y="2468880"/>
            <a:ext cx="365760" cy="640080"/>
          </a:xfrm>
          <a:prstGeom prst="rect">
            <a:avLst/>
          </a:prstGeom>
          <a:noFill/>
          <a:ln/>
        </p:spPr>
        <p:txBody>
          <a:bodyPr wrap="square" lIns="0" tIns="0" rIns="0" bIns="0" rtlCol="0" anchor="ctr"/>
          <a:lstStyle/>
          <a:p>
            <a:pPr algn="ctr" indent="0" marL="0">
              <a:buNone/>
            </a:pPr>
            <a:r>
              <a:rPr lang="en-US" sz="2200" dirty="0">
                <a:solidFill>
                  <a:srgbClr val="64748B"/>
                </a:solidFill>
                <a:latin typeface="Georgia" pitchFamily="34" charset="0"/>
                <a:ea typeface="Georgia" pitchFamily="34" charset="-122"/>
                <a:cs typeface="Georgia" pitchFamily="34" charset="-120"/>
              </a:rPr>
              <a:t>→</a:t>
            </a:r>
            <a:endParaRPr lang="en-US" sz="2200" dirty="0"/>
          </a:p>
        </p:txBody>
      </p:sp>
      <p:sp>
        <p:nvSpPr>
          <p:cNvPr id="13" name="Shape 11"/>
          <p:cNvSpPr/>
          <p:nvPr/>
        </p:nvSpPr>
        <p:spPr>
          <a:xfrm>
            <a:off x="6126480" y="2468880"/>
            <a:ext cx="4206240" cy="640080"/>
          </a:xfrm>
          <a:prstGeom prst="rect">
            <a:avLst/>
          </a:prstGeom>
          <a:solidFill>
            <a:srgbClr val="0F172A"/>
          </a:solidFill>
          <a:ln w="12700">
            <a:solidFill>
              <a:srgbClr val="0F172A"/>
            </a:solidFill>
            <a:prstDash val="solid"/>
          </a:ln>
        </p:spPr>
      </p:sp>
      <p:sp>
        <p:nvSpPr>
          <p:cNvPr id="14" name="Text 12"/>
          <p:cNvSpPr/>
          <p:nvPr/>
        </p:nvSpPr>
        <p:spPr>
          <a:xfrm>
            <a:off x="6263640" y="2468880"/>
            <a:ext cx="4023360" cy="640080"/>
          </a:xfrm>
          <a:prstGeom prst="rect">
            <a:avLst/>
          </a:prstGeom>
          <a:noFill/>
          <a:ln/>
        </p:spPr>
        <p:txBody>
          <a:bodyPr wrap="square" lIns="0" tIns="0" rIns="0" bIns="0" rtlCol="0" anchor="ctr"/>
          <a:lstStyle/>
          <a:p>
            <a:pPr indent="0" marL="0">
              <a:buNone/>
            </a:pPr>
            <a:r>
              <a:rPr lang="en-US" sz="1200" b="1" dirty="0">
                <a:solidFill>
                  <a:srgbClr val="6EE7B7"/>
                </a:solidFill>
                <a:latin typeface="Consolas" pitchFamily="34" charset="0"/>
                <a:ea typeface="Consolas" pitchFamily="34" charset="-122"/>
                <a:cs typeface="Consolas" pitchFamily="34" charset="-120"/>
              </a:rPr>
              <a:t>[0.21, -0.47, 0.13, 0.89, ...]</a:t>
            </a:r>
            <a:endParaRPr lang="en-US" sz="1200" dirty="0"/>
          </a:p>
        </p:txBody>
      </p:sp>
      <p:sp>
        <p:nvSpPr>
          <p:cNvPr id="15" name="Shape 13"/>
          <p:cNvSpPr/>
          <p:nvPr/>
        </p:nvSpPr>
        <p:spPr>
          <a:xfrm>
            <a:off x="10469880" y="2633472"/>
            <a:ext cx="1234440" cy="310896"/>
          </a:xfrm>
          <a:prstGeom prst="roundRect">
            <a:avLst>
              <a:gd name="adj" fmla="val 14706"/>
            </a:avLst>
          </a:prstGeom>
          <a:solidFill>
            <a:srgbClr val="047857"/>
          </a:solidFill>
          <a:ln w="12700">
            <a:solidFill>
              <a:srgbClr val="047857"/>
            </a:solidFill>
            <a:prstDash val="solid"/>
          </a:ln>
        </p:spPr>
      </p:sp>
      <p:sp>
        <p:nvSpPr>
          <p:cNvPr id="16" name="Text 14"/>
          <p:cNvSpPr/>
          <p:nvPr/>
        </p:nvSpPr>
        <p:spPr>
          <a:xfrm>
            <a:off x="10469880" y="2633472"/>
            <a:ext cx="1234440" cy="310896"/>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CLOSE</a:t>
            </a:r>
            <a:endParaRPr lang="en-US" sz="1000" dirty="0"/>
          </a:p>
        </p:txBody>
      </p:sp>
      <p:sp>
        <p:nvSpPr>
          <p:cNvPr id="17" name="Shape 15"/>
          <p:cNvSpPr/>
          <p:nvPr/>
        </p:nvSpPr>
        <p:spPr>
          <a:xfrm>
            <a:off x="502920" y="3246120"/>
            <a:ext cx="5120640" cy="640080"/>
          </a:xfrm>
          <a:prstGeom prst="rect">
            <a:avLst/>
          </a:prstGeom>
          <a:solidFill>
            <a:srgbClr val="F8FAFC"/>
          </a:solidFill>
          <a:ln w="6350">
            <a:solidFill>
              <a:srgbClr val="E2E8F0"/>
            </a:solidFill>
            <a:prstDash val="solid"/>
          </a:ln>
        </p:spPr>
      </p:sp>
      <p:sp>
        <p:nvSpPr>
          <p:cNvPr id="18" name="Text 16"/>
          <p:cNvSpPr/>
          <p:nvPr/>
        </p:nvSpPr>
        <p:spPr>
          <a:xfrm>
            <a:off x="685800" y="3246120"/>
            <a:ext cx="4937760" cy="640080"/>
          </a:xfrm>
          <a:prstGeom prst="rect">
            <a:avLst/>
          </a:prstGeom>
          <a:noFill/>
          <a:ln/>
        </p:spPr>
        <p:txBody>
          <a:bodyPr wrap="square" lIns="0" tIns="0" rIns="0" bIns="0" rtlCol="0" anchor="ctr"/>
          <a:lstStyle/>
          <a:p>
            <a:pPr indent="0" marL="0">
              <a:buNone/>
            </a:pPr>
            <a:r>
              <a:rPr lang="en-US" sz="1300" i="1" dirty="0">
                <a:solidFill>
                  <a:srgbClr val="0F172A"/>
                </a:solidFill>
                <a:latin typeface="Calibri" pitchFamily="34" charset="0"/>
                <a:ea typeface="Calibri" pitchFamily="34" charset="-122"/>
                <a:cs typeface="Calibri" pitchFamily="34" charset="-120"/>
              </a:rPr>
              <a:t>"refund window for online orders"</a:t>
            </a:r>
            <a:endParaRPr lang="en-US" sz="1300" dirty="0"/>
          </a:p>
        </p:txBody>
      </p:sp>
      <p:sp>
        <p:nvSpPr>
          <p:cNvPr id="19" name="Text 17"/>
          <p:cNvSpPr/>
          <p:nvPr/>
        </p:nvSpPr>
        <p:spPr>
          <a:xfrm>
            <a:off x="5669280" y="3246120"/>
            <a:ext cx="365760" cy="640080"/>
          </a:xfrm>
          <a:prstGeom prst="rect">
            <a:avLst/>
          </a:prstGeom>
          <a:noFill/>
          <a:ln/>
        </p:spPr>
        <p:txBody>
          <a:bodyPr wrap="square" lIns="0" tIns="0" rIns="0" bIns="0" rtlCol="0" anchor="ctr"/>
          <a:lstStyle/>
          <a:p>
            <a:pPr algn="ctr" indent="0" marL="0">
              <a:buNone/>
            </a:pPr>
            <a:r>
              <a:rPr lang="en-US" sz="2200" dirty="0">
                <a:solidFill>
                  <a:srgbClr val="64748B"/>
                </a:solidFill>
                <a:latin typeface="Georgia" pitchFamily="34" charset="0"/>
                <a:ea typeface="Georgia" pitchFamily="34" charset="-122"/>
                <a:cs typeface="Georgia" pitchFamily="34" charset="-120"/>
              </a:rPr>
              <a:t>→</a:t>
            </a:r>
            <a:endParaRPr lang="en-US" sz="2200" dirty="0"/>
          </a:p>
        </p:txBody>
      </p:sp>
      <p:sp>
        <p:nvSpPr>
          <p:cNvPr id="20" name="Shape 18"/>
          <p:cNvSpPr/>
          <p:nvPr/>
        </p:nvSpPr>
        <p:spPr>
          <a:xfrm>
            <a:off x="6126480" y="3246120"/>
            <a:ext cx="4206240" cy="640080"/>
          </a:xfrm>
          <a:prstGeom prst="rect">
            <a:avLst/>
          </a:prstGeom>
          <a:solidFill>
            <a:srgbClr val="0F172A"/>
          </a:solidFill>
          <a:ln w="12700">
            <a:solidFill>
              <a:srgbClr val="0F172A"/>
            </a:solidFill>
            <a:prstDash val="solid"/>
          </a:ln>
        </p:spPr>
      </p:sp>
      <p:sp>
        <p:nvSpPr>
          <p:cNvPr id="21" name="Text 19"/>
          <p:cNvSpPr/>
          <p:nvPr/>
        </p:nvSpPr>
        <p:spPr>
          <a:xfrm>
            <a:off x="6263640" y="3246120"/>
            <a:ext cx="4023360" cy="640080"/>
          </a:xfrm>
          <a:prstGeom prst="rect">
            <a:avLst/>
          </a:prstGeom>
          <a:noFill/>
          <a:ln/>
        </p:spPr>
        <p:txBody>
          <a:bodyPr wrap="square" lIns="0" tIns="0" rIns="0" bIns="0" rtlCol="0" anchor="ctr"/>
          <a:lstStyle/>
          <a:p>
            <a:pPr indent="0" marL="0">
              <a:buNone/>
            </a:pPr>
            <a:r>
              <a:rPr lang="en-US" sz="1200" b="1" dirty="0">
                <a:solidFill>
                  <a:srgbClr val="6EE7B7"/>
                </a:solidFill>
                <a:latin typeface="Consolas" pitchFamily="34" charset="0"/>
                <a:ea typeface="Consolas" pitchFamily="34" charset="-122"/>
                <a:cs typeface="Consolas" pitchFamily="34" charset="-120"/>
              </a:rPr>
              <a:t>[0.19, -0.45, 0.15, 0.87, ...]</a:t>
            </a:r>
            <a:endParaRPr lang="en-US" sz="1200" dirty="0"/>
          </a:p>
        </p:txBody>
      </p:sp>
      <p:sp>
        <p:nvSpPr>
          <p:cNvPr id="22" name="Shape 20"/>
          <p:cNvSpPr/>
          <p:nvPr/>
        </p:nvSpPr>
        <p:spPr>
          <a:xfrm>
            <a:off x="10469880" y="3410712"/>
            <a:ext cx="1234440" cy="310896"/>
          </a:xfrm>
          <a:prstGeom prst="roundRect">
            <a:avLst>
              <a:gd name="adj" fmla="val 14706"/>
            </a:avLst>
          </a:prstGeom>
          <a:solidFill>
            <a:srgbClr val="047857"/>
          </a:solidFill>
          <a:ln w="12700">
            <a:solidFill>
              <a:srgbClr val="047857"/>
            </a:solidFill>
            <a:prstDash val="solid"/>
          </a:ln>
        </p:spPr>
      </p:sp>
      <p:sp>
        <p:nvSpPr>
          <p:cNvPr id="23" name="Text 21"/>
          <p:cNvSpPr/>
          <p:nvPr/>
        </p:nvSpPr>
        <p:spPr>
          <a:xfrm>
            <a:off x="10469880" y="3410712"/>
            <a:ext cx="1234440" cy="310896"/>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CLOSE</a:t>
            </a:r>
            <a:endParaRPr lang="en-US" sz="1000" dirty="0"/>
          </a:p>
        </p:txBody>
      </p:sp>
      <p:sp>
        <p:nvSpPr>
          <p:cNvPr id="24" name="Shape 22"/>
          <p:cNvSpPr/>
          <p:nvPr/>
        </p:nvSpPr>
        <p:spPr>
          <a:xfrm>
            <a:off x="502920" y="4023360"/>
            <a:ext cx="5120640" cy="640080"/>
          </a:xfrm>
          <a:prstGeom prst="rect">
            <a:avLst/>
          </a:prstGeom>
          <a:solidFill>
            <a:srgbClr val="F8FAFC"/>
          </a:solidFill>
          <a:ln w="6350">
            <a:solidFill>
              <a:srgbClr val="E2E8F0"/>
            </a:solidFill>
            <a:prstDash val="solid"/>
          </a:ln>
        </p:spPr>
      </p:sp>
      <p:sp>
        <p:nvSpPr>
          <p:cNvPr id="25" name="Text 23"/>
          <p:cNvSpPr/>
          <p:nvPr/>
        </p:nvSpPr>
        <p:spPr>
          <a:xfrm>
            <a:off x="685800" y="4023360"/>
            <a:ext cx="4937760" cy="640080"/>
          </a:xfrm>
          <a:prstGeom prst="rect">
            <a:avLst/>
          </a:prstGeom>
          <a:noFill/>
          <a:ln/>
        </p:spPr>
        <p:txBody>
          <a:bodyPr wrap="square" lIns="0" tIns="0" rIns="0" bIns="0" rtlCol="0" anchor="ctr"/>
          <a:lstStyle/>
          <a:p>
            <a:pPr indent="0" marL="0">
              <a:buNone/>
            </a:pPr>
            <a:r>
              <a:rPr lang="en-US" sz="1300" i="1" dirty="0">
                <a:solidFill>
                  <a:srgbClr val="0F172A"/>
                </a:solidFill>
                <a:latin typeface="Calibri" pitchFamily="34" charset="0"/>
                <a:ea typeface="Calibri" pitchFamily="34" charset="-122"/>
                <a:cs typeface="Calibri" pitchFamily="34" charset="-120"/>
              </a:rPr>
              <a:t>"the weather in Seattle is mild"</a:t>
            </a:r>
            <a:endParaRPr lang="en-US" sz="1300" dirty="0"/>
          </a:p>
        </p:txBody>
      </p:sp>
      <p:sp>
        <p:nvSpPr>
          <p:cNvPr id="26" name="Text 24"/>
          <p:cNvSpPr/>
          <p:nvPr/>
        </p:nvSpPr>
        <p:spPr>
          <a:xfrm>
            <a:off x="5669280" y="4023360"/>
            <a:ext cx="365760" cy="640080"/>
          </a:xfrm>
          <a:prstGeom prst="rect">
            <a:avLst/>
          </a:prstGeom>
          <a:noFill/>
          <a:ln/>
        </p:spPr>
        <p:txBody>
          <a:bodyPr wrap="square" lIns="0" tIns="0" rIns="0" bIns="0" rtlCol="0" anchor="ctr"/>
          <a:lstStyle/>
          <a:p>
            <a:pPr algn="ctr" indent="0" marL="0">
              <a:buNone/>
            </a:pPr>
            <a:r>
              <a:rPr lang="en-US" sz="2200" dirty="0">
                <a:solidFill>
                  <a:srgbClr val="64748B"/>
                </a:solidFill>
                <a:latin typeface="Georgia" pitchFamily="34" charset="0"/>
                <a:ea typeface="Georgia" pitchFamily="34" charset="-122"/>
                <a:cs typeface="Georgia" pitchFamily="34" charset="-120"/>
              </a:rPr>
              <a:t>→</a:t>
            </a:r>
            <a:endParaRPr lang="en-US" sz="2200" dirty="0"/>
          </a:p>
        </p:txBody>
      </p:sp>
      <p:sp>
        <p:nvSpPr>
          <p:cNvPr id="27" name="Shape 25"/>
          <p:cNvSpPr/>
          <p:nvPr/>
        </p:nvSpPr>
        <p:spPr>
          <a:xfrm>
            <a:off x="6126480" y="4023360"/>
            <a:ext cx="4206240" cy="640080"/>
          </a:xfrm>
          <a:prstGeom prst="rect">
            <a:avLst/>
          </a:prstGeom>
          <a:solidFill>
            <a:srgbClr val="0F172A"/>
          </a:solidFill>
          <a:ln w="12700">
            <a:solidFill>
              <a:srgbClr val="0F172A"/>
            </a:solidFill>
            <a:prstDash val="solid"/>
          </a:ln>
        </p:spPr>
      </p:sp>
      <p:sp>
        <p:nvSpPr>
          <p:cNvPr id="28" name="Text 26"/>
          <p:cNvSpPr/>
          <p:nvPr/>
        </p:nvSpPr>
        <p:spPr>
          <a:xfrm>
            <a:off x="6263640" y="4023360"/>
            <a:ext cx="4023360" cy="640080"/>
          </a:xfrm>
          <a:prstGeom prst="rect">
            <a:avLst/>
          </a:prstGeom>
          <a:noFill/>
          <a:ln/>
        </p:spPr>
        <p:txBody>
          <a:bodyPr wrap="square" lIns="0" tIns="0" rIns="0" bIns="0" rtlCol="0" anchor="ctr"/>
          <a:lstStyle/>
          <a:p>
            <a:pPr indent="0" marL="0">
              <a:buNone/>
            </a:pPr>
            <a:r>
              <a:rPr lang="en-US" sz="1200" b="1" dirty="0">
                <a:solidFill>
                  <a:srgbClr val="6EE7B7"/>
                </a:solidFill>
                <a:latin typeface="Consolas" pitchFamily="34" charset="0"/>
                <a:ea typeface="Consolas" pitchFamily="34" charset="-122"/>
                <a:cs typeface="Consolas" pitchFamily="34" charset="-120"/>
              </a:rPr>
              <a:t>[0.92, 0.31, -0.65, 0.04, ...]</a:t>
            </a:r>
            <a:endParaRPr lang="en-US" sz="1200" dirty="0"/>
          </a:p>
        </p:txBody>
      </p:sp>
      <p:sp>
        <p:nvSpPr>
          <p:cNvPr id="29" name="Shape 27"/>
          <p:cNvSpPr/>
          <p:nvPr/>
        </p:nvSpPr>
        <p:spPr>
          <a:xfrm>
            <a:off x="10469880" y="4187952"/>
            <a:ext cx="1234440" cy="310896"/>
          </a:xfrm>
          <a:prstGeom prst="roundRect">
            <a:avLst>
              <a:gd name="adj" fmla="val 14706"/>
            </a:avLst>
          </a:prstGeom>
          <a:solidFill>
            <a:srgbClr val="B91C1C"/>
          </a:solidFill>
          <a:ln w="12700">
            <a:solidFill>
              <a:srgbClr val="B91C1C"/>
            </a:solidFill>
            <a:prstDash val="solid"/>
          </a:ln>
        </p:spPr>
      </p:sp>
      <p:sp>
        <p:nvSpPr>
          <p:cNvPr id="30" name="Text 28"/>
          <p:cNvSpPr/>
          <p:nvPr/>
        </p:nvSpPr>
        <p:spPr>
          <a:xfrm>
            <a:off x="10469880" y="4187952"/>
            <a:ext cx="1234440" cy="310896"/>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FAR</a:t>
            </a:r>
            <a:endParaRPr lang="en-US" sz="1000" dirty="0"/>
          </a:p>
        </p:txBody>
      </p:sp>
      <p:sp>
        <p:nvSpPr>
          <p:cNvPr id="31" name="Shape 29"/>
          <p:cNvSpPr/>
          <p:nvPr/>
        </p:nvSpPr>
        <p:spPr>
          <a:xfrm>
            <a:off x="502920" y="5074920"/>
            <a:ext cx="11185855" cy="1188720"/>
          </a:xfrm>
          <a:prstGeom prst="rect">
            <a:avLst/>
          </a:prstGeom>
          <a:solidFill>
            <a:srgbClr val="F1F5F9"/>
          </a:solidFill>
          <a:ln w="12700">
            <a:solidFill>
              <a:srgbClr val="F1F5F9"/>
            </a:solidFill>
            <a:prstDash val="solid"/>
          </a:ln>
        </p:spPr>
      </p:sp>
      <p:sp>
        <p:nvSpPr>
          <p:cNvPr id="32" name="Shape 30"/>
          <p:cNvSpPr/>
          <p:nvPr/>
        </p:nvSpPr>
        <p:spPr>
          <a:xfrm>
            <a:off x="502920" y="5074920"/>
            <a:ext cx="45720" cy="1188720"/>
          </a:xfrm>
          <a:prstGeom prst="rect">
            <a:avLst/>
          </a:prstGeom>
          <a:solidFill>
            <a:srgbClr val="B45309"/>
          </a:solidFill>
          <a:ln w="12700">
            <a:solidFill>
              <a:srgbClr val="B45309"/>
            </a:solidFill>
            <a:prstDash val="solid"/>
          </a:ln>
        </p:spPr>
      </p:sp>
      <p:sp>
        <p:nvSpPr>
          <p:cNvPr id="33" name="Text 31"/>
          <p:cNvSpPr/>
          <p:nvPr/>
        </p:nvSpPr>
        <p:spPr>
          <a:xfrm>
            <a:off x="685800" y="516636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THE INSIGHT</a:t>
            </a:r>
            <a:endParaRPr lang="en-US" sz="900" dirty="0"/>
          </a:p>
        </p:txBody>
      </p:sp>
      <p:sp>
        <p:nvSpPr>
          <p:cNvPr id="34" name="Text 32"/>
          <p:cNvSpPr/>
          <p:nvPr/>
        </p:nvSpPr>
        <p:spPr>
          <a:xfrm>
            <a:off x="685800" y="536752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Compare meaning by vector distance, not word overlap.</a:t>
            </a:r>
            <a:endParaRPr lang="en-US" sz="1300" dirty="0"/>
          </a:p>
        </p:txBody>
      </p:sp>
      <p:sp>
        <p:nvSpPr>
          <p:cNvPr id="35" name="Text 33"/>
          <p:cNvSpPr/>
          <p:nvPr/>
        </p:nvSpPr>
        <p:spPr>
          <a:xfrm>
            <a:off x="685800" y="5660136"/>
            <a:ext cx="10911535" cy="51206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The first two vectors are close to each other — similar meaning. The third is far away — different topic. Vector distance becomes the proxy for meaning. That is how the computer finds the right chunks.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6 · THE PIPELINE</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16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6</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The full RAG pipeline — five steps</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Steps 1–3 happen once when you set up. Steps 4–5 run on every query.</a:t>
            </a:r>
            <a:endParaRPr lang="en-US" sz="1400" dirty="0"/>
          </a:p>
        </p:txBody>
      </p:sp>
      <p:sp>
        <p:nvSpPr>
          <p:cNvPr id="9" name="Text 7"/>
          <p:cNvSpPr/>
          <p:nvPr/>
        </p:nvSpPr>
        <p:spPr>
          <a:xfrm>
            <a:off x="502920" y="1965960"/>
            <a:ext cx="6995160"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INGESTION (ONCE)</a:t>
            </a:r>
            <a:endParaRPr lang="en-US" sz="1000" dirty="0"/>
          </a:p>
        </p:txBody>
      </p:sp>
      <p:sp>
        <p:nvSpPr>
          <p:cNvPr id="10" name="Text 8"/>
          <p:cNvSpPr/>
          <p:nvPr/>
        </p:nvSpPr>
        <p:spPr>
          <a:xfrm>
            <a:off x="7680960" y="1965960"/>
            <a:ext cx="4023360" cy="274320"/>
          </a:xfrm>
          <a:prstGeom prst="rect">
            <a:avLst/>
          </a:prstGeom>
          <a:noFill/>
          <a:ln/>
        </p:spPr>
        <p:txBody>
          <a:bodyPr wrap="square" lIns="0" tIns="0" rIns="0" bIns="0" rtlCol="0" anchor="ctr"/>
          <a:lstStyle/>
          <a:p>
            <a:pPr indent="0" marL="0">
              <a:buNone/>
            </a:pPr>
            <a:r>
              <a:rPr lang="en-US" sz="1000" b="1" spc="300" kern="0" dirty="0">
                <a:solidFill>
                  <a:srgbClr val="047857"/>
                </a:solidFill>
                <a:latin typeface="Calibri" pitchFamily="34" charset="0"/>
                <a:ea typeface="Calibri" pitchFamily="34" charset="-122"/>
                <a:cs typeface="Calibri" pitchFamily="34" charset="-120"/>
              </a:rPr>
              <a:t>QUERY TIME (EVERY ASK)</a:t>
            </a:r>
            <a:endParaRPr lang="en-US" sz="1000" dirty="0"/>
          </a:p>
        </p:txBody>
      </p:sp>
      <p:sp>
        <p:nvSpPr>
          <p:cNvPr id="11" name="Shape 9"/>
          <p:cNvSpPr/>
          <p:nvPr/>
        </p:nvSpPr>
        <p:spPr>
          <a:xfrm>
            <a:off x="502920" y="2331720"/>
            <a:ext cx="2194560" cy="3017520"/>
          </a:xfrm>
          <a:prstGeom prst="rect">
            <a:avLst/>
          </a:prstGeom>
          <a:solidFill>
            <a:srgbClr val="FEF3C7"/>
          </a:solidFill>
          <a:ln w="9525">
            <a:solidFill>
              <a:srgbClr val="B45309"/>
            </a:solidFill>
            <a:prstDash val="solid"/>
          </a:ln>
        </p:spPr>
      </p:sp>
      <p:sp>
        <p:nvSpPr>
          <p:cNvPr id="12" name="Text 10"/>
          <p:cNvSpPr/>
          <p:nvPr/>
        </p:nvSpPr>
        <p:spPr>
          <a:xfrm>
            <a:off x="502920" y="2560320"/>
            <a:ext cx="2194560" cy="640080"/>
          </a:xfrm>
          <a:prstGeom prst="rect">
            <a:avLst/>
          </a:prstGeom>
          <a:noFill/>
          <a:ln/>
        </p:spPr>
        <p:txBody>
          <a:bodyPr wrap="square" lIns="0" tIns="0" rIns="0" bIns="0" rtlCol="0" anchor="ctr"/>
          <a:lstStyle/>
          <a:p>
            <a:pPr algn="ctr" indent="0" marL="0">
              <a:buNone/>
            </a:pPr>
            <a:r>
              <a:rPr lang="en-US" sz="4400" b="1" dirty="0">
                <a:solidFill>
                  <a:srgbClr val="B45309"/>
                </a:solidFill>
                <a:latin typeface="Georgia" pitchFamily="34" charset="0"/>
                <a:ea typeface="Georgia" pitchFamily="34" charset="-122"/>
                <a:cs typeface="Georgia" pitchFamily="34" charset="-120"/>
              </a:rPr>
              <a:t>1</a:t>
            </a:r>
            <a:endParaRPr lang="en-US" sz="4400" dirty="0"/>
          </a:p>
        </p:txBody>
      </p:sp>
      <p:sp>
        <p:nvSpPr>
          <p:cNvPr id="13" name="Text 11"/>
          <p:cNvSpPr/>
          <p:nvPr/>
        </p:nvSpPr>
        <p:spPr>
          <a:xfrm>
            <a:off x="594360" y="3291840"/>
            <a:ext cx="2011680" cy="502920"/>
          </a:xfrm>
          <a:prstGeom prst="rect">
            <a:avLst/>
          </a:prstGeom>
          <a:noFill/>
          <a:ln/>
        </p:spPr>
        <p:txBody>
          <a:bodyPr wrap="square" lIns="0" tIns="0" rIns="0" bIns="0" rtlCol="0" anchor="t"/>
          <a:lstStyle/>
          <a:p>
            <a:pPr algn="ctr" indent="0" marL="0">
              <a:buNone/>
            </a:pPr>
            <a:r>
              <a:rPr lang="en-US" sz="1500" b="1" dirty="0">
                <a:solidFill>
                  <a:srgbClr val="0F172A"/>
                </a:solidFill>
                <a:latin typeface="Georgia" pitchFamily="34" charset="0"/>
                <a:ea typeface="Georgia" pitchFamily="34" charset="-122"/>
                <a:cs typeface="Georgia" pitchFamily="34" charset="-120"/>
              </a:rPr>
              <a:t>Upload + chunk</a:t>
            </a:r>
            <a:endParaRPr lang="en-US" sz="1500" dirty="0"/>
          </a:p>
        </p:txBody>
      </p:sp>
      <p:sp>
        <p:nvSpPr>
          <p:cNvPr id="14" name="Text 12"/>
          <p:cNvSpPr/>
          <p:nvPr/>
        </p:nvSpPr>
        <p:spPr>
          <a:xfrm>
            <a:off x="640080" y="3840480"/>
            <a:ext cx="1920240" cy="141732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Break documents into smaller passages.</a:t>
            </a:r>
            <a:endParaRPr lang="en-US" sz="1100" dirty="0"/>
          </a:p>
        </p:txBody>
      </p:sp>
      <p:sp>
        <p:nvSpPr>
          <p:cNvPr id="15" name="Shape 13"/>
          <p:cNvSpPr/>
          <p:nvPr/>
        </p:nvSpPr>
        <p:spPr>
          <a:xfrm>
            <a:off x="2834640" y="2331720"/>
            <a:ext cx="2194560" cy="3017520"/>
          </a:xfrm>
          <a:prstGeom prst="rect">
            <a:avLst/>
          </a:prstGeom>
          <a:solidFill>
            <a:srgbClr val="FEF3C7"/>
          </a:solidFill>
          <a:ln w="9525">
            <a:solidFill>
              <a:srgbClr val="B45309"/>
            </a:solidFill>
            <a:prstDash val="solid"/>
          </a:ln>
        </p:spPr>
      </p:sp>
      <p:sp>
        <p:nvSpPr>
          <p:cNvPr id="16" name="Text 14"/>
          <p:cNvSpPr/>
          <p:nvPr/>
        </p:nvSpPr>
        <p:spPr>
          <a:xfrm>
            <a:off x="2834640" y="2560320"/>
            <a:ext cx="2194560" cy="640080"/>
          </a:xfrm>
          <a:prstGeom prst="rect">
            <a:avLst/>
          </a:prstGeom>
          <a:noFill/>
          <a:ln/>
        </p:spPr>
        <p:txBody>
          <a:bodyPr wrap="square" lIns="0" tIns="0" rIns="0" bIns="0" rtlCol="0" anchor="ctr"/>
          <a:lstStyle/>
          <a:p>
            <a:pPr algn="ctr" indent="0" marL="0">
              <a:buNone/>
            </a:pPr>
            <a:r>
              <a:rPr lang="en-US" sz="4400" b="1" dirty="0">
                <a:solidFill>
                  <a:srgbClr val="B45309"/>
                </a:solidFill>
                <a:latin typeface="Georgia" pitchFamily="34" charset="0"/>
                <a:ea typeface="Georgia" pitchFamily="34" charset="-122"/>
                <a:cs typeface="Georgia" pitchFamily="34" charset="-120"/>
              </a:rPr>
              <a:t>2</a:t>
            </a:r>
            <a:endParaRPr lang="en-US" sz="4400" dirty="0"/>
          </a:p>
        </p:txBody>
      </p:sp>
      <p:sp>
        <p:nvSpPr>
          <p:cNvPr id="17" name="Text 15"/>
          <p:cNvSpPr/>
          <p:nvPr/>
        </p:nvSpPr>
        <p:spPr>
          <a:xfrm>
            <a:off x="2926080" y="3291840"/>
            <a:ext cx="2011680" cy="502920"/>
          </a:xfrm>
          <a:prstGeom prst="rect">
            <a:avLst/>
          </a:prstGeom>
          <a:noFill/>
          <a:ln/>
        </p:spPr>
        <p:txBody>
          <a:bodyPr wrap="square" lIns="0" tIns="0" rIns="0" bIns="0" rtlCol="0" anchor="t"/>
          <a:lstStyle/>
          <a:p>
            <a:pPr algn="ctr" indent="0" marL="0">
              <a:buNone/>
            </a:pPr>
            <a:r>
              <a:rPr lang="en-US" sz="1500" b="1" dirty="0">
                <a:solidFill>
                  <a:srgbClr val="0F172A"/>
                </a:solidFill>
                <a:latin typeface="Georgia" pitchFamily="34" charset="0"/>
                <a:ea typeface="Georgia" pitchFamily="34" charset="-122"/>
                <a:cs typeface="Georgia" pitchFamily="34" charset="-120"/>
              </a:rPr>
              <a:t>Embed</a:t>
            </a:r>
            <a:endParaRPr lang="en-US" sz="1500" dirty="0"/>
          </a:p>
        </p:txBody>
      </p:sp>
      <p:sp>
        <p:nvSpPr>
          <p:cNvPr id="18" name="Text 16"/>
          <p:cNvSpPr/>
          <p:nvPr/>
        </p:nvSpPr>
        <p:spPr>
          <a:xfrm>
            <a:off x="2971800" y="3840480"/>
            <a:ext cx="1920240" cy="141732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Convert each chunk to a vector.</a:t>
            </a:r>
            <a:endParaRPr lang="en-US" sz="1100" dirty="0"/>
          </a:p>
        </p:txBody>
      </p:sp>
      <p:sp>
        <p:nvSpPr>
          <p:cNvPr id="19" name="Shape 17"/>
          <p:cNvSpPr/>
          <p:nvPr/>
        </p:nvSpPr>
        <p:spPr>
          <a:xfrm>
            <a:off x="5166360" y="2331720"/>
            <a:ext cx="2194560" cy="3017520"/>
          </a:xfrm>
          <a:prstGeom prst="rect">
            <a:avLst/>
          </a:prstGeom>
          <a:solidFill>
            <a:srgbClr val="FEF3C7"/>
          </a:solidFill>
          <a:ln w="9525">
            <a:solidFill>
              <a:srgbClr val="B45309"/>
            </a:solidFill>
            <a:prstDash val="solid"/>
          </a:ln>
        </p:spPr>
      </p:sp>
      <p:sp>
        <p:nvSpPr>
          <p:cNvPr id="20" name="Text 18"/>
          <p:cNvSpPr/>
          <p:nvPr/>
        </p:nvSpPr>
        <p:spPr>
          <a:xfrm>
            <a:off x="5166360" y="2560320"/>
            <a:ext cx="2194560" cy="640080"/>
          </a:xfrm>
          <a:prstGeom prst="rect">
            <a:avLst/>
          </a:prstGeom>
          <a:noFill/>
          <a:ln/>
        </p:spPr>
        <p:txBody>
          <a:bodyPr wrap="square" lIns="0" tIns="0" rIns="0" bIns="0" rtlCol="0" anchor="ctr"/>
          <a:lstStyle/>
          <a:p>
            <a:pPr algn="ctr" indent="0" marL="0">
              <a:buNone/>
            </a:pPr>
            <a:r>
              <a:rPr lang="en-US" sz="4400" b="1" dirty="0">
                <a:solidFill>
                  <a:srgbClr val="B45309"/>
                </a:solidFill>
                <a:latin typeface="Georgia" pitchFamily="34" charset="0"/>
                <a:ea typeface="Georgia" pitchFamily="34" charset="-122"/>
                <a:cs typeface="Georgia" pitchFamily="34" charset="-120"/>
              </a:rPr>
              <a:t>3</a:t>
            </a:r>
            <a:endParaRPr lang="en-US" sz="4400" dirty="0"/>
          </a:p>
        </p:txBody>
      </p:sp>
      <p:sp>
        <p:nvSpPr>
          <p:cNvPr id="21" name="Text 19"/>
          <p:cNvSpPr/>
          <p:nvPr/>
        </p:nvSpPr>
        <p:spPr>
          <a:xfrm>
            <a:off x="5257800" y="3291840"/>
            <a:ext cx="2011680" cy="502920"/>
          </a:xfrm>
          <a:prstGeom prst="rect">
            <a:avLst/>
          </a:prstGeom>
          <a:noFill/>
          <a:ln/>
        </p:spPr>
        <p:txBody>
          <a:bodyPr wrap="square" lIns="0" tIns="0" rIns="0" bIns="0" rtlCol="0" anchor="t"/>
          <a:lstStyle/>
          <a:p>
            <a:pPr algn="ctr" indent="0" marL="0">
              <a:buNone/>
            </a:pPr>
            <a:r>
              <a:rPr lang="en-US" sz="1500" b="1" dirty="0">
                <a:solidFill>
                  <a:srgbClr val="0F172A"/>
                </a:solidFill>
                <a:latin typeface="Georgia" pitchFamily="34" charset="0"/>
                <a:ea typeface="Georgia" pitchFamily="34" charset="-122"/>
                <a:cs typeface="Georgia" pitchFamily="34" charset="-120"/>
              </a:rPr>
              <a:t>Store</a:t>
            </a:r>
            <a:endParaRPr lang="en-US" sz="1500" dirty="0"/>
          </a:p>
        </p:txBody>
      </p:sp>
      <p:sp>
        <p:nvSpPr>
          <p:cNvPr id="22" name="Text 20"/>
          <p:cNvSpPr/>
          <p:nvPr/>
        </p:nvSpPr>
        <p:spPr>
          <a:xfrm>
            <a:off x="5303520" y="3840480"/>
            <a:ext cx="1920240" cy="141732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Save vectors in a vector database.</a:t>
            </a:r>
            <a:endParaRPr lang="en-US" sz="1100" dirty="0"/>
          </a:p>
        </p:txBody>
      </p:sp>
      <p:sp>
        <p:nvSpPr>
          <p:cNvPr id="23" name="Shape 21"/>
          <p:cNvSpPr/>
          <p:nvPr/>
        </p:nvSpPr>
        <p:spPr>
          <a:xfrm>
            <a:off x="7498080" y="2331720"/>
            <a:ext cx="2194560" cy="3017520"/>
          </a:xfrm>
          <a:prstGeom prst="rect">
            <a:avLst/>
          </a:prstGeom>
          <a:solidFill>
            <a:srgbClr val="D1FAE5"/>
          </a:solidFill>
          <a:ln w="9525">
            <a:solidFill>
              <a:srgbClr val="047857"/>
            </a:solidFill>
            <a:prstDash val="solid"/>
          </a:ln>
        </p:spPr>
      </p:sp>
      <p:sp>
        <p:nvSpPr>
          <p:cNvPr id="24" name="Text 22"/>
          <p:cNvSpPr/>
          <p:nvPr/>
        </p:nvSpPr>
        <p:spPr>
          <a:xfrm>
            <a:off x="7498080" y="2560320"/>
            <a:ext cx="2194560" cy="640080"/>
          </a:xfrm>
          <a:prstGeom prst="rect">
            <a:avLst/>
          </a:prstGeom>
          <a:noFill/>
          <a:ln/>
        </p:spPr>
        <p:txBody>
          <a:bodyPr wrap="square" lIns="0" tIns="0" rIns="0" bIns="0" rtlCol="0" anchor="ctr"/>
          <a:lstStyle/>
          <a:p>
            <a:pPr algn="ctr" indent="0" marL="0">
              <a:buNone/>
            </a:pPr>
            <a:r>
              <a:rPr lang="en-US" sz="4400" b="1" dirty="0">
                <a:solidFill>
                  <a:srgbClr val="047857"/>
                </a:solidFill>
                <a:latin typeface="Georgia" pitchFamily="34" charset="0"/>
                <a:ea typeface="Georgia" pitchFamily="34" charset="-122"/>
                <a:cs typeface="Georgia" pitchFamily="34" charset="-120"/>
              </a:rPr>
              <a:t>4</a:t>
            </a:r>
            <a:endParaRPr lang="en-US" sz="4400" dirty="0"/>
          </a:p>
        </p:txBody>
      </p:sp>
      <p:sp>
        <p:nvSpPr>
          <p:cNvPr id="25" name="Text 23"/>
          <p:cNvSpPr/>
          <p:nvPr/>
        </p:nvSpPr>
        <p:spPr>
          <a:xfrm>
            <a:off x="7589520" y="3291840"/>
            <a:ext cx="2011680" cy="502920"/>
          </a:xfrm>
          <a:prstGeom prst="rect">
            <a:avLst/>
          </a:prstGeom>
          <a:noFill/>
          <a:ln/>
        </p:spPr>
        <p:txBody>
          <a:bodyPr wrap="square" lIns="0" tIns="0" rIns="0" bIns="0" rtlCol="0" anchor="t"/>
          <a:lstStyle/>
          <a:p>
            <a:pPr algn="ctr" indent="0" marL="0">
              <a:buNone/>
            </a:pPr>
            <a:r>
              <a:rPr lang="en-US" sz="1500" b="1" dirty="0">
                <a:solidFill>
                  <a:srgbClr val="0F172A"/>
                </a:solidFill>
                <a:latin typeface="Georgia" pitchFamily="34" charset="0"/>
                <a:ea typeface="Georgia" pitchFamily="34" charset="-122"/>
                <a:cs typeface="Georgia" pitchFamily="34" charset="-120"/>
              </a:rPr>
              <a:t>Retrieve</a:t>
            </a:r>
            <a:endParaRPr lang="en-US" sz="1500" dirty="0"/>
          </a:p>
        </p:txBody>
      </p:sp>
      <p:sp>
        <p:nvSpPr>
          <p:cNvPr id="26" name="Text 24"/>
          <p:cNvSpPr/>
          <p:nvPr/>
        </p:nvSpPr>
        <p:spPr>
          <a:xfrm>
            <a:off x="7635240" y="3840480"/>
            <a:ext cx="1920240" cy="141732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Embed the question; find nearest chunks.</a:t>
            </a:r>
            <a:endParaRPr lang="en-US" sz="1100" dirty="0"/>
          </a:p>
        </p:txBody>
      </p:sp>
      <p:sp>
        <p:nvSpPr>
          <p:cNvPr id="27" name="Shape 25"/>
          <p:cNvSpPr/>
          <p:nvPr/>
        </p:nvSpPr>
        <p:spPr>
          <a:xfrm>
            <a:off x="9829800" y="2331720"/>
            <a:ext cx="2194560" cy="3017520"/>
          </a:xfrm>
          <a:prstGeom prst="rect">
            <a:avLst/>
          </a:prstGeom>
          <a:solidFill>
            <a:srgbClr val="D1FAE5"/>
          </a:solidFill>
          <a:ln w="9525">
            <a:solidFill>
              <a:srgbClr val="047857"/>
            </a:solidFill>
            <a:prstDash val="solid"/>
          </a:ln>
        </p:spPr>
      </p:sp>
      <p:sp>
        <p:nvSpPr>
          <p:cNvPr id="28" name="Text 26"/>
          <p:cNvSpPr/>
          <p:nvPr/>
        </p:nvSpPr>
        <p:spPr>
          <a:xfrm>
            <a:off x="9829800" y="2560320"/>
            <a:ext cx="2194560" cy="640080"/>
          </a:xfrm>
          <a:prstGeom prst="rect">
            <a:avLst/>
          </a:prstGeom>
          <a:noFill/>
          <a:ln/>
        </p:spPr>
        <p:txBody>
          <a:bodyPr wrap="square" lIns="0" tIns="0" rIns="0" bIns="0" rtlCol="0" anchor="ctr"/>
          <a:lstStyle/>
          <a:p>
            <a:pPr algn="ctr" indent="0" marL="0">
              <a:buNone/>
            </a:pPr>
            <a:r>
              <a:rPr lang="en-US" sz="4400" b="1" dirty="0">
                <a:solidFill>
                  <a:srgbClr val="047857"/>
                </a:solidFill>
                <a:latin typeface="Georgia" pitchFamily="34" charset="0"/>
                <a:ea typeface="Georgia" pitchFamily="34" charset="-122"/>
                <a:cs typeface="Georgia" pitchFamily="34" charset="-120"/>
              </a:rPr>
              <a:t>5</a:t>
            </a:r>
            <a:endParaRPr lang="en-US" sz="4400" dirty="0"/>
          </a:p>
        </p:txBody>
      </p:sp>
      <p:sp>
        <p:nvSpPr>
          <p:cNvPr id="29" name="Text 27"/>
          <p:cNvSpPr/>
          <p:nvPr/>
        </p:nvSpPr>
        <p:spPr>
          <a:xfrm>
            <a:off x="9921240" y="3291840"/>
            <a:ext cx="2011680" cy="502920"/>
          </a:xfrm>
          <a:prstGeom prst="rect">
            <a:avLst/>
          </a:prstGeom>
          <a:noFill/>
          <a:ln/>
        </p:spPr>
        <p:txBody>
          <a:bodyPr wrap="square" lIns="0" tIns="0" rIns="0" bIns="0" rtlCol="0" anchor="t"/>
          <a:lstStyle/>
          <a:p>
            <a:pPr algn="ctr" indent="0" marL="0">
              <a:buNone/>
            </a:pPr>
            <a:r>
              <a:rPr lang="en-US" sz="1500" b="1" dirty="0">
                <a:solidFill>
                  <a:srgbClr val="0F172A"/>
                </a:solidFill>
                <a:latin typeface="Georgia" pitchFamily="34" charset="0"/>
                <a:ea typeface="Georgia" pitchFamily="34" charset="-122"/>
                <a:cs typeface="Georgia" pitchFamily="34" charset="-120"/>
              </a:rPr>
              <a:t>Generate</a:t>
            </a:r>
            <a:endParaRPr lang="en-US" sz="1500" dirty="0"/>
          </a:p>
        </p:txBody>
      </p:sp>
      <p:sp>
        <p:nvSpPr>
          <p:cNvPr id="30" name="Text 28"/>
          <p:cNvSpPr/>
          <p:nvPr/>
        </p:nvSpPr>
        <p:spPr>
          <a:xfrm>
            <a:off x="9966960" y="3840480"/>
            <a:ext cx="1920240" cy="141732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Stuff chunks into prompt; model answers.</a:t>
            </a:r>
            <a:endParaRPr lang="en-US" sz="1100" dirty="0"/>
          </a:p>
        </p:txBody>
      </p:sp>
      <p:sp>
        <p:nvSpPr>
          <p:cNvPr id="31" name="Shape 29"/>
          <p:cNvSpPr/>
          <p:nvPr/>
        </p:nvSpPr>
        <p:spPr>
          <a:xfrm>
            <a:off x="502920" y="5532120"/>
            <a:ext cx="11185855" cy="731520"/>
          </a:xfrm>
          <a:prstGeom prst="rect">
            <a:avLst/>
          </a:prstGeom>
          <a:solidFill>
            <a:srgbClr val="F1F5F9"/>
          </a:solidFill>
          <a:ln w="12700">
            <a:solidFill>
              <a:srgbClr val="F1F5F9"/>
            </a:solidFill>
            <a:prstDash val="solid"/>
          </a:ln>
        </p:spPr>
      </p:sp>
      <p:sp>
        <p:nvSpPr>
          <p:cNvPr id="32" name="Shape 30"/>
          <p:cNvSpPr/>
          <p:nvPr/>
        </p:nvSpPr>
        <p:spPr>
          <a:xfrm>
            <a:off x="502920" y="5532120"/>
            <a:ext cx="45720" cy="731520"/>
          </a:xfrm>
          <a:prstGeom prst="rect">
            <a:avLst/>
          </a:prstGeom>
          <a:solidFill>
            <a:srgbClr val="B45309"/>
          </a:solidFill>
          <a:ln w="12700">
            <a:solidFill>
              <a:srgbClr val="B45309"/>
            </a:solidFill>
            <a:prstDash val="solid"/>
          </a:ln>
        </p:spPr>
      </p:sp>
      <p:sp>
        <p:nvSpPr>
          <p:cNvPr id="33" name="Text 31"/>
          <p:cNvSpPr/>
          <p:nvPr/>
        </p:nvSpPr>
        <p:spPr>
          <a:xfrm>
            <a:off x="685800" y="562356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THE SPLIT MATTERS</a:t>
            </a:r>
            <a:endParaRPr lang="en-US" sz="900" dirty="0"/>
          </a:p>
        </p:txBody>
      </p:sp>
      <p:sp>
        <p:nvSpPr>
          <p:cNvPr id="34" name="Text 32"/>
          <p:cNvSpPr/>
          <p:nvPr/>
        </p:nvSpPr>
        <p:spPr>
          <a:xfrm>
            <a:off x="685800" y="5824728"/>
            <a:ext cx="10911535" cy="34747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You pay the cost of steps 1–3 once. Steps 4–5 run on every user question. That's the operational model.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6 · THE PLUMBING PROBLEM</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17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6</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Doing RAG yourself — a lot of moving parts</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Every step has tradeoffs. Every choice is a decision you'll re-revisit.</a:t>
            </a:r>
            <a:endParaRPr lang="en-US" sz="1400" dirty="0"/>
          </a:p>
        </p:txBody>
      </p:sp>
      <p:sp>
        <p:nvSpPr>
          <p:cNvPr id="9" name="Shape 7"/>
          <p:cNvSpPr/>
          <p:nvPr/>
        </p:nvSpPr>
        <p:spPr>
          <a:xfrm>
            <a:off x="731520" y="2194560"/>
            <a:ext cx="365760" cy="365760"/>
          </a:xfrm>
          <a:prstGeom prst="rect">
            <a:avLst/>
          </a:prstGeom>
          <a:solidFill>
            <a:srgbClr val="FEF3C7"/>
          </a:solidFill>
          <a:ln w="12700">
            <a:solidFill>
              <a:srgbClr val="B45309"/>
            </a:solidFill>
            <a:prstDash val="solid"/>
          </a:ln>
        </p:spPr>
      </p:sp>
      <p:sp>
        <p:nvSpPr>
          <p:cNvPr id="10" name="Text 8"/>
          <p:cNvSpPr/>
          <p:nvPr/>
        </p:nvSpPr>
        <p:spPr>
          <a:xfrm>
            <a:off x="731520" y="2194560"/>
            <a:ext cx="365760" cy="365760"/>
          </a:xfrm>
          <a:prstGeom prst="rect">
            <a:avLst/>
          </a:prstGeom>
          <a:noFill/>
          <a:ln/>
        </p:spPr>
        <p:txBody>
          <a:bodyPr wrap="square" lIns="0" tIns="0" rIns="0" bIns="0" rtlCol="0" anchor="ctr"/>
          <a:lstStyle/>
          <a:p>
            <a:pPr algn="ctr" indent="0" marL="0">
              <a:buNone/>
            </a:pPr>
            <a:r>
              <a:rPr lang="en-US" sz="2000" b="1" dirty="0">
                <a:solidFill>
                  <a:srgbClr val="B45309"/>
                </a:solidFill>
                <a:latin typeface="Georgia" pitchFamily="34" charset="0"/>
                <a:ea typeface="Georgia" pitchFamily="34" charset="-122"/>
                <a:cs typeface="Georgia" pitchFamily="34" charset="-120"/>
              </a:rPr>
              <a:t>•</a:t>
            </a:r>
            <a:endParaRPr lang="en-US" sz="2000" dirty="0"/>
          </a:p>
        </p:txBody>
      </p:sp>
      <p:sp>
        <p:nvSpPr>
          <p:cNvPr id="11" name="Text 9"/>
          <p:cNvSpPr/>
          <p:nvPr/>
        </p:nvSpPr>
        <p:spPr>
          <a:xfrm>
            <a:off x="1280160" y="2194560"/>
            <a:ext cx="10058400" cy="36576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Picking a chunking strategy</a:t>
            </a:r>
            <a:endParaRPr lang="en-US" sz="1600" dirty="0"/>
          </a:p>
        </p:txBody>
      </p:sp>
      <p:sp>
        <p:nvSpPr>
          <p:cNvPr id="12" name="Shape 10"/>
          <p:cNvSpPr/>
          <p:nvPr/>
        </p:nvSpPr>
        <p:spPr>
          <a:xfrm>
            <a:off x="731520" y="2743200"/>
            <a:ext cx="365760" cy="365760"/>
          </a:xfrm>
          <a:prstGeom prst="rect">
            <a:avLst/>
          </a:prstGeom>
          <a:solidFill>
            <a:srgbClr val="FEF3C7"/>
          </a:solidFill>
          <a:ln w="12700">
            <a:solidFill>
              <a:srgbClr val="B45309"/>
            </a:solidFill>
            <a:prstDash val="solid"/>
          </a:ln>
        </p:spPr>
      </p:sp>
      <p:sp>
        <p:nvSpPr>
          <p:cNvPr id="13" name="Text 11"/>
          <p:cNvSpPr/>
          <p:nvPr/>
        </p:nvSpPr>
        <p:spPr>
          <a:xfrm>
            <a:off x="731520" y="2743200"/>
            <a:ext cx="365760" cy="365760"/>
          </a:xfrm>
          <a:prstGeom prst="rect">
            <a:avLst/>
          </a:prstGeom>
          <a:noFill/>
          <a:ln/>
        </p:spPr>
        <p:txBody>
          <a:bodyPr wrap="square" lIns="0" tIns="0" rIns="0" bIns="0" rtlCol="0" anchor="ctr"/>
          <a:lstStyle/>
          <a:p>
            <a:pPr algn="ctr" indent="0" marL="0">
              <a:buNone/>
            </a:pPr>
            <a:r>
              <a:rPr lang="en-US" sz="2000" b="1" dirty="0">
                <a:solidFill>
                  <a:srgbClr val="B45309"/>
                </a:solidFill>
                <a:latin typeface="Georgia" pitchFamily="34" charset="0"/>
                <a:ea typeface="Georgia" pitchFamily="34" charset="-122"/>
                <a:cs typeface="Georgia" pitchFamily="34" charset="-120"/>
              </a:rPr>
              <a:t>•</a:t>
            </a:r>
            <a:endParaRPr lang="en-US" sz="2000" dirty="0"/>
          </a:p>
        </p:txBody>
      </p:sp>
      <p:sp>
        <p:nvSpPr>
          <p:cNvPr id="14" name="Text 12"/>
          <p:cNvSpPr/>
          <p:nvPr/>
        </p:nvSpPr>
        <p:spPr>
          <a:xfrm>
            <a:off x="1280160" y="2743200"/>
            <a:ext cx="10058400" cy="36576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Running embeddings (which embedding model? how often?)</a:t>
            </a:r>
            <a:endParaRPr lang="en-US" sz="1600" dirty="0"/>
          </a:p>
        </p:txBody>
      </p:sp>
      <p:sp>
        <p:nvSpPr>
          <p:cNvPr id="15" name="Shape 13"/>
          <p:cNvSpPr/>
          <p:nvPr/>
        </p:nvSpPr>
        <p:spPr>
          <a:xfrm>
            <a:off x="731520" y="3291840"/>
            <a:ext cx="365760" cy="365760"/>
          </a:xfrm>
          <a:prstGeom prst="rect">
            <a:avLst/>
          </a:prstGeom>
          <a:solidFill>
            <a:srgbClr val="FEF3C7"/>
          </a:solidFill>
          <a:ln w="12700">
            <a:solidFill>
              <a:srgbClr val="B45309"/>
            </a:solidFill>
            <a:prstDash val="solid"/>
          </a:ln>
        </p:spPr>
      </p:sp>
      <p:sp>
        <p:nvSpPr>
          <p:cNvPr id="16" name="Text 14"/>
          <p:cNvSpPr/>
          <p:nvPr/>
        </p:nvSpPr>
        <p:spPr>
          <a:xfrm>
            <a:off x="731520" y="3291840"/>
            <a:ext cx="365760" cy="365760"/>
          </a:xfrm>
          <a:prstGeom prst="rect">
            <a:avLst/>
          </a:prstGeom>
          <a:noFill/>
          <a:ln/>
        </p:spPr>
        <p:txBody>
          <a:bodyPr wrap="square" lIns="0" tIns="0" rIns="0" bIns="0" rtlCol="0" anchor="ctr"/>
          <a:lstStyle/>
          <a:p>
            <a:pPr algn="ctr" indent="0" marL="0">
              <a:buNone/>
            </a:pPr>
            <a:r>
              <a:rPr lang="en-US" sz="2000" b="1" dirty="0">
                <a:solidFill>
                  <a:srgbClr val="B45309"/>
                </a:solidFill>
                <a:latin typeface="Georgia" pitchFamily="34" charset="0"/>
                <a:ea typeface="Georgia" pitchFamily="34" charset="-122"/>
                <a:cs typeface="Georgia" pitchFamily="34" charset="-120"/>
              </a:rPr>
              <a:t>•</a:t>
            </a:r>
            <a:endParaRPr lang="en-US" sz="2000" dirty="0"/>
          </a:p>
        </p:txBody>
      </p:sp>
      <p:sp>
        <p:nvSpPr>
          <p:cNvPr id="17" name="Text 15"/>
          <p:cNvSpPr/>
          <p:nvPr/>
        </p:nvSpPr>
        <p:spPr>
          <a:xfrm>
            <a:off x="1280160" y="3291840"/>
            <a:ext cx="10058400" cy="36576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Picking a vector database (Pinecone? Weaviate? pgvector? OpenSearch?)</a:t>
            </a:r>
            <a:endParaRPr lang="en-US" sz="1600" dirty="0"/>
          </a:p>
        </p:txBody>
      </p:sp>
      <p:sp>
        <p:nvSpPr>
          <p:cNvPr id="18" name="Shape 16"/>
          <p:cNvSpPr/>
          <p:nvPr/>
        </p:nvSpPr>
        <p:spPr>
          <a:xfrm>
            <a:off x="731520" y="3840480"/>
            <a:ext cx="365760" cy="365760"/>
          </a:xfrm>
          <a:prstGeom prst="rect">
            <a:avLst/>
          </a:prstGeom>
          <a:solidFill>
            <a:srgbClr val="FEF3C7"/>
          </a:solidFill>
          <a:ln w="12700">
            <a:solidFill>
              <a:srgbClr val="B45309"/>
            </a:solidFill>
            <a:prstDash val="solid"/>
          </a:ln>
        </p:spPr>
      </p:sp>
      <p:sp>
        <p:nvSpPr>
          <p:cNvPr id="19" name="Text 17"/>
          <p:cNvSpPr/>
          <p:nvPr/>
        </p:nvSpPr>
        <p:spPr>
          <a:xfrm>
            <a:off x="731520" y="3840480"/>
            <a:ext cx="365760" cy="365760"/>
          </a:xfrm>
          <a:prstGeom prst="rect">
            <a:avLst/>
          </a:prstGeom>
          <a:noFill/>
          <a:ln/>
        </p:spPr>
        <p:txBody>
          <a:bodyPr wrap="square" lIns="0" tIns="0" rIns="0" bIns="0" rtlCol="0" anchor="ctr"/>
          <a:lstStyle/>
          <a:p>
            <a:pPr algn="ctr" indent="0" marL="0">
              <a:buNone/>
            </a:pPr>
            <a:r>
              <a:rPr lang="en-US" sz="2000" b="1" dirty="0">
                <a:solidFill>
                  <a:srgbClr val="B45309"/>
                </a:solidFill>
                <a:latin typeface="Georgia" pitchFamily="34" charset="0"/>
                <a:ea typeface="Georgia" pitchFamily="34" charset="-122"/>
                <a:cs typeface="Georgia" pitchFamily="34" charset="-120"/>
              </a:rPr>
              <a:t>•</a:t>
            </a:r>
            <a:endParaRPr lang="en-US" sz="2000" dirty="0"/>
          </a:p>
        </p:txBody>
      </p:sp>
      <p:sp>
        <p:nvSpPr>
          <p:cNvPr id="20" name="Text 18"/>
          <p:cNvSpPr/>
          <p:nvPr/>
        </p:nvSpPr>
        <p:spPr>
          <a:xfrm>
            <a:off x="1280160" y="3840480"/>
            <a:ext cx="10058400" cy="36576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Writing retrieval logic</a:t>
            </a:r>
            <a:endParaRPr lang="en-US" sz="1600" dirty="0"/>
          </a:p>
        </p:txBody>
      </p:sp>
      <p:sp>
        <p:nvSpPr>
          <p:cNvPr id="21" name="Shape 19"/>
          <p:cNvSpPr/>
          <p:nvPr/>
        </p:nvSpPr>
        <p:spPr>
          <a:xfrm>
            <a:off x="731520" y="4389120"/>
            <a:ext cx="365760" cy="365760"/>
          </a:xfrm>
          <a:prstGeom prst="rect">
            <a:avLst/>
          </a:prstGeom>
          <a:solidFill>
            <a:srgbClr val="FEF3C7"/>
          </a:solidFill>
          <a:ln w="12700">
            <a:solidFill>
              <a:srgbClr val="B45309"/>
            </a:solidFill>
            <a:prstDash val="solid"/>
          </a:ln>
        </p:spPr>
      </p:sp>
      <p:sp>
        <p:nvSpPr>
          <p:cNvPr id="22" name="Text 20"/>
          <p:cNvSpPr/>
          <p:nvPr/>
        </p:nvSpPr>
        <p:spPr>
          <a:xfrm>
            <a:off x="731520" y="4389120"/>
            <a:ext cx="365760" cy="365760"/>
          </a:xfrm>
          <a:prstGeom prst="rect">
            <a:avLst/>
          </a:prstGeom>
          <a:noFill/>
          <a:ln/>
        </p:spPr>
        <p:txBody>
          <a:bodyPr wrap="square" lIns="0" tIns="0" rIns="0" bIns="0" rtlCol="0" anchor="ctr"/>
          <a:lstStyle/>
          <a:p>
            <a:pPr algn="ctr" indent="0" marL="0">
              <a:buNone/>
            </a:pPr>
            <a:r>
              <a:rPr lang="en-US" sz="2000" b="1" dirty="0">
                <a:solidFill>
                  <a:srgbClr val="B45309"/>
                </a:solidFill>
                <a:latin typeface="Georgia" pitchFamily="34" charset="0"/>
                <a:ea typeface="Georgia" pitchFamily="34" charset="-122"/>
                <a:cs typeface="Georgia" pitchFamily="34" charset="-120"/>
              </a:rPr>
              <a:t>•</a:t>
            </a:r>
            <a:endParaRPr lang="en-US" sz="2000" dirty="0"/>
          </a:p>
        </p:txBody>
      </p:sp>
      <p:sp>
        <p:nvSpPr>
          <p:cNvPr id="23" name="Text 21"/>
          <p:cNvSpPr/>
          <p:nvPr/>
        </p:nvSpPr>
        <p:spPr>
          <a:xfrm>
            <a:off x="1280160" y="4389120"/>
            <a:ext cx="10058400" cy="36576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Keeping everything in sync when your documents change</a:t>
            </a:r>
            <a:endParaRPr lang="en-US" sz="1600" dirty="0"/>
          </a:p>
        </p:txBody>
      </p:sp>
      <p:sp>
        <p:nvSpPr>
          <p:cNvPr id="24" name="Shape 22"/>
          <p:cNvSpPr/>
          <p:nvPr/>
        </p:nvSpPr>
        <p:spPr>
          <a:xfrm>
            <a:off x="502920" y="5212080"/>
            <a:ext cx="11185855" cy="1051560"/>
          </a:xfrm>
          <a:prstGeom prst="rect">
            <a:avLst/>
          </a:prstGeom>
          <a:solidFill>
            <a:srgbClr val="F1F5F9"/>
          </a:solidFill>
          <a:ln w="12700">
            <a:solidFill>
              <a:srgbClr val="F1F5F9"/>
            </a:solidFill>
            <a:prstDash val="solid"/>
          </a:ln>
        </p:spPr>
      </p:sp>
      <p:sp>
        <p:nvSpPr>
          <p:cNvPr id="25" name="Shape 23"/>
          <p:cNvSpPr/>
          <p:nvPr/>
        </p:nvSpPr>
        <p:spPr>
          <a:xfrm>
            <a:off x="502920" y="5212080"/>
            <a:ext cx="45720" cy="1051560"/>
          </a:xfrm>
          <a:prstGeom prst="rect">
            <a:avLst/>
          </a:prstGeom>
          <a:solidFill>
            <a:srgbClr val="B45309"/>
          </a:solidFill>
          <a:ln w="12700">
            <a:solidFill>
              <a:srgbClr val="B45309"/>
            </a:solidFill>
            <a:prstDash val="solid"/>
          </a:ln>
        </p:spPr>
      </p:sp>
      <p:sp>
        <p:nvSpPr>
          <p:cNvPr id="26" name="Text 24"/>
          <p:cNvSpPr/>
          <p:nvPr/>
        </p:nvSpPr>
        <p:spPr>
          <a:xfrm>
            <a:off x="685800" y="530352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WHAT'S COMING</a:t>
            </a:r>
            <a:endParaRPr lang="en-US" sz="900" dirty="0"/>
          </a:p>
        </p:txBody>
      </p:sp>
      <p:sp>
        <p:nvSpPr>
          <p:cNvPr id="27" name="Text 25"/>
          <p:cNvSpPr/>
          <p:nvPr/>
        </p:nvSpPr>
        <p:spPr>
          <a:xfrm>
            <a:off x="685800" y="550468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Bedrock has a managed service for all of this.</a:t>
            </a:r>
            <a:endParaRPr lang="en-US" sz="1300" dirty="0"/>
          </a:p>
        </p:txBody>
      </p:sp>
      <p:sp>
        <p:nvSpPr>
          <p:cNvPr id="28" name="Text 26"/>
          <p:cNvSpPr/>
          <p:nvPr/>
        </p:nvSpPr>
        <p:spPr>
          <a:xfrm>
            <a:off x="685800" y="5797296"/>
            <a:ext cx="10911535" cy="37490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You can absolutely build it yourself. People do. But Bedrock Knowledge Bases handle the entire pipeline end-to-end. Next slide.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6 · THE MANAGED SERVICE</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18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6</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Bedrock Knowledge Bases</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entire RAG pipeline as a managed AWS service. One ID. One API call.</a:t>
            </a:r>
            <a:endParaRPr lang="en-US" sz="1400" dirty="0"/>
          </a:p>
        </p:txBody>
      </p:sp>
      <p:sp>
        <p:nvSpPr>
          <p:cNvPr id="9" name="Shape 7"/>
          <p:cNvSpPr/>
          <p:nvPr/>
        </p:nvSpPr>
        <p:spPr>
          <a:xfrm>
            <a:off x="502920" y="1965960"/>
            <a:ext cx="11185855" cy="1371600"/>
          </a:xfrm>
          <a:prstGeom prst="rect">
            <a:avLst/>
          </a:prstGeom>
          <a:solidFill>
            <a:srgbClr val="0F172A"/>
          </a:solidFill>
          <a:ln w="12700">
            <a:solidFill>
              <a:srgbClr val="0F172A"/>
            </a:solidFill>
            <a:prstDash val="solid"/>
          </a:ln>
        </p:spPr>
      </p:sp>
      <p:sp>
        <p:nvSpPr>
          <p:cNvPr id="10" name="Text 8"/>
          <p:cNvSpPr/>
          <p:nvPr/>
        </p:nvSpPr>
        <p:spPr>
          <a:xfrm>
            <a:off x="777240" y="2057400"/>
            <a:ext cx="10911535"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Point it at your documents → it handles ingestion, chunking, embedding, and storage.</a:t>
            </a:r>
            <a:endParaRPr lang="en-US" sz="1900" dirty="0"/>
          </a:p>
        </p:txBody>
      </p:sp>
      <p:sp>
        <p:nvSpPr>
          <p:cNvPr id="11" name="Text 9"/>
          <p:cNvSpPr/>
          <p:nvPr/>
        </p:nvSpPr>
        <p:spPr>
          <a:xfrm>
            <a:off x="777240" y="2560320"/>
            <a:ext cx="10911535" cy="457200"/>
          </a:xfrm>
          <a:prstGeom prst="rect">
            <a:avLst/>
          </a:prstGeom>
          <a:noFill/>
          <a:ln/>
        </p:spPr>
        <p:txBody>
          <a:bodyPr wrap="square" lIns="0" tIns="0" rIns="0" bIns="0" rtlCol="0" anchor="ctr"/>
          <a:lstStyle/>
          <a:p>
            <a:pPr indent="0" marL="0">
              <a:buNone/>
            </a:pPr>
            <a:r>
              <a:rPr lang="en-US" sz="1900" b="1" i="1" dirty="0">
                <a:solidFill>
                  <a:srgbClr val="B45309"/>
                </a:solidFill>
                <a:latin typeface="Georgia" pitchFamily="34" charset="0"/>
                <a:ea typeface="Georgia" pitchFamily="34" charset="-122"/>
                <a:cs typeface="Georgia" pitchFamily="34" charset="-120"/>
              </a:rPr>
              <a:t>Query it with a single API call.</a:t>
            </a:r>
            <a:endParaRPr lang="en-US" sz="1900" dirty="0"/>
          </a:p>
        </p:txBody>
      </p:sp>
      <p:sp>
        <p:nvSpPr>
          <p:cNvPr id="12" name="Text 10"/>
          <p:cNvSpPr/>
          <p:nvPr/>
        </p:nvSpPr>
        <p:spPr>
          <a:xfrm>
            <a:off x="777240" y="3017520"/>
            <a:ext cx="10911535" cy="274320"/>
          </a:xfrm>
          <a:prstGeom prst="rect">
            <a:avLst/>
          </a:prstGeom>
          <a:noFill/>
          <a:ln/>
        </p:spPr>
        <p:txBody>
          <a:bodyPr wrap="square" lIns="0" tIns="0" rIns="0" bIns="0" rtlCol="0" anchor="ctr"/>
          <a:lstStyle/>
          <a:p>
            <a:pPr indent="0" marL="0">
              <a:buNone/>
            </a:pPr>
            <a:r>
              <a:rPr lang="en-US" sz="1200" i="1" dirty="0">
                <a:solidFill>
                  <a:srgbClr val="E2E8F0"/>
                </a:solidFill>
                <a:latin typeface="Calibri" pitchFamily="34" charset="0"/>
                <a:ea typeface="Calibri" pitchFamily="34" charset="-122"/>
                <a:cs typeface="Calibri" pitchFamily="34" charset="-120"/>
              </a:rPr>
              <a:t>All the plumbing from the previous slide — gone.</a:t>
            </a:r>
            <a:endParaRPr lang="en-US" sz="1200" dirty="0"/>
          </a:p>
        </p:txBody>
      </p:sp>
      <p:sp>
        <p:nvSpPr>
          <p:cNvPr id="13" name="Text 11"/>
          <p:cNvSpPr/>
          <p:nvPr/>
        </p:nvSpPr>
        <p:spPr>
          <a:xfrm>
            <a:off x="502920" y="3657600"/>
            <a:ext cx="11185855"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SOURCES IT CAN INGEST FROM</a:t>
            </a:r>
            <a:endParaRPr lang="en-US" sz="1000" dirty="0"/>
          </a:p>
        </p:txBody>
      </p:sp>
      <p:sp>
        <p:nvSpPr>
          <p:cNvPr id="14" name="Shape 12"/>
          <p:cNvSpPr/>
          <p:nvPr/>
        </p:nvSpPr>
        <p:spPr>
          <a:xfrm>
            <a:off x="502920" y="3977640"/>
            <a:ext cx="2194560" cy="914400"/>
          </a:xfrm>
          <a:prstGeom prst="rect">
            <a:avLst/>
          </a:prstGeom>
          <a:solidFill>
            <a:srgbClr val="F8FAFC"/>
          </a:solidFill>
          <a:ln w="6350">
            <a:solidFill>
              <a:srgbClr val="E2E8F0"/>
            </a:solidFill>
            <a:prstDash val="solid"/>
          </a:ln>
        </p:spPr>
      </p:sp>
      <p:sp>
        <p:nvSpPr>
          <p:cNvPr id="15" name="Text 13"/>
          <p:cNvSpPr/>
          <p:nvPr/>
        </p:nvSpPr>
        <p:spPr>
          <a:xfrm>
            <a:off x="502920" y="4069080"/>
            <a:ext cx="2194560" cy="365760"/>
          </a:xfrm>
          <a:prstGeom prst="rect">
            <a:avLst/>
          </a:prstGeom>
          <a:noFill/>
          <a:ln/>
        </p:spPr>
        <p:txBody>
          <a:bodyPr wrap="square" lIns="0" tIns="0" rIns="0" bIns="0" rtlCol="0" anchor="ctr"/>
          <a:lstStyle/>
          <a:p>
            <a:pPr algn="ctr" indent="0" marL="0">
              <a:buNone/>
            </a:pPr>
            <a:r>
              <a:rPr lang="en-US" sz="1500" b="1" dirty="0">
                <a:solidFill>
                  <a:srgbClr val="0F172A"/>
                </a:solidFill>
                <a:latin typeface="Georgia" pitchFamily="34" charset="0"/>
                <a:ea typeface="Georgia" pitchFamily="34" charset="-122"/>
                <a:cs typeface="Georgia" pitchFamily="34" charset="-120"/>
              </a:rPr>
              <a:t>Amazon S3</a:t>
            </a:r>
            <a:endParaRPr lang="en-US" sz="1500" dirty="0"/>
          </a:p>
        </p:txBody>
      </p:sp>
      <p:sp>
        <p:nvSpPr>
          <p:cNvPr id="16" name="Text 14"/>
          <p:cNvSpPr/>
          <p:nvPr/>
        </p:nvSpPr>
        <p:spPr>
          <a:xfrm>
            <a:off x="502920" y="4434840"/>
            <a:ext cx="2194560" cy="365760"/>
          </a:xfrm>
          <a:prstGeom prst="rect">
            <a:avLst/>
          </a:prstGeom>
          <a:noFill/>
          <a:ln/>
        </p:spPr>
        <p:txBody>
          <a:bodyPr wrap="square" lIns="0" tIns="0" rIns="0" bIns="0" rtlCol="0" anchor="ctr"/>
          <a:lstStyle/>
          <a:p>
            <a:pPr algn="ctr" indent="0" marL="0">
              <a:buNone/>
            </a:pPr>
            <a:r>
              <a:rPr lang="en-US" sz="1000" i="1" dirty="0">
                <a:solidFill>
                  <a:srgbClr val="B45309"/>
                </a:solidFill>
                <a:latin typeface="Calibri" pitchFamily="34" charset="0"/>
                <a:ea typeface="Calibri" pitchFamily="34" charset="-122"/>
                <a:cs typeface="Calibri" pitchFamily="34" charset="-120"/>
              </a:rPr>
              <a:t>most common</a:t>
            </a:r>
            <a:endParaRPr lang="en-US" sz="1000" dirty="0"/>
          </a:p>
        </p:txBody>
      </p:sp>
      <p:sp>
        <p:nvSpPr>
          <p:cNvPr id="17" name="Shape 15"/>
          <p:cNvSpPr/>
          <p:nvPr/>
        </p:nvSpPr>
        <p:spPr>
          <a:xfrm>
            <a:off x="2788920" y="3977640"/>
            <a:ext cx="2194560" cy="914400"/>
          </a:xfrm>
          <a:prstGeom prst="rect">
            <a:avLst/>
          </a:prstGeom>
          <a:solidFill>
            <a:srgbClr val="F8FAFC"/>
          </a:solidFill>
          <a:ln w="6350">
            <a:solidFill>
              <a:srgbClr val="E2E8F0"/>
            </a:solidFill>
            <a:prstDash val="solid"/>
          </a:ln>
        </p:spPr>
      </p:sp>
      <p:sp>
        <p:nvSpPr>
          <p:cNvPr id="18" name="Text 16"/>
          <p:cNvSpPr/>
          <p:nvPr/>
        </p:nvSpPr>
        <p:spPr>
          <a:xfrm>
            <a:off x="2788920" y="4069080"/>
            <a:ext cx="2194560" cy="365760"/>
          </a:xfrm>
          <a:prstGeom prst="rect">
            <a:avLst/>
          </a:prstGeom>
          <a:noFill/>
          <a:ln/>
        </p:spPr>
        <p:txBody>
          <a:bodyPr wrap="square" lIns="0" tIns="0" rIns="0" bIns="0" rtlCol="0" anchor="ctr"/>
          <a:lstStyle/>
          <a:p>
            <a:pPr algn="ctr" indent="0" marL="0">
              <a:buNone/>
            </a:pPr>
            <a:r>
              <a:rPr lang="en-US" sz="1500" b="1" dirty="0">
                <a:solidFill>
                  <a:srgbClr val="0F172A"/>
                </a:solidFill>
                <a:latin typeface="Georgia" pitchFamily="34" charset="0"/>
                <a:ea typeface="Georgia" pitchFamily="34" charset="-122"/>
                <a:cs typeface="Georgia" pitchFamily="34" charset="-120"/>
              </a:rPr>
              <a:t>Confluence</a:t>
            </a:r>
            <a:endParaRPr lang="en-US" sz="1500" dirty="0"/>
          </a:p>
        </p:txBody>
      </p:sp>
      <p:sp>
        <p:nvSpPr>
          <p:cNvPr id="19" name="Shape 17"/>
          <p:cNvSpPr/>
          <p:nvPr/>
        </p:nvSpPr>
        <p:spPr>
          <a:xfrm>
            <a:off x="5074920" y="3977640"/>
            <a:ext cx="2194560" cy="914400"/>
          </a:xfrm>
          <a:prstGeom prst="rect">
            <a:avLst/>
          </a:prstGeom>
          <a:solidFill>
            <a:srgbClr val="F8FAFC"/>
          </a:solidFill>
          <a:ln w="6350">
            <a:solidFill>
              <a:srgbClr val="E2E8F0"/>
            </a:solidFill>
            <a:prstDash val="solid"/>
          </a:ln>
        </p:spPr>
      </p:sp>
      <p:sp>
        <p:nvSpPr>
          <p:cNvPr id="20" name="Text 18"/>
          <p:cNvSpPr/>
          <p:nvPr/>
        </p:nvSpPr>
        <p:spPr>
          <a:xfrm>
            <a:off x="5074920" y="4069080"/>
            <a:ext cx="2194560" cy="365760"/>
          </a:xfrm>
          <a:prstGeom prst="rect">
            <a:avLst/>
          </a:prstGeom>
          <a:noFill/>
          <a:ln/>
        </p:spPr>
        <p:txBody>
          <a:bodyPr wrap="square" lIns="0" tIns="0" rIns="0" bIns="0" rtlCol="0" anchor="ctr"/>
          <a:lstStyle/>
          <a:p>
            <a:pPr algn="ctr" indent="0" marL="0">
              <a:buNone/>
            </a:pPr>
            <a:r>
              <a:rPr lang="en-US" sz="1500" b="1" dirty="0">
                <a:solidFill>
                  <a:srgbClr val="0F172A"/>
                </a:solidFill>
                <a:latin typeface="Georgia" pitchFamily="34" charset="0"/>
                <a:ea typeface="Georgia" pitchFamily="34" charset="-122"/>
                <a:cs typeface="Georgia" pitchFamily="34" charset="-120"/>
              </a:rPr>
              <a:t>SharePoint</a:t>
            </a:r>
            <a:endParaRPr lang="en-US" sz="1500" dirty="0"/>
          </a:p>
        </p:txBody>
      </p:sp>
      <p:sp>
        <p:nvSpPr>
          <p:cNvPr id="21" name="Shape 19"/>
          <p:cNvSpPr/>
          <p:nvPr/>
        </p:nvSpPr>
        <p:spPr>
          <a:xfrm>
            <a:off x="7360920" y="3977640"/>
            <a:ext cx="2194560" cy="914400"/>
          </a:xfrm>
          <a:prstGeom prst="rect">
            <a:avLst/>
          </a:prstGeom>
          <a:solidFill>
            <a:srgbClr val="F8FAFC"/>
          </a:solidFill>
          <a:ln w="6350">
            <a:solidFill>
              <a:srgbClr val="E2E8F0"/>
            </a:solidFill>
            <a:prstDash val="solid"/>
          </a:ln>
        </p:spPr>
      </p:sp>
      <p:sp>
        <p:nvSpPr>
          <p:cNvPr id="22" name="Text 20"/>
          <p:cNvSpPr/>
          <p:nvPr/>
        </p:nvSpPr>
        <p:spPr>
          <a:xfrm>
            <a:off x="7360920" y="4069080"/>
            <a:ext cx="2194560" cy="365760"/>
          </a:xfrm>
          <a:prstGeom prst="rect">
            <a:avLst/>
          </a:prstGeom>
          <a:noFill/>
          <a:ln/>
        </p:spPr>
        <p:txBody>
          <a:bodyPr wrap="square" lIns="0" tIns="0" rIns="0" bIns="0" rtlCol="0" anchor="ctr"/>
          <a:lstStyle/>
          <a:p>
            <a:pPr algn="ctr" indent="0" marL="0">
              <a:buNone/>
            </a:pPr>
            <a:r>
              <a:rPr lang="en-US" sz="1500" b="1" dirty="0">
                <a:solidFill>
                  <a:srgbClr val="0F172A"/>
                </a:solidFill>
                <a:latin typeface="Georgia" pitchFamily="34" charset="0"/>
                <a:ea typeface="Georgia" pitchFamily="34" charset="-122"/>
                <a:cs typeface="Georgia" pitchFamily="34" charset="-120"/>
              </a:rPr>
              <a:t>Salesforce</a:t>
            </a:r>
            <a:endParaRPr lang="en-US" sz="1500" dirty="0"/>
          </a:p>
        </p:txBody>
      </p:sp>
      <p:sp>
        <p:nvSpPr>
          <p:cNvPr id="23" name="Shape 21"/>
          <p:cNvSpPr/>
          <p:nvPr/>
        </p:nvSpPr>
        <p:spPr>
          <a:xfrm>
            <a:off x="9646920" y="3977640"/>
            <a:ext cx="2194560" cy="914400"/>
          </a:xfrm>
          <a:prstGeom prst="rect">
            <a:avLst/>
          </a:prstGeom>
          <a:solidFill>
            <a:srgbClr val="F8FAFC"/>
          </a:solidFill>
          <a:ln w="6350">
            <a:solidFill>
              <a:srgbClr val="E2E8F0"/>
            </a:solidFill>
            <a:prstDash val="solid"/>
          </a:ln>
        </p:spPr>
      </p:sp>
      <p:sp>
        <p:nvSpPr>
          <p:cNvPr id="24" name="Text 22"/>
          <p:cNvSpPr/>
          <p:nvPr/>
        </p:nvSpPr>
        <p:spPr>
          <a:xfrm>
            <a:off x="9646920" y="4069080"/>
            <a:ext cx="2194560" cy="365760"/>
          </a:xfrm>
          <a:prstGeom prst="rect">
            <a:avLst/>
          </a:prstGeom>
          <a:noFill/>
          <a:ln/>
        </p:spPr>
        <p:txBody>
          <a:bodyPr wrap="square" lIns="0" tIns="0" rIns="0" bIns="0" rtlCol="0" anchor="ctr"/>
          <a:lstStyle/>
          <a:p>
            <a:pPr algn="ctr" indent="0" marL="0">
              <a:buNone/>
            </a:pPr>
            <a:r>
              <a:rPr lang="en-US" sz="1500" b="1" dirty="0">
                <a:solidFill>
                  <a:srgbClr val="0F172A"/>
                </a:solidFill>
                <a:latin typeface="Georgia" pitchFamily="34" charset="0"/>
                <a:ea typeface="Georgia" pitchFamily="34" charset="-122"/>
                <a:cs typeface="Georgia" pitchFamily="34" charset="-120"/>
              </a:rPr>
              <a:t>+ more</a:t>
            </a:r>
            <a:endParaRPr lang="en-US" sz="1500" dirty="0"/>
          </a:p>
        </p:txBody>
      </p:sp>
      <p:sp>
        <p:nvSpPr>
          <p:cNvPr id="25" name="Shape 23"/>
          <p:cNvSpPr/>
          <p:nvPr/>
        </p:nvSpPr>
        <p:spPr>
          <a:xfrm>
            <a:off x="502920" y="5166360"/>
            <a:ext cx="11185855" cy="1097280"/>
          </a:xfrm>
          <a:prstGeom prst="rect">
            <a:avLst/>
          </a:prstGeom>
          <a:solidFill>
            <a:srgbClr val="F1F5F9"/>
          </a:solidFill>
          <a:ln w="12700">
            <a:solidFill>
              <a:srgbClr val="F1F5F9"/>
            </a:solidFill>
            <a:prstDash val="solid"/>
          </a:ln>
        </p:spPr>
      </p:sp>
      <p:sp>
        <p:nvSpPr>
          <p:cNvPr id="26" name="Shape 24"/>
          <p:cNvSpPr/>
          <p:nvPr/>
        </p:nvSpPr>
        <p:spPr>
          <a:xfrm>
            <a:off x="502920" y="5166360"/>
            <a:ext cx="45720" cy="1097280"/>
          </a:xfrm>
          <a:prstGeom prst="rect">
            <a:avLst/>
          </a:prstGeom>
          <a:solidFill>
            <a:srgbClr val="B45309"/>
          </a:solidFill>
          <a:ln w="12700">
            <a:solidFill>
              <a:srgbClr val="B45309"/>
            </a:solidFill>
            <a:prstDash val="solid"/>
          </a:ln>
        </p:spPr>
      </p:sp>
      <p:sp>
        <p:nvSpPr>
          <p:cNvPr id="27" name="Text 25"/>
          <p:cNvSpPr/>
          <p:nvPr/>
        </p:nvSpPr>
        <p:spPr>
          <a:xfrm>
            <a:off x="685800" y="525780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WHAT YOU CONFIGURE</a:t>
            </a:r>
            <a:endParaRPr lang="en-US" sz="900" dirty="0"/>
          </a:p>
        </p:txBody>
      </p:sp>
      <p:sp>
        <p:nvSpPr>
          <p:cNvPr id="28" name="Text 26"/>
          <p:cNvSpPr/>
          <p:nvPr/>
        </p:nvSpPr>
        <p:spPr>
          <a:xfrm>
            <a:off x="685800" y="545896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A bucket, an embedding model, a vector store. That's it.</a:t>
            </a:r>
            <a:endParaRPr lang="en-US" sz="1300" dirty="0"/>
          </a:p>
        </p:txBody>
      </p:sp>
      <p:sp>
        <p:nvSpPr>
          <p:cNvPr id="29" name="Text 27"/>
          <p:cNvSpPr/>
          <p:nvPr/>
        </p:nvSpPr>
        <p:spPr>
          <a:xfrm>
            <a:off x="685800" y="5751576"/>
            <a:ext cx="10911535" cy="42062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Bedrock chunks, embeds, stores, and keeps things in sync. You get a Knowledge Base ID. That ID is the only thing your code needs.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6 · THE RUNNING EXAMPLE</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19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6</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The university chatbot — we'll build this through the rest of the deck</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 grounded assistant that answers FAQ-style questions from a university's actual documents.</a:t>
            </a:r>
            <a:endParaRPr lang="en-US" sz="1400" dirty="0"/>
          </a:p>
        </p:txBody>
      </p:sp>
      <p:sp>
        <p:nvSpPr>
          <p:cNvPr id="9" name="Shape 7"/>
          <p:cNvSpPr/>
          <p:nvPr/>
        </p:nvSpPr>
        <p:spPr>
          <a:xfrm>
            <a:off x="502920" y="2011680"/>
            <a:ext cx="11185855" cy="2194560"/>
          </a:xfrm>
          <a:prstGeom prst="rect">
            <a:avLst/>
          </a:prstGeom>
          <a:solidFill>
            <a:srgbClr val="FEF3C7"/>
          </a:solidFill>
          <a:ln w="12700">
            <a:solidFill>
              <a:srgbClr val="B45309"/>
            </a:solidFill>
            <a:prstDash val="solid"/>
          </a:ln>
        </p:spPr>
      </p:sp>
      <p:sp>
        <p:nvSpPr>
          <p:cNvPr id="10" name="Shape 8"/>
          <p:cNvSpPr/>
          <p:nvPr/>
        </p:nvSpPr>
        <p:spPr>
          <a:xfrm>
            <a:off x="502920" y="2011680"/>
            <a:ext cx="73152" cy="2194560"/>
          </a:xfrm>
          <a:prstGeom prst="rect">
            <a:avLst/>
          </a:prstGeom>
          <a:solidFill>
            <a:srgbClr val="B45309"/>
          </a:solidFill>
          <a:ln w="12700">
            <a:solidFill>
              <a:srgbClr val="B45309"/>
            </a:solidFill>
            <a:prstDash val="solid"/>
          </a:ln>
        </p:spPr>
      </p:sp>
      <p:sp>
        <p:nvSpPr>
          <p:cNvPr id="11" name="Text 9"/>
          <p:cNvSpPr/>
          <p:nvPr/>
        </p:nvSpPr>
        <p:spPr>
          <a:xfrm>
            <a:off x="777240" y="2103120"/>
            <a:ext cx="10911535"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Use case</a:t>
            </a:r>
            <a:endParaRPr lang="en-US" sz="1000" dirty="0"/>
          </a:p>
        </p:txBody>
      </p:sp>
      <p:sp>
        <p:nvSpPr>
          <p:cNvPr id="12" name="Text 10"/>
          <p:cNvSpPr/>
          <p:nvPr/>
        </p:nvSpPr>
        <p:spPr>
          <a:xfrm>
            <a:off x="777240" y="2423160"/>
            <a:ext cx="10911535" cy="36576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A chatbot that helps students find answers to questions about:</a:t>
            </a:r>
            <a:endParaRPr lang="en-US" sz="1600" dirty="0"/>
          </a:p>
        </p:txBody>
      </p:sp>
      <p:sp>
        <p:nvSpPr>
          <p:cNvPr id="13" name="Text 11"/>
          <p:cNvSpPr/>
          <p:nvPr/>
        </p:nvSpPr>
        <p:spPr>
          <a:xfrm>
            <a:off x="1005840" y="2880360"/>
            <a:ext cx="10058400" cy="32004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  Course enrollment deadlines</a:t>
            </a:r>
            <a:endParaRPr lang="en-US" sz="1300" dirty="0"/>
          </a:p>
        </p:txBody>
      </p:sp>
      <p:sp>
        <p:nvSpPr>
          <p:cNvPr id="14" name="Text 12"/>
          <p:cNvSpPr/>
          <p:nvPr/>
        </p:nvSpPr>
        <p:spPr>
          <a:xfrm>
            <a:off x="1005840" y="3246120"/>
            <a:ext cx="10058400" cy="32004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  Financial aid policies</a:t>
            </a:r>
            <a:endParaRPr lang="en-US" sz="1300" dirty="0"/>
          </a:p>
        </p:txBody>
      </p:sp>
      <p:sp>
        <p:nvSpPr>
          <p:cNvPr id="15" name="Text 13"/>
          <p:cNvSpPr/>
          <p:nvPr/>
        </p:nvSpPr>
        <p:spPr>
          <a:xfrm>
            <a:off x="1005840" y="3611880"/>
            <a:ext cx="10058400" cy="32004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  Campus information</a:t>
            </a:r>
            <a:endParaRPr lang="en-US" sz="1300" dirty="0"/>
          </a:p>
        </p:txBody>
      </p:sp>
      <p:sp>
        <p:nvSpPr>
          <p:cNvPr id="16" name="Text 14"/>
          <p:cNvSpPr/>
          <p:nvPr/>
        </p:nvSpPr>
        <p:spPr>
          <a:xfrm>
            <a:off x="502920" y="4434840"/>
            <a:ext cx="11185855"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WHY IT'S A PERFECT RAG USE CASE</a:t>
            </a:r>
            <a:endParaRPr lang="en-US" sz="1000" dirty="0"/>
          </a:p>
        </p:txBody>
      </p:sp>
      <p:sp>
        <p:nvSpPr>
          <p:cNvPr id="17" name="Text 15"/>
          <p:cNvSpPr/>
          <p:nvPr/>
        </p:nvSpPr>
        <p:spPr>
          <a:xfrm>
            <a:off x="502920" y="4754880"/>
            <a:ext cx="11185855" cy="64008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The model needs to ground answers in the university's actual policy documents — dates, dollar amounts, deadlines. Anything hallucinated here is worse than no answer at all.</a:t>
            </a:r>
            <a:endParaRPr lang="en-US" sz="1300" dirty="0"/>
          </a:p>
        </p:txBody>
      </p:sp>
      <p:sp>
        <p:nvSpPr>
          <p:cNvPr id="18" name="Shape 16"/>
          <p:cNvSpPr/>
          <p:nvPr/>
        </p:nvSpPr>
        <p:spPr>
          <a:xfrm>
            <a:off x="502920" y="5486400"/>
            <a:ext cx="11185855" cy="777240"/>
          </a:xfrm>
          <a:prstGeom prst="rect">
            <a:avLst/>
          </a:prstGeom>
          <a:solidFill>
            <a:srgbClr val="F1F5F9"/>
          </a:solidFill>
          <a:ln w="12700">
            <a:solidFill>
              <a:srgbClr val="F1F5F9"/>
            </a:solidFill>
            <a:prstDash val="solid"/>
          </a:ln>
        </p:spPr>
      </p:sp>
      <p:sp>
        <p:nvSpPr>
          <p:cNvPr id="19" name="Shape 17"/>
          <p:cNvSpPr/>
          <p:nvPr/>
        </p:nvSpPr>
        <p:spPr>
          <a:xfrm>
            <a:off x="502920" y="5486400"/>
            <a:ext cx="45720" cy="777240"/>
          </a:xfrm>
          <a:prstGeom prst="rect">
            <a:avLst/>
          </a:prstGeom>
          <a:solidFill>
            <a:srgbClr val="B45309"/>
          </a:solidFill>
          <a:ln w="12700">
            <a:solidFill>
              <a:srgbClr val="B45309"/>
            </a:solidFill>
            <a:prstDash val="solid"/>
          </a:ln>
        </p:spPr>
      </p:sp>
      <p:sp>
        <p:nvSpPr>
          <p:cNvPr id="20" name="Text 18"/>
          <p:cNvSpPr/>
          <p:nvPr/>
        </p:nvSpPr>
        <p:spPr>
          <a:xfrm>
            <a:off x="685800" y="557784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WHERE IT GOES</a:t>
            </a:r>
            <a:endParaRPr lang="en-US" sz="900" dirty="0"/>
          </a:p>
        </p:txBody>
      </p:sp>
      <p:sp>
        <p:nvSpPr>
          <p:cNvPr id="21" name="Text 19"/>
          <p:cNvSpPr/>
          <p:nvPr/>
        </p:nvSpPr>
        <p:spPr>
          <a:xfrm>
            <a:off x="685800" y="5779008"/>
            <a:ext cx="10911535" cy="39319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This example threads through the rest of the deck. We add Guardrails to it in Chapter 7. We turn the whole thing into an Agent in Chapter 8.</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6 · CONSOLE WORKFLOW</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20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6</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Creating a Knowledge Base — the steps</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All in the AWS console. No code yet. After this we have a KB ID to query.</a:t>
            </a:r>
            <a:endParaRPr lang="en-US" sz="1400" dirty="0"/>
          </a:p>
        </p:txBody>
      </p:sp>
      <p:sp>
        <p:nvSpPr>
          <p:cNvPr id="9" name="Shape 7"/>
          <p:cNvSpPr/>
          <p:nvPr/>
        </p:nvSpPr>
        <p:spPr>
          <a:xfrm>
            <a:off x="502920" y="2103120"/>
            <a:ext cx="11185855" cy="548640"/>
          </a:xfrm>
          <a:prstGeom prst="rect">
            <a:avLst/>
          </a:prstGeom>
          <a:solidFill>
            <a:srgbClr val="F8FAFC"/>
          </a:solidFill>
          <a:ln w="6350">
            <a:solidFill>
              <a:srgbClr val="E2E8F0"/>
            </a:solidFill>
            <a:prstDash val="solid"/>
          </a:ln>
        </p:spPr>
      </p:sp>
      <p:sp>
        <p:nvSpPr>
          <p:cNvPr id="10" name="Shape 8"/>
          <p:cNvSpPr/>
          <p:nvPr/>
        </p:nvSpPr>
        <p:spPr>
          <a:xfrm>
            <a:off x="640080" y="2194560"/>
            <a:ext cx="365760" cy="365760"/>
          </a:xfrm>
          <a:prstGeom prst="ellipse">
            <a:avLst/>
          </a:prstGeom>
          <a:solidFill>
            <a:srgbClr val="0F172A"/>
          </a:solidFill>
          <a:ln w="12700">
            <a:solidFill>
              <a:srgbClr val="0F172A"/>
            </a:solidFill>
            <a:prstDash val="solid"/>
          </a:ln>
        </p:spPr>
      </p:sp>
      <p:sp>
        <p:nvSpPr>
          <p:cNvPr id="11" name="Text 9"/>
          <p:cNvSpPr/>
          <p:nvPr/>
        </p:nvSpPr>
        <p:spPr>
          <a:xfrm>
            <a:off x="640080" y="21945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2" name="Text 10"/>
          <p:cNvSpPr/>
          <p:nvPr/>
        </p:nvSpPr>
        <p:spPr>
          <a:xfrm>
            <a:off x="1143000" y="2148840"/>
            <a:ext cx="5029200" cy="457200"/>
          </a:xfrm>
          <a:prstGeom prst="rect">
            <a:avLst/>
          </a:prstGeom>
          <a:noFill/>
          <a:ln/>
        </p:spPr>
        <p:txBody>
          <a:bodyPr wrap="square" lIns="0" tIns="0" rIns="0" bIns="0"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Upload documents to S3</a:t>
            </a:r>
            <a:endParaRPr lang="en-US" sz="1400" dirty="0"/>
          </a:p>
        </p:txBody>
      </p:sp>
      <p:sp>
        <p:nvSpPr>
          <p:cNvPr id="13" name="Text 11"/>
          <p:cNvSpPr/>
          <p:nvPr/>
        </p:nvSpPr>
        <p:spPr>
          <a:xfrm>
            <a:off x="6263640" y="2148840"/>
            <a:ext cx="5486400" cy="45720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Create a bucket. Upload your PDFs, Markdown, or text files.</a:t>
            </a:r>
            <a:endParaRPr lang="en-US" sz="1200" dirty="0"/>
          </a:p>
        </p:txBody>
      </p:sp>
      <p:sp>
        <p:nvSpPr>
          <p:cNvPr id="14" name="Shape 12"/>
          <p:cNvSpPr/>
          <p:nvPr/>
        </p:nvSpPr>
        <p:spPr>
          <a:xfrm>
            <a:off x="502920" y="2743200"/>
            <a:ext cx="11185855" cy="548640"/>
          </a:xfrm>
          <a:prstGeom prst="rect">
            <a:avLst/>
          </a:prstGeom>
          <a:solidFill>
            <a:srgbClr val="F8FAFC"/>
          </a:solidFill>
          <a:ln w="6350">
            <a:solidFill>
              <a:srgbClr val="E2E8F0"/>
            </a:solidFill>
            <a:prstDash val="solid"/>
          </a:ln>
        </p:spPr>
      </p:sp>
      <p:sp>
        <p:nvSpPr>
          <p:cNvPr id="15" name="Shape 13"/>
          <p:cNvSpPr/>
          <p:nvPr/>
        </p:nvSpPr>
        <p:spPr>
          <a:xfrm>
            <a:off x="640080" y="2834640"/>
            <a:ext cx="365760" cy="365760"/>
          </a:xfrm>
          <a:prstGeom prst="ellipse">
            <a:avLst/>
          </a:prstGeom>
          <a:solidFill>
            <a:srgbClr val="0F172A"/>
          </a:solidFill>
          <a:ln w="12700">
            <a:solidFill>
              <a:srgbClr val="0F172A"/>
            </a:solidFill>
            <a:prstDash val="solid"/>
          </a:ln>
        </p:spPr>
      </p:sp>
      <p:sp>
        <p:nvSpPr>
          <p:cNvPr id="16" name="Text 14"/>
          <p:cNvSpPr/>
          <p:nvPr/>
        </p:nvSpPr>
        <p:spPr>
          <a:xfrm>
            <a:off x="640080" y="283464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7" name="Text 15"/>
          <p:cNvSpPr/>
          <p:nvPr/>
        </p:nvSpPr>
        <p:spPr>
          <a:xfrm>
            <a:off x="1143000" y="2788920"/>
            <a:ext cx="5029200" cy="457200"/>
          </a:xfrm>
          <a:prstGeom prst="rect">
            <a:avLst/>
          </a:prstGeom>
          <a:noFill/>
          <a:ln/>
        </p:spPr>
        <p:txBody>
          <a:bodyPr wrap="square" lIns="0" tIns="0" rIns="0" bIns="0"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Create a Knowledge Base in Bedrock console</a:t>
            </a:r>
            <a:endParaRPr lang="en-US" sz="1400" dirty="0"/>
          </a:p>
        </p:txBody>
      </p:sp>
      <p:sp>
        <p:nvSpPr>
          <p:cNvPr id="18" name="Text 16"/>
          <p:cNvSpPr/>
          <p:nvPr/>
        </p:nvSpPr>
        <p:spPr>
          <a:xfrm>
            <a:off x="6263640" y="2788920"/>
            <a:ext cx="5486400" cy="45720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Point it at the S3 bucket.</a:t>
            </a:r>
            <a:endParaRPr lang="en-US" sz="1200" dirty="0"/>
          </a:p>
        </p:txBody>
      </p:sp>
      <p:sp>
        <p:nvSpPr>
          <p:cNvPr id="19" name="Shape 17"/>
          <p:cNvSpPr/>
          <p:nvPr/>
        </p:nvSpPr>
        <p:spPr>
          <a:xfrm>
            <a:off x="502920" y="3383280"/>
            <a:ext cx="11185855" cy="548640"/>
          </a:xfrm>
          <a:prstGeom prst="rect">
            <a:avLst/>
          </a:prstGeom>
          <a:solidFill>
            <a:srgbClr val="F8FAFC"/>
          </a:solidFill>
          <a:ln w="6350">
            <a:solidFill>
              <a:srgbClr val="E2E8F0"/>
            </a:solidFill>
            <a:prstDash val="solid"/>
          </a:ln>
        </p:spPr>
      </p:sp>
      <p:sp>
        <p:nvSpPr>
          <p:cNvPr id="20" name="Shape 18"/>
          <p:cNvSpPr/>
          <p:nvPr/>
        </p:nvSpPr>
        <p:spPr>
          <a:xfrm>
            <a:off x="640080" y="3474720"/>
            <a:ext cx="365760" cy="365760"/>
          </a:xfrm>
          <a:prstGeom prst="ellipse">
            <a:avLst/>
          </a:prstGeom>
          <a:solidFill>
            <a:srgbClr val="0F172A"/>
          </a:solidFill>
          <a:ln w="12700">
            <a:solidFill>
              <a:srgbClr val="0F172A"/>
            </a:solidFill>
            <a:prstDash val="solid"/>
          </a:ln>
        </p:spPr>
      </p:sp>
      <p:sp>
        <p:nvSpPr>
          <p:cNvPr id="21" name="Text 19"/>
          <p:cNvSpPr/>
          <p:nvPr/>
        </p:nvSpPr>
        <p:spPr>
          <a:xfrm>
            <a:off x="640080" y="34747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2" name="Text 20"/>
          <p:cNvSpPr/>
          <p:nvPr/>
        </p:nvSpPr>
        <p:spPr>
          <a:xfrm>
            <a:off x="1143000" y="3429000"/>
            <a:ext cx="5029200" cy="457200"/>
          </a:xfrm>
          <a:prstGeom prst="rect">
            <a:avLst/>
          </a:prstGeom>
          <a:noFill/>
          <a:ln/>
        </p:spPr>
        <p:txBody>
          <a:bodyPr wrap="square" lIns="0" tIns="0" rIns="0" bIns="0"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Choose an embedding model</a:t>
            </a:r>
            <a:endParaRPr lang="en-US" sz="1400" dirty="0"/>
          </a:p>
        </p:txBody>
      </p:sp>
      <p:sp>
        <p:nvSpPr>
          <p:cNvPr id="23" name="Text 21"/>
          <p:cNvSpPr/>
          <p:nvPr/>
        </p:nvSpPr>
        <p:spPr>
          <a:xfrm>
            <a:off x="6263640" y="3429000"/>
            <a:ext cx="5486400" cy="45720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Amazon Titan Embed is a solid default.</a:t>
            </a:r>
            <a:endParaRPr lang="en-US" sz="1200" dirty="0"/>
          </a:p>
        </p:txBody>
      </p:sp>
      <p:sp>
        <p:nvSpPr>
          <p:cNvPr id="24" name="Shape 22"/>
          <p:cNvSpPr/>
          <p:nvPr/>
        </p:nvSpPr>
        <p:spPr>
          <a:xfrm>
            <a:off x="502920" y="4023360"/>
            <a:ext cx="11185855" cy="548640"/>
          </a:xfrm>
          <a:prstGeom prst="rect">
            <a:avLst/>
          </a:prstGeom>
          <a:solidFill>
            <a:srgbClr val="F8FAFC"/>
          </a:solidFill>
          <a:ln w="6350">
            <a:solidFill>
              <a:srgbClr val="E2E8F0"/>
            </a:solidFill>
            <a:prstDash val="solid"/>
          </a:ln>
        </p:spPr>
      </p:sp>
      <p:sp>
        <p:nvSpPr>
          <p:cNvPr id="25" name="Shape 23"/>
          <p:cNvSpPr/>
          <p:nvPr/>
        </p:nvSpPr>
        <p:spPr>
          <a:xfrm>
            <a:off x="640080" y="4114800"/>
            <a:ext cx="365760" cy="365760"/>
          </a:xfrm>
          <a:prstGeom prst="ellipse">
            <a:avLst/>
          </a:prstGeom>
          <a:solidFill>
            <a:srgbClr val="0F172A"/>
          </a:solidFill>
          <a:ln w="12700">
            <a:solidFill>
              <a:srgbClr val="0F172A"/>
            </a:solidFill>
            <a:prstDash val="solid"/>
          </a:ln>
        </p:spPr>
      </p:sp>
      <p:sp>
        <p:nvSpPr>
          <p:cNvPr id="26" name="Text 24"/>
          <p:cNvSpPr/>
          <p:nvPr/>
        </p:nvSpPr>
        <p:spPr>
          <a:xfrm>
            <a:off x="640080" y="411480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7" name="Text 25"/>
          <p:cNvSpPr/>
          <p:nvPr/>
        </p:nvSpPr>
        <p:spPr>
          <a:xfrm>
            <a:off x="1143000" y="4069080"/>
            <a:ext cx="5029200" cy="457200"/>
          </a:xfrm>
          <a:prstGeom prst="rect">
            <a:avLst/>
          </a:prstGeom>
          <a:noFill/>
          <a:ln/>
        </p:spPr>
        <p:txBody>
          <a:bodyPr wrap="square" lIns="0" tIns="0" rIns="0" bIns="0"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Choose a vector store</a:t>
            </a:r>
            <a:endParaRPr lang="en-US" sz="1400" dirty="0"/>
          </a:p>
        </p:txBody>
      </p:sp>
      <p:sp>
        <p:nvSpPr>
          <p:cNvPr id="28" name="Text 26"/>
          <p:cNvSpPr/>
          <p:nvPr/>
        </p:nvSpPr>
        <p:spPr>
          <a:xfrm>
            <a:off x="6263640" y="4069080"/>
            <a:ext cx="5486400" cy="45720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Amazon S3 Vectors — simplest and cheapest for getting started.</a:t>
            </a:r>
            <a:endParaRPr lang="en-US" sz="1200" dirty="0"/>
          </a:p>
        </p:txBody>
      </p:sp>
      <p:sp>
        <p:nvSpPr>
          <p:cNvPr id="29" name="Shape 27"/>
          <p:cNvSpPr/>
          <p:nvPr/>
        </p:nvSpPr>
        <p:spPr>
          <a:xfrm>
            <a:off x="502920" y="4663440"/>
            <a:ext cx="11185855" cy="548640"/>
          </a:xfrm>
          <a:prstGeom prst="rect">
            <a:avLst/>
          </a:prstGeom>
          <a:solidFill>
            <a:srgbClr val="D1FAE5"/>
          </a:solidFill>
          <a:ln w="6350">
            <a:solidFill>
              <a:srgbClr val="047857"/>
            </a:solidFill>
            <a:prstDash val="solid"/>
          </a:ln>
        </p:spPr>
      </p:sp>
      <p:sp>
        <p:nvSpPr>
          <p:cNvPr id="30" name="Shape 28"/>
          <p:cNvSpPr/>
          <p:nvPr/>
        </p:nvSpPr>
        <p:spPr>
          <a:xfrm>
            <a:off x="640080" y="4754880"/>
            <a:ext cx="365760" cy="365760"/>
          </a:xfrm>
          <a:prstGeom prst="ellipse">
            <a:avLst/>
          </a:prstGeom>
          <a:solidFill>
            <a:srgbClr val="0F172A"/>
          </a:solidFill>
          <a:ln w="12700">
            <a:solidFill>
              <a:srgbClr val="0F172A"/>
            </a:solidFill>
            <a:prstDash val="solid"/>
          </a:ln>
        </p:spPr>
      </p:sp>
      <p:sp>
        <p:nvSpPr>
          <p:cNvPr id="31" name="Text 29"/>
          <p:cNvSpPr/>
          <p:nvPr/>
        </p:nvSpPr>
        <p:spPr>
          <a:xfrm>
            <a:off x="640080" y="475488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32" name="Text 30"/>
          <p:cNvSpPr/>
          <p:nvPr/>
        </p:nvSpPr>
        <p:spPr>
          <a:xfrm>
            <a:off x="1143000" y="4709160"/>
            <a:ext cx="5029200" cy="457200"/>
          </a:xfrm>
          <a:prstGeom prst="rect">
            <a:avLst/>
          </a:prstGeom>
          <a:noFill/>
          <a:ln/>
        </p:spPr>
        <p:txBody>
          <a:bodyPr wrap="square" lIns="0" tIns="0" rIns="0" bIns="0" rtlCol="0" anchor="ctr"/>
          <a:lstStyle/>
          <a:p>
            <a:pPr indent="0" marL="0">
              <a:buNone/>
            </a:pPr>
            <a:r>
              <a:rPr lang="en-US" sz="1400" b="1" dirty="0">
                <a:solidFill>
                  <a:srgbClr val="0F172A"/>
                </a:solidFill>
                <a:latin typeface="Georgia" pitchFamily="34" charset="0"/>
                <a:ea typeface="Georgia" pitchFamily="34" charset="-122"/>
                <a:cs typeface="Georgia" pitchFamily="34" charset="-120"/>
              </a:rPr>
              <a:t>Sync the data</a:t>
            </a:r>
            <a:endParaRPr lang="en-US" sz="1400" dirty="0"/>
          </a:p>
        </p:txBody>
      </p:sp>
      <p:sp>
        <p:nvSpPr>
          <p:cNvPr id="33" name="Text 31"/>
          <p:cNvSpPr/>
          <p:nvPr/>
        </p:nvSpPr>
        <p:spPr>
          <a:xfrm>
            <a:off x="6263640" y="4709160"/>
            <a:ext cx="5486400" cy="45720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Bedrock chunks, embeds, and stores everything. Wait for sync to complete.</a:t>
            </a:r>
            <a:endParaRPr lang="en-US" sz="1200" dirty="0"/>
          </a:p>
        </p:txBody>
      </p:sp>
      <p:sp>
        <p:nvSpPr>
          <p:cNvPr id="34" name="Shape 32"/>
          <p:cNvSpPr/>
          <p:nvPr/>
        </p:nvSpPr>
        <p:spPr>
          <a:xfrm>
            <a:off x="502920" y="5440680"/>
            <a:ext cx="11185855" cy="822960"/>
          </a:xfrm>
          <a:prstGeom prst="rect">
            <a:avLst/>
          </a:prstGeom>
          <a:solidFill>
            <a:srgbClr val="F1F5F9"/>
          </a:solidFill>
          <a:ln w="12700">
            <a:solidFill>
              <a:srgbClr val="F1F5F9"/>
            </a:solidFill>
            <a:prstDash val="solid"/>
          </a:ln>
        </p:spPr>
      </p:sp>
      <p:sp>
        <p:nvSpPr>
          <p:cNvPr id="35" name="Shape 33"/>
          <p:cNvSpPr/>
          <p:nvPr/>
        </p:nvSpPr>
        <p:spPr>
          <a:xfrm>
            <a:off x="502920" y="5440680"/>
            <a:ext cx="45720" cy="822960"/>
          </a:xfrm>
          <a:prstGeom prst="rect">
            <a:avLst/>
          </a:prstGeom>
          <a:solidFill>
            <a:srgbClr val="B45309"/>
          </a:solidFill>
          <a:ln w="12700">
            <a:solidFill>
              <a:srgbClr val="B45309"/>
            </a:solidFill>
            <a:prstDash val="solid"/>
          </a:ln>
        </p:spPr>
      </p:sp>
      <p:sp>
        <p:nvSpPr>
          <p:cNvPr id="36" name="Text 34"/>
          <p:cNvSpPr/>
          <p:nvPr/>
        </p:nvSpPr>
        <p:spPr>
          <a:xfrm>
            <a:off x="685800" y="553212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WHAT YOU LEAVE WITH</a:t>
            </a:r>
            <a:endParaRPr lang="en-US" sz="900" dirty="0"/>
          </a:p>
        </p:txBody>
      </p:sp>
      <p:sp>
        <p:nvSpPr>
          <p:cNvPr id="37" name="Text 35"/>
          <p:cNvSpPr/>
          <p:nvPr/>
        </p:nvSpPr>
        <p:spPr>
          <a:xfrm>
            <a:off x="685800" y="573328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A Knowledge Base ID. That is the only thing your code needs.</a:t>
            </a:r>
            <a:endParaRPr lang="en-US" sz="1300" dirty="0"/>
          </a:p>
        </p:txBody>
      </p:sp>
      <p:sp>
        <p:nvSpPr>
          <p:cNvPr id="38" name="Text 36"/>
          <p:cNvSpPr/>
          <p:nvPr/>
        </p:nvSpPr>
        <p:spPr>
          <a:xfrm>
            <a:off x="685800" y="6025896"/>
            <a:ext cx="10911535" cy="14630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Once sync completes, all of this complexity disappears behind a single identifier you reference from Python.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6 · CODE</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21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6</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Query a Knowledge Base — one API call</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retrieve_and_generate does both RAG steps in one shot. Retrieval and generation together.</a:t>
            </a:r>
            <a:endParaRPr lang="en-US" sz="1400" dirty="0"/>
          </a:p>
        </p:txBody>
      </p:sp>
      <p:sp>
        <p:nvSpPr>
          <p:cNvPr id="9" name="Shape 7"/>
          <p:cNvSpPr/>
          <p:nvPr/>
        </p:nvSpPr>
        <p:spPr>
          <a:xfrm>
            <a:off x="502920" y="1691640"/>
            <a:ext cx="11185855" cy="4114800"/>
          </a:xfrm>
          <a:prstGeom prst="rect">
            <a:avLst/>
          </a:prstGeom>
          <a:solidFill>
            <a:srgbClr val="0F172A"/>
          </a:solidFill>
          <a:ln w="12700">
            <a:solidFill>
              <a:srgbClr val="0F172A"/>
            </a:solidFill>
            <a:prstDash val="solid"/>
          </a:ln>
        </p:spPr>
      </p:sp>
      <p:sp>
        <p:nvSpPr>
          <p:cNvPr id="10" name="Text 8"/>
          <p:cNvSpPr/>
          <p:nvPr/>
        </p:nvSpPr>
        <p:spPr>
          <a:xfrm>
            <a:off x="667512" y="1801368"/>
            <a:ext cx="10856671" cy="3895344"/>
          </a:xfrm>
          <a:prstGeom prst="rect">
            <a:avLst/>
          </a:prstGeom>
          <a:noFill/>
          <a:ln/>
        </p:spPr>
        <p:txBody>
          <a:bodyPr wrap="square" lIns="0" tIns="0" rIns="0" bIns="0"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import boto3</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KNOWLEDGE_BASE_ID = "YOUR_KB_ID"   # from the Bedrock console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MODEL_ID = "us.amazon.nova-lite-v1:0"</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def query_knowledge_base(question):</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bedrock_agent_runtime = boto3.client('bedrock-agent-runtime', region_name='us-east-1')</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response = bedrock_agent_runtime.retrieve_and_generate(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input={'text': question},</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retrieveAndGenerateConfiguration={</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'type': 'KNOWLEDGE_BASE',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'knowledgeBaseConfiguration':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'knowledgeBaseId': KNOWLEDGE_BASE_ID,</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'modelArn': MODEL_ID</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output_text = response['output']['text']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print(output_text)</a:t>
            </a:r>
            <a:endParaRPr lang="en-US" sz="1100" dirty="0"/>
          </a:p>
        </p:txBody>
      </p:sp>
      <p:sp>
        <p:nvSpPr>
          <p:cNvPr id="11" name="Shape 9"/>
          <p:cNvSpPr/>
          <p:nvPr/>
        </p:nvSpPr>
        <p:spPr>
          <a:xfrm>
            <a:off x="502920" y="5897880"/>
            <a:ext cx="11185855" cy="411480"/>
          </a:xfrm>
          <a:prstGeom prst="rect">
            <a:avLst/>
          </a:prstGeom>
          <a:solidFill>
            <a:srgbClr val="F1F5F9"/>
          </a:solidFill>
          <a:ln w="12700">
            <a:solidFill>
              <a:srgbClr val="F1F5F9"/>
            </a:solidFill>
            <a:prstDash val="solid"/>
          </a:ln>
        </p:spPr>
      </p:sp>
      <p:sp>
        <p:nvSpPr>
          <p:cNvPr id="12" name="Shape 10"/>
          <p:cNvSpPr/>
          <p:nvPr/>
        </p:nvSpPr>
        <p:spPr>
          <a:xfrm>
            <a:off x="502920" y="5897880"/>
            <a:ext cx="45720" cy="411480"/>
          </a:xfrm>
          <a:prstGeom prst="rect">
            <a:avLst/>
          </a:prstGeom>
          <a:solidFill>
            <a:srgbClr val="B45309"/>
          </a:solidFill>
          <a:ln w="12700">
            <a:solidFill>
              <a:srgbClr val="B45309"/>
            </a:solidFill>
            <a:prstDash val="solid"/>
          </a:ln>
        </p:spPr>
      </p:sp>
      <p:sp>
        <p:nvSpPr>
          <p:cNvPr id="13" name="Text 11"/>
          <p:cNvSpPr/>
          <p:nvPr/>
        </p:nvSpPr>
        <p:spPr>
          <a:xfrm>
            <a:off x="685800" y="598932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TWO THINGS NEW</a:t>
            </a:r>
            <a:endParaRPr lang="en-US" sz="900" dirty="0"/>
          </a:p>
        </p:txBody>
      </p:sp>
      <p:sp>
        <p:nvSpPr>
          <p:cNvPr id="14" name="Text 12"/>
          <p:cNvSpPr/>
          <p:nvPr/>
        </p:nvSpPr>
        <p:spPr>
          <a:xfrm>
            <a:off x="685800" y="6190488"/>
            <a:ext cx="10911535" cy="2743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Client = bedrock-agent-runtime (not bedrock-runtime). Method = retrieve_and_generate (not converse).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6 · CITATIONS</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22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6</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Citations come back automatically — use them</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response contains pointers to the source documents. Show users where the answer came from.</a:t>
            </a:r>
            <a:endParaRPr lang="en-US" sz="1400" dirty="0"/>
          </a:p>
        </p:txBody>
      </p:sp>
      <p:sp>
        <p:nvSpPr>
          <p:cNvPr id="9" name="Shape 7"/>
          <p:cNvSpPr/>
          <p:nvPr/>
        </p:nvSpPr>
        <p:spPr>
          <a:xfrm>
            <a:off x="502920" y="1691640"/>
            <a:ext cx="11185855" cy="2468880"/>
          </a:xfrm>
          <a:prstGeom prst="rect">
            <a:avLst/>
          </a:prstGeom>
          <a:solidFill>
            <a:srgbClr val="0F172A"/>
          </a:solidFill>
          <a:ln w="12700">
            <a:solidFill>
              <a:srgbClr val="0F172A"/>
            </a:solidFill>
            <a:prstDash val="solid"/>
          </a:ln>
        </p:spPr>
      </p:sp>
      <p:sp>
        <p:nvSpPr>
          <p:cNvPr id="10" name="Text 8"/>
          <p:cNvSpPr/>
          <p:nvPr/>
        </p:nvSpPr>
        <p:spPr>
          <a:xfrm>
            <a:off x="667512" y="1801368"/>
            <a:ext cx="10856671" cy="2249424"/>
          </a:xfrm>
          <a:prstGeom prst="rect">
            <a:avLst/>
          </a:prstGeom>
          <a:noFill/>
          <a:ln/>
        </p:spPr>
        <p:txBody>
          <a:bodyPr wrap="square" lIns="0" tIns="0" rIns="0" bIns="0"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 Display source citations</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citations = response.get('citations',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if citations:</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print("\nSources:")</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for idx, citation in enumerate(citations, 1):</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for reference in citation.get('retrievedReferences',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location = reference.get('location',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s3_location = location.get('s3Location', {})</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uri = s3_location.get('uri', 'Unknown')</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print(f" [{idx}] {uri}")</a:t>
            </a:r>
            <a:endParaRPr lang="en-US" sz="1200" dirty="0"/>
          </a:p>
        </p:txBody>
      </p:sp>
      <p:sp>
        <p:nvSpPr>
          <p:cNvPr id="11" name="Shape 9"/>
          <p:cNvSpPr/>
          <p:nvPr/>
        </p:nvSpPr>
        <p:spPr>
          <a:xfrm>
            <a:off x="502920" y="4343400"/>
            <a:ext cx="11185855" cy="1920240"/>
          </a:xfrm>
          <a:prstGeom prst="rect">
            <a:avLst/>
          </a:prstGeom>
          <a:solidFill>
            <a:srgbClr val="F1F5F9"/>
          </a:solidFill>
          <a:ln w="12700">
            <a:solidFill>
              <a:srgbClr val="F1F5F9"/>
            </a:solidFill>
            <a:prstDash val="solid"/>
          </a:ln>
        </p:spPr>
      </p:sp>
      <p:sp>
        <p:nvSpPr>
          <p:cNvPr id="12" name="Shape 10"/>
          <p:cNvSpPr/>
          <p:nvPr/>
        </p:nvSpPr>
        <p:spPr>
          <a:xfrm>
            <a:off x="502920" y="4343400"/>
            <a:ext cx="45720" cy="1920240"/>
          </a:xfrm>
          <a:prstGeom prst="rect">
            <a:avLst/>
          </a:prstGeom>
          <a:solidFill>
            <a:srgbClr val="B45309"/>
          </a:solidFill>
          <a:ln w="12700">
            <a:solidFill>
              <a:srgbClr val="B45309"/>
            </a:solidFill>
            <a:prstDash val="solid"/>
          </a:ln>
        </p:spPr>
      </p:sp>
      <p:sp>
        <p:nvSpPr>
          <p:cNvPr id="13" name="Text 11"/>
          <p:cNvSpPr/>
          <p:nvPr/>
        </p:nvSpPr>
        <p:spPr>
          <a:xfrm>
            <a:off x="685800" y="443484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WHY THIS MATTERS</a:t>
            </a:r>
            <a:endParaRPr lang="en-US" sz="900" dirty="0"/>
          </a:p>
        </p:txBody>
      </p:sp>
      <p:sp>
        <p:nvSpPr>
          <p:cNvPr id="14" name="Text 12"/>
          <p:cNvSpPr/>
          <p:nvPr/>
        </p:nvSpPr>
        <p:spPr>
          <a:xfrm>
            <a:off x="685800" y="463600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Citations are the single biggest practical difference between RAG and plain LLM chat.</a:t>
            </a:r>
            <a:endParaRPr lang="en-US" sz="1300" dirty="0"/>
          </a:p>
        </p:txBody>
      </p:sp>
      <p:sp>
        <p:nvSpPr>
          <p:cNvPr id="15" name="Text 13"/>
          <p:cNvSpPr/>
          <p:nvPr/>
        </p:nvSpPr>
        <p:spPr>
          <a:xfrm>
            <a:off x="685800" y="4928616"/>
            <a:ext cx="10911535" cy="124358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Users can verify the source. They can click through to the original document if they want details. A confident answer with a citation builds trust. A confident answer without one is just another hallucination waiting to happen.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7 · WHY SAFETY MATTERS</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23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7</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Before you put any of this in front of real users</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Two assumptions you cannot avoid. Both come from real-world deployment.</a:t>
            </a:r>
            <a:endParaRPr lang="en-US" sz="1400" dirty="0"/>
          </a:p>
        </p:txBody>
      </p:sp>
      <p:sp>
        <p:nvSpPr>
          <p:cNvPr id="9" name="Shape 7"/>
          <p:cNvSpPr/>
          <p:nvPr/>
        </p:nvSpPr>
        <p:spPr>
          <a:xfrm>
            <a:off x="502920" y="2103120"/>
            <a:ext cx="11185855" cy="1280160"/>
          </a:xfrm>
          <a:prstGeom prst="rect">
            <a:avLst/>
          </a:prstGeom>
          <a:solidFill>
            <a:srgbClr val="FEE2E2"/>
          </a:solidFill>
          <a:ln w="12700">
            <a:solidFill>
              <a:srgbClr val="B91C1C"/>
            </a:solidFill>
            <a:prstDash val="solid"/>
          </a:ln>
        </p:spPr>
      </p:sp>
      <p:sp>
        <p:nvSpPr>
          <p:cNvPr id="10" name="Shape 8"/>
          <p:cNvSpPr/>
          <p:nvPr/>
        </p:nvSpPr>
        <p:spPr>
          <a:xfrm>
            <a:off x="502920" y="2103120"/>
            <a:ext cx="73152" cy="1280160"/>
          </a:xfrm>
          <a:prstGeom prst="rect">
            <a:avLst/>
          </a:prstGeom>
          <a:solidFill>
            <a:srgbClr val="B91C1C"/>
          </a:solidFill>
          <a:ln w="12700">
            <a:solidFill>
              <a:srgbClr val="B91C1C"/>
            </a:solidFill>
            <a:prstDash val="solid"/>
          </a:ln>
        </p:spPr>
      </p:sp>
      <p:sp>
        <p:nvSpPr>
          <p:cNvPr id="11" name="Text 9"/>
          <p:cNvSpPr/>
          <p:nvPr/>
        </p:nvSpPr>
        <p:spPr>
          <a:xfrm>
            <a:off x="777240" y="2240280"/>
            <a:ext cx="10911535" cy="4114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You cannot fully trust user input.</a:t>
            </a:r>
            <a:endParaRPr lang="en-US" sz="2000" dirty="0"/>
          </a:p>
        </p:txBody>
      </p:sp>
      <p:sp>
        <p:nvSpPr>
          <p:cNvPr id="12" name="Text 10"/>
          <p:cNvSpPr/>
          <p:nvPr/>
        </p:nvSpPr>
        <p:spPr>
          <a:xfrm>
            <a:off x="777240" y="2697480"/>
            <a:ext cx="10911535" cy="64008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People will try to break, manipulate, or abuse your app. Prompt injection. Jailbreaks. Hostile queries. Plan for it.</a:t>
            </a:r>
            <a:endParaRPr lang="en-US" sz="1300" dirty="0"/>
          </a:p>
        </p:txBody>
      </p:sp>
      <p:sp>
        <p:nvSpPr>
          <p:cNvPr id="13" name="Shape 11"/>
          <p:cNvSpPr/>
          <p:nvPr/>
        </p:nvSpPr>
        <p:spPr>
          <a:xfrm>
            <a:off x="502920" y="3611880"/>
            <a:ext cx="11185855" cy="1280160"/>
          </a:xfrm>
          <a:prstGeom prst="rect">
            <a:avLst/>
          </a:prstGeom>
          <a:solidFill>
            <a:srgbClr val="FEE2E2"/>
          </a:solidFill>
          <a:ln w="12700">
            <a:solidFill>
              <a:srgbClr val="B91C1C"/>
            </a:solidFill>
            <a:prstDash val="solid"/>
          </a:ln>
        </p:spPr>
      </p:sp>
      <p:sp>
        <p:nvSpPr>
          <p:cNvPr id="14" name="Shape 12"/>
          <p:cNvSpPr/>
          <p:nvPr/>
        </p:nvSpPr>
        <p:spPr>
          <a:xfrm>
            <a:off x="502920" y="3611880"/>
            <a:ext cx="73152" cy="1280160"/>
          </a:xfrm>
          <a:prstGeom prst="rect">
            <a:avLst/>
          </a:prstGeom>
          <a:solidFill>
            <a:srgbClr val="B91C1C"/>
          </a:solidFill>
          <a:ln w="12700">
            <a:solidFill>
              <a:srgbClr val="B91C1C"/>
            </a:solidFill>
            <a:prstDash val="solid"/>
          </a:ln>
        </p:spPr>
      </p:sp>
      <p:sp>
        <p:nvSpPr>
          <p:cNvPr id="15" name="Text 13"/>
          <p:cNvSpPr/>
          <p:nvPr/>
        </p:nvSpPr>
        <p:spPr>
          <a:xfrm>
            <a:off x="777240" y="3749040"/>
            <a:ext cx="10911535" cy="41148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You cannot blindly trust model output.</a:t>
            </a:r>
            <a:endParaRPr lang="en-US" sz="2000" dirty="0"/>
          </a:p>
        </p:txBody>
      </p:sp>
      <p:sp>
        <p:nvSpPr>
          <p:cNvPr id="16" name="Text 14"/>
          <p:cNvSpPr/>
          <p:nvPr/>
        </p:nvSpPr>
        <p:spPr>
          <a:xfrm>
            <a:off x="777240" y="4206240"/>
            <a:ext cx="10911535" cy="64008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Foundation models can still produce harmful, off-topic, or sensitive content. Even with a perfect prompt. Even with grounded data.</a:t>
            </a:r>
            <a:endParaRPr lang="en-US" sz="1300" dirty="0"/>
          </a:p>
        </p:txBody>
      </p:sp>
      <p:sp>
        <p:nvSpPr>
          <p:cNvPr id="17" name="Shape 15"/>
          <p:cNvSpPr/>
          <p:nvPr/>
        </p:nvSpPr>
        <p:spPr>
          <a:xfrm>
            <a:off x="502920" y="5212080"/>
            <a:ext cx="11185855" cy="1051560"/>
          </a:xfrm>
          <a:prstGeom prst="rect">
            <a:avLst/>
          </a:prstGeom>
          <a:solidFill>
            <a:srgbClr val="F1F5F9"/>
          </a:solidFill>
          <a:ln w="12700">
            <a:solidFill>
              <a:srgbClr val="F1F5F9"/>
            </a:solidFill>
            <a:prstDash val="solid"/>
          </a:ln>
        </p:spPr>
      </p:sp>
      <p:sp>
        <p:nvSpPr>
          <p:cNvPr id="18" name="Shape 16"/>
          <p:cNvSpPr/>
          <p:nvPr/>
        </p:nvSpPr>
        <p:spPr>
          <a:xfrm>
            <a:off x="502920" y="5212080"/>
            <a:ext cx="45720" cy="1051560"/>
          </a:xfrm>
          <a:prstGeom prst="rect">
            <a:avLst/>
          </a:prstGeom>
          <a:solidFill>
            <a:srgbClr val="B45309"/>
          </a:solidFill>
          <a:ln w="12700">
            <a:solidFill>
              <a:srgbClr val="B45309"/>
            </a:solidFill>
            <a:prstDash val="solid"/>
          </a:ln>
        </p:spPr>
      </p:sp>
      <p:sp>
        <p:nvSpPr>
          <p:cNvPr id="19" name="Text 17"/>
          <p:cNvSpPr/>
          <p:nvPr/>
        </p:nvSpPr>
        <p:spPr>
          <a:xfrm>
            <a:off x="685800" y="530352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THE QUESTION</a:t>
            </a:r>
            <a:endParaRPr lang="en-US" sz="900" dirty="0"/>
          </a:p>
        </p:txBody>
      </p:sp>
      <p:sp>
        <p:nvSpPr>
          <p:cNvPr id="20" name="Text 18"/>
          <p:cNvSpPr/>
          <p:nvPr/>
        </p:nvSpPr>
        <p:spPr>
          <a:xfrm>
            <a:off x="685800" y="550468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What happens when people misuse it? When the model says something it shouldn't?</a:t>
            </a:r>
            <a:endParaRPr lang="en-US" sz="1300" dirty="0"/>
          </a:p>
        </p:txBody>
      </p:sp>
      <p:sp>
        <p:nvSpPr>
          <p:cNvPr id="21" name="Text 19"/>
          <p:cNvSpPr/>
          <p:nvPr/>
        </p:nvSpPr>
        <p:spPr>
          <a:xfrm>
            <a:off x="685800" y="5797296"/>
            <a:ext cx="10911535" cy="37490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Guardrails are how you answer those questions before they happen — not after a screenshot ends up on social media.</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7 · DEFINITION</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24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7</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Guardrails — content filters around the model</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endParaRPr lang="en-US" sz="1400" dirty="0"/>
          </a:p>
        </p:txBody>
      </p:sp>
      <p:sp>
        <p:nvSpPr>
          <p:cNvPr id="9" name="Shape 7"/>
          <p:cNvSpPr/>
          <p:nvPr/>
        </p:nvSpPr>
        <p:spPr>
          <a:xfrm>
            <a:off x="502920" y="1965960"/>
            <a:ext cx="11185855" cy="1280160"/>
          </a:xfrm>
          <a:prstGeom prst="rect">
            <a:avLst/>
          </a:prstGeom>
          <a:solidFill>
            <a:srgbClr val="FEF3C7"/>
          </a:solidFill>
          <a:ln w="12700">
            <a:solidFill>
              <a:srgbClr val="B45309"/>
            </a:solidFill>
            <a:prstDash val="solid"/>
          </a:ln>
        </p:spPr>
      </p:sp>
      <p:sp>
        <p:nvSpPr>
          <p:cNvPr id="10" name="Shape 8"/>
          <p:cNvSpPr/>
          <p:nvPr/>
        </p:nvSpPr>
        <p:spPr>
          <a:xfrm>
            <a:off x="502920" y="1965960"/>
            <a:ext cx="73152" cy="1280160"/>
          </a:xfrm>
          <a:prstGeom prst="rect">
            <a:avLst/>
          </a:prstGeom>
          <a:solidFill>
            <a:srgbClr val="B45309"/>
          </a:solidFill>
          <a:ln w="12700">
            <a:solidFill>
              <a:srgbClr val="B45309"/>
            </a:solidFill>
            <a:prstDash val="solid"/>
          </a:ln>
        </p:spPr>
      </p:sp>
      <p:sp>
        <p:nvSpPr>
          <p:cNvPr id="11" name="Text 9"/>
          <p:cNvSpPr/>
          <p:nvPr/>
        </p:nvSpPr>
        <p:spPr>
          <a:xfrm>
            <a:off x="777240" y="2194560"/>
            <a:ext cx="10911535" cy="457200"/>
          </a:xfrm>
          <a:prstGeom prst="rect">
            <a:avLst/>
          </a:prstGeom>
          <a:noFill/>
          <a:ln/>
        </p:spPr>
        <p:txBody>
          <a:bodyPr wrap="square" lIns="0" tIns="0" rIns="0" bIns="0" rtlCol="0" anchor="ctr"/>
          <a:lstStyle/>
          <a:p>
            <a:pPr indent="0" marL="0">
              <a:buNone/>
            </a:pPr>
            <a:r>
              <a:rPr lang="en-US" sz="2000" b="1" dirty="0">
                <a:solidFill>
                  <a:srgbClr val="0F172A"/>
                </a:solidFill>
                <a:latin typeface="Georgia" pitchFamily="34" charset="0"/>
                <a:ea typeface="Georgia" pitchFamily="34" charset="-122"/>
                <a:cs typeface="Georgia" pitchFamily="34" charset="-120"/>
              </a:rPr>
              <a:t>Content filters that get enforced BEFORE and AFTER the model is called.</a:t>
            </a:r>
            <a:endParaRPr lang="en-US" sz="2000" dirty="0"/>
          </a:p>
        </p:txBody>
      </p:sp>
      <p:sp>
        <p:nvSpPr>
          <p:cNvPr id="12" name="Text 10"/>
          <p:cNvSpPr/>
          <p:nvPr/>
        </p:nvSpPr>
        <p:spPr>
          <a:xfrm>
            <a:off x="777240" y="2697480"/>
            <a:ext cx="10911535" cy="45720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They sit outside the prompt — structural policies, not instructions you bury in a system prompt.</a:t>
            </a:r>
            <a:endParaRPr lang="en-US" sz="1300" dirty="0"/>
          </a:p>
        </p:txBody>
      </p:sp>
      <p:sp>
        <p:nvSpPr>
          <p:cNvPr id="13" name="Text 11"/>
          <p:cNvSpPr/>
          <p:nvPr/>
        </p:nvSpPr>
        <p:spPr>
          <a:xfrm>
            <a:off x="502920" y="3611880"/>
            <a:ext cx="11185855"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THE WORKFLOW</a:t>
            </a:r>
            <a:endParaRPr lang="en-US" sz="1000" dirty="0"/>
          </a:p>
        </p:txBody>
      </p:sp>
      <p:sp>
        <p:nvSpPr>
          <p:cNvPr id="14" name="Shape 12"/>
          <p:cNvSpPr/>
          <p:nvPr/>
        </p:nvSpPr>
        <p:spPr>
          <a:xfrm>
            <a:off x="502920" y="3977640"/>
            <a:ext cx="3657600" cy="1280160"/>
          </a:xfrm>
          <a:prstGeom prst="rect">
            <a:avLst/>
          </a:prstGeom>
          <a:solidFill>
            <a:srgbClr val="F8FAFC"/>
          </a:solidFill>
          <a:ln w="6350">
            <a:solidFill>
              <a:srgbClr val="E2E8F0"/>
            </a:solidFill>
            <a:prstDash val="solid"/>
          </a:ln>
        </p:spPr>
      </p:sp>
      <p:sp>
        <p:nvSpPr>
          <p:cNvPr id="15" name="Shape 13"/>
          <p:cNvSpPr/>
          <p:nvPr/>
        </p:nvSpPr>
        <p:spPr>
          <a:xfrm>
            <a:off x="685800" y="4160520"/>
            <a:ext cx="411480" cy="411480"/>
          </a:xfrm>
          <a:prstGeom prst="ellipse">
            <a:avLst/>
          </a:prstGeom>
          <a:solidFill>
            <a:srgbClr val="0F172A"/>
          </a:solidFill>
          <a:ln w="12700">
            <a:solidFill>
              <a:srgbClr val="0F172A"/>
            </a:solidFill>
            <a:prstDash val="solid"/>
          </a:ln>
        </p:spPr>
      </p:sp>
      <p:sp>
        <p:nvSpPr>
          <p:cNvPr id="16" name="Text 14"/>
          <p:cNvSpPr/>
          <p:nvPr/>
        </p:nvSpPr>
        <p:spPr>
          <a:xfrm>
            <a:off x="685800" y="41605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7" name="Text 15"/>
          <p:cNvSpPr/>
          <p:nvPr/>
        </p:nvSpPr>
        <p:spPr>
          <a:xfrm>
            <a:off x="1280160" y="4160520"/>
            <a:ext cx="2743200" cy="365760"/>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Configure once</a:t>
            </a:r>
            <a:endParaRPr lang="en-US" sz="1500" dirty="0"/>
          </a:p>
        </p:txBody>
      </p:sp>
      <p:sp>
        <p:nvSpPr>
          <p:cNvPr id="18" name="Text 16"/>
          <p:cNvSpPr/>
          <p:nvPr/>
        </p:nvSpPr>
        <p:spPr>
          <a:xfrm>
            <a:off x="685800" y="4617720"/>
            <a:ext cx="3383280" cy="54864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in the Bedrock console</a:t>
            </a:r>
            <a:endParaRPr lang="en-US" sz="1200" dirty="0"/>
          </a:p>
        </p:txBody>
      </p:sp>
      <p:sp>
        <p:nvSpPr>
          <p:cNvPr id="19" name="Shape 17"/>
          <p:cNvSpPr/>
          <p:nvPr/>
        </p:nvSpPr>
        <p:spPr>
          <a:xfrm>
            <a:off x="4343400" y="3977640"/>
            <a:ext cx="3657600" cy="1280160"/>
          </a:xfrm>
          <a:prstGeom prst="rect">
            <a:avLst/>
          </a:prstGeom>
          <a:solidFill>
            <a:srgbClr val="F8FAFC"/>
          </a:solidFill>
          <a:ln w="6350">
            <a:solidFill>
              <a:srgbClr val="E2E8F0"/>
            </a:solidFill>
            <a:prstDash val="solid"/>
          </a:ln>
        </p:spPr>
      </p:sp>
      <p:sp>
        <p:nvSpPr>
          <p:cNvPr id="20" name="Shape 18"/>
          <p:cNvSpPr/>
          <p:nvPr/>
        </p:nvSpPr>
        <p:spPr>
          <a:xfrm>
            <a:off x="4526280" y="4160520"/>
            <a:ext cx="411480" cy="411480"/>
          </a:xfrm>
          <a:prstGeom prst="ellipse">
            <a:avLst/>
          </a:prstGeom>
          <a:solidFill>
            <a:srgbClr val="0F172A"/>
          </a:solidFill>
          <a:ln w="12700">
            <a:solidFill>
              <a:srgbClr val="0F172A"/>
            </a:solidFill>
            <a:prstDash val="solid"/>
          </a:ln>
        </p:spPr>
      </p:sp>
      <p:sp>
        <p:nvSpPr>
          <p:cNvPr id="21" name="Text 19"/>
          <p:cNvSpPr/>
          <p:nvPr/>
        </p:nvSpPr>
        <p:spPr>
          <a:xfrm>
            <a:off x="4526280" y="41605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22" name="Text 20"/>
          <p:cNvSpPr/>
          <p:nvPr/>
        </p:nvSpPr>
        <p:spPr>
          <a:xfrm>
            <a:off x="5120640" y="4160520"/>
            <a:ext cx="2743200" cy="365760"/>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Reference the ID</a:t>
            </a:r>
            <a:endParaRPr lang="en-US" sz="1500" dirty="0"/>
          </a:p>
        </p:txBody>
      </p:sp>
      <p:sp>
        <p:nvSpPr>
          <p:cNvPr id="23" name="Text 21"/>
          <p:cNvSpPr/>
          <p:nvPr/>
        </p:nvSpPr>
        <p:spPr>
          <a:xfrm>
            <a:off x="4526280" y="4617720"/>
            <a:ext cx="3383280" cy="54864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in your API calls</a:t>
            </a:r>
            <a:endParaRPr lang="en-US" sz="1200" dirty="0"/>
          </a:p>
        </p:txBody>
      </p:sp>
      <p:sp>
        <p:nvSpPr>
          <p:cNvPr id="24" name="Shape 22"/>
          <p:cNvSpPr/>
          <p:nvPr/>
        </p:nvSpPr>
        <p:spPr>
          <a:xfrm>
            <a:off x="8183880" y="3977640"/>
            <a:ext cx="3657600" cy="1280160"/>
          </a:xfrm>
          <a:prstGeom prst="rect">
            <a:avLst/>
          </a:prstGeom>
          <a:solidFill>
            <a:srgbClr val="F8FAFC"/>
          </a:solidFill>
          <a:ln w="6350">
            <a:solidFill>
              <a:srgbClr val="E2E8F0"/>
            </a:solidFill>
            <a:prstDash val="solid"/>
          </a:ln>
        </p:spPr>
      </p:sp>
      <p:sp>
        <p:nvSpPr>
          <p:cNvPr id="25" name="Shape 23"/>
          <p:cNvSpPr/>
          <p:nvPr/>
        </p:nvSpPr>
        <p:spPr>
          <a:xfrm>
            <a:off x="8366760" y="4160520"/>
            <a:ext cx="411480" cy="411480"/>
          </a:xfrm>
          <a:prstGeom prst="ellipse">
            <a:avLst/>
          </a:prstGeom>
          <a:solidFill>
            <a:srgbClr val="0F172A"/>
          </a:solidFill>
          <a:ln w="12700">
            <a:solidFill>
              <a:srgbClr val="0F172A"/>
            </a:solidFill>
            <a:prstDash val="solid"/>
          </a:ln>
        </p:spPr>
      </p:sp>
      <p:sp>
        <p:nvSpPr>
          <p:cNvPr id="26" name="Text 24"/>
          <p:cNvSpPr/>
          <p:nvPr/>
        </p:nvSpPr>
        <p:spPr>
          <a:xfrm>
            <a:off x="8366760" y="41605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7" name="Text 25"/>
          <p:cNvSpPr/>
          <p:nvPr/>
        </p:nvSpPr>
        <p:spPr>
          <a:xfrm>
            <a:off x="8961120" y="4160520"/>
            <a:ext cx="2743200" cy="365760"/>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Works across any model</a:t>
            </a:r>
            <a:endParaRPr lang="en-US" sz="1500" dirty="0"/>
          </a:p>
        </p:txBody>
      </p:sp>
      <p:sp>
        <p:nvSpPr>
          <p:cNvPr id="28" name="Text 26"/>
          <p:cNvSpPr/>
          <p:nvPr/>
        </p:nvSpPr>
        <p:spPr>
          <a:xfrm>
            <a:off x="8366760" y="4617720"/>
            <a:ext cx="3383280" cy="54864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Nova, Claude, Llama — same guardrail</a:t>
            </a:r>
            <a:endParaRPr lang="en-US" sz="1200" dirty="0"/>
          </a:p>
        </p:txBody>
      </p:sp>
      <p:sp>
        <p:nvSpPr>
          <p:cNvPr id="29" name="Shape 27"/>
          <p:cNvSpPr/>
          <p:nvPr/>
        </p:nvSpPr>
        <p:spPr>
          <a:xfrm>
            <a:off x="502920" y="5440680"/>
            <a:ext cx="11185855" cy="822960"/>
          </a:xfrm>
          <a:prstGeom prst="rect">
            <a:avLst/>
          </a:prstGeom>
          <a:solidFill>
            <a:srgbClr val="F1F5F9"/>
          </a:solidFill>
          <a:ln w="12700">
            <a:solidFill>
              <a:srgbClr val="F1F5F9"/>
            </a:solidFill>
            <a:prstDash val="solid"/>
          </a:ln>
        </p:spPr>
      </p:sp>
      <p:sp>
        <p:nvSpPr>
          <p:cNvPr id="30" name="Shape 28"/>
          <p:cNvSpPr/>
          <p:nvPr/>
        </p:nvSpPr>
        <p:spPr>
          <a:xfrm>
            <a:off x="502920" y="5440680"/>
            <a:ext cx="45720" cy="822960"/>
          </a:xfrm>
          <a:prstGeom prst="rect">
            <a:avLst/>
          </a:prstGeom>
          <a:solidFill>
            <a:srgbClr val="B45309"/>
          </a:solidFill>
          <a:ln w="12700">
            <a:solidFill>
              <a:srgbClr val="B45309"/>
            </a:solidFill>
            <a:prstDash val="solid"/>
          </a:ln>
        </p:spPr>
      </p:sp>
      <p:sp>
        <p:nvSpPr>
          <p:cNvPr id="31" name="Text 29"/>
          <p:cNvSpPr/>
          <p:nvPr/>
        </p:nvSpPr>
        <p:spPr>
          <a:xfrm>
            <a:off x="685800" y="553212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ONE SAFETY LAYER, EVERY MODEL</a:t>
            </a:r>
            <a:endParaRPr lang="en-US" sz="900" dirty="0"/>
          </a:p>
        </p:txBody>
      </p:sp>
      <p:sp>
        <p:nvSpPr>
          <p:cNvPr id="32" name="Text 30"/>
          <p:cNvSpPr/>
          <p:nvPr/>
        </p:nvSpPr>
        <p:spPr>
          <a:xfrm>
            <a:off x="685800" y="5733288"/>
            <a:ext cx="10911535" cy="43891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A guardrail you build for Nova works just as well with Claude or Llama. You don't re-implement safety per model.</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7 · FILTER TYPES</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25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7</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The five filter types</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Pick the ones you need. Combine them. Tune thresholds per use case.</a:t>
            </a:r>
            <a:endParaRPr lang="en-US" sz="1400" dirty="0"/>
          </a:p>
        </p:txBody>
      </p:sp>
      <p:sp>
        <p:nvSpPr>
          <p:cNvPr id="9" name="Shape 7"/>
          <p:cNvSpPr/>
          <p:nvPr/>
        </p:nvSpPr>
        <p:spPr>
          <a:xfrm>
            <a:off x="502920" y="2103120"/>
            <a:ext cx="11185855" cy="685800"/>
          </a:xfrm>
          <a:prstGeom prst="rect">
            <a:avLst/>
          </a:prstGeom>
          <a:solidFill>
            <a:srgbClr val="F8FAFC"/>
          </a:solidFill>
          <a:ln w="6350">
            <a:solidFill>
              <a:srgbClr val="E2E8F0"/>
            </a:solidFill>
            <a:prstDash val="solid"/>
          </a:ln>
        </p:spPr>
      </p:sp>
      <p:sp>
        <p:nvSpPr>
          <p:cNvPr id="10" name="Text 8"/>
          <p:cNvSpPr/>
          <p:nvPr/>
        </p:nvSpPr>
        <p:spPr>
          <a:xfrm>
            <a:off x="640080" y="2194560"/>
            <a:ext cx="457200" cy="502920"/>
          </a:xfrm>
          <a:prstGeom prst="rect">
            <a:avLst/>
          </a:prstGeom>
          <a:noFill/>
          <a:ln/>
        </p:spPr>
        <p:txBody>
          <a:bodyPr wrap="square" lIns="0" tIns="0" rIns="0" bIns="0" rtlCol="0" anchor="ctr"/>
          <a:lstStyle/>
          <a:p>
            <a:pPr algn="ctr" indent="0" marL="0">
              <a:buNone/>
            </a:pPr>
            <a:r>
              <a:rPr lang="en-US" sz="2800" b="1" dirty="0">
                <a:solidFill>
                  <a:srgbClr val="B45309"/>
                </a:solidFill>
                <a:latin typeface="Georgia" pitchFamily="34" charset="0"/>
                <a:ea typeface="Georgia" pitchFamily="34" charset="-122"/>
                <a:cs typeface="Georgia" pitchFamily="34" charset="-120"/>
              </a:rPr>
              <a:t>1</a:t>
            </a:r>
            <a:endParaRPr lang="en-US" sz="2800" dirty="0"/>
          </a:p>
        </p:txBody>
      </p:sp>
      <p:sp>
        <p:nvSpPr>
          <p:cNvPr id="11" name="Text 9"/>
          <p:cNvSpPr/>
          <p:nvPr/>
        </p:nvSpPr>
        <p:spPr>
          <a:xfrm>
            <a:off x="1280160" y="2176272"/>
            <a:ext cx="3657600" cy="274320"/>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Content filters</a:t>
            </a:r>
            <a:endParaRPr lang="en-US" sz="1500" dirty="0"/>
          </a:p>
        </p:txBody>
      </p:sp>
      <p:sp>
        <p:nvSpPr>
          <p:cNvPr id="12" name="Text 10"/>
          <p:cNvSpPr/>
          <p:nvPr/>
        </p:nvSpPr>
        <p:spPr>
          <a:xfrm>
            <a:off x="1280160" y="2450592"/>
            <a:ext cx="10424160" cy="32004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Hate, violence, sexual, prompt attacks (jailbreaks, prompt injection). Adjustable severity per category.</a:t>
            </a:r>
            <a:endParaRPr lang="en-US" sz="1200" dirty="0"/>
          </a:p>
        </p:txBody>
      </p:sp>
      <p:sp>
        <p:nvSpPr>
          <p:cNvPr id="13" name="Shape 11"/>
          <p:cNvSpPr/>
          <p:nvPr/>
        </p:nvSpPr>
        <p:spPr>
          <a:xfrm>
            <a:off x="502920" y="2880360"/>
            <a:ext cx="11185855" cy="685800"/>
          </a:xfrm>
          <a:prstGeom prst="rect">
            <a:avLst/>
          </a:prstGeom>
          <a:solidFill>
            <a:srgbClr val="F8FAFC"/>
          </a:solidFill>
          <a:ln w="6350">
            <a:solidFill>
              <a:srgbClr val="E2E8F0"/>
            </a:solidFill>
            <a:prstDash val="solid"/>
          </a:ln>
        </p:spPr>
      </p:sp>
      <p:sp>
        <p:nvSpPr>
          <p:cNvPr id="14" name="Text 12"/>
          <p:cNvSpPr/>
          <p:nvPr/>
        </p:nvSpPr>
        <p:spPr>
          <a:xfrm>
            <a:off x="640080" y="2971800"/>
            <a:ext cx="457200" cy="502920"/>
          </a:xfrm>
          <a:prstGeom prst="rect">
            <a:avLst/>
          </a:prstGeom>
          <a:noFill/>
          <a:ln/>
        </p:spPr>
        <p:txBody>
          <a:bodyPr wrap="square" lIns="0" tIns="0" rIns="0" bIns="0" rtlCol="0" anchor="ctr"/>
          <a:lstStyle/>
          <a:p>
            <a:pPr algn="ctr" indent="0" marL="0">
              <a:buNone/>
            </a:pPr>
            <a:r>
              <a:rPr lang="en-US" sz="2800" b="1" dirty="0">
                <a:solidFill>
                  <a:srgbClr val="B45309"/>
                </a:solidFill>
                <a:latin typeface="Georgia" pitchFamily="34" charset="0"/>
                <a:ea typeface="Georgia" pitchFamily="34" charset="-122"/>
                <a:cs typeface="Georgia" pitchFamily="34" charset="-120"/>
              </a:rPr>
              <a:t>2</a:t>
            </a:r>
            <a:endParaRPr lang="en-US" sz="2800" dirty="0"/>
          </a:p>
        </p:txBody>
      </p:sp>
      <p:sp>
        <p:nvSpPr>
          <p:cNvPr id="15" name="Text 13"/>
          <p:cNvSpPr/>
          <p:nvPr/>
        </p:nvSpPr>
        <p:spPr>
          <a:xfrm>
            <a:off x="1280160" y="2953512"/>
            <a:ext cx="3657600" cy="274320"/>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Denied topics</a:t>
            </a:r>
            <a:endParaRPr lang="en-US" sz="1500" dirty="0"/>
          </a:p>
        </p:txBody>
      </p:sp>
      <p:sp>
        <p:nvSpPr>
          <p:cNvPr id="16" name="Text 14"/>
          <p:cNvSpPr/>
          <p:nvPr/>
        </p:nvSpPr>
        <p:spPr>
          <a:xfrm>
            <a:off x="1280160" y="3227832"/>
            <a:ext cx="10424160" cy="32004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Block entire categories. "Investment advice." "Medical diagnosis." "Anything about competitors."</a:t>
            </a:r>
            <a:endParaRPr lang="en-US" sz="1200" dirty="0"/>
          </a:p>
        </p:txBody>
      </p:sp>
      <p:sp>
        <p:nvSpPr>
          <p:cNvPr id="17" name="Shape 15"/>
          <p:cNvSpPr/>
          <p:nvPr/>
        </p:nvSpPr>
        <p:spPr>
          <a:xfrm>
            <a:off x="502920" y="3657600"/>
            <a:ext cx="11185855" cy="685800"/>
          </a:xfrm>
          <a:prstGeom prst="rect">
            <a:avLst/>
          </a:prstGeom>
          <a:solidFill>
            <a:srgbClr val="F8FAFC"/>
          </a:solidFill>
          <a:ln w="6350">
            <a:solidFill>
              <a:srgbClr val="E2E8F0"/>
            </a:solidFill>
            <a:prstDash val="solid"/>
          </a:ln>
        </p:spPr>
      </p:sp>
      <p:sp>
        <p:nvSpPr>
          <p:cNvPr id="18" name="Text 16"/>
          <p:cNvSpPr/>
          <p:nvPr/>
        </p:nvSpPr>
        <p:spPr>
          <a:xfrm>
            <a:off x="640080" y="3749040"/>
            <a:ext cx="457200" cy="502920"/>
          </a:xfrm>
          <a:prstGeom prst="rect">
            <a:avLst/>
          </a:prstGeom>
          <a:noFill/>
          <a:ln/>
        </p:spPr>
        <p:txBody>
          <a:bodyPr wrap="square" lIns="0" tIns="0" rIns="0" bIns="0" rtlCol="0" anchor="ctr"/>
          <a:lstStyle/>
          <a:p>
            <a:pPr algn="ctr" indent="0" marL="0">
              <a:buNone/>
            </a:pPr>
            <a:r>
              <a:rPr lang="en-US" sz="2800" b="1" dirty="0">
                <a:solidFill>
                  <a:srgbClr val="B45309"/>
                </a:solidFill>
                <a:latin typeface="Georgia" pitchFamily="34" charset="0"/>
                <a:ea typeface="Georgia" pitchFamily="34" charset="-122"/>
                <a:cs typeface="Georgia" pitchFamily="34" charset="-120"/>
              </a:rPr>
              <a:t>3</a:t>
            </a:r>
            <a:endParaRPr lang="en-US" sz="2800" dirty="0"/>
          </a:p>
        </p:txBody>
      </p:sp>
      <p:sp>
        <p:nvSpPr>
          <p:cNvPr id="19" name="Text 17"/>
          <p:cNvSpPr/>
          <p:nvPr/>
        </p:nvSpPr>
        <p:spPr>
          <a:xfrm>
            <a:off x="1280160" y="3730752"/>
            <a:ext cx="3657600" cy="274320"/>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Word filters</a:t>
            </a:r>
            <a:endParaRPr lang="en-US" sz="1500" dirty="0"/>
          </a:p>
        </p:txBody>
      </p:sp>
      <p:sp>
        <p:nvSpPr>
          <p:cNvPr id="20" name="Text 18"/>
          <p:cNvSpPr/>
          <p:nvPr/>
        </p:nvSpPr>
        <p:spPr>
          <a:xfrm>
            <a:off x="1280160" y="4005072"/>
            <a:ext cx="10424160" cy="32004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Block specific words or phrases. Profanity lists are built-in.</a:t>
            </a:r>
            <a:endParaRPr lang="en-US" sz="1200" dirty="0"/>
          </a:p>
        </p:txBody>
      </p:sp>
      <p:sp>
        <p:nvSpPr>
          <p:cNvPr id="21" name="Shape 19"/>
          <p:cNvSpPr/>
          <p:nvPr/>
        </p:nvSpPr>
        <p:spPr>
          <a:xfrm>
            <a:off x="502920" y="4434840"/>
            <a:ext cx="11185855" cy="685800"/>
          </a:xfrm>
          <a:prstGeom prst="rect">
            <a:avLst/>
          </a:prstGeom>
          <a:solidFill>
            <a:srgbClr val="F8FAFC"/>
          </a:solidFill>
          <a:ln w="6350">
            <a:solidFill>
              <a:srgbClr val="E2E8F0"/>
            </a:solidFill>
            <a:prstDash val="solid"/>
          </a:ln>
        </p:spPr>
      </p:sp>
      <p:sp>
        <p:nvSpPr>
          <p:cNvPr id="22" name="Text 20"/>
          <p:cNvSpPr/>
          <p:nvPr/>
        </p:nvSpPr>
        <p:spPr>
          <a:xfrm>
            <a:off x="640080" y="4526280"/>
            <a:ext cx="457200" cy="502920"/>
          </a:xfrm>
          <a:prstGeom prst="rect">
            <a:avLst/>
          </a:prstGeom>
          <a:noFill/>
          <a:ln/>
        </p:spPr>
        <p:txBody>
          <a:bodyPr wrap="square" lIns="0" tIns="0" rIns="0" bIns="0" rtlCol="0" anchor="ctr"/>
          <a:lstStyle/>
          <a:p>
            <a:pPr algn="ctr" indent="0" marL="0">
              <a:buNone/>
            </a:pPr>
            <a:r>
              <a:rPr lang="en-US" sz="2800" b="1" dirty="0">
                <a:solidFill>
                  <a:srgbClr val="B45309"/>
                </a:solidFill>
                <a:latin typeface="Georgia" pitchFamily="34" charset="0"/>
                <a:ea typeface="Georgia" pitchFamily="34" charset="-122"/>
                <a:cs typeface="Georgia" pitchFamily="34" charset="-120"/>
              </a:rPr>
              <a:t>4</a:t>
            </a:r>
            <a:endParaRPr lang="en-US" sz="2800" dirty="0"/>
          </a:p>
        </p:txBody>
      </p:sp>
      <p:sp>
        <p:nvSpPr>
          <p:cNvPr id="23" name="Text 21"/>
          <p:cNvSpPr/>
          <p:nvPr/>
        </p:nvSpPr>
        <p:spPr>
          <a:xfrm>
            <a:off x="1280160" y="4507992"/>
            <a:ext cx="3657600" cy="274320"/>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Sensitive information filters</a:t>
            </a:r>
            <a:endParaRPr lang="en-US" sz="1500" dirty="0"/>
          </a:p>
        </p:txBody>
      </p:sp>
      <p:sp>
        <p:nvSpPr>
          <p:cNvPr id="24" name="Text 22"/>
          <p:cNvSpPr/>
          <p:nvPr/>
        </p:nvSpPr>
        <p:spPr>
          <a:xfrm>
            <a:off x="1280160" y="4782312"/>
            <a:ext cx="10424160" cy="32004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Find and mask PII: SSNs, credit cards, emails, phone numbers, names, addresses.</a:t>
            </a:r>
            <a:endParaRPr lang="en-US" sz="1200" dirty="0"/>
          </a:p>
        </p:txBody>
      </p:sp>
      <p:sp>
        <p:nvSpPr>
          <p:cNvPr id="25" name="Shape 23"/>
          <p:cNvSpPr/>
          <p:nvPr/>
        </p:nvSpPr>
        <p:spPr>
          <a:xfrm>
            <a:off x="502920" y="5212080"/>
            <a:ext cx="11185855" cy="685800"/>
          </a:xfrm>
          <a:prstGeom prst="rect">
            <a:avLst/>
          </a:prstGeom>
          <a:solidFill>
            <a:srgbClr val="F8FAFC"/>
          </a:solidFill>
          <a:ln w="6350">
            <a:solidFill>
              <a:srgbClr val="E2E8F0"/>
            </a:solidFill>
            <a:prstDash val="solid"/>
          </a:ln>
        </p:spPr>
      </p:sp>
      <p:sp>
        <p:nvSpPr>
          <p:cNvPr id="26" name="Text 24"/>
          <p:cNvSpPr/>
          <p:nvPr/>
        </p:nvSpPr>
        <p:spPr>
          <a:xfrm>
            <a:off x="640080" y="5303520"/>
            <a:ext cx="457200" cy="502920"/>
          </a:xfrm>
          <a:prstGeom prst="rect">
            <a:avLst/>
          </a:prstGeom>
          <a:noFill/>
          <a:ln/>
        </p:spPr>
        <p:txBody>
          <a:bodyPr wrap="square" lIns="0" tIns="0" rIns="0" bIns="0" rtlCol="0" anchor="ctr"/>
          <a:lstStyle/>
          <a:p>
            <a:pPr algn="ctr" indent="0" marL="0">
              <a:buNone/>
            </a:pPr>
            <a:r>
              <a:rPr lang="en-US" sz="2800" b="1" dirty="0">
                <a:solidFill>
                  <a:srgbClr val="B45309"/>
                </a:solidFill>
                <a:latin typeface="Georgia" pitchFamily="34" charset="0"/>
                <a:ea typeface="Georgia" pitchFamily="34" charset="-122"/>
                <a:cs typeface="Georgia" pitchFamily="34" charset="-120"/>
              </a:rPr>
              <a:t>5</a:t>
            </a:r>
            <a:endParaRPr lang="en-US" sz="2800" dirty="0"/>
          </a:p>
        </p:txBody>
      </p:sp>
      <p:sp>
        <p:nvSpPr>
          <p:cNvPr id="27" name="Text 25"/>
          <p:cNvSpPr/>
          <p:nvPr/>
        </p:nvSpPr>
        <p:spPr>
          <a:xfrm>
            <a:off x="1280160" y="5285232"/>
            <a:ext cx="3657600" cy="274320"/>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Contextual grounding checks</a:t>
            </a:r>
            <a:endParaRPr lang="en-US" sz="1500" dirty="0"/>
          </a:p>
        </p:txBody>
      </p:sp>
      <p:sp>
        <p:nvSpPr>
          <p:cNvPr id="28" name="Text 26"/>
          <p:cNvSpPr/>
          <p:nvPr/>
        </p:nvSpPr>
        <p:spPr>
          <a:xfrm>
            <a:off x="1280160" y="5559552"/>
            <a:ext cx="10424160" cy="32004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Check the model's response against a reference source. Useful with RAG — verify the answer is actually in the retrieved chunks.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7 · CONSOLE WORKFLOW</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26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7</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Creating a Guardrail — the steps</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All in the console. After this we have a Guardrail ID and version number for code.</a:t>
            </a:r>
            <a:endParaRPr lang="en-US" sz="1400" dirty="0"/>
          </a:p>
        </p:txBody>
      </p:sp>
      <p:sp>
        <p:nvSpPr>
          <p:cNvPr id="9" name="Shape 7"/>
          <p:cNvSpPr/>
          <p:nvPr/>
        </p:nvSpPr>
        <p:spPr>
          <a:xfrm>
            <a:off x="502920" y="2194560"/>
            <a:ext cx="11185855" cy="457200"/>
          </a:xfrm>
          <a:prstGeom prst="rect">
            <a:avLst/>
          </a:prstGeom>
          <a:solidFill>
            <a:srgbClr val="F8FAFC"/>
          </a:solidFill>
          <a:ln w="6350">
            <a:solidFill>
              <a:srgbClr val="E2E8F0"/>
            </a:solidFill>
            <a:prstDash val="solid"/>
          </a:ln>
        </p:spPr>
      </p:sp>
      <p:sp>
        <p:nvSpPr>
          <p:cNvPr id="10" name="Shape 8"/>
          <p:cNvSpPr/>
          <p:nvPr/>
        </p:nvSpPr>
        <p:spPr>
          <a:xfrm>
            <a:off x="640080" y="2240280"/>
            <a:ext cx="365760" cy="365760"/>
          </a:xfrm>
          <a:prstGeom prst="ellipse">
            <a:avLst/>
          </a:prstGeom>
          <a:solidFill>
            <a:srgbClr val="0F172A"/>
          </a:solidFill>
          <a:ln w="12700">
            <a:solidFill>
              <a:srgbClr val="0F172A"/>
            </a:solidFill>
            <a:prstDash val="solid"/>
          </a:ln>
        </p:spPr>
      </p:sp>
      <p:sp>
        <p:nvSpPr>
          <p:cNvPr id="11" name="Text 9"/>
          <p:cNvSpPr/>
          <p:nvPr/>
        </p:nvSpPr>
        <p:spPr>
          <a:xfrm>
            <a:off x="640080" y="224028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2" name="Text 10"/>
          <p:cNvSpPr/>
          <p:nvPr/>
        </p:nvSpPr>
        <p:spPr>
          <a:xfrm>
            <a:off x="1143000" y="2240280"/>
            <a:ext cx="10515600" cy="365760"/>
          </a:xfrm>
          <a:prstGeom prst="rect">
            <a:avLst/>
          </a:prstGeom>
          <a:noFill/>
          <a:ln/>
        </p:spPr>
        <p:txBody>
          <a:bodyPr wrap="square" lIns="0" tIns="0" rIns="0" bIns="0" rtlCol="0" anchor="ctr"/>
          <a:lstStyle/>
          <a:p>
            <a:pPr indent="0" marL="0">
              <a:buNone/>
            </a:pPr>
            <a:r>
              <a:rPr lang="en-US" sz="1400" dirty="0">
                <a:solidFill>
                  <a:srgbClr val="0F172A"/>
                </a:solidFill>
                <a:latin typeface="Georgia" pitchFamily="34" charset="0"/>
                <a:ea typeface="Georgia" pitchFamily="34" charset="-122"/>
                <a:cs typeface="Georgia" pitchFamily="34" charset="-120"/>
              </a:rPr>
              <a:t>Bedrock console → Guardrails → Create</a:t>
            </a:r>
            <a:endParaRPr lang="en-US" sz="1400" dirty="0"/>
          </a:p>
        </p:txBody>
      </p:sp>
      <p:sp>
        <p:nvSpPr>
          <p:cNvPr id="13" name="Shape 11"/>
          <p:cNvSpPr/>
          <p:nvPr/>
        </p:nvSpPr>
        <p:spPr>
          <a:xfrm>
            <a:off x="502920" y="2743200"/>
            <a:ext cx="11185855" cy="457200"/>
          </a:xfrm>
          <a:prstGeom prst="rect">
            <a:avLst/>
          </a:prstGeom>
          <a:solidFill>
            <a:srgbClr val="F8FAFC"/>
          </a:solidFill>
          <a:ln w="6350">
            <a:solidFill>
              <a:srgbClr val="E2E8F0"/>
            </a:solidFill>
            <a:prstDash val="solid"/>
          </a:ln>
        </p:spPr>
      </p:sp>
      <p:sp>
        <p:nvSpPr>
          <p:cNvPr id="14" name="Shape 12"/>
          <p:cNvSpPr/>
          <p:nvPr/>
        </p:nvSpPr>
        <p:spPr>
          <a:xfrm>
            <a:off x="640080" y="2788920"/>
            <a:ext cx="365760" cy="365760"/>
          </a:xfrm>
          <a:prstGeom prst="ellipse">
            <a:avLst/>
          </a:prstGeom>
          <a:solidFill>
            <a:srgbClr val="0F172A"/>
          </a:solidFill>
          <a:ln w="12700">
            <a:solidFill>
              <a:srgbClr val="0F172A"/>
            </a:solidFill>
            <a:prstDash val="solid"/>
          </a:ln>
        </p:spPr>
      </p:sp>
      <p:sp>
        <p:nvSpPr>
          <p:cNvPr id="15" name="Text 13"/>
          <p:cNvSpPr/>
          <p:nvPr/>
        </p:nvSpPr>
        <p:spPr>
          <a:xfrm>
            <a:off x="640080" y="27889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6" name="Text 14"/>
          <p:cNvSpPr/>
          <p:nvPr/>
        </p:nvSpPr>
        <p:spPr>
          <a:xfrm>
            <a:off x="1143000" y="2788920"/>
            <a:ext cx="10515600" cy="365760"/>
          </a:xfrm>
          <a:prstGeom prst="rect">
            <a:avLst/>
          </a:prstGeom>
          <a:noFill/>
          <a:ln/>
        </p:spPr>
        <p:txBody>
          <a:bodyPr wrap="square" lIns="0" tIns="0" rIns="0" bIns="0" rtlCol="0" anchor="ctr"/>
          <a:lstStyle/>
          <a:p>
            <a:pPr indent="0" marL="0">
              <a:buNone/>
            </a:pPr>
            <a:r>
              <a:rPr lang="en-US" sz="1400" dirty="0">
                <a:solidFill>
                  <a:srgbClr val="0F172A"/>
                </a:solidFill>
                <a:latin typeface="Georgia" pitchFamily="34" charset="0"/>
                <a:ea typeface="Georgia" pitchFamily="34" charset="-122"/>
                <a:cs typeface="Georgia" pitchFamily="34" charset="-120"/>
              </a:rPr>
              <a:t>Give it a name</a:t>
            </a:r>
            <a:endParaRPr lang="en-US" sz="1400" dirty="0"/>
          </a:p>
        </p:txBody>
      </p:sp>
      <p:sp>
        <p:nvSpPr>
          <p:cNvPr id="17" name="Shape 15"/>
          <p:cNvSpPr/>
          <p:nvPr/>
        </p:nvSpPr>
        <p:spPr>
          <a:xfrm>
            <a:off x="502920" y="3291840"/>
            <a:ext cx="11185855" cy="457200"/>
          </a:xfrm>
          <a:prstGeom prst="rect">
            <a:avLst/>
          </a:prstGeom>
          <a:solidFill>
            <a:srgbClr val="F8FAFC"/>
          </a:solidFill>
          <a:ln w="6350">
            <a:solidFill>
              <a:srgbClr val="E2E8F0"/>
            </a:solidFill>
            <a:prstDash val="solid"/>
          </a:ln>
        </p:spPr>
      </p:sp>
      <p:sp>
        <p:nvSpPr>
          <p:cNvPr id="18" name="Shape 16"/>
          <p:cNvSpPr/>
          <p:nvPr/>
        </p:nvSpPr>
        <p:spPr>
          <a:xfrm>
            <a:off x="640080" y="3337560"/>
            <a:ext cx="365760" cy="365760"/>
          </a:xfrm>
          <a:prstGeom prst="ellipse">
            <a:avLst/>
          </a:prstGeom>
          <a:solidFill>
            <a:srgbClr val="0F172A"/>
          </a:solidFill>
          <a:ln w="12700">
            <a:solidFill>
              <a:srgbClr val="0F172A"/>
            </a:solidFill>
            <a:prstDash val="solid"/>
          </a:ln>
        </p:spPr>
      </p:sp>
      <p:sp>
        <p:nvSpPr>
          <p:cNvPr id="19" name="Text 17"/>
          <p:cNvSpPr/>
          <p:nvPr/>
        </p:nvSpPr>
        <p:spPr>
          <a:xfrm>
            <a:off x="640080" y="33375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0" name="Text 18"/>
          <p:cNvSpPr/>
          <p:nvPr/>
        </p:nvSpPr>
        <p:spPr>
          <a:xfrm>
            <a:off x="1143000" y="3337560"/>
            <a:ext cx="10515600" cy="365760"/>
          </a:xfrm>
          <a:prstGeom prst="rect">
            <a:avLst/>
          </a:prstGeom>
          <a:noFill/>
          <a:ln/>
        </p:spPr>
        <p:txBody>
          <a:bodyPr wrap="square" lIns="0" tIns="0" rIns="0" bIns="0" rtlCol="0" anchor="ctr"/>
          <a:lstStyle/>
          <a:p>
            <a:pPr indent="0" marL="0">
              <a:buNone/>
            </a:pPr>
            <a:r>
              <a:rPr lang="en-US" sz="1400" dirty="0">
                <a:solidFill>
                  <a:srgbClr val="0F172A"/>
                </a:solidFill>
                <a:latin typeface="Georgia" pitchFamily="34" charset="0"/>
                <a:ea typeface="Georgia" pitchFamily="34" charset="-122"/>
                <a:cs typeface="Georgia" pitchFamily="34" charset="-120"/>
              </a:rPr>
              <a:t>Configure content filters with severity thresholds</a:t>
            </a:r>
            <a:endParaRPr lang="en-US" sz="1400" dirty="0"/>
          </a:p>
        </p:txBody>
      </p:sp>
      <p:sp>
        <p:nvSpPr>
          <p:cNvPr id="21" name="Shape 19"/>
          <p:cNvSpPr/>
          <p:nvPr/>
        </p:nvSpPr>
        <p:spPr>
          <a:xfrm>
            <a:off x="502920" y="3840480"/>
            <a:ext cx="11185855" cy="457200"/>
          </a:xfrm>
          <a:prstGeom prst="rect">
            <a:avLst/>
          </a:prstGeom>
          <a:solidFill>
            <a:srgbClr val="F8FAFC"/>
          </a:solidFill>
          <a:ln w="6350">
            <a:solidFill>
              <a:srgbClr val="E2E8F0"/>
            </a:solidFill>
            <a:prstDash val="solid"/>
          </a:ln>
        </p:spPr>
      </p:sp>
      <p:sp>
        <p:nvSpPr>
          <p:cNvPr id="22" name="Shape 20"/>
          <p:cNvSpPr/>
          <p:nvPr/>
        </p:nvSpPr>
        <p:spPr>
          <a:xfrm>
            <a:off x="640080" y="3886200"/>
            <a:ext cx="365760" cy="365760"/>
          </a:xfrm>
          <a:prstGeom prst="ellipse">
            <a:avLst/>
          </a:prstGeom>
          <a:solidFill>
            <a:srgbClr val="0F172A"/>
          </a:solidFill>
          <a:ln w="12700">
            <a:solidFill>
              <a:srgbClr val="0F172A"/>
            </a:solidFill>
            <a:prstDash val="solid"/>
          </a:ln>
        </p:spPr>
      </p:sp>
      <p:sp>
        <p:nvSpPr>
          <p:cNvPr id="23" name="Text 21"/>
          <p:cNvSpPr/>
          <p:nvPr/>
        </p:nvSpPr>
        <p:spPr>
          <a:xfrm>
            <a:off x="640080" y="388620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4" name="Text 22"/>
          <p:cNvSpPr/>
          <p:nvPr/>
        </p:nvSpPr>
        <p:spPr>
          <a:xfrm>
            <a:off x="1143000" y="3886200"/>
            <a:ext cx="10515600" cy="365760"/>
          </a:xfrm>
          <a:prstGeom prst="rect">
            <a:avLst/>
          </a:prstGeom>
          <a:noFill/>
          <a:ln/>
        </p:spPr>
        <p:txBody>
          <a:bodyPr wrap="square" lIns="0" tIns="0" rIns="0" bIns="0" rtlCol="0" anchor="ctr"/>
          <a:lstStyle/>
          <a:p>
            <a:pPr indent="0" marL="0">
              <a:buNone/>
            </a:pPr>
            <a:r>
              <a:rPr lang="en-US" sz="1400" dirty="0">
                <a:solidFill>
                  <a:srgbClr val="0F172A"/>
                </a:solidFill>
                <a:latin typeface="Georgia" pitchFamily="34" charset="0"/>
                <a:ea typeface="Georgia" pitchFamily="34" charset="-122"/>
                <a:cs typeface="Georgia" pitchFamily="34" charset="-120"/>
              </a:rPr>
              <a:t>Optional: add denied topics, word filters, PII filters</a:t>
            </a:r>
            <a:endParaRPr lang="en-US" sz="1400" dirty="0"/>
          </a:p>
        </p:txBody>
      </p:sp>
      <p:sp>
        <p:nvSpPr>
          <p:cNvPr id="25" name="Shape 23"/>
          <p:cNvSpPr/>
          <p:nvPr/>
        </p:nvSpPr>
        <p:spPr>
          <a:xfrm>
            <a:off x="502920" y="4389120"/>
            <a:ext cx="11185855" cy="457200"/>
          </a:xfrm>
          <a:prstGeom prst="rect">
            <a:avLst/>
          </a:prstGeom>
          <a:solidFill>
            <a:srgbClr val="FEF3C7"/>
          </a:solidFill>
          <a:ln w="6350">
            <a:solidFill>
              <a:srgbClr val="B45309"/>
            </a:solidFill>
            <a:prstDash val="solid"/>
          </a:ln>
        </p:spPr>
      </p:sp>
      <p:sp>
        <p:nvSpPr>
          <p:cNvPr id="26" name="Shape 24"/>
          <p:cNvSpPr/>
          <p:nvPr/>
        </p:nvSpPr>
        <p:spPr>
          <a:xfrm>
            <a:off x="640080" y="4434840"/>
            <a:ext cx="365760" cy="365760"/>
          </a:xfrm>
          <a:prstGeom prst="ellipse">
            <a:avLst/>
          </a:prstGeom>
          <a:solidFill>
            <a:srgbClr val="0F172A"/>
          </a:solidFill>
          <a:ln w="12700">
            <a:solidFill>
              <a:srgbClr val="0F172A"/>
            </a:solidFill>
            <a:prstDash val="solid"/>
          </a:ln>
        </p:spPr>
      </p:sp>
      <p:sp>
        <p:nvSpPr>
          <p:cNvPr id="27" name="Text 25"/>
          <p:cNvSpPr/>
          <p:nvPr/>
        </p:nvSpPr>
        <p:spPr>
          <a:xfrm>
            <a:off x="640080" y="443484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8" name="Text 26"/>
          <p:cNvSpPr/>
          <p:nvPr/>
        </p:nvSpPr>
        <p:spPr>
          <a:xfrm>
            <a:off x="1143000" y="4434840"/>
            <a:ext cx="10515600" cy="365760"/>
          </a:xfrm>
          <a:prstGeom prst="rect">
            <a:avLst/>
          </a:prstGeom>
          <a:noFill/>
          <a:ln/>
        </p:spPr>
        <p:txBody>
          <a:bodyPr wrap="square" lIns="0" tIns="0" rIns="0" bIns="0" rtlCol="0" anchor="ctr"/>
          <a:lstStyle/>
          <a:p>
            <a:pPr indent="0" marL="0">
              <a:buNone/>
            </a:pPr>
            <a:r>
              <a:rPr lang="en-US" sz="1400" dirty="0">
                <a:solidFill>
                  <a:srgbClr val="0F172A"/>
                </a:solidFill>
                <a:latin typeface="Georgia" pitchFamily="34" charset="0"/>
                <a:ea typeface="Georgia" pitchFamily="34" charset="-122"/>
                <a:cs typeface="Georgia" pitchFamily="34" charset="-120"/>
              </a:rPr>
              <a:t>Create a version — yields a stable ID + version number</a:t>
            </a:r>
            <a:endParaRPr lang="en-US" sz="1400" dirty="0"/>
          </a:p>
        </p:txBody>
      </p:sp>
      <p:sp>
        <p:nvSpPr>
          <p:cNvPr id="29" name="Shape 27"/>
          <p:cNvSpPr/>
          <p:nvPr/>
        </p:nvSpPr>
        <p:spPr>
          <a:xfrm>
            <a:off x="502920" y="5166360"/>
            <a:ext cx="11185855" cy="1097280"/>
          </a:xfrm>
          <a:prstGeom prst="rect">
            <a:avLst/>
          </a:prstGeom>
          <a:solidFill>
            <a:srgbClr val="F1F5F9"/>
          </a:solidFill>
          <a:ln w="12700">
            <a:solidFill>
              <a:srgbClr val="F1F5F9"/>
            </a:solidFill>
            <a:prstDash val="solid"/>
          </a:ln>
        </p:spPr>
      </p:sp>
      <p:sp>
        <p:nvSpPr>
          <p:cNvPr id="30" name="Shape 28"/>
          <p:cNvSpPr/>
          <p:nvPr/>
        </p:nvSpPr>
        <p:spPr>
          <a:xfrm>
            <a:off x="502920" y="5166360"/>
            <a:ext cx="45720" cy="1097280"/>
          </a:xfrm>
          <a:prstGeom prst="rect">
            <a:avLst/>
          </a:prstGeom>
          <a:solidFill>
            <a:srgbClr val="B45309"/>
          </a:solidFill>
          <a:ln w="12700">
            <a:solidFill>
              <a:srgbClr val="B45309"/>
            </a:solidFill>
            <a:prstDash val="solid"/>
          </a:ln>
        </p:spPr>
      </p:sp>
      <p:sp>
        <p:nvSpPr>
          <p:cNvPr id="31" name="Text 29"/>
          <p:cNvSpPr/>
          <p:nvPr/>
        </p:nvSpPr>
        <p:spPr>
          <a:xfrm>
            <a:off x="685800" y="525780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WHY VERSIONS MATTER</a:t>
            </a:r>
            <a:endParaRPr lang="en-US" sz="900" dirty="0"/>
          </a:p>
        </p:txBody>
      </p:sp>
      <p:sp>
        <p:nvSpPr>
          <p:cNvPr id="32" name="Text 30"/>
          <p:cNvSpPr/>
          <p:nvPr/>
        </p:nvSpPr>
        <p:spPr>
          <a:xfrm>
            <a:off x="685800" y="545896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Production never breaks because someone tweaked a filter.</a:t>
            </a:r>
            <a:endParaRPr lang="en-US" sz="1300" dirty="0"/>
          </a:p>
        </p:txBody>
      </p:sp>
      <p:sp>
        <p:nvSpPr>
          <p:cNvPr id="33" name="Text 31"/>
          <p:cNvSpPr/>
          <p:nvPr/>
        </p:nvSpPr>
        <p:spPr>
          <a:xfrm>
            <a:off x="685800" y="5751576"/>
            <a:ext cx="10911535" cy="42062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Change a guardrail later (raise a threshold, add a denied topic) → you create a NEW version. Your old code keeps using the old version. Roll new versions out deliberately.</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7 · CODE</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27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7</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Add a Guardrail to a Knowledge Base query</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Same code as Chapter 6. Green lines = everything you add.</a:t>
            </a:r>
            <a:endParaRPr lang="en-US" sz="1400" dirty="0"/>
          </a:p>
        </p:txBody>
      </p:sp>
      <p:sp>
        <p:nvSpPr>
          <p:cNvPr id="9" name="Shape 7"/>
          <p:cNvSpPr/>
          <p:nvPr/>
        </p:nvSpPr>
        <p:spPr>
          <a:xfrm>
            <a:off x="502920" y="1691640"/>
            <a:ext cx="11185855" cy="4572000"/>
          </a:xfrm>
          <a:prstGeom prst="rect">
            <a:avLst/>
          </a:prstGeom>
          <a:solidFill>
            <a:srgbClr val="0F172A"/>
          </a:solidFill>
          <a:ln w="12700">
            <a:solidFill>
              <a:srgbClr val="0F172A"/>
            </a:solidFill>
            <a:prstDash val="solid"/>
          </a:ln>
        </p:spPr>
      </p:sp>
      <p:sp>
        <p:nvSpPr>
          <p:cNvPr id="10" name="Text 8"/>
          <p:cNvSpPr/>
          <p:nvPr/>
        </p:nvSpPr>
        <p:spPr>
          <a:xfrm>
            <a:off x="667512" y="1801368"/>
            <a:ext cx="10856671" cy="4352544"/>
          </a:xfrm>
          <a:prstGeom prst="rect">
            <a:avLst/>
          </a:prstGeom>
          <a:noFill/>
          <a:ln/>
        </p:spPr>
        <p:txBody>
          <a:bodyPr wrap="square" lIns="0" tIns="0" rIns="0" bIns="0"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KNOWLEDGE_BASE_ID = "YOUR_KB_ID"</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GUARDRAIL_ID = "YOUR_GUARDRAIL_ID"</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GUARDRAIL_VERSION = "1"</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MODEL_ID = "us.amazon.nova-lite-v1:0"</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def query_kb_with_guardrail(question):</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bedrock_agent = boto3.client("bedrock-agent-runtime", region_name="us-east-1")</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response = bedrock_agent.retrieve_and_generate(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input={"text": question},</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retrieveAndGenerateConfiguration={</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"type": "KNOWLEDGE_BASE",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"knowledgeBaseConfiguration":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"knowledgeBaseId": KNOWLEDGE_BASE_ID,</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"modelArn": MODEL_ID,</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"generationConfiguration": {</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"guardrailConfiguration": {</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"guardrailId": GUARDRAIL_ID,</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"guardrailVersion": GUARDRAIL_VERSION,</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print(response["output"]["text"])</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7 · CODE</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28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7</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Guardrails on a plain Converse call too</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Guardrails are not just for RAG. Add them to any Bedrock API call.</a:t>
            </a:r>
            <a:endParaRPr lang="en-US" sz="1400" dirty="0"/>
          </a:p>
        </p:txBody>
      </p:sp>
      <p:sp>
        <p:nvSpPr>
          <p:cNvPr id="9" name="Shape 7"/>
          <p:cNvSpPr/>
          <p:nvPr/>
        </p:nvSpPr>
        <p:spPr>
          <a:xfrm>
            <a:off x="502920" y="1965960"/>
            <a:ext cx="11185855" cy="1828800"/>
          </a:xfrm>
          <a:prstGeom prst="rect">
            <a:avLst/>
          </a:prstGeom>
          <a:solidFill>
            <a:srgbClr val="0F172A"/>
          </a:solidFill>
          <a:ln w="12700">
            <a:solidFill>
              <a:srgbClr val="0F172A"/>
            </a:solidFill>
            <a:prstDash val="solid"/>
          </a:ln>
        </p:spPr>
      </p:sp>
      <p:sp>
        <p:nvSpPr>
          <p:cNvPr id="10" name="Text 8"/>
          <p:cNvSpPr/>
          <p:nvPr/>
        </p:nvSpPr>
        <p:spPr>
          <a:xfrm>
            <a:off x="667512" y="2075688"/>
            <a:ext cx="10856671" cy="1609344"/>
          </a:xfrm>
          <a:prstGeom prst="rect">
            <a:avLst/>
          </a:prstGeom>
          <a:noFill/>
          <a:ln/>
        </p:spPr>
        <p:txBody>
          <a:bodyPr wrap="square" lIns="0" tIns="0" rIns="0" bIns="0" rtlCol="0" anchor="t"/>
          <a:lstStyle/>
          <a:p>
            <a:pPr indent="0" marL="0">
              <a:buNone/>
            </a:pPr>
            <a:r>
              <a:rPr lang="en-US" sz="1400" dirty="0">
                <a:solidFill>
                  <a:srgbClr val="E2E8F0"/>
                </a:solidFill>
                <a:latin typeface="Consolas" pitchFamily="34" charset="0"/>
                <a:ea typeface="Consolas" pitchFamily="34" charset="-122"/>
                <a:cs typeface="Consolas" pitchFamily="34" charset="-120"/>
              </a:rPr>
              <a:t>response = bedrock_runtime.converse(</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modelId=model_id,</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messages=messages,</a:t>
            </a:r>
            <a:endParaRPr lang="en-US" sz="1400" dirty="0"/>
          </a:p>
          <a:p>
            <a:pPr indent="0" marL="0">
              <a:buNone/>
            </a:pPr>
            <a:r>
              <a:rPr lang="en-US" sz="1400" b="1" dirty="0">
                <a:solidFill>
                  <a:srgbClr val="6EE7B7"/>
                </a:solidFill>
                <a:latin typeface="Consolas" pitchFamily="34" charset="0"/>
                <a:ea typeface="Consolas" pitchFamily="34" charset="-122"/>
                <a:cs typeface="Consolas" pitchFamily="34" charset="-120"/>
              </a:rPr>
              <a:t>    guardrailConfig={</a:t>
            </a:r>
            <a:endParaRPr lang="en-US" sz="1400" dirty="0"/>
          </a:p>
          <a:p>
            <a:pPr indent="0" marL="0">
              <a:buNone/>
            </a:pPr>
            <a:r>
              <a:rPr lang="en-US" sz="1400" b="1" dirty="0">
                <a:solidFill>
                  <a:srgbClr val="6EE7B7"/>
                </a:solidFill>
                <a:latin typeface="Consolas" pitchFamily="34" charset="0"/>
                <a:ea typeface="Consolas" pitchFamily="34" charset="-122"/>
                <a:cs typeface="Consolas" pitchFamily="34" charset="-120"/>
              </a:rPr>
              <a:t>        'guardrailIdentifier': 'your-guardrail-id',</a:t>
            </a:r>
            <a:endParaRPr lang="en-US" sz="1400" dirty="0"/>
          </a:p>
          <a:p>
            <a:pPr indent="0" marL="0">
              <a:buNone/>
            </a:pPr>
            <a:r>
              <a:rPr lang="en-US" sz="1400" b="1" dirty="0">
                <a:solidFill>
                  <a:srgbClr val="6EE7B7"/>
                </a:solidFill>
                <a:latin typeface="Consolas" pitchFamily="34" charset="0"/>
                <a:ea typeface="Consolas" pitchFamily="34" charset="-122"/>
                <a:cs typeface="Consolas" pitchFamily="34" charset="-120"/>
              </a:rPr>
              <a:t>        'guardrailVersion': '1'</a:t>
            </a:r>
            <a:endParaRPr lang="en-US" sz="1400" dirty="0"/>
          </a:p>
          <a:p>
            <a:pPr indent="0" marL="0">
              <a:buNone/>
            </a:pPr>
            <a:r>
              <a:rPr lang="en-US" sz="1400" b="1" dirty="0">
                <a:solidFill>
                  <a:srgbClr val="6EE7B7"/>
                </a:solidFill>
                <a:latin typeface="Consolas" pitchFamily="34" charset="0"/>
                <a:ea typeface="Consolas" pitchFamily="34" charset="-122"/>
                <a:cs typeface="Consolas" pitchFamily="34" charset="-120"/>
              </a:rPr>
              <a:t>    }</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11" name="Shape 9"/>
          <p:cNvSpPr/>
          <p:nvPr/>
        </p:nvSpPr>
        <p:spPr>
          <a:xfrm>
            <a:off x="502920" y="4023360"/>
            <a:ext cx="11185855" cy="2194560"/>
          </a:xfrm>
          <a:prstGeom prst="rect">
            <a:avLst/>
          </a:prstGeom>
          <a:solidFill>
            <a:srgbClr val="F1F5F9"/>
          </a:solidFill>
          <a:ln w="12700">
            <a:solidFill>
              <a:srgbClr val="F1F5F9"/>
            </a:solidFill>
            <a:prstDash val="solid"/>
          </a:ln>
        </p:spPr>
      </p:sp>
      <p:sp>
        <p:nvSpPr>
          <p:cNvPr id="12" name="Shape 10"/>
          <p:cNvSpPr/>
          <p:nvPr/>
        </p:nvSpPr>
        <p:spPr>
          <a:xfrm>
            <a:off x="502920" y="4023360"/>
            <a:ext cx="45720" cy="2194560"/>
          </a:xfrm>
          <a:prstGeom prst="rect">
            <a:avLst/>
          </a:prstGeom>
          <a:solidFill>
            <a:srgbClr val="B45309"/>
          </a:solidFill>
          <a:ln w="12700">
            <a:solidFill>
              <a:srgbClr val="B45309"/>
            </a:solidFill>
            <a:prstDash val="solid"/>
          </a:ln>
        </p:spPr>
      </p:sp>
      <p:sp>
        <p:nvSpPr>
          <p:cNvPr id="13" name="Text 11"/>
          <p:cNvSpPr/>
          <p:nvPr/>
        </p:nvSpPr>
        <p:spPr>
          <a:xfrm>
            <a:off x="685800" y="411480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ONE GUARDRAIL, EVERY CALL</a:t>
            </a:r>
            <a:endParaRPr lang="en-US" sz="900" dirty="0"/>
          </a:p>
        </p:txBody>
      </p:sp>
      <p:sp>
        <p:nvSpPr>
          <p:cNvPr id="14" name="Text 12"/>
          <p:cNvSpPr/>
          <p:nvPr/>
        </p:nvSpPr>
        <p:spPr>
          <a:xfrm>
            <a:off x="685800" y="431596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Configure once. Use across Converse, RAG, and (next chapter) agents.</a:t>
            </a:r>
            <a:endParaRPr lang="en-US" sz="1300" dirty="0"/>
          </a:p>
        </p:txBody>
      </p:sp>
      <p:sp>
        <p:nvSpPr>
          <p:cNvPr id="15" name="Text 13"/>
          <p:cNvSpPr/>
          <p:nvPr/>
        </p:nvSpPr>
        <p:spPr>
          <a:xfrm>
            <a:off x="685800" y="4608576"/>
            <a:ext cx="10911535" cy="151790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This is the practical superpower of Bedrock Guardrails. You don't write per-model or per-API safety logic. One configuration enforces itself everywhere you reference its ID.</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7 · IN ACTION</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29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7</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Two queries, two outcomes — same guardrail</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What you actually see when a guardrail is wired in.</a:t>
            </a:r>
            <a:endParaRPr lang="en-US" sz="1400" dirty="0"/>
          </a:p>
        </p:txBody>
      </p:sp>
      <p:sp>
        <p:nvSpPr>
          <p:cNvPr id="9" name="Shape 7"/>
          <p:cNvSpPr/>
          <p:nvPr/>
        </p:nvSpPr>
        <p:spPr>
          <a:xfrm>
            <a:off x="502920" y="1965960"/>
            <a:ext cx="11185855" cy="1554480"/>
          </a:xfrm>
          <a:prstGeom prst="rect">
            <a:avLst/>
          </a:prstGeom>
          <a:solidFill>
            <a:srgbClr val="D1FAE5"/>
          </a:solidFill>
          <a:ln w="12700">
            <a:solidFill>
              <a:srgbClr val="047857"/>
            </a:solidFill>
            <a:prstDash val="solid"/>
          </a:ln>
        </p:spPr>
      </p:sp>
      <p:sp>
        <p:nvSpPr>
          <p:cNvPr id="10" name="Shape 8"/>
          <p:cNvSpPr/>
          <p:nvPr/>
        </p:nvSpPr>
        <p:spPr>
          <a:xfrm>
            <a:off x="502920" y="1965960"/>
            <a:ext cx="73152" cy="1554480"/>
          </a:xfrm>
          <a:prstGeom prst="rect">
            <a:avLst/>
          </a:prstGeom>
          <a:solidFill>
            <a:srgbClr val="047857"/>
          </a:solidFill>
          <a:ln w="12700">
            <a:solidFill>
              <a:srgbClr val="047857"/>
            </a:solidFill>
            <a:prstDash val="solid"/>
          </a:ln>
        </p:spPr>
      </p:sp>
      <p:sp>
        <p:nvSpPr>
          <p:cNvPr id="11" name="Text 9"/>
          <p:cNvSpPr/>
          <p:nvPr/>
        </p:nvSpPr>
        <p:spPr>
          <a:xfrm>
            <a:off x="777240" y="2057400"/>
            <a:ext cx="10911535" cy="274320"/>
          </a:xfrm>
          <a:prstGeom prst="rect">
            <a:avLst/>
          </a:prstGeom>
          <a:noFill/>
          <a:ln/>
        </p:spPr>
        <p:txBody>
          <a:bodyPr wrap="square" lIns="0" tIns="0" rIns="0" bIns="0" rtlCol="0" anchor="ctr"/>
          <a:lstStyle/>
          <a:p>
            <a:pPr indent="0" marL="0">
              <a:buNone/>
            </a:pPr>
            <a:r>
              <a:rPr lang="en-US" sz="1000" b="1" spc="300" kern="0" dirty="0">
                <a:solidFill>
                  <a:srgbClr val="047857"/>
                </a:solidFill>
                <a:latin typeface="Calibri" pitchFamily="34" charset="0"/>
                <a:ea typeface="Calibri" pitchFamily="34" charset="-122"/>
                <a:cs typeface="Calibri" pitchFamily="34" charset="-120"/>
              </a:rPr>
              <a:t>QUERY A — NORMAL QUESTION</a:t>
            </a:r>
            <a:endParaRPr lang="en-US" sz="1000" dirty="0"/>
          </a:p>
        </p:txBody>
      </p:sp>
      <p:sp>
        <p:nvSpPr>
          <p:cNvPr id="12" name="Text 10"/>
          <p:cNvSpPr/>
          <p:nvPr/>
        </p:nvSpPr>
        <p:spPr>
          <a:xfrm>
            <a:off x="777240" y="2377440"/>
            <a:ext cx="10911535" cy="411480"/>
          </a:xfrm>
          <a:prstGeom prst="rect">
            <a:avLst/>
          </a:prstGeom>
          <a:noFill/>
          <a:ln/>
        </p:spPr>
        <p:txBody>
          <a:bodyPr wrap="square" lIns="0" tIns="0" rIns="0" bIns="0" rtlCol="0" anchor="ctr"/>
          <a:lstStyle/>
          <a:p>
            <a:pPr indent="0" marL="0">
              <a:buNone/>
            </a:pPr>
            <a:r>
              <a:rPr lang="en-US" sz="2000" i="1" dirty="0">
                <a:solidFill>
                  <a:srgbClr val="0F172A"/>
                </a:solidFill>
                <a:latin typeface="Georgia" pitchFamily="34" charset="0"/>
                <a:ea typeface="Georgia" pitchFamily="34" charset="-122"/>
                <a:cs typeface="Georgia" pitchFamily="34" charset="-120"/>
              </a:rPr>
              <a:t>"When is spring break?"</a:t>
            </a:r>
            <a:endParaRPr lang="en-US" sz="2000" dirty="0"/>
          </a:p>
        </p:txBody>
      </p:sp>
      <p:sp>
        <p:nvSpPr>
          <p:cNvPr id="13" name="Text 11"/>
          <p:cNvSpPr/>
          <p:nvPr/>
        </p:nvSpPr>
        <p:spPr>
          <a:xfrm>
            <a:off x="777240" y="2880360"/>
            <a:ext cx="10911535"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Result: passes through the guardrail. Gets answered normally from the Knowledge Base.</a:t>
            </a:r>
            <a:endParaRPr lang="en-US" sz="1300" dirty="0"/>
          </a:p>
        </p:txBody>
      </p:sp>
      <p:sp>
        <p:nvSpPr>
          <p:cNvPr id="14" name="Shape 12"/>
          <p:cNvSpPr/>
          <p:nvPr/>
        </p:nvSpPr>
        <p:spPr>
          <a:xfrm>
            <a:off x="502920" y="3703320"/>
            <a:ext cx="11185855" cy="1554480"/>
          </a:xfrm>
          <a:prstGeom prst="rect">
            <a:avLst/>
          </a:prstGeom>
          <a:solidFill>
            <a:srgbClr val="FEE2E2"/>
          </a:solidFill>
          <a:ln w="12700">
            <a:solidFill>
              <a:srgbClr val="B91C1C"/>
            </a:solidFill>
            <a:prstDash val="solid"/>
          </a:ln>
        </p:spPr>
      </p:sp>
      <p:sp>
        <p:nvSpPr>
          <p:cNvPr id="15" name="Shape 13"/>
          <p:cNvSpPr/>
          <p:nvPr/>
        </p:nvSpPr>
        <p:spPr>
          <a:xfrm>
            <a:off x="502920" y="3703320"/>
            <a:ext cx="73152" cy="1554480"/>
          </a:xfrm>
          <a:prstGeom prst="rect">
            <a:avLst/>
          </a:prstGeom>
          <a:solidFill>
            <a:srgbClr val="B91C1C"/>
          </a:solidFill>
          <a:ln w="12700">
            <a:solidFill>
              <a:srgbClr val="B91C1C"/>
            </a:solidFill>
            <a:prstDash val="solid"/>
          </a:ln>
        </p:spPr>
      </p:sp>
      <p:sp>
        <p:nvSpPr>
          <p:cNvPr id="16" name="Text 14"/>
          <p:cNvSpPr/>
          <p:nvPr/>
        </p:nvSpPr>
        <p:spPr>
          <a:xfrm>
            <a:off x="777240" y="3794760"/>
            <a:ext cx="10911535" cy="274320"/>
          </a:xfrm>
          <a:prstGeom prst="rect">
            <a:avLst/>
          </a:prstGeom>
          <a:noFill/>
          <a:ln/>
        </p:spPr>
        <p:txBody>
          <a:bodyPr wrap="square" lIns="0" tIns="0" rIns="0" bIns="0" rtlCol="0" anchor="ctr"/>
          <a:lstStyle/>
          <a:p>
            <a:pPr indent="0" marL="0">
              <a:buNone/>
            </a:pPr>
            <a:r>
              <a:rPr lang="en-US" sz="1000" b="1" spc="300" kern="0" dirty="0">
                <a:solidFill>
                  <a:srgbClr val="B91C1C"/>
                </a:solidFill>
                <a:latin typeface="Calibri" pitchFamily="34" charset="0"/>
                <a:ea typeface="Calibri" pitchFamily="34" charset="-122"/>
                <a:cs typeface="Calibri" pitchFamily="34" charset="-120"/>
              </a:rPr>
              <a:t>QUERY B — INAPPROPRIATE QUESTION</a:t>
            </a:r>
            <a:endParaRPr lang="en-US" sz="1000" dirty="0"/>
          </a:p>
        </p:txBody>
      </p:sp>
      <p:sp>
        <p:nvSpPr>
          <p:cNvPr id="17" name="Text 15"/>
          <p:cNvSpPr/>
          <p:nvPr/>
        </p:nvSpPr>
        <p:spPr>
          <a:xfrm>
            <a:off x="777240" y="4114800"/>
            <a:ext cx="10911535" cy="411480"/>
          </a:xfrm>
          <a:prstGeom prst="rect">
            <a:avLst/>
          </a:prstGeom>
          <a:noFill/>
          <a:ln/>
        </p:spPr>
        <p:txBody>
          <a:bodyPr wrap="square" lIns="0" tIns="0" rIns="0" bIns="0" rtlCol="0" anchor="ctr"/>
          <a:lstStyle/>
          <a:p>
            <a:pPr indent="0" marL="0">
              <a:buNone/>
            </a:pPr>
            <a:r>
              <a:rPr lang="en-US" sz="2000" i="1" dirty="0">
                <a:solidFill>
                  <a:srgbClr val="0F172A"/>
                </a:solidFill>
                <a:latin typeface="Georgia" pitchFamily="34" charset="0"/>
                <a:ea typeface="Georgia" pitchFamily="34" charset="-122"/>
                <a:cs typeface="Georgia" pitchFamily="34" charset="-120"/>
              </a:rPr>
              <a:t>"How can I cheat on my finals this year?"</a:t>
            </a:r>
            <a:endParaRPr lang="en-US" sz="2000" dirty="0"/>
          </a:p>
        </p:txBody>
      </p:sp>
      <p:sp>
        <p:nvSpPr>
          <p:cNvPr id="18" name="Text 16"/>
          <p:cNvSpPr/>
          <p:nvPr/>
        </p:nvSpPr>
        <p:spPr>
          <a:xfrm>
            <a:off x="777240" y="4617720"/>
            <a:ext cx="10911535"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Result: BLOCKED by the guardrail before the model ever generates a response. Your app gets a structured response; you decide what to show.</a:t>
            </a:r>
            <a:endParaRPr lang="en-US" sz="1300" dirty="0"/>
          </a:p>
        </p:txBody>
      </p:sp>
      <p:sp>
        <p:nvSpPr>
          <p:cNvPr id="19" name="Shape 17"/>
          <p:cNvSpPr/>
          <p:nvPr/>
        </p:nvSpPr>
        <p:spPr>
          <a:xfrm>
            <a:off x="502920" y="5440680"/>
            <a:ext cx="11185855" cy="822960"/>
          </a:xfrm>
          <a:prstGeom prst="rect">
            <a:avLst/>
          </a:prstGeom>
          <a:solidFill>
            <a:srgbClr val="F1F5F9"/>
          </a:solidFill>
          <a:ln w="12700">
            <a:solidFill>
              <a:srgbClr val="F1F5F9"/>
            </a:solidFill>
            <a:prstDash val="solid"/>
          </a:ln>
        </p:spPr>
      </p:sp>
      <p:sp>
        <p:nvSpPr>
          <p:cNvPr id="20" name="Shape 18"/>
          <p:cNvSpPr/>
          <p:nvPr/>
        </p:nvSpPr>
        <p:spPr>
          <a:xfrm>
            <a:off x="502920" y="5440680"/>
            <a:ext cx="45720" cy="822960"/>
          </a:xfrm>
          <a:prstGeom prst="rect">
            <a:avLst/>
          </a:prstGeom>
          <a:solidFill>
            <a:srgbClr val="B45309"/>
          </a:solidFill>
          <a:ln w="12700">
            <a:solidFill>
              <a:srgbClr val="B45309"/>
            </a:solidFill>
            <a:prstDash val="solid"/>
          </a:ln>
        </p:spPr>
      </p:sp>
      <p:sp>
        <p:nvSpPr>
          <p:cNvPr id="21" name="Text 19"/>
          <p:cNvSpPr/>
          <p:nvPr/>
        </p:nvSpPr>
        <p:spPr>
          <a:xfrm>
            <a:off x="685800" y="553212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WHAT THIS PREVENTS</a:t>
            </a:r>
            <a:endParaRPr lang="en-US" sz="900" dirty="0"/>
          </a:p>
        </p:txBody>
      </p:sp>
      <p:sp>
        <p:nvSpPr>
          <p:cNvPr id="22" name="Text 20"/>
          <p:cNvSpPr/>
          <p:nvPr/>
        </p:nvSpPr>
        <p:spPr>
          <a:xfrm>
            <a:off x="685800" y="5733288"/>
            <a:ext cx="10911535" cy="43891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This is how you stop the model from being weaponized — without writing a single line of filtering logic yourself. Same guardrail. Two very different outcomes. Predictable behavior.</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8 · THE CONTRACT PAYS OFF</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30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8</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Look at what we've written by hand so far</a:t>
            </a:r>
            <a:endParaRPr lang="en-US" sz="3200" dirty="0"/>
          </a:p>
        </p:txBody>
      </p:sp>
      <p:sp>
        <p:nvSpPr>
          <p:cNvPr id="8" name="Shape 6"/>
          <p:cNvSpPr/>
          <p:nvPr/>
        </p:nvSpPr>
        <p:spPr>
          <a:xfrm>
            <a:off x="502920" y="1828800"/>
            <a:ext cx="11185855" cy="685800"/>
          </a:xfrm>
          <a:prstGeom prst="rect">
            <a:avLst/>
          </a:prstGeom>
          <a:solidFill>
            <a:srgbClr val="F8FAFC"/>
          </a:solidFill>
          <a:ln w="6350">
            <a:solidFill>
              <a:srgbClr val="E2E8F0"/>
            </a:solidFill>
            <a:prstDash val="solid"/>
          </a:ln>
        </p:spPr>
      </p:sp>
      <p:sp>
        <p:nvSpPr>
          <p:cNvPr id="9" name="Shape 7"/>
          <p:cNvSpPr/>
          <p:nvPr/>
        </p:nvSpPr>
        <p:spPr>
          <a:xfrm>
            <a:off x="502920" y="1828800"/>
            <a:ext cx="54864" cy="685800"/>
          </a:xfrm>
          <a:prstGeom prst="rect">
            <a:avLst/>
          </a:prstGeom>
          <a:solidFill>
            <a:srgbClr val="B45309"/>
          </a:solidFill>
          <a:ln w="12700">
            <a:solidFill>
              <a:srgbClr val="B45309"/>
            </a:solidFill>
            <a:prstDash val="solid"/>
          </a:ln>
        </p:spPr>
      </p:sp>
      <p:sp>
        <p:nvSpPr>
          <p:cNvPr id="10" name="Text 8"/>
          <p:cNvSpPr/>
          <p:nvPr/>
        </p:nvSpPr>
        <p:spPr>
          <a:xfrm>
            <a:off x="777240" y="1828800"/>
            <a:ext cx="10911535" cy="68580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Tool use — managed messages array, parsed tool_use blocks, dispatched tools, sent results back, called Converse twice</a:t>
            </a:r>
            <a:endParaRPr lang="en-US" sz="1300" dirty="0"/>
          </a:p>
        </p:txBody>
      </p:sp>
      <p:sp>
        <p:nvSpPr>
          <p:cNvPr id="11" name="Shape 9"/>
          <p:cNvSpPr/>
          <p:nvPr/>
        </p:nvSpPr>
        <p:spPr>
          <a:xfrm>
            <a:off x="502920" y="2606040"/>
            <a:ext cx="11185855" cy="685800"/>
          </a:xfrm>
          <a:prstGeom prst="rect">
            <a:avLst/>
          </a:prstGeom>
          <a:solidFill>
            <a:srgbClr val="F8FAFC"/>
          </a:solidFill>
          <a:ln w="6350">
            <a:solidFill>
              <a:srgbClr val="E2E8F0"/>
            </a:solidFill>
            <a:prstDash val="solid"/>
          </a:ln>
        </p:spPr>
      </p:sp>
      <p:sp>
        <p:nvSpPr>
          <p:cNvPr id="12" name="Shape 10"/>
          <p:cNvSpPr/>
          <p:nvPr/>
        </p:nvSpPr>
        <p:spPr>
          <a:xfrm>
            <a:off x="502920" y="2606040"/>
            <a:ext cx="54864" cy="685800"/>
          </a:xfrm>
          <a:prstGeom prst="rect">
            <a:avLst/>
          </a:prstGeom>
          <a:solidFill>
            <a:srgbClr val="B45309"/>
          </a:solidFill>
          <a:ln w="12700">
            <a:solidFill>
              <a:srgbClr val="B45309"/>
            </a:solidFill>
            <a:prstDash val="solid"/>
          </a:ln>
        </p:spPr>
      </p:sp>
      <p:sp>
        <p:nvSpPr>
          <p:cNvPr id="13" name="Text 11"/>
          <p:cNvSpPr/>
          <p:nvPr/>
        </p:nvSpPr>
        <p:spPr>
          <a:xfrm>
            <a:off x="777240" y="2606040"/>
            <a:ext cx="10911535" cy="68580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Multi-turn — manually appended every user/assistant message to a conversation_history list</a:t>
            </a:r>
            <a:endParaRPr lang="en-US" sz="1300" dirty="0"/>
          </a:p>
        </p:txBody>
      </p:sp>
      <p:sp>
        <p:nvSpPr>
          <p:cNvPr id="14" name="Shape 12"/>
          <p:cNvSpPr/>
          <p:nvPr/>
        </p:nvSpPr>
        <p:spPr>
          <a:xfrm>
            <a:off x="502920" y="3383280"/>
            <a:ext cx="11185855" cy="685800"/>
          </a:xfrm>
          <a:prstGeom prst="rect">
            <a:avLst/>
          </a:prstGeom>
          <a:solidFill>
            <a:srgbClr val="F8FAFC"/>
          </a:solidFill>
          <a:ln w="6350">
            <a:solidFill>
              <a:srgbClr val="E2E8F0"/>
            </a:solidFill>
            <a:prstDash val="solid"/>
          </a:ln>
        </p:spPr>
      </p:sp>
      <p:sp>
        <p:nvSpPr>
          <p:cNvPr id="15" name="Shape 13"/>
          <p:cNvSpPr/>
          <p:nvPr/>
        </p:nvSpPr>
        <p:spPr>
          <a:xfrm>
            <a:off x="502920" y="3383280"/>
            <a:ext cx="54864" cy="685800"/>
          </a:xfrm>
          <a:prstGeom prst="rect">
            <a:avLst/>
          </a:prstGeom>
          <a:solidFill>
            <a:srgbClr val="B45309"/>
          </a:solidFill>
          <a:ln w="12700">
            <a:solidFill>
              <a:srgbClr val="B45309"/>
            </a:solidFill>
            <a:prstDash val="solid"/>
          </a:ln>
        </p:spPr>
      </p:sp>
      <p:sp>
        <p:nvSpPr>
          <p:cNvPr id="16" name="Text 14"/>
          <p:cNvSpPr/>
          <p:nvPr/>
        </p:nvSpPr>
        <p:spPr>
          <a:xfrm>
            <a:off x="777240" y="3383280"/>
            <a:ext cx="10911535" cy="68580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Knowledge Bases — different client (bedrock-agent-runtime), different API</a:t>
            </a:r>
            <a:endParaRPr lang="en-US" sz="1300" dirty="0"/>
          </a:p>
        </p:txBody>
      </p:sp>
      <p:sp>
        <p:nvSpPr>
          <p:cNvPr id="17" name="Shape 15"/>
          <p:cNvSpPr/>
          <p:nvPr/>
        </p:nvSpPr>
        <p:spPr>
          <a:xfrm>
            <a:off x="502920" y="4160520"/>
            <a:ext cx="11185855" cy="685800"/>
          </a:xfrm>
          <a:prstGeom prst="rect">
            <a:avLst/>
          </a:prstGeom>
          <a:solidFill>
            <a:srgbClr val="F8FAFC"/>
          </a:solidFill>
          <a:ln w="6350">
            <a:solidFill>
              <a:srgbClr val="E2E8F0"/>
            </a:solidFill>
            <a:prstDash val="solid"/>
          </a:ln>
        </p:spPr>
      </p:sp>
      <p:sp>
        <p:nvSpPr>
          <p:cNvPr id="18" name="Shape 16"/>
          <p:cNvSpPr/>
          <p:nvPr/>
        </p:nvSpPr>
        <p:spPr>
          <a:xfrm>
            <a:off x="502920" y="4160520"/>
            <a:ext cx="54864" cy="685800"/>
          </a:xfrm>
          <a:prstGeom prst="rect">
            <a:avLst/>
          </a:prstGeom>
          <a:solidFill>
            <a:srgbClr val="B45309"/>
          </a:solidFill>
          <a:ln w="12700">
            <a:solidFill>
              <a:srgbClr val="B45309"/>
            </a:solidFill>
            <a:prstDash val="solid"/>
          </a:ln>
        </p:spPr>
      </p:sp>
      <p:sp>
        <p:nvSpPr>
          <p:cNvPr id="19" name="Text 17"/>
          <p:cNvSpPr/>
          <p:nvPr/>
        </p:nvSpPr>
        <p:spPr>
          <a:xfrm>
            <a:off x="777240" y="4160520"/>
            <a:ext cx="10911535" cy="68580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Guardrails — different config blocks for RAG vs Converse</a:t>
            </a:r>
            <a:endParaRPr lang="en-US" sz="1300" dirty="0"/>
          </a:p>
        </p:txBody>
      </p:sp>
      <p:sp>
        <p:nvSpPr>
          <p:cNvPr id="20" name="Shape 18"/>
          <p:cNvSpPr/>
          <p:nvPr/>
        </p:nvSpPr>
        <p:spPr>
          <a:xfrm>
            <a:off x="502920" y="5120640"/>
            <a:ext cx="11185855" cy="1143000"/>
          </a:xfrm>
          <a:prstGeom prst="rect">
            <a:avLst/>
          </a:prstGeom>
          <a:solidFill>
            <a:srgbClr val="F1F5F9"/>
          </a:solidFill>
          <a:ln w="12700">
            <a:solidFill>
              <a:srgbClr val="F1F5F9"/>
            </a:solidFill>
            <a:prstDash val="solid"/>
          </a:ln>
        </p:spPr>
      </p:sp>
      <p:sp>
        <p:nvSpPr>
          <p:cNvPr id="21" name="Shape 19"/>
          <p:cNvSpPr/>
          <p:nvPr/>
        </p:nvSpPr>
        <p:spPr>
          <a:xfrm>
            <a:off x="502920" y="5120640"/>
            <a:ext cx="45720" cy="1143000"/>
          </a:xfrm>
          <a:prstGeom prst="rect">
            <a:avLst/>
          </a:prstGeom>
          <a:solidFill>
            <a:srgbClr val="B45309"/>
          </a:solidFill>
          <a:ln w="12700">
            <a:solidFill>
              <a:srgbClr val="B45309"/>
            </a:solidFill>
            <a:prstDash val="solid"/>
          </a:ln>
        </p:spPr>
      </p:sp>
      <p:sp>
        <p:nvSpPr>
          <p:cNvPr id="22" name="Text 20"/>
          <p:cNvSpPr/>
          <p:nvPr/>
        </p:nvSpPr>
        <p:spPr>
          <a:xfrm>
            <a:off x="685800" y="521208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ALL OF IT WORKED — AND ALL OF IT WAS TEDIOUS</a:t>
            </a:r>
            <a:endParaRPr lang="en-US" sz="900" dirty="0"/>
          </a:p>
        </p:txBody>
      </p:sp>
      <p:sp>
        <p:nvSpPr>
          <p:cNvPr id="23" name="Text 21"/>
          <p:cNvSpPr/>
          <p:nvPr/>
        </p:nvSpPr>
        <p:spPr>
          <a:xfrm>
            <a:off x="685800" y="541324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Real applications need multiple tools, multiple steps, dynamic input.</a:t>
            </a:r>
            <a:endParaRPr lang="en-US" sz="1300" dirty="0"/>
          </a:p>
        </p:txBody>
      </p:sp>
      <p:sp>
        <p:nvSpPr>
          <p:cNvPr id="24" name="Text 22"/>
          <p:cNvSpPr/>
          <p:nvPr/>
        </p:nvSpPr>
        <p:spPr>
          <a:xfrm>
            <a:off x="685800" y="5705856"/>
            <a:ext cx="10911535" cy="46634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Not hardcoded prompts. Not single round-trips. The manual approach scales poorly. Time to collapse the plumbing.</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8 · DEFINITION</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31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8</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What is an agent?</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"Agentic AI" usually means this. It's an orchestration pattern, not a new kind of model.</a:t>
            </a:r>
            <a:endParaRPr lang="en-US" sz="1400" dirty="0"/>
          </a:p>
        </p:txBody>
      </p:sp>
      <p:sp>
        <p:nvSpPr>
          <p:cNvPr id="9" name="Shape 7"/>
          <p:cNvSpPr/>
          <p:nvPr/>
        </p:nvSpPr>
        <p:spPr>
          <a:xfrm>
            <a:off x="502920" y="1965960"/>
            <a:ext cx="11185855" cy="2194560"/>
          </a:xfrm>
          <a:prstGeom prst="rect">
            <a:avLst/>
          </a:prstGeom>
          <a:solidFill>
            <a:srgbClr val="FEF3C7"/>
          </a:solidFill>
          <a:ln w="12700">
            <a:solidFill>
              <a:srgbClr val="B45309"/>
            </a:solidFill>
            <a:prstDash val="solid"/>
          </a:ln>
        </p:spPr>
      </p:sp>
      <p:sp>
        <p:nvSpPr>
          <p:cNvPr id="10" name="Shape 8"/>
          <p:cNvSpPr/>
          <p:nvPr/>
        </p:nvSpPr>
        <p:spPr>
          <a:xfrm>
            <a:off x="502920" y="1965960"/>
            <a:ext cx="73152" cy="2194560"/>
          </a:xfrm>
          <a:prstGeom prst="rect">
            <a:avLst/>
          </a:prstGeom>
          <a:solidFill>
            <a:srgbClr val="B45309"/>
          </a:solidFill>
          <a:ln w="12700">
            <a:solidFill>
              <a:srgbClr val="B45309"/>
            </a:solidFill>
            <a:prstDash val="solid"/>
          </a:ln>
        </p:spPr>
      </p:sp>
      <p:sp>
        <p:nvSpPr>
          <p:cNvPr id="11" name="Text 9"/>
          <p:cNvSpPr/>
          <p:nvPr/>
        </p:nvSpPr>
        <p:spPr>
          <a:xfrm>
            <a:off x="777240" y="2103120"/>
            <a:ext cx="10911535" cy="365760"/>
          </a:xfrm>
          <a:prstGeom prst="rect">
            <a:avLst/>
          </a:prstGeom>
          <a:noFill/>
          <a:ln/>
        </p:spPr>
        <p:txBody>
          <a:bodyPr wrap="square" lIns="0" tIns="0" rIns="0" bIns="0" rtlCol="0" anchor="ctr"/>
          <a:lstStyle/>
          <a:p>
            <a:pPr indent="0" marL="0">
              <a:buNone/>
            </a:pPr>
            <a:r>
              <a:rPr lang="en-US" sz="1800" dirty="0">
                <a:solidFill>
                  <a:srgbClr val="0F172A"/>
                </a:solidFill>
                <a:latin typeface="Georgia" pitchFamily="34" charset="0"/>
                <a:ea typeface="Georgia" pitchFamily="34" charset="-122"/>
                <a:cs typeface="Georgia" pitchFamily="34" charset="-120"/>
              </a:rPr>
              <a:t>An agent is a system that lets the model:</a:t>
            </a:r>
            <a:endParaRPr lang="en-US" sz="1800" dirty="0"/>
          </a:p>
        </p:txBody>
      </p:sp>
      <p:sp>
        <p:nvSpPr>
          <p:cNvPr id="12" name="Text 10"/>
          <p:cNvSpPr/>
          <p:nvPr/>
        </p:nvSpPr>
        <p:spPr>
          <a:xfrm>
            <a:off x="1005840" y="2560320"/>
            <a:ext cx="10728655" cy="32004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  Think through a problem</a:t>
            </a:r>
            <a:endParaRPr lang="en-US" sz="1600" dirty="0"/>
          </a:p>
        </p:txBody>
      </p:sp>
      <p:sp>
        <p:nvSpPr>
          <p:cNvPr id="13" name="Text 11"/>
          <p:cNvSpPr/>
          <p:nvPr/>
        </p:nvSpPr>
        <p:spPr>
          <a:xfrm>
            <a:off x="1005840" y="2926080"/>
            <a:ext cx="10728655" cy="32004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  Decide what action to take next</a:t>
            </a:r>
            <a:endParaRPr lang="en-US" sz="1600" dirty="0"/>
          </a:p>
        </p:txBody>
      </p:sp>
      <p:sp>
        <p:nvSpPr>
          <p:cNvPr id="14" name="Text 12"/>
          <p:cNvSpPr/>
          <p:nvPr/>
        </p:nvSpPr>
        <p:spPr>
          <a:xfrm>
            <a:off x="1005840" y="3291840"/>
            <a:ext cx="10728655" cy="32004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  Use tools if needed</a:t>
            </a:r>
            <a:endParaRPr lang="en-US" sz="1600" dirty="0"/>
          </a:p>
        </p:txBody>
      </p:sp>
      <p:sp>
        <p:nvSpPr>
          <p:cNvPr id="15" name="Text 13"/>
          <p:cNvSpPr/>
          <p:nvPr/>
        </p:nvSpPr>
        <p:spPr>
          <a:xfrm>
            <a:off x="1005840" y="3657600"/>
            <a:ext cx="10728655" cy="32004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  Repeat until it reaches a final answer</a:t>
            </a:r>
            <a:endParaRPr lang="en-US" sz="1600" dirty="0"/>
          </a:p>
        </p:txBody>
      </p:sp>
      <p:sp>
        <p:nvSpPr>
          <p:cNvPr id="16" name="Shape 14"/>
          <p:cNvSpPr/>
          <p:nvPr/>
        </p:nvSpPr>
        <p:spPr>
          <a:xfrm>
            <a:off x="502920" y="4389120"/>
            <a:ext cx="11185855" cy="1874520"/>
          </a:xfrm>
          <a:prstGeom prst="rect">
            <a:avLst/>
          </a:prstGeom>
          <a:solidFill>
            <a:srgbClr val="F1F5F9"/>
          </a:solidFill>
          <a:ln w="12700">
            <a:solidFill>
              <a:srgbClr val="F1F5F9"/>
            </a:solidFill>
            <a:prstDash val="solid"/>
          </a:ln>
        </p:spPr>
      </p:sp>
      <p:sp>
        <p:nvSpPr>
          <p:cNvPr id="17" name="Shape 15"/>
          <p:cNvSpPr/>
          <p:nvPr/>
        </p:nvSpPr>
        <p:spPr>
          <a:xfrm>
            <a:off x="502920" y="4389120"/>
            <a:ext cx="45720" cy="1874520"/>
          </a:xfrm>
          <a:prstGeom prst="rect">
            <a:avLst/>
          </a:prstGeom>
          <a:solidFill>
            <a:srgbClr val="B45309"/>
          </a:solidFill>
          <a:ln w="12700">
            <a:solidFill>
              <a:srgbClr val="B45309"/>
            </a:solidFill>
            <a:prstDash val="solid"/>
          </a:ln>
        </p:spPr>
      </p:sp>
      <p:sp>
        <p:nvSpPr>
          <p:cNvPr id="18" name="Text 16"/>
          <p:cNvSpPr/>
          <p:nvPr/>
        </p:nvSpPr>
        <p:spPr>
          <a:xfrm>
            <a:off x="685800" y="448056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UNDER THE HOOD</a:t>
            </a:r>
            <a:endParaRPr lang="en-US" sz="900" dirty="0"/>
          </a:p>
        </p:txBody>
      </p:sp>
      <p:sp>
        <p:nvSpPr>
          <p:cNvPr id="19" name="Text 17"/>
          <p:cNvSpPr/>
          <p:nvPr/>
        </p:nvSpPr>
        <p:spPr>
          <a:xfrm>
            <a:off x="685800" y="468172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The model may be called multiple times in a loop until the task is complete.</a:t>
            </a:r>
            <a:endParaRPr lang="en-US" sz="1300" dirty="0"/>
          </a:p>
        </p:txBody>
      </p:sp>
      <p:sp>
        <p:nvSpPr>
          <p:cNvPr id="20" name="Text 18"/>
          <p:cNvSpPr/>
          <p:nvPr/>
        </p:nvSpPr>
        <p:spPr>
          <a:xfrm>
            <a:off x="685800" y="4974336"/>
            <a:ext cx="10911535" cy="119786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A single agent invocation can mean 1, 3, 10, or 20 Converse calls behind the scenes. Tool use, reasoning, more tool use, reflection, final answer. The agent class manages that loop for you.</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8 · THE FRAMEWORK</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32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8</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Strands Agents SDK</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An open-source framework from AWS that handles the orchestration we've been doing manually.</a:t>
            </a:r>
            <a:endParaRPr lang="en-US" sz="1400" dirty="0"/>
          </a:p>
        </p:txBody>
      </p:sp>
      <p:sp>
        <p:nvSpPr>
          <p:cNvPr id="9" name="Text 7"/>
          <p:cNvSpPr/>
          <p:nvPr/>
        </p:nvSpPr>
        <p:spPr>
          <a:xfrm>
            <a:off x="502920" y="2103120"/>
            <a:ext cx="11185855"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WHAT STRANDS DOES</a:t>
            </a:r>
            <a:endParaRPr lang="en-US" sz="1000" dirty="0"/>
          </a:p>
        </p:txBody>
      </p:sp>
      <p:sp>
        <p:nvSpPr>
          <p:cNvPr id="10" name="Text 8"/>
          <p:cNvSpPr/>
          <p:nvPr/>
        </p:nvSpPr>
        <p:spPr>
          <a:xfrm>
            <a:off x="502920" y="2468880"/>
            <a:ext cx="11185855" cy="3200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  Integrates directly with Bedrock (and supports other model providers)</a:t>
            </a:r>
            <a:endParaRPr lang="en-US" sz="1300" dirty="0"/>
          </a:p>
        </p:txBody>
      </p:sp>
      <p:sp>
        <p:nvSpPr>
          <p:cNvPr id="11" name="Text 9"/>
          <p:cNvSpPr/>
          <p:nvPr/>
        </p:nvSpPr>
        <p:spPr>
          <a:xfrm>
            <a:off x="502920" y="2834640"/>
            <a:ext cx="11185855" cy="3200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  Handles the message loop, the tool dispatch, the multi-turn state — everything we built by hand</a:t>
            </a:r>
            <a:endParaRPr lang="en-US" sz="1300" dirty="0"/>
          </a:p>
        </p:txBody>
      </p:sp>
      <p:sp>
        <p:nvSpPr>
          <p:cNvPr id="12" name="Shape 10"/>
          <p:cNvSpPr/>
          <p:nvPr/>
        </p:nvSpPr>
        <p:spPr>
          <a:xfrm>
            <a:off x="502920" y="3611880"/>
            <a:ext cx="11185855" cy="1645920"/>
          </a:xfrm>
          <a:prstGeom prst="rect">
            <a:avLst/>
          </a:prstGeom>
          <a:solidFill>
            <a:srgbClr val="0F172A"/>
          </a:solidFill>
          <a:ln w="12700">
            <a:solidFill>
              <a:srgbClr val="0F172A"/>
            </a:solidFill>
            <a:prstDash val="solid"/>
          </a:ln>
        </p:spPr>
      </p:sp>
      <p:sp>
        <p:nvSpPr>
          <p:cNvPr id="13" name="Text 11"/>
          <p:cNvSpPr/>
          <p:nvPr/>
        </p:nvSpPr>
        <p:spPr>
          <a:xfrm>
            <a:off x="777240" y="3703320"/>
            <a:ext cx="10911535" cy="274320"/>
          </a:xfrm>
          <a:prstGeom prst="rect">
            <a:avLst/>
          </a:prstGeom>
          <a:noFill/>
          <a:ln/>
        </p:spPr>
        <p:txBody>
          <a:bodyPr wrap="square" lIns="0" tIns="0" rIns="0" bIns="0" rtlCol="0" anchor="ctr"/>
          <a:lstStyle/>
          <a:p>
            <a:pPr indent="0" marL="0">
              <a:buNone/>
            </a:pPr>
            <a:r>
              <a:rPr lang="en-US" sz="1000" b="1" spc="300" kern="0" dirty="0">
                <a:solidFill>
                  <a:srgbClr val="B45309"/>
                </a:solidFill>
                <a:latin typeface="Calibri" pitchFamily="34" charset="0"/>
                <a:ea typeface="Calibri" pitchFamily="34" charset="-122"/>
                <a:cs typeface="Calibri" pitchFamily="34" charset="-120"/>
              </a:rPr>
              <a:t>Important framing</a:t>
            </a:r>
            <a:endParaRPr lang="en-US" sz="1000" dirty="0"/>
          </a:p>
        </p:txBody>
      </p:sp>
      <p:sp>
        <p:nvSpPr>
          <p:cNvPr id="14" name="Text 12"/>
          <p:cNvSpPr/>
          <p:nvPr/>
        </p:nvSpPr>
        <p:spPr>
          <a:xfrm>
            <a:off x="777240" y="4023360"/>
            <a:ext cx="10911535"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Under the hood, Strands is calling the same Converse API we've been using all along.</a:t>
            </a:r>
            <a:endParaRPr lang="en-US" sz="1900" dirty="0"/>
          </a:p>
        </p:txBody>
      </p:sp>
      <p:sp>
        <p:nvSpPr>
          <p:cNvPr id="15" name="Text 13"/>
          <p:cNvSpPr/>
          <p:nvPr/>
        </p:nvSpPr>
        <p:spPr>
          <a:xfrm>
            <a:off x="777240" y="4526280"/>
            <a:ext cx="10911535" cy="457200"/>
          </a:xfrm>
          <a:prstGeom prst="rect">
            <a:avLst/>
          </a:prstGeom>
          <a:noFill/>
          <a:ln/>
        </p:spPr>
        <p:txBody>
          <a:bodyPr wrap="square" lIns="0" tIns="0" rIns="0" bIns="0" rtlCol="0" anchor="ctr"/>
          <a:lstStyle/>
          <a:p>
            <a:pPr indent="0" marL="0">
              <a:buNone/>
            </a:pPr>
            <a:r>
              <a:rPr lang="en-US" sz="1400" i="1" dirty="0">
                <a:solidFill>
                  <a:srgbClr val="E2E8F0"/>
                </a:solidFill>
                <a:latin typeface="Calibri" pitchFamily="34" charset="0"/>
                <a:ea typeface="Calibri" pitchFamily="34" charset="-122"/>
                <a:cs typeface="Calibri" pitchFamily="34" charset="-120"/>
              </a:rPr>
              <a:t>That's why we did everything by hand first. The framework isn't magic. It's the same calls, wrapped.</a:t>
            </a:r>
            <a:endParaRPr lang="en-US" sz="1400" dirty="0"/>
          </a:p>
        </p:txBody>
      </p:sp>
      <p:sp>
        <p:nvSpPr>
          <p:cNvPr id="16" name="Shape 14"/>
          <p:cNvSpPr/>
          <p:nvPr/>
        </p:nvSpPr>
        <p:spPr>
          <a:xfrm>
            <a:off x="502920" y="5440680"/>
            <a:ext cx="11185855" cy="822960"/>
          </a:xfrm>
          <a:prstGeom prst="rect">
            <a:avLst/>
          </a:prstGeom>
          <a:solidFill>
            <a:srgbClr val="F1F5F9"/>
          </a:solidFill>
          <a:ln w="12700">
            <a:solidFill>
              <a:srgbClr val="F1F5F9"/>
            </a:solidFill>
            <a:prstDash val="solid"/>
          </a:ln>
        </p:spPr>
      </p:sp>
      <p:sp>
        <p:nvSpPr>
          <p:cNvPr id="17" name="Shape 15"/>
          <p:cNvSpPr/>
          <p:nvPr/>
        </p:nvSpPr>
        <p:spPr>
          <a:xfrm>
            <a:off x="502920" y="5440680"/>
            <a:ext cx="45720" cy="822960"/>
          </a:xfrm>
          <a:prstGeom prst="rect">
            <a:avLst/>
          </a:prstGeom>
          <a:solidFill>
            <a:srgbClr val="B45309"/>
          </a:solidFill>
          <a:ln w="12700">
            <a:solidFill>
              <a:srgbClr val="B45309"/>
            </a:solidFill>
            <a:prstDash val="solid"/>
          </a:ln>
        </p:spPr>
      </p:sp>
      <p:sp>
        <p:nvSpPr>
          <p:cNvPr id="18" name="Text 16"/>
          <p:cNvSpPr/>
          <p:nvPr/>
        </p:nvSpPr>
        <p:spPr>
          <a:xfrm>
            <a:off x="685800" y="553212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PAYOFF FROM DECK 1</a:t>
            </a:r>
            <a:endParaRPr lang="en-US" sz="900" dirty="0"/>
          </a:p>
        </p:txBody>
      </p:sp>
      <p:sp>
        <p:nvSpPr>
          <p:cNvPr id="19" name="Text 17"/>
          <p:cNvSpPr/>
          <p:nvPr/>
        </p:nvSpPr>
        <p:spPr>
          <a:xfrm>
            <a:off x="685800" y="5733288"/>
            <a:ext cx="10911535" cy="43891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When the agent does something unexpected, you know what's happening underneath. You can drop back to Converse to debug. That's the value of learning the hard way first.</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8 · SETUP</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33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8</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Install</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Two packages. The core framework plus a library of useful built-in tools.</a:t>
            </a:r>
            <a:endParaRPr lang="en-US" sz="1400" dirty="0"/>
          </a:p>
        </p:txBody>
      </p:sp>
      <p:sp>
        <p:nvSpPr>
          <p:cNvPr id="9" name="Shape 7"/>
          <p:cNvSpPr/>
          <p:nvPr/>
        </p:nvSpPr>
        <p:spPr>
          <a:xfrm>
            <a:off x="502920" y="2194560"/>
            <a:ext cx="11185855" cy="640080"/>
          </a:xfrm>
          <a:prstGeom prst="rect">
            <a:avLst/>
          </a:prstGeom>
          <a:solidFill>
            <a:srgbClr val="0F172A"/>
          </a:solidFill>
          <a:ln w="12700">
            <a:solidFill>
              <a:srgbClr val="0F172A"/>
            </a:solidFill>
            <a:prstDash val="solid"/>
          </a:ln>
        </p:spPr>
      </p:sp>
      <p:sp>
        <p:nvSpPr>
          <p:cNvPr id="10" name="Text 8"/>
          <p:cNvSpPr/>
          <p:nvPr/>
        </p:nvSpPr>
        <p:spPr>
          <a:xfrm>
            <a:off x="667512" y="2304288"/>
            <a:ext cx="10856671" cy="420624"/>
          </a:xfrm>
          <a:prstGeom prst="rect">
            <a:avLst/>
          </a:prstGeom>
          <a:noFill/>
          <a:ln/>
        </p:spPr>
        <p:txBody>
          <a:bodyPr wrap="square" lIns="0" tIns="0" rIns="0" bIns="0" rtlCol="0" anchor="t"/>
          <a:lstStyle/>
          <a:p>
            <a:pPr indent="0" marL="0">
              <a:buNone/>
            </a:pPr>
            <a:r>
              <a:rPr lang="en-US" sz="1800" dirty="0">
                <a:solidFill>
                  <a:srgbClr val="E2E8F0"/>
                </a:solidFill>
                <a:latin typeface="Consolas" pitchFamily="34" charset="0"/>
                <a:ea typeface="Consolas" pitchFamily="34" charset="-122"/>
                <a:cs typeface="Consolas" pitchFamily="34" charset="-120"/>
              </a:rPr>
              <a:t>pip install strands-agents strands-agents-tools</a:t>
            </a:r>
            <a:endParaRPr lang="en-US" sz="1800" dirty="0"/>
          </a:p>
        </p:txBody>
      </p:sp>
      <p:sp>
        <p:nvSpPr>
          <p:cNvPr id="11" name="Shape 9"/>
          <p:cNvSpPr/>
          <p:nvPr/>
        </p:nvSpPr>
        <p:spPr>
          <a:xfrm>
            <a:off x="502920" y="3200400"/>
            <a:ext cx="11185855" cy="1005840"/>
          </a:xfrm>
          <a:prstGeom prst="rect">
            <a:avLst/>
          </a:prstGeom>
          <a:solidFill>
            <a:srgbClr val="F8FAFC"/>
          </a:solidFill>
          <a:ln w="6350">
            <a:solidFill>
              <a:srgbClr val="E2E8F0"/>
            </a:solidFill>
            <a:prstDash val="solid"/>
          </a:ln>
        </p:spPr>
      </p:sp>
      <p:sp>
        <p:nvSpPr>
          <p:cNvPr id="12" name="Text 10"/>
          <p:cNvSpPr/>
          <p:nvPr/>
        </p:nvSpPr>
        <p:spPr>
          <a:xfrm>
            <a:off x="777240" y="3337560"/>
            <a:ext cx="10911535" cy="320040"/>
          </a:xfrm>
          <a:prstGeom prst="rect">
            <a:avLst/>
          </a:prstGeom>
          <a:noFill/>
          <a:ln/>
        </p:spPr>
        <p:txBody>
          <a:bodyPr wrap="square" lIns="0" tIns="0" rIns="0" bIns="0" rtlCol="0" anchor="ctr"/>
          <a:lstStyle/>
          <a:p>
            <a:pPr indent="0" marL="0">
              <a:buNone/>
            </a:pPr>
            <a:r>
              <a:rPr lang="en-US" sz="1600" b="1" dirty="0">
                <a:solidFill>
                  <a:srgbClr val="B45309"/>
                </a:solidFill>
                <a:latin typeface="Consolas" pitchFamily="34" charset="0"/>
                <a:ea typeface="Consolas" pitchFamily="34" charset="-122"/>
                <a:cs typeface="Consolas" pitchFamily="34" charset="-120"/>
              </a:rPr>
              <a:t>strands-agents</a:t>
            </a:r>
            <a:endParaRPr lang="en-US" sz="1600" dirty="0"/>
          </a:p>
        </p:txBody>
      </p:sp>
      <p:sp>
        <p:nvSpPr>
          <p:cNvPr id="13" name="Text 11"/>
          <p:cNvSpPr/>
          <p:nvPr/>
        </p:nvSpPr>
        <p:spPr>
          <a:xfrm>
            <a:off x="777240" y="3657600"/>
            <a:ext cx="10911535" cy="50292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The core framework. Agent class, @tool decorator, model adapters (BedrockModel and others).</a:t>
            </a:r>
            <a:endParaRPr lang="en-US" sz="1200" dirty="0"/>
          </a:p>
        </p:txBody>
      </p:sp>
      <p:sp>
        <p:nvSpPr>
          <p:cNvPr id="14" name="Shape 12"/>
          <p:cNvSpPr/>
          <p:nvPr/>
        </p:nvSpPr>
        <p:spPr>
          <a:xfrm>
            <a:off x="502920" y="4389120"/>
            <a:ext cx="11185855" cy="1005840"/>
          </a:xfrm>
          <a:prstGeom prst="rect">
            <a:avLst/>
          </a:prstGeom>
          <a:solidFill>
            <a:srgbClr val="F8FAFC"/>
          </a:solidFill>
          <a:ln w="6350">
            <a:solidFill>
              <a:srgbClr val="E2E8F0"/>
            </a:solidFill>
            <a:prstDash val="solid"/>
          </a:ln>
        </p:spPr>
      </p:sp>
      <p:sp>
        <p:nvSpPr>
          <p:cNvPr id="15" name="Text 13"/>
          <p:cNvSpPr/>
          <p:nvPr/>
        </p:nvSpPr>
        <p:spPr>
          <a:xfrm>
            <a:off x="777240" y="4526280"/>
            <a:ext cx="10911535" cy="320040"/>
          </a:xfrm>
          <a:prstGeom prst="rect">
            <a:avLst/>
          </a:prstGeom>
          <a:noFill/>
          <a:ln/>
        </p:spPr>
        <p:txBody>
          <a:bodyPr wrap="square" lIns="0" tIns="0" rIns="0" bIns="0" rtlCol="0" anchor="ctr"/>
          <a:lstStyle/>
          <a:p>
            <a:pPr indent="0" marL="0">
              <a:buNone/>
            </a:pPr>
            <a:r>
              <a:rPr lang="en-US" sz="1600" b="1" dirty="0">
                <a:solidFill>
                  <a:srgbClr val="B45309"/>
                </a:solidFill>
                <a:latin typeface="Consolas" pitchFamily="34" charset="0"/>
                <a:ea typeface="Consolas" pitchFamily="34" charset="-122"/>
                <a:cs typeface="Consolas" pitchFamily="34" charset="-120"/>
              </a:rPr>
              <a:t>strands-agents-tools</a:t>
            </a:r>
            <a:endParaRPr lang="en-US" sz="1600" dirty="0"/>
          </a:p>
        </p:txBody>
      </p:sp>
      <p:sp>
        <p:nvSpPr>
          <p:cNvPr id="16" name="Text 14"/>
          <p:cNvSpPr/>
          <p:nvPr/>
        </p:nvSpPr>
        <p:spPr>
          <a:xfrm>
            <a:off x="777240" y="4846320"/>
            <a:ext cx="10911535" cy="50292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Useful built-in tools. Includes retrieve — the tool that wraps Bedrock Knowledge Bases. You'll use this.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8 · THE GOAL</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34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8</a:t>
            </a:r>
            <a:endParaRPr lang="en-US" sz="900" dirty="0"/>
          </a:p>
        </p:txBody>
      </p:sp>
      <p:sp>
        <p:nvSpPr>
          <p:cNvPr id="7" name="Text 5"/>
          <p:cNvSpPr/>
          <p:nvPr/>
        </p:nvSpPr>
        <p:spPr>
          <a:xfrm>
            <a:off x="502920" y="640080"/>
            <a:ext cx="11185855" cy="640080"/>
          </a:xfrm>
          <a:prstGeom prst="rect">
            <a:avLst/>
          </a:prstGeom>
          <a:noFill/>
          <a:ln/>
        </p:spPr>
        <p:txBody>
          <a:bodyPr wrap="square" lIns="0" tIns="0" rIns="0" bIns="0" rtlCol="0" anchor="ctr"/>
          <a:lstStyle/>
          <a:p>
            <a:pPr indent="0" marL="0">
              <a:buNone/>
            </a:pPr>
            <a:r>
              <a:rPr lang="en-US" sz="2400" b="1" dirty="0">
                <a:solidFill>
                  <a:srgbClr val="0F172A"/>
                </a:solidFill>
                <a:latin typeface="Georgia" pitchFamily="34" charset="0"/>
                <a:ea typeface="Georgia" pitchFamily="34" charset="-122"/>
                <a:cs typeface="Georgia" pitchFamily="34" charset="-120"/>
              </a:rPr>
              <a:t>The university chatbot, complete — we'll break it down next</a:t>
            </a:r>
            <a:endParaRPr lang="en-US" sz="2400" dirty="0"/>
          </a:p>
        </p:txBody>
      </p:sp>
      <p:sp>
        <p:nvSpPr>
          <p:cNvPr id="8" name="Text 6"/>
          <p:cNvSpPr/>
          <p:nvPr/>
        </p:nvSpPr>
        <p:spPr>
          <a:xfrm>
            <a:off x="502920" y="114300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KB + custom tool + guardrail + model, under 50 lines.</a:t>
            </a:r>
            <a:endParaRPr lang="en-US" sz="1400" dirty="0"/>
          </a:p>
        </p:txBody>
      </p:sp>
      <p:sp>
        <p:nvSpPr>
          <p:cNvPr id="9" name="Shape 7"/>
          <p:cNvSpPr/>
          <p:nvPr/>
        </p:nvSpPr>
        <p:spPr>
          <a:xfrm>
            <a:off x="502920" y="1554480"/>
            <a:ext cx="11185855" cy="4846320"/>
          </a:xfrm>
          <a:prstGeom prst="rect">
            <a:avLst/>
          </a:prstGeom>
          <a:solidFill>
            <a:srgbClr val="0F172A"/>
          </a:solidFill>
          <a:ln w="12700">
            <a:solidFill>
              <a:srgbClr val="0F172A"/>
            </a:solidFill>
            <a:prstDash val="solid"/>
          </a:ln>
        </p:spPr>
      </p:sp>
      <p:sp>
        <p:nvSpPr>
          <p:cNvPr id="10" name="Text 8"/>
          <p:cNvSpPr/>
          <p:nvPr/>
        </p:nvSpPr>
        <p:spPr>
          <a:xfrm>
            <a:off x="667512" y="1664208"/>
            <a:ext cx="10856671" cy="4626864"/>
          </a:xfrm>
          <a:prstGeom prst="rect">
            <a:avLst/>
          </a:prstGeom>
          <a:noFill/>
          <a:ln/>
        </p:spPr>
        <p:txBody>
          <a:bodyPr wrap="square" lIns="0" tIns="0" rIns="0" bIns="0" rtlCol="0" anchor="t"/>
          <a:lstStyle/>
          <a:p>
            <a:pPr indent="0" marL="0">
              <a:buNone/>
            </a:pPr>
            <a:r>
              <a:rPr lang="en-US" sz="1050" dirty="0">
                <a:solidFill>
                  <a:srgbClr val="E2E8F0"/>
                </a:solidFill>
                <a:latin typeface="Consolas" pitchFamily="34" charset="0"/>
                <a:ea typeface="Consolas" pitchFamily="34" charset="-122"/>
                <a:cs typeface="Consolas" pitchFamily="34" charset="-120"/>
              </a:rPr>
              <a:t>from strands import Agent, tool</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from strands.models import BedrockModel</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from strands_tools import retrieve</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import os</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KB_ID = "YOUR_KB_ID"</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GR_ID, GR_VER = "YOUR_GR_ID", "1"</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MODEL_ID = "us.amazon.nova-lite-v1:0"</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@tool</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def lookup_course(department: str, course_number: str) -&gt; str:</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"""Look up schedule and details for a specific course."""</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  # In a real app, query a course catalog API</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def create_university_agent():</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os.environ["KNOWLEDGE_BASE_ID"] = KB_ID</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os.environ["AWS_REGION"] = "us-east-1"</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model = BedrockModel(</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model_id=MODEL_ID, region_name="us-east-1",</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temperature=0.3, max_tokens=2000,</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guardrail_id=GR_ID, guardrail_version=GR_VER,</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prompt = ("You are the University virtual assistant.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"Use retrieve for KB. Use lookup_course for classes.")</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return Agent(model=model, tools=[retrieve, lookup_course],</a:t>
            </a:r>
            <a:endParaRPr lang="en-US" sz="1050" dirty="0"/>
          </a:p>
          <a:p>
            <a:pPr indent="0" marL="0">
              <a:buNone/>
            </a:pPr>
            <a:r>
              <a:rPr lang="en-US" sz="1050" dirty="0">
                <a:solidFill>
                  <a:srgbClr val="E2E8F0"/>
                </a:solidFill>
                <a:latin typeface="Consolas" pitchFamily="34" charset="0"/>
                <a:ea typeface="Consolas" pitchFamily="34" charset="-122"/>
                <a:cs typeface="Consolas" pitchFamily="34" charset="-120"/>
              </a:rPr>
              <a:t>                 system_prompt=prompt)</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8 · WALKTHROUGH · PART 1 OF 5</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35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8</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@tool decorator — boilerplate disappears</a:t>
            </a:r>
            <a:endParaRPr lang="en-US" sz="2800" dirty="0"/>
          </a:p>
        </p:txBody>
      </p:sp>
      <p:sp>
        <p:nvSpPr>
          <p:cNvPr id="8" name="Shape 6"/>
          <p:cNvSpPr/>
          <p:nvPr/>
        </p:nvSpPr>
        <p:spPr>
          <a:xfrm>
            <a:off x="502920" y="1691640"/>
            <a:ext cx="11185855" cy="3474720"/>
          </a:xfrm>
          <a:prstGeom prst="rect">
            <a:avLst/>
          </a:prstGeom>
          <a:solidFill>
            <a:srgbClr val="0F172A"/>
          </a:solidFill>
          <a:ln w="12700">
            <a:solidFill>
              <a:srgbClr val="0F172A"/>
            </a:solidFill>
            <a:prstDash val="solid"/>
          </a:ln>
        </p:spPr>
      </p:sp>
      <p:sp>
        <p:nvSpPr>
          <p:cNvPr id="9" name="Text 7"/>
          <p:cNvSpPr/>
          <p:nvPr/>
        </p:nvSpPr>
        <p:spPr>
          <a:xfrm>
            <a:off x="667512" y="1801368"/>
            <a:ext cx="10856671" cy="3255264"/>
          </a:xfrm>
          <a:prstGeom prst="rect">
            <a:avLst/>
          </a:prstGeom>
          <a:noFill/>
          <a:ln/>
        </p:spPr>
        <p:txBody>
          <a:bodyPr wrap="square" lIns="0" tIns="0" rIns="0" bIns="0"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from strands import Agent, tool</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@tool</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def lookup_course(department: str, course_number: str) -&gt; str:</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"""Look up schedule and details for a specific course.</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Use this when a student asks about a particular class,</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like "When does CS 201 meet?" or "Who teaches BIO 101?"</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Args:</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department: The department code (e.g., "CS", "BIO").</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course_number: The course number (e.g., "101", "201").</a:t>
            </a:r>
            <a:endParaRPr lang="en-US" sz="1100" dirty="0"/>
          </a:p>
          <a:p>
            <a:pPr indent="0" marL="0">
              <a:buNone/>
            </a:pPr>
            <a:r>
              <a:rPr lang="en-US" sz="1100" b="1" dirty="0">
                <a:solidFill>
                  <a:srgbClr val="6EE7B7"/>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 your business logic ...</a:t>
            </a:r>
            <a:endParaRPr lang="en-US" sz="1100" dirty="0"/>
          </a:p>
        </p:txBody>
      </p:sp>
      <p:sp>
        <p:nvSpPr>
          <p:cNvPr id="10" name="Shape 8"/>
          <p:cNvSpPr/>
          <p:nvPr/>
        </p:nvSpPr>
        <p:spPr>
          <a:xfrm>
            <a:off x="502920" y="5303520"/>
            <a:ext cx="11185855" cy="960120"/>
          </a:xfrm>
          <a:prstGeom prst="rect">
            <a:avLst/>
          </a:prstGeom>
          <a:solidFill>
            <a:srgbClr val="F1F5F9"/>
          </a:solidFill>
          <a:ln w="12700">
            <a:solidFill>
              <a:srgbClr val="F1F5F9"/>
            </a:solidFill>
            <a:prstDash val="solid"/>
          </a:ln>
        </p:spPr>
      </p:sp>
      <p:sp>
        <p:nvSpPr>
          <p:cNvPr id="11" name="Shape 9"/>
          <p:cNvSpPr/>
          <p:nvPr/>
        </p:nvSpPr>
        <p:spPr>
          <a:xfrm>
            <a:off x="502920" y="5303520"/>
            <a:ext cx="45720" cy="960120"/>
          </a:xfrm>
          <a:prstGeom prst="rect">
            <a:avLst/>
          </a:prstGeom>
          <a:solidFill>
            <a:srgbClr val="B45309"/>
          </a:solidFill>
          <a:ln w="12700">
            <a:solidFill>
              <a:srgbClr val="B45309"/>
            </a:solidFill>
            <a:prstDash val="solid"/>
          </a:ln>
        </p:spPr>
      </p:sp>
      <p:sp>
        <p:nvSpPr>
          <p:cNvPr id="12" name="Text 10"/>
          <p:cNvSpPr/>
          <p:nvPr/>
        </p:nvSpPr>
        <p:spPr>
          <a:xfrm>
            <a:off x="685800" y="539496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WHAT JUST DISAPPEARED</a:t>
            </a:r>
            <a:endParaRPr lang="en-US" sz="900" dirty="0"/>
          </a:p>
        </p:txBody>
      </p:sp>
      <p:sp>
        <p:nvSpPr>
          <p:cNvPr id="13" name="Text 11"/>
          <p:cNvSpPr/>
          <p:nvPr/>
        </p:nvSpPr>
        <p:spPr>
          <a:xfrm>
            <a:off x="685800" y="559612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TOOL_CONFIG, TOOL_FUNCTIONS, run_tool — all gone.</a:t>
            </a:r>
            <a:endParaRPr lang="en-US" sz="1300" dirty="0"/>
          </a:p>
        </p:txBody>
      </p:sp>
      <p:sp>
        <p:nvSpPr>
          <p:cNvPr id="14" name="Text 12"/>
          <p:cNvSpPr/>
          <p:nvPr/>
        </p:nvSpPr>
        <p:spPr>
          <a:xfrm>
            <a:off x="685800" y="5888736"/>
            <a:ext cx="10911535" cy="28346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Strands reads the function signature → derives the input schema. Reads the docstring → uses it as the description. Reads type hints → derives parameter types. Same info, no boilerplate.</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8 · WALKTHROUGH · PART 2 OF 5</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36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8</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Built-in retrieve tool — KB integration for free</a:t>
            </a:r>
            <a:endParaRPr lang="en-US" sz="3200" dirty="0"/>
          </a:p>
        </p:txBody>
      </p:sp>
      <p:sp>
        <p:nvSpPr>
          <p:cNvPr id="8" name="Shape 6"/>
          <p:cNvSpPr/>
          <p:nvPr/>
        </p:nvSpPr>
        <p:spPr>
          <a:xfrm>
            <a:off x="502920" y="1691640"/>
            <a:ext cx="11185855" cy="1645920"/>
          </a:xfrm>
          <a:prstGeom prst="rect">
            <a:avLst/>
          </a:prstGeom>
          <a:solidFill>
            <a:srgbClr val="0F172A"/>
          </a:solidFill>
          <a:ln w="12700">
            <a:solidFill>
              <a:srgbClr val="0F172A"/>
            </a:solidFill>
            <a:prstDash val="solid"/>
          </a:ln>
        </p:spPr>
      </p:sp>
      <p:sp>
        <p:nvSpPr>
          <p:cNvPr id="9" name="Text 7"/>
          <p:cNvSpPr/>
          <p:nvPr/>
        </p:nvSpPr>
        <p:spPr>
          <a:xfrm>
            <a:off x="667512" y="1801368"/>
            <a:ext cx="10856671" cy="1426464"/>
          </a:xfrm>
          <a:prstGeom prst="rect">
            <a:avLst/>
          </a:prstGeom>
          <a:noFill/>
          <a:ln/>
        </p:spPr>
        <p:txBody>
          <a:bodyPr wrap="square" lIns="0" tIns="0" rIns="0" bIns="0"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from strands_tools import retrieve</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Strands' retrieve tool reads these env vars</a:t>
            </a:r>
            <a:endParaRPr lang="en-US" sz="1300" dirty="0"/>
          </a:p>
          <a:p>
            <a:pPr indent="0" marL="0">
              <a:buNone/>
            </a:pPr>
            <a:r>
              <a:rPr lang="en-US" sz="1300" b="1" dirty="0">
                <a:solidFill>
                  <a:srgbClr val="6EE7B7"/>
                </a:solidFill>
                <a:latin typeface="Consolas" pitchFamily="34" charset="0"/>
                <a:ea typeface="Consolas" pitchFamily="34" charset="-122"/>
                <a:cs typeface="Consolas" pitchFamily="34" charset="-120"/>
              </a:rPr>
              <a:t>os.environ["KNOWLEDGE_BASE_ID"] = KNOWLEDGE_BASE_ID</a:t>
            </a:r>
            <a:endParaRPr lang="en-US" sz="1300" dirty="0"/>
          </a:p>
          <a:p>
            <a:pPr indent="0" marL="0">
              <a:buNone/>
            </a:pPr>
            <a:r>
              <a:rPr lang="en-US" sz="1300" b="1" dirty="0">
                <a:solidFill>
                  <a:srgbClr val="6EE7B7"/>
                </a:solidFill>
                <a:latin typeface="Consolas" pitchFamily="34" charset="0"/>
                <a:ea typeface="Consolas" pitchFamily="34" charset="-122"/>
                <a:cs typeface="Consolas" pitchFamily="34" charset="-120"/>
              </a:rPr>
              <a:t>os.environ["AWS_REGION"] = REGION</a:t>
            </a:r>
            <a:endParaRPr lang="en-US" sz="1300" dirty="0"/>
          </a:p>
        </p:txBody>
      </p:sp>
      <p:sp>
        <p:nvSpPr>
          <p:cNvPr id="10" name="Shape 8"/>
          <p:cNvSpPr/>
          <p:nvPr/>
        </p:nvSpPr>
        <p:spPr>
          <a:xfrm>
            <a:off x="502920" y="3520440"/>
            <a:ext cx="11185855" cy="1097280"/>
          </a:xfrm>
          <a:prstGeom prst="rect">
            <a:avLst/>
          </a:prstGeom>
          <a:solidFill>
            <a:srgbClr val="F1F5F9"/>
          </a:solidFill>
          <a:ln w="12700">
            <a:solidFill>
              <a:srgbClr val="F1F5F9"/>
            </a:solidFill>
            <a:prstDash val="solid"/>
          </a:ln>
        </p:spPr>
      </p:sp>
      <p:sp>
        <p:nvSpPr>
          <p:cNvPr id="11" name="Shape 9"/>
          <p:cNvSpPr/>
          <p:nvPr/>
        </p:nvSpPr>
        <p:spPr>
          <a:xfrm>
            <a:off x="502920" y="3520440"/>
            <a:ext cx="45720" cy="1097280"/>
          </a:xfrm>
          <a:prstGeom prst="rect">
            <a:avLst/>
          </a:prstGeom>
          <a:solidFill>
            <a:srgbClr val="B45309"/>
          </a:solidFill>
          <a:ln w="12700">
            <a:solidFill>
              <a:srgbClr val="B45309"/>
            </a:solidFill>
            <a:prstDash val="solid"/>
          </a:ln>
        </p:spPr>
      </p:sp>
      <p:sp>
        <p:nvSpPr>
          <p:cNvPr id="12" name="Text 10"/>
          <p:cNvSpPr/>
          <p:nvPr/>
        </p:nvSpPr>
        <p:spPr>
          <a:xfrm>
            <a:off x="685800" y="361188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WHAT THIS REPLACES</a:t>
            </a:r>
            <a:endParaRPr lang="en-US" sz="900" dirty="0"/>
          </a:p>
        </p:txBody>
      </p:sp>
      <p:sp>
        <p:nvSpPr>
          <p:cNvPr id="13" name="Text 11"/>
          <p:cNvSpPr/>
          <p:nvPr/>
        </p:nvSpPr>
        <p:spPr>
          <a:xfrm>
            <a:off x="685800" y="381304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You don't write a tool that wraps retrieve_and_generate.</a:t>
            </a:r>
            <a:endParaRPr lang="en-US" sz="1300" dirty="0"/>
          </a:p>
        </p:txBody>
      </p:sp>
      <p:sp>
        <p:nvSpPr>
          <p:cNvPr id="14" name="Text 12"/>
          <p:cNvSpPr/>
          <p:nvPr/>
        </p:nvSpPr>
        <p:spPr>
          <a:xfrm>
            <a:off x="685800" y="4105656"/>
            <a:ext cx="10911535" cy="42062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Strands ships a built-in retrieve tool that works directly with Bedrock Knowledge Bases. You set the KB ID as an env var. The agent decides when to use it.</a:t>
            </a:r>
            <a:endParaRPr lang="en-US" sz="1100" dirty="0"/>
          </a:p>
        </p:txBody>
      </p:sp>
      <p:sp>
        <p:nvSpPr>
          <p:cNvPr id="15" name="Shape 13"/>
          <p:cNvSpPr/>
          <p:nvPr/>
        </p:nvSpPr>
        <p:spPr>
          <a:xfrm>
            <a:off x="502920" y="4754880"/>
            <a:ext cx="11185855" cy="1508760"/>
          </a:xfrm>
          <a:prstGeom prst="rect">
            <a:avLst/>
          </a:prstGeom>
          <a:solidFill>
            <a:srgbClr val="F1F5F9"/>
          </a:solidFill>
          <a:ln w="12700">
            <a:solidFill>
              <a:srgbClr val="F1F5F9"/>
            </a:solidFill>
            <a:prstDash val="solid"/>
          </a:ln>
        </p:spPr>
      </p:sp>
      <p:sp>
        <p:nvSpPr>
          <p:cNvPr id="16" name="Shape 14"/>
          <p:cNvSpPr/>
          <p:nvPr/>
        </p:nvSpPr>
        <p:spPr>
          <a:xfrm>
            <a:off x="502920" y="4754880"/>
            <a:ext cx="45720" cy="1508760"/>
          </a:xfrm>
          <a:prstGeom prst="rect">
            <a:avLst/>
          </a:prstGeom>
          <a:solidFill>
            <a:srgbClr val="B45309"/>
          </a:solidFill>
          <a:ln w="12700">
            <a:solidFill>
              <a:srgbClr val="B45309"/>
            </a:solidFill>
            <a:prstDash val="solid"/>
          </a:ln>
        </p:spPr>
      </p:sp>
      <p:sp>
        <p:nvSpPr>
          <p:cNvPr id="17" name="Text 15"/>
          <p:cNvSpPr/>
          <p:nvPr/>
        </p:nvSpPr>
        <p:spPr>
          <a:xfrm>
            <a:off x="685800" y="484632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WHY THIS IS POWERFUL</a:t>
            </a:r>
            <a:endParaRPr lang="en-US" sz="900" dirty="0"/>
          </a:p>
        </p:txBody>
      </p:sp>
      <p:sp>
        <p:nvSpPr>
          <p:cNvPr id="18" name="Text 16"/>
          <p:cNvSpPr/>
          <p:nvPr/>
        </p:nvSpPr>
        <p:spPr>
          <a:xfrm>
            <a:off x="685800" y="504748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The agent picks the right tool on its own.</a:t>
            </a:r>
            <a:endParaRPr lang="en-US" sz="1300" dirty="0"/>
          </a:p>
        </p:txBody>
      </p:sp>
      <p:sp>
        <p:nvSpPr>
          <p:cNvPr id="19" name="Text 17"/>
          <p:cNvSpPr/>
          <p:nvPr/>
        </p:nvSpPr>
        <p:spPr>
          <a:xfrm>
            <a:off x="685800" y="5340096"/>
            <a:ext cx="10911535" cy="83210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Student asks about a class → lookup_course gets called. Student asks about financial aid policy → retrieve gets called. You don't write that routing logic. The model picks based on your tool descriptions.</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8 · WALKTHROUGH · PART 3 OF 5</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37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8</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BedrockModel — model + guardrail, one object</a:t>
            </a:r>
            <a:endParaRPr lang="en-US" sz="2800" dirty="0"/>
          </a:p>
        </p:txBody>
      </p:sp>
      <p:sp>
        <p:nvSpPr>
          <p:cNvPr id="8" name="Shape 6"/>
          <p:cNvSpPr/>
          <p:nvPr/>
        </p:nvSpPr>
        <p:spPr>
          <a:xfrm>
            <a:off x="502920" y="1691640"/>
            <a:ext cx="11185855" cy="2194560"/>
          </a:xfrm>
          <a:prstGeom prst="rect">
            <a:avLst/>
          </a:prstGeom>
          <a:solidFill>
            <a:srgbClr val="0F172A"/>
          </a:solidFill>
          <a:ln w="12700">
            <a:solidFill>
              <a:srgbClr val="0F172A"/>
            </a:solidFill>
            <a:prstDash val="solid"/>
          </a:ln>
        </p:spPr>
      </p:sp>
      <p:sp>
        <p:nvSpPr>
          <p:cNvPr id="9" name="Text 7"/>
          <p:cNvSpPr/>
          <p:nvPr/>
        </p:nvSpPr>
        <p:spPr>
          <a:xfrm>
            <a:off x="667512" y="1801368"/>
            <a:ext cx="10856671" cy="1975104"/>
          </a:xfrm>
          <a:prstGeom prst="rect">
            <a:avLst/>
          </a:prstGeom>
          <a:noFill/>
          <a:ln/>
        </p:spPr>
        <p:txBody>
          <a:bodyPr wrap="square" lIns="0" tIns="0" rIns="0" bIns="0" rtlCol="0" anchor="t"/>
          <a:lstStyle/>
          <a:p>
            <a:pPr indent="0" marL="0">
              <a:buNone/>
            </a:pPr>
            <a:r>
              <a:rPr lang="en-US" sz="1400" dirty="0">
                <a:solidFill>
                  <a:srgbClr val="E2E8F0"/>
                </a:solidFill>
                <a:latin typeface="Consolas" pitchFamily="34" charset="0"/>
                <a:ea typeface="Consolas" pitchFamily="34" charset="-122"/>
                <a:cs typeface="Consolas" pitchFamily="34" charset="-120"/>
              </a:rPr>
              <a:t>bedrock_model = BedrockModel(</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model_id=MODEL_ID,</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region_name=REGION,</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temperature=0.3,</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max_tokens=2000,</a:t>
            </a:r>
            <a:endParaRPr lang="en-US" sz="1400" dirty="0"/>
          </a:p>
          <a:p>
            <a:pPr indent="0" marL="0">
              <a:buNone/>
            </a:pPr>
            <a:r>
              <a:rPr lang="en-US" sz="1400" b="1" dirty="0">
                <a:solidFill>
                  <a:srgbClr val="6EE7B7"/>
                </a:solidFill>
                <a:latin typeface="Consolas" pitchFamily="34" charset="0"/>
                <a:ea typeface="Consolas" pitchFamily="34" charset="-122"/>
                <a:cs typeface="Consolas" pitchFamily="34" charset="-120"/>
              </a:rPr>
              <a:t>    guardrail_id=GUARDRAIL_ID,</a:t>
            </a:r>
            <a:endParaRPr lang="en-US" sz="1400" dirty="0"/>
          </a:p>
          <a:p>
            <a:pPr indent="0" marL="0">
              <a:buNone/>
            </a:pPr>
            <a:r>
              <a:rPr lang="en-US" sz="1400" b="1" dirty="0">
                <a:solidFill>
                  <a:srgbClr val="6EE7B7"/>
                </a:solidFill>
                <a:latin typeface="Consolas" pitchFamily="34" charset="0"/>
                <a:ea typeface="Consolas" pitchFamily="34" charset="-122"/>
                <a:cs typeface="Consolas" pitchFamily="34" charset="-120"/>
              </a:rPr>
              <a:t>    guardrail_version=GUARDRAIL_VERSION,</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10" name="Shape 8"/>
          <p:cNvSpPr/>
          <p:nvPr/>
        </p:nvSpPr>
        <p:spPr>
          <a:xfrm>
            <a:off x="502920" y="4069080"/>
            <a:ext cx="11185855" cy="2194560"/>
          </a:xfrm>
          <a:prstGeom prst="rect">
            <a:avLst/>
          </a:prstGeom>
          <a:solidFill>
            <a:srgbClr val="F1F5F9"/>
          </a:solidFill>
          <a:ln w="12700">
            <a:solidFill>
              <a:srgbClr val="F1F5F9"/>
            </a:solidFill>
            <a:prstDash val="solid"/>
          </a:ln>
        </p:spPr>
      </p:sp>
      <p:sp>
        <p:nvSpPr>
          <p:cNvPr id="11" name="Shape 9"/>
          <p:cNvSpPr/>
          <p:nvPr/>
        </p:nvSpPr>
        <p:spPr>
          <a:xfrm>
            <a:off x="502920" y="4069080"/>
            <a:ext cx="45720" cy="2194560"/>
          </a:xfrm>
          <a:prstGeom prst="rect">
            <a:avLst/>
          </a:prstGeom>
          <a:solidFill>
            <a:srgbClr val="B45309"/>
          </a:solidFill>
          <a:ln w="12700">
            <a:solidFill>
              <a:srgbClr val="B45309"/>
            </a:solidFill>
            <a:prstDash val="solid"/>
          </a:ln>
        </p:spPr>
      </p:sp>
      <p:sp>
        <p:nvSpPr>
          <p:cNvPr id="12" name="Text 10"/>
          <p:cNvSpPr/>
          <p:nvPr/>
        </p:nvSpPr>
        <p:spPr>
          <a:xfrm>
            <a:off x="685800" y="416052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ONE OBJECT HOLDS EVERYTHING</a:t>
            </a:r>
            <a:endParaRPr lang="en-US" sz="900" dirty="0"/>
          </a:p>
        </p:txBody>
      </p:sp>
      <p:sp>
        <p:nvSpPr>
          <p:cNvPr id="13" name="Text 11"/>
          <p:cNvSpPr/>
          <p:nvPr/>
        </p:nvSpPr>
        <p:spPr>
          <a:xfrm>
            <a:off x="685800" y="436168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Model + inference parameters + guardrail — all at the constructor.</a:t>
            </a:r>
            <a:endParaRPr lang="en-US" sz="1300" dirty="0"/>
          </a:p>
        </p:txBody>
      </p:sp>
      <p:sp>
        <p:nvSpPr>
          <p:cNvPr id="14" name="Text 12"/>
          <p:cNvSpPr/>
          <p:nvPr/>
        </p:nvSpPr>
        <p:spPr>
          <a:xfrm>
            <a:off x="685800" y="4654296"/>
            <a:ext cx="10911535" cy="151790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Compare to Chapters 6–7 where the guardrail config had to be nested deep inside the request payload. Here it's a constructor argument. Applies to every call this agent makes.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8 · WALKTHROUGH · PART 4 OF 5</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38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8</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The system prompt — how you steer the agent</a:t>
            </a:r>
            <a:endParaRPr lang="en-US" sz="3200" dirty="0"/>
          </a:p>
        </p:txBody>
      </p:sp>
      <p:sp>
        <p:nvSpPr>
          <p:cNvPr id="8" name="Shape 6"/>
          <p:cNvSpPr/>
          <p:nvPr/>
        </p:nvSpPr>
        <p:spPr>
          <a:xfrm>
            <a:off x="502920" y="1691640"/>
            <a:ext cx="11185855" cy="2377440"/>
          </a:xfrm>
          <a:prstGeom prst="rect">
            <a:avLst/>
          </a:prstGeom>
          <a:solidFill>
            <a:srgbClr val="0F172A"/>
          </a:solidFill>
          <a:ln w="12700">
            <a:solidFill>
              <a:srgbClr val="0F172A"/>
            </a:solidFill>
            <a:prstDash val="solid"/>
          </a:ln>
        </p:spPr>
      </p:sp>
      <p:sp>
        <p:nvSpPr>
          <p:cNvPr id="9" name="Text 7"/>
          <p:cNvSpPr/>
          <p:nvPr/>
        </p:nvSpPr>
        <p:spPr>
          <a:xfrm>
            <a:off x="667512" y="1801368"/>
            <a:ext cx="10856671" cy="2157984"/>
          </a:xfrm>
          <a:prstGeom prst="rect">
            <a:avLst/>
          </a:prstGeom>
          <a:noFill/>
          <a:ln/>
        </p:spPr>
        <p:txBody>
          <a:bodyPr wrap="square" lIns="0" tIns="0" rIns="0" bIns="0" rtlCol="0" anchor="t"/>
          <a:lstStyle/>
          <a:p>
            <a:pPr indent="0" marL="0">
              <a:buNone/>
            </a:pPr>
            <a:r>
              <a:rPr lang="en-US" sz="1200" dirty="0">
                <a:solidFill>
                  <a:srgbClr val="E2E8F0"/>
                </a:solidFill>
                <a:latin typeface="Consolas" pitchFamily="34" charset="0"/>
                <a:ea typeface="Consolas" pitchFamily="34" charset="-122"/>
                <a:cs typeface="Consolas" pitchFamily="34" charset="-120"/>
              </a:rPr>
              <a:t>system_prompt = """You are the University virtual assistant.</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You help students find information about academics, admissions,</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financial aid, housing, dining, and the academic calendar.</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6EE7B7"/>
                </a:solidFill>
                <a:latin typeface="Consolas" pitchFamily="34" charset="0"/>
                <a:ea typeface="Consolas" pitchFamily="34" charset="-122"/>
                <a:cs typeface="Consolas" pitchFamily="34" charset="-120"/>
              </a:rPr>
              <a:t>- Use the retrieve tool to search the knowledge base for policies.</a:t>
            </a:r>
            <a:endParaRPr lang="en-US" sz="1200" dirty="0"/>
          </a:p>
          <a:p>
            <a:pPr indent="0" marL="0">
              <a:buNone/>
            </a:pPr>
            <a:r>
              <a:rPr lang="en-US" sz="1200" b="1" dirty="0">
                <a:solidFill>
                  <a:srgbClr val="6EE7B7"/>
                </a:solidFill>
                <a:latin typeface="Consolas" pitchFamily="34" charset="0"/>
                <a:ea typeface="Consolas" pitchFamily="34" charset="-122"/>
                <a:cs typeface="Consolas" pitchFamily="34" charset="-120"/>
              </a:rPr>
              <a:t>- Use the lookup_course tool when asked about specific courses.</a:t>
            </a:r>
            <a:endParaRPr lang="en-US" sz="1200" dirty="0"/>
          </a:p>
          <a:p>
            <a:pPr indent="0" marL="0">
              <a:buNone/>
            </a:pPr>
            <a:r>
              <a:rPr lang="en-US" sz="1200" dirty="0">
                <a:solidFill>
                  <a:srgbClr val="E2E8F0"/>
                </a:solidFill>
                <a:latin typeface="Consolas" pitchFamily="34" charset="0"/>
                <a:ea typeface="Consolas" pitchFamily="34" charset="-122"/>
                <a:cs typeface="Consolas" pitchFamily="34" charset="-120"/>
              </a:rPr>
              <a:t>- Cite your sources when referencing specific policies or dates."""</a:t>
            </a:r>
            <a:endParaRPr lang="en-US" sz="1200" dirty="0"/>
          </a:p>
        </p:txBody>
      </p:sp>
      <p:sp>
        <p:nvSpPr>
          <p:cNvPr id="10" name="Shape 8"/>
          <p:cNvSpPr/>
          <p:nvPr/>
        </p:nvSpPr>
        <p:spPr>
          <a:xfrm>
            <a:off x="502920" y="4251960"/>
            <a:ext cx="11185855" cy="2011680"/>
          </a:xfrm>
          <a:prstGeom prst="rect">
            <a:avLst/>
          </a:prstGeom>
          <a:solidFill>
            <a:srgbClr val="F1F5F9"/>
          </a:solidFill>
          <a:ln w="12700">
            <a:solidFill>
              <a:srgbClr val="F1F5F9"/>
            </a:solidFill>
            <a:prstDash val="solid"/>
          </a:ln>
        </p:spPr>
      </p:sp>
      <p:sp>
        <p:nvSpPr>
          <p:cNvPr id="11" name="Shape 9"/>
          <p:cNvSpPr/>
          <p:nvPr/>
        </p:nvSpPr>
        <p:spPr>
          <a:xfrm>
            <a:off x="502920" y="4251960"/>
            <a:ext cx="45720" cy="2011680"/>
          </a:xfrm>
          <a:prstGeom prst="rect">
            <a:avLst/>
          </a:prstGeom>
          <a:solidFill>
            <a:srgbClr val="B45309"/>
          </a:solidFill>
          <a:ln w="12700">
            <a:solidFill>
              <a:srgbClr val="B45309"/>
            </a:solidFill>
            <a:prstDash val="solid"/>
          </a:ln>
        </p:spPr>
      </p:sp>
      <p:sp>
        <p:nvSpPr>
          <p:cNvPr id="12" name="Text 10"/>
          <p:cNvSpPr/>
          <p:nvPr/>
        </p:nvSpPr>
        <p:spPr>
          <a:xfrm>
            <a:off x="685800" y="434340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TWO JOBS</a:t>
            </a:r>
            <a:endParaRPr lang="en-US" sz="900" dirty="0"/>
          </a:p>
        </p:txBody>
      </p:sp>
      <p:sp>
        <p:nvSpPr>
          <p:cNvPr id="13" name="Text 11"/>
          <p:cNvSpPr/>
          <p:nvPr/>
        </p:nvSpPr>
        <p:spPr>
          <a:xfrm>
            <a:off x="685800" y="454456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Defines the agent's role. Guides tool selection.</a:t>
            </a:r>
            <a:endParaRPr lang="en-US" sz="1300" dirty="0"/>
          </a:p>
        </p:txBody>
      </p:sp>
      <p:sp>
        <p:nvSpPr>
          <p:cNvPr id="14" name="Text 12"/>
          <p:cNvSpPr/>
          <p:nvPr/>
        </p:nvSpPr>
        <p:spPr>
          <a:xfrm>
            <a:off x="685800" y="4837176"/>
            <a:ext cx="10911535" cy="133502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Explicit hints in the system prompt help the model pick the right tool. When the agent picks the wrong tool in testing, the first thing to tune is this text. Not the code.</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8 · WALKTHROUGH · PART 5 OF 5</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39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8</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Build the agent — three arguments, done</a:t>
            </a:r>
            <a:endParaRPr lang="en-US" sz="2800" dirty="0"/>
          </a:p>
        </p:txBody>
      </p:sp>
      <p:sp>
        <p:nvSpPr>
          <p:cNvPr id="8" name="Shape 6"/>
          <p:cNvSpPr/>
          <p:nvPr/>
        </p:nvSpPr>
        <p:spPr>
          <a:xfrm>
            <a:off x="502920" y="1691640"/>
            <a:ext cx="11185855" cy="1691640"/>
          </a:xfrm>
          <a:prstGeom prst="rect">
            <a:avLst/>
          </a:prstGeom>
          <a:solidFill>
            <a:srgbClr val="0F172A"/>
          </a:solidFill>
          <a:ln w="12700">
            <a:solidFill>
              <a:srgbClr val="0F172A"/>
            </a:solidFill>
            <a:prstDash val="solid"/>
          </a:ln>
        </p:spPr>
      </p:sp>
      <p:sp>
        <p:nvSpPr>
          <p:cNvPr id="9" name="Text 7"/>
          <p:cNvSpPr/>
          <p:nvPr/>
        </p:nvSpPr>
        <p:spPr>
          <a:xfrm>
            <a:off x="667512" y="1801368"/>
            <a:ext cx="10856671" cy="1472184"/>
          </a:xfrm>
          <a:prstGeom prst="rect">
            <a:avLst/>
          </a:prstGeom>
          <a:noFill/>
          <a:ln/>
        </p:spPr>
        <p:txBody>
          <a:bodyPr wrap="square" lIns="0" tIns="0" rIns="0" bIns="0" rtlCol="0" anchor="t"/>
          <a:lstStyle/>
          <a:p>
            <a:pPr indent="0" marL="0">
              <a:buNone/>
            </a:pPr>
            <a:r>
              <a:rPr lang="en-US" sz="1400" dirty="0">
                <a:solidFill>
                  <a:srgbClr val="E2E8F0"/>
                </a:solidFill>
                <a:latin typeface="Consolas" pitchFamily="34" charset="0"/>
                <a:ea typeface="Consolas" pitchFamily="34" charset="-122"/>
                <a:cs typeface="Consolas" pitchFamily="34" charset="-120"/>
              </a:rPr>
              <a:t>agent = Agent(</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model=bedrock_model,</a:t>
            </a:r>
            <a:endParaRPr lang="en-US" sz="1400" dirty="0"/>
          </a:p>
          <a:p>
            <a:pPr indent="0" marL="0">
              <a:buNone/>
            </a:pPr>
            <a:r>
              <a:rPr lang="en-US" sz="1400" b="1" dirty="0">
                <a:solidFill>
                  <a:srgbClr val="6EE7B7"/>
                </a:solidFill>
                <a:latin typeface="Consolas" pitchFamily="34" charset="0"/>
                <a:ea typeface="Consolas" pitchFamily="34" charset="-122"/>
                <a:cs typeface="Consolas" pitchFamily="34" charset="-120"/>
              </a:rPr>
              <a:t>    tools=[retrieve, lookup_course],   # built-in + custom</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    system_prompt=system_prompt,</a:t>
            </a:r>
            <a:endParaRPr lang="en-US" sz="1400" dirty="0"/>
          </a:p>
          <a:p>
            <a:pPr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10" name="Shape 8"/>
          <p:cNvSpPr/>
          <p:nvPr/>
        </p:nvSpPr>
        <p:spPr>
          <a:xfrm>
            <a:off x="502920" y="3566160"/>
            <a:ext cx="11185855" cy="1371600"/>
          </a:xfrm>
          <a:prstGeom prst="rect">
            <a:avLst/>
          </a:prstGeom>
          <a:solidFill>
            <a:srgbClr val="F1F5F9"/>
          </a:solidFill>
          <a:ln w="12700">
            <a:solidFill>
              <a:srgbClr val="F1F5F9"/>
            </a:solidFill>
            <a:prstDash val="solid"/>
          </a:ln>
        </p:spPr>
      </p:sp>
      <p:sp>
        <p:nvSpPr>
          <p:cNvPr id="11" name="Shape 9"/>
          <p:cNvSpPr/>
          <p:nvPr/>
        </p:nvSpPr>
        <p:spPr>
          <a:xfrm>
            <a:off x="502920" y="3566160"/>
            <a:ext cx="45720" cy="1371600"/>
          </a:xfrm>
          <a:prstGeom prst="rect">
            <a:avLst/>
          </a:prstGeom>
          <a:solidFill>
            <a:srgbClr val="B45309"/>
          </a:solidFill>
          <a:ln w="12700">
            <a:solidFill>
              <a:srgbClr val="B45309"/>
            </a:solidFill>
            <a:prstDash val="solid"/>
          </a:ln>
        </p:spPr>
      </p:sp>
      <p:sp>
        <p:nvSpPr>
          <p:cNvPr id="12" name="Text 10"/>
          <p:cNvSpPr/>
          <p:nvPr/>
        </p:nvSpPr>
        <p:spPr>
          <a:xfrm>
            <a:off x="685800" y="365760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THE THREE ARGUMENTS</a:t>
            </a:r>
            <a:endParaRPr lang="en-US" sz="900" dirty="0"/>
          </a:p>
        </p:txBody>
      </p:sp>
      <p:sp>
        <p:nvSpPr>
          <p:cNvPr id="13" name="Text 11"/>
          <p:cNvSpPr/>
          <p:nvPr/>
        </p:nvSpPr>
        <p:spPr>
          <a:xfrm>
            <a:off x="685800" y="3858768"/>
            <a:ext cx="10911535" cy="98755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model — what to talk to.  /  tools — what the agent can call (mix of built-in and custom).  /  system_prompt — who the agent is and how it should behave.</a:t>
            </a:r>
            <a:endParaRPr lang="en-US" sz="1100" dirty="0"/>
          </a:p>
        </p:txBody>
      </p:sp>
      <p:sp>
        <p:nvSpPr>
          <p:cNvPr id="14" name="Shape 12"/>
          <p:cNvSpPr/>
          <p:nvPr/>
        </p:nvSpPr>
        <p:spPr>
          <a:xfrm>
            <a:off x="502920" y="5074920"/>
            <a:ext cx="11185855" cy="1188720"/>
          </a:xfrm>
          <a:prstGeom prst="rect">
            <a:avLst/>
          </a:prstGeom>
          <a:solidFill>
            <a:srgbClr val="F1F5F9"/>
          </a:solidFill>
          <a:ln w="12700">
            <a:solidFill>
              <a:srgbClr val="F1F5F9"/>
            </a:solidFill>
            <a:prstDash val="solid"/>
          </a:ln>
        </p:spPr>
      </p:sp>
      <p:sp>
        <p:nvSpPr>
          <p:cNvPr id="15" name="Shape 13"/>
          <p:cNvSpPr/>
          <p:nvPr/>
        </p:nvSpPr>
        <p:spPr>
          <a:xfrm>
            <a:off x="502920" y="5074920"/>
            <a:ext cx="45720" cy="1188720"/>
          </a:xfrm>
          <a:prstGeom prst="rect">
            <a:avLst/>
          </a:prstGeom>
          <a:solidFill>
            <a:srgbClr val="B45309"/>
          </a:solidFill>
          <a:ln w="12700">
            <a:solidFill>
              <a:srgbClr val="B45309"/>
            </a:solidFill>
            <a:prstDash val="solid"/>
          </a:ln>
        </p:spPr>
      </p:sp>
      <p:sp>
        <p:nvSpPr>
          <p:cNvPr id="16" name="Text 14"/>
          <p:cNvSpPr/>
          <p:nvPr/>
        </p:nvSpPr>
        <p:spPr>
          <a:xfrm>
            <a:off x="685800" y="516636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NOTICE WHAT'S GONE</a:t>
            </a:r>
            <a:endParaRPr lang="en-US" sz="900" dirty="0"/>
          </a:p>
        </p:txBody>
      </p:sp>
      <p:sp>
        <p:nvSpPr>
          <p:cNvPr id="17" name="Text 15"/>
          <p:cNvSpPr/>
          <p:nvPr/>
        </p:nvSpPr>
        <p:spPr>
          <a:xfrm>
            <a:off x="685800" y="536752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No messages list. No tool dispatch. No stop_reason check. No second Converse call.</a:t>
            </a:r>
            <a:endParaRPr lang="en-US" sz="1300" dirty="0"/>
          </a:p>
        </p:txBody>
      </p:sp>
      <p:sp>
        <p:nvSpPr>
          <p:cNvPr id="18" name="Text 16"/>
          <p:cNvSpPr/>
          <p:nvPr/>
        </p:nvSpPr>
        <p:spPr>
          <a:xfrm>
            <a:off x="685800" y="5660136"/>
            <a:ext cx="10911535" cy="51206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All of that is inside the Agent class now.</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8 · CALLING THE AGENT</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40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8</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Talking to the agent — the whole loop</a:t>
            </a:r>
            <a:endParaRPr lang="en-US" sz="28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One function call does everything. Routing, history, guardrail, tool execution.</a:t>
            </a:r>
            <a:endParaRPr lang="en-US" sz="1400" dirty="0"/>
          </a:p>
        </p:txBody>
      </p:sp>
      <p:sp>
        <p:nvSpPr>
          <p:cNvPr id="9" name="Shape 7"/>
          <p:cNvSpPr/>
          <p:nvPr/>
        </p:nvSpPr>
        <p:spPr>
          <a:xfrm>
            <a:off x="502920" y="1691640"/>
            <a:ext cx="11185855" cy="2926080"/>
          </a:xfrm>
          <a:prstGeom prst="rect">
            <a:avLst/>
          </a:prstGeom>
          <a:solidFill>
            <a:srgbClr val="0F172A"/>
          </a:solidFill>
          <a:ln w="12700">
            <a:solidFill>
              <a:srgbClr val="0F172A"/>
            </a:solidFill>
            <a:prstDash val="solid"/>
          </a:ln>
        </p:spPr>
      </p:sp>
      <p:sp>
        <p:nvSpPr>
          <p:cNvPr id="10" name="Text 8"/>
          <p:cNvSpPr/>
          <p:nvPr/>
        </p:nvSpPr>
        <p:spPr>
          <a:xfrm>
            <a:off x="667512" y="1801368"/>
            <a:ext cx="10856671" cy="2706624"/>
          </a:xfrm>
          <a:prstGeom prst="rect">
            <a:avLst/>
          </a:prstGeom>
          <a:noFill/>
          <a:ln/>
        </p:spPr>
        <p:txBody>
          <a:bodyPr wrap="square" lIns="0" tIns="0" rIns="0" bIns="0" rtlCol="0" anchor="t"/>
          <a:lstStyle/>
          <a:p>
            <a:pPr indent="0" marL="0">
              <a:buNone/>
            </a:pPr>
            <a:r>
              <a:rPr lang="en-US" sz="1300" dirty="0">
                <a:solidFill>
                  <a:srgbClr val="E2E8F0"/>
                </a:solidFill>
                <a:latin typeface="Consolas" pitchFamily="34" charset="0"/>
                <a:ea typeface="Consolas" pitchFamily="34" charset="-122"/>
                <a:cs typeface="Consolas" pitchFamily="34" charset="-120"/>
              </a:rPr>
              <a:t>def main():</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agent = create_university_agent()</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while True:</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user_input = input("You: ").strip()</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if user_input.lower() in ("quit", "exit"):</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break</a:t>
            </a:r>
            <a:endParaRPr lang="en-US" sz="1300" dirty="0"/>
          </a:p>
          <a:p>
            <a:pPr indent="0" marL="0">
              <a:buNone/>
            </a:pPr>
            <a:r>
              <a:rPr lang="en-US" sz="1300" dirty="0">
                <a:solidFill>
                  <a:srgbClr val="E2E8F0"/>
                </a:solidFill>
                <a:latin typeface="Consolas" pitchFamily="34" charset="0"/>
                <a:ea typeface="Consolas" pitchFamily="34" charset="-122"/>
                <a:cs typeface="Consolas" pitchFamily="34" charset="-120"/>
              </a:rPr>
              <a:t> </a:t>
            </a:r>
            <a:endParaRPr lang="en-US" sz="1300" dirty="0"/>
          </a:p>
          <a:p>
            <a:pPr indent="0" marL="0">
              <a:buNone/>
            </a:pPr>
            <a:r>
              <a:rPr lang="en-US" sz="1300" b="1" dirty="0">
                <a:solidFill>
                  <a:srgbClr val="6EE7B7"/>
                </a:solidFill>
                <a:latin typeface="Consolas" pitchFamily="34" charset="0"/>
                <a:ea typeface="Consolas" pitchFamily="34" charset="-122"/>
                <a:cs typeface="Consolas" pitchFamily="34" charset="-120"/>
              </a:rPr>
              <a:t>        response = agent(user_input)   # ← that's it</a:t>
            </a:r>
            <a:endParaRPr lang="en-US" sz="1300" dirty="0"/>
          </a:p>
          <a:p>
            <a:pPr indent="0" marL="0">
              <a:buNone/>
            </a:pPr>
            <a:r>
              <a:rPr lang="en-US" sz="1300" b="1" dirty="0">
                <a:solidFill>
                  <a:srgbClr val="6EE7B7"/>
                </a:solidFill>
                <a:latin typeface="Consolas" pitchFamily="34" charset="0"/>
                <a:ea typeface="Consolas" pitchFamily="34" charset="-122"/>
                <a:cs typeface="Consolas" pitchFamily="34" charset="-120"/>
              </a:rPr>
              <a:t>        print(f"\nAssistant: {response}\n")</a:t>
            </a:r>
            <a:endParaRPr lang="en-US" sz="1300" dirty="0"/>
          </a:p>
        </p:txBody>
      </p:sp>
      <p:sp>
        <p:nvSpPr>
          <p:cNvPr id="11" name="Shape 9"/>
          <p:cNvSpPr/>
          <p:nvPr/>
        </p:nvSpPr>
        <p:spPr>
          <a:xfrm>
            <a:off x="502920" y="4754880"/>
            <a:ext cx="11185855" cy="1508760"/>
          </a:xfrm>
          <a:prstGeom prst="rect">
            <a:avLst/>
          </a:prstGeom>
          <a:solidFill>
            <a:srgbClr val="F1F5F9"/>
          </a:solidFill>
          <a:ln w="12700">
            <a:solidFill>
              <a:srgbClr val="F1F5F9"/>
            </a:solidFill>
            <a:prstDash val="solid"/>
          </a:ln>
        </p:spPr>
      </p:sp>
      <p:sp>
        <p:nvSpPr>
          <p:cNvPr id="12" name="Shape 10"/>
          <p:cNvSpPr/>
          <p:nvPr/>
        </p:nvSpPr>
        <p:spPr>
          <a:xfrm>
            <a:off x="502920" y="4754880"/>
            <a:ext cx="45720" cy="1508760"/>
          </a:xfrm>
          <a:prstGeom prst="rect">
            <a:avLst/>
          </a:prstGeom>
          <a:solidFill>
            <a:srgbClr val="B45309"/>
          </a:solidFill>
          <a:ln w="12700">
            <a:solidFill>
              <a:srgbClr val="B45309"/>
            </a:solidFill>
            <a:prstDash val="solid"/>
          </a:ln>
        </p:spPr>
      </p:sp>
      <p:sp>
        <p:nvSpPr>
          <p:cNvPr id="13" name="Text 11"/>
          <p:cNvSpPr/>
          <p:nvPr/>
        </p:nvSpPr>
        <p:spPr>
          <a:xfrm>
            <a:off x="685800" y="484632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WHAT AGENT(USER_INPUT) DOES</a:t>
            </a:r>
            <a:endParaRPr lang="en-US" sz="900" dirty="0"/>
          </a:p>
        </p:txBody>
      </p:sp>
      <p:sp>
        <p:nvSpPr>
          <p:cNvPr id="14" name="Text 12"/>
          <p:cNvSpPr/>
          <p:nvPr/>
        </p:nvSpPr>
        <p:spPr>
          <a:xfrm>
            <a:off x="685800" y="504748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Routes to the right tool. Manages history. Applies the guardrail. Returns the final text.</a:t>
            </a:r>
            <a:endParaRPr lang="en-US" sz="1300" dirty="0"/>
          </a:p>
        </p:txBody>
      </p:sp>
      <p:sp>
        <p:nvSpPr>
          <p:cNvPr id="15" name="Text 13"/>
          <p:cNvSpPr/>
          <p:nvPr/>
        </p:nvSpPr>
        <p:spPr>
          <a:xfrm>
            <a:off x="685800" y="5340096"/>
            <a:ext cx="10911535" cy="83210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Multi-turn conversation management is handled — each call keeps context from previous turns as long as the program is running. Compare to Chapter 4 where you manually appended every message.</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8 · THE COLLAPSE</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41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8</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What just collapsed</a:t>
            </a:r>
            <a:endParaRPr lang="en-US" sz="28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Eight manual patterns from chapters 1–7, gone. Same Converse API underneath.</a:t>
            </a:r>
            <a:endParaRPr lang="en-US" sz="1400" dirty="0"/>
          </a:p>
        </p:txBody>
      </p:sp>
      <p:sp>
        <p:nvSpPr>
          <p:cNvPr id="9" name="Shape 7"/>
          <p:cNvSpPr/>
          <p:nvPr/>
        </p:nvSpPr>
        <p:spPr>
          <a:xfrm>
            <a:off x="502920" y="2103120"/>
            <a:ext cx="5486400" cy="365760"/>
          </a:xfrm>
          <a:prstGeom prst="rect">
            <a:avLst/>
          </a:prstGeom>
          <a:solidFill>
            <a:srgbClr val="0F172A"/>
          </a:solidFill>
          <a:ln w="12700">
            <a:solidFill>
              <a:srgbClr val="0F172A"/>
            </a:solidFill>
            <a:prstDash val="solid"/>
          </a:ln>
        </p:spPr>
      </p:sp>
      <p:sp>
        <p:nvSpPr>
          <p:cNvPr id="10" name="Text 8"/>
          <p:cNvSpPr/>
          <p:nvPr/>
        </p:nvSpPr>
        <p:spPr>
          <a:xfrm>
            <a:off x="502920" y="2103120"/>
            <a:ext cx="5486400" cy="365760"/>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WITHOUT STRANDS (CH 1–7)</a:t>
            </a:r>
            <a:endParaRPr lang="en-US" sz="1000" dirty="0"/>
          </a:p>
        </p:txBody>
      </p:sp>
      <p:sp>
        <p:nvSpPr>
          <p:cNvPr id="11" name="Shape 9"/>
          <p:cNvSpPr/>
          <p:nvPr/>
        </p:nvSpPr>
        <p:spPr>
          <a:xfrm>
            <a:off x="6172200" y="2103120"/>
            <a:ext cx="5532120" cy="365760"/>
          </a:xfrm>
          <a:prstGeom prst="rect">
            <a:avLst/>
          </a:prstGeom>
          <a:solidFill>
            <a:srgbClr val="B45309"/>
          </a:solidFill>
          <a:ln w="12700">
            <a:solidFill>
              <a:srgbClr val="B45309"/>
            </a:solidFill>
            <a:prstDash val="solid"/>
          </a:ln>
        </p:spPr>
      </p:sp>
      <p:sp>
        <p:nvSpPr>
          <p:cNvPr id="12" name="Text 10"/>
          <p:cNvSpPr/>
          <p:nvPr/>
        </p:nvSpPr>
        <p:spPr>
          <a:xfrm>
            <a:off x="6172200" y="2103120"/>
            <a:ext cx="5532120" cy="365760"/>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WITH STRANDS (CH 8)</a:t>
            </a:r>
            <a:endParaRPr lang="en-US" sz="1000" dirty="0"/>
          </a:p>
        </p:txBody>
      </p:sp>
      <p:sp>
        <p:nvSpPr>
          <p:cNvPr id="13" name="Shape 11"/>
          <p:cNvSpPr/>
          <p:nvPr/>
        </p:nvSpPr>
        <p:spPr>
          <a:xfrm>
            <a:off x="502920" y="2514600"/>
            <a:ext cx="5486400" cy="365760"/>
          </a:xfrm>
          <a:prstGeom prst="rect">
            <a:avLst/>
          </a:prstGeom>
          <a:solidFill>
            <a:srgbClr val="F8FAFC"/>
          </a:solidFill>
          <a:ln w="3810">
            <a:solidFill>
              <a:srgbClr val="E2E8F0"/>
            </a:solidFill>
            <a:prstDash val="solid"/>
          </a:ln>
        </p:spPr>
      </p:sp>
      <p:sp>
        <p:nvSpPr>
          <p:cNvPr id="14" name="Shape 12"/>
          <p:cNvSpPr/>
          <p:nvPr/>
        </p:nvSpPr>
        <p:spPr>
          <a:xfrm>
            <a:off x="6172200" y="2514600"/>
            <a:ext cx="5532120" cy="365760"/>
          </a:xfrm>
          <a:prstGeom prst="rect">
            <a:avLst/>
          </a:prstGeom>
          <a:solidFill>
            <a:srgbClr val="FEF3C7"/>
          </a:solidFill>
          <a:ln w="3810">
            <a:solidFill>
              <a:srgbClr val="E2E8F0"/>
            </a:solidFill>
            <a:prstDash val="solid"/>
          </a:ln>
        </p:spPr>
      </p:sp>
      <p:sp>
        <p:nvSpPr>
          <p:cNvPr id="15" name="Text 13"/>
          <p:cNvSpPr/>
          <p:nvPr/>
        </p:nvSpPr>
        <p:spPr>
          <a:xfrm>
            <a:off x="640080" y="2514600"/>
            <a:ext cx="5212080" cy="3657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Manual messages array</a:t>
            </a:r>
            <a:endParaRPr lang="en-US" sz="1100" dirty="0"/>
          </a:p>
        </p:txBody>
      </p:sp>
      <p:sp>
        <p:nvSpPr>
          <p:cNvPr id="16" name="Text 14"/>
          <p:cNvSpPr/>
          <p:nvPr/>
        </p:nvSpPr>
        <p:spPr>
          <a:xfrm>
            <a:off x="6309360" y="2514600"/>
            <a:ext cx="5257800" cy="36576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Agent owns state</a:t>
            </a:r>
            <a:endParaRPr lang="en-US" sz="1100" dirty="0"/>
          </a:p>
        </p:txBody>
      </p:sp>
      <p:sp>
        <p:nvSpPr>
          <p:cNvPr id="17" name="Shape 15"/>
          <p:cNvSpPr/>
          <p:nvPr/>
        </p:nvSpPr>
        <p:spPr>
          <a:xfrm>
            <a:off x="502920" y="2898648"/>
            <a:ext cx="5486400" cy="365760"/>
          </a:xfrm>
          <a:prstGeom prst="rect">
            <a:avLst/>
          </a:prstGeom>
          <a:solidFill>
            <a:srgbClr val="FFFFFF"/>
          </a:solidFill>
          <a:ln w="3810">
            <a:solidFill>
              <a:srgbClr val="E2E8F0"/>
            </a:solidFill>
            <a:prstDash val="solid"/>
          </a:ln>
        </p:spPr>
      </p:sp>
      <p:sp>
        <p:nvSpPr>
          <p:cNvPr id="18" name="Shape 16"/>
          <p:cNvSpPr/>
          <p:nvPr/>
        </p:nvSpPr>
        <p:spPr>
          <a:xfrm>
            <a:off x="6172200" y="2898648"/>
            <a:ext cx="5532120" cy="365760"/>
          </a:xfrm>
          <a:prstGeom prst="rect">
            <a:avLst/>
          </a:prstGeom>
          <a:solidFill>
            <a:srgbClr val="FFFFFF"/>
          </a:solidFill>
          <a:ln w="3810">
            <a:solidFill>
              <a:srgbClr val="E2E8F0"/>
            </a:solidFill>
            <a:prstDash val="solid"/>
          </a:ln>
        </p:spPr>
      </p:sp>
      <p:sp>
        <p:nvSpPr>
          <p:cNvPr id="19" name="Text 17"/>
          <p:cNvSpPr/>
          <p:nvPr/>
        </p:nvSpPr>
        <p:spPr>
          <a:xfrm>
            <a:off x="640080" y="2898648"/>
            <a:ext cx="5212080" cy="3657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Manual conversation history append</a:t>
            </a:r>
            <a:endParaRPr lang="en-US" sz="1100" dirty="0"/>
          </a:p>
        </p:txBody>
      </p:sp>
      <p:sp>
        <p:nvSpPr>
          <p:cNvPr id="20" name="Text 18"/>
          <p:cNvSpPr/>
          <p:nvPr/>
        </p:nvSpPr>
        <p:spPr>
          <a:xfrm>
            <a:off x="6309360" y="2898648"/>
            <a:ext cx="5257800" cy="36576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Automatic across turns</a:t>
            </a:r>
            <a:endParaRPr lang="en-US" sz="1100" dirty="0"/>
          </a:p>
        </p:txBody>
      </p:sp>
      <p:sp>
        <p:nvSpPr>
          <p:cNvPr id="21" name="Shape 19"/>
          <p:cNvSpPr/>
          <p:nvPr/>
        </p:nvSpPr>
        <p:spPr>
          <a:xfrm>
            <a:off x="502920" y="3282696"/>
            <a:ext cx="5486400" cy="365760"/>
          </a:xfrm>
          <a:prstGeom prst="rect">
            <a:avLst/>
          </a:prstGeom>
          <a:solidFill>
            <a:srgbClr val="F8FAFC"/>
          </a:solidFill>
          <a:ln w="3810">
            <a:solidFill>
              <a:srgbClr val="E2E8F0"/>
            </a:solidFill>
            <a:prstDash val="solid"/>
          </a:ln>
        </p:spPr>
      </p:sp>
      <p:sp>
        <p:nvSpPr>
          <p:cNvPr id="22" name="Shape 20"/>
          <p:cNvSpPr/>
          <p:nvPr/>
        </p:nvSpPr>
        <p:spPr>
          <a:xfrm>
            <a:off x="6172200" y="3282696"/>
            <a:ext cx="5532120" cy="365760"/>
          </a:xfrm>
          <a:prstGeom prst="rect">
            <a:avLst/>
          </a:prstGeom>
          <a:solidFill>
            <a:srgbClr val="FEF3C7"/>
          </a:solidFill>
          <a:ln w="3810">
            <a:solidFill>
              <a:srgbClr val="E2E8F0"/>
            </a:solidFill>
            <a:prstDash val="solid"/>
          </a:ln>
        </p:spPr>
      </p:sp>
      <p:sp>
        <p:nvSpPr>
          <p:cNvPr id="23" name="Text 21"/>
          <p:cNvSpPr/>
          <p:nvPr/>
        </p:nvSpPr>
        <p:spPr>
          <a:xfrm>
            <a:off x="640080" y="3282696"/>
            <a:ext cx="5212080" cy="3657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TOOL_CONFIG JSON schemas</a:t>
            </a:r>
            <a:endParaRPr lang="en-US" sz="1100" dirty="0"/>
          </a:p>
        </p:txBody>
      </p:sp>
      <p:sp>
        <p:nvSpPr>
          <p:cNvPr id="24" name="Text 22"/>
          <p:cNvSpPr/>
          <p:nvPr/>
        </p:nvSpPr>
        <p:spPr>
          <a:xfrm>
            <a:off x="6309360" y="3282696"/>
            <a:ext cx="5257800" cy="36576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@tool decorator on a function</a:t>
            </a:r>
            <a:endParaRPr lang="en-US" sz="1100" dirty="0"/>
          </a:p>
        </p:txBody>
      </p:sp>
      <p:sp>
        <p:nvSpPr>
          <p:cNvPr id="25" name="Shape 23"/>
          <p:cNvSpPr/>
          <p:nvPr/>
        </p:nvSpPr>
        <p:spPr>
          <a:xfrm>
            <a:off x="502920" y="3666744"/>
            <a:ext cx="5486400" cy="365760"/>
          </a:xfrm>
          <a:prstGeom prst="rect">
            <a:avLst/>
          </a:prstGeom>
          <a:solidFill>
            <a:srgbClr val="FFFFFF"/>
          </a:solidFill>
          <a:ln w="3810">
            <a:solidFill>
              <a:srgbClr val="E2E8F0"/>
            </a:solidFill>
            <a:prstDash val="solid"/>
          </a:ln>
        </p:spPr>
      </p:sp>
      <p:sp>
        <p:nvSpPr>
          <p:cNvPr id="26" name="Shape 24"/>
          <p:cNvSpPr/>
          <p:nvPr/>
        </p:nvSpPr>
        <p:spPr>
          <a:xfrm>
            <a:off x="6172200" y="3666744"/>
            <a:ext cx="5532120" cy="365760"/>
          </a:xfrm>
          <a:prstGeom prst="rect">
            <a:avLst/>
          </a:prstGeom>
          <a:solidFill>
            <a:srgbClr val="FFFFFF"/>
          </a:solidFill>
          <a:ln w="3810">
            <a:solidFill>
              <a:srgbClr val="E2E8F0"/>
            </a:solidFill>
            <a:prstDash val="solid"/>
          </a:ln>
        </p:spPr>
      </p:sp>
      <p:sp>
        <p:nvSpPr>
          <p:cNvPr id="27" name="Text 25"/>
          <p:cNvSpPr/>
          <p:nvPr/>
        </p:nvSpPr>
        <p:spPr>
          <a:xfrm>
            <a:off x="640080" y="3666744"/>
            <a:ext cx="5212080" cy="3657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TOOL_FUNCTIONS dispatch dict</a:t>
            </a:r>
            <a:endParaRPr lang="en-US" sz="1100" dirty="0"/>
          </a:p>
        </p:txBody>
      </p:sp>
      <p:sp>
        <p:nvSpPr>
          <p:cNvPr id="28" name="Text 26"/>
          <p:cNvSpPr/>
          <p:nvPr/>
        </p:nvSpPr>
        <p:spPr>
          <a:xfrm>
            <a:off x="6309360" y="3666744"/>
            <a:ext cx="5257800" cy="36576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Pass functions in tools=[…]</a:t>
            </a:r>
            <a:endParaRPr lang="en-US" sz="1100" dirty="0"/>
          </a:p>
        </p:txBody>
      </p:sp>
      <p:sp>
        <p:nvSpPr>
          <p:cNvPr id="29" name="Shape 27"/>
          <p:cNvSpPr/>
          <p:nvPr/>
        </p:nvSpPr>
        <p:spPr>
          <a:xfrm>
            <a:off x="502920" y="4050792"/>
            <a:ext cx="5486400" cy="365760"/>
          </a:xfrm>
          <a:prstGeom prst="rect">
            <a:avLst/>
          </a:prstGeom>
          <a:solidFill>
            <a:srgbClr val="F8FAFC"/>
          </a:solidFill>
          <a:ln w="3810">
            <a:solidFill>
              <a:srgbClr val="E2E8F0"/>
            </a:solidFill>
            <a:prstDash val="solid"/>
          </a:ln>
        </p:spPr>
      </p:sp>
      <p:sp>
        <p:nvSpPr>
          <p:cNvPr id="30" name="Shape 28"/>
          <p:cNvSpPr/>
          <p:nvPr/>
        </p:nvSpPr>
        <p:spPr>
          <a:xfrm>
            <a:off x="6172200" y="4050792"/>
            <a:ext cx="5532120" cy="365760"/>
          </a:xfrm>
          <a:prstGeom prst="rect">
            <a:avLst/>
          </a:prstGeom>
          <a:solidFill>
            <a:srgbClr val="FEF3C7"/>
          </a:solidFill>
          <a:ln w="3810">
            <a:solidFill>
              <a:srgbClr val="E2E8F0"/>
            </a:solidFill>
            <a:prstDash val="solid"/>
          </a:ln>
        </p:spPr>
      </p:sp>
      <p:sp>
        <p:nvSpPr>
          <p:cNvPr id="31" name="Text 29"/>
          <p:cNvSpPr/>
          <p:nvPr/>
        </p:nvSpPr>
        <p:spPr>
          <a:xfrm>
            <a:off x="640080" y="4050792"/>
            <a:ext cx="5212080" cy="3657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run_tool helper + loop</a:t>
            </a:r>
            <a:endParaRPr lang="en-US" sz="1100" dirty="0"/>
          </a:p>
        </p:txBody>
      </p:sp>
      <p:sp>
        <p:nvSpPr>
          <p:cNvPr id="32" name="Text 30"/>
          <p:cNvSpPr/>
          <p:nvPr/>
        </p:nvSpPr>
        <p:spPr>
          <a:xfrm>
            <a:off x="6309360" y="4050792"/>
            <a:ext cx="5257800" cy="36576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Built into Agent class</a:t>
            </a:r>
            <a:endParaRPr lang="en-US" sz="1100" dirty="0"/>
          </a:p>
        </p:txBody>
      </p:sp>
      <p:sp>
        <p:nvSpPr>
          <p:cNvPr id="33" name="Shape 31"/>
          <p:cNvSpPr/>
          <p:nvPr/>
        </p:nvSpPr>
        <p:spPr>
          <a:xfrm>
            <a:off x="502920" y="4434840"/>
            <a:ext cx="5486400" cy="365760"/>
          </a:xfrm>
          <a:prstGeom prst="rect">
            <a:avLst/>
          </a:prstGeom>
          <a:solidFill>
            <a:srgbClr val="FFFFFF"/>
          </a:solidFill>
          <a:ln w="3810">
            <a:solidFill>
              <a:srgbClr val="E2E8F0"/>
            </a:solidFill>
            <a:prstDash val="solid"/>
          </a:ln>
        </p:spPr>
      </p:sp>
      <p:sp>
        <p:nvSpPr>
          <p:cNvPr id="34" name="Shape 32"/>
          <p:cNvSpPr/>
          <p:nvPr/>
        </p:nvSpPr>
        <p:spPr>
          <a:xfrm>
            <a:off x="6172200" y="4434840"/>
            <a:ext cx="5532120" cy="365760"/>
          </a:xfrm>
          <a:prstGeom prst="rect">
            <a:avLst/>
          </a:prstGeom>
          <a:solidFill>
            <a:srgbClr val="FFFFFF"/>
          </a:solidFill>
          <a:ln w="3810">
            <a:solidFill>
              <a:srgbClr val="E2E8F0"/>
            </a:solidFill>
            <a:prstDash val="solid"/>
          </a:ln>
        </p:spPr>
      </p:sp>
      <p:sp>
        <p:nvSpPr>
          <p:cNvPr id="35" name="Text 33"/>
          <p:cNvSpPr/>
          <p:nvPr/>
        </p:nvSpPr>
        <p:spPr>
          <a:xfrm>
            <a:off x="640080" y="4434840"/>
            <a:ext cx="5212080" cy="3657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bedrock-agent-runtime client for KB</a:t>
            </a:r>
            <a:endParaRPr lang="en-US" sz="1100" dirty="0"/>
          </a:p>
        </p:txBody>
      </p:sp>
      <p:sp>
        <p:nvSpPr>
          <p:cNvPr id="36" name="Text 34"/>
          <p:cNvSpPr/>
          <p:nvPr/>
        </p:nvSpPr>
        <p:spPr>
          <a:xfrm>
            <a:off x="6309360" y="4434840"/>
            <a:ext cx="5257800" cy="36576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Built-in retrieve tool</a:t>
            </a:r>
            <a:endParaRPr lang="en-US" sz="1100" dirty="0"/>
          </a:p>
        </p:txBody>
      </p:sp>
      <p:sp>
        <p:nvSpPr>
          <p:cNvPr id="37" name="Shape 35"/>
          <p:cNvSpPr/>
          <p:nvPr/>
        </p:nvSpPr>
        <p:spPr>
          <a:xfrm>
            <a:off x="502920" y="4818888"/>
            <a:ext cx="5486400" cy="365760"/>
          </a:xfrm>
          <a:prstGeom prst="rect">
            <a:avLst/>
          </a:prstGeom>
          <a:solidFill>
            <a:srgbClr val="F8FAFC"/>
          </a:solidFill>
          <a:ln w="3810">
            <a:solidFill>
              <a:srgbClr val="E2E8F0"/>
            </a:solidFill>
            <a:prstDash val="solid"/>
          </a:ln>
        </p:spPr>
      </p:sp>
      <p:sp>
        <p:nvSpPr>
          <p:cNvPr id="38" name="Shape 36"/>
          <p:cNvSpPr/>
          <p:nvPr/>
        </p:nvSpPr>
        <p:spPr>
          <a:xfrm>
            <a:off x="6172200" y="4818888"/>
            <a:ext cx="5532120" cy="365760"/>
          </a:xfrm>
          <a:prstGeom prst="rect">
            <a:avLst/>
          </a:prstGeom>
          <a:solidFill>
            <a:srgbClr val="FEF3C7"/>
          </a:solidFill>
          <a:ln w="3810">
            <a:solidFill>
              <a:srgbClr val="E2E8F0"/>
            </a:solidFill>
            <a:prstDash val="solid"/>
          </a:ln>
        </p:spPr>
      </p:sp>
      <p:sp>
        <p:nvSpPr>
          <p:cNvPr id="39" name="Text 37"/>
          <p:cNvSpPr/>
          <p:nvPr/>
        </p:nvSpPr>
        <p:spPr>
          <a:xfrm>
            <a:off x="640080" y="4818888"/>
            <a:ext cx="5212080" cy="3657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Nested guardrail config in payload</a:t>
            </a:r>
            <a:endParaRPr lang="en-US" sz="1100" dirty="0"/>
          </a:p>
        </p:txBody>
      </p:sp>
      <p:sp>
        <p:nvSpPr>
          <p:cNvPr id="40" name="Text 38"/>
          <p:cNvSpPr/>
          <p:nvPr/>
        </p:nvSpPr>
        <p:spPr>
          <a:xfrm>
            <a:off x="6309360" y="4818888"/>
            <a:ext cx="5257800" cy="36576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guardrail_id on BedrockModel</a:t>
            </a:r>
            <a:endParaRPr lang="en-US" sz="1100" dirty="0"/>
          </a:p>
        </p:txBody>
      </p:sp>
      <p:sp>
        <p:nvSpPr>
          <p:cNvPr id="41" name="Shape 39"/>
          <p:cNvSpPr/>
          <p:nvPr/>
        </p:nvSpPr>
        <p:spPr>
          <a:xfrm>
            <a:off x="502920" y="5202936"/>
            <a:ext cx="5486400" cy="365760"/>
          </a:xfrm>
          <a:prstGeom prst="rect">
            <a:avLst/>
          </a:prstGeom>
          <a:solidFill>
            <a:srgbClr val="FFFFFF"/>
          </a:solidFill>
          <a:ln w="3810">
            <a:solidFill>
              <a:srgbClr val="E2E8F0"/>
            </a:solidFill>
            <a:prstDash val="solid"/>
          </a:ln>
        </p:spPr>
      </p:sp>
      <p:sp>
        <p:nvSpPr>
          <p:cNvPr id="42" name="Shape 40"/>
          <p:cNvSpPr/>
          <p:nvPr/>
        </p:nvSpPr>
        <p:spPr>
          <a:xfrm>
            <a:off x="6172200" y="5202936"/>
            <a:ext cx="5532120" cy="365760"/>
          </a:xfrm>
          <a:prstGeom prst="rect">
            <a:avLst/>
          </a:prstGeom>
          <a:solidFill>
            <a:srgbClr val="FFFFFF"/>
          </a:solidFill>
          <a:ln w="3810">
            <a:solidFill>
              <a:srgbClr val="E2E8F0"/>
            </a:solidFill>
            <a:prstDash val="solid"/>
          </a:ln>
        </p:spPr>
      </p:sp>
      <p:sp>
        <p:nvSpPr>
          <p:cNvPr id="43" name="Text 41"/>
          <p:cNvSpPr/>
          <p:nvPr/>
        </p:nvSpPr>
        <p:spPr>
          <a:xfrm>
            <a:off x="640080" y="5202936"/>
            <a:ext cx="5212080" cy="36576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Two Converse calls for tool use</a:t>
            </a:r>
            <a:endParaRPr lang="en-US" sz="1100" dirty="0"/>
          </a:p>
        </p:txBody>
      </p:sp>
      <p:sp>
        <p:nvSpPr>
          <p:cNvPr id="44" name="Text 42"/>
          <p:cNvSpPr/>
          <p:nvPr/>
        </p:nvSpPr>
        <p:spPr>
          <a:xfrm>
            <a:off x="6309360" y="5202936"/>
            <a:ext cx="5257800" cy="36576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One agent() call</a:t>
            </a:r>
            <a:endParaRPr lang="en-US" sz="1100" dirty="0"/>
          </a:p>
        </p:txBody>
      </p:sp>
      <p:sp>
        <p:nvSpPr>
          <p:cNvPr id="45" name="Shape 43"/>
          <p:cNvSpPr/>
          <p:nvPr/>
        </p:nvSpPr>
        <p:spPr>
          <a:xfrm>
            <a:off x="502920" y="5760720"/>
            <a:ext cx="11185855" cy="502920"/>
          </a:xfrm>
          <a:prstGeom prst="rect">
            <a:avLst/>
          </a:prstGeom>
          <a:solidFill>
            <a:srgbClr val="F1F5F9"/>
          </a:solidFill>
          <a:ln w="12700">
            <a:solidFill>
              <a:srgbClr val="F1F5F9"/>
            </a:solidFill>
            <a:prstDash val="solid"/>
          </a:ln>
        </p:spPr>
      </p:sp>
      <p:sp>
        <p:nvSpPr>
          <p:cNvPr id="46" name="Shape 44"/>
          <p:cNvSpPr/>
          <p:nvPr/>
        </p:nvSpPr>
        <p:spPr>
          <a:xfrm>
            <a:off x="502920" y="5760720"/>
            <a:ext cx="45720" cy="502920"/>
          </a:xfrm>
          <a:prstGeom prst="rect">
            <a:avLst/>
          </a:prstGeom>
          <a:solidFill>
            <a:srgbClr val="B45309"/>
          </a:solidFill>
          <a:ln w="12700">
            <a:solidFill>
              <a:srgbClr val="B45309"/>
            </a:solidFill>
            <a:prstDash val="solid"/>
          </a:ln>
        </p:spPr>
      </p:sp>
      <p:sp>
        <p:nvSpPr>
          <p:cNvPr id="47" name="Text 45"/>
          <p:cNvSpPr/>
          <p:nvPr/>
        </p:nvSpPr>
        <p:spPr>
          <a:xfrm>
            <a:off x="685800" y="585216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SAME ENGINE</a:t>
            </a:r>
            <a:endParaRPr lang="en-US" sz="900" dirty="0"/>
          </a:p>
        </p:txBody>
      </p:sp>
      <p:sp>
        <p:nvSpPr>
          <p:cNvPr id="48" name="Text 46"/>
          <p:cNvSpPr/>
          <p:nvPr/>
        </p:nvSpPr>
        <p:spPr>
          <a:xfrm>
            <a:off x="685800" y="6053328"/>
            <a:ext cx="10911535" cy="11887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Strands is the same Converse API underneath. Orchestrated for you. Not a replacement — a layer.</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CHAPTER 8 · THE PAYOFF</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42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Chapter 8</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Why we did all of it the hard way first</a:t>
            </a:r>
            <a:endParaRPr lang="en-US" sz="3200" dirty="0"/>
          </a:p>
        </p:txBody>
      </p:sp>
      <p:sp>
        <p:nvSpPr>
          <p:cNvPr id="8" name="Shape 6"/>
          <p:cNvSpPr/>
          <p:nvPr/>
        </p:nvSpPr>
        <p:spPr>
          <a:xfrm>
            <a:off x="1371600" y="2103120"/>
            <a:ext cx="9418320" cy="45720"/>
          </a:xfrm>
          <a:prstGeom prst="rect">
            <a:avLst/>
          </a:prstGeom>
          <a:solidFill>
            <a:srgbClr val="B45309"/>
          </a:solidFill>
          <a:ln w="12700">
            <a:solidFill>
              <a:srgbClr val="B45309"/>
            </a:solidFill>
            <a:prstDash val="solid"/>
          </a:ln>
        </p:spPr>
      </p:sp>
      <p:sp>
        <p:nvSpPr>
          <p:cNvPr id="9" name="Text 7"/>
          <p:cNvSpPr/>
          <p:nvPr/>
        </p:nvSpPr>
        <p:spPr>
          <a:xfrm>
            <a:off x="1371600" y="2286000"/>
            <a:ext cx="9418320" cy="1371600"/>
          </a:xfrm>
          <a:prstGeom prst="rect">
            <a:avLst/>
          </a:prstGeom>
          <a:noFill/>
          <a:ln/>
        </p:spPr>
        <p:txBody>
          <a:bodyPr wrap="square" lIns="0" tIns="0" rIns="0" bIns="0" rtlCol="0" anchor="ctr"/>
          <a:lstStyle/>
          <a:p>
            <a:pPr indent="0" marL="0">
              <a:buNone/>
            </a:pPr>
            <a:r>
              <a:rPr lang="en-US" sz="2200" i="1" dirty="0">
                <a:solidFill>
                  <a:srgbClr val="0F172A"/>
                </a:solidFill>
                <a:latin typeface="Georgia" pitchFamily="34" charset="0"/>
                <a:ea typeface="Georgia" pitchFamily="34" charset="-122"/>
                <a:cs typeface="Georgia" pitchFamily="34" charset="-120"/>
              </a:rPr>
              <a:t>“Under the hood, when you use Amazon Bedrock as the model provider, Strands is calling the same Converse API we've been using throughout this post.”</a:t>
            </a:r>
            <a:endParaRPr lang="en-US" sz="2200" dirty="0"/>
          </a:p>
        </p:txBody>
      </p:sp>
      <p:sp>
        <p:nvSpPr>
          <p:cNvPr id="10" name="Text 8"/>
          <p:cNvSpPr/>
          <p:nvPr/>
        </p:nvSpPr>
        <p:spPr>
          <a:xfrm>
            <a:off x="1371600" y="3749040"/>
            <a:ext cx="9418320" cy="1188720"/>
          </a:xfrm>
          <a:prstGeom prst="rect">
            <a:avLst/>
          </a:prstGeom>
          <a:noFill/>
          <a:ln/>
        </p:spPr>
        <p:txBody>
          <a:bodyPr wrap="square" lIns="0" tIns="0" rIns="0" bIns="0" rtlCol="0" anchor="ctr"/>
          <a:lstStyle/>
          <a:p>
            <a:pPr indent="0" marL="0">
              <a:buNone/>
            </a:pPr>
            <a:r>
              <a:rPr lang="en-US" sz="2000" i="1" dirty="0">
                <a:solidFill>
                  <a:srgbClr val="B45309"/>
                </a:solidFill>
                <a:latin typeface="Georgia" pitchFamily="34" charset="0"/>
                <a:ea typeface="Georgia" pitchFamily="34" charset="-122"/>
                <a:cs typeface="Georgia" pitchFamily="34" charset="-120"/>
              </a:rPr>
              <a:t>“That's why it was worth learning the fundamentals first. This should all make sense now rather than feeling like magic.”</a:t>
            </a:r>
            <a:endParaRPr lang="en-US" sz="2000" dirty="0"/>
          </a:p>
        </p:txBody>
      </p:sp>
      <p:sp>
        <p:nvSpPr>
          <p:cNvPr id="11" name="Shape 9"/>
          <p:cNvSpPr/>
          <p:nvPr/>
        </p:nvSpPr>
        <p:spPr>
          <a:xfrm>
            <a:off x="1371600" y="5212080"/>
            <a:ext cx="9418320" cy="1051560"/>
          </a:xfrm>
          <a:prstGeom prst="rect">
            <a:avLst/>
          </a:prstGeom>
          <a:solidFill>
            <a:srgbClr val="F1F5F9"/>
          </a:solidFill>
          <a:ln w="12700">
            <a:solidFill>
              <a:srgbClr val="F1F5F9"/>
            </a:solidFill>
            <a:prstDash val="solid"/>
          </a:ln>
        </p:spPr>
      </p:sp>
      <p:sp>
        <p:nvSpPr>
          <p:cNvPr id="12" name="Shape 10"/>
          <p:cNvSpPr/>
          <p:nvPr/>
        </p:nvSpPr>
        <p:spPr>
          <a:xfrm>
            <a:off x="1371600" y="5212080"/>
            <a:ext cx="45720" cy="1051560"/>
          </a:xfrm>
          <a:prstGeom prst="rect">
            <a:avLst/>
          </a:prstGeom>
          <a:solidFill>
            <a:srgbClr val="B45309"/>
          </a:solidFill>
          <a:ln w="12700">
            <a:solidFill>
              <a:srgbClr val="B45309"/>
            </a:solidFill>
            <a:prstDash val="solid"/>
          </a:ln>
        </p:spPr>
      </p:sp>
      <p:sp>
        <p:nvSpPr>
          <p:cNvPr id="13" name="Text 11"/>
          <p:cNvSpPr/>
          <p:nvPr/>
        </p:nvSpPr>
        <p:spPr>
          <a:xfrm>
            <a:off x="1554480" y="5303520"/>
            <a:ext cx="9144000"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PRACTICAL CONSEQUENCE</a:t>
            </a:r>
            <a:endParaRPr lang="en-US" sz="900" dirty="0"/>
          </a:p>
        </p:txBody>
      </p:sp>
      <p:sp>
        <p:nvSpPr>
          <p:cNvPr id="14" name="Text 12"/>
          <p:cNvSpPr/>
          <p:nvPr/>
        </p:nvSpPr>
        <p:spPr>
          <a:xfrm>
            <a:off x="1554480" y="5504688"/>
            <a:ext cx="9144000" cy="667512"/>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When something goes wrong with the agent — wrong tool picked, weird response, unexpected token bill — you know exactly what is happening underneath. You can drop down to Converse directly to debug.</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WRAP-UP · GOING FURTHER</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43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Wrap-up</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Three things to explore next</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You have the foundation. These are the levers that matter as you scale.</a:t>
            </a:r>
            <a:endParaRPr lang="en-US" sz="1400" dirty="0"/>
          </a:p>
        </p:txBody>
      </p:sp>
      <p:sp>
        <p:nvSpPr>
          <p:cNvPr id="9" name="Shape 7"/>
          <p:cNvSpPr/>
          <p:nvPr/>
        </p:nvSpPr>
        <p:spPr>
          <a:xfrm>
            <a:off x="502920" y="2103120"/>
            <a:ext cx="11185855" cy="1143000"/>
          </a:xfrm>
          <a:prstGeom prst="rect">
            <a:avLst/>
          </a:prstGeom>
          <a:solidFill>
            <a:srgbClr val="F8FAFC"/>
          </a:solidFill>
          <a:ln w="6350">
            <a:solidFill>
              <a:srgbClr val="E2E8F0"/>
            </a:solidFill>
            <a:prstDash val="solid"/>
          </a:ln>
        </p:spPr>
      </p:sp>
      <p:sp>
        <p:nvSpPr>
          <p:cNvPr id="10" name="Shape 8"/>
          <p:cNvSpPr/>
          <p:nvPr/>
        </p:nvSpPr>
        <p:spPr>
          <a:xfrm>
            <a:off x="502920" y="2103120"/>
            <a:ext cx="54864" cy="1143000"/>
          </a:xfrm>
          <a:prstGeom prst="rect">
            <a:avLst/>
          </a:prstGeom>
          <a:solidFill>
            <a:srgbClr val="B45309"/>
          </a:solidFill>
          <a:ln w="12700">
            <a:solidFill>
              <a:srgbClr val="B45309"/>
            </a:solidFill>
            <a:prstDash val="solid"/>
          </a:ln>
        </p:spPr>
      </p:sp>
      <p:sp>
        <p:nvSpPr>
          <p:cNvPr id="11" name="Text 9"/>
          <p:cNvSpPr/>
          <p:nvPr/>
        </p:nvSpPr>
        <p:spPr>
          <a:xfrm>
            <a:off x="777240" y="2240280"/>
            <a:ext cx="10911535" cy="36576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Prompt caching</a:t>
            </a:r>
            <a:endParaRPr lang="en-US" sz="1800" dirty="0"/>
          </a:p>
        </p:txBody>
      </p:sp>
      <p:sp>
        <p:nvSpPr>
          <p:cNvPr id="12" name="Text 10"/>
          <p:cNvSpPr/>
          <p:nvPr/>
        </p:nvSpPr>
        <p:spPr>
          <a:xfrm>
            <a:off x="777240" y="2606040"/>
            <a:ext cx="10911535" cy="59436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For large system prompts or tool definitions that don't change between requests, caching avoids reprocessing those tokens every time. Significant cost savings on repetitive workloads.</a:t>
            </a:r>
            <a:endParaRPr lang="en-US" sz="1200" dirty="0"/>
          </a:p>
        </p:txBody>
      </p:sp>
      <p:sp>
        <p:nvSpPr>
          <p:cNvPr id="13" name="Shape 11"/>
          <p:cNvSpPr/>
          <p:nvPr/>
        </p:nvSpPr>
        <p:spPr>
          <a:xfrm>
            <a:off x="502920" y="3383280"/>
            <a:ext cx="11185855" cy="1143000"/>
          </a:xfrm>
          <a:prstGeom prst="rect">
            <a:avLst/>
          </a:prstGeom>
          <a:solidFill>
            <a:srgbClr val="F8FAFC"/>
          </a:solidFill>
          <a:ln w="6350">
            <a:solidFill>
              <a:srgbClr val="E2E8F0"/>
            </a:solidFill>
            <a:prstDash val="solid"/>
          </a:ln>
        </p:spPr>
      </p:sp>
      <p:sp>
        <p:nvSpPr>
          <p:cNvPr id="14" name="Shape 12"/>
          <p:cNvSpPr/>
          <p:nvPr/>
        </p:nvSpPr>
        <p:spPr>
          <a:xfrm>
            <a:off x="502920" y="3383280"/>
            <a:ext cx="54864" cy="1143000"/>
          </a:xfrm>
          <a:prstGeom prst="rect">
            <a:avLst/>
          </a:prstGeom>
          <a:solidFill>
            <a:srgbClr val="B45309"/>
          </a:solidFill>
          <a:ln w="12700">
            <a:solidFill>
              <a:srgbClr val="B45309"/>
            </a:solidFill>
            <a:prstDash val="solid"/>
          </a:ln>
        </p:spPr>
      </p:sp>
      <p:sp>
        <p:nvSpPr>
          <p:cNvPr id="15" name="Text 13"/>
          <p:cNvSpPr/>
          <p:nvPr/>
        </p:nvSpPr>
        <p:spPr>
          <a:xfrm>
            <a:off x="777240" y="3520440"/>
            <a:ext cx="10911535" cy="36576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Cross-region inference</a:t>
            </a:r>
            <a:endParaRPr lang="en-US" sz="1800" dirty="0"/>
          </a:p>
        </p:txBody>
      </p:sp>
      <p:sp>
        <p:nvSpPr>
          <p:cNvPr id="16" name="Text 14"/>
          <p:cNvSpPr/>
          <p:nvPr/>
        </p:nvSpPr>
        <p:spPr>
          <a:xfrm>
            <a:off x="777240" y="3886200"/>
            <a:ext cx="10911535" cy="59436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Distribute load across AWS regions. Instead of hitting limits in one region and failing, Bedrock can route your requests globally. Reduces throttling pain in production.</a:t>
            </a:r>
            <a:endParaRPr lang="en-US" sz="1200" dirty="0"/>
          </a:p>
        </p:txBody>
      </p:sp>
      <p:sp>
        <p:nvSpPr>
          <p:cNvPr id="17" name="Shape 15"/>
          <p:cNvSpPr/>
          <p:nvPr/>
        </p:nvSpPr>
        <p:spPr>
          <a:xfrm>
            <a:off x="502920" y="4663440"/>
            <a:ext cx="11185855" cy="1143000"/>
          </a:xfrm>
          <a:prstGeom prst="rect">
            <a:avLst/>
          </a:prstGeom>
          <a:solidFill>
            <a:srgbClr val="F8FAFC"/>
          </a:solidFill>
          <a:ln w="6350">
            <a:solidFill>
              <a:srgbClr val="E2E8F0"/>
            </a:solidFill>
            <a:prstDash val="solid"/>
          </a:ln>
        </p:spPr>
      </p:sp>
      <p:sp>
        <p:nvSpPr>
          <p:cNvPr id="18" name="Shape 16"/>
          <p:cNvSpPr/>
          <p:nvPr/>
        </p:nvSpPr>
        <p:spPr>
          <a:xfrm>
            <a:off x="502920" y="4663440"/>
            <a:ext cx="54864" cy="1143000"/>
          </a:xfrm>
          <a:prstGeom prst="rect">
            <a:avLst/>
          </a:prstGeom>
          <a:solidFill>
            <a:srgbClr val="B45309"/>
          </a:solidFill>
          <a:ln w="12700">
            <a:solidFill>
              <a:srgbClr val="B45309"/>
            </a:solidFill>
            <a:prstDash val="solid"/>
          </a:ln>
        </p:spPr>
      </p:sp>
      <p:sp>
        <p:nvSpPr>
          <p:cNvPr id="19" name="Text 17"/>
          <p:cNvSpPr/>
          <p:nvPr/>
        </p:nvSpPr>
        <p:spPr>
          <a:xfrm>
            <a:off x="777240" y="4800600"/>
            <a:ext cx="10911535" cy="36576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CloudWatch monitoring</a:t>
            </a:r>
            <a:endParaRPr lang="en-US" sz="1800" dirty="0"/>
          </a:p>
        </p:txBody>
      </p:sp>
      <p:sp>
        <p:nvSpPr>
          <p:cNvPr id="20" name="Text 18"/>
          <p:cNvSpPr/>
          <p:nvPr/>
        </p:nvSpPr>
        <p:spPr>
          <a:xfrm>
            <a:off x="777240" y="5166360"/>
            <a:ext cx="10911535" cy="594360"/>
          </a:xfrm>
          <a:prstGeom prst="rect">
            <a:avLst/>
          </a:prstGeom>
          <a:noFill/>
          <a:ln/>
        </p:spPr>
        <p:txBody>
          <a:bodyPr wrap="square" lIns="0" tIns="0" rIns="0" bIns="0"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Track token usage, latency, throttling, and error rates. Set up early — catches cost spikes and performance issues before they become problems.</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WRAP-UP · ACTION</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44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Wrap-up</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Take it forward</a:t>
            </a:r>
            <a:endParaRPr lang="en-US" sz="3200" dirty="0"/>
          </a:p>
        </p:txBody>
      </p:sp>
      <p:sp>
        <p:nvSpPr>
          <p:cNvPr id="8" name="Shape 6"/>
          <p:cNvSpPr/>
          <p:nvPr/>
        </p:nvSpPr>
        <p:spPr>
          <a:xfrm>
            <a:off x="1371600" y="2103120"/>
            <a:ext cx="9418320" cy="45720"/>
          </a:xfrm>
          <a:prstGeom prst="rect">
            <a:avLst/>
          </a:prstGeom>
          <a:solidFill>
            <a:srgbClr val="B45309"/>
          </a:solidFill>
          <a:ln w="12700">
            <a:solidFill>
              <a:srgbClr val="B45309"/>
            </a:solidFill>
            <a:prstDash val="solid"/>
          </a:ln>
        </p:spPr>
      </p:sp>
      <p:sp>
        <p:nvSpPr>
          <p:cNvPr id="9" name="Text 7"/>
          <p:cNvSpPr/>
          <p:nvPr/>
        </p:nvSpPr>
        <p:spPr>
          <a:xfrm>
            <a:off x="1371600" y="2286000"/>
            <a:ext cx="9418320" cy="1280160"/>
          </a:xfrm>
          <a:prstGeom prst="rect">
            <a:avLst/>
          </a:prstGeom>
          <a:noFill/>
          <a:ln/>
        </p:spPr>
        <p:txBody>
          <a:bodyPr wrap="square" lIns="0" tIns="0" rIns="0" bIns="0" rtlCol="0" anchor="ctr"/>
          <a:lstStyle/>
          <a:p>
            <a:pPr indent="0" marL="0">
              <a:buNone/>
            </a:pPr>
            <a:r>
              <a:rPr lang="en-US" sz="2400" i="1" dirty="0">
                <a:solidFill>
                  <a:srgbClr val="0F172A"/>
                </a:solidFill>
                <a:latin typeface="Georgia" pitchFamily="34" charset="0"/>
                <a:ea typeface="Georgia" pitchFamily="34" charset="-122"/>
                <a:cs typeface="Georgia" pitchFamily="34" charset="-120"/>
              </a:rPr>
              <a:t>Clone the companion repo. Run every example yourself. Then adapt one to a new use case.</a:t>
            </a:r>
            <a:endParaRPr lang="en-US" sz="2400" dirty="0"/>
          </a:p>
        </p:txBody>
      </p:sp>
      <p:sp>
        <p:nvSpPr>
          <p:cNvPr id="10" name="Text 8"/>
          <p:cNvSpPr/>
          <p:nvPr/>
        </p:nvSpPr>
        <p:spPr>
          <a:xfrm>
            <a:off x="1371600" y="3657600"/>
            <a:ext cx="9418320" cy="457200"/>
          </a:xfrm>
          <a:prstGeom prst="rect">
            <a:avLst/>
          </a:prstGeom>
          <a:noFill/>
          <a:ln/>
        </p:spPr>
        <p:txBody>
          <a:bodyPr wrap="square" lIns="0" tIns="0" rIns="0" bIns="0" rtlCol="0" anchor="ctr"/>
          <a:lstStyle/>
          <a:p>
            <a:pPr indent="0" marL="0">
              <a:buNone/>
            </a:pPr>
            <a:r>
              <a:rPr lang="en-US" sz="1600" b="1" dirty="0">
                <a:solidFill>
                  <a:srgbClr val="B45309"/>
                </a:solidFill>
                <a:latin typeface="Consolas" pitchFamily="34" charset="0"/>
                <a:ea typeface="Consolas" pitchFamily="34" charset="-122"/>
                <a:cs typeface="Consolas" pitchFamily="34" charset="-120"/>
              </a:rPr>
              <a:t>github.com/aws-samples/sample-amazon-bedrock-for-beginners</a:t>
            </a:r>
            <a:endParaRPr lang="en-US" sz="1600" dirty="0"/>
          </a:p>
        </p:txBody>
      </p:sp>
      <p:sp>
        <p:nvSpPr>
          <p:cNvPr id="11" name="Text 9"/>
          <p:cNvSpPr/>
          <p:nvPr/>
        </p:nvSpPr>
        <p:spPr>
          <a:xfrm>
            <a:off x="502920" y="4572000"/>
            <a:ext cx="11185855" cy="27432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WHAT CHANGES WHEN YOU SWAP THE UNIVERSITY CHATBOT FOR…</a:t>
            </a:r>
            <a:endParaRPr lang="en-US" sz="1000" dirty="0"/>
          </a:p>
        </p:txBody>
      </p:sp>
      <p:sp>
        <p:nvSpPr>
          <p:cNvPr id="12" name="Text 10"/>
          <p:cNvSpPr/>
          <p:nvPr/>
        </p:nvSpPr>
        <p:spPr>
          <a:xfrm>
            <a:off x="777240" y="4937760"/>
            <a:ext cx="10911535" cy="32004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  A customer support assistant over your help-desk docs</a:t>
            </a:r>
            <a:endParaRPr lang="en-US" sz="1300" dirty="0"/>
          </a:p>
        </p:txBody>
      </p:sp>
      <p:sp>
        <p:nvSpPr>
          <p:cNvPr id="13" name="Text 11"/>
          <p:cNvSpPr/>
          <p:nvPr/>
        </p:nvSpPr>
        <p:spPr>
          <a:xfrm>
            <a:off x="777240" y="5303520"/>
            <a:ext cx="10911535" cy="32004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  An internal knowledge assistant over your engineering wiki</a:t>
            </a:r>
            <a:endParaRPr lang="en-US" sz="1300" dirty="0"/>
          </a:p>
        </p:txBody>
      </p:sp>
      <p:sp>
        <p:nvSpPr>
          <p:cNvPr id="14" name="Text 12"/>
          <p:cNvSpPr/>
          <p:nvPr/>
        </p:nvSpPr>
        <p:spPr>
          <a:xfrm>
            <a:off x="777240" y="5669280"/>
            <a:ext cx="10911535" cy="32004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  A research assistant with web search instead of lookup_course</a:t>
            </a:r>
            <a:endParaRPr lang="en-US" sz="1300" dirty="0"/>
          </a:p>
        </p:txBody>
      </p:sp>
      <p:sp>
        <p:nvSpPr>
          <p:cNvPr id="15" name="Shape 13"/>
          <p:cNvSpPr/>
          <p:nvPr/>
        </p:nvSpPr>
        <p:spPr>
          <a:xfrm>
            <a:off x="502920" y="6080760"/>
            <a:ext cx="11185855" cy="182880"/>
          </a:xfrm>
          <a:prstGeom prst="rect">
            <a:avLst/>
          </a:prstGeom>
          <a:solidFill>
            <a:srgbClr val="F1F5F9"/>
          </a:solidFill>
          <a:ln w="12700">
            <a:solidFill>
              <a:srgbClr val="F1F5F9"/>
            </a:solidFill>
            <a:prstDash val="solid"/>
          </a:ln>
        </p:spPr>
      </p:sp>
      <p:sp>
        <p:nvSpPr>
          <p:cNvPr id="16" name="Shape 14"/>
          <p:cNvSpPr/>
          <p:nvPr/>
        </p:nvSpPr>
        <p:spPr>
          <a:xfrm>
            <a:off x="502920" y="6080760"/>
            <a:ext cx="45720" cy="182880"/>
          </a:xfrm>
          <a:prstGeom prst="rect">
            <a:avLst/>
          </a:prstGeom>
          <a:solidFill>
            <a:srgbClr val="B45309"/>
          </a:solidFill>
          <a:ln w="12700">
            <a:solidFill>
              <a:srgbClr val="B45309"/>
            </a:solidFill>
            <a:prstDash val="solid"/>
          </a:ln>
        </p:spPr>
      </p:sp>
      <p:sp>
        <p:nvSpPr>
          <p:cNvPr id="17" name="Text 15"/>
          <p:cNvSpPr/>
          <p:nvPr/>
        </p:nvSpPr>
        <p:spPr>
          <a:xfrm>
            <a:off x="685800" y="617220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SAME PATTERN</a:t>
            </a:r>
            <a:endParaRPr lang="en-US" sz="900" dirty="0"/>
          </a:p>
        </p:txBody>
      </p:sp>
      <p:sp>
        <p:nvSpPr>
          <p:cNvPr id="18" name="Text 16"/>
          <p:cNvSpPr/>
          <p:nvPr/>
        </p:nvSpPr>
        <p:spPr>
          <a:xfrm>
            <a:off x="685800" y="6373368"/>
            <a:ext cx="10911535" cy="-201168"/>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Different tools. Different KB. The skeleton stays.</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8229600" cy="228600"/>
          </a:xfrm>
          <a:prstGeom prst="rect">
            <a:avLst/>
          </a:prstGeom>
          <a:noFill/>
          <a:ln/>
        </p:spPr>
        <p:txBody>
          <a:bodyPr wrap="square" lIns="0" tIns="0" rIns="0" bIns="0" rtlCol="0" anchor="ctr"/>
          <a:lstStyle/>
          <a:p>
            <a:pPr indent="0" marL="0">
              <a:buNone/>
            </a:pPr>
            <a:r>
              <a:rPr lang="en-US" sz="900" b="1" spc="400" kern="0" dirty="0">
                <a:solidFill>
                  <a:srgbClr val="B45309"/>
                </a:solidFill>
                <a:latin typeface="Calibri" pitchFamily="34" charset="0"/>
                <a:ea typeface="Calibri" pitchFamily="34" charset="-122"/>
                <a:cs typeface="Calibri" pitchFamily="34" charset="-120"/>
              </a:rPr>
              <a:t>END OF CHAPTERS 5 – 8</a:t>
            </a:r>
            <a:endParaRPr lang="en-US" sz="900" dirty="0"/>
          </a:p>
        </p:txBody>
      </p:sp>
      <p:sp>
        <p:nvSpPr>
          <p:cNvPr id="3" name="Text 1"/>
          <p:cNvSpPr/>
          <p:nvPr/>
        </p:nvSpPr>
        <p:spPr>
          <a:xfrm>
            <a:off x="11094415" y="365760"/>
            <a:ext cx="5943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45 / 45</a:t>
            </a:r>
            <a:endParaRPr lang="en-US" sz="900" dirty="0"/>
          </a:p>
        </p:txBody>
      </p:sp>
      <p:sp>
        <p:nvSpPr>
          <p:cNvPr id="4" name="Shape 2"/>
          <p:cNvSpPr/>
          <p:nvPr/>
        </p:nvSpPr>
        <p:spPr>
          <a:xfrm>
            <a:off x="502920" y="6446520"/>
            <a:ext cx="11185855" cy="0"/>
          </a:xfrm>
          <a:prstGeom prst="line">
            <a:avLst/>
          </a:prstGeom>
          <a:noFill/>
          <a:ln w="6350">
            <a:solidFill>
              <a:srgbClr val="E2E8F0"/>
            </a:solidFill>
            <a:prstDash val="solid"/>
          </a:ln>
        </p:spPr>
      </p:sp>
      <p:sp>
        <p:nvSpPr>
          <p:cNvPr id="5" name="Text 3"/>
          <p:cNvSpPr/>
          <p:nvPr/>
        </p:nvSpPr>
        <p:spPr>
          <a:xfrm>
            <a:off x="502920" y="6492240"/>
            <a:ext cx="73152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Amazon Bedrock · From First Prompt to AI Agent</a:t>
            </a:r>
            <a:endParaRPr lang="en-US" sz="900" dirty="0"/>
          </a:p>
        </p:txBody>
      </p:sp>
      <p:sp>
        <p:nvSpPr>
          <p:cNvPr id="6" name="Text 4"/>
          <p:cNvSpPr/>
          <p:nvPr/>
        </p:nvSpPr>
        <p:spPr>
          <a:xfrm>
            <a:off x="7162495" y="6492240"/>
            <a:ext cx="4846320" cy="228600"/>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Recap</a:t>
            </a:r>
            <a:endParaRPr lang="en-US" sz="900" dirty="0"/>
          </a:p>
        </p:txBody>
      </p:sp>
      <p:sp>
        <p:nvSpPr>
          <p:cNvPr id="7" name="Text 5"/>
          <p:cNvSpPr/>
          <p:nvPr/>
        </p:nvSpPr>
        <p:spPr>
          <a:xfrm>
            <a:off x="502920" y="777240"/>
            <a:ext cx="11185855" cy="640080"/>
          </a:xfrm>
          <a:prstGeom prst="rect">
            <a:avLst/>
          </a:prstGeom>
          <a:noFill/>
          <a:ln/>
        </p:spPr>
        <p:txBody>
          <a:bodyPr wrap="square" lIns="0" tIns="0" rIns="0" bIns="0" rtlCol="0" anchor="ctr"/>
          <a:lstStyle/>
          <a:p>
            <a:pPr indent="0" marL="0">
              <a:buNone/>
            </a:pPr>
            <a:r>
              <a:rPr lang="en-US" sz="3200" b="1" dirty="0">
                <a:solidFill>
                  <a:srgbClr val="0F172A"/>
                </a:solidFill>
                <a:latin typeface="Georgia" pitchFamily="34" charset="0"/>
                <a:ea typeface="Georgia" pitchFamily="34" charset="-122"/>
                <a:cs typeface="Georgia" pitchFamily="34" charset="-120"/>
              </a:rPr>
              <a:t>What you can now build</a:t>
            </a:r>
            <a:endParaRPr lang="en-US" sz="3200" dirty="0"/>
          </a:p>
        </p:txBody>
      </p:sp>
      <p:sp>
        <p:nvSpPr>
          <p:cNvPr id="8" name="Text 6"/>
          <p:cNvSpPr/>
          <p:nvPr/>
        </p:nvSpPr>
        <p:spPr>
          <a:xfrm>
            <a:off x="502920" y="1417320"/>
            <a:ext cx="11185855"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The full stack of an agentic AI application. Built from first principles.</a:t>
            </a:r>
            <a:endParaRPr lang="en-US" sz="1400" dirty="0"/>
          </a:p>
        </p:txBody>
      </p:sp>
      <p:sp>
        <p:nvSpPr>
          <p:cNvPr id="9" name="Shape 7"/>
          <p:cNvSpPr/>
          <p:nvPr/>
        </p:nvSpPr>
        <p:spPr>
          <a:xfrm>
            <a:off x="731520" y="2194560"/>
            <a:ext cx="365760" cy="365760"/>
          </a:xfrm>
          <a:prstGeom prst="rect">
            <a:avLst/>
          </a:prstGeom>
          <a:solidFill>
            <a:srgbClr val="047857"/>
          </a:solidFill>
          <a:ln w="12700">
            <a:solidFill>
              <a:srgbClr val="047857"/>
            </a:solidFill>
            <a:prstDash val="solid"/>
          </a:ln>
        </p:spPr>
      </p:sp>
      <p:sp>
        <p:nvSpPr>
          <p:cNvPr id="10" name="Text 8"/>
          <p:cNvSpPr/>
          <p:nvPr/>
        </p:nvSpPr>
        <p:spPr>
          <a:xfrm>
            <a:off x="731520" y="219456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11" name="Text 9"/>
          <p:cNvSpPr/>
          <p:nvPr/>
        </p:nvSpPr>
        <p:spPr>
          <a:xfrm>
            <a:off x="1280160" y="2194560"/>
            <a:ext cx="10058400" cy="36576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Call any foundation model on Bedrock with the Converse API</a:t>
            </a:r>
            <a:endParaRPr lang="en-US" sz="1600" dirty="0"/>
          </a:p>
        </p:txBody>
      </p:sp>
      <p:sp>
        <p:nvSpPr>
          <p:cNvPr id="12" name="Shape 10"/>
          <p:cNvSpPr/>
          <p:nvPr/>
        </p:nvSpPr>
        <p:spPr>
          <a:xfrm>
            <a:off x="731520" y="2651760"/>
            <a:ext cx="365760" cy="365760"/>
          </a:xfrm>
          <a:prstGeom prst="rect">
            <a:avLst/>
          </a:prstGeom>
          <a:solidFill>
            <a:srgbClr val="047857"/>
          </a:solidFill>
          <a:ln w="12700">
            <a:solidFill>
              <a:srgbClr val="047857"/>
            </a:solidFill>
            <a:prstDash val="solid"/>
          </a:ln>
        </p:spPr>
      </p:sp>
      <p:sp>
        <p:nvSpPr>
          <p:cNvPr id="13" name="Text 11"/>
          <p:cNvSpPr/>
          <p:nvPr/>
        </p:nvSpPr>
        <p:spPr>
          <a:xfrm>
            <a:off x="731520" y="265176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14" name="Text 12"/>
          <p:cNvSpPr/>
          <p:nvPr/>
        </p:nvSpPr>
        <p:spPr>
          <a:xfrm>
            <a:off x="1280160" y="2651760"/>
            <a:ext cx="10058400" cy="36576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Track and control token usage and cost</a:t>
            </a:r>
            <a:endParaRPr lang="en-US" sz="1600" dirty="0"/>
          </a:p>
        </p:txBody>
      </p:sp>
      <p:sp>
        <p:nvSpPr>
          <p:cNvPr id="15" name="Shape 13"/>
          <p:cNvSpPr/>
          <p:nvPr/>
        </p:nvSpPr>
        <p:spPr>
          <a:xfrm>
            <a:off x="731520" y="3108960"/>
            <a:ext cx="365760" cy="365760"/>
          </a:xfrm>
          <a:prstGeom prst="rect">
            <a:avLst/>
          </a:prstGeom>
          <a:solidFill>
            <a:srgbClr val="047857"/>
          </a:solidFill>
          <a:ln w="12700">
            <a:solidFill>
              <a:srgbClr val="047857"/>
            </a:solidFill>
            <a:prstDash val="solid"/>
          </a:ln>
        </p:spPr>
      </p:sp>
      <p:sp>
        <p:nvSpPr>
          <p:cNvPr id="16" name="Text 14"/>
          <p:cNvSpPr/>
          <p:nvPr/>
        </p:nvSpPr>
        <p:spPr>
          <a:xfrm>
            <a:off x="731520" y="310896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17" name="Text 15"/>
          <p:cNvSpPr/>
          <p:nvPr/>
        </p:nvSpPr>
        <p:spPr>
          <a:xfrm>
            <a:off x="1280160" y="3108960"/>
            <a:ext cx="10058400" cy="36576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Hold multi-turn conversations with stateful history</a:t>
            </a:r>
            <a:endParaRPr lang="en-US" sz="1600" dirty="0"/>
          </a:p>
        </p:txBody>
      </p:sp>
      <p:sp>
        <p:nvSpPr>
          <p:cNvPr id="18" name="Shape 16"/>
          <p:cNvSpPr/>
          <p:nvPr/>
        </p:nvSpPr>
        <p:spPr>
          <a:xfrm>
            <a:off x="731520" y="3566160"/>
            <a:ext cx="365760" cy="365760"/>
          </a:xfrm>
          <a:prstGeom prst="rect">
            <a:avLst/>
          </a:prstGeom>
          <a:solidFill>
            <a:srgbClr val="047857"/>
          </a:solidFill>
          <a:ln w="12700">
            <a:solidFill>
              <a:srgbClr val="047857"/>
            </a:solidFill>
            <a:prstDash val="solid"/>
          </a:ln>
        </p:spPr>
      </p:sp>
      <p:sp>
        <p:nvSpPr>
          <p:cNvPr id="19" name="Text 17"/>
          <p:cNvSpPr/>
          <p:nvPr/>
        </p:nvSpPr>
        <p:spPr>
          <a:xfrm>
            <a:off x="731520" y="356616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20" name="Text 18"/>
          <p:cNvSpPr/>
          <p:nvPr/>
        </p:nvSpPr>
        <p:spPr>
          <a:xfrm>
            <a:off x="1280160" y="3566160"/>
            <a:ext cx="10058400" cy="36576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Give the model access to your code via tool use</a:t>
            </a:r>
            <a:endParaRPr lang="en-US" sz="1600" dirty="0"/>
          </a:p>
        </p:txBody>
      </p:sp>
      <p:sp>
        <p:nvSpPr>
          <p:cNvPr id="21" name="Shape 19"/>
          <p:cNvSpPr/>
          <p:nvPr/>
        </p:nvSpPr>
        <p:spPr>
          <a:xfrm>
            <a:off x="731520" y="4023360"/>
            <a:ext cx="365760" cy="365760"/>
          </a:xfrm>
          <a:prstGeom prst="rect">
            <a:avLst/>
          </a:prstGeom>
          <a:solidFill>
            <a:srgbClr val="047857"/>
          </a:solidFill>
          <a:ln w="12700">
            <a:solidFill>
              <a:srgbClr val="047857"/>
            </a:solidFill>
            <a:prstDash val="solid"/>
          </a:ln>
        </p:spPr>
      </p:sp>
      <p:sp>
        <p:nvSpPr>
          <p:cNvPr id="22" name="Text 20"/>
          <p:cNvSpPr/>
          <p:nvPr/>
        </p:nvSpPr>
        <p:spPr>
          <a:xfrm>
            <a:off x="731520" y="402336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23" name="Text 21"/>
          <p:cNvSpPr/>
          <p:nvPr/>
        </p:nvSpPr>
        <p:spPr>
          <a:xfrm>
            <a:off x="1280160" y="4023360"/>
            <a:ext cx="10058400" cy="36576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Ground the model in your own data with a Knowledge Base</a:t>
            </a:r>
            <a:endParaRPr lang="en-US" sz="1600" dirty="0"/>
          </a:p>
        </p:txBody>
      </p:sp>
      <p:sp>
        <p:nvSpPr>
          <p:cNvPr id="24" name="Shape 22"/>
          <p:cNvSpPr/>
          <p:nvPr/>
        </p:nvSpPr>
        <p:spPr>
          <a:xfrm>
            <a:off x="731520" y="4480560"/>
            <a:ext cx="365760" cy="365760"/>
          </a:xfrm>
          <a:prstGeom prst="rect">
            <a:avLst/>
          </a:prstGeom>
          <a:solidFill>
            <a:srgbClr val="047857"/>
          </a:solidFill>
          <a:ln w="12700">
            <a:solidFill>
              <a:srgbClr val="047857"/>
            </a:solidFill>
            <a:prstDash val="solid"/>
          </a:ln>
        </p:spPr>
      </p:sp>
      <p:sp>
        <p:nvSpPr>
          <p:cNvPr id="25" name="Text 23"/>
          <p:cNvSpPr/>
          <p:nvPr/>
        </p:nvSpPr>
        <p:spPr>
          <a:xfrm>
            <a:off x="731520" y="448056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26" name="Text 24"/>
          <p:cNvSpPr/>
          <p:nvPr/>
        </p:nvSpPr>
        <p:spPr>
          <a:xfrm>
            <a:off x="1280160" y="4480560"/>
            <a:ext cx="10058400" cy="36576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Apply safety controls with Guardrails</a:t>
            </a:r>
            <a:endParaRPr lang="en-US" sz="1600" dirty="0"/>
          </a:p>
        </p:txBody>
      </p:sp>
      <p:sp>
        <p:nvSpPr>
          <p:cNvPr id="27" name="Shape 25"/>
          <p:cNvSpPr/>
          <p:nvPr/>
        </p:nvSpPr>
        <p:spPr>
          <a:xfrm>
            <a:off x="731520" y="4937760"/>
            <a:ext cx="365760" cy="365760"/>
          </a:xfrm>
          <a:prstGeom prst="rect">
            <a:avLst/>
          </a:prstGeom>
          <a:solidFill>
            <a:srgbClr val="047857"/>
          </a:solidFill>
          <a:ln w="12700">
            <a:solidFill>
              <a:srgbClr val="047857"/>
            </a:solidFill>
            <a:prstDash val="solid"/>
          </a:ln>
        </p:spPr>
      </p:sp>
      <p:sp>
        <p:nvSpPr>
          <p:cNvPr id="28" name="Text 26"/>
          <p:cNvSpPr/>
          <p:nvPr/>
        </p:nvSpPr>
        <p:spPr>
          <a:xfrm>
            <a:off x="731520" y="4937760"/>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29" name="Text 27"/>
          <p:cNvSpPr/>
          <p:nvPr/>
        </p:nvSpPr>
        <p:spPr>
          <a:xfrm>
            <a:off x="1280160" y="4937760"/>
            <a:ext cx="10058400" cy="365760"/>
          </a:xfrm>
          <a:prstGeom prst="rect">
            <a:avLst/>
          </a:prstGeom>
          <a:noFill/>
          <a:ln/>
        </p:spPr>
        <p:txBody>
          <a:bodyPr wrap="square" lIns="0" tIns="0" rIns="0" bIns="0" rtlCol="0" anchor="ctr"/>
          <a:lstStyle/>
          <a:p>
            <a:pPr indent="0" marL="0">
              <a:buNone/>
            </a:pPr>
            <a:r>
              <a:rPr lang="en-US" sz="1600" dirty="0">
                <a:solidFill>
                  <a:srgbClr val="0F172A"/>
                </a:solidFill>
                <a:latin typeface="Georgia" pitchFamily="34" charset="0"/>
                <a:ea typeface="Georgia" pitchFamily="34" charset="-122"/>
                <a:cs typeface="Georgia" pitchFamily="34" charset="-120"/>
              </a:rPr>
              <a:t>Tie all of it together into a working agent with Strands</a:t>
            </a:r>
            <a:endParaRPr lang="en-US" sz="1600" dirty="0"/>
          </a:p>
        </p:txBody>
      </p:sp>
      <p:sp>
        <p:nvSpPr>
          <p:cNvPr id="30" name="Shape 28"/>
          <p:cNvSpPr/>
          <p:nvPr/>
        </p:nvSpPr>
        <p:spPr>
          <a:xfrm>
            <a:off x="502920" y="5486400"/>
            <a:ext cx="11185855" cy="777240"/>
          </a:xfrm>
          <a:prstGeom prst="rect">
            <a:avLst/>
          </a:prstGeom>
          <a:solidFill>
            <a:srgbClr val="F1F5F9"/>
          </a:solidFill>
          <a:ln w="12700">
            <a:solidFill>
              <a:srgbClr val="F1F5F9"/>
            </a:solidFill>
            <a:prstDash val="solid"/>
          </a:ln>
        </p:spPr>
      </p:sp>
      <p:sp>
        <p:nvSpPr>
          <p:cNvPr id="31" name="Shape 29"/>
          <p:cNvSpPr/>
          <p:nvPr/>
        </p:nvSpPr>
        <p:spPr>
          <a:xfrm>
            <a:off x="502920" y="5486400"/>
            <a:ext cx="45720" cy="777240"/>
          </a:xfrm>
          <a:prstGeom prst="rect">
            <a:avLst/>
          </a:prstGeom>
          <a:solidFill>
            <a:srgbClr val="B45309"/>
          </a:solidFill>
          <a:ln w="12700">
            <a:solidFill>
              <a:srgbClr val="B45309"/>
            </a:solidFill>
            <a:prstDash val="solid"/>
          </a:ln>
        </p:spPr>
      </p:sp>
      <p:sp>
        <p:nvSpPr>
          <p:cNvPr id="32" name="Text 30"/>
          <p:cNvSpPr/>
          <p:nvPr/>
        </p:nvSpPr>
        <p:spPr>
          <a:xfrm>
            <a:off x="685800" y="5577840"/>
            <a:ext cx="10911535" cy="201168"/>
          </a:xfrm>
          <a:prstGeom prst="rect">
            <a:avLst/>
          </a:prstGeom>
          <a:noFill/>
          <a:ln/>
        </p:spPr>
        <p:txBody>
          <a:bodyPr wrap="square" lIns="0" tIns="0" rIns="0" bIns="0" rtlCol="0" anchor="ctr"/>
          <a:lstStyle/>
          <a:p>
            <a:pPr indent="0" marL="0">
              <a:buNone/>
            </a:pPr>
            <a:r>
              <a:rPr lang="en-US" sz="900" b="1" spc="300" kern="0" dirty="0">
                <a:solidFill>
                  <a:srgbClr val="B45309"/>
                </a:solidFill>
                <a:latin typeface="Calibri" pitchFamily="34" charset="0"/>
                <a:ea typeface="Calibri" pitchFamily="34" charset="-122"/>
                <a:cs typeface="Calibri" pitchFamily="34" charset="-120"/>
              </a:rPr>
              <a:t>FROM ZERO TO AGENT</a:t>
            </a:r>
            <a:endParaRPr lang="en-US" sz="900" dirty="0"/>
          </a:p>
        </p:txBody>
      </p:sp>
      <p:sp>
        <p:nvSpPr>
          <p:cNvPr id="33" name="Text 31"/>
          <p:cNvSpPr/>
          <p:nvPr/>
        </p:nvSpPr>
        <p:spPr>
          <a:xfrm>
            <a:off x="685800" y="5779008"/>
            <a:ext cx="10911535" cy="274320"/>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Eight chapters. Two decks. One Converse API.</a:t>
            </a:r>
            <a:endParaRPr lang="en-US" sz="1300" dirty="0"/>
          </a:p>
        </p:txBody>
      </p:sp>
      <p:sp>
        <p:nvSpPr>
          <p:cNvPr id="34" name="Text 32"/>
          <p:cNvSpPr/>
          <p:nvPr/>
        </p:nvSpPr>
        <p:spPr>
          <a:xfrm>
            <a:off x="685800" y="6071616"/>
            <a:ext cx="10911535" cy="100584"/>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Everything in this deck builds on Deck 1. The patterns compound — that's the whole pedagogical point.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Bedrock — From First Prompt to AI Agent (Chapters 5–8)</dc:title>
  <dc:subject>PptxGenJS Presentation</dc:subject>
  <dc:creator>Agentic AI Practitioner Program</dc:creator>
  <cp:lastModifiedBy>Agentic AI Practitioner Program</cp:lastModifiedBy>
  <cp:revision>1</cp:revision>
  <dcterms:created xsi:type="dcterms:W3CDTF">2026-05-14T05:32:03Z</dcterms:created>
  <dcterms:modified xsi:type="dcterms:W3CDTF">2026-05-14T05:32:03Z</dcterms:modified>
</cp:coreProperties>
</file>