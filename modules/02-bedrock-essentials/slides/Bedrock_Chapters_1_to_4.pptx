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05695" y="0"/>
            <a:ext cx="2286000" cy="54864"/>
          </a:xfrm>
          <a:prstGeom prst="rect">
            <a:avLst/>
          </a:prstGeom>
          <a:solidFill>
            <a:srgbClr val="B45309"/>
          </a:solidFill>
          <a:ln w="12700">
            <a:solidFill>
              <a:srgbClr val="B45309"/>
            </a:solidFill>
            <a:prstDash val="solid"/>
          </a:ln>
        </p:spPr>
      </p:sp>
      <p:sp>
        <p:nvSpPr>
          <p:cNvPr id="3" name="Text 1"/>
          <p:cNvSpPr/>
          <p:nvPr/>
        </p:nvSpPr>
        <p:spPr>
          <a:xfrm>
            <a:off x="731520" y="2011680"/>
            <a:ext cx="7315200" cy="274320"/>
          </a:xfrm>
          <a:prstGeom prst="rect">
            <a:avLst/>
          </a:prstGeom>
          <a:noFill/>
          <a:ln/>
        </p:spPr>
        <p:txBody>
          <a:bodyPr wrap="square" lIns="0" tIns="0" rIns="0" bIns="0" rtlCol="0" anchor="ctr"/>
          <a:lstStyle/>
          <a:p>
            <a:pPr indent="0" marL="0">
              <a:buNone/>
            </a:pPr>
            <a:r>
              <a:rPr lang="en-US" sz="1100" b="1" spc="500" kern="0" dirty="0">
                <a:solidFill>
                  <a:srgbClr val="B45309"/>
                </a:solidFill>
                <a:latin typeface="Calibri" pitchFamily="34" charset="0"/>
                <a:ea typeface="Calibri" pitchFamily="34" charset="-122"/>
                <a:cs typeface="Calibri" pitchFamily="34" charset="-120"/>
              </a:rPr>
              <a:t>CHAPTERS 1 – 4</a:t>
            </a:r>
            <a:endParaRPr lang="en-US" sz="1100" dirty="0"/>
          </a:p>
        </p:txBody>
      </p:sp>
      <p:sp>
        <p:nvSpPr>
          <p:cNvPr id="4" name="Text 2"/>
          <p:cNvSpPr/>
          <p:nvPr/>
        </p:nvSpPr>
        <p:spPr>
          <a:xfrm>
            <a:off x="731520" y="2423160"/>
            <a:ext cx="10515600" cy="868680"/>
          </a:xfrm>
          <a:prstGeom prst="rect">
            <a:avLst/>
          </a:prstGeom>
          <a:noFill/>
          <a:ln/>
        </p:spPr>
        <p:txBody>
          <a:bodyPr wrap="square" lIns="0" tIns="0" rIns="0" bIns="0" rtlCol="0" anchor="ctr"/>
          <a:lstStyle/>
          <a:p>
            <a:pPr indent="0" marL="0">
              <a:buNone/>
            </a:pPr>
            <a:r>
              <a:rPr lang="en-US" sz="5200" b="1" dirty="0">
                <a:solidFill>
                  <a:srgbClr val="0F172A"/>
                </a:solidFill>
                <a:latin typeface="Georgia" pitchFamily="34" charset="0"/>
                <a:ea typeface="Georgia" pitchFamily="34" charset="-122"/>
                <a:cs typeface="Georgia" pitchFamily="34" charset="-120"/>
              </a:rPr>
              <a:t>Amazon Bedrock for Beginners</a:t>
            </a:r>
            <a:endParaRPr lang="en-US" sz="5200" dirty="0"/>
          </a:p>
        </p:txBody>
      </p:sp>
      <p:sp>
        <p:nvSpPr>
          <p:cNvPr id="5" name="Text 3"/>
          <p:cNvSpPr/>
          <p:nvPr/>
        </p:nvSpPr>
        <p:spPr>
          <a:xfrm>
            <a:off x="731520" y="3383280"/>
            <a:ext cx="10515600" cy="640080"/>
          </a:xfrm>
          <a:prstGeom prst="rect">
            <a:avLst/>
          </a:prstGeom>
          <a:noFill/>
          <a:ln/>
        </p:spPr>
        <p:txBody>
          <a:bodyPr wrap="square" lIns="0" tIns="0" rIns="0" bIns="0" rtlCol="0" anchor="ctr"/>
          <a:lstStyle/>
          <a:p>
            <a:pPr indent="0" marL="0">
              <a:buNone/>
            </a:pPr>
            <a:r>
              <a:rPr lang="en-US" sz="3600" i="1" dirty="0">
                <a:solidFill>
                  <a:srgbClr val="B45309"/>
                </a:solidFill>
                <a:latin typeface="Georgia" pitchFamily="34" charset="0"/>
                <a:ea typeface="Georgia" pitchFamily="34" charset="-122"/>
                <a:cs typeface="Georgia" pitchFamily="34" charset="-120"/>
              </a:rPr>
              <a:t>From First Prompt to AI Agent</a:t>
            </a:r>
            <a:endParaRPr lang="en-US" sz="3600" dirty="0"/>
          </a:p>
        </p:txBody>
      </p:sp>
      <p:sp>
        <p:nvSpPr>
          <p:cNvPr id="6" name="Shape 4"/>
          <p:cNvSpPr/>
          <p:nvPr/>
        </p:nvSpPr>
        <p:spPr>
          <a:xfrm>
            <a:off x="731520" y="4251960"/>
            <a:ext cx="3657600" cy="0"/>
          </a:xfrm>
          <a:prstGeom prst="line">
            <a:avLst/>
          </a:prstGeom>
          <a:noFill/>
          <a:ln w="19050">
            <a:solidFill>
              <a:srgbClr val="0F172A"/>
            </a:solidFill>
            <a:prstDash val="solid"/>
          </a:ln>
        </p:spPr>
      </p:sp>
      <p:sp>
        <p:nvSpPr>
          <p:cNvPr id="7" name="Text 5"/>
          <p:cNvSpPr/>
          <p:nvPr/>
        </p:nvSpPr>
        <p:spPr>
          <a:xfrm>
            <a:off x="731520" y="4434840"/>
            <a:ext cx="10515600" cy="457200"/>
          </a:xfrm>
          <a:prstGeom prst="rect">
            <a:avLst/>
          </a:prstGeom>
          <a:noFill/>
          <a:ln/>
        </p:spPr>
        <p:txBody>
          <a:bodyPr wrap="square" lIns="0" tIns="0" rIns="0" bIns="0"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We will go from a single API call to a working AI agent, one capability at a time.</a:t>
            </a:r>
            <a:endParaRPr lang="en-US" sz="1600" dirty="0"/>
          </a:p>
        </p:txBody>
      </p:sp>
      <p:sp>
        <p:nvSpPr>
          <p:cNvPr id="8" name="Text 6"/>
          <p:cNvSpPr/>
          <p:nvPr/>
        </p:nvSpPr>
        <p:spPr>
          <a:xfrm>
            <a:off x="731520" y="5349240"/>
            <a:ext cx="246888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1 · Why Bedrock</a:t>
            </a:r>
            <a:endParaRPr lang="en-US" sz="1100" dirty="0"/>
          </a:p>
        </p:txBody>
      </p:sp>
      <p:sp>
        <p:nvSpPr>
          <p:cNvPr id="9" name="Text 7"/>
          <p:cNvSpPr/>
          <p:nvPr/>
        </p:nvSpPr>
        <p:spPr>
          <a:xfrm>
            <a:off x="3337560" y="5349240"/>
            <a:ext cx="246888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2 · First API call</a:t>
            </a:r>
            <a:endParaRPr lang="en-US" sz="1100" dirty="0"/>
          </a:p>
        </p:txBody>
      </p:sp>
      <p:sp>
        <p:nvSpPr>
          <p:cNvPr id="10" name="Text 8"/>
          <p:cNvSpPr/>
          <p:nvPr/>
        </p:nvSpPr>
        <p:spPr>
          <a:xfrm>
            <a:off x="5943600" y="5349240"/>
            <a:ext cx="246888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3 · Tokens</a:t>
            </a:r>
            <a:endParaRPr lang="en-US" sz="1100" dirty="0"/>
          </a:p>
        </p:txBody>
      </p:sp>
      <p:sp>
        <p:nvSpPr>
          <p:cNvPr id="11" name="Text 9"/>
          <p:cNvSpPr/>
          <p:nvPr/>
        </p:nvSpPr>
        <p:spPr>
          <a:xfrm>
            <a:off x="8549640" y="5349240"/>
            <a:ext cx="246888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4 · Multi-turn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1 · THE STARTING POINT</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1</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Adding AI to an application — the questions stack up fast</a:t>
            </a:r>
            <a:endParaRPr lang="en-US" sz="26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It feels like you need to understand everything before you can build anything. You don't.</a:t>
            </a:r>
            <a:endParaRPr lang="en-US" sz="1400" dirty="0"/>
          </a:p>
        </p:txBody>
      </p:sp>
      <p:sp>
        <p:nvSpPr>
          <p:cNvPr id="9" name="Text 7"/>
          <p:cNvSpPr/>
          <p:nvPr/>
        </p:nvSpPr>
        <p:spPr>
          <a:xfrm>
            <a:off x="731520" y="2194560"/>
            <a:ext cx="914400" cy="640080"/>
          </a:xfrm>
          <a:prstGeom prst="rect">
            <a:avLst/>
          </a:prstGeom>
          <a:noFill/>
          <a:ln/>
        </p:spPr>
        <p:txBody>
          <a:bodyPr wrap="square" lIns="0" tIns="0" rIns="0" bIns="0" rtlCol="0" anchor="ctr"/>
          <a:lstStyle/>
          <a:p>
            <a:pPr indent="0" marL="0">
              <a:buNone/>
            </a:pPr>
            <a:r>
              <a:rPr lang="en-US" sz="3600" b="1" dirty="0">
                <a:solidFill>
                  <a:srgbClr val="B45309"/>
                </a:solidFill>
                <a:latin typeface="Georgia" pitchFamily="34" charset="0"/>
                <a:ea typeface="Georgia" pitchFamily="34" charset="-122"/>
                <a:cs typeface="Georgia" pitchFamily="34" charset="-120"/>
              </a:rPr>
              <a:t>01</a:t>
            </a:r>
            <a:endParaRPr lang="en-US" sz="3600" dirty="0"/>
          </a:p>
        </p:txBody>
      </p:sp>
      <p:sp>
        <p:nvSpPr>
          <p:cNvPr id="10" name="Text 8"/>
          <p:cNvSpPr/>
          <p:nvPr/>
        </p:nvSpPr>
        <p:spPr>
          <a:xfrm>
            <a:off x="1828800" y="2240280"/>
            <a:ext cx="9601200" cy="59436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Which model do you use?</a:t>
            </a:r>
            <a:endParaRPr lang="en-US" sz="2200" dirty="0"/>
          </a:p>
        </p:txBody>
      </p:sp>
      <p:sp>
        <p:nvSpPr>
          <p:cNvPr id="11" name="Text 9"/>
          <p:cNvSpPr/>
          <p:nvPr/>
        </p:nvSpPr>
        <p:spPr>
          <a:xfrm>
            <a:off x="731520" y="3063240"/>
            <a:ext cx="914400" cy="640080"/>
          </a:xfrm>
          <a:prstGeom prst="rect">
            <a:avLst/>
          </a:prstGeom>
          <a:noFill/>
          <a:ln/>
        </p:spPr>
        <p:txBody>
          <a:bodyPr wrap="square" lIns="0" tIns="0" rIns="0" bIns="0" rtlCol="0" anchor="ctr"/>
          <a:lstStyle/>
          <a:p>
            <a:pPr indent="0" marL="0">
              <a:buNone/>
            </a:pPr>
            <a:r>
              <a:rPr lang="en-US" sz="3600" b="1" dirty="0">
                <a:solidFill>
                  <a:srgbClr val="B45309"/>
                </a:solidFill>
                <a:latin typeface="Georgia" pitchFamily="34" charset="0"/>
                <a:ea typeface="Georgia" pitchFamily="34" charset="-122"/>
                <a:cs typeface="Georgia" pitchFamily="34" charset="-120"/>
              </a:rPr>
              <a:t>02</a:t>
            </a:r>
            <a:endParaRPr lang="en-US" sz="3600" dirty="0"/>
          </a:p>
        </p:txBody>
      </p:sp>
      <p:sp>
        <p:nvSpPr>
          <p:cNvPr id="12" name="Text 10"/>
          <p:cNvSpPr/>
          <p:nvPr/>
        </p:nvSpPr>
        <p:spPr>
          <a:xfrm>
            <a:off x="1828800" y="3108960"/>
            <a:ext cx="9601200" cy="59436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How do you call it from your application code?</a:t>
            </a:r>
            <a:endParaRPr lang="en-US" sz="2200" dirty="0"/>
          </a:p>
        </p:txBody>
      </p:sp>
      <p:sp>
        <p:nvSpPr>
          <p:cNvPr id="13" name="Text 11"/>
          <p:cNvSpPr/>
          <p:nvPr/>
        </p:nvSpPr>
        <p:spPr>
          <a:xfrm>
            <a:off x="731520" y="3931920"/>
            <a:ext cx="914400" cy="640080"/>
          </a:xfrm>
          <a:prstGeom prst="rect">
            <a:avLst/>
          </a:prstGeom>
          <a:noFill/>
          <a:ln/>
        </p:spPr>
        <p:txBody>
          <a:bodyPr wrap="square" lIns="0" tIns="0" rIns="0" bIns="0" rtlCol="0" anchor="ctr"/>
          <a:lstStyle/>
          <a:p>
            <a:pPr indent="0" marL="0">
              <a:buNone/>
            </a:pPr>
            <a:r>
              <a:rPr lang="en-US" sz="3600" b="1" dirty="0">
                <a:solidFill>
                  <a:srgbClr val="B45309"/>
                </a:solidFill>
                <a:latin typeface="Georgia" pitchFamily="34" charset="0"/>
                <a:ea typeface="Georgia" pitchFamily="34" charset="-122"/>
                <a:cs typeface="Georgia" pitchFamily="34" charset="-120"/>
              </a:rPr>
              <a:t>03</a:t>
            </a:r>
            <a:endParaRPr lang="en-US" sz="3600" dirty="0"/>
          </a:p>
        </p:txBody>
      </p:sp>
      <p:sp>
        <p:nvSpPr>
          <p:cNvPr id="14" name="Text 12"/>
          <p:cNvSpPr/>
          <p:nvPr/>
        </p:nvSpPr>
        <p:spPr>
          <a:xfrm>
            <a:off x="1828800" y="3977640"/>
            <a:ext cx="9601200" cy="59436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What happens when you want the AI to interact with your own data or external systems?</a:t>
            </a:r>
            <a:endParaRPr lang="en-US" sz="2200" dirty="0"/>
          </a:p>
        </p:txBody>
      </p:sp>
      <p:sp>
        <p:nvSpPr>
          <p:cNvPr id="15" name="Text 13"/>
          <p:cNvSpPr/>
          <p:nvPr/>
        </p:nvSpPr>
        <p:spPr>
          <a:xfrm>
            <a:off x="731520" y="4800600"/>
            <a:ext cx="914400" cy="640080"/>
          </a:xfrm>
          <a:prstGeom prst="rect">
            <a:avLst/>
          </a:prstGeom>
          <a:noFill/>
          <a:ln/>
        </p:spPr>
        <p:txBody>
          <a:bodyPr wrap="square" lIns="0" tIns="0" rIns="0" bIns="0" rtlCol="0" anchor="ctr"/>
          <a:lstStyle/>
          <a:p>
            <a:pPr indent="0" marL="0">
              <a:buNone/>
            </a:pPr>
            <a:r>
              <a:rPr lang="en-US" sz="3600" b="1" dirty="0">
                <a:solidFill>
                  <a:srgbClr val="B45309"/>
                </a:solidFill>
                <a:latin typeface="Georgia" pitchFamily="34" charset="0"/>
                <a:ea typeface="Georgia" pitchFamily="34" charset="-122"/>
                <a:cs typeface="Georgia" pitchFamily="34" charset="-120"/>
              </a:rPr>
              <a:t>04</a:t>
            </a:r>
            <a:endParaRPr lang="en-US" sz="3600" dirty="0"/>
          </a:p>
        </p:txBody>
      </p:sp>
      <p:sp>
        <p:nvSpPr>
          <p:cNvPr id="16" name="Text 14"/>
          <p:cNvSpPr/>
          <p:nvPr/>
        </p:nvSpPr>
        <p:spPr>
          <a:xfrm>
            <a:off x="1828800" y="4846320"/>
            <a:ext cx="9601200" cy="59436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And how do you control costs?</a:t>
            </a:r>
            <a:endParaRPr lang="en-US" sz="2200" dirty="0"/>
          </a:p>
        </p:txBody>
      </p:sp>
      <p:sp>
        <p:nvSpPr>
          <p:cNvPr id="17" name="Shape 15"/>
          <p:cNvSpPr/>
          <p:nvPr/>
        </p:nvSpPr>
        <p:spPr>
          <a:xfrm>
            <a:off x="731520" y="5852160"/>
            <a:ext cx="10698480" cy="502920"/>
          </a:xfrm>
          <a:prstGeom prst="rect">
            <a:avLst/>
          </a:prstGeom>
          <a:solidFill>
            <a:srgbClr val="F1F5F9"/>
          </a:solidFill>
          <a:ln w="12700">
            <a:solidFill>
              <a:srgbClr val="F1F5F9"/>
            </a:solidFill>
            <a:prstDash val="solid"/>
          </a:ln>
        </p:spPr>
      </p:sp>
      <p:sp>
        <p:nvSpPr>
          <p:cNvPr id="18" name="Shape 16"/>
          <p:cNvSpPr/>
          <p:nvPr/>
        </p:nvSpPr>
        <p:spPr>
          <a:xfrm>
            <a:off x="731520" y="5852160"/>
            <a:ext cx="45720" cy="502920"/>
          </a:xfrm>
          <a:prstGeom prst="rect">
            <a:avLst/>
          </a:prstGeom>
          <a:solidFill>
            <a:srgbClr val="B45309"/>
          </a:solidFill>
          <a:ln w="12700">
            <a:solidFill>
              <a:srgbClr val="B45309"/>
            </a:solidFill>
            <a:prstDash val="solid"/>
          </a:ln>
        </p:spPr>
      </p:sp>
      <p:sp>
        <p:nvSpPr>
          <p:cNvPr id="19" name="Text 17"/>
          <p:cNvSpPr/>
          <p:nvPr/>
        </p:nvSpPr>
        <p:spPr>
          <a:xfrm>
            <a:off x="914400" y="5943600"/>
            <a:ext cx="104241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FRAMING</a:t>
            </a:r>
            <a:endParaRPr lang="en-US" sz="900" dirty="0"/>
          </a:p>
        </p:txBody>
      </p:sp>
      <p:sp>
        <p:nvSpPr>
          <p:cNvPr id="20" name="Text 18"/>
          <p:cNvSpPr/>
          <p:nvPr/>
        </p:nvSpPr>
        <p:spPr>
          <a:xfrm>
            <a:off x="914400" y="6144768"/>
            <a:ext cx="10424160" cy="11887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We start small. Add one capability at a time. By the end you have a working agent.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1 · DEFINITION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1</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is Amazon Bedrock?</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One sentence: a fully managed AWS service that gives you API access to AI models from multiple providers.</a:t>
            </a:r>
            <a:endParaRPr lang="en-US" sz="1400" dirty="0"/>
          </a:p>
        </p:txBody>
      </p:sp>
      <p:sp>
        <p:nvSpPr>
          <p:cNvPr id="9" name="Shape 7"/>
          <p:cNvSpPr/>
          <p:nvPr/>
        </p:nvSpPr>
        <p:spPr>
          <a:xfrm>
            <a:off x="502920" y="2011680"/>
            <a:ext cx="5669280" cy="4114800"/>
          </a:xfrm>
          <a:prstGeom prst="rect">
            <a:avLst/>
          </a:prstGeom>
          <a:solidFill>
            <a:srgbClr val="F8FAFC"/>
          </a:solidFill>
          <a:ln w="9525">
            <a:solidFill>
              <a:srgbClr val="E2E8F0"/>
            </a:solidFill>
            <a:prstDash val="solid"/>
          </a:ln>
        </p:spPr>
      </p:sp>
      <p:sp>
        <p:nvSpPr>
          <p:cNvPr id="10" name="Text 8"/>
          <p:cNvSpPr/>
          <p:nvPr/>
        </p:nvSpPr>
        <p:spPr>
          <a:xfrm>
            <a:off x="777240" y="2194560"/>
            <a:ext cx="512064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SERVICE</a:t>
            </a:r>
            <a:endParaRPr lang="en-US" sz="1000" dirty="0"/>
          </a:p>
        </p:txBody>
      </p:sp>
      <p:sp>
        <p:nvSpPr>
          <p:cNvPr id="11" name="Text 9"/>
          <p:cNvSpPr/>
          <p:nvPr/>
        </p:nvSpPr>
        <p:spPr>
          <a:xfrm>
            <a:off x="777240" y="2560320"/>
            <a:ext cx="5120640" cy="3474720"/>
          </a:xfrm>
          <a:prstGeom prst="rect">
            <a:avLst/>
          </a:prstGeom>
          <a:noFill/>
          <a:ln/>
        </p:spPr>
        <p:txBody>
          <a:bodyPr wrap="square" lIns="0" tIns="0" rIns="0" bIns="0" rtlCol="0" anchor="t"/>
          <a:lstStyle/>
          <a:p>
            <a:pPr indent="0" marL="0">
              <a:buNone/>
            </a:pPr>
            <a:r>
              <a:rPr lang="en-US" sz="1800" b="1" dirty="0">
                <a:solidFill>
                  <a:srgbClr val="0F172A"/>
                </a:solidFill>
                <a:latin typeface="Georgia" pitchFamily="34" charset="0"/>
                <a:ea typeface="Georgia" pitchFamily="34" charset="-122"/>
                <a:cs typeface="Georgia" pitchFamily="34" charset="-120"/>
              </a:rPr>
              <a:t>Fully managed.</a:t>
            </a:r>
            <a:endParaRPr lang="en-US" sz="1800" dirty="0"/>
          </a:p>
          <a:p>
            <a:pPr indent="0" marL="0">
              <a:buNone/>
            </a:pPr>
            <a:r>
              <a:rPr lang="en-US" sz="1200" dirty="0">
                <a:solidFill>
                  <a:srgbClr val="334155"/>
                </a:solidFill>
                <a:latin typeface="Calibri" pitchFamily="34" charset="0"/>
                <a:ea typeface="Calibri" pitchFamily="34" charset="-122"/>
                <a:cs typeface="Calibri" pitchFamily="34" charset="-120"/>
              </a:rPr>
              <a:t>No servers to set up. No infrastructure to manage.</a:t>
            </a:r>
            <a:endParaRPr lang="en-US" sz="18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0F172A"/>
                </a:solidFill>
                <a:latin typeface="Georgia" pitchFamily="34" charset="0"/>
                <a:ea typeface="Georgia" pitchFamily="34" charset="-122"/>
                <a:cs typeface="Georgia" pitchFamily="34" charset="-120"/>
              </a:rPr>
              <a:t>Pay only for what you use.</a:t>
            </a:r>
            <a:endParaRPr lang="en-US" sz="1800" dirty="0"/>
          </a:p>
          <a:p>
            <a:pPr indent="0" marL="0">
              <a:buNone/>
            </a:pPr>
            <a:r>
              <a:rPr lang="en-US" sz="1200" dirty="0">
                <a:solidFill>
                  <a:srgbClr val="334155"/>
                </a:solidFill>
                <a:latin typeface="Calibri" pitchFamily="34" charset="0"/>
                <a:ea typeface="Calibri" pitchFamily="34" charset="-122"/>
                <a:cs typeface="Calibri" pitchFamily="34" charset="-120"/>
              </a:rPr>
              <a:t>Charged per token, per model.</a:t>
            </a:r>
            <a:endParaRPr lang="en-US" sz="18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0F172A"/>
                </a:solidFill>
                <a:latin typeface="Georgia" pitchFamily="34" charset="0"/>
                <a:ea typeface="Georgia" pitchFamily="34" charset="-122"/>
                <a:cs typeface="Georgia" pitchFamily="34" charset="-120"/>
              </a:rPr>
              <a:t>One API. Many model providers.</a:t>
            </a:r>
            <a:endParaRPr lang="en-US" sz="1800" dirty="0"/>
          </a:p>
          <a:p>
            <a:pPr indent="0" marL="0">
              <a:buNone/>
            </a:pPr>
            <a:r>
              <a:rPr lang="en-US" sz="1200" dirty="0">
                <a:solidFill>
                  <a:srgbClr val="334155"/>
                </a:solidFill>
                <a:latin typeface="Calibri" pitchFamily="34" charset="0"/>
                <a:ea typeface="Calibri" pitchFamily="34" charset="-122"/>
                <a:cs typeface="Calibri" pitchFamily="34" charset="-120"/>
              </a:rPr>
              <a:t>Switch providers without changing your code.</a:t>
            </a:r>
            <a:endParaRPr lang="en-US" sz="1800" dirty="0"/>
          </a:p>
        </p:txBody>
      </p:sp>
      <p:sp>
        <p:nvSpPr>
          <p:cNvPr id="12" name="Text 10"/>
          <p:cNvSpPr/>
          <p:nvPr/>
        </p:nvSpPr>
        <p:spPr>
          <a:xfrm>
            <a:off x="6492240" y="2194560"/>
            <a:ext cx="512064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PROVIDERS AVAILABLE</a:t>
            </a:r>
            <a:endParaRPr lang="en-US" sz="1000" dirty="0"/>
          </a:p>
        </p:txBody>
      </p:sp>
      <p:sp>
        <p:nvSpPr>
          <p:cNvPr id="13" name="Shape 11"/>
          <p:cNvSpPr/>
          <p:nvPr/>
        </p:nvSpPr>
        <p:spPr>
          <a:xfrm>
            <a:off x="6492240" y="2560320"/>
            <a:ext cx="2377440" cy="365760"/>
          </a:xfrm>
          <a:prstGeom prst="rect">
            <a:avLst/>
          </a:prstGeom>
          <a:solidFill>
            <a:srgbClr val="FFFFFF"/>
          </a:solidFill>
          <a:ln w="6350">
            <a:solidFill>
              <a:srgbClr val="E2E8F0"/>
            </a:solidFill>
            <a:prstDash val="solid"/>
          </a:ln>
        </p:spPr>
      </p:sp>
      <p:sp>
        <p:nvSpPr>
          <p:cNvPr id="14" name="Text 12"/>
          <p:cNvSpPr/>
          <p:nvPr/>
        </p:nvSpPr>
        <p:spPr>
          <a:xfrm>
            <a:off x="6492240" y="25603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Amazon</a:t>
            </a:r>
            <a:endParaRPr lang="en-US" sz="1200" dirty="0"/>
          </a:p>
        </p:txBody>
      </p:sp>
      <p:sp>
        <p:nvSpPr>
          <p:cNvPr id="15" name="Shape 13"/>
          <p:cNvSpPr/>
          <p:nvPr/>
        </p:nvSpPr>
        <p:spPr>
          <a:xfrm>
            <a:off x="9098280" y="2560320"/>
            <a:ext cx="2377440" cy="365760"/>
          </a:xfrm>
          <a:prstGeom prst="rect">
            <a:avLst/>
          </a:prstGeom>
          <a:solidFill>
            <a:srgbClr val="FFFFFF"/>
          </a:solidFill>
          <a:ln w="6350">
            <a:solidFill>
              <a:srgbClr val="E2E8F0"/>
            </a:solidFill>
            <a:prstDash val="solid"/>
          </a:ln>
        </p:spPr>
      </p:sp>
      <p:sp>
        <p:nvSpPr>
          <p:cNvPr id="16" name="Text 14"/>
          <p:cNvSpPr/>
          <p:nvPr/>
        </p:nvSpPr>
        <p:spPr>
          <a:xfrm>
            <a:off x="9098280" y="25603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Anthropic</a:t>
            </a:r>
            <a:endParaRPr lang="en-US" sz="1200" dirty="0"/>
          </a:p>
        </p:txBody>
      </p:sp>
      <p:sp>
        <p:nvSpPr>
          <p:cNvPr id="17" name="Shape 15"/>
          <p:cNvSpPr/>
          <p:nvPr/>
        </p:nvSpPr>
        <p:spPr>
          <a:xfrm>
            <a:off x="6492240" y="3017520"/>
            <a:ext cx="2377440" cy="365760"/>
          </a:xfrm>
          <a:prstGeom prst="rect">
            <a:avLst/>
          </a:prstGeom>
          <a:solidFill>
            <a:srgbClr val="FFFFFF"/>
          </a:solidFill>
          <a:ln w="6350">
            <a:solidFill>
              <a:srgbClr val="E2E8F0"/>
            </a:solidFill>
            <a:prstDash val="solid"/>
          </a:ln>
        </p:spPr>
      </p:sp>
      <p:sp>
        <p:nvSpPr>
          <p:cNvPr id="18" name="Text 16"/>
          <p:cNvSpPr/>
          <p:nvPr/>
        </p:nvSpPr>
        <p:spPr>
          <a:xfrm>
            <a:off x="6492240" y="30175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Meta</a:t>
            </a:r>
            <a:endParaRPr lang="en-US" sz="1200" dirty="0"/>
          </a:p>
        </p:txBody>
      </p:sp>
      <p:sp>
        <p:nvSpPr>
          <p:cNvPr id="19" name="Shape 17"/>
          <p:cNvSpPr/>
          <p:nvPr/>
        </p:nvSpPr>
        <p:spPr>
          <a:xfrm>
            <a:off x="9098280" y="3017520"/>
            <a:ext cx="2377440" cy="365760"/>
          </a:xfrm>
          <a:prstGeom prst="rect">
            <a:avLst/>
          </a:prstGeom>
          <a:solidFill>
            <a:srgbClr val="FFFFFF"/>
          </a:solidFill>
          <a:ln w="6350">
            <a:solidFill>
              <a:srgbClr val="E2E8F0"/>
            </a:solidFill>
            <a:prstDash val="solid"/>
          </a:ln>
        </p:spPr>
      </p:sp>
      <p:sp>
        <p:nvSpPr>
          <p:cNvPr id="20" name="Text 18"/>
          <p:cNvSpPr/>
          <p:nvPr/>
        </p:nvSpPr>
        <p:spPr>
          <a:xfrm>
            <a:off x="9098280" y="30175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Mistral</a:t>
            </a:r>
            <a:endParaRPr lang="en-US" sz="1200" dirty="0"/>
          </a:p>
        </p:txBody>
      </p:sp>
      <p:sp>
        <p:nvSpPr>
          <p:cNvPr id="21" name="Shape 19"/>
          <p:cNvSpPr/>
          <p:nvPr/>
        </p:nvSpPr>
        <p:spPr>
          <a:xfrm>
            <a:off x="6492240" y="3474720"/>
            <a:ext cx="2377440" cy="365760"/>
          </a:xfrm>
          <a:prstGeom prst="rect">
            <a:avLst/>
          </a:prstGeom>
          <a:solidFill>
            <a:srgbClr val="FFFFFF"/>
          </a:solidFill>
          <a:ln w="6350">
            <a:solidFill>
              <a:srgbClr val="E2E8F0"/>
            </a:solidFill>
            <a:prstDash val="solid"/>
          </a:ln>
        </p:spPr>
      </p:sp>
      <p:sp>
        <p:nvSpPr>
          <p:cNvPr id="22" name="Text 20"/>
          <p:cNvSpPr/>
          <p:nvPr/>
        </p:nvSpPr>
        <p:spPr>
          <a:xfrm>
            <a:off x="6492240" y="34747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Cohere</a:t>
            </a:r>
            <a:endParaRPr lang="en-US" sz="1200" dirty="0"/>
          </a:p>
        </p:txBody>
      </p:sp>
      <p:sp>
        <p:nvSpPr>
          <p:cNvPr id="23" name="Shape 21"/>
          <p:cNvSpPr/>
          <p:nvPr/>
        </p:nvSpPr>
        <p:spPr>
          <a:xfrm>
            <a:off x="9098280" y="3474720"/>
            <a:ext cx="2377440" cy="365760"/>
          </a:xfrm>
          <a:prstGeom prst="rect">
            <a:avLst/>
          </a:prstGeom>
          <a:solidFill>
            <a:srgbClr val="FFFFFF"/>
          </a:solidFill>
          <a:ln w="6350">
            <a:solidFill>
              <a:srgbClr val="E2E8F0"/>
            </a:solidFill>
            <a:prstDash val="solid"/>
          </a:ln>
        </p:spPr>
      </p:sp>
      <p:sp>
        <p:nvSpPr>
          <p:cNvPr id="24" name="Text 22"/>
          <p:cNvSpPr/>
          <p:nvPr/>
        </p:nvSpPr>
        <p:spPr>
          <a:xfrm>
            <a:off x="9098280" y="34747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AI21</a:t>
            </a:r>
            <a:endParaRPr lang="en-US" sz="1200" dirty="0"/>
          </a:p>
        </p:txBody>
      </p:sp>
      <p:sp>
        <p:nvSpPr>
          <p:cNvPr id="25" name="Shape 23"/>
          <p:cNvSpPr/>
          <p:nvPr/>
        </p:nvSpPr>
        <p:spPr>
          <a:xfrm>
            <a:off x="6492240" y="3931920"/>
            <a:ext cx="2377440" cy="365760"/>
          </a:xfrm>
          <a:prstGeom prst="rect">
            <a:avLst/>
          </a:prstGeom>
          <a:solidFill>
            <a:srgbClr val="FFFFFF"/>
          </a:solidFill>
          <a:ln w="6350">
            <a:solidFill>
              <a:srgbClr val="E2E8F0"/>
            </a:solidFill>
            <a:prstDash val="solid"/>
          </a:ln>
        </p:spPr>
      </p:sp>
      <p:sp>
        <p:nvSpPr>
          <p:cNvPr id="26" name="Text 24"/>
          <p:cNvSpPr/>
          <p:nvPr/>
        </p:nvSpPr>
        <p:spPr>
          <a:xfrm>
            <a:off x="6492240" y="39319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Stability AI</a:t>
            </a:r>
            <a:endParaRPr lang="en-US" sz="1200" dirty="0"/>
          </a:p>
        </p:txBody>
      </p:sp>
      <p:sp>
        <p:nvSpPr>
          <p:cNvPr id="27" name="Shape 25"/>
          <p:cNvSpPr/>
          <p:nvPr/>
        </p:nvSpPr>
        <p:spPr>
          <a:xfrm>
            <a:off x="9098280" y="3931920"/>
            <a:ext cx="2377440" cy="365760"/>
          </a:xfrm>
          <a:prstGeom prst="rect">
            <a:avLst/>
          </a:prstGeom>
          <a:solidFill>
            <a:srgbClr val="FFFFFF"/>
          </a:solidFill>
          <a:ln w="6350">
            <a:solidFill>
              <a:srgbClr val="E2E8F0"/>
            </a:solidFill>
            <a:prstDash val="solid"/>
          </a:ln>
        </p:spPr>
      </p:sp>
      <p:sp>
        <p:nvSpPr>
          <p:cNvPr id="28" name="Text 26"/>
          <p:cNvSpPr/>
          <p:nvPr/>
        </p:nvSpPr>
        <p:spPr>
          <a:xfrm>
            <a:off x="9098280" y="3931920"/>
            <a:ext cx="237744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DeepSeek</a:t>
            </a:r>
            <a:endParaRPr lang="en-US" sz="1200" dirty="0"/>
          </a:p>
        </p:txBody>
      </p:sp>
      <p:sp>
        <p:nvSpPr>
          <p:cNvPr id="29" name="Text 27"/>
          <p:cNvSpPr/>
          <p:nvPr/>
        </p:nvSpPr>
        <p:spPr>
          <a:xfrm>
            <a:off x="6492240" y="4617720"/>
            <a:ext cx="512064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PLUS, BUILT-IN FEATURES</a:t>
            </a:r>
            <a:endParaRPr lang="en-US" sz="1000" dirty="0"/>
          </a:p>
        </p:txBody>
      </p:sp>
      <p:sp>
        <p:nvSpPr>
          <p:cNvPr id="30" name="Text 28"/>
          <p:cNvSpPr/>
          <p:nvPr/>
        </p:nvSpPr>
        <p:spPr>
          <a:xfrm>
            <a:off x="6492240" y="4937760"/>
            <a:ext cx="5120640" cy="29260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Knowledge Bases (RAG)</a:t>
            </a:r>
            <a:endParaRPr lang="en-US" sz="1300" dirty="0"/>
          </a:p>
        </p:txBody>
      </p:sp>
      <p:sp>
        <p:nvSpPr>
          <p:cNvPr id="31" name="Text 29"/>
          <p:cNvSpPr/>
          <p:nvPr/>
        </p:nvSpPr>
        <p:spPr>
          <a:xfrm>
            <a:off x="6492240" y="5303520"/>
            <a:ext cx="5120640" cy="29260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Guardrails (content safety)</a:t>
            </a:r>
            <a:endParaRPr lang="en-US" sz="1300" dirty="0"/>
          </a:p>
        </p:txBody>
      </p:sp>
      <p:sp>
        <p:nvSpPr>
          <p:cNvPr id="32" name="Text 30"/>
          <p:cNvSpPr/>
          <p:nvPr/>
        </p:nvSpPr>
        <p:spPr>
          <a:xfrm>
            <a:off x="6492240" y="5669280"/>
            <a:ext cx="5120640" cy="29260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Tool use (function calling)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1 · THE JOURNEY</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1</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we will build, in order</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Each step adds one capability. We do the first six the hard way, then switch to a framework.</a:t>
            </a:r>
            <a:endParaRPr lang="en-US" sz="1400" dirty="0"/>
          </a:p>
        </p:txBody>
      </p:sp>
      <p:sp>
        <p:nvSpPr>
          <p:cNvPr id="9" name="Shape 7"/>
          <p:cNvSpPr/>
          <p:nvPr/>
        </p:nvSpPr>
        <p:spPr>
          <a:xfrm>
            <a:off x="502920" y="2286000"/>
            <a:ext cx="1519602" cy="2926080"/>
          </a:xfrm>
          <a:prstGeom prst="rect">
            <a:avLst/>
          </a:prstGeom>
          <a:solidFill>
            <a:srgbClr val="F8FAFC"/>
          </a:solidFill>
          <a:ln w="6350">
            <a:solidFill>
              <a:srgbClr val="E2E8F0"/>
            </a:solidFill>
            <a:prstDash val="solid"/>
          </a:ln>
        </p:spPr>
      </p:sp>
      <p:sp>
        <p:nvSpPr>
          <p:cNvPr id="10" name="Text 8"/>
          <p:cNvSpPr/>
          <p:nvPr/>
        </p:nvSpPr>
        <p:spPr>
          <a:xfrm>
            <a:off x="502920" y="2468880"/>
            <a:ext cx="1519602" cy="548640"/>
          </a:xfrm>
          <a:prstGeom prst="rect">
            <a:avLst/>
          </a:prstGeom>
          <a:noFill/>
          <a:ln/>
        </p:spPr>
        <p:txBody>
          <a:bodyPr wrap="square" lIns="0" tIns="0" rIns="0" bIns="0" rtlCol="0" anchor="ctr"/>
          <a:lstStyle/>
          <a:p>
            <a:pPr algn="ctr" indent="0" marL="0">
              <a:buNone/>
            </a:pPr>
            <a:r>
              <a:rPr lang="en-US" sz="3600" b="1" dirty="0">
                <a:solidFill>
                  <a:srgbClr val="B45309"/>
                </a:solidFill>
                <a:latin typeface="Georgia" pitchFamily="34" charset="0"/>
                <a:ea typeface="Georgia" pitchFamily="34" charset="-122"/>
                <a:cs typeface="Georgia" pitchFamily="34" charset="-120"/>
              </a:rPr>
              <a:t>1</a:t>
            </a:r>
            <a:endParaRPr lang="en-US" sz="3600" dirty="0"/>
          </a:p>
        </p:txBody>
      </p:sp>
      <p:sp>
        <p:nvSpPr>
          <p:cNvPr id="11" name="Text 9"/>
          <p:cNvSpPr/>
          <p:nvPr/>
        </p:nvSpPr>
        <p:spPr>
          <a:xfrm>
            <a:off x="548640" y="3154680"/>
            <a:ext cx="1428162" cy="868680"/>
          </a:xfrm>
          <a:prstGeom prst="rect">
            <a:avLst/>
          </a:prstGeom>
          <a:noFill/>
          <a:ln/>
        </p:spPr>
        <p:txBody>
          <a:bodyPr wrap="square" lIns="0" tIns="0" rIns="0" bIns="0" rtlCol="0" anchor="t"/>
          <a:lstStyle/>
          <a:p>
            <a:pPr algn="ctr" indent="0" marL="0">
              <a:buNone/>
            </a:pPr>
            <a:r>
              <a:rPr lang="en-US" sz="1300" b="1" dirty="0">
                <a:solidFill>
                  <a:srgbClr val="0F172A"/>
                </a:solidFill>
                <a:latin typeface="Georgia" pitchFamily="34" charset="0"/>
                <a:ea typeface="Georgia" pitchFamily="34" charset="-122"/>
                <a:cs typeface="Georgia" pitchFamily="34" charset="-120"/>
              </a:rPr>
              <a:t>First API call</a:t>
            </a:r>
            <a:endParaRPr lang="en-US" sz="1300" dirty="0"/>
          </a:p>
        </p:txBody>
      </p:sp>
      <p:sp>
        <p:nvSpPr>
          <p:cNvPr id="12" name="Text 10"/>
          <p:cNvSpPr/>
          <p:nvPr/>
        </p:nvSpPr>
        <p:spPr>
          <a:xfrm>
            <a:off x="548640" y="4069080"/>
            <a:ext cx="1428162" cy="82296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Converse API. One prompt, one response.</a:t>
            </a:r>
            <a:endParaRPr lang="en-US" sz="950" dirty="0"/>
          </a:p>
        </p:txBody>
      </p:sp>
      <p:sp>
        <p:nvSpPr>
          <p:cNvPr id="13" name="Text 11"/>
          <p:cNvSpPr/>
          <p:nvPr/>
        </p:nvSpPr>
        <p:spPr>
          <a:xfrm>
            <a:off x="548640" y="4892040"/>
            <a:ext cx="1428162" cy="228600"/>
          </a:xfrm>
          <a:prstGeom prst="rect">
            <a:avLst/>
          </a:prstGeom>
          <a:noFill/>
          <a:ln/>
        </p:spPr>
        <p:txBody>
          <a:bodyPr wrap="square" lIns="0" tIns="0" rIns="0" bIns="0" rtlCol="0" anchor="ctr"/>
          <a:lstStyle/>
          <a:p>
            <a:pPr algn="ctr" indent="0" marL="0">
              <a:buNone/>
            </a:pPr>
            <a:r>
              <a:rPr lang="en-US" sz="850" b="1" spc="200" kern="0" dirty="0">
                <a:solidFill>
                  <a:srgbClr val="64748B"/>
                </a:solidFill>
                <a:latin typeface="Calibri" pitchFamily="34" charset="0"/>
                <a:ea typeface="Calibri" pitchFamily="34" charset="-122"/>
                <a:cs typeface="Calibri" pitchFamily="34" charset="-120"/>
              </a:rPr>
              <a:t>ch 2</a:t>
            </a:r>
            <a:endParaRPr lang="en-US" sz="850" dirty="0"/>
          </a:p>
        </p:txBody>
      </p:sp>
      <p:sp>
        <p:nvSpPr>
          <p:cNvPr id="14" name="Shape 12"/>
          <p:cNvSpPr/>
          <p:nvPr/>
        </p:nvSpPr>
        <p:spPr>
          <a:xfrm>
            <a:off x="2113962" y="2286000"/>
            <a:ext cx="1519602" cy="2926080"/>
          </a:xfrm>
          <a:prstGeom prst="rect">
            <a:avLst/>
          </a:prstGeom>
          <a:solidFill>
            <a:srgbClr val="F8FAFC"/>
          </a:solidFill>
          <a:ln w="6350">
            <a:solidFill>
              <a:srgbClr val="E2E8F0"/>
            </a:solidFill>
            <a:prstDash val="solid"/>
          </a:ln>
        </p:spPr>
      </p:sp>
      <p:sp>
        <p:nvSpPr>
          <p:cNvPr id="15" name="Text 13"/>
          <p:cNvSpPr/>
          <p:nvPr/>
        </p:nvSpPr>
        <p:spPr>
          <a:xfrm>
            <a:off x="2113962" y="2468880"/>
            <a:ext cx="1519602" cy="548640"/>
          </a:xfrm>
          <a:prstGeom prst="rect">
            <a:avLst/>
          </a:prstGeom>
          <a:noFill/>
          <a:ln/>
        </p:spPr>
        <p:txBody>
          <a:bodyPr wrap="square" lIns="0" tIns="0" rIns="0" bIns="0" rtlCol="0" anchor="ctr"/>
          <a:lstStyle/>
          <a:p>
            <a:pPr algn="ctr" indent="0" marL="0">
              <a:buNone/>
            </a:pPr>
            <a:r>
              <a:rPr lang="en-US" sz="3600" b="1" dirty="0">
                <a:solidFill>
                  <a:srgbClr val="B45309"/>
                </a:solidFill>
                <a:latin typeface="Georgia" pitchFamily="34" charset="0"/>
                <a:ea typeface="Georgia" pitchFamily="34" charset="-122"/>
                <a:cs typeface="Georgia" pitchFamily="34" charset="-120"/>
              </a:rPr>
              <a:t>2</a:t>
            </a:r>
            <a:endParaRPr lang="en-US" sz="3600" dirty="0"/>
          </a:p>
        </p:txBody>
      </p:sp>
      <p:sp>
        <p:nvSpPr>
          <p:cNvPr id="16" name="Text 14"/>
          <p:cNvSpPr/>
          <p:nvPr/>
        </p:nvSpPr>
        <p:spPr>
          <a:xfrm>
            <a:off x="2159682" y="3154680"/>
            <a:ext cx="1428162" cy="868680"/>
          </a:xfrm>
          <a:prstGeom prst="rect">
            <a:avLst/>
          </a:prstGeom>
          <a:noFill/>
          <a:ln/>
        </p:spPr>
        <p:txBody>
          <a:bodyPr wrap="square" lIns="0" tIns="0" rIns="0" bIns="0" rtlCol="0" anchor="t"/>
          <a:lstStyle/>
          <a:p>
            <a:pPr algn="ctr" indent="0" marL="0">
              <a:buNone/>
            </a:pPr>
            <a:r>
              <a:rPr lang="en-US" sz="1300" b="1" dirty="0">
                <a:solidFill>
                  <a:srgbClr val="0F172A"/>
                </a:solidFill>
                <a:latin typeface="Georgia" pitchFamily="34" charset="0"/>
                <a:ea typeface="Georgia" pitchFamily="34" charset="-122"/>
                <a:cs typeface="Georgia" pitchFamily="34" charset="-120"/>
              </a:rPr>
              <a:t>Tokens</a:t>
            </a:r>
            <a:endParaRPr lang="en-US" sz="1300" dirty="0"/>
          </a:p>
        </p:txBody>
      </p:sp>
      <p:sp>
        <p:nvSpPr>
          <p:cNvPr id="17" name="Text 15"/>
          <p:cNvSpPr/>
          <p:nvPr/>
        </p:nvSpPr>
        <p:spPr>
          <a:xfrm>
            <a:off x="2159682" y="4069080"/>
            <a:ext cx="1428162" cy="82296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Understand what you are paying for.</a:t>
            </a:r>
            <a:endParaRPr lang="en-US" sz="950" dirty="0"/>
          </a:p>
        </p:txBody>
      </p:sp>
      <p:sp>
        <p:nvSpPr>
          <p:cNvPr id="18" name="Text 16"/>
          <p:cNvSpPr/>
          <p:nvPr/>
        </p:nvSpPr>
        <p:spPr>
          <a:xfrm>
            <a:off x="2159682" y="4892040"/>
            <a:ext cx="1428162" cy="228600"/>
          </a:xfrm>
          <a:prstGeom prst="rect">
            <a:avLst/>
          </a:prstGeom>
          <a:noFill/>
          <a:ln/>
        </p:spPr>
        <p:txBody>
          <a:bodyPr wrap="square" lIns="0" tIns="0" rIns="0" bIns="0" rtlCol="0" anchor="ctr"/>
          <a:lstStyle/>
          <a:p>
            <a:pPr algn="ctr" indent="0" marL="0">
              <a:buNone/>
            </a:pPr>
            <a:r>
              <a:rPr lang="en-US" sz="850" b="1" spc="200" kern="0" dirty="0">
                <a:solidFill>
                  <a:srgbClr val="64748B"/>
                </a:solidFill>
                <a:latin typeface="Calibri" pitchFamily="34" charset="0"/>
                <a:ea typeface="Calibri" pitchFamily="34" charset="-122"/>
                <a:cs typeface="Calibri" pitchFamily="34" charset="-120"/>
              </a:rPr>
              <a:t>ch 3</a:t>
            </a:r>
            <a:endParaRPr lang="en-US" sz="850" dirty="0"/>
          </a:p>
        </p:txBody>
      </p:sp>
      <p:sp>
        <p:nvSpPr>
          <p:cNvPr id="19" name="Shape 17"/>
          <p:cNvSpPr/>
          <p:nvPr/>
        </p:nvSpPr>
        <p:spPr>
          <a:xfrm>
            <a:off x="3725004" y="2286000"/>
            <a:ext cx="1519602" cy="2926080"/>
          </a:xfrm>
          <a:prstGeom prst="rect">
            <a:avLst/>
          </a:prstGeom>
          <a:solidFill>
            <a:srgbClr val="F8FAFC"/>
          </a:solidFill>
          <a:ln w="6350">
            <a:solidFill>
              <a:srgbClr val="E2E8F0"/>
            </a:solidFill>
            <a:prstDash val="solid"/>
          </a:ln>
        </p:spPr>
      </p:sp>
      <p:sp>
        <p:nvSpPr>
          <p:cNvPr id="20" name="Text 18"/>
          <p:cNvSpPr/>
          <p:nvPr/>
        </p:nvSpPr>
        <p:spPr>
          <a:xfrm>
            <a:off x="3725004" y="2468880"/>
            <a:ext cx="1519602" cy="548640"/>
          </a:xfrm>
          <a:prstGeom prst="rect">
            <a:avLst/>
          </a:prstGeom>
          <a:noFill/>
          <a:ln/>
        </p:spPr>
        <p:txBody>
          <a:bodyPr wrap="square" lIns="0" tIns="0" rIns="0" bIns="0" rtlCol="0" anchor="ctr"/>
          <a:lstStyle/>
          <a:p>
            <a:pPr algn="ctr" indent="0" marL="0">
              <a:buNone/>
            </a:pPr>
            <a:r>
              <a:rPr lang="en-US" sz="3600" b="1" dirty="0">
                <a:solidFill>
                  <a:srgbClr val="B45309"/>
                </a:solidFill>
                <a:latin typeface="Georgia" pitchFamily="34" charset="0"/>
                <a:ea typeface="Georgia" pitchFamily="34" charset="-122"/>
                <a:cs typeface="Georgia" pitchFamily="34" charset="-120"/>
              </a:rPr>
              <a:t>3</a:t>
            </a:r>
            <a:endParaRPr lang="en-US" sz="3600" dirty="0"/>
          </a:p>
        </p:txBody>
      </p:sp>
      <p:sp>
        <p:nvSpPr>
          <p:cNvPr id="21" name="Text 19"/>
          <p:cNvSpPr/>
          <p:nvPr/>
        </p:nvSpPr>
        <p:spPr>
          <a:xfrm>
            <a:off x="3770724" y="3154680"/>
            <a:ext cx="1428162" cy="868680"/>
          </a:xfrm>
          <a:prstGeom prst="rect">
            <a:avLst/>
          </a:prstGeom>
          <a:noFill/>
          <a:ln/>
        </p:spPr>
        <p:txBody>
          <a:bodyPr wrap="square" lIns="0" tIns="0" rIns="0" bIns="0" rtlCol="0" anchor="t"/>
          <a:lstStyle/>
          <a:p>
            <a:pPr algn="ctr" indent="0" marL="0">
              <a:buNone/>
            </a:pPr>
            <a:r>
              <a:rPr lang="en-US" sz="1300" b="1" dirty="0">
                <a:solidFill>
                  <a:srgbClr val="0F172A"/>
                </a:solidFill>
                <a:latin typeface="Georgia" pitchFamily="34" charset="0"/>
                <a:ea typeface="Georgia" pitchFamily="34" charset="-122"/>
                <a:cs typeface="Georgia" pitchFamily="34" charset="-120"/>
              </a:rPr>
              <a:t>Multi-turn</a:t>
            </a:r>
            <a:endParaRPr lang="en-US" sz="1300" dirty="0"/>
          </a:p>
        </p:txBody>
      </p:sp>
      <p:sp>
        <p:nvSpPr>
          <p:cNvPr id="22" name="Text 20"/>
          <p:cNvSpPr/>
          <p:nvPr/>
        </p:nvSpPr>
        <p:spPr>
          <a:xfrm>
            <a:off x="3770724" y="4069080"/>
            <a:ext cx="1428162" cy="82296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Conversation memory across turns.</a:t>
            </a:r>
            <a:endParaRPr lang="en-US" sz="950" dirty="0"/>
          </a:p>
        </p:txBody>
      </p:sp>
      <p:sp>
        <p:nvSpPr>
          <p:cNvPr id="23" name="Text 21"/>
          <p:cNvSpPr/>
          <p:nvPr/>
        </p:nvSpPr>
        <p:spPr>
          <a:xfrm>
            <a:off x="3770724" y="4892040"/>
            <a:ext cx="1428162" cy="228600"/>
          </a:xfrm>
          <a:prstGeom prst="rect">
            <a:avLst/>
          </a:prstGeom>
          <a:noFill/>
          <a:ln/>
        </p:spPr>
        <p:txBody>
          <a:bodyPr wrap="square" lIns="0" tIns="0" rIns="0" bIns="0" rtlCol="0" anchor="ctr"/>
          <a:lstStyle/>
          <a:p>
            <a:pPr algn="ctr" indent="0" marL="0">
              <a:buNone/>
            </a:pPr>
            <a:r>
              <a:rPr lang="en-US" sz="850" b="1" spc="200" kern="0" dirty="0">
                <a:solidFill>
                  <a:srgbClr val="64748B"/>
                </a:solidFill>
                <a:latin typeface="Calibri" pitchFamily="34" charset="0"/>
                <a:ea typeface="Calibri" pitchFamily="34" charset="-122"/>
                <a:cs typeface="Calibri" pitchFamily="34" charset="-120"/>
              </a:rPr>
              <a:t>ch 4</a:t>
            </a:r>
            <a:endParaRPr lang="en-US" sz="850" dirty="0"/>
          </a:p>
        </p:txBody>
      </p:sp>
      <p:sp>
        <p:nvSpPr>
          <p:cNvPr id="24" name="Shape 22"/>
          <p:cNvSpPr/>
          <p:nvPr/>
        </p:nvSpPr>
        <p:spPr>
          <a:xfrm>
            <a:off x="5336047" y="2286000"/>
            <a:ext cx="1519602" cy="2926080"/>
          </a:xfrm>
          <a:prstGeom prst="rect">
            <a:avLst/>
          </a:prstGeom>
          <a:solidFill>
            <a:srgbClr val="F8FAFC"/>
          </a:solidFill>
          <a:ln w="6350">
            <a:solidFill>
              <a:srgbClr val="E2E8F0"/>
            </a:solidFill>
            <a:prstDash val="solid"/>
          </a:ln>
        </p:spPr>
      </p:sp>
      <p:sp>
        <p:nvSpPr>
          <p:cNvPr id="25" name="Text 23"/>
          <p:cNvSpPr/>
          <p:nvPr/>
        </p:nvSpPr>
        <p:spPr>
          <a:xfrm>
            <a:off x="5336047" y="2468880"/>
            <a:ext cx="1519602" cy="548640"/>
          </a:xfrm>
          <a:prstGeom prst="rect">
            <a:avLst/>
          </a:prstGeom>
          <a:noFill/>
          <a:ln/>
        </p:spPr>
        <p:txBody>
          <a:bodyPr wrap="square" lIns="0" tIns="0" rIns="0" bIns="0" rtlCol="0" anchor="ctr"/>
          <a:lstStyle/>
          <a:p>
            <a:pPr algn="ctr" indent="0" marL="0">
              <a:buNone/>
            </a:pPr>
            <a:r>
              <a:rPr lang="en-US" sz="3600" b="1" dirty="0">
                <a:solidFill>
                  <a:srgbClr val="B45309"/>
                </a:solidFill>
                <a:latin typeface="Georgia" pitchFamily="34" charset="0"/>
                <a:ea typeface="Georgia" pitchFamily="34" charset="-122"/>
                <a:cs typeface="Georgia" pitchFamily="34" charset="-120"/>
              </a:rPr>
              <a:t>4</a:t>
            </a:r>
            <a:endParaRPr lang="en-US" sz="3600" dirty="0"/>
          </a:p>
        </p:txBody>
      </p:sp>
      <p:sp>
        <p:nvSpPr>
          <p:cNvPr id="26" name="Text 24"/>
          <p:cNvSpPr/>
          <p:nvPr/>
        </p:nvSpPr>
        <p:spPr>
          <a:xfrm>
            <a:off x="5381767" y="3154680"/>
            <a:ext cx="1428162" cy="868680"/>
          </a:xfrm>
          <a:prstGeom prst="rect">
            <a:avLst/>
          </a:prstGeom>
          <a:noFill/>
          <a:ln/>
        </p:spPr>
        <p:txBody>
          <a:bodyPr wrap="square" lIns="0" tIns="0" rIns="0" bIns="0" rtlCol="0" anchor="t"/>
          <a:lstStyle/>
          <a:p>
            <a:pPr algn="ctr" indent="0" marL="0">
              <a:buNone/>
            </a:pPr>
            <a:r>
              <a:rPr lang="en-US" sz="1300" b="1" dirty="0">
                <a:solidFill>
                  <a:srgbClr val="0F172A"/>
                </a:solidFill>
                <a:latin typeface="Georgia" pitchFamily="34" charset="0"/>
                <a:ea typeface="Georgia" pitchFamily="34" charset="-122"/>
                <a:cs typeface="Georgia" pitchFamily="34" charset="-120"/>
              </a:rPr>
              <a:t>Tool use</a:t>
            </a:r>
            <a:endParaRPr lang="en-US" sz="1300" dirty="0"/>
          </a:p>
        </p:txBody>
      </p:sp>
      <p:sp>
        <p:nvSpPr>
          <p:cNvPr id="27" name="Text 25"/>
          <p:cNvSpPr/>
          <p:nvPr/>
        </p:nvSpPr>
        <p:spPr>
          <a:xfrm>
            <a:off x="5381767" y="4069080"/>
            <a:ext cx="1428162" cy="82296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Let the model call your functions.</a:t>
            </a:r>
            <a:endParaRPr lang="en-US" sz="950" dirty="0"/>
          </a:p>
        </p:txBody>
      </p:sp>
      <p:sp>
        <p:nvSpPr>
          <p:cNvPr id="28" name="Text 26"/>
          <p:cNvSpPr/>
          <p:nvPr/>
        </p:nvSpPr>
        <p:spPr>
          <a:xfrm>
            <a:off x="5381767" y="4892040"/>
            <a:ext cx="1428162" cy="228600"/>
          </a:xfrm>
          <a:prstGeom prst="rect">
            <a:avLst/>
          </a:prstGeom>
          <a:noFill/>
          <a:ln/>
        </p:spPr>
        <p:txBody>
          <a:bodyPr wrap="square" lIns="0" tIns="0" rIns="0" bIns="0" rtlCol="0" anchor="ctr"/>
          <a:lstStyle/>
          <a:p>
            <a:pPr algn="ctr" indent="0" marL="0">
              <a:buNone/>
            </a:pPr>
            <a:r>
              <a:rPr lang="en-US" sz="850" b="1" spc="200" kern="0" dirty="0">
                <a:solidFill>
                  <a:srgbClr val="64748B"/>
                </a:solidFill>
                <a:latin typeface="Calibri" pitchFamily="34" charset="0"/>
                <a:ea typeface="Calibri" pitchFamily="34" charset="-122"/>
                <a:cs typeface="Calibri" pitchFamily="34" charset="-120"/>
              </a:rPr>
              <a:t>ch 5</a:t>
            </a:r>
            <a:endParaRPr lang="en-US" sz="850" dirty="0"/>
          </a:p>
        </p:txBody>
      </p:sp>
      <p:sp>
        <p:nvSpPr>
          <p:cNvPr id="29" name="Shape 27"/>
          <p:cNvSpPr/>
          <p:nvPr/>
        </p:nvSpPr>
        <p:spPr>
          <a:xfrm>
            <a:off x="6947089" y="2286000"/>
            <a:ext cx="1519602" cy="2926080"/>
          </a:xfrm>
          <a:prstGeom prst="rect">
            <a:avLst/>
          </a:prstGeom>
          <a:solidFill>
            <a:srgbClr val="F8FAFC"/>
          </a:solidFill>
          <a:ln w="6350">
            <a:solidFill>
              <a:srgbClr val="E2E8F0"/>
            </a:solidFill>
            <a:prstDash val="solid"/>
          </a:ln>
        </p:spPr>
      </p:sp>
      <p:sp>
        <p:nvSpPr>
          <p:cNvPr id="30" name="Text 28"/>
          <p:cNvSpPr/>
          <p:nvPr/>
        </p:nvSpPr>
        <p:spPr>
          <a:xfrm>
            <a:off x="6947089" y="2468880"/>
            <a:ext cx="1519602" cy="548640"/>
          </a:xfrm>
          <a:prstGeom prst="rect">
            <a:avLst/>
          </a:prstGeom>
          <a:noFill/>
          <a:ln/>
        </p:spPr>
        <p:txBody>
          <a:bodyPr wrap="square" lIns="0" tIns="0" rIns="0" bIns="0" rtlCol="0" anchor="ctr"/>
          <a:lstStyle/>
          <a:p>
            <a:pPr algn="ctr" indent="0" marL="0">
              <a:buNone/>
            </a:pPr>
            <a:r>
              <a:rPr lang="en-US" sz="3600" b="1" dirty="0">
                <a:solidFill>
                  <a:srgbClr val="B45309"/>
                </a:solidFill>
                <a:latin typeface="Georgia" pitchFamily="34" charset="0"/>
                <a:ea typeface="Georgia" pitchFamily="34" charset="-122"/>
                <a:cs typeface="Georgia" pitchFamily="34" charset="-120"/>
              </a:rPr>
              <a:t>5</a:t>
            </a:r>
            <a:endParaRPr lang="en-US" sz="3600" dirty="0"/>
          </a:p>
        </p:txBody>
      </p:sp>
      <p:sp>
        <p:nvSpPr>
          <p:cNvPr id="31" name="Text 29"/>
          <p:cNvSpPr/>
          <p:nvPr/>
        </p:nvSpPr>
        <p:spPr>
          <a:xfrm>
            <a:off x="6992809" y="3154680"/>
            <a:ext cx="1428162" cy="868680"/>
          </a:xfrm>
          <a:prstGeom prst="rect">
            <a:avLst/>
          </a:prstGeom>
          <a:noFill/>
          <a:ln/>
        </p:spPr>
        <p:txBody>
          <a:bodyPr wrap="square" lIns="0" tIns="0" rIns="0" bIns="0" rtlCol="0" anchor="t"/>
          <a:lstStyle/>
          <a:p>
            <a:pPr algn="ctr" indent="0" marL="0">
              <a:buNone/>
            </a:pPr>
            <a:r>
              <a:rPr lang="en-US" sz="1300" b="1" dirty="0">
                <a:solidFill>
                  <a:srgbClr val="0F172A"/>
                </a:solidFill>
                <a:latin typeface="Georgia" pitchFamily="34" charset="0"/>
                <a:ea typeface="Georgia" pitchFamily="34" charset="-122"/>
                <a:cs typeface="Georgia" pitchFamily="34" charset="-120"/>
              </a:rPr>
              <a:t>Knowledge Bases</a:t>
            </a:r>
            <a:endParaRPr lang="en-US" sz="1300" dirty="0"/>
          </a:p>
        </p:txBody>
      </p:sp>
      <p:sp>
        <p:nvSpPr>
          <p:cNvPr id="32" name="Text 30"/>
          <p:cNvSpPr/>
          <p:nvPr/>
        </p:nvSpPr>
        <p:spPr>
          <a:xfrm>
            <a:off x="6992809" y="4069080"/>
            <a:ext cx="1428162" cy="82296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Ground the model in your own data.</a:t>
            </a:r>
            <a:endParaRPr lang="en-US" sz="950" dirty="0"/>
          </a:p>
        </p:txBody>
      </p:sp>
      <p:sp>
        <p:nvSpPr>
          <p:cNvPr id="33" name="Text 31"/>
          <p:cNvSpPr/>
          <p:nvPr/>
        </p:nvSpPr>
        <p:spPr>
          <a:xfrm>
            <a:off x="6992809" y="4892040"/>
            <a:ext cx="1428162" cy="228600"/>
          </a:xfrm>
          <a:prstGeom prst="rect">
            <a:avLst/>
          </a:prstGeom>
          <a:noFill/>
          <a:ln/>
        </p:spPr>
        <p:txBody>
          <a:bodyPr wrap="square" lIns="0" tIns="0" rIns="0" bIns="0" rtlCol="0" anchor="ctr"/>
          <a:lstStyle/>
          <a:p>
            <a:pPr algn="ctr" indent="0" marL="0">
              <a:buNone/>
            </a:pPr>
            <a:r>
              <a:rPr lang="en-US" sz="850" b="1" spc="200" kern="0" dirty="0">
                <a:solidFill>
                  <a:srgbClr val="64748B"/>
                </a:solidFill>
                <a:latin typeface="Calibri" pitchFamily="34" charset="0"/>
                <a:ea typeface="Calibri" pitchFamily="34" charset="-122"/>
                <a:cs typeface="Calibri" pitchFamily="34" charset="-120"/>
              </a:rPr>
              <a:t>ch 6</a:t>
            </a:r>
            <a:endParaRPr lang="en-US" sz="850" dirty="0"/>
          </a:p>
        </p:txBody>
      </p:sp>
      <p:sp>
        <p:nvSpPr>
          <p:cNvPr id="34" name="Shape 32"/>
          <p:cNvSpPr/>
          <p:nvPr/>
        </p:nvSpPr>
        <p:spPr>
          <a:xfrm>
            <a:off x="8558131" y="2286000"/>
            <a:ext cx="1519602" cy="2926080"/>
          </a:xfrm>
          <a:prstGeom prst="rect">
            <a:avLst/>
          </a:prstGeom>
          <a:solidFill>
            <a:srgbClr val="F8FAFC"/>
          </a:solidFill>
          <a:ln w="6350">
            <a:solidFill>
              <a:srgbClr val="E2E8F0"/>
            </a:solidFill>
            <a:prstDash val="solid"/>
          </a:ln>
        </p:spPr>
      </p:sp>
      <p:sp>
        <p:nvSpPr>
          <p:cNvPr id="35" name="Text 33"/>
          <p:cNvSpPr/>
          <p:nvPr/>
        </p:nvSpPr>
        <p:spPr>
          <a:xfrm>
            <a:off x="8558131" y="2468880"/>
            <a:ext cx="1519602" cy="548640"/>
          </a:xfrm>
          <a:prstGeom prst="rect">
            <a:avLst/>
          </a:prstGeom>
          <a:noFill/>
          <a:ln/>
        </p:spPr>
        <p:txBody>
          <a:bodyPr wrap="square" lIns="0" tIns="0" rIns="0" bIns="0" rtlCol="0" anchor="ctr"/>
          <a:lstStyle/>
          <a:p>
            <a:pPr algn="ctr" indent="0" marL="0">
              <a:buNone/>
            </a:pPr>
            <a:r>
              <a:rPr lang="en-US" sz="3600" b="1" dirty="0">
                <a:solidFill>
                  <a:srgbClr val="B45309"/>
                </a:solidFill>
                <a:latin typeface="Georgia" pitchFamily="34" charset="0"/>
                <a:ea typeface="Georgia" pitchFamily="34" charset="-122"/>
                <a:cs typeface="Georgia" pitchFamily="34" charset="-120"/>
              </a:rPr>
              <a:t>6</a:t>
            </a:r>
            <a:endParaRPr lang="en-US" sz="3600" dirty="0"/>
          </a:p>
        </p:txBody>
      </p:sp>
      <p:sp>
        <p:nvSpPr>
          <p:cNvPr id="36" name="Text 34"/>
          <p:cNvSpPr/>
          <p:nvPr/>
        </p:nvSpPr>
        <p:spPr>
          <a:xfrm>
            <a:off x="8603851" y="3154680"/>
            <a:ext cx="1428162" cy="868680"/>
          </a:xfrm>
          <a:prstGeom prst="rect">
            <a:avLst/>
          </a:prstGeom>
          <a:noFill/>
          <a:ln/>
        </p:spPr>
        <p:txBody>
          <a:bodyPr wrap="square" lIns="0" tIns="0" rIns="0" bIns="0" rtlCol="0" anchor="t"/>
          <a:lstStyle/>
          <a:p>
            <a:pPr algn="ctr" indent="0" marL="0">
              <a:buNone/>
            </a:pPr>
            <a:r>
              <a:rPr lang="en-US" sz="1300" b="1" dirty="0">
                <a:solidFill>
                  <a:srgbClr val="0F172A"/>
                </a:solidFill>
                <a:latin typeface="Georgia" pitchFamily="34" charset="0"/>
                <a:ea typeface="Georgia" pitchFamily="34" charset="-122"/>
                <a:cs typeface="Georgia" pitchFamily="34" charset="-120"/>
              </a:rPr>
              <a:t>Guardrails</a:t>
            </a:r>
            <a:endParaRPr lang="en-US" sz="1300" dirty="0"/>
          </a:p>
        </p:txBody>
      </p:sp>
      <p:sp>
        <p:nvSpPr>
          <p:cNvPr id="37" name="Text 35"/>
          <p:cNvSpPr/>
          <p:nvPr/>
        </p:nvSpPr>
        <p:spPr>
          <a:xfrm>
            <a:off x="8603851" y="4069080"/>
            <a:ext cx="1428162" cy="82296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Content safety on input and output.</a:t>
            </a:r>
            <a:endParaRPr lang="en-US" sz="950" dirty="0"/>
          </a:p>
        </p:txBody>
      </p:sp>
      <p:sp>
        <p:nvSpPr>
          <p:cNvPr id="38" name="Text 36"/>
          <p:cNvSpPr/>
          <p:nvPr/>
        </p:nvSpPr>
        <p:spPr>
          <a:xfrm>
            <a:off x="8603851" y="4892040"/>
            <a:ext cx="1428162" cy="228600"/>
          </a:xfrm>
          <a:prstGeom prst="rect">
            <a:avLst/>
          </a:prstGeom>
          <a:noFill/>
          <a:ln/>
        </p:spPr>
        <p:txBody>
          <a:bodyPr wrap="square" lIns="0" tIns="0" rIns="0" bIns="0" rtlCol="0" anchor="ctr"/>
          <a:lstStyle/>
          <a:p>
            <a:pPr algn="ctr" indent="0" marL="0">
              <a:buNone/>
            </a:pPr>
            <a:r>
              <a:rPr lang="en-US" sz="850" b="1" spc="200" kern="0" dirty="0">
                <a:solidFill>
                  <a:srgbClr val="64748B"/>
                </a:solidFill>
                <a:latin typeface="Calibri" pitchFamily="34" charset="0"/>
                <a:ea typeface="Calibri" pitchFamily="34" charset="-122"/>
                <a:cs typeface="Calibri" pitchFamily="34" charset="-120"/>
              </a:rPr>
              <a:t>ch 7</a:t>
            </a:r>
            <a:endParaRPr lang="en-US" sz="850" dirty="0"/>
          </a:p>
        </p:txBody>
      </p:sp>
      <p:sp>
        <p:nvSpPr>
          <p:cNvPr id="39" name="Shape 37"/>
          <p:cNvSpPr/>
          <p:nvPr/>
        </p:nvSpPr>
        <p:spPr>
          <a:xfrm>
            <a:off x="10169173" y="2286000"/>
            <a:ext cx="1519602" cy="2926080"/>
          </a:xfrm>
          <a:prstGeom prst="rect">
            <a:avLst/>
          </a:prstGeom>
          <a:solidFill>
            <a:srgbClr val="FEF3C7"/>
          </a:solidFill>
          <a:ln w="12700">
            <a:solidFill>
              <a:srgbClr val="B45309"/>
            </a:solidFill>
            <a:prstDash val="solid"/>
          </a:ln>
        </p:spPr>
      </p:sp>
      <p:sp>
        <p:nvSpPr>
          <p:cNvPr id="40" name="Text 38"/>
          <p:cNvSpPr/>
          <p:nvPr/>
        </p:nvSpPr>
        <p:spPr>
          <a:xfrm>
            <a:off x="10169173" y="2468880"/>
            <a:ext cx="1519602" cy="548640"/>
          </a:xfrm>
          <a:prstGeom prst="rect">
            <a:avLst/>
          </a:prstGeom>
          <a:noFill/>
          <a:ln/>
        </p:spPr>
        <p:txBody>
          <a:bodyPr wrap="square" lIns="0" tIns="0" rIns="0" bIns="0" rtlCol="0" anchor="ctr"/>
          <a:lstStyle/>
          <a:p>
            <a:pPr algn="ctr" indent="0" marL="0">
              <a:buNone/>
            </a:pPr>
            <a:r>
              <a:rPr lang="en-US" sz="3600" b="1" dirty="0">
                <a:solidFill>
                  <a:srgbClr val="B45309"/>
                </a:solidFill>
                <a:latin typeface="Georgia" pitchFamily="34" charset="0"/>
                <a:ea typeface="Georgia" pitchFamily="34" charset="-122"/>
                <a:cs typeface="Georgia" pitchFamily="34" charset="-120"/>
              </a:rPr>
              <a:t>7</a:t>
            </a:r>
            <a:endParaRPr lang="en-US" sz="3600" dirty="0"/>
          </a:p>
        </p:txBody>
      </p:sp>
      <p:sp>
        <p:nvSpPr>
          <p:cNvPr id="41" name="Text 39"/>
          <p:cNvSpPr/>
          <p:nvPr/>
        </p:nvSpPr>
        <p:spPr>
          <a:xfrm>
            <a:off x="10214893" y="3154680"/>
            <a:ext cx="1428162" cy="868680"/>
          </a:xfrm>
          <a:prstGeom prst="rect">
            <a:avLst/>
          </a:prstGeom>
          <a:noFill/>
          <a:ln/>
        </p:spPr>
        <p:txBody>
          <a:bodyPr wrap="square" lIns="0" tIns="0" rIns="0" bIns="0" rtlCol="0" anchor="t"/>
          <a:lstStyle/>
          <a:p>
            <a:pPr algn="ctr" indent="0" marL="0">
              <a:buNone/>
            </a:pPr>
            <a:r>
              <a:rPr lang="en-US" sz="1300" b="1" dirty="0">
                <a:solidFill>
                  <a:srgbClr val="0F172A"/>
                </a:solidFill>
                <a:latin typeface="Georgia" pitchFamily="34" charset="0"/>
                <a:ea typeface="Georgia" pitchFamily="34" charset="-122"/>
                <a:cs typeface="Georgia" pitchFamily="34" charset="-120"/>
              </a:rPr>
              <a:t>Strands Agents</a:t>
            </a:r>
            <a:endParaRPr lang="en-US" sz="1300" dirty="0"/>
          </a:p>
        </p:txBody>
      </p:sp>
      <p:sp>
        <p:nvSpPr>
          <p:cNvPr id="42" name="Text 40"/>
          <p:cNvSpPr/>
          <p:nvPr/>
        </p:nvSpPr>
        <p:spPr>
          <a:xfrm>
            <a:off x="10214893" y="4069080"/>
            <a:ext cx="1428162" cy="82296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Tie it all together as an agent.</a:t>
            </a:r>
            <a:endParaRPr lang="en-US" sz="950" dirty="0"/>
          </a:p>
        </p:txBody>
      </p:sp>
      <p:sp>
        <p:nvSpPr>
          <p:cNvPr id="43" name="Text 41"/>
          <p:cNvSpPr/>
          <p:nvPr/>
        </p:nvSpPr>
        <p:spPr>
          <a:xfrm>
            <a:off x="10214893" y="4892040"/>
            <a:ext cx="1428162" cy="228600"/>
          </a:xfrm>
          <a:prstGeom prst="rect">
            <a:avLst/>
          </a:prstGeom>
          <a:noFill/>
          <a:ln/>
        </p:spPr>
        <p:txBody>
          <a:bodyPr wrap="square" lIns="0" tIns="0" rIns="0" bIns="0" rtlCol="0" anchor="ctr"/>
          <a:lstStyle/>
          <a:p>
            <a:pPr algn="ctr" indent="0" marL="0">
              <a:buNone/>
            </a:pPr>
            <a:r>
              <a:rPr lang="en-US" sz="850" b="1" spc="200" kern="0" dirty="0">
                <a:solidFill>
                  <a:srgbClr val="64748B"/>
                </a:solidFill>
                <a:latin typeface="Calibri" pitchFamily="34" charset="0"/>
                <a:ea typeface="Calibri" pitchFamily="34" charset="-122"/>
                <a:cs typeface="Calibri" pitchFamily="34" charset="-120"/>
              </a:rPr>
              <a:t>ch 8</a:t>
            </a:r>
            <a:endParaRPr lang="en-US" sz="850" dirty="0"/>
          </a:p>
        </p:txBody>
      </p:sp>
      <p:sp>
        <p:nvSpPr>
          <p:cNvPr id="44" name="Shape 42"/>
          <p:cNvSpPr/>
          <p:nvPr/>
        </p:nvSpPr>
        <p:spPr>
          <a:xfrm>
            <a:off x="502920" y="5623560"/>
            <a:ext cx="11155680" cy="640080"/>
          </a:xfrm>
          <a:prstGeom prst="rect">
            <a:avLst/>
          </a:prstGeom>
          <a:solidFill>
            <a:srgbClr val="F1F5F9"/>
          </a:solidFill>
          <a:ln w="12700">
            <a:solidFill>
              <a:srgbClr val="F1F5F9"/>
            </a:solidFill>
            <a:prstDash val="solid"/>
          </a:ln>
        </p:spPr>
      </p:sp>
      <p:sp>
        <p:nvSpPr>
          <p:cNvPr id="45" name="Shape 43"/>
          <p:cNvSpPr/>
          <p:nvPr/>
        </p:nvSpPr>
        <p:spPr>
          <a:xfrm>
            <a:off x="502920" y="5623560"/>
            <a:ext cx="45720" cy="640080"/>
          </a:xfrm>
          <a:prstGeom prst="rect">
            <a:avLst/>
          </a:prstGeom>
          <a:solidFill>
            <a:srgbClr val="B45309"/>
          </a:solidFill>
          <a:ln w="12700">
            <a:solidFill>
              <a:srgbClr val="B45309"/>
            </a:solidFill>
            <a:prstDash val="solid"/>
          </a:ln>
        </p:spPr>
      </p:sp>
      <p:sp>
        <p:nvSpPr>
          <p:cNvPr id="46" name="Text 44"/>
          <p:cNvSpPr/>
          <p:nvPr/>
        </p:nvSpPr>
        <p:spPr>
          <a:xfrm>
            <a:off x="685800" y="571500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WHY THIS ORDER</a:t>
            </a:r>
            <a:endParaRPr lang="en-US" sz="900" dirty="0"/>
          </a:p>
        </p:txBody>
      </p:sp>
      <p:sp>
        <p:nvSpPr>
          <p:cNvPr id="47" name="Text 45"/>
          <p:cNvSpPr/>
          <p:nvPr/>
        </p:nvSpPr>
        <p:spPr>
          <a:xfrm>
            <a:off x="685800" y="5916168"/>
            <a:ext cx="10881360" cy="25603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Steps 1 to 6 are the manual way. They make step 7 (the framework) make sense rather than feel like magic.</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1 · SETUP</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1</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Prerequisites — before you write a single line</a:t>
            </a:r>
            <a:endParaRPr lang="en-US" sz="28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Three things in place. One pip install. Then we are good.</a:t>
            </a:r>
            <a:endParaRPr lang="en-US" sz="1400" dirty="0"/>
          </a:p>
        </p:txBody>
      </p:sp>
      <p:sp>
        <p:nvSpPr>
          <p:cNvPr id="9" name="Shape 7"/>
          <p:cNvSpPr/>
          <p:nvPr/>
        </p:nvSpPr>
        <p:spPr>
          <a:xfrm>
            <a:off x="731520" y="2194560"/>
            <a:ext cx="457200" cy="457200"/>
          </a:xfrm>
          <a:prstGeom prst="rect">
            <a:avLst/>
          </a:prstGeom>
          <a:solidFill>
            <a:srgbClr val="FFFFFF"/>
          </a:solidFill>
          <a:ln w="19050">
            <a:solidFill>
              <a:srgbClr val="0F172A"/>
            </a:solidFill>
            <a:prstDash val="solid"/>
          </a:ln>
        </p:spPr>
      </p:sp>
      <p:sp>
        <p:nvSpPr>
          <p:cNvPr id="10" name="Text 8"/>
          <p:cNvSpPr/>
          <p:nvPr/>
        </p:nvSpPr>
        <p:spPr>
          <a:xfrm>
            <a:off x="1371600" y="2240280"/>
            <a:ext cx="9601200" cy="3657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Python 3.12+</a:t>
            </a:r>
            <a:endParaRPr lang="en-US" sz="1800" dirty="0"/>
          </a:p>
        </p:txBody>
      </p:sp>
      <p:sp>
        <p:nvSpPr>
          <p:cNvPr id="11" name="Text 9"/>
          <p:cNvSpPr/>
          <p:nvPr/>
        </p:nvSpPr>
        <p:spPr>
          <a:xfrm>
            <a:off x="1371600" y="2606040"/>
            <a:ext cx="9601200" cy="3200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Installed locally on your machine. Run `python3 --version` to verify.</a:t>
            </a:r>
            <a:endParaRPr lang="en-US" sz="1200" dirty="0"/>
          </a:p>
        </p:txBody>
      </p:sp>
      <p:sp>
        <p:nvSpPr>
          <p:cNvPr id="12" name="Shape 10"/>
          <p:cNvSpPr/>
          <p:nvPr/>
        </p:nvSpPr>
        <p:spPr>
          <a:xfrm>
            <a:off x="731520" y="3063240"/>
            <a:ext cx="457200" cy="457200"/>
          </a:xfrm>
          <a:prstGeom prst="rect">
            <a:avLst/>
          </a:prstGeom>
          <a:solidFill>
            <a:srgbClr val="FFFFFF"/>
          </a:solidFill>
          <a:ln w="19050">
            <a:solidFill>
              <a:srgbClr val="0F172A"/>
            </a:solidFill>
            <a:prstDash val="solid"/>
          </a:ln>
        </p:spPr>
      </p:sp>
      <p:sp>
        <p:nvSpPr>
          <p:cNvPr id="13" name="Text 11"/>
          <p:cNvSpPr/>
          <p:nvPr/>
        </p:nvSpPr>
        <p:spPr>
          <a:xfrm>
            <a:off x="1371600" y="3108960"/>
            <a:ext cx="9601200" cy="3657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An AWS account with local credentials</a:t>
            </a:r>
            <a:endParaRPr lang="en-US" sz="1800" dirty="0"/>
          </a:p>
        </p:txBody>
      </p:sp>
      <p:sp>
        <p:nvSpPr>
          <p:cNvPr id="14" name="Text 12"/>
          <p:cNvSpPr/>
          <p:nvPr/>
        </p:nvSpPr>
        <p:spPr>
          <a:xfrm>
            <a:off x="1371600" y="3474720"/>
            <a:ext cx="9601200" cy="3200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Credentials configured via the AWS CLI (`aws configure`) or environment variables.</a:t>
            </a:r>
            <a:endParaRPr lang="en-US" sz="1200" dirty="0"/>
          </a:p>
        </p:txBody>
      </p:sp>
      <p:sp>
        <p:nvSpPr>
          <p:cNvPr id="15" name="Shape 13"/>
          <p:cNvSpPr/>
          <p:nvPr/>
        </p:nvSpPr>
        <p:spPr>
          <a:xfrm>
            <a:off x="731520" y="3931920"/>
            <a:ext cx="457200" cy="457200"/>
          </a:xfrm>
          <a:prstGeom prst="rect">
            <a:avLst/>
          </a:prstGeom>
          <a:solidFill>
            <a:srgbClr val="FFFFFF"/>
          </a:solidFill>
          <a:ln w="19050">
            <a:solidFill>
              <a:srgbClr val="0F172A"/>
            </a:solidFill>
            <a:prstDash val="solid"/>
          </a:ln>
        </p:spPr>
      </p:sp>
      <p:sp>
        <p:nvSpPr>
          <p:cNvPr id="16" name="Text 14"/>
          <p:cNvSpPr/>
          <p:nvPr/>
        </p:nvSpPr>
        <p:spPr>
          <a:xfrm>
            <a:off x="1371600" y="3977640"/>
            <a:ext cx="9601200" cy="3657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IAM user or role (not root)</a:t>
            </a:r>
            <a:endParaRPr lang="en-US" sz="1800" dirty="0"/>
          </a:p>
        </p:txBody>
      </p:sp>
      <p:sp>
        <p:nvSpPr>
          <p:cNvPr id="17" name="Text 15"/>
          <p:cNvSpPr/>
          <p:nvPr/>
        </p:nvSpPr>
        <p:spPr>
          <a:xfrm>
            <a:off x="1371600" y="4343400"/>
            <a:ext cx="9601200" cy="3200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Console steps and API calls run as an IAM principal. Root user will not work.</a:t>
            </a:r>
            <a:endParaRPr lang="en-US" sz="1200" dirty="0"/>
          </a:p>
        </p:txBody>
      </p:sp>
      <p:sp>
        <p:nvSpPr>
          <p:cNvPr id="18" name="Text 16"/>
          <p:cNvSpPr/>
          <p:nvPr/>
        </p:nvSpPr>
        <p:spPr>
          <a:xfrm>
            <a:off x="731520" y="5074920"/>
            <a:ext cx="1051560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ONE PACKAGE TO INSTALL</a:t>
            </a:r>
            <a:endParaRPr lang="en-US" sz="1000" dirty="0"/>
          </a:p>
        </p:txBody>
      </p:sp>
      <p:sp>
        <p:nvSpPr>
          <p:cNvPr id="19" name="Shape 17"/>
          <p:cNvSpPr/>
          <p:nvPr/>
        </p:nvSpPr>
        <p:spPr>
          <a:xfrm>
            <a:off x="731520" y="5394960"/>
            <a:ext cx="10698480" cy="548640"/>
          </a:xfrm>
          <a:prstGeom prst="rect">
            <a:avLst/>
          </a:prstGeom>
          <a:solidFill>
            <a:srgbClr val="0F172A"/>
          </a:solidFill>
          <a:ln w="12700">
            <a:solidFill>
              <a:srgbClr val="0F172A"/>
            </a:solidFill>
            <a:prstDash val="solid"/>
          </a:ln>
        </p:spPr>
      </p:sp>
      <p:sp>
        <p:nvSpPr>
          <p:cNvPr id="20" name="Text 18"/>
          <p:cNvSpPr/>
          <p:nvPr/>
        </p:nvSpPr>
        <p:spPr>
          <a:xfrm>
            <a:off x="896112" y="5504688"/>
            <a:ext cx="10369296" cy="329184"/>
          </a:xfrm>
          <a:prstGeom prst="rect">
            <a:avLst/>
          </a:prstGeom>
          <a:noFill/>
          <a:ln/>
        </p:spPr>
        <p:txBody>
          <a:bodyPr wrap="square" lIns="0" tIns="0" rIns="0" bIns="0" rtlCol="0" anchor="t"/>
          <a:lstStyle/>
          <a:p>
            <a:pPr indent="0" marL="0">
              <a:buNone/>
            </a:pPr>
            <a:r>
              <a:rPr lang="en-US" sz="1600" dirty="0">
                <a:solidFill>
                  <a:srgbClr val="E2E8F0"/>
                </a:solidFill>
                <a:latin typeface="Consolas" pitchFamily="34" charset="0"/>
                <a:ea typeface="Consolas" pitchFamily="34" charset="-122"/>
                <a:cs typeface="Consolas" pitchFamily="34" charset="-120"/>
              </a:rPr>
              <a:t>pip install boto3</a:t>
            </a:r>
            <a:endParaRPr lang="en-US" sz="1600" dirty="0"/>
          </a:p>
        </p:txBody>
      </p:sp>
      <p:sp>
        <p:nvSpPr>
          <p:cNvPr id="21" name="Shape 19"/>
          <p:cNvSpPr/>
          <p:nvPr/>
        </p:nvSpPr>
        <p:spPr>
          <a:xfrm>
            <a:off x="731520" y="5989320"/>
            <a:ext cx="10698480" cy="384048"/>
          </a:xfrm>
          <a:prstGeom prst="rect">
            <a:avLst/>
          </a:prstGeom>
          <a:solidFill>
            <a:srgbClr val="F1F5F9"/>
          </a:solidFill>
          <a:ln w="12700">
            <a:solidFill>
              <a:srgbClr val="F1F5F9"/>
            </a:solidFill>
            <a:prstDash val="solid"/>
          </a:ln>
        </p:spPr>
      </p:sp>
      <p:sp>
        <p:nvSpPr>
          <p:cNvPr id="22" name="Shape 20"/>
          <p:cNvSpPr/>
          <p:nvPr/>
        </p:nvSpPr>
        <p:spPr>
          <a:xfrm>
            <a:off x="731520" y="5989320"/>
            <a:ext cx="45720" cy="384048"/>
          </a:xfrm>
          <a:prstGeom prst="rect">
            <a:avLst/>
          </a:prstGeom>
          <a:solidFill>
            <a:srgbClr val="B45309"/>
          </a:solidFill>
          <a:ln w="12700">
            <a:solidFill>
              <a:srgbClr val="B45309"/>
            </a:solidFill>
            <a:prstDash val="solid"/>
          </a:ln>
        </p:spPr>
      </p:sp>
      <p:sp>
        <p:nvSpPr>
          <p:cNvPr id="23" name="Text 21"/>
          <p:cNvSpPr/>
          <p:nvPr/>
        </p:nvSpPr>
        <p:spPr>
          <a:xfrm>
            <a:off x="914400" y="6080760"/>
            <a:ext cx="104241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IT IS</a:t>
            </a:r>
            <a:endParaRPr lang="en-US" sz="900" dirty="0"/>
          </a:p>
        </p:txBody>
      </p:sp>
      <p:sp>
        <p:nvSpPr>
          <p:cNvPr id="24" name="Text 22"/>
          <p:cNvSpPr/>
          <p:nvPr/>
        </p:nvSpPr>
        <p:spPr>
          <a:xfrm>
            <a:off x="914400" y="6281928"/>
            <a:ext cx="10424160" cy="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boto3 is the Python SDK for AWS. It is how your code talks to Bedrock.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1 · THE CONTRACT</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1</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A heads up before we start</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endParaRPr lang="en-US" sz="1400" dirty="0"/>
          </a:p>
        </p:txBody>
      </p:sp>
      <p:sp>
        <p:nvSpPr>
          <p:cNvPr id="9" name="Shape 7"/>
          <p:cNvSpPr/>
          <p:nvPr/>
        </p:nvSpPr>
        <p:spPr>
          <a:xfrm>
            <a:off x="1371600" y="2286000"/>
            <a:ext cx="9418320" cy="45720"/>
          </a:xfrm>
          <a:prstGeom prst="rect">
            <a:avLst/>
          </a:prstGeom>
          <a:solidFill>
            <a:srgbClr val="B45309"/>
          </a:solidFill>
          <a:ln w="12700">
            <a:solidFill>
              <a:srgbClr val="B45309"/>
            </a:solidFill>
            <a:prstDash val="solid"/>
          </a:ln>
        </p:spPr>
      </p:sp>
      <p:sp>
        <p:nvSpPr>
          <p:cNvPr id="10" name="Text 8"/>
          <p:cNvSpPr/>
          <p:nvPr/>
        </p:nvSpPr>
        <p:spPr>
          <a:xfrm>
            <a:off x="1371600" y="2606040"/>
            <a:ext cx="9418320" cy="228600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“We will work directly with the Bedrock APIs so you understand exactly how the pieces fit together. Then at the end, we will take an easier approach that handles much of the complexity for you.”</a:t>
            </a:r>
            <a:endParaRPr lang="en-US" sz="2200" dirty="0"/>
          </a:p>
        </p:txBody>
      </p:sp>
      <p:sp>
        <p:nvSpPr>
          <p:cNvPr id="11" name="Shape 9"/>
          <p:cNvSpPr/>
          <p:nvPr/>
        </p:nvSpPr>
        <p:spPr>
          <a:xfrm>
            <a:off x="1371600" y="5029200"/>
            <a:ext cx="1828800" cy="36576"/>
          </a:xfrm>
          <a:prstGeom prst="rect">
            <a:avLst/>
          </a:prstGeom>
          <a:solidFill>
            <a:srgbClr val="B45309"/>
          </a:solidFill>
          <a:ln w="12700">
            <a:solidFill>
              <a:srgbClr val="B45309"/>
            </a:solidFill>
            <a:prstDash val="solid"/>
          </a:ln>
        </p:spPr>
      </p:sp>
      <p:sp>
        <p:nvSpPr>
          <p:cNvPr id="12" name="Text 10"/>
          <p:cNvSpPr/>
          <p:nvPr/>
        </p:nvSpPr>
        <p:spPr>
          <a:xfrm>
            <a:off x="1371600" y="5212080"/>
            <a:ext cx="9418320" cy="457200"/>
          </a:xfrm>
          <a:prstGeom prst="rect">
            <a:avLst/>
          </a:prstGeom>
          <a:noFill/>
          <a:ln/>
        </p:spPr>
        <p:txBody>
          <a:bodyPr wrap="square" lIns="0" tIns="0" rIns="0" bIns="0" rtlCol="0" anchor="ctr"/>
          <a:lstStyle/>
          <a:p>
            <a:pPr indent="0" marL="0">
              <a:buNone/>
            </a:pPr>
            <a:r>
              <a:rPr lang="en-US" sz="1400" i="1" dirty="0">
                <a:solidFill>
                  <a:srgbClr val="334155"/>
                </a:solidFill>
                <a:latin typeface="Calibri" pitchFamily="34" charset="0"/>
                <a:ea typeface="Calibri" pitchFamily="34" charset="-122"/>
                <a:cs typeface="Calibri" pitchFamily="34" charset="-120"/>
              </a:rPr>
              <a:t>This is not the fast way. It is the way that makes everything that comes after make sense.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FOUNDATIONS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is “inference”?</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basic action you take against a model — sending a prompt, getting a response.</a:t>
            </a:r>
            <a:endParaRPr lang="en-US" sz="1400" dirty="0"/>
          </a:p>
        </p:txBody>
      </p:sp>
      <p:sp>
        <p:nvSpPr>
          <p:cNvPr id="9" name="Shape 7"/>
          <p:cNvSpPr/>
          <p:nvPr/>
        </p:nvSpPr>
        <p:spPr>
          <a:xfrm>
            <a:off x="1371600" y="2194560"/>
            <a:ext cx="9418320" cy="914400"/>
          </a:xfrm>
          <a:prstGeom prst="rect">
            <a:avLst/>
          </a:prstGeom>
          <a:solidFill>
            <a:srgbClr val="FEF3C7"/>
          </a:solidFill>
          <a:ln w="12700">
            <a:solidFill>
              <a:srgbClr val="B45309"/>
            </a:solidFill>
            <a:prstDash val="solid"/>
          </a:ln>
        </p:spPr>
      </p:sp>
      <p:sp>
        <p:nvSpPr>
          <p:cNvPr id="10" name="Shape 8"/>
          <p:cNvSpPr/>
          <p:nvPr/>
        </p:nvSpPr>
        <p:spPr>
          <a:xfrm>
            <a:off x="1371600" y="2194560"/>
            <a:ext cx="73152" cy="914400"/>
          </a:xfrm>
          <a:prstGeom prst="rect">
            <a:avLst/>
          </a:prstGeom>
          <a:solidFill>
            <a:srgbClr val="B45309"/>
          </a:solidFill>
          <a:ln w="12700">
            <a:solidFill>
              <a:srgbClr val="B45309"/>
            </a:solidFill>
            <a:prstDash val="solid"/>
          </a:ln>
        </p:spPr>
      </p:sp>
      <p:sp>
        <p:nvSpPr>
          <p:cNvPr id="11" name="Text 9"/>
          <p:cNvSpPr/>
          <p:nvPr/>
        </p:nvSpPr>
        <p:spPr>
          <a:xfrm>
            <a:off x="1554480" y="2194560"/>
            <a:ext cx="9144000" cy="91440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Inference = sending a prompt to a model and getting a response back.</a:t>
            </a:r>
            <a:endParaRPr lang="en-US" sz="2200" dirty="0"/>
          </a:p>
        </p:txBody>
      </p:sp>
      <p:sp>
        <p:nvSpPr>
          <p:cNvPr id="12" name="Shape 10"/>
          <p:cNvSpPr/>
          <p:nvPr/>
        </p:nvSpPr>
        <p:spPr>
          <a:xfrm>
            <a:off x="929488" y="3931920"/>
            <a:ext cx="2926080" cy="1371600"/>
          </a:xfrm>
          <a:prstGeom prst="rect">
            <a:avLst/>
          </a:prstGeom>
          <a:solidFill>
            <a:srgbClr val="F8FAFC"/>
          </a:solidFill>
          <a:ln w="9525">
            <a:solidFill>
              <a:srgbClr val="E2E8F0"/>
            </a:solidFill>
            <a:prstDash val="solid"/>
          </a:ln>
        </p:spPr>
      </p:sp>
      <p:sp>
        <p:nvSpPr>
          <p:cNvPr id="13" name="Text 11"/>
          <p:cNvSpPr/>
          <p:nvPr/>
        </p:nvSpPr>
        <p:spPr>
          <a:xfrm>
            <a:off x="929488" y="4160520"/>
            <a:ext cx="2926080" cy="457200"/>
          </a:xfrm>
          <a:prstGeom prst="rect">
            <a:avLst/>
          </a:prstGeom>
          <a:noFill/>
          <a:ln/>
        </p:spPr>
        <p:txBody>
          <a:bodyPr wrap="square" lIns="0" tIns="0" rIns="0" bIns="0" rtlCol="0" anchor="ctr"/>
          <a:lstStyle/>
          <a:p>
            <a:pPr algn="ctr" indent="0" marL="0">
              <a:buNone/>
            </a:pPr>
            <a:r>
              <a:rPr lang="en-US" sz="2000" b="1" dirty="0">
                <a:solidFill>
                  <a:srgbClr val="0F172A"/>
                </a:solidFill>
                <a:latin typeface="Georgia" pitchFamily="34" charset="0"/>
                <a:ea typeface="Georgia" pitchFamily="34" charset="-122"/>
                <a:cs typeface="Georgia" pitchFamily="34" charset="-120"/>
              </a:rPr>
              <a:t>Your prompt</a:t>
            </a:r>
            <a:endParaRPr lang="en-US" sz="2000" dirty="0"/>
          </a:p>
        </p:txBody>
      </p:sp>
      <p:sp>
        <p:nvSpPr>
          <p:cNvPr id="14" name="Text 12"/>
          <p:cNvSpPr/>
          <p:nvPr/>
        </p:nvSpPr>
        <p:spPr>
          <a:xfrm>
            <a:off x="929488" y="4709160"/>
            <a:ext cx="2926080" cy="41148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Text input</a:t>
            </a:r>
            <a:endParaRPr lang="en-US" sz="1200" dirty="0"/>
          </a:p>
        </p:txBody>
      </p:sp>
      <p:sp>
        <p:nvSpPr>
          <p:cNvPr id="15" name="Shape 13"/>
          <p:cNvSpPr/>
          <p:nvPr/>
        </p:nvSpPr>
        <p:spPr>
          <a:xfrm>
            <a:off x="3947008" y="4617720"/>
            <a:ext cx="594360" cy="0"/>
          </a:xfrm>
          <a:prstGeom prst="line">
            <a:avLst/>
          </a:prstGeom>
          <a:noFill/>
          <a:ln w="25400">
            <a:solidFill>
              <a:srgbClr val="64748B"/>
            </a:solidFill>
            <a:prstDash val="solid"/>
            <a:tailEnd type="triangle"/>
          </a:ln>
        </p:spPr>
      </p:sp>
      <p:sp>
        <p:nvSpPr>
          <p:cNvPr id="16" name="Shape 14"/>
          <p:cNvSpPr/>
          <p:nvPr/>
        </p:nvSpPr>
        <p:spPr>
          <a:xfrm>
            <a:off x="4632808" y="3931920"/>
            <a:ext cx="2926080" cy="1371600"/>
          </a:xfrm>
          <a:prstGeom prst="rect">
            <a:avLst/>
          </a:prstGeom>
          <a:solidFill>
            <a:srgbClr val="0F172A"/>
          </a:solidFill>
          <a:ln w="12700">
            <a:solidFill>
              <a:srgbClr val="0F172A"/>
            </a:solidFill>
            <a:prstDash val="solid"/>
          </a:ln>
        </p:spPr>
      </p:sp>
      <p:sp>
        <p:nvSpPr>
          <p:cNvPr id="17" name="Text 15"/>
          <p:cNvSpPr/>
          <p:nvPr/>
        </p:nvSpPr>
        <p:spPr>
          <a:xfrm>
            <a:off x="4632808" y="4160520"/>
            <a:ext cx="2926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The model</a:t>
            </a:r>
            <a:endParaRPr lang="en-US" sz="2000" dirty="0"/>
          </a:p>
        </p:txBody>
      </p:sp>
      <p:sp>
        <p:nvSpPr>
          <p:cNvPr id="18" name="Text 16"/>
          <p:cNvSpPr/>
          <p:nvPr/>
        </p:nvSpPr>
        <p:spPr>
          <a:xfrm>
            <a:off x="4632808" y="4709160"/>
            <a:ext cx="2926080" cy="411480"/>
          </a:xfrm>
          <a:prstGeom prst="rect">
            <a:avLst/>
          </a:prstGeom>
          <a:noFill/>
          <a:ln/>
        </p:spPr>
        <p:txBody>
          <a:bodyPr wrap="square" lIns="0" tIns="0" rIns="0" bIns="0"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Runs computation</a:t>
            </a:r>
            <a:endParaRPr lang="en-US" sz="1200" dirty="0"/>
          </a:p>
        </p:txBody>
      </p:sp>
      <p:sp>
        <p:nvSpPr>
          <p:cNvPr id="19" name="Shape 17"/>
          <p:cNvSpPr/>
          <p:nvPr/>
        </p:nvSpPr>
        <p:spPr>
          <a:xfrm>
            <a:off x="7650328" y="4617720"/>
            <a:ext cx="594360" cy="0"/>
          </a:xfrm>
          <a:prstGeom prst="line">
            <a:avLst/>
          </a:prstGeom>
          <a:noFill/>
          <a:ln w="25400">
            <a:solidFill>
              <a:srgbClr val="64748B"/>
            </a:solidFill>
            <a:prstDash val="solid"/>
            <a:tailEnd type="triangle"/>
          </a:ln>
        </p:spPr>
      </p:sp>
      <p:sp>
        <p:nvSpPr>
          <p:cNvPr id="20" name="Shape 18"/>
          <p:cNvSpPr/>
          <p:nvPr/>
        </p:nvSpPr>
        <p:spPr>
          <a:xfrm>
            <a:off x="8336128" y="3931920"/>
            <a:ext cx="2926080" cy="1371600"/>
          </a:xfrm>
          <a:prstGeom prst="rect">
            <a:avLst/>
          </a:prstGeom>
          <a:solidFill>
            <a:srgbClr val="F8FAFC"/>
          </a:solidFill>
          <a:ln w="9525">
            <a:solidFill>
              <a:srgbClr val="E2E8F0"/>
            </a:solidFill>
            <a:prstDash val="solid"/>
          </a:ln>
        </p:spPr>
      </p:sp>
      <p:sp>
        <p:nvSpPr>
          <p:cNvPr id="21" name="Text 19"/>
          <p:cNvSpPr/>
          <p:nvPr/>
        </p:nvSpPr>
        <p:spPr>
          <a:xfrm>
            <a:off x="8336128" y="4160520"/>
            <a:ext cx="2926080" cy="457200"/>
          </a:xfrm>
          <a:prstGeom prst="rect">
            <a:avLst/>
          </a:prstGeom>
          <a:noFill/>
          <a:ln/>
        </p:spPr>
        <p:txBody>
          <a:bodyPr wrap="square" lIns="0" tIns="0" rIns="0" bIns="0" rtlCol="0" anchor="ctr"/>
          <a:lstStyle/>
          <a:p>
            <a:pPr algn="ctr" indent="0" marL="0">
              <a:buNone/>
            </a:pPr>
            <a:r>
              <a:rPr lang="en-US" sz="2000" b="1" dirty="0">
                <a:solidFill>
                  <a:srgbClr val="0F172A"/>
                </a:solidFill>
                <a:latin typeface="Georgia" pitchFamily="34" charset="0"/>
                <a:ea typeface="Georgia" pitchFamily="34" charset="-122"/>
                <a:cs typeface="Georgia" pitchFamily="34" charset="-120"/>
              </a:rPr>
              <a:t>Response</a:t>
            </a:r>
            <a:endParaRPr lang="en-US" sz="2000" dirty="0"/>
          </a:p>
        </p:txBody>
      </p:sp>
      <p:sp>
        <p:nvSpPr>
          <p:cNvPr id="22" name="Text 20"/>
          <p:cNvSpPr/>
          <p:nvPr/>
        </p:nvSpPr>
        <p:spPr>
          <a:xfrm>
            <a:off x="8336128" y="4709160"/>
            <a:ext cx="2926080" cy="41148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Generated text</a:t>
            </a:r>
            <a:endParaRPr lang="en-US" sz="1200" dirty="0"/>
          </a:p>
        </p:txBody>
      </p:sp>
      <p:sp>
        <p:nvSpPr>
          <p:cNvPr id="23" name="Shape 21"/>
          <p:cNvSpPr/>
          <p:nvPr/>
        </p:nvSpPr>
        <p:spPr>
          <a:xfrm>
            <a:off x="731520" y="5852160"/>
            <a:ext cx="10698480" cy="457200"/>
          </a:xfrm>
          <a:prstGeom prst="rect">
            <a:avLst/>
          </a:prstGeom>
          <a:solidFill>
            <a:srgbClr val="F1F5F9"/>
          </a:solidFill>
          <a:ln w="12700">
            <a:solidFill>
              <a:srgbClr val="F1F5F9"/>
            </a:solidFill>
            <a:prstDash val="solid"/>
          </a:ln>
        </p:spPr>
      </p:sp>
      <p:sp>
        <p:nvSpPr>
          <p:cNvPr id="24" name="Shape 22"/>
          <p:cNvSpPr/>
          <p:nvPr/>
        </p:nvSpPr>
        <p:spPr>
          <a:xfrm>
            <a:off x="731520" y="5852160"/>
            <a:ext cx="45720" cy="457200"/>
          </a:xfrm>
          <a:prstGeom prst="rect">
            <a:avLst/>
          </a:prstGeom>
          <a:solidFill>
            <a:srgbClr val="B45309"/>
          </a:solidFill>
          <a:ln w="12700">
            <a:solidFill>
              <a:srgbClr val="B45309"/>
            </a:solidFill>
            <a:prstDash val="solid"/>
          </a:ln>
        </p:spPr>
      </p:sp>
      <p:sp>
        <p:nvSpPr>
          <p:cNvPr id="25" name="Text 23"/>
          <p:cNvSpPr/>
          <p:nvPr/>
        </p:nvSpPr>
        <p:spPr>
          <a:xfrm>
            <a:off x="914400" y="5943600"/>
            <a:ext cx="104241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YOU NEED</a:t>
            </a:r>
            <a:endParaRPr lang="en-US" sz="900" dirty="0"/>
          </a:p>
        </p:txBody>
      </p:sp>
      <p:sp>
        <p:nvSpPr>
          <p:cNvPr id="26" name="Text 24"/>
          <p:cNvSpPr/>
          <p:nvPr/>
        </p:nvSpPr>
        <p:spPr>
          <a:xfrm>
            <a:off x="914400" y="6144768"/>
            <a:ext cx="10424160" cy="7315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For AI-powered applications, you need to run inference programmatically through an API. That is what Bedrock exposes.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THE RECOMMENDED API</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Meet the Converse API</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Bedrock's standard, multi-provider API for calling any model with the same request shape.</a:t>
            </a:r>
            <a:endParaRPr lang="en-US" sz="1400" dirty="0"/>
          </a:p>
        </p:txBody>
      </p:sp>
      <p:sp>
        <p:nvSpPr>
          <p:cNvPr id="9" name="Shape 7"/>
          <p:cNvSpPr/>
          <p:nvPr/>
        </p:nvSpPr>
        <p:spPr>
          <a:xfrm>
            <a:off x="502920" y="2103120"/>
            <a:ext cx="11185855" cy="1280160"/>
          </a:xfrm>
          <a:prstGeom prst="rect">
            <a:avLst/>
          </a:prstGeom>
          <a:solidFill>
            <a:srgbClr val="0F172A"/>
          </a:solidFill>
          <a:ln w="12700">
            <a:solidFill>
              <a:srgbClr val="0F172A"/>
            </a:solidFill>
            <a:prstDash val="solid"/>
          </a:ln>
        </p:spPr>
      </p:sp>
      <p:sp>
        <p:nvSpPr>
          <p:cNvPr id="10" name="Text 8"/>
          <p:cNvSpPr/>
          <p:nvPr/>
        </p:nvSpPr>
        <p:spPr>
          <a:xfrm>
            <a:off x="731520" y="2194560"/>
            <a:ext cx="10515600" cy="54864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Same request format, regardless of which model you call.</a:t>
            </a:r>
            <a:endParaRPr lang="en-US" sz="2400" dirty="0"/>
          </a:p>
        </p:txBody>
      </p:sp>
      <p:sp>
        <p:nvSpPr>
          <p:cNvPr id="11" name="Text 9"/>
          <p:cNvSpPr/>
          <p:nvPr/>
        </p:nvSpPr>
        <p:spPr>
          <a:xfrm>
            <a:off x="731520" y="2743200"/>
            <a:ext cx="10515600" cy="54864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Switch from Amazon Nova → Meta Llama → Anthropic Claude Haiku, and your code stays exactly the same. Only `modelId` changes.</a:t>
            </a:r>
            <a:endParaRPr lang="en-US" sz="1300" dirty="0"/>
          </a:p>
        </p:txBody>
      </p:sp>
      <p:sp>
        <p:nvSpPr>
          <p:cNvPr id="12" name="Text 10"/>
          <p:cNvSpPr/>
          <p:nvPr/>
        </p:nvSpPr>
        <p:spPr>
          <a:xfrm>
            <a:off x="502920" y="3657600"/>
            <a:ext cx="1051560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“SWAP A MODEL” EXAMPLE</a:t>
            </a:r>
            <a:endParaRPr lang="en-US" sz="1000" dirty="0"/>
          </a:p>
        </p:txBody>
      </p:sp>
      <p:sp>
        <p:nvSpPr>
          <p:cNvPr id="13" name="Shape 11"/>
          <p:cNvSpPr/>
          <p:nvPr/>
        </p:nvSpPr>
        <p:spPr>
          <a:xfrm>
            <a:off x="502920" y="3977640"/>
            <a:ext cx="11155680" cy="502920"/>
          </a:xfrm>
          <a:prstGeom prst="rect">
            <a:avLst/>
          </a:prstGeom>
          <a:solidFill>
            <a:srgbClr val="0F172A"/>
          </a:solidFill>
          <a:ln w="12700">
            <a:solidFill>
              <a:srgbClr val="0F172A"/>
            </a:solidFill>
            <a:prstDash val="solid"/>
          </a:ln>
        </p:spPr>
      </p:sp>
      <p:sp>
        <p:nvSpPr>
          <p:cNvPr id="14" name="Text 12"/>
          <p:cNvSpPr/>
          <p:nvPr/>
        </p:nvSpPr>
        <p:spPr>
          <a:xfrm>
            <a:off x="667512" y="4087368"/>
            <a:ext cx="10826496" cy="283464"/>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model_id = "us.amazon.nova-lite-v1:0"        # using Nova Lite</a:t>
            </a:r>
            <a:endParaRPr lang="en-US" sz="1400" dirty="0"/>
          </a:p>
        </p:txBody>
      </p:sp>
      <p:sp>
        <p:nvSpPr>
          <p:cNvPr id="15" name="Text 13"/>
          <p:cNvSpPr/>
          <p:nvPr/>
        </p:nvSpPr>
        <p:spPr>
          <a:xfrm>
            <a:off x="5867248" y="4526280"/>
            <a:ext cx="457200" cy="365760"/>
          </a:xfrm>
          <a:prstGeom prst="rect">
            <a:avLst/>
          </a:prstGeom>
          <a:noFill/>
          <a:ln/>
        </p:spPr>
        <p:txBody>
          <a:bodyPr wrap="square" lIns="0" tIns="0" rIns="0" bIns="0" rtlCol="0" anchor="ctr"/>
          <a:lstStyle/>
          <a:p>
            <a:pPr algn="ctr" indent="0" marL="0">
              <a:buNone/>
            </a:pPr>
            <a:r>
              <a:rPr lang="en-US" sz="2200" dirty="0">
                <a:solidFill>
                  <a:srgbClr val="64748B"/>
                </a:solidFill>
                <a:latin typeface="Georgia" pitchFamily="34" charset="0"/>
                <a:ea typeface="Georgia" pitchFamily="34" charset="-122"/>
                <a:cs typeface="Georgia" pitchFamily="34" charset="-120"/>
              </a:rPr>
              <a:t>↓</a:t>
            </a:r>
            <a:endParaRPr lang="en-US" sz="2200" dirty="0"/>
          </a:p>
        </p:txBody>
      </p:sp>
      <p:sp>
        <p:nvSpPr>
          <p:cNvPr id="16" name="Shape 14"/>
          <p:cNvSpPr/>
          <p:nvPr/>
        </p:nvSpPr>
        <p:spPr>
          <a:xfrm>
            <a:off x="502920" y="4937760"/>
            <a:ext cx="11155680" cy="502920"/>
          </a:xfrm>
          <a:prstGeom prst="rect">
            <a:avLst/>
          </a:prstGeom>
          <a:solidFill>
            <a:srgbClr val="0F172A"/>
          </a:solidFill>
          <a:ln w="12700">
            <a:solidFill>
              <a:srgbClr val="0F172A"/>
            </a:solidFill>
            <a:prstDash val="solid"/>
          </a:ln>
        </p:spPr>
      </p:sp>
      <p:sp>
        <p:nvSpPr>
          <p:cNvPr id="17" name="Text 15"/>
          <p:cNvSpPr/>
          <p:nvPr/>
        </p:nvSpPr>
        <p:spPr>
          <a:xfrm>
            <a:off x="667512" y="5047488"/>
            <a:ext cx="10826496" cy="283464"/>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model_id = "us.anthropic.claude-sonnet-4-v1:0"  # change one line — using Claude Sonnet</a:t>
            </a:r>
            <a:endParaRPr lang="en-US" sz="1400" dirty="0"/>
          </a:p>
        </p:txBody>
      </p:sp>
      <p:sp>
        <p:nvSpPr>
          <p:cNvPr id="18" name="Shape 16"/>
          <p:cNvSpPr/>
          <p:nvPr/>
        </p:nvSpPr>
        <p:spPr>
          <a:xfrm>
            <a:off x="502920" y="5623560"/>
            <a:ext cx="11155680" cy="640080"/>
          </a:xfrm>
          <a:prstGeom prst="rect">
            <a:avLst/>
          </a:prstGeom>
          <a:solidFill>
            <a:srgbClr val="F1F5F9"/>
          </a:solidFill>
          <a:ln w="12700">
            <a:solidFill>
              <a:srgbClr val="F1F5F9"/>
            </a:solidFill>
            <a:prstDash val="solid"/>
          </a:ln>
        </p:spPr>
      </p:sp>
      <p:sp>
        <p:nvSpPr>
          <p:cNvPr id="19" name="Shape 17"/>
          <p:cNvSpPr/>
          <p:nvPr/>
        </p:nvSpPr>
        <p:spPr>
          <a:xfrm>
            <a:off x="502920" y="5623560"/>
            <a:ext cx="45720" cy="640080"/>
          </a:xfrm>
          <a:prstGeom prst="rect">
            <a:avLst/>
          </a:prstGeom>
          <a:solidFill>
            <a:srgbClr val="B45309"/>
          </a:solidFill>
          <a:ln w="12700">
            <a:solidFill>
              <a:srgbClr val="B45309"/>
            </a:solidFill>
            <a:prstDash val="solid"/>
          </a:ln>
        </p:spPr>
      </p:sp>
      <p:sp>
        <p:nvSpPr>
          <p:cNvPr id="20" name="Text 18"/>
          <p:cNvSpPr/>
          <p:nvPr/>
        </p:nvSpPr>
        <p:spPr>
          <a:xfrm>
            <a:off x="685800" y="571500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RECOMMENDED</a:t>
            </a:r>
            <a:endParaRPr lang="en-US" sz="900" dirty="0"/>
          </a:p>
        </p:txBody>
      </p:sp>
      <p:sp>
        <p:nvSpPr>
          <p:cNvPr id="21" name="Text 19"/>
          <p:cNvSpPr/>
          <p:nvPr/>
        </p:nvSpPr>
        <p:spPr>
          <a:xfrm>
            <a:off x="685800" y="5916168"/>
            <a:ext cx="10881360" cy="25603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Converse is the recommended way to call Bedrock. Use it for everything in this deck.</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OUR FIRST CALL</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685800"/>
            <a:ext cx="11185855" cy="64008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Our first API call — the whole script</a:t>
            </a:r>
            <a:endParaRPr lang="en-US" sz="2600" dirty="0"/>
          </a:p>
        </p:txBody>
      </p:sp>
      <p:sp>
        <p:nvSpPr>
          <p:cNvPr id="8" name="Text 6"/>
          <p:cNvSpPr/>
          <p:nvPr/>
        </p:nvSpPr>
        <p:spPr>
          <a:xfrm>
            <a:off x="502920" y="128016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~30 lines. We will break down every part over the next 5 slides.</a:t>
            </a:r>
            <a:endParaRPr lang="en-US" sz="1400" dirty="0"/>
          </a:p>
        </p:txBody>
      </p:sp>
      <p:sp>
        <p:nvSpPr>
          <p:cNvPr id="9" name="Shape 7"/>
          <p:cNvSpPr/>
          <p:nvPr/>
        </p:nvSpPr>
        <p:spPr>
          <a:xfrm>
            <a:off x="502920" y="1691640"/>
            <a:ext cx="11155680" cy="4754880"/>
          </a:xfrm>
          <a:prstGeom prst="rect">
            <a:avLst/>
          </a:prstGeom>
          <a:solidFill>
            <a:srgbClr val="0F172A"/>
          </a:solidFill>
          <a:ln w="12700">
            <a:solidFill>
              <a:srgbClr val="0F172A"/>
            </a:solidFill>
            <a:prstDash val="solid"/>
          </a:ln>
        </p:spPr>
      </p:sp>
      <p:sp>
        <p:nvSpPr>
          <p:cNvPr id="10" name="Text 8"/>
          <p:cNvSpPr/>
          <p:nvPr/>
        </p:nvSpPr>
        <p:spPr>
          <a:xfrm>
            <a:off x="667512" y="1801368"/>
            <a:ext cx="10826496" cy="4535424"/>
          </a:xfrm>
          <a:prstGeom prst="rect">
            <a:avLst/>
          </a:prstGeom>
          <a:noFill/>
          <a:ln/>
        </p:spPr>
        <p:txBody>
          <a:bodyPr wrap="square" lIns="0" tIns="0" rIns="0" bIns="0" rtlCol="0" anchor="t"/>
          <a:lstStyle/>
          <a:p>
            <a:pPr indent="0" marL="0">
              <a:buNone/>
            </a:pPr>
            <a:r>
              <a:rPr lang="en-US" sz="1050" dirty="0">
                <a:solidFill>
                  <a:srgbClr val="E2E8F0"/>
                </a:solidFill>
                <a:latin typeface="Consolas" pitchFamily="34" charset="0"/>
                <a:ea typeface="Consolas" pitchFamily="34" charset="-122"/>
                <a:cs typeface="Consolas" pitchFamily="34" charset="-120"/>
              </a:rPr>
              <a:t>import boto3</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def use_converse_api():</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bedrock_runtime = boto3.client('bedrock-runtime', region_name='us-east-1')</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model_id = "us.amazon.nova-lite-v1:0"</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system_prompt =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{"text": "You are a helpful technical assistant who explains concepts clearly and concisely."}</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user_message = "What is serverless computing?"</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response = bedrock_runtime.converse(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modelId=model_id,</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system=system_prompt,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messages=[</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{"role": "user", "content": [{"text": user_message}]}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inferenceConfig={"temperature": 0.7, "maxTokens": 2000}</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output_text = response['output']['message']['content'][0]['text']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print(output_text)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usage = response.get('usage',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print(f"Input tokens: {usage.get('inputTokens')}")</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print(f"Output tokens: {usage.get('outputTokens')}")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WALKTHROUGH · PART 1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1 — set up the client and pick a model</a:t>
            </a:r>
            <a:endParaRPr lang="en-US" sz="3200" dirty="0"/>
          </a:p>
        </p:txBody>
      </p:sp>
      <p:sp>
        <p:nvSpPr>
          <p:cNvPr id="8" name="Shape 6"/>
          <p:cNvSpPr/>
          <p:nvPr/>
        </p:nvSpPr>
        <p:spPr>
          <a:xfrm>
            <a:off x="502920" y="2103120"/>
            <a:ext cx="5943600" cy="1371600"/>
          </a:xfrm>
          <a:prstGeom prst="rect">
            <a:avLst/>
          </a:prstGeom>
          <a:solidFill>
            <a:srgbClr val="0F172A"/>
          </a:solidFill>
          <a:ln w="12700">
            <a:solidFill>
              <a:srgbClr val="0F172A"/>
            </a:solidFill>
            <a:prstDash val="solid"/>
          </a:ln>
        </p:spPr>
      </p:sp>
      <p:sp>
        <p:nvSpPr>
          <p:cNvPr id="9" name="Text 7"/>
          <p:cNvSpPr/>
          <p:nvPr/>
        </p:nvSpPr>
        <p:spPr>
          <a:xfrm>
            <a:off x="667512" y="2212848"/>
            <a:ext cx="5614416" cy="1152144"/>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import boto3</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bedrock_runtime = boto3.client('bedrock-runtime', region_name='us-east-1')</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model_id = "us.amazon.nova-lite-v1:0"</a:t>
            </a:r>
            <a:endParaRPr lang="en-US" sz="1300" dirty="0"/>
          </a:p>
        </p:txBody>
      </p:sp>
      <p:sp>
        <p:nvSpPr>
          <p:cNvPr id="10" name="Text 8"/>
          <p:cNvSpPr/>
          <p:nvPr/>
        </p:nvSpPr>
        <p:spPr>
          <a:xfrm>
            <a:off x="6766560" y="2103120"/>
            <a:ext cx="4846320" cy="22860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WHAT EACH LINE DOES</a:t>
            </a:r>
            <a:endParaRPr lang="en-US" sz="1000" dirty="0"/>
          </a:p>
        </p:txBody>
      </p:sp>
      <p:sp>
        <p:nvSpPr>
          <p:cNvPr id="11" name="Text 9"/>
          <p:cNvSpPr/>
          <p:nvPr/>
        </p:nvSpPr>
        <p:spPr>
          <a:xfrm>
            <a:off x="6766560" y="2377440"/>
            <a:ext cx="4846320" cy="274320"/>
          </a:xfrm>
          <a:prstGeom prst="rect">
            <a:avLst/>
          </a:prstGeom>
          <a:noFill/>
          <a:ln/>
        </p:spPr>
        <p:txBody>
          <a:bodyPr wrap="square" lIns="0" tIns="0" rIns="0" bIns="0" rtlCol="0" anchor="ctr"/>
          <a:lstStyle/>
          <a:p>
            <a:pPr indent="0" marL="0">
              <a:buNone/>
            </a:pPr>
            <a:r>
              <a:rPr lang="en-US" sz="1000" dirty="0">
                <a:solidFill>
                  <a:srgbClr val="B45309"/>
                </a:solidFill>
                <a:latin typeface="Consolas" pitchFamily="34" charset="0"/>
                <a:ea typeface="Consolas" pitchFamily="34" charset="-122"/>
                <a:cs typeface="Consolas" pitchFamily="34" charset="-120"/>
              </a:rPr>
              <a:t>import boto3</a:t>
            </a:r>
            <a:endParaRPr lang="en-US" sz="1000" dirty="0"/>
          </a:p>
        </p:txBody>
      </p:sp>
      <p:sp>
        <p:nvSpPr>
          <p:cNvPr id="12" name="Text 10"/>
          <p:cNvSpPr/>
          <p:nvPr/>
        </p:nvSpPr>
        <p:spPr>
          <a:xfrm>
            <a:off x="6766560" y="2651760"/>
            <a:ext cx="4846320" cy="54864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AWS SDK for Python.</a:t>
            </a:r>
            <a:endParaRPr lang="en-US" sz="1150" dirty="0"/>
          </a:p>
        </p:txBody>
      </p:sp>
      <p:sp>
        <p:nvSpPr>
          <p:cNvPr id="13" name="Text 11"/>
          <p:cNvSpPr/>
          <p:nvPr/>
        </p:nvSpPr>
        <p:spPr>
          <a:xfrm>
            <a:off x="6766560" y="3291840"/>
            <a:ext cx="4846320" cy="274320"/>
          </a:xfrm>
          <a:prstGeom prst="rect">
            <a:avLst/>
          </a:prstGeom>
          <a:noFill/>
          <a:ln/>
        </p:spPr>
        <p:txBody>
          <a:bodyPr wrap="square" lIns="0" tIns="0" rIns="0" bIns="0" rtlCol="0" anchor="ctr"/>
          <a:lstStyle/>
          <a:p>
            <a:pPr indent="0" marL="0">
              <a:buNone/>
            </a:pPr>
            <a:r>
              <a:rPr lang="en-US" sz="1000" dirty="0">
                <a:solidFill>
                  <a:srgbClr val="B45309"/>
                </a:solidFill>
                <a:latin typeface="Consolas" pitchFamily="34" charset="0"/>
                <a:ea typeface="Consolas" pitchFamily="34" charset="-122"/>
                <a:cs typeface="Consolas" pitchFamily="34" charset="-120"/>
              </a:rPr>
              <a:t>boto3.client('bedrock-runtime', ...)</a:t>
            </a:r>
            <a:endParaRPr lang="en-US" sz="1000" dirty="0"/>
          </a:p>
        </p:txBody>
      </p:sp>
      <p:sp>
        <p:nvSpPr>
          <p:cNvPr id="14" name="Text 12"/>
          <p:cNvSpPr/>
          <p:nvPr/>
        </p:nvSpPr>
        <p:spPr>
          <a:xfrm>
            <a:off x="6766560" y="3566160"/>
            <a:ext cx="4846320" cy="54864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Creates a runtime client — the object that calls Bedrock over the network.</a:t>
            </a:r>
            <a:endParaRPr lang="en-US" sz="1150" dirty="0"/>
          </a:p>
        </p:txBody>
      </p:sp>
      <p:sp>
        <p:nvSpPr>
          <p:cNvPr id="15" name="Text 13"/>
          <p:cNvSpPr/>
          <p:nvPr/>
        </p:nvSpPr>
        <p:spPr>
          <a:xfrm>
            <a:off x="6766560" y="4206240"/>
            <a:ext cx="4846320" cy="274320"/>
          </a:xfrm>
          <a:prstGeom prst="rect">
            <a:avLst/>
          </a:prstGeom>
          <a:noFill/>
          <a:ln/>
        </p:spPr>
        <p:txBody>
          <a:bodyPr wrap="square" lIns="0" tIns="0" rIns="0" bIns="0" rtlCol="0" anchor="ctr"/>
          <a:lstStyle/>
          <a:p>
            <a:pPr indent="0" marL="0">
              <a:buNone/>
            </a:pPr>
            <a:r>
              <a:rPr lang="en-US" sz="1000" dirty="0">
                <a:solidFill>
                  <a:srgbClr val="B45309"/>
                </a:solidFill>
                <a:latin typeface="Consolas" pitchFamily="34" charset="0"/>
                <a:ea typeface="Consolas" pitchFamily="34" charset="-122"/>
                <a:cs typeface="Consolas" pitchFamily="34" charset="-120"/>
              </a:rPr>
              <a:t>model_id = 'us.amazon.nova-lite-v1:0'</a:t>
            </a:r>
            <a:endParaRPr lang="en-US" sz="1000" dirty="0"/>
          </a:p>
        </p:txBody>
      </p:sp>
      <p:sp>
        <p:nvSpPr>
          <p:cNvPr id="16" name="Text 14"/>
          <p:cNvSpPr/>
          <p:nvPr/>
        </p:nvSpPr>
        <p:spPr>
          <a:xfrm>
            <a:off x="6766560" y="4480560"/>
            <a:ext cx="4846320" cy="54864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Picks the model. Every Bedrock model has a unique ID.</a:t>
            </a:r>
            <a:endParaRPr lang="en-US" sz="1150" dirty="0"/>
          </a:p>
        </p:txBody>
      </p:sp>
      <p:sp>
        <p:nvSpPr>
          <p:cNvPr id="17" name="Shape 15"/>
          <p:cNvSpPr/>
          <p:nvPr/>
        </p:nvSpPr>
        <p:spPr>
          <a:xfrm>
            <a:off x="502920" y="5486400"/>
            <a:ext cx="11155680" cy="868680"/>
          </a:xfrm>
          <a:prstGeom prst="rect">
            <a:avLst/>
          </a:prstGeom>
          <a:solidFill>
            <a:srgbClr val="F1F5F9"/>
          </a:solidFill>
          <a:ln w="12700">
            <a:solidFill>
              <a:srgbClr val="F1F5F9"/>
            </a:solidFill>
            <a:prstDash val="solid"/>
          </a:ln>
        </p:spPr>
      </p:sp>
      <p:sp>
        <p:nvSpPr>
          <p:cNvPr id="18" name="Shape 16"/>
          <p:cNvSpPr/>
          <p:nvPr/>
        </p:nvSpPr>
        <p:spPr>
          <a:xfrm>
            <a:off x="502920" y="5486400"/>
            <a:ext cx="45720" cy="868680"/>
          </a:xfrm>
          <a:prstGeom prst="rect">
            <a:avLst/>
          </a:prstGeom>
          <a:solidFill>
            <a:srgbClr val="B45309"/>
          </a:solidFill>
          <a:ln w="12700">
            <a:solidFill>
              <a:srgbClr val="B45309"/>
            </a:solidFill>
            <a:prstDash val="solid"/>
          </a:ln>
        </p:spPr>
      </p:sp>
      <p:sp>
        <p:nvSpPr>
          <p:cNvPr id="19" name="Text 17"/>
          <p:cNvSpPr/>
          <p:nvPr/>
        </p:nvSpPr>
        <p:spPr>
          <a:xfrm>
            <a:off x="685800" y="557784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GOTCHA</a:t>
            </a:r>
            <a:endParaRPr lang="en-US" sz="900" dirty="0"/>
          </a:p>
        </p:txBody>
      </p:sp>
      <p:sp>
        <p:nvSpPr>
          <p:cNvPr id="20" name="Text 18"/>
          <p:cNvSpPr/>
          <p:nvPr/>
        </p:nvSpPr>
        <p:spPr>
          <a:xfrm>
            <a:off x="685800" y="5779008"/>
            <a:ext cx="10881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The `us.` prefix is an inference profile prefix</a:t>
            </a:r>
            <a:endParaRPr lang="en-US" sz="1300" dirty="0"/>
          </a:p>
        </p:txBody>
      </p:sp>
      <p:sp>
        <p:nvSpPr>
          <p:cNvPr id="21" name="Text 19"/>
          <p:cNvSpPr/>
          <p:nvPr/>
        </p:nvSpPr>
        <p:spPr>
          <a:xfrm>
            <a:off x="685800" y="6071616"/>
            <a:ext cx="10881360" cy="19202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Newer Bedrock models require the region prefix (us., eu., apac.). Drop it and you will see ValidationException or ModelNotFoundException.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WALKTHROUGH · PART 2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2 — the system prompt</a:t>
            </a:r>
            <a:endParaRPr lang="en-US" sz="3200" dirty="0"/>
          </a:p>
        </p:txBody>
      </p:sp>
      <p:sp>
        <p:nvSpPr>
          <p:cNvPr id="8" name="Shape 6"/>
          <p:cNvSpPr/>
          <p:nvPr/>
        </p:nvSpPr>
        <p:spPr>
          <a:xfrm>
            <a:off x="502920" y="2103120"/>
            <a:ext cx="6400800" cy="1645920"/>
          </a:xfrm>
          <a:prstGeom prst="rect">
            <a:avLst/>
          </a:prstGeom>
          <a:solidFill>
            <a:srgbClr val="0F172A"/>
          </a:solidFill>
          <a:ln w="12700">
            <a:solidFill>
              <a:srgbClr val="0F172A"/>
            </a:solidFill>
            <a:prstDash val="solid"/>
          </a:ln>
        </p:spPr>
      </p:sp>
      <p:sp>
        <p:nvSpPr>
          <p:cNvPr id="9" name="Text 7"/>
          <p:cNvSpPr/>
          <p:nvPr/>
        </p:nvSpPr>
        <p:spPr>
          <a:xfrm>
            <a:off x="667512" y="2212848"/>
            <a:ext cx="6071616" cy="1426464"/>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system_prompt =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"text": "You are a helpful technical assistant who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"explains concepts clearly and concisely."</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7223760" y="2103120"/>
            <a:ext cx="4389120" cy="22860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WHAT IT IS FOR</a:t>
            </a:r>
            <a:endParaRPr lang="en-US" sz="1000" dirty="0"/>
          </a:p>
        </p:txBody>
      </p:sp>
      <p:sp>
        <p:nvSpPr>
          <p:cNvPr id="11" name="Text 9"/>
          <p:cNvSpPr/>
          <p:nvPr/>
        </p:nvSpPr>
        <p:spPr>
          <a:xfrm>
            <a:off x="7223760" y="2377440"/>
            <a:ext cx="4389120" cy="13716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Defines the model's role and behavior. Sent with every inference request. Not part of the user's message.</a:t>
            </a:r>
            <a:endParaRPr lang="en-US" sz="1300" dirty="0"/>
          </a:p>
        </p:txBody>
      </p:sp>
      <p:sp>
        <p:nvSpPr>
          <p:cNvPr id="12" name="Text 10"/>
          <p:cNvSpPr/>
          <p:nvPr/>
        </p:nvSpPr>
        <p:spPr>
          <a:xfrm>
            <a:off x="502920" y="4114800"/>
            <a:ext cx="1115568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WHY IT MATTERS — A SMALL EXAMPLE</a:t>
            </a:r>
            <a:endParaRPr lang="en-US" sz="1000" dirty="0"/>
          </a:p>
        </p:txBody>
      </p:sp>
      <p:sp>
        <p:nvSpPr>
          <p:cNvPr id="13" name="Shape 11"/>
          <p:cNvSpPr/>
          <p:nvPr/>
        </p:nvSpPr>
        <p:spPr>
          <a:xfrm>
            <a:off x="502920" y="4526280"/>
            <a:ext cx="5394960" cy="1691640"/>
          </a:xfrm>
          <a:prstGeom prst="rect">
            <a:avLst/>
          </a:prstGeom>
          <a:solidFill>
            <a:srgbClr val="F8FAFC"/>
          </a:solidFill>
          <a:ln w="6350">
            <a:solidFill>
              <a:srgbClr val="E2E8F0"/>
            </a:solidFill>
            <a:prstDash val="solid"/>
          </a:ln>
        </p:spPr>
      </p:sp>
      <p:sp>
        <p:nvSpPr>
          <p:cNvPr id="14" name="Text 12"/>
          <p:cNvSpPr/>
          <p:nvPr/>
        </p:nvSpPr>
        <p:spPr>
          <a:xfrm>
            <a:off x="640080" y="4617720"/>
            <a:ext cx="5120640" cy="365760"/>
          </a:xfrm>
          <a:prstGeom prst="rect">
            <a:avLst/>
          </a:prstGeom>
          <a:noFill/>
          <a:ln/>
        </p:spPr>
        <p:txBody>
          <a:bodyPr wrap="square" lIns="0" tIns="0" rIns="0" bIns="0" rtlCol="0" anchor="ctr"/>
          <a:lstStyle/>
          <a:p>
            <a:pPr indent="0" marL="0">
              <a:buNone/>
            </a:pPr>
            <a:r>
              <a:rPr lang="en-US" sz="1050" b="1" dirty="0">
                <a:solidFill>
                  <a:srgbClr val="B45309"/>
                </a:solidFill>
                <a:latin typeface="Consolas" pitchFamily="34" charset="0"/>
                <a:ea typeface="Consolas" pitchFamily="34" charset="-122"/>
                <a:cs typeface="Consolas" pitchFamily="34" charset="-120"/>
              </a:rPr>
              <a:t>System: "You are a pirate. Speak only in pirate English."</a:t>
            </a:r>
            <a:endParaRPr lang="en-US" sz="1050" dirty="0"/>
          </a:p>
        </p:txBody>
      </p:sp>
      <p:sp>
        <p:nvSpPr>
          <p:cNvPr id="15" name="Text 13"/>
          <p:cNvSpPr/>
          <p:nvPr/>
        </p:nvSpPr>
        <p:spPr>
          <a:xfrm>
            <a:off x="640080" y="4983480"/>
            <a:ext cx="5120640" cy="1188720"/>
          </a:xfrm>
          <a:prstGeom prst="rect">
            <a:avLst/>
          </a:prstGeom>
          <a:noFill/>
          <a:ln/>
        </p:spPr>
        <p:txBody>
          <a:bodyPr wrap="square" lIns="0" tIns="0" rIns="0" bIns="0" rtlCol="0" anchor="t"/>
          <a:lstStyle/>
          <a:p>
            <a:pPr indent="0" marL="0">
              <a:buNone/>
            </a:pPr>
            <a:r>
              <a:rPr lang="en-US" sz="1100" i="1" dirty="0">
                <a:solidFill>
                  <a:srgbClr val="334155"/>
                </a:solidFill>
                <a:latin typeface="Calibri" pitchFamily="34" charset="0"/>
                <a:ea typeface="Calibri" pitchFamily="34" charset="-122"/>
                <a:cs typeface="Calibri" pitchFamily="34" charset="-120"/>
              </a:rPr>
              <a:t>User: "What is the cloud?"</a:t>
            </a:r>
            <a:endParaRPr lang="en-US" sz="1100" dirty="0"/>
          </a:p>
          <a:p>
            <a:pPr indent="0" marL="0">
              <a:buNone/>
            </a:pPr>
            <a:r>
              <a:rPr lang="en-US" sz="1100" i="1" dirty="0">
                <a:solidFill>
                  <a:srgbClr val="334155"/>
                </a:solidFill>
                <a:latin typeface="Calibri" pitchFamily="34" charset="0"/>
                <a:ea typeface="Calibri" pitchFamily="34" charset="-122"/>
                <a:cs typeface="Calibri" pitchFamily="34" charset="-120"/>
              </a:rPr>
              <a:t>Assistant: "Arrr, the cloud be a vast sea of servers, mate — yer data sails upon it..."</a:t>
            </a:r>
            <a:endParaRPr lang="en-US" sz="1100" dirty="0"/>
          </a:p>
        </p:txBody>
      </p:sp>
      <p:sp>
        <p:nvSpPr>
          <p:cNvPr id="16" name="Shape 14"/>
          <p:cNvSpPr/>
          <p:nvPr/>
        </p:nvSpPr>
        <p:spPr>
          <a:xfrm>
            <a:off x="6263640" y="4526280"/>
            <a:ext cx="5394960" cy="1691640"/>
          </a:xfrm>
          <a:prstGeom prst="rect">
            <a:avLst/>
          </a:prstGeom>
          <a:solidFill>
            <a:srgbClr val="F8FAFC"/>
          </a:solidFill>
          <a:ln w="6350">
            <a:solidFill>
              <a:srgbClr val="E2E8F0"/>
            </a:solidFill>
            <a:prstDash val="solid"/>
          </a:ln>
        </p:spPr>
      </p:sp>
      <p:sp>
        <p:nvSpPr>
          <p:cNvPr id="17" name="Text 15"/>
          <p:cNvSpPr/>
          <p:nvPr/>
        </p:nvSpPr>
        <p:spPr>
          <a:xfrm>
            <a:off x="6400800" y="4617720"/>
            <a:ext cx="5120640" cy="365760"/>
          </a:xfrm>
          <a:prstGeom prst="rect">
            <a:avLst/>
          </a:prstGeom>
          <a:noFill/>
          <a:ln/>
        </p:spPr>
        <p:txBody>
          <a:bodyPr wrap="square" lIns="0" tIns="0" rIns="0" bIns="0" rtlCol="0" anchor="ctr"/>
          <a:lstStyle/>
          <a:p>
            <a:pPr indent="0" marL="0">
              <a:buNone/>
            </a:pPr>
            <a:r>
              <a:rPr lang="en-US" sz="1050" b="1" dirty="0">
                <a:solidFill>
                  <a:srgbClr val="B45309"/>
                </a:solidFill>
                <a:latin typeface="Consolas" pitchFamily="34" charset="0"/>
                <a:ea typeface="Consolas" pitchFamily="34" charset="-122"/>
                <a:cs typeface="Consolas" pitchFamily="34" charset="-120"/>
              </a:rPr>
              <a:t>System: "You are a helpful, concise technical assistant."</a:t>
            </a:r>
            <a:endParaRPr lang="en-US" sz="1050" dirty="0"/>
          </a:p>
        </p:txBody>
      </p:sp>
      <p:sp>
        <p:nvSpPr>
          <p:cNvPr id="18" name="Text 16"/>
          <p:cNvSpPr/>
          <p:nvPr/>
        </p:nvSpPr>
        <p:spPr>
          <a:xfrm>
            <a:off x="6400800" y="4983480"/>
            <a:ext cx="5120640" cy="1188720"/>
          </a:xfrm>
          <a:prstGeom prst="rect">
            <a:avLst/>
          </a:prstGeom>
          <a:noFill/>
          <a:ln/>
        </p:spPr>
        <p:txBody>
          <a:bodyPr wrap="square" lIns="0" tIns="0" rIns="0" bIns="0" rtlCol="0" anchor="t"/>
          <a:lstStyle/>
          <a:p>
            <a:pPr indent="0" marL="0">
              <a:buNone/>
            </a:pPr>
            <a:r>
              <a:rPr lang="en-US" sz="1100" i="1" dirty="0">
                <a:solidFill>
                  <a:srgbClr val="334155"/>
                </a:solidFill>
                <a:latin typeface="Calibri" pitchFamily="34" charset="0"/>
                <a:ea typeface="Calibri" pitchFamily="34" charset="-122"/>
                <a:cs typeface="Calibri" pitchFamily="34" charset="-120"/>
              </a:rPr>
              <a:t>User: "What is the cloud?"</a:t>
            </a:r>
            <a:endParaRPr lang="en-US" sz="1100" dirty="0"/>
          </a:p>
          <a:p>
            <a:pPr indent="0" marL="0">
              <a:buNone/>
            </a:pPr>
            <a:r>
              <a:rPr lang="en-US" sz="1100" i="1" dirty="0">
                <a:solidFill>
                  <a:srgbClr val="334155"/>
                </a:solidFill>
                <a:latin typeface="Calibri" pitchFamily="34" charset="0"/>
                <a:ea typeface="Calibri" pitchFamily="34" charset="-122"/>
                <a:cs typeface="Calibri" pitchFamily="34" charset="-120"/>
              </a:rPr>
              <a:t>Assistant: "Cloud computing is on-demand access to computing resources over the internet, billed by usage."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WALKTHROUGH · PART 3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3 — the messages array</a:t>
            </a:r>
            <a:endParaRPr lang="en-US" sz="3200" dirty="0"/>
          </a:p>
        </p:txBody>
      </p:sp>
      <p:sp>
        <p:nvSpPr>
          <p:cNvPr id="8" name="Shape 6"/>
          <p:cNvSpPr/>
          <p:nvPr/>
        </p:nvSpPr>
        <p:spPr>
          <a:xfrm>
            <a:off x="502920" y="2103120"/>
            <a:ext cx="6400800" cy="1691640"/>
          </a:xfrm>
          <a:prstGeom prst="rect">
            <a:avLst/>
          </a:prstGeom>
          <a:solidFill>
            <a:srgbClr val="0F172A"/>
          </a:solidFill>
          <a:ln w="12700">
            <a:solidFill>
              <a:srgbClr val="0F172A"/>
            </a:solidFill>
            <a:prstDash val="solid"/>
          </a:ln>
        </p:spPr>
      </p:sp>
      <p:sp>
        <p:nvSpPr>
          <p:cNvPr id="9" name="Text 7"/>
          <p:cNvSpPr/>
          <p:nvPr/>
        </p:nvSpPr>
        <p:spPr>
          <a:xfrm>
            <a:off x="667512" y="2212848"/>
            <a:ext cx="6071616" cy="1472184"/>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messages=[</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"role": "user",</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"content": [{"text": user_message}]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7223760" y="2103120"/>
            <a:ext cx="4389120" cy="22860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STRUCTURE</a:t>
            </a:r>
            <a:endParaRPr lang="en-US" sz="1000" dirty="0"/>
          </a:p>
        </p:txBody>
      </p:sp>
      <p:sp>
        <p:nvSpPr>
          <p:cNvPr id="11" name="Text 9"/>
          <p:cNvSpPr/>
          <p:nvPr/>
        </p:nvSpPr>
        <p:spPr>
          <a:xfrm>
            <a:off x="7223760" y="2377440"/>
            <a:ext cx="4389120" cy="1463040"/>
          </a:xfrm>
          <a:prstGeom prst="rect">
            <a:avLst/>
          </a:prstGeom>
          <a:noFill/>
          <a:ln/>
        </p:spPr>
        <p:txBody>
          <a:bodyPr wrap="square" lIns="0" tIns="0" rIns="0" bIns="0" rtlCol="0" anchor="t"/>
          <a:lstStyle/>
          <a:p>
            <a:pPr indent="0" marL="0">
              <a:buNone/>
            </a:pPr>
            <a:r>
              <a:rPr lang="en-US" sz="1200" b="1" dirty="0">
                <a:solidFill>
                  <a:srgbClr val="B45309"/>
                </a:solidFill>
                <a:latin typeface="Consolas" pitchFamily="34" charset="0"/>
                <a:ea typeface="Consolas" pitchFamily="34" charset="-122"/>
                <a:cs typeface="Consolas" pitchFamily="34" charset="-120"/>
              </a:rPr>
              <a:t>role</a:t>
            </a:r>
            <a:pPr indent="0" marL="0">
              <a:buNone/>
            </a:pPr>
            <a:r>
              <a:rPr lang="en-US" sz="1200" dirty="0">
                <a:solidFill>
                  <a:srgbClr val="334155"/>
                </a:solidFill>
                <a:latin typeface="Calibri" pitchFamily="34" charset="0"/>
                <a:ea typeface="Calibri" pitchFamily="34" charset="-122"/>
                <a:cs typeface="Calibri" pitchFamily="34" charset="-120"/>
              </a:rPr>
              <a:t> — either </a:t>
            </a:r>
            <a:pPr indent="0" marL="0">
              <a:buNone/>
            </a:pPr>
            <a:r>
              <a:rPr lang="en-US" sz="1200" dirty="0">
                <a:solidFill>
                  <a:srgbClr val="B45309"/>
                </a:solidFill>
                <a:latin typeface="Consolas" pitchFamily="34" charset="0"/>
                <a:ea typeface="Consolas" pitchFamily="34" charset="-122"/>
                <a:cs typeface="Consolas" pitchFamily="34" charset="-120"/>
              </a:rPr>
              <a:t>"user"</a:t>
            </a:r>
            <a:pPr indent="0" marL="0">
              <a:buNone/>
            </a:pPr>
            <a:r>
              <a:rPr lang="en-US" sz="1200" dirty="0">
                <a:solidFill>
                  <a:srgbClr val="334155"/>
                </a:solidFill>
                <a:latin typeface="Calibri" pitchFamily="34" charset="0"/>
                <a:ea typeface="Calibri" pitchFamily="34" charset="-122"/>
                <a:cs typeface="Calibri" pitchFamily="34" charset="-120"/>
              </a:rPr>
              <a:t> or </a:t>
            </a:r>
            <a:pPr indent="0" marL="0">
              <a:buNone/>
            </a:pPr>
            <a:r>
              <a:rPr lang="en-US" sz="1200" dirty="0">
                <a:solidFill>
                  <a:srgbClr val="B45309"/>
                </a:solidFill>
                <a:latin typeface="Consolas" pitchFamily="34" charset="0"/>
                <a:ea typeface="Consolas" pitchFamily="34" charset="-122"/>
                <a:cs typeface="Consolas" pitchFamily="34" charset="-120"/>
              </a:rPr>
              <a:t>"assistant"</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B45309"/>
                </a:solidFill>
                <a:latin typeface="Consolas" pitchFamily="34" charset="0"/>
                <a:ea typeface="Consolas" pitchFamily="34" charset="-122"/>
                <a:cs typeface="Consolas" pitchFamily="34" charset="-120"/>
              </a:rPr>
              <a:t>content</a:t>
            </a:r>
            <a:pPr indent="0" marL="0">
              <a:buNone/>
            </a:pPr>
            <a:r>
              <a:rPr lang="en-US" sz="1200" dirty="0">
                <a:solidFill>
                  <a:srgbClr val="334155"/>
                </a:solidFill>
                <a:latin typeface="Calibri" pitchFamily="34" charset="0"/>
                <a:ea typeface="Calibri" pitchFamily="34" charset="-122"/>
                <a:cs typeface="Calibri" pitchFamily="34" charset="-120"/>
              </a:rPr>
              <a:t> — list of message blocks (text now; later multimodal too)</a:t>
            </a:r>
            <a:endParaRPr lang="en-US" sz="1200" dirty="0"/>
          </a:p>
        </p:txBody>
      </p:sp>
      <p:sp>
        <p:nvSpPr>
          <p:cNvPr id="12" name="Shape 10"/>
          <p:cNvSpPr/>
          <p:nvPr/>
        </p:nvSpPr>
        <p:spPr>
          <a:xfrm>
            <a:off x="502920" y="4206240"/>
            <a:ext cx="11155680" cy="731520"/>
          </a:xfrm>
          <a:prstGeom prst="rect">
            <a:avLst/>
          </a:prstGeom>
          <a:solidFill>
            <a:srgbClr val="F1F5F9"/>
          </a:solidFill>
          <a:ln w="12700">
            <a:solidFill>
              <a:srgbClr val="F1F5F9"/>
            </a:solidFill>
            <a:prstDash val="solid"/>
          </a:ln>
        </p:spPr>
      </p:sp>
      <p:sp>
        <p:nvSpPr>
          <p:cNvPr id="13" name="Shape 11"/>
          <p:cNvSpPr/>
          <p:nvPr/>
        </p:nvSpPr>
        <p:spPr>
          <a:xfrm>
            <a:off x="502920" y="4206240"/>
            <a:ext cx="45720" cy="731520"/>
          </a:xfrm>
          <a:prstGeom prst="rect">
            <a:avLst/>
          </a:prstGeom>
          <a:solidFill>
            <a:srgbClr val="B45309"/>
          </a:solidFill>
          <a:ln w="12700">
            <a:solidFill>
              <a:srgbClr val="B45309"/>
            </a:solidFill>
            <a:prstDash val="solid"/>
          </a:ln>
        </p:spPr>
      </p:sp>
      <p:sp>
        <p:nvSpPr>
          <p:cNvPr id="14" name="Text 12"/>
          <p:cNvSpPr/>
          <p:nvPr/>
        </p:nvSpPr>
        <p:spPr>
          <a:xfrm>
            <a:off x="685800" y="429768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NOTE</a:t>
            </a:r>
            <a:endParaRPr lang="en-US" sz="900" dirty="0"/>
          </a:p>
        </p:txBody>
      </p:sp>
      <p:sp>
        <p:nvSpPr>
          <p:cNvPr id="15" name="Text 13"/>
          <p:cNvSpPr/>
          <p:nvPr/>
        </p:nvSpPr>
        <p:spPr>
          <a:xfrm>
            <a:off x="685800" y="4498848"/>
            <a:ext cx="10881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We only have one message right now — the conversation has just started.</a:t>
            </a:r>
            <a:endParaRPr lang="en-US" sz="1300" dirty="0"/>
          </a:p>
        </p:txBody>
      </p:sp>
      <p:sp>
        <p:nvSpPr>
          <p:cNvPr id="16" name="Text 14"/>
          <p:cNvSpPr/>
          <p:nvPr/>
        </p:nvSpPr>
        <p:spPr>
          <a:xfrm>
            <a:off x="685800" y="4791456"/>
            <a:ext cx="10881360" cy="5486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In a real application, the user message comes from a frontend, mobile app, or CLI. We are hardcoding it here for simplicity.</a:t>
            </a:r>
            <a:endParaRPr lang="en-US" sz="1100" dirty="0"/>
          </a:p>
        </p:txBody>
      </p:sp>
      <p:sp>
        <p:nvSpPr>
          <p:cNvPr id="17" name="Shape 15"/>
          <p:cNvSpPr/>
          <p:nvPr/>
        </p:nvSpPr>
        <p:spPr>
          <a:xfrm>
            <a:off x="502920" y="5120640"/>
            <a:ext cx="11155680" cy="868680"/>
          </a:xfrm>
          <a:prstGeom prst="rect">
            <a:avLst/>
          </a:prstGeom>
          <a:solidFill>
            <a:srgbClr val="FEE2E2"/>
          </a:solidFill>
          <a:ln w="12700">
            <a:solidFill>
              <a:srgbClr val="FEE2E2"/>
            </a:solidFill>
            <a:prstDash val="solid"/>
          </a:ln>
        </p:spPr>
      </p:sp>
      <p:sp>
        <p:nvSpPr>
          <p:cNvPr id="18" name="Shape 16"/>
          <p:cNvSpPr/>
          <p:nvPr/>
        </p:nvSpPr>
        <p:spPr>
          <a:xfrm>
            <a:off x="502920" y="5120640"/>
            <a:ext cx="45720" cy="868680"/>
          </a:xfrm>
          <a:prstGeom prst="rect">
            <a:avLst/>
          </a:prstGeom>
          <a:solidFill>
            <a:srgbClr val="B91C1C"/>
          </a:solidFill>
          <a:ln w="12700">
            <a:solidFill>
              <a:srgbClr val="B91C1C"/>
            </a:solidFill>
            <a:prstDash val="solid"/>
          </a:ln>
        </p:spPr>
      </p:sp>
      <p:sp>
        <p:nvSpPr>
          <p:cNvPr id="19" name="Text 17"/>
          <p:cNvSpPr/>
          <p:nvPr/>
        </p:nvSpPr>
        <p:spPr>
          <a:xfrm>
            <a:off x="685800" y="5212080"/>
            <a:ext cx="1088136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Calibri" pitchFamily="34" charset="0"/>
                <a:ea typeface="Calibri" pitchFamily="34" charset="-122"/>
                <a:cs typeface="Calibri" pitchFamily="34" charset="-120"/>
              </a:rPr>
              <a:t>ANTI-PATTERN</a:t>
            </a:r>
            <a:endParaRPr lang="en-US" sz="900" dirty="0"/>
          </a:p>
        </p:txBody>
      </p:sp>
      <p:sp>
        <p:nvSpPr>
          <p:cNvPr id="20" name="Text 18"/>
          <p:cNvSpPr/>
          <p:nvPr/>
        </p:nvSpPr>
        <p:spPr>
          <a:xfrm>
            <a:off x="685800" y="5413248"/>
            <a:ext cx="10881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Do not put the user's question inside the system prompt.</a:t>
            </a:r>
            <a:endParaRPr lang="en-US" sz="1300" dirty="0"/>
          </a:p>
        </p:txBody>
      </p:sp>
      <p:sp>
        <p:nvSpPr>
          <p:cNvPr id="21" name="Text 19"/>
          <p:cNvSpPr/>
          <p:nvPr/>
        </p:nvSpPr>
        <p:spPr>
          <a:xfrm>
            <a:off x="685800" y="5705856"/>
            <a:ext cx="10881360" cy="19202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Mixing roles breaks intended behavior and prevents prompt caching. The system prompt is for stable instructions only.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WALKTHROUGH · PART 4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4 — the two knobs you will actually turn</a:t>
            </a:r>
            <a:endParaRPr lang="en-US" sz="3200" dirty="0"/>
          </a:p>
        </p:txBody>
      </p:sp>
      <p:sp>
        <p:nvSpPr>
          <p:cNvPr id="8" name="Shape 6"/>
          <p:cNvSpPr/>
          <p:nvPr/>
        </p:nvSpPr>
        <p:spPr>
          <a:xfrm>
            <a:off x="502920" y="2103120"/>
            <a:ext cx="11155680" cy="1188720"/>
          </a:xfrm>
          <a:prstGeom prst="rect">
            <a:avLst/>
          </a:prstGeom>
          <a:solidFill>
            <a:srgbClr val="0F172A"/>
          </a:solidFill>
          <a:ln w="12700">
            <a:solidFill>
              <a:srgbClr val="0F172A"/>
            </a:solidFill>
            <a:prstDash val="solid"/>
          </a:ln>
        </p:spPr>
      </p:sp>
      <p:sp>
        <p:nvSpPr>
          <p:cNvPr id="9" name="Text 7"/>
          <p:cNvSpPr/>
          <p:nvPr/>
        </p:nvSpPr>
        <p:spPr>
          <a:xfrm>
            <a:off x="667512" y="2212848"/>
            <a:ext cx="10826496" cy="969264"/>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inferenceConfig={</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"temperature": 0.7,</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"maxTokens": 2000</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0" name="Shape 8"/>
          <p:cNvSpPr/>
          <p:nvPr/>
        </p:nvSpPr>
        <p:spPr>
          <a:xfrm>
            <a:off x="502920" y="3520440"/>
            <a:ext cx="5440680" cy="2560320"/>
          </a:xfrm>
          <a:prstGeom prst="rect">
            <a:avLst/>
          </a:prstGeom>
          <a:solidFill>
            <a:srgbClr val="F8FAFC"/>
          </a:solidFill>
          <a:ln w="6350">
            <a:solidFill>
              <a:srgbClr val="E2E8F0"/>
            </a:solidFill>
            <a:prstDash val="solid"/>
          </a:ln>
        </p:spPr>
      </p:sp>
      <p:sp>
        <p:nvSpPr>
          <p:cNvPr id="11" name="Text 9"/>
          <p:cNvSpPr/>
          <p:nvPr/>
        </p:nvSpPr>
        <p:spPr>
          <a:xfrm>
            <a:off x="731520" y="3611880"/>
            <a:ext cx="5029200" cy="320040"/>
          </a:xfrm>
          <a:prstGeom prst="rect">
            <a:avLst/>
          </a:prstGeom>
          <a:noFill/>
          <a:ln/>
        </p:spPr>
        <p:txBody>
          <a:bodyPr wrap="square" lIns="0" tIns="0" rIns="0" bIns="0" rtlCol="0" anchor="ctr"/>
          <a:lstStyle/>
          <a:p>
            <a:pPr indent="0" marL="0">
              <a:buNone/>
            </a:pPr>
            <a:r>
              <a:rPr lang="en-US" sz="1600" b="1" dirty="0">
                <a:solidFill>
                  <a:srgbClr val="B45309"/>
                </a:solidFill>
                <a:latin typeface="Consolas" pitchFamily="34" charset="0"/>
                <a:ea typeface="Consolas" pitchFamily="34" charset="-122"/>
                <a:cs typeface="Consolas" pitchFamily="34" charset="-120"/>
              </a:rPr>
              <a:t>temperature</a:t>
            </a:r>
            <a:endParaRPr lang="en-US" sz="1600" dirty="0"/>
          </a:p>
        </p:txBody>
      </p:sp>
      <p:sp>
        <p:nvSpPr>
          <p:cNvPr id="12" name="Text 10"/>
          <p:cNvSpPr/>
          <p:nvPr/>
        </p:nvSpPr>
        <p:spPr>
          <a:xfrm>
            <a:off x="731520" y="3931920"/>
            <a:ext cx="5029200" cy="2743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How random or creative the output is.</a:t>
            </a:r>
            <a:endParaRPr lang="en-US" sz="1200" dirty="0"/>
          </a:p>
        </p:txBody>
      </p:sp>
      <p:sp>
        <p:nvSpPr>
          <p:cNvPr id="13" name="Text 11"/>
          <p:cNvSpPr/>
          <p:nvPr/>
        </p:nvSpPr>
        <p:spPr>
          <a:xfrm>
            <a:off x="731520" y="4297680"/>
            <a:ext cx="5029200" cy="1691640"/>
          </a:xfrm>
          <a:prstGeom prst="rect">
            <a:avLst/>
          </a:prstGeom>
          <a:noFill/>
          <a:ln/>
        </p:spPr>
        <p:txBody>
          <a:bodyPr wrap="square" lIns="0" tIns="0" rIns="0" bIns="0" rtlCol="0" anchor="t"/>
          <a:lstStyle/>
          <a:p>
            <a:pPr indent="0" marL="0">
              <a:buNone/>
            </a:pPr>
            <a:r>
              <a:rPr lang="en-US" sz="1250" b="1" dirty="0">
                <a:solidFill>
                  <a:srgbClr val="0F172A"/>
                </a:solidFill>
                <a:latin typeface="Consolas" pitchFamily="34" charset="0"/>
                <a:ea typeface="Consolas" pitchFamily="34" charset="-122"/>
                <a:cs typeface="Consolas" pitchFamily="34" charset="-120"/>
              </a:rPr>
              <a:t>0.0</a:t>
            </a:r>
            <a:pPr indent="0" marL="0">
              <a:buNone/>
            </a:pPr>
            <a:r>
              <a:rPr lang="en-US" sz="1250" dirty="0">
                <a:solidFill>
                  <a:srgbClr val="334155"/>
                </a:solidFill>
                <a:latin typeface="Calibri" pitchFamily="34" charset="0"/>
                <a:ea typeface="Calibri" pitchFamily="34" charset="-122"/>
                <a:cs typeface="Calibri" pitchFamily="34" charset="-120"/>
              </a:rPr>
              <a:t>  →  most predictable. Use for classification, data extraction.</a:t>
            </a:r>
            <a:endParaRPr lang="en-US" sz="12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0F172A"/>
                </a:solidFill>
                <a:latin typeface="Consolas" pitchFamily="34" charset="0"/>
                <a:ea typeface="Consolas" pitchFamily="34" charset="-122"/>
                <a:cs typeface="Consolas" pitchFamily="34" charset="-120"/>
              </a:rPr>
              <a:t>1.0</a:t>
            </a:r>
            <a:pPr indent="0" marL="0">
              <a:buNone/>
            </a:pPr>
            <a:r>
              <a:rPr lang="en-US" sz="1250" dirty="0">
                <a:solidFill>
                  <a:srgbClr val="334155"/>
                </a:solidFill>
                <a:latin typeface="Calibri" pitchFamily="34" charset="0"/>
                <a:ea typeface="Calibri" pitchFamily="34" charset="-122"/>
                <a:cs typeface="Calibri" pitchFamily="34" charset="-120"/>
              </a:rPr>
              <a:t>  →  most varied. Use for creative writing, brainstorming.</a:t>
            </a:r>
            <a:endParaRPr lang="en-US" sz="12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0F172A"/>
                </a:solidFill>
                <a:latin typeface="Consolas" pitchFamily="34" charset="0"/>
                <a:ea typeface="Consolas" pitchFamily="34" charset="-122"/>
                <a:cs typeface="Consolas" pitchFamily="34" charset="-120"/>
              </a:rPr>
              <a:t>0.7</a:t>
            </a:r>
            <a:pPr indent="0" marL="0">
              <a:buNone/>
            </a:pPr>
            <a:r>
              <a:rPr lang="en-US" sz="1250" dirty="0">
                <a:solidFill>
                  <a:srgbClr val="334155"/>
                </a:solidFill>
                <a:latin typeface="Calibri" pitchFamily="34" charset="0"/>
                <a:ea typeface="Calibri" pitchFamily="34" charset="-122"/>
                <a:cs typeface="Calibri" pitchFamily="34" charset="-120"/>
              </a:rPr>
              <a:t>  →  a reasonable middle ground.</a:t>
            </a:r>
            <a:endParaRPr lang="en-US" sz="1250" dirty="0"/>
          </a:p>
        </p:txBody>
      </p:sp>
      <p:sp>
        <p:nvSpPr>
          <p:cNvPr id="14" name="Shape 12"/>
          <p:cNvSpPr/>
          <p:nvPr/>
        </p:nvSpPr>
        <p:spPr>
          <a:xfrm>
            <a:off x="6217920" y="3520440"/>
            <a:ext cx="5440680" cy="2560320"/>
          </a:xfrm>
          <a:prstGeom prst="rect">
            <a:avLst/>
          </a:prstGeom>
          <a:solidFill>
            <a:srgbClr val="F8FAFC"/>
          </a:solidFill>
          <a:ln w="6350">
            <a:solidFill>
              <a:srgbClr val="E2E8F0"/>
            </a:solidFill>
            <a:prstDash val="solid"/>
          </a:ln>
        </p:spPr>
      </p:sp>
      <p:sp>
        <p:nvSpPr>
          <p:cNvPr id="15" name="Text 13"/>
          <p:cNvSpPr/>
          <p:nvPr/>
        </p:nvSpPr>
        <p:spPr>
          <a:xfrm>
            <a:off x="6446520" y="3611880"/>
            <a:ext cx="5029200" cy="320040"/>
          </a:xfrm>
          <a:prstGeom prst="rect">
            <a:avLst/>
          </a:prstGeom>
          <a:noFill/>
          <a:ln/>
        </p:spPr>
        <p:txBody>
          <a:bodyPr wrap="square" lIns="0" tIns="0" rIns="0" bIns="0" rtlCol="0" anchor="ctr"/>
          <a:lstStyle/>
          <a:p>
            <a:pPr indent="0" marL="0">
              <a:buNone/>
            </a:pPr>
            <a:r>
              <a:rPr lang="en-US" sz="1600" b="1" dirty="0">
                <a:solidFill>
                  <a:srgbClr val="B45309"/>
                </a:solidFill>
                <a:latin typeface="Consolas" pitchFamily="34" charset="0"/>
                <a:ea typeface="Consolas" pitchFamily="34" charset="-122"/>
                <a:cs typeface="Consolas" pitchFamily="34" charset="-120"/>
              </a:rPr>
              <a:t>maxTokens</a:t>
            </a:r>
            <a:endParaRPr lang="en-US" sz="1600" dirty="0"/>
          </a:p>
        </p:txBody>
      </p:sp>
      <p:sp>
        <p:nvSpPr>
          <p:cNvPr id="16" name="Text 14"/>
          <p:cNvSpPr/>
          <p:nvPr/>
        </p:nvSpPr>
        <p:spPr>
          <a:xfrm>
            <a:off x="6446520" y="3931920"/>
            <a:ext cx="5029200" cy="2743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A hard cap on how long the response can be.</a:t>
            </a:r>
            <a:endParaRPr lang="en-US" sz="1200" dirty="0"/>
          </a:p>
        </p:txBody>
      </p:sp>
      <p:sp>
        <p:nvSpPr>
          <p:cNvPr id="17" name="Text 15"/>
          <p:cNvSpPr/>
          <p:nvPr/>
        </p:nvSpPr>
        <p:spPr>
          <a:xfrm>
            <a:off x="6446520" y="4297680"/>
            <a:ext cx="5029200" cy="1691640"/>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Model stops generating once it hits this limit.</a:t>
            </a:r>
            <a:endParaRPr lang="en-US" sz="1250" dirty="0"/>
          </a:p>
          <a:p>
            <a:pPr indent="0" marL="0">
              <a:buNone/>
            </a:pPr>
            <a:endParaRPr lang="en-US" sz="1250" dirty="0"/>
          </a:p>
          <a:p>
            <a:pPr indent="0" marL="0">
              <a:buNone/>
            </a:pPr>
            <a:r>
              <a:rPr lang="en-US" sz="1250" dirty="0">
                <a:solidFill>
                  <a:srgbClr val="334155"/>
                </a:solidFill>
                <a:latin typeface="Calibri" pitchFamily="34" charset="0"/>
                <a:ea typeface="Calibri" pitchFamily="34" charset="-122"/>
                <a:cs typeface="Calibri" pitchFamily="34" charset="-120"/>
              </a:rPr>
              <a:t>Always set this. It is your guardrail against a runaway response driving up your bill.</a:t>
            </a:r>
            <a:endParaRPr lang="en-US" sz="1250" dirty="0"/>
          </a:p>
          <a:p>
            <a:pPr indent="0" marL="0">
              <a:buNone/>
            </a:pPr>
            <a:endParaRPr lang="en-US" sz="1250" dirty="0"/>
          </a:p>
          <a:p>
            <a:pPr indent="0" marL="0">
              <a:buNone/>
            </a:pPr>
            <a:r>
              <a:rPr lang="en-US" sz="1250" dirty="0">
                <a:solidFill>
                  <a:srgbClr val="334155"/>
                </a:solidFill>
                <a:latin typeface="Calibri" pitchFamily="34" charset="0"/>
                <a:ea typeface="Calibri" pitchFamily="34" charset="-122"/>
                <a:cs typeface="Calibri" pitchFamily="34" charset="-120"/>
              </a:rPr>
              <a:t>2000 is plenty for a single answer.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WALKTHROUGH · PART 5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5 — make the call, read the response</a:t>
            </a:r>
            <a:endParaRPr lang="en-US" sz="3200" dirty="0"/>
          </a:p>
        </p:txBody>
      </p:sp>
      <p:sp>
        <p:nvSpPr>
          <p:cNvPr id="8" name="Shape 6"/>
          <p:cNvSpPr/>
          <p:nvPr/>
        </p:nvSpPr>
        <p:spPr>
          <a:xfrm>
            <a:off x="502920" y="2103120"/>
            <a:ext cx="11155680" cy="2606040"/>
          </a:xfrm>
          <a:prstGeom prst="rect">
            <a:avLst/>
          </a:prstGeom>
          <a:solidFill>
            <a:srgbClr val="0F172A"/>
          </a:solidFill>
          <a:ln w="12700">
            <a:solidFill>
              <a:srgbClr val="0F172A"/>
            </a:solidFill>
            <a:prstDash val="solid"/>
          </a:ln>
        </p:spPr>
      </p:sp>
      <p:sp>
        <p:nvSpPr>
          <p:cNvPr id="9" name="Text 7"/>
          <p:cNvSpPr/>
          <p:nvPr/>
        </p:nvSpPr>
        <p:spPr>
          <a:xfrm>
            <a:off x="667512" y="2212848"/>
            <a:ext cx="10826496" cy="2386584"/>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response = bedrock_runtime.converse(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modelId=model_id,</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system=system_prompt,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messages=[...],</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inferenceConfig={...}</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The model's reply lives at this nested path:</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output_text = response['output']['message']['content'][0]['text']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print(output_text)</a:t>
            </a:r>
            <a:endParaRPr lang="en-US" sz="1300" dirty="0"/>
          </a:p>
        </p:txBody>
      </p:sp>
      <p:sp>
        <p:nvSpPr>
          <p:cNvPr id="10" name="Shape 8"/>
          <p:cNvSpPr/>
          <p:nvPr/>
        </p:nvSpPr>
        <p:spPr>
          <a:xfrm>
            <a:off x="502920" y="4892040"/>
            <a:ext cx="11155680" cy="1325880"/>
          </a:xfrm>
          <a:prstGeom prst="rect">
            <a:avLst/>
          </a:prstGeom>
          <a:solidFill>
            <a:srgbClr val="F1F5F9"/>
          </a:solidFill>
          <a:ln w="12700">
            <a:solidFill>
              <a:srgbClr val="F1F5F9"/>
            </a:solidFill>
            <a:prstDash val="solid"/>
          </a:ln>
        </p:spPr>
      </p:sp>
      <p:sp>
        <p:nvSpPr>
          <p:cNvPr id="11" name="Shape 9"/>
          <p:cNvSpPr/>
          <p:nvPr/>
        </p:nvSpPr>
        <p:spPr>
          <a:xfrm>
            <a:off x="502920" y="4892040"/>
            <a:ext cx="45720" cy="1325880"/>
          </a:xfrm>
          <a:prstGeom prst="rect">
            <a:avLst/>
          </a:prstGeom>
          <a:solidFill>
            <a:srgbClr val="B45309"/>
          </a:solidFill>
          <a:ln w="12700">
            <a:solidFill>
              <a:srgbClr val="B45309"/>
            </a:solidFill>
            <a:prstDash val="solid"/>
          </a:ln>
        </p:spPr>
      </p:sp>
      <p:sp>
        <p:nvSpPr>
          <p:cNvPr id="12" name="Text 10"/>
          <p:cNvSpPr/>
          <p:nvPr/>
        </p:nvSpPr>
        <p:spPr>
          <a:xfrm>
            <a:off x="685800" y="498348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MEMORIZE THE PATH</a:t>
            </a:r>
            <a:endParaRPr lang="en-US" sz="900" dirty="0"/>
          </a:p>
        </p:txBody>
      </p:sp>
      <p:sp>
        <p:nvSpPr>
          <p:cNvPr id="13" name="Text 11"/>
          <p:cNvSpPr/>
          <p:nvPr/>
        </p:nvSpPr>
        <p:spPr>
          <a:xfrm>
            <a:off x="685800" y="5184648"/>
            <a:ext cx="10881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response['output']['message']['content'][0]['text']</a:t>
            </a:r>
            <a:endParaRPr lang="en-US" sz="1300" dirty="0"/>
          </a:p>
        </p:txBody>
      </p:sp>
      <p:sp>
        <p:nvSpPr>
          <p:cNvPr id="14" name="Text 12"/>
          <p:cNvSpPr/>
          <p:nvPr/>
        </p:nvSpPr>
        <p:spPr>
          <a:xfrm>
            <a:off x="685800" y="5477256"/>
            <a:ext cx="10881360" cy="64922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Every Converse response has this shape. You will type this path a hundred times. The first time it looks nested. After a week it will feel natural.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WHY CONVERSE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One pattern. Any model.</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Want to use Claude instead of Nova? Change one line.</a:t>
            </a:r>
            <a:endParaRPr lang="en-US" sz="1400" dirty="0"/>
          </a:p>
        </p:txBody>
      </p:sp>
      <p:sp>
        <p:nvSpPr>
          <p:cNvPr id="9" name="Text 7"/>
          <p:cNvSpPr/>
          <p:nvPr/>
        </p:nvSpPr>
        <p:spPr>
          <a:xfrm>
            <a:off x="502920" y="2286000"/>
            <a:ext cx="1115568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NOVA LITE</a:t>
            </a:r>
            <a:endParaRPr lang="en-US" sz="1000" dirty="0"/>
          </a:p>
        </p:txBody>
      </p:sp>
      <p:sp>
        <p:nvSpPr>
          <p:cNvPr id="10" name="Shape 8"/>
          <p:cNvSpPr/>
          <p:nvPr/>
        </p:nvSpPr>
        <p:spPr>
          <a:xfrm>
            <a:off x="502920" y="2606040"/>
            <a:ext cx="11155680" cy="548640"/>
          </a:xfrm>
          <a:prstGeom prst="rect">
            <a:avLst/>
          </a:prstGeom>
          <a:solidFill>
            <a:srgbClr val="0F172A"/>
          </a:solidFill>
          <a:ln w="12700">
            <a:solidFill>
              <a:srgbClr val="0F172A"/>
            </a:solidFill>
            <a:prstDash val="solid"/>
          </a:ln>
        </p:spPr>
      </p:sp>
      <p:sp>
        <p:nvSpPr>
          <p:cNvPr id="11" name="Text 9"/>
          <p:cNvSpPr/>
          <p:nvPr/>
        </p:nvSpPr>
        <p:spPr>
          <a:xfrm>
            <a:off x="667512" y="2715768"/>
            <a:ext cx="10826496" cy="329184"/>
          </a:xfrm>
          <a:prstGeom prst="rect">
            <a:avLst/>
          </a:prstGeom>
          <a:noFill/>
          <a:ln/>
        </p:spPr>
        <p:txBody>
          <a:bodyPr wrap="square" lIns="0" tIns="0" rIns="0" bIns="0" rtlCol="0" anchor="t"/>
          <a:lstStyle/>
          <a:p>
            <a:pPr indent="0" marL="0">
              <a:buNone/>
            </a:pPr>
            <a:r>
              <a:rPr lang="en-US" sz="1600" dirty="0">
                <a:solidFill>
                  <a:srgbClr val="E2E8F0"/>
                </a:solidFill>
                <a:latin typeface="Consolas" pitchFamily="34" charset="0"/>
                <a:ea typeface="Consolas" pitchFamily="34" charset="-122"/>
                <a:cs typeface="Consolas" pitchFamily="34" charset="-120"/>
              </a:rPr>
              <a:t>model_id = "us.amazon.nova-lite-v1:0"</a:t>
            </a:r>
            <a:endParaRPr lang="en-US" sz="1600" dirty="0"/>
          </a:p>
        </p:txBody>
      </p:sp>
      <p:sp>
        <p:nvSpPr>
          <p:cNvPr id="12" name="Text 10"/>
          <p:cNvSpPr/>
          <p:nvPr/>
        </p:nvSpPr>
        <p:spPr>
          <a:xfrm>
            <a:off x="502920" y="3383280"/>
            <a:ext cx="1115568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CLAUDE SONNET 4</a:t>
            </a:r>
            <a:endParaRPr lang="en-US" sz="1000" dirty="0"/>
          </a:p>
        </p:txBody>
      </p:sp>
      <p:sp>
        <p:nvSpPr>
          <p:cNvPr id="13" name="Shape 11"/>
          <p:cNvSpPr/>
          <p:nvPr/>
        </p:nvSpPr>
        <p:spPr>
          <a:xfrm>
            <a:off x="502920" y="3703320"/>
            <a:ext cx="11155680" cy="548640"/>
          </a:xfrm>
          <a:prstGeom prst="rect">
            <a:avLst/>
          </a:prstGeom>
          <a:solidFill>
            <a:srgbClr val="0F172A"/>
          </a:solidFill>
          <a:ln w="12700">
            <a:solidFill>
              <a:srgbClr val="0F172A"/>
            </a:solidFill>
            <a:prstDash val="solid"/>
          </a:ln>
        </p:spPr>
      </p:sp>
      <p:sp>
        <p:nvSpPr>
          <p:cNvPr id="14" name="Text 12"/>
          <p:cNvSpPr/>
          <p:nvPr/>
        </p:nvSpPr>
        <p:spPr>
          <a:xfrm>
            <a:off x="667512" y="3813048"/>
            <a:ext cx="10826496" cy="329184"/>
          </a:xfrm>
          <a:prstGeom prst="rect">
            <a:avLst/>
          </a:prstGeom>
          <a:noFill/>
          <a:ln/>
        </p:spPr>
        <p:txBody>
          <a:bodyPr wrap="square" lIns="0" tIns="0" rIns="0" bIns="0" rtlCol="0" anchor="t"/>
          <a:lstStyle/>
          <a:p>
            <a:pPr indent="0" marL="0">
              <a:buNone/>
            </a:pPr>
            <a:r>
              <a:rPr lang="en-US" sz="1600" dirty="0">
                <a:solidFill>
                  <a:srgbClr val="E2E8F0"/>
                </a:solidFill>
                <a:latin typeface="Consolas" pitchFamily="34" charset="0"/>
                <a:ea typeface="Consolas" pitchFamily="34" charset="-122"/>
                <a:cs typeface="Consolas" pitchFamily="34" charset="-120"/>
              </a:rPr>
              <a:t>model_id = "us.anthropic.claude-sonnet-4-v1:0"</a:t>
            </a:r>
            <a:endParaRPr lang="en-US" sz="1600" dirty="0"/>
          </a:p>
        </p:txBody>
      </p:sp>
      <p:sp>
        <p:nvSpPr>
          <p:cNvPr id="15" name="Text 13"/>
          <p:cNvSpPr/>
          <p:nvPr/>
        </p:nvSpPr>
        <p:spPr>
          <a:xfrm>
            <a:off x="502920" y="4480560"/>
            <a:ext cx="1115568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LLAMA 3.3 70B</a:t>
            </a:r>
            <a:endParaRPr lang="en-US" sz="1000" dirty="0"/>
          </a:p>
        </p:txBody>
      </p:sp>
      <p:sp>
        <p:nvSpPr>
          <p:cNvPr id="16" name="Shape 14"/>
          <p:cNvSpPr/>
          <p:nvPr/>
        </p:nvSpPr>
        <p:spPr>
          <a:xfrm>
            <a:off x="502920" y="4800600"/>
            <a:ext cx="11155680" cy="548640"/>
          </a:xfrm>
          <a:prstGeom prst="rect">
            <a:avLst/>
          </a:prstGeom>
          <a:solidFill>
            <a:srgbClr val="0F172A"/>
          </a:solidFill>
          <a:ln w="12700">
            <a:solidFill>
              <a:srgbClr val="0F172A"/>
            </a:solidFill>
            <a:prstDash val="solid"/>
          </a:ln>
        </p:spPr>
      </p:sp>
      <p:sp>
        <p:nvSpPr>
          <p:cNvPr id="17" name="Text 15"/>
          <p:cNvSpPr/>
          <p:nvPr/>
        </p:nvSpPr>
        <p:spPr>
          <a:xfrm>
            <a:off x="667512" y="4910328"/>
            <a:ext cx="10826496" cy="329184"/>
          </a:xfrm>
          <a:prstGeom prst="rect">
            <a:avLst/>
          </a:prstGeom>
          <a:noFill/>
          <a:ln/>
        </p:spPr>
        <p:txBody>
          <a:bodyPr wrap="square" lIns="0" tIns="0" rIns="0" bIns="0" rtlCol="0" anchor="t"/>
          <a:lstStyle/>
          <a:p>
            <a:pPr indent="0" marL="0">
              <a:buNone/>
            </a:pPr>
            <a:r>
              <a:rPr lang="en-US" sz="1600" dirty="0">
                <a:solidFill>
                  <a:srgbClr val="E2E8F0"/>
                </a:solidFill>
                <a:latin typeface="Consolas" pitchFamily="34" charset="0"/>
                <a:ea typeface="Consolas" pitchFamily="34" charset="-122"/>
                <a:cs typeface="Consolas" pitchFamily="34" charset="-120"/>
              </a:rPr>
              <a:t>model_id = "us.meta.llama3-3-70b-instruct-v1:0"</a:t>
            </a:r>
            <a:endParaRPr lang="en-US" sz="1600" dirty="0"/>
          </a:p>
        </p:txBody>
      </p:sp>
      <p:sp>
        <p:nvSpPr>
          <p:cNvPr id="18" name="Shape 16"/>
          <p:cNvSpPr/>
          <p:nvPr/>
        </p:nvSpPr>
        <p:spPr>
          <a:xfrm>
            <a:off x="502920" y="5577840"/>
            <a:ext cx="11155680" cy="685800"/>
          </a:xfrm>
          <a:prstGeom prst="rect">
            <a:avLst/>
          </a:prstGeom>
          <a:solidFill>
            <a:srgbClr val="F1F5F9"/>
          </a:solidFill>
          <a:ln w="12700">
            <a:solidFill>
              <a:srgbClr val="F1F5F9"/>
            </a:solidFill>
            <a:prstDash val="solid"/>
          </a:ln>
        </p:spPr>
      </p:sp>
      <p:sp>
        <p:nvSpPr>
          <p:cNvPr id="19" name="Shape 17"/>
          <p:cNvSpPr/>
          <p:nvPr/>
        </p:nvSpPr>
        <p:spPr>
          <a:xfrm>
            <a:off x="502920" y="5577840"/>
            <a:ext cx="45720" cy="685800"/>
          </a:xfrm>
          <a:prstGeom prst="rect">
            <a:avLst/>
          </a:prstGeom>
          <a:solidFill>
            <a:srgbClr val="B45309"/>
          </a:solidFill>
          <a:ln w="12700">
            <a:solidFill>
              <a:srgbClr val="B45309"/>
            </a:solidFill>
            <a:prstDash val="solid"/>
          </a:ln>
        </p:spPr>
      </p:sp>
      <p:sp>
        <p:nvSpPr>
          <p:cNvPr id="20" name="Text 18"/>
          <p:cNvSpPr/>
          <p:nvPr/>
        </p:nvSpPr>
        <p:spPr>
          <a:xfrm>
            <a:off x="685800" y="566928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PAYOFF</a:t>
            </a:r>
            <a:endParaRPr lang="en-US" sz="900" dirty="0"/>
          </a:p>
        </p:txBody>
      </p:sp>
      <p:sp>
        <p:nvSpPr>
          <p:cNvPr id="21" name="Text 19"/>
          <p:cNvSpPr/>
          <p:nvPr/>
        </p:nvSpPr>
        <p:spPr>
          <a:xfrm>
            <a:off x="685800" y="5870448"/>
            <a:ext cx="10881360" cy="30175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Everything else in your code — the request shape, the response parsing, the error handling — stays identical. This is Bedrock's biggest practical advantage.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2 · RUN IT ON YOUR LAPTOP</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2</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Run the script — here is what you will see</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Stop watching slides. Open your IDE. Run this yourself before moving on.</a:t>
            </a:r>
            <a:endParaRPr lang="en-US" sz="1400" dirty="0"/>
          </a:p>
        </p:txBody>
      </p:sp>
      <p:sp>
        <p:nvSpPr>
          <p:cNvPr id="9" name="Shape 7"/>
          <p:cNvSpPr/>
          <p:nvPr/>
        </p:nvSpPr>
        <p:spPr>
          <a:xfrm>
            <a:off x="502920" y="2194560"/>
            <a:ext cx="11155680" cy="3657600"/>
          </a:xfrm>
          <a:prstGeom prst="rect">
            <a:avLst/>
          </a:prstGeom>
          <a:solidFill>
            <a:srgbClr val="0F172A"/>
          </a:solidFill>
          <a:ln w="12700">
            <a:solidFill>
              <a:srgbClr val="0F172A"/>
            </a:solidFill>
            <a:prstDash val="solid"/>
          </a:ln>
        </p:spPr>
      </p:sp>
      <p:sp>
        <p:nvSpPr>
          <p:cNvPr id="10" name="Shape 8"/>
          <p:cNvSpPr/>
          <p:nvPr/>
        </p:nvSpPr>
        <p:spPr>
          <a:xfrm>
            <a:off x="502920" y="2194560"/>
            <a:ext cx="11155680" cy="320040"/>
          </a:xfrm>
          <a:prstGeom prst="rect">
            <a:avLst/>
          </a:prstGeom>
          <a:solidFill>
            <a:srgbClr val="1E293B"/>
          </a:solidFill>
          <a:ln w="12700">
            <a:solidFill>
              <a:srgbClr val="1E293B"/>
            </a:solidFill>
            <a:prstDash val="solid"/>
          </a:ln>
        </p:spPr>
      </p:sp>
      <p:sp>
        <p:nvSpPr>
          <p:cNvPr id="11" name="Shape 9"/>
          <p:cNvSpPr/>
          <p:nvPr/>
        </p:nvSpPr>
        <p:spPr>
          <a:xfrm>
            <a:off x="685800" y="2286000"/>
            <a:ext cx="137160" cy="137160"/>
          </a:xfrm>
          <a:prstGeom prst="ellipse">
            <a:avLst/>
          </a:prstGeom>
          <a:solidFill>
            <a:srgbClr val="EF4444"/>
          </a:solidFill>
          <a:ln w="12700">
            <a:solidFill>
              <a:srgbClr val="EF4444"/>
            </a:solidFill>
            <a:prstDash val="solid"/>
          </a:ln>
        </p:spPr>
      </p:sp>
      <p:sp>
        <p:nvSpPr>
          <p:cNvPr id="12" name="Shape 10"/>
          <p:cNvSpPr/>
          <p:nvPr/>
        </p:nvSpPr>
        <p:spPr>
          <a:xfrm>
            <a:off x="886968" y="2286000"/>
            <a:ext cx="137160" cy="137160"/>
          </a:xfrm>
          <a:prstGeom prst="ellipse">
            <a:avLst/>
          </a:prstGeom>
          <a:solidFill>
            <a:srgbClr val="FBBF24"/>
          </a:solidFill>
          <a:ln w="12700">
            <a:solidFill>
              <a:srgbClr val="FBBF24"/>
            </a:solidFill>
            <a:prstDash val="solid"/>
          </a:ln>
        </p:spPr>
      </p:sp>
      <p:sp>
        <p:nvSpPr>
          <p:cNvPr id="13" name="Shape 11"/>
          <p:cNvSpPr/>
          <p:nvPr/>
        </p:nvSpPr>
        <p:spPr>
          <a:xfrm>
            <a:off x="1088136" y="2286000"/>
            <a:ext cx="137160" cy="137160"/>
          </a:xfrm>
          <a:prstGeom prst="ellipse">
            <a:avLst/>
          </a:prstGeom>
          <a:solidFill>
            <a:srgbClr val="10B981"/>
          </a:solidFill>
          <a:ln w="12700">
            <a:solidFill>
              <a:srgbClr val="10B981"/>
            </a:solidFill>
            <a:prstDash val="solid"/>
          </a:ln>
        </p:spPr>
      </p:sp>
      <p:sp>
        <p:nvSpPr>
          <p:cNvPr id="14" name="Text 12"/>
          <p:cNvSpPr/>
          <p:nvPr/>
        </p:nvSpPr>
        <p:spPr>
          <a:xfrm>
            <a:off x="1371600" y="2194560"/>
            <a:ext cx="7315200" cy="32004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python3 ~ converse_api.py</a:t>
            </a:r>
            <a:endParaRPr lang="en-US" sz="1000" dirty="0"/>
          </a:p>
        </p:txBody>
      </p:sp>
      <p:sp>
        <p:nvSpPr>
          <p:cNvPr id="15" name="Text 13"/>
          <p:cNvSpPr/>
          <p:nvPr/>
        </p:nvSpPr>
        <p:spPr>
          <a:xfrm>
            <a:off x="685800" y="2651760"/>
            <a:ext cx="10972800" cy="3108960"/>
          </a:xfrm>
          <a:prstGeom prst="rect">
            <a:avLst/>
          </a:prstGeom>
          <a:noFill/>
          <a:ln/>
        </p:spPr>
        <p:txBody>
          <a:bodyPr wrap="square" lIns="0" tIns="0" rIns="0" bIns="0" rtlCol="0" anchor="t"/>
          <a:lstStyle/>
          <a:p>
            <a:pPr indent="0" marL="0">
              <a:buNone/>
            </a:pPr>
            <a:r>
              <a:rPr lang="en-US" sz="1300" b="1" dirty="0">
                <a:solidFill>
                  <a:srgbClr val="6EE7B7"/>
                </a:solidFill>
                <a:latin typeface="Consolas" pitchFamily="34" charset="0"/>
                <a:ea typeface="Consolas" pitchFamily="34" charset="-122"/>
                <a:cs typeface="Consolas" pitchFamily="34" charset="-120"/>
              </a:rPr>
              <a:t>$ python3 converse_api.py</a:t>
            </a:r>
            <a:endParaRPr lang="en-US" sz="1300" dirty="0"/>
          </a:p>
          <a:p>
            <a:pPr indent="0" marL="0">
              <a:buNone/>
            </a:pPr>
            <a:r>
              <a:rPr lang="en-US" sz="400" dirty="0">
                <a:solidFill>
                  <a:srgbClr val="00000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Serverless computing is a cloud computing model where the cloud</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provider dynamically manages the allocation and provisioning of</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servers. Developers can focus on writing and deploying code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without worrying about the underlying infrastructure...</a:t>
            </a:r>
            <a:endParaRPr lang="en-US" sz="1300" dirty="0"/>
          </a:p>
          <a:p>
            <a:pPr indent="0" marL="0">
              <a:buNone/>
            </a:pPr>
            <a:r>
              <a:rPr lang="en-US" sz="400" dirty="0">
                <a:solidFill>
                  <a:srgbClr val="000000"/>
                </a:solidFill>
                <a:latin typeface="Consolas" pitchFamily="34" charset="0"/>
                <a:ea typeface="Consolas" pitchFamily="34" charset="-122"/>
                <a:cs typeface="Consolas" pitchFamily="34" charset="-120"/>
              </a:rPr>
              <a:t> </a:t>
            </a:r>
            <a:endParaRPr lang="en-US" sz="1300" dirty="0"/>
          </a:p>
          <a:p>
            <a:pPr indent="0" marL="0">
              <a:buNone/>
            </a:pPr>
            <a:r>
              <a:rPr lang="en-US" sz="1300" b="1" dirty="0">
                <a:solidFill>
                  <a:srgbClr val="B45309"/>
                </a:solidFill>
                <a:latin typeface="Consolas" pitchFamily="34" charset="0"/>
                <a:ea typeface="Consolas" pitchFamily="34" charset="-122"/>
                <a:cs typeface="Consolas" pitchFamily="34" charset="-120"/>
              </a:rPr>
              <a:t>Input tokens: 18</a:t>
            </a:r>
            <a:endParaRPr lang="en-US" sz="1300" dirty="0"/>
          </a:p>
          <a:p>
            <a:pPr indent="0" marL="0">
              <a:buNone/>
            </a:pPr>
            <a:r>
              <a:rPr lang="en-US" sz="1300" b="1" dirty="0">
                <a:solidFill>
                  <a:srgbClr val="B45309"/>
                </a:solidFill>
                <a:latin typeface="Consolas" pitchFamily="34" charset="0"/>
                <a:ea typeface="Consolas" pitchFamily="34" charset="-122"/>
                <a:cs typeface="Consolas" pitchFamily="34" charset="-120"/>
              </a:rPr>
              <a:t>Output tokens: 87</a:t>
            </a:r>
            <a:endParaRPr lang="en-US" sz="1300" dirty="0"/>
          </a:p>
        </p:txBody>
      </p:sp>
      <p:sp>
        <p:nvSpPr>
          <p:cNvPr id="16" name="Shape 14"/>
          <p:cNvSpPr/>
          <p:nvPr/>
        </p:nvSpPr>
        <p:spPr>
          <a:xfrm>
            <a:off x="502920" y="5897880"/>
            <a:ext cx="11155680" cy="411480"/>
          </a:xfrm>
          <a:prstGeom prst="rect">
            <a:avLst/>
          </a:prstGeom>
          <a:solidFill>
            <a:srgbClr val="F1F5F9"/>
          </a:solidFill>
          <a:ln w="12700">
            <a:solidFill>
              <a:srgbClr val="F1F5F9"/>
            </a:solidFill>
            <a:prstDash val="solid"/>
          </a:ln>
        </p:spPr>
      </p:sp>
      <p:sp>
        <p:nvSpPr>
          <p:cNvPr id="17" name="Shape 15"/>
          <p:cNvSpPr/>
          <p:nvPr/>
        </p:nvSpPr>
        <p:spPr>
          <a:xfrm>
            <a:off x="502920" y="5897880"/>
            <a:ext cx="45720" cy="411480"/>
          </a:xfrm>
          <a:prstGeom prst="rect">
            <a:avLst/>
          </a:prstGeom>
          <a:solidFill>
            <a:srgbClr val="B45309"/>
          </a:solidFill>
          <a:ln w="12700">
            <a:solidFill>
              <a:srgbClr val="B45309"/>
            </a:solidFill>
            <a:prstDash val="solid"/>
          </a:ln>
        </p:spPr>
      </p:sp>
      <p:sp>
        <p:nvSpPr>
          <p:cNvPr id="18" name="Text 16"/>
          <p:cNvSpPr/>
          <p:nvPr/>
        </p:nvSpPr>
        <p:spPr>
          <a:xfrm>
            <a:off x="685800" y="598932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ACTION</a:t>
            </a:r>
            <a:endParaRPr lang="en-US" sz="900" dirty="0"/>
          </a:p>
        </p:txBody>
      </p:sp>
      <p:sp>
        <p:nvSpPr>
          <p:cNvPr id="19" name="Text 17"/>
          <p:cNvSpPr/>
          <p:nvPr/>
        </p:nvSpPr>
        <p:spPr>
          <a:xfrm>
            <a:off x="685800" y="6190488"/>
            <a:ext cx="10881360" cy="2743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Run the script on your laptop. "Watched the demo" does not count.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3 · TOKENS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3</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Pause — understand tokens before going further</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endParaRPr lang="en-US" sz="1400" dirty="0"/>
          </a:p>
        </p:txBody>
      </p:sp>
      <p:sp>
        <p:nvSpPr>
          <p:cNvPr id="9" name="Shape 7"/>
          <p:cNvSpPr/>
          <p:nvPr/>
        </p:nvSpPr>
        <p:spPr>
          <a:xfrm>
            <a:off x="1371600" y="2560320"/>
            <a:ext cx="9418320" cy="45720"/>
          </a:xfrm>
          <a:prstGeom prst="rect">
            <a:avLst/>
          </a:prstGeom>
          <a:solidFill>
            <a:srgbClr val="B45309"/>
          </a:solidFill>
          <a:ln w="12700">
            <a:solidFill>
              <a:srgbClr val="B45309"/>
            </a:solidFill>
            <a:prstDash val="solid"/>
          </a:ln>
        </p:spPr>
      </p:sp>
      <p:sp>
        <p:nvSpPr>
          <p:cNvPr id="10" name="Text 8"/>
          <p:cNvSpPr/>
          <p:nvPr/>
        </p:nvSpPr>
        <p:spPr>
          <a:xfrm>
            <a:off x="1371600" y="2743200"/>
            <a:ext cx="9418320" cy="548640"/>
          </a:xfrm>
          <a:prstGeom prst="rect">
            <a:avLst/>
          </a:prstGeom>
          <a:noFill/>
          <a:ln/>
        </p:spPr>
        <p:txBody>
          <a:bodyPr wrap="square" lIns="0" tIns="0" rIns="0" bIns="0" rtlCol="0" anchor="ctr"/>
          <a:lstStyle/>
          <a:p>
            <a:pPr indent="0" marL="0">
              <a:buNone/>
            </a:pPr>
            <a:r>
              <a:rPr lang="en-US" sz="2400" dirty="0">
                <a:solidFill>
                  <a:srgbClr val="0F172A"/>
                </a:solidFill>
                <a:latin typeface="Georgia" pitchFamily="34" charset="0"/>
                <a:ea typeface="Georgia" pitchFamily="34" charset="-122"/>
                <a:cs typeface="Georgia" pitchFamily="34" charset="-120"/>
              </a:rPr>
              <a:t>You printed token usage at the end of the script.</a:t>
            </a:r>
            <a:endParaRPr lang="en-US" sz="2400" dirty="0"/>
          </a:p>
        </p:txBody>
      </p:sp>
      <p:sp>
        <p:nvSpPr>
          <p:cNvPr id="11" name="Text 9"/>
          <p:cNvSpPr/>
          <p:nvPr/>
        </p:nvSpPr>
        <p:spPr>
          <a:xfrm>
            <a:off x="1371600" y="3383280"/>
            <a:ext cx="9418320" cy="914400"/>
          </a:xfrm>
          <a:prstGeom prst="rect">
            <a:avLst/>
          </a:prstGeom>
          <a:noFill/>
          <a:ln/>
        </p:spPr>
        <p:txBody>
          <a:bodyPr wrap="square" lIns="0" tIns="0" rIns="0" bIns="0" rtlCol="0" anchor="ctr"/>
          <a:lstStyle/>
          <a:p>
            <a:pPr indent="0" marL="0">
              <a:buNone/>
            </a:pPr>
            <a:r>
              <a:rPr lang="en-US" sz="2400" i="1" dirty="0">
                <a:solidFill>
                  <a:srgbClr val="B45309"/>
                </a:solidFill>
                <a:latin typeface="Georgia" pitchFamily="34" charset="0"/>
                <a:ea typeface="Georgia" pitchFamily="34" charset="-122"/>
                <a:cs typeface="Georgia" pitchFamily="34" charset="-120"/>
              </a:rPr>
              <a:t>Before we go further, you need to understand what tokens are — because they directly affect how much you pay.</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3 · DEFINITION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3</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A token is a small chunk of text</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Could be a whole word, part of a word, or just punctuation. Different models tokenize differently.</a:t>
            </a:r>
            <a:endParaRPr lang="en-US" sz="1400" dirty="0"/>
          </a:p>
        </p:txBody>
      </p:sp>
      <p:sp>
        <p:nvSpPr>
          <p:cNvPr id="9" name="Text 7"/>
          <p:cNvSpPr/>
          <p:nvPr/>
        </p:nvSpPr>
        <p:spPr>
          <a:xfrm>
            <a:off x="502920" y="2377440"/>
            <a:ext cx="1115568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EXAMPLE — "WHAT IS SERVERLESS COMPUTING?"  →  7 TOKENS</a:t>
            </a:r>
            <a:endParaRPr lang="en-US" sz="1000" dirty="0"/>
          </a:p>
        </p:txBody>
      </p:sp>
      <p:sp>
        <p:nvSpPr>
          <p:cNvPr id="10" name="Shape 8"/>
          <p:cNvSpPr/>
          <p:nvPr/>
        </p:nvSpPr>
        <p:spPr>
          <a:xfrm>
            <a:off x="502920" y="2834640"/>
            <a:ext cx="1170432" cy="777240"/>
          </a:xfrm>
          <a:prstGeom prst="roundRect">
            <a:avLst>
              <a:gd name="adj" fmla="val 9412"/>
            </a:avLst>
          </a:prstGeom>
          <a:solidFill>
            <a:srgbClr val="1E40AF"/>
          </a:solidFill>
          <a:ln w="12700">
            <a:solidFill>
              <a:srgbClr val="1E40AF"/>
            </a:solidFill>
            <a:prstDash val="solid"/>
          </a:ln>
        </p:spPr>
      </p:sp>
      <p:sp>
        <p:nvSpPr>
          <p:cNvPr id="11" name="Text 9"/>
          <p:cNvSpPr/>
          <p:nvPr/>
        </p:nvSpPr>
        <p:spPr>
          <a:xfrm>
            <a:off x="502920" y="2834640"/>
            <a:ext cx="1170432"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What</a:t>
            </a:r>
            <a:endParaRPr lang="en-US" sz="1800" dirty="0"/>
          </a:p>
        </p:txBody>
      </p:sp>
      <p:sp>
        <p:nvSpPr>
          <p:cNvPr id="12" name="Text 10"/>
          <p:cNvSpPr/>
          <p:nvPr/>
        </p:nvSpPr>
        <p:spPr>
          <a:xfrm>
            <a:off x="502920" y="3703320"/>
            <a:ext cx="1170432"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
        <p:nvSpPr>
          <p:cNvPr id="13" name="Shape 11"/>
          <p:cNvSpPr/>
          <p:nvPr/>
        </p:nvSpPr>
        <p:spPr>
          <a:xfrm>
            <a:off x="1810512" y="2834640"/>
            <a:ext cx="969264" cy="777240"/>
          </a:xfrm>
          <a:prstGeom prst="roundRect">
            <a:avLst>
              <a:gd name="adj" fmla="val 9412"/>
            </a:avLst>
          </a:prstGeom>
          <a:solidFill>
            <a:srgbClr val="7C3AED"/>
          </a:solidFill>
          <a:ln w="12700">
            <a:solidFill>
              <a:srgbClr val="7C3AED"/>
            </a:solidFill>
            <a:prstDash val="solid"/>
          </a:ln>
        </p:spPr>
      </p:sp>
      <p:sp>
        <p:nvSpPr>
          <p:cNvPr id="14" name="Text 12"/>
          <p:cNvSpPr/>
          <p:nvPr/>
        </p:nvSpPr>
        <p:spPr>
          <a:xfrm>
            <a:off x="1810512" y="2834640"/>
            <a:ext cx="969264"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 is</a:t>
            </a:r>
            <a:endParaRPr lang="en-US" sz="1800" dirty="0"/>
          </a:p>
        </p:txBody>
      </p:sp>
      <p:sp>
        <p:nvSpPr>
          <p:cNvPr id="15" name="Text 13"/>
          <p:cNvSpPr/>
          <p:nvPr/>
        </p:nvSpPr>
        <p:spPr>
          <a:xfrm>
            <a:off x="1810512" y="3703320"/>
            <a:ext cx="969264"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16" name="Shape 14"/>
          <p:cNvSpPr/>
          <p:nvPr/>
        </p:nvSpPr>
        <p:spPr>
          <a:xfrm>
            <a:off x="2916936" y="2834640"/>
            <a:ext cx="1773936" cy="777240"/>
          </a:xfrm>
          <a:prstGeom prst="roundRect">
            <a:avLst>
              <a:gd name="adj" fmla="val 9412"/>
            </a:avLst>
          </a:prstGeom>
          <a:solidFill>
            <a:srgbClr val="047857"/>
          </a:solidFill>
          <a:ln w="12700">
            <a:solidFill>
              <a:srgbClr val="047857"/>
            </a:solidFill>
            <a:prstDash val="solid"/>
          </a:ln>
        </p:spPr>
      </p:sp>
      <p:sp>
        <p:nvSpPr>
          <p:cNvPr id="17" name="Text 15"/>
          <p:cNvSpPr/>
          <p:nvPr/>
        </p:nvSpPr>
        <p:spPr>
          <a:xfrm>
            <a:off x="2916936" y="2834640"/>
            <a:ext cx="1773936"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 server</a:t>
            </a:r>
            <a:endParaRPr lang="en-US" sz="1800" dirty="0"/>
          </a:p>
        </p:txBody>
      </p:sp>
      <p:sp>
        <p:nvSpPr>
          <p:cNvPr id="18" name="Text 16"/>
          <p:cNvSpPr/>
          <p:nvPr/>
        </p:nvSpPr>
        <p:spPr>
          <a:xfrm>
            <a:off x="2916936" y="3703320"/>
            <a:ext cx="1773936"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19" name="Shape 17"/>
          <p:cNvSpPr/>
          <p:nvPr/>
        </p:nvSpPr>
        <p:spPr>
          <a:xfrm>
            <a:off x="4828032" y="2834640"/>
            <a:ext cx="1170432" cy="777240"/>
          </a:xfrm>
          <a:prstGeom prst="roundRect">
            <a:avLst>
              <a:gd name="adj" fmla="val 9412"/>
            </a:avLst>
          </a:prstGeom>
          <a:solidFill>
            <a:srgbClr val="B45309"/>
          </a:solidFill>
          <a:ln w="12700">
            <a:solidFill>
              <a:srgbClr val="B45309"/>
            </a:solidFill>
            <a:prstDash val="solid"/>
          </a:ln>
        </p:spPr>
      </p:sp>
      <p:sp>
        <p:nvSpPr>
          <p:cNvPr id="20" name="Text 18"/>
          <p:cNvSpPr/>
          <p:nvPr/>
        </p:nvSpPr>
        <p:spPr>
          <a:xfrm>
            <a:off x="4828032" y="2834640"/>
            <a:ext cx="1170432"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less</a:t>
            </a:r>
            <a:endParaRPr lang="en-US" sz="1800" dirty="0"/>
          </a:p>
        </p:txBody>
      </p:sp>
      <p:sp>
        <p:nvSpPr>
          <p:cNvPr id="21" name="Text 19"/>
          <p:cNvSpPr/>
          <p:nvPr/>
        </p:nvSpPr>
        <p:spPr>
          <a:xfrm>
            <a:off x="4828032" y="3703320"/>
            <a:ext cx="1170432"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22" name="Shape 20"/>
          <p:cNvSpPr/>
          <p:nvPr/>
        </p:nvSpPr>
        <p:spPr>
          <a:xfrm>
            <a:off x="6135624" y="2834640"/>
            <a:ext cx="1773936" cy="777240"/>
          </a:xfrm>
          <a:prstGeom prst="roundRect">
            <a:avLst>
              <a:gd name="adj" fmla="val 9412"/>
            </a:avLst>
          </a:prstGeom>
          <a:solidFill>
            <a:srgbClr val="B91C1C"/>
          </a:solidFill>
          <a:ln w="12700">
            <a:solidFill>
              <a:srgbClr val="B91C1C"/>
            </a:solidFill>
            <a:prstDash val="solid"/>
          </a:ln>
        </p:spPr>
      </p:sp>
      <p:sp>
        <p:nvSpPr>
          <p:cNvPr id="23" name="Text 21"/>
          <p:cNvSpPr/>
          <p:nvPr/>
        </p:nvSpPr>
        <p:spPr>
          <a:xfrm>
            <a:off x="6135624" y="2834640"/>
            <a:ext cx="1773936"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 comput</a:t>
            </a:r>
            <a:endParaRPr lang="en-US" sz="1800" dirty="0"/>
          </a:p>
        </p:txBody>
      </p:sp>
      <p:sp>
        <p:nvSpPr>
          <p:cNvPr id="24" name="Text 22"/>
          <p:cNvSpPr/>
          <p:nvPr/>
        </p:nvSpPr>
        <p:spPr>
          <a:xfrm>
            <a:off x="6135624" y="3703320"/>
            <a:ext cx="1773936"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25" name="Shape 23"/>
          <p:cNvSpPr/>
          <p:nvPr/>
        </p:nvSpPr>
        <p:spPr>
          <a:xfrm>
            <a:off x="8046720" y="2834640"/>
            <a:ext cx="969264" cy="777240"/>
          </a:xfrm>
          <a:prstGeom prst="roundRect">
            <a:avLst>
              <a:gd name="adj" fmla="val 9412"/>
            </a:avLst>
          </a:prstGeom>
          <a:solidFill>
            <a:srgbClr val="0891B2"/>
          </a:solidFill>
          <a:ln w="12700">
            <a:solidFill>
              <a:srgbClr val="0891B2"/>
            </a:solidFill>
            <a:prstDash val="solid"/>
          </a:ln>
        </p:spPr>
      </p:sp>
      <p:sp>
        <p:nvSpPr>
          <p:cNvPr id="26" name="Text 24"/>
          <p:cNvSpPr/>
          <p:nvPr/>
        </p:nvSpPr>
        <p:spPr>
          <a:xfrm>
            <a:off x="8046720" y="2834640"/>
            <a:ext cx="969264"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ing</a:t>
            </a:r>
            <a:endParaRPr lang="en-US" sz="1800" dirty="0"/>
          </a:p>
        </p:txBody>
      </p:sp>
      <p:sp>
        <p:nvSpPr>
          <p:cNvPr id="27" name="Text 25"/>
          <p:cNvSpPr/>
          <p:nvPr/>
        </p:nvSpPr>
        <p:spPr>
          <a:xfrm>
            <a:off x="8046720" y="3703320"/>
            <a:ext cx="969264"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28" name="Shape 26"/>
          <p:cNvSpPr/>
          <p:nvPr/>
        </p:nvSpPr>
        <p:spPr>
          <a:xfrm>
            <a:off x="9153144" y="2834640"/>
            <a:ext cx="777240" cy="777240"/>
          </a:xfrm>
          <a:prstGeom prst="roundRect">
            <a:avLst>
              <a:gd name="adj" fmla="val 9412"/>
            </a:avLst>
          </a:prstGeom>
          <a:solidFill>
            <a:srgbClr val="6B7280"/>
          </a:solidFill>
          <a:ln w="12700">
            <a:solidFill>
              <a:srgbClr val="6B7280"/>
            </a:solidFill>
            <a:prstDash val="solid"/>
          </a:ln>
        </p:spPr>
      </p:sp>
      <p:sp>
        <p:nvSpPr>
          <p:cNvPr id="29" name="Text 27"/>
          <p:cNvSpPr/>
          <p:nvPr/>
        </p:nvSpPr>
        <p:spPr>
          <a:xfrm>
            <a:off x="9153144" y="283464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a:t>
            </a:r>
            <a:endParaRPr lang="en-US" sz="1800" dirty="0"/>
          </a:p>
        </p:txBody>
      </p:sp>
      <p:sp>
        <p:nvSpPr>
          <p:cNvPr id="30" name="Text 28"/>
          <p:cNvSpPr/>
          <p:nvPr/>
        </p:nvSpPr>
        <p:spPr>
          <a:xfrm>
            <a:off x="9153144" y="3703320"/>
            <a:ext cx="7772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31" name="Shape 29"/>
          <p:cNvSpPr/>
          <p:nvPr/>
        </p:nvSpPr>
        <p:spPr>
          <a:xfrm>
            <a:off x="502920" y="4754880"/>
            <a:ext cx="5440680" cy="1508760"/>
          </a:xfrm>
          <a:prstGeom prst="rect">
            <a:avLst/>
          </a:prstGeom>
          <a:solidFill>
            <a:srgbClr val="F1F5F9"/>
          </a:solidFill>
          <a:ln w="12700">
            <a:solidFill>
              <a:srgbClr val="F1F5F9"/>
            </a:solidFill>
            <a:prstDash val="solid"/>
          </a:ln>
        </p:spPr>
      </p:sp>
      <p:sp>
        <p:nvSpPr>
          <p:cNvPr id="32" name="Shape 30"/>
          <p:cNvSpPr/>
          <p:nvPr/>
        </p:nvSpPr>
        <p:spPr>
          <a:xfrm>
            <a:off x="502920" y="4754880"/>
            <a:ext cx="45720" cy="1508760"/>
          </a:xfrm>
          <a:prstGeom prst="rect">
            <a:avLst/>
          </a:prstGeom>
          <a:solidFill>
            <a:srgbClr val="B45309"/>
          </a:solidFill>
          <a:ln w="12700">
            <a:solidFill>
              <a:srgbClr val="B45309"/>
            </a:solidFill>
            <a:prstDash val="solid"/>
          </a:ln>
        </p:spPr>
      </p:sp>
      <p:sp>
        <p:nvSpPr>
          <p:cNvPr id="33" name="Text 31"/>
          <p:cNvSpPr/>
          <p:nvPr/>
        </p:nvSpPr>
        <p:spPr>
          <a:xfrm>
            <a:off x="685800" y="4846320"/>
            <a:ext cx="5166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ENGLISH HEURISTIC</a:t>
            </a:r>
            <a:endParaRPr lang="en-US" sz="900" dirty="0"/>
          </a:p>
        </p:txBody>
      </p:sp>
      <p:sp>
        <p:nvSpPr>
          <p:cNvPr id="34" name="Text 32"/>
          <p:cNvSpPr/>
          <p:nvPr/>
        </p:nvSpPr>
        <p:spPr>
          <a:xfrm>
            <a:off x="685800" y="5047488"/>
            <a:ext cx="5166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1 token ≈ 0.75 words ≈ 4 characters</a:t>
            </a:r>
            <a:endParaRPr lang="en-US" sz="1300" dirty="0"/>
          </a:p>
        </p:txBody>
      </p:sp>
      <p:sp>
        <p:nvSpPr>
          <p:cNvPr id="35" name="Text 33"/>
          <p:cNvSpPr/>
          <p:nvPr/>
        </p:nvSpPr>
        <p:spPr>
          <a:xfrm>
            <a:off x="685800" y="5340096"/>
            <a:ext cx="5166360" cy="8321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 useful rough estimate. Different models use different tokenizers, so there is no single universal number.</a:t>
            </a:r>
            <a:endParaRPr lang="en-US" sz="1100" dirty="0"/>
          </a:p>
        </p:txBody>
      </p:sp>
      <p:sp>
        <p:nvSpPr>
          <p:cNvPr id="36" name="Shape 34"/>
          <p:cNvSpPr/>
          <p:nvPr/>
        </p:nvSpPr>
        <p:spPr>
          <a:xfrm>
            <a:off x="6217920" y="4754880"/>
            <a:ext cx="5440680" cy="1508760"/>
          </a:xfrm>
          <a:prstGeom prst="rect">
            <a:avLst/>
          </a:prstGeom>
          <a:solidFill>
            <a:srgbClr val="FEE2E2"/>
          </a:solidFill>
          <a:ln w="12700">
            <a:solidFill>
              <a:srgbClr val="FEE2E2"/>
            </a:solidFill>
            <a:prstDash val="solid"/>
          </a:ln>
        </p:spPr>
      </p:sp>
      <p:sp>
        <p:nvSpPr>
          <p:cNvPr id="37" name="Shape 35"/>
          <p:cNvSpPr/>
          <p:nvPr/>
        </p:nvSpPr>
        <p:spPr>
          <a:xfrm>
            <a:off x="6217920" y="4754880"/>
            <a:ext cx="45720" cy="1508760"/>
          </a:xfrm>
          <a:prstGeom prst="rect">
            <a:avLst/>
          </a:prstGeom>
          <a:solidFill>
            <a:srgbClr val="B91C1C"/>
          </a:solidFill>
          <a:ln w="12700">
            <a:solidFill>
              <a:srgbClr val="B91C1C"/>
            </a:solidFill>
            <a:prstDash val="solid"/>
          </a:ln>
        </p:spPr>
      </p:sp>
      <p:sp>
        <p:nvSpPr>
          <p:cNvPr id="38" name="Text 36"/>
          <p:cNvSpPr/>
          <p:nvPr/>
        </p:nvSpPr>
        <p:spPr>
          <a:xfrm>
            <a:off x="6400800" y="4846320"/>
            <a:ext cx="516636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Calibri" pitchFamily="34" charset="0"/>
                <a:ea typeface="Calibri" pitchFamily="34" charset="-122"/>
                <a:cs typeface="Calibri" pitchFamily="34" charset="-120"/>
              </a:rPr>
              <a:t>NON-ENGLISH</a:t>
            </a:r>
            <a:endParaRPr lang="en-US" sz="900" dirty="0"/>
          </a:p>
        </p:txBody>
      </p:sp>
      <p:sp>
        <p:nvSpPr>
          <p:cNvPr id="39" name="Text 37"/>
          <p:cNvSpPr/>
          <p:nvPr/>
        </p:nvSpPr>
        <p:spPr>
          <a:xfrm>
            <a:off x="6400800" y="5047488"/>
            <a:ext cx="5166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Other languages tokenize heavier</a:t>
            </a:r>
            <a:endParaRPr lang="en-US" sz="1300" dirty="0"/>
          </a:p>
        </p:txBody>
      </p:sp>
      <p:sp>
        <p:nvSpPr>
          <p:cNvPr id="40" name="Text 38"/>
          <p:cNvSpPr/>
          <p:nvPr/>
        </p:nvSpPr>
        <p:spPr>
          <a:xfrm>
            <a:off x="6400800" y="5340096"/>
            <a:ext cx="5166360" cy="8321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Hindi, Tamil, Mandarin, Arabic — typically 2-3× more tokens than English for the same meaning. Plan accordingly.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3 · THE FLOW</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3</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How tokens flow — input vs output</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You pay for both. Output is typically priced higher than input.</a:t>
            </a:r>
            <a:endParaRPr lang="en-US" sz="1400" dirty="0"/>
          </a:p>
        </p:txBody>
      </p:sp>
      <p:sp>
        <p:nvSpPr>
          <p:cNvPr id="9" name="Shape 7"/>
          <p:cNvSpPr/>
          <p:nvPr/>
        </p:nvSpPr>
        <p:spPr>
          <a:xfrm>
            <a:off x="609448" y="2377440"/>
            <a:ext cx="3291840" cy="2194560"/>
          </a:xfrm>
          <a:prstGeom prst="rect">
            <a:avLst/>
          </a:prstGeom>
          <a:solidFill>
            <a:srgbClr val="F8FAFC"/>
          </a:solidFill>
          <a:ln w="6350">
            <a:solidFill>
              <a:srgbClr val="E2E8F0"/>
            </a:solidFill>
            <a:prstDash val="solid"/>
          </a:ln>
        </p:spPr>
      </p:sp>
      <p:sp>
        <p:nvSpPr>
          <p:cNvPr id="10" name="Shape 8"/>
          <p:cNvSpPr/>
          <p:nvPr/>
        </p:nvSpPr>
        <p:spPr>
          <a:xfrm>
            <a:off x="1981048" y="2651760"/>
            <a:ext cx="548640" cy="548640"/>
          </a:xfrm>
          <a:prstGeom prst="ellipse">
            <a:avLst/>
          </a:prstGeom>
          <a:solidFill>
            <a:srgbClr val="0F172A"/>
          </a:solidFill>
          <a:ln w="12700">
            <a:solidFill>
              <a:srgbClr val="0F172A"/>
            </a:solidFill>
            <a:prstDash val="solid"/>
          </a:ln>
        </p:spPr>
      </p:sp>
      <p:sp>
        <p:nvSpPr>
          <p:cNvPr id="11" name="Text 9"/>
          <p:cNvSpPr/>
          <p:nvPr/>
        </p:nvSpPr>
        <p:spPr>
          <a:xfrm>
            <a:off x="1981048"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609448" y="333756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Georgia" pitchFamily="34" charset="0"/>
                <a:ea typeface="Georgia" pitchFamily="34" charset="-122"/>
                <a:cs typeface="Georgia" pitchFamily="34" charset="-120"/>
              </a:rPr>
              <a:t>Your prompt</a:t>
            </a:r>
            <a:endParaRPr lang="en-US" sz="1800" dirty="0"/>
          </a:p>
        </p:txBody>
      </p:sp>
      <p:sp>
        <p:nvSpPr>
          <p:cNvPr id="13" name="Text 11"/>
          <p:cNvSpPr/>
          <p:nvPr/>
        </p:nvSpPr>
        <p:spPr>
          <a:xfrm>
            <a:off x="609448" y="3794760"/>
            <a:ext cx="329184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is broken into</a:t>
            </a:r>
            <a:endParaRPr lang="en-US" sz="1200" dirty="0"/>
          </a:p>
        </p:txBody>
      </p:sp>
      <p:sp>
        <p:nvSpPr>
          <p:cNvPr id="14" name="Text 12"/>
          <p:cNvSpPr/>
          <p:nvPr/>
        </p:nvSpPr>
        <p:spPr>
          <a:xfrm>
            <a:off x="609448" y="4160520"/>
            <a:ext cx="3291840" cy="320040"/>
          </a:xfrm>
          <a:prstGeom prst="rect">
            <a:avLst/>
          </a:prstGeom>
          <a:noFill/>
          <a:ln/>
        </p:spPr>
        <p:txBody>
          <a:bodyPr wrap="square" lIns="0" tIns="0" rIns="0" bIns="0" rtlCol="0" anchor="ctr"/>
          <a:lstStyle/>
          <a:p>
            <a:pPr algn="ctr" indent="0" marL="0">
              <a:buNone/>
            </a:pPr>
            <a:r>
              <a:rPr lang="en-US" sz="1100" b="1" spc="200" kern="0" dirty="0">
                <a:solidFill>
                  <a:srgbClr val="B45309"/>
                </a:solidFill>
                <a:latin typeface="Consolas" pitchFamily="34" charset="0"/>
                <a:ea typeface="Consolas" pitchFamily="34" charset="-122"/>
                <a:cs typeface="Consolas" pitchFamily="34" charset="-120"/>
              </a:rPr>
              <a:t>INPUT TOKENS</a:t>
            </a:r>
            <a:endParaRPr lang="en-US" sz="1100" dirty="0"/>
          </a:p>
        </p:txBody>
      </p:sp>
      <p:sp>
        <p:nvSpPr>
          <p:cNvPr id="15" name="Shape 13"/>
          <p:cNvSpPr/>
          <p:nvPr/>
        </p:nvSpPr>
        <p:spPr>
          <a:xfrm>
            <a:off x="3947008" y="3474720"/>
            <a:ext cx="457200" cy="0"/>
          </a:xfrm>
          <a:prstGeom prst="line">
            <a:avLst/>
          </a:prstGeom>
          <a:noFill/>
          <a:ln w="25400">
            <a:solidFill>
              <a:srgbClr val="64748B"/>
            </a:solidFill>
            <a:prstDash val="solid"/>
            <a:tailEnd type="triangle"/>
          </a:ln>
        </p:spPr>
      </p:sp>
      <p:sp>
        <p:nvSpPr>
          <p:cNvPr id="16" name="Shape 14"/>
          <p:cNvSpPr/>
          <p:nvPr/>
        </p:nvSpPr>
        <p:spPr>
          <a:xfrm>
            <a:off x="4449928" y="2377440"/>
            <a:ext cx="3291840" cy="2194560"/>
          </a:xfrm>
          <a:prstGeom prst="rect">
            <a:avLst/>
          </a:prstGeom>
          <a:solidFill>
            <a:srgbClr val="F8FAFC"/>
          </a:solidFill>
          <a:ln w="6350">
            <a:solidFill>
              <a:srgbClr val="E2E8F0"/>
            </a:solidFill>
            <a:prstDash val="solid"/>
          </a:ln>
        </p:spPr>
      </p:sp>
      <p:sp>
        <p:nvSpPr>
          <p:cNvPr id="17" name="Shape 15"/>
          <p:cNvSpPr/>
          <p:nvPr/>
        </p:nvSpPr>
        <p:spPr>
          <a:xfrm>
            <a:off x="5821528" y="2651760"/>
            <a:ext cx="548640" cy="548640"/>
          </a:xfrm>
          <a:prstGeom prst="ellipse">
            <a:avLst/>
          </a:prstGeom>
          <a:solidFill>
            <a:srgbClr val="0F172A"/>
          </a:solidFill>
          <a:ln w="12700">
            <a:solidFill>
              <a:srgbClr val="0F172A"/>
            </a:solidFill>
            <a:prstDash val="solid"/>
          </a:ln>
        </p:spPr>
      </p:sp>
      <p:sp>
        <p:nvSpPr>
          <p:cNvPr id="18" name="Text 16"/>
          <p:cNvSpPr/>
          <p:nvPr/>
        </p:nvSpPr>
        <p:spPr>
          <a:xfrm>
            <a:off x="5821528"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9" name="Text 17"/>
          <p:cNvSpPr/>
          <p:nvPr/>
        </p:nvSpPr>
        <p:spPr>
          <a:xfrm>
            <a:off x="4449928" y="333756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Georgia" pitchFamily="34" charset="0"/>
                <a:ea typeface="Georgia" pitchFamily="34" charset="-122"/>
                <a:cs typeface="Georgia" pitchFamily="34" charset="-120"/>
              </a:rPr>
              <a:t>Model processes</a:t>
            </a:r>
            <a:endParaRPr lang="en-US" sz="1800" dirty="0"/>
          </a:p>
        </p:txBody>
      </p:sp>
      <p:sp>
        <p:nvSpPr>
          <p:cNvPr id="20" name="Text 18"/>
          <p:cNvSpPr/>
          <p:nvPr/>
        </p:nvSpPr>
        <p:spPr>
          <a:xfrm>
            <a:off x="4449928" y="3794760"/>
            <a:ext cx="329184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and generates</a:t>
            </a:r>
            <a:endParaRPr lang="en-US" sz="1200" dirty="0"/>
          </a:p>
        </p:txBody>
      </p:sp>
      <p:sp>
        <p:nvSpPr>
          <p:cNvPr id="21" name="Text 19"/>
          <p:cNvSpPr/>
          <p:nvPr/>
        </p:nvSpPr>
        <p:spPr>
          <a:xfrm>
            <a:off x="4449928" y="4160520"/>
            <a:ext cx="3291840" cy="320040"/>
          </a:xfrm>
          <a:prstGeom prst="rect">
            <a:avLst/>
          </a:prstGeom>
          <a:noFill/>
          <a:ln/>
        </p:spPr>
        <p:txBody>
          <a:bodyPr wrap="square" lIns="0" tIns="0" rIns="0" bIns="0" rtlCol="0" anchor="ctr"/>
          <a:lstStyle/>
          <a:p>
            <a:pPr algn="ctr" indent="0" marL="0">
              <a:buNone/>
            </a:pPr>
            <a:r>
              <a:rPr lang="en-US" sz="1100" b="1" spc="200" kern="0" dirty="0">
                <a:solidFill>
                  <a:srgbClr val="B45309"/>
                </a:solidFill>
                <a:latin typeface="Consolas" pitchFamily="34" charset="0"/>
                <a:ea typeface="Consolas" pitchFamily="34" charset="-122"/>
                <a:cs typeface="Consolas" pitchFamily="34" charset="-120"/>
              </a:rPr>
              <a:t>OUTPUT TOKENS</a:t>
            </a:r>
            <a:endParaRPr lang="en-US" sz="1100" dirty="0"/>
          </a:p>
        </p:txBody>
      </p:sp>
      <p:sp>
        <p:nvSpPr>
          <p:cNvPr id="22" name="Shape 20"/>
          <p:cNvSpPr/>
          <p:nvPr/>
        </p:nvSpPr>
        <p:spPr>
          <a:xfrm>
            <a:off x="7787488" y="3474720"/>
            <a:ext cx="457200" cy="0"/>
          </a:xfrm>
          <a:prstGeom prst="line">
            <a:avLst/>
          </a:prstGeom>
          <a:noFill/>
          <a:ln w="25400">
            <a:solidFill>
              <a:srgbClr val="64748B"/>
            </a:solidFill>
            <a:prstDash val="solid"/>
            <a:tailEnd type="triangle"/>
          </a:ln>
        </p:spPr>
      </p:sp>
      <p:sp>
        <p:nvSpPr>
          <p:cNvPr id="23" name="Shape 21"/>
          <p:cNvSpPr/>
          <p:nvPr/>
        </p:nvSpPr>
        <p:spPr>
          <a:xfrm>
            <a:off x="8290408" y="2377440"/>
            <a:ext cx="3291840" cy="2194560"/>
          </a:xfrm>
          <a:prstGeom prst="rect">
            <a:avLst/>
          </a:prstGeom>
          <a:solidFill>
            <a:srgbClr val="FEF3C7"/>
          </a:solidFill>
          <a:ln w="12700">
            <a:solidFill>
              <a:srgbClr val="B45309"/>
            </a:solidFill>
            <a:prstDash val="solid"/>
          </a:ln>
        </p:spPr>
      </p:sp>
      <p:sp>
        <p:nvSpPr>
          <p:cNvPr id="24" name="Shape 22"/>
          <p:cNvSpPr/>
          <p:nvPr/>
        </p:nvSpPr>
        <p:spPr>
          <a:xfrm>
            <a:off x="9662008" y="2651760"/>
            <a:ext cx="548640" cy="548640"/>
          </a:xfrm>
          <a:prstGeom prst="ellipse">
            <a:avLst/>
          </a:prstGeom>
          <a:solidFill>
            <a:srgbClr val="0F172A"/>
          </a:solidFill>
          <a:ln w="12700">
            <a:solidFill>
              <a:srgbClr val="0F172A"/>
            </a:solidFill>
            <a:prstDash val="solid"/>
          </a:ln>
        </p:spPr>
      </p:sp>
      <p:sp>
        <p:nvSpPr>
          <p:cNvPr id="25" name="Text 23"/>
          <p:cNvSpPr/>
          <p:nvPr/>
        </p:nvSpPr>
        <p:spPr>
          <a:xfrm>
            <a:off x="9662008"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6" name="Text 24"/>
          <p:cNvSpPr/>
          <p:nvPr/>
        </p:nvSpPr>
        <p:spPr>
          <a:xfrm>
            <a:off x="8290408" y="333756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Georgia" pitchFamily="34" charset="0"/>
                <a:ea typeface="Georgia" pitchFamily="34" charset="-122"/>
                <a:cs typeface="Georgia" pitchFamily="34" charset="-120"/>
              </a:rPr>
              <a:t>Bill = input + output</a:t>
            </a:r>
            <a:endParaRPr lang="en-US" sz="1800" dirty="0"/>
          </a:p>
        </p:txBody>
      </p:sp>
      <p:sp>
        <p:nvSpPr>
          <p:cNvPr id="27" name="Text 25"/>
          <p:cNvSpPr/>
          <p:nvPr/>
        </p:nvSpPr>
        <p:spPr>
          <a:xfrm>
            <a:off x="8290408" y="3794760"/>
            <a:ext cx="329184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per million tokens</a:t>
            </a:r>
            <a:endParaRPr lang="en-US" sz="1200" dirty="0"/>
          </a:p>
        </p:txBody>
      </p:sp>
      <p:sp>
        <p:nvSpPr>
          <p:cNvPr id="28" name="Shape 26"/>
          <p:cNvSpPr/>
          <p:nvPr/>
        </p:nvSpPr>
        <p:spPr>
          <a:xfrm>
            <a:off x="502920" y="4937760"/>
            <a:ext cx="11155680" cy="1280160"/>
          </a:xfrm>
          <a:prstGeom prst="rect">
            <a:avLst/>
          </a:prstGeom>
          <a:solidFill>
            <a:srgbClr val="F1F5F9"/>
          </a:solidFill>
          <a:ln w="12700">
            <a:solidFill>
              <a:srgbClr val="F1F5F9"/>
            </a:solidFill>
            <a:prstDash val="solid"/>
          </a:ln>
        </p:spPr>
      </p:sp>
      <p:sp>
        <p:nvSpPr>
          <p:cNvPr id="29" name="Shape 27"/>
          <p:cNvSpPr/>
          <p:nvPr/>
        </p:nvSpPr>
        <p:spPr>
          <a:xfrm>
            <a:off x="502920" y="4937760"/>
            <a:ext cx="45720" cy="1280160"/>
          </a:xfrm>
          <a:prstGeom prst="rect">
            <a:avLst/>
          </a:prstGeom>
          <a:solidFill>
            <a:srgbClr val="B45309"/>
          </a:solidFill>
          <a:ln w="12700">
            <a:solidFill>
              <a:srgbClr val="B45309"/>
            </a:solidFill>
            <a:prstDash val="solid"/>
          </a:ln>
        </p:spPr>
      </p:sp>
      <p:sp>
        <p:nvSpPr>
          <p:cNvPr id="30" name="Text 28"/>
          <p:cNvSpPr/>
          <p:nvPr/>
        </p:nvSpPr>
        <p:spPr>
          <a:xfrm>
            <a:off x="685800" y="502920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RULE</a:t>
            </a:r>
            <a:endParaRPr lang="en-US" sz="900" dirty="0"/>
          </a:p>
        </p:txBody>
      </p:sp>
      <p:sp>
        <p:nvSpPr>
          <p:cNvPr id="31" name="Text 29"/>
          <p:cNvSpPr/>
          <p:nvPr/>
        </p:nvSpPr>
        <p:spPr>
          <a:xfrm>
            <a:off x="685800" y="5230368"/>
            <a:ext cx="10881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Always set maxTokens.</a:t>
            </a:r>
            <a:endParaRPr lang="en-US" sz="1300" dirty="0"/>
          </a:p>
        </p:txBody>
      </p:sp>
      <p:sp>
        <p:nvSpPr>
          <p:cNvPr id="32" name="Text 30"/>
          <p:cNvSpPr/>
          <p:nvPr/>
        </p:nvSpPr>
        <p:spPr>
          <a:xfrm>
            <a:off x="685800" y="5522976"/>
            <a:ext cx="10881360" cy="6035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Without it, a runaway response can quietly chew through your budget. maxTokens is your hard ceiling on output length — and therefore on the output side of the bill.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3 · CONTEXT WINDOW</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20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3</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The context window — the model's working memory</a:t>
            </a:r>
            <a:endParaRPr lang="en-US" sz="28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Input tokens + output tokens must fit inside this limit, or the API returns an error.</a:t>
            </a:r>
            <a:endParaRPr lang="en-US" sz="1400" dirty="0"/>
          </a:p>
        </p:txBody>
      </p:sp>
      <p:sp>
        <p:nvSpPr>
          <p:cNvPr id="9" name="Text 7"/>
          <p:cNvSpPr/>
          <p:nvPr/>
        </p:nvSpPr>
        <p:spPr>
          <a:xfrm>
            <a:off x="731520" y="2194560"/>
            <a:ext cx="1069848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EXAMPLE — A MODEL WITH A 200,000 TOKEN CONTEXT WINDOW</a:t>
            </a:r>
            <a:endParaRPr lang="en-US" sz="1000" dirty="0"/>
          </a:p>
        </p:txBody>
      </p:sp>
      <p:sp>
        <p:nvSpPr>
          <p:cNvPr id="10" name="Shape 8"/>
          <p:cNvSpPr/>
          <p:nvPr/>
        </p:nvSpPr>
        <p:spPr>
          <a:xfrm>
            <a:off x="731520" y="2560320"/>
            <a:ext cx="10698480" cy="1005840"/>
          </a:xfrm>
          <a:prstGeom prst="rect">
            <a:avLst/>
          </a:prstGeom>
          <a:solidFill>
            <a:srgbClr val="F8FAFC"/>
          </a:solidFill>
          <a:ln w="12700">
            <a:solidFill>
              <a:srgbClr val="0F172A"/>
            </a:solidFill>
            <a:prstDash val="solid"/>
          </a:ln>
        </p:spPr>
      </p:sp>
      <p:sp>
        <p:nvSpPr>
          <p:cNvPr id="11" name="Shape 9"/>
          <p:cNvSpPr/>
          <p:nvPr/>
        </p:nvSpPr>
        <p:spPr>
          <a:xfrm>
            <a:off x="731520" y="2560320"/>
            <a:ext cx="5884164" cy="1005840"/>
          </a:xfrm>
          <a:prstGeom prst="rect">
            <a:avLst/>
          </a:prstGeom>
          <a:solidFill>
            <a:srgbClr val="B45309"/>
          </a:solidFill>
          <a:ln w="12700">
            <a:solidFill>
              <a:srgbClr val="B45309"/>
            </a:solidFill>
            <a:prstDash val="solid"/>
          </a:ln>
        </p:spPr>
      </p:sp>
      <p:sp>
        <p:nvSpPr>
          <p:cNvPr id="12" name="Text 10"/>
          <p:cNvSpPr/>
          <p:nvPr/>
        </p:nvSpPr>
        <p:spPr>
          <a:xfrm>
            <a:off x="731520" y="2560320"/>
            <a:ext cx="5884164"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INPUT  ~110,000 tokens</a:t>
            </a:r>
            <a:endParaRPr lang="en-US" sz="1300" dirty="0"/>
          </a:p>
        </p:txBody>
      </p:sp>
      <p:sp>
        <p:nvSpPr>
          <p:cNvPr id="13" name="Shape 11"/>
          <p:cNvSpPr/>
          <p:nvPr/>
        </p:nvSpPr>
        <p:spPr>
          <a:xfrm>
            <a:off x="6615684" y="2560320"/>
            <a:ext cx="2674620" cy="1005840"/>
          </a:xfrm>
          <a:prstGeom prst="rect">
            <a:avLst/>
          </a:prstGeom>
          <a:solidFill>
            <a:srgbClr val="047857"/>
          </a:solidFill>
          <a:ln w="12700">
            <a:solidFill>
              <a:srgbClr val="047857"/>
            </a:solidFill>
            <a:prstDash val="solid"/>
          </a:ln>
        </p:spPr>
      </p:sp>
      <p:sp>
        <p:nvSpPr>
          <p:cNvPr id="14" name="Text 12"/>
          <p:cNvSpPr/>
          <p:nvPr/>
        </p:nvSpPr>
        <p:spPr>
          <a:xfrm>
            <a:off x="6615684" y="2560320"/>
            <a:ext cx="267462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OUTPUT ~50,000</a:t>
            </a:r>
            <a:endParaRPr lang="en-US" sz="1300" dirty="0"/>
          </a:p>
        </p:txBody>
      </p:sp>
      <p:sp>
        <p:nvSpPr>
          <p:cNvPr id="15" name="Text 13"/>
          <p:cNvSpPr/>
          <p:nvPr/>
        </p:nvSpPr>
        <p:spPr>
          <a:xfrm>
            <a:off x="9290304" y="2560320"/>
            <a:ext cx="2139696" cy="10058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HEADROOM ~40,000</a:t>
            </a:r>
            <a:endParaRPr lang="en-US" sz="1200" dirty="0"/>
          </a:p>
        </p:txBody>
      </p:sp>
      <p:sp>
        <p:nvSpPr>
          <p:cNvPr id="16" name="Text 14"/>
          <p:cNvSpPr/>
          <p:nvPr/>
        </p:nvSpPr>
        <p:spPr>
          <a:xfrm>
            <a:off x="548640" y="3657600"/>
            <a:ext cx="365760" cy="27432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0</a:t>
            </a:r>
            <a:endParaRPr lang="en-US" sz="1100" dirty="0"/>
          </a:p>
        </p:txBody>
      </p:sp>
      <p:sp>
        <p:nvSpPr>
          <p:cNvPr id="17" name="Text 15"/>
          <p:cNvSpPr/>
          <p:nvPr/>
        </p:nvSpPr>
        <p:spPr>
          <a:xfrm>
            <a:off x="10972800" y="3657600"/>
            <a:ext cx="914400" cy="27432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200,000</a:t>
            </a:r>
            <a:endParaRPr lang="en-US" sz="1100" dirty="0"/>
          </a:p>
        </p:txBody>
      </p:sp>
      <p:sp>
        <p:nvSpPr>
          <p:cNvPr id="18" name="Shape 16"/>
          <p:cNvSpPr/>
          <p:nvPr/>
        </p:nvSpPr>
        <p:spPr>
          <a:xfrm>
            <a:off x="502920" y="4434840"/>
            <a:ext cx="5440680" cy="1691640"/>
          </a:xfrm>
          <a:prstGeom prst="rect">
            <a:avLst/>
          </a:prstGeom>
          <a:solidFill>
            <a:srgbClr val="F1F5F9"/>
          </a:solidFill>
          <a:ln w="12700">
            <a:solidFill>
              <a:srgbClr val="F1F5F9"/>
            </a:solidFill>
            <a:prstDash val="solid"/>
          </a:ln>
        </p:spPr>
      </p:sp>
      <p:sp>
        <p:nvSpPr>
          <p:cNvPr id="19" name="Shape 17"/>
          <p:cNvSpPr/>
          <p:nvPr/>
        </p:nvSpPr>
        <p:spPr>
          <a:xfrm>
            <a:off x="502920" y="4434840"/>
            <a:ext cx="45720" cy="1691640"/>
          </a:xfrm>
          <a:prstGeom prst="rect">
            <a:avLst/>
          </a:prstGeom>
          <a:solidFill>
            <a:srgbClr val="B45309"/>
          </a:solidFill>
          <a:ln w="12700">
            <a:solidFill>
              <a:srgbClr val="B45309"/>
            </a:solidFill>
            <a:prstDash val="solid"/>
          </a:ln>
        </p:spPr>
      </p:sp>
      <p:sp>
        <p:nvSpPr>
          <p:cNvPr id="20" name="Text 18"/>
          <p:cNvSpPr/>
          <p:nvPr/>
        </p:nvSpPr>
        <p:spPr>
          <a:xfrm>
            <a:off x="685800" y="4526280"/>
            <a:ext cx="5166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WHY IT MATTERS</a:t>
            </a:r>
            <a:endParaRPr lang="en-US" sz="900" dirty="0"/>
          </a:p>
        </p:txBody>
      </p:sp>
      <p:sp>
        <p:nvSpPr>
          <p:cNvPr id="21" name="Text 19"/>
          <p:cNvSpPr/>
          <p:nvPr/>
        </p:nvSpPr>
        <p:spPr>
          <a:xfrm>
            <a:off x="685800" y="4727448"/>
            <a:ext cx="5166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It is the model's working memory.</a:t>
            </a:r>
            <a:endParaRPr lang="en-US" sz="1300" dirty="0"/>
          </a:p>
        </p:txBody>
      </p:sp>
      <p:sp>
        <p:nvSpPr>
          <p:cNvPr id="22" name="Text 20"/>
          <p:cNvSpPr/>
          <p:nvPr/>
        </p:nvSpPr>
        <p:spPr>
          <a:xfrm>
            <a:off x="685800" y="5020056"/>
            <a:ext cx="5166360" cy="101498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Everything the model sees — your system prompt, the full conversation history, retrieved documents — counts against the window.</a:t>
            </a:r>
            <a:endParaRPr lang="en-US" sz="1100" dirty="0"/>
          </a:p>
        </p:txBody>
      </p:sp>
      <p:sp>
        <p:nvSpPr>
          <p:cNvPr id="23" name="Shape 21"/>
          <p:cNvSpPr/>
          <p:nvPr/>
        </p:nvSpPr>
        <p:spPr>
          <a:xfrm>
            <a:off x="6217920" y="4434840"/>
            <a:ext cx="5440680" cy="1691640"/>
          </a:xfrm>
          <a:prstGeom prst="rect">
            <a:avLst/>
          </a:prstGeom>
          <a:solidFill>
            <a:srgbClr val="FEE2E2"/>
          </a:solidFill>
          <a:ln w="12700">
            <a:solidFill>
              <a:srgbClr val="FEE2E2"/>
            </a:solidFill>
            <a:prstDash val="solid"/>
          </a:ln>
        </p:spPr>
      </p:sp>
      <p:sp>
        <p:nvSpPr>
          <p:cNvPr id="24" name="Shape 22"/>
          <p:cNvSpPr/>
          <p:nvPr/>
        </p:nvSpPr>
        <p:spPr>
          <a:xfrm>
            <a:off x="6217920" y="4434840"/>
            <a:ext cx="45720" cy="1691640"/>
          </a:xfrm>
          <a:prstGeom prst="rect">
            <a:avLst/>
          </a:prstGeom>
          <a:solidFill>
            <a:srgbClr val="B91C1C"/>
          </a:solidFill>
          <a:ln w="12700">
            <a:solidFill>
              <a:srgbClr val="B91C1C"/>
            </a:solidFill>
            <a:prstDash val="solid"/>
          </a:ln>
        </p:spPr>
      </p:sp>
      <p:sp>
        <p:nvSpPr>
          <p:cNvPr id="25" name="Text 23"/>
          <p:cNvSpPr/>
          <p:nvPr/>
        </p:nvSpPr>
        <p:spPr>
          <a:xfrm>
            <a:off x="6400800" y="4526280"/>
            <a:ext cx="516636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Calibri" pitchFamily="34" charset="0"/>
                <a:ea typeface="Calibri" pitchFamily="34" charset="-122"/>
                <a:cs typeface="Calibri" pitchFamily="34" charset="-120"/>
              </a:rPr>
              <a:t>FAILURE MODE</a:t>
            </a:r>
            <a:endParaRPr lang="en-US" sz="900" dirty="0"/>
          </a:p>
        </p:txBody>
      </p:sp>
      <p:sp>
        <p:nvSpPr>
          <p:cNvPr id="26" name="Text 24"/>
          <p:cNvSpPr/>
          <p:nvPr/>
        </p:nvSpPr>
        <p:spPr>
          <a:xfrm>
            <a:off x="6400800" y="4727448"/>
            <a:ext cx="5166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Exceed the window → API error.</a:t>
            </a:r>
            <a:endParaRPr lang="en-US" sz="1300" dirty="0"/>
          </a:p>
        </p:txBody>
      </p:sp>
      <p:sp>
        <p:nvSpPr>
          <p:cNvPr id="27" name="Text 25"/>
          <p:cNvSpPr/>
          <p:nvPr/>
        </p:nvSpPr>
        <p:spPr>
          <a:xfrm>
            <a:off x="6400800" y="5020056"/>
            <a:ext cx="5166360" cy="101498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This becomes a real problem for long conversations and RAG, where you inject large amounts of data into the prompt. We will manage this in chapter 4.</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3 · PRICING</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21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3</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Where to check what it costs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Pricing is per million tokens, different for input and output, varies per model. Always check current rates.</a:t>
            </a:r>
            <a:endParaRPr lang="en-US" sz="1400" dirty="0"/>
          </a:p>
        </p:txBody>
      </p:sp>
      <p:sp>
        <p:nvSpPr>
          <p:cNvPr id="9" name="Shape 7"/>
          <p:cNvSpPr/>
          <p:nvPr/>
        </p:nvSpPr>
        <p:spPr>
          <a:xfrm>
            <a:off x="1371600" y="2468880"/>
            <a:ext cx="9418320" cy="1463040"/>
          </a:xfrm>
          <a:prstGeom prst="rect">
            <a:avLst/>
          </a:prstGeom>
          <a:solidFill>
            <a:srgbClr val="0F172A"/>
          </a:solidFill>
          <a:ln w="12700">
            <a:solidFill>
              <a:srgbClr val="0F172A"/>
            </a:solidFill>
            <a:prstDash val="solid"/>
          </a:ln>
        </p:spPr>
      </p:sp>
      <p:sp>
        <p:nvSpPr>
          <p:cNvPr id="10" name="Text 8"/>
          <p:cNvSpPr/>
          <p:nvPr/>
        </p:nvSpPr>
        <p:spPr>
          <a:xfrm>
            <a:off x="1554480" y="2606040"/>
            <a:ext cx="9144000" cy="11887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Do not memorize numbers.</a:t>
            </a:r>
            <a:endParaRPr lang="en-US" sz="2800" dirty="0"/>
          </a:p>
          <a:p>
            <a:pPr indent="0" marL="0">
              <a:buNone/>
            </a:pPr>
            <a:r>
              <a:rPr lang="en-US" sz="2800" b="1" dirty="0">
                <a:solidFill>
                  <a:srgbClr val="FFFFFF"/>
                </a:solidFill>
                <a:latin typeface="Georgia" pitchFamily="34" charset="0"/>
                <a:ea typeface="Georgia" pitchFamily="34" charset="-122"/>
                <a:cs typeface="Georgia" pitchFamily="34" charset="-120"/>
              </a:rPr>
              <a:t>They change.</a:t>
            </a:r>
            <a:endParaRPr lang="en-US" sz="2800" dirty="0"/>
          </a:p>
          <a:p>
            <a:pPr indent="0" marL="0">
              <a:buNone/>
            </a:pPr>
            <a:r>
              <a:rPr lang="en-US" sz="2800" b="1" dirty="0">
                <a:solidFill>
                  <a:srgbClr val="FFFFFF"/>
                </a:solidFill>
                <a:latin typeface="Georgia" pitchFamily="34" charset="0"/>
                <a:ea typeface="Georgia" pitchFamily="34" charset="-122"/>
                <a:cs typeface="Georgia" pitchFamily="34" charset="-120"/>
              </a:rPr>
              <a:t>Know where to look.</a:t>
            </a:r>
            <a:endParaRPr lang="en-US" sz="2800" dirty="0"/>
          </a:p>
        </p:txBody>
      </p:sp>
      <p:sp>
        <p:nvSpPr>
          <p:cNvPr id="11" name="Text 9"/>
          <p:cNvSpPr/>
          <p:nvPr/>
        </p:nvSpPr>
        <p:spPr>
          <a:xfrm>
            <a:off x="731520" y="4297680"/>
            <a:ext cx="1097280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OFFICIAL PRICING</a:t>
            </a:r>
            <a:endParaRPr lang="en-US" sz="1000" dirty="0"/>
          </a:p>
        </p:txBody>
      </p:sp>
      <p:sp>
        <p:nvSpPr>
          <p:cNvPr id="12" name="Text 10"/>
          <p:cNvSpPr/>
          <p:nvPr/>
        </p:nvSpPr>
        <p:spPr>
          <a:xfrm>
            <a:off x="731520" y="4617720"/>
            <a:ext cx="10972800" cy="457200"/>
          </a:xfrm>
          <a:prstGeom prst="rect">
            <a:avLst/>
          </a:prstGeom>
          <a:noFill/>
          <a:ln/>
        </p:spPr>
        <p:txBody>
          <a:bodyPr wrap="square" lIns="0" tIns="0" rIns="0" bIns="0" rtlCol="0" anchor="ctr"/>
          <a:lstStyle/>
          <a:p>
            <a:pPr indent="0" marL="0">
              <a:buNone/>
            </a:pPr>
            <a:r>
              <a:rPr lang="en-US" sz="2200" b="1" dirty="0">
                <a:solidFill>
                  <a:srgbClr val="B45309"/>
                </a:solidFill>
                <a:latin typeface="Consolas" pitchFamily="34" charset="0"/>
                <a:ea typeface="Consolas" pitchFamily="34" charset="-122"/>
                <a:cs typeface="Consolas" pitchFamily="34" charset="-120"/>
              </a:rPr>
              <a:t>aws.amazon.com/bedrock/pricing</a:t>
            </a:r>
            <a:endParaRPr lang="en-US" sz="2200" dirty="0"/>
          </a:p>
        </p:txBody>
      </p:sp>
      <p:sp>
        <p:nvSpPr>
          <p:cNvPr id="13" name="Shape 11"/>
          <p:cNvSpPr/>
          <p:nvPr/>
        </p:nvSpPr>
        <p:spPr>
          <a:xfrm>
            <a:off x="502920" y="5440680"/>
            <a:ext cx="11155680" cy="777240"/>
          </a:xfrm>
          <a:prstGeom prst="rect">
            <a:avLst/>
          </a:prstGeom>
          <a:solidFill>
            <a:srgbClr val="F1F5F9"/>
          </a:solidFill>
          <a:ln w="12700">
            <a:solidFill>
              <a:srgbClr val="F1F5F9"/>
            </a:solidFill>
            <a:prstDash val="solid"/>
          </a:ln>
        </p:spPr>
      </p:sp>
      <p:sp>
        <p:nvSpPr>
          <p:cNvPr id="14" name="Shape 12"/>
          <p:cNvSpPr/>
          <p:nvPr/>
        </p:nvSpPr>
        <p:spPr>
          <a:xfrm>
            <a:off x="502920" y="5440680"/>
            <a:ext cx="45720" cy="777240"/>
          </a:xfrm>
          <a:prstGeom prst="rect">
            <a:avLst/>
          </a:prstGeom>
          <a:solidFill>
            <a:srgbClr val="B45309"/>
          </a:solidFill>
          <a:ln w="12700">
            <a:solidFill>
              <a:srgbClr val="B45309"/>
            </a:solidFill>
            <a:prstDash val="solid"/>
          </a:ln>
        </p:spPr>
      </p:sp>
      <p:sp>
        <p:nvSpPr>
          <p:cNvPr id="15" name="Text 13"/>
          <p:cNvSpPr/>
          <p:nvPr/>
        </p:nvSpPr>
        <p:spPr>
          <a:xfrm>
            <a:off x="685800" y="553212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TO LOOK FOR</a:t>
            </a:r>
            <a:endParaRPr lang="en-US" sz="900" dirty="0"/>
          </a:p>
        </p:txBody>
      </p:sp>
      <p:sp>
        <p:nvSpPr>
          <p:cNvPr id="16" name="Text 14"/>
          <p:cNvSpPr/>
          <p:nvPr/>
        </p:nvSpPr>
        <p:spPr>
          <a:xfrm>
            <a:off x="685800" y="5733288"/>
            <a:ext cx="10881360" cy="39319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Three numbers per model: input $/MTok, output $/MTok, and the context window size. Output is typically 3-5x the input price.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CONVERSATIONS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22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Single-turn vs multi-turn — and why it matters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we have done so far is single-turn. Real applications usually need ongoing conversations.</a:t>
            </a:r>
            <a:endParaRPr lang="en-US" sz="1400" dirty="0"/>
          </a:p>
        </p:txBody>
      </p:sp>
      <p:sp>
        <p:nvSpPr>
          <p:cNvPr id="9" name="Shape 7"/>
          <p:cNvSpPr/>
          <p:nvPr/>
        </p:nvSpPr>
        <p:spPr>
          <a:xfrm>
            <a:off x="502920" y="2194560"/>
            <a:ext cx="11155680" cy="1463040"/>
          </a:xfrm>
          <a:prstGeom prst="rect">
            <a:avLst/>
          </a:prstGeom>
          <a:solidFill>
            <a:srgbClr val="F8FAFC"/>
          </a:solidFill>
          <a:ln w="6350">
            <a:solidFill>
              <a:srgbClr val="E2E8F0"/>
            </a:solidFill>
            <a:prstDash val="solid"/>
          </a:ln>
        </p:spPr>
      </p:sp>
      <p:sp>
        <p:nvSpPr>
          <p:cNvPr id="10" name="Text 8"/>
          <p:cNvSpPr/>
          <p:nvPr/>
        </p:nvSpPr>
        <p:spPr>
          <a:xfrm>
            <a:off x="777240" y="2331720"/>
            <a:ext cx="1060704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SINGLE-TURN</a:t>
            </a:r>
            <a:endParaRPr lang="en-US" sz="1000" dirty="0"/>
          </a:p>
        </p:txBody>
      </p:sp>
      <p:sp>
        <p:nvSpPr>
          <p:cNvPr id="11" name="Text 9"/>
          <p:cNvSpPr/>
          <p:nvPr/>
        </p:nvSpPr>
        <p:spPr>
          <a:xfrm>
            <a:off x="777240" y="2651760"/>
            <a:ext cx="10607040" cy="457200"/>
          </a:xfrm>
          <a:prstGeom prst="rect">
            <a:avLst/>
          </a:prstGeom>
          <a:noFill/>
          <a:ln/>
        </p:spPr>
        <p:txBody>
          <a:bodyPr wrap="square" lIns="0" tIns="0" rIns="0" bIns="0" rtlCol="0" anchor="ctr"/>
          <a:lstStyle/>
          <a:p>
            <a:pPr indent="0" marL="0">
              <a:buNone/>
            </a:pPr>
            <a:r>
              <a:rPr lang="en-US" sz="1800" dirty="0">
                <a:solidFill>
                  <a:srgbClr val="0F172A"/>
                </a:solidFill>
                <a:latin typeface="Consolas" pitchFamily="34" charset="0"/>
                <a:ea typeface="Consolas" pitchFamily="34" charset="-122"/>
                <a:cs typeface="Consolas" pitchFamily="34" charset="-120"/>
              </a:rPr>
              <a:t>user  →  prompt  →  model  →  response  →  done.</a:t>
            </a:r>
            <a:endParaRPr lang="en-US" sz="1800" dirty="0"/>
          </a:p>
        </p:txBody>
      </p:sp>
      <p:sp>
        <p:nvSpPr>
          <p:cNvPr id="12" name="Text 10"/>
          <p:cNvSpPr/>
          <p:nvPr/>
        </p:nvSpPr>
        <p:spPr>
          <a:xfrm>
            <a:off x="777240" y="3154680"/>
            <a:ext cx="1060704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One question. One answer. Useful for classification, summarization, single-shot generation.</a:t>
            </a:r>
            <a:endParaRPr lang="en-US" sz="1200" dirty="0"/>
          </a:p>
        </p:txBody>
      </p:sp>
      <p:sp>
        <p:nvSpPr>
          <p:cNvPr id="13" name="Shape 11"/>
          <p:cNvSpPr/>
          <p:nvPr/>
        </p:nvSpPr>
        <p:spPr>
          <a:xfrm>
            <a:off x="502920" y="3840480"/>
            <a:ext cx="11155680" cy="2468880"/>
          </a:xfrm>
          <a:prstGeom prst="rect">
            <a:avLst/>
          </a:prstGeom>
          <a:solidFill>
            <a:srgbClr val="FEF3C7"/>
          </a:solidFill>
          <a:ln w="12700">
            <a:solidFill>
              <a:srgbClr val="B45309"/>
            </a:solidFill>
            <a:prstDash val="solid"/>
          </a:ln>
        </p:spPr>
      </p:sp>
      <p:sp>
        <p:nvSpPr>
          <p:cNvPr id="14" name="Text 12"/>
          <p:cNvSpPr/>
          <p:nvPr/>
        </p:nvSpPr>
        <p:spPr>
          <a:xfrm>
            <a:off x="777240" y="3977640"/>
            <a:ext cx="1060704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MULTI-TURN</a:t>
            </a:r>
            <a:endParaRPr lang="en-US" sz="1000" dirty="0"/>
          </a:p>
        </p:txBody>
      </p:sp>
      <p:sp>
        <p:nvSpPr>
          <p:cNvPr id="15" name="Text 13"/>
          <p:cNvSpPr/>
          <p:nvPr/>
        </p:nvSpPr>
        <p:spPr>
          <a:xfrm>
            <a:off x="777240" y="4297680"/>
            <a:ext cx="10607040" cy="457200"/>
          </a:xfrm>
          <a:prstGeom prst="rect">
            <a:avLst/>
          </a:prstGeom>
          <a:noFill/>
          <a:ln/>
        </p:spPr>
        <p:txBody>
          <a:bodyPr wrap="square" lIns="0" tIns="0" rIns="0" bIns="0" rtlCol="0" anchor="ctr"/>
          <a:lstStyle/>
          <a:p>
            <a:pPr indent="0" marL="0">
              <a:buNone/>
            </a:pPr>
            <a:r>
              <a:rPr lang="en-US" sz="1800" dirty="0">
                <a:solidFill>
                  <a:srgbClr val="0F172A"/>
                </a:solidFill>
                <a:latin typeface="Consolas" pitchFamily="34" charset="0"/>
                <a:ea typeface="Consolas" pitchFamily="34" charset="-122"/>
                <a:cs typeface="Consolas" pitchFamily="34" charset="-120"/>
              </a:rPr>
              <a:t>user → model → user → model → user → model → ...</a:t>
            </a:r>
            <a:endParaRPr lang="en-US" sz="1800" dirty="0"/>
          </a:p>
        </p:txBody>
      </p:sp>
      <p:sp>
        <p:nvSpPr>
          <p:cNvPr id="16" name="Text 14"/>
          <p:cNvSpPr/>
          <p:nvPr/>
        </p:nvSpPr>
        <p:spPr>
          <a:xfrm>
            <a:off x="777240" y="4800600"/>
            <a:ext cx="1060704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Each turn builds on what came before. "Make it vegetarian" only makes sense if turn 1 ("suggest a chicken recipe") is still in scope.</a:t>
            </a:r>
            <a:endParaRPr lang="en-US" sz="1200" dirty="0"/>
          </a:p>
        </p:txBody>
      </p:sp>
      <p:sp>
        <p:nvSpPr>
          <p:cNvPr id="17" name="Text 15"/>
          <p:cNvSpPr/>
          <p:nvPr/>
        </p:nvSpPr>
        <p:spPr>
          <a:xfrm>
            <a:off x="777240" y="5349240"/>
            <a:ext cx="1060704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This is what every chat assistant — ChatGPT, Claude, customer support bots — actually does.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THE CATCH</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23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catch — models are stateless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This is the single most important idea in this chapter.</a:t>
            </a:r>
            <a:endParaRPr lang="en-US" sz="1400" dirty="0"/>
          </a:p>
        </p:txBody>
      </p:sp>
      <p:sp>
        <p:nvSpPr>
          <p:cNvPr id="9" name="Shape 7"/>
          <p:cNvSpPr/>
          <p:nvPr/>
        </p:nvSpPr>
        <p:spPr>
          <a:xfrm>
            <a:off x="502920" y="2103120"/>
            <a:ext cx="11155680" cy="1463040"/>
          </a:xfrm>
          <a:prstGeom prst="rect">
            <a:avLst/>
          </a:prstGeom>
          <a:solidFill>
            <a:srgbClr val="0F172A"/>
          </a:solidFill>
          <a:ln w="12700">
            <a:solidFill>
              <a:srgbClr val="0F172A"/>
            </a:solidFill>
            <a:prstDash val="solid"/>
          </a:ln>
        </p:spPr>
      </p:sp>
      <p:sp>
        <p:nvSpPr>
          <p:cNvPr id="10" name="Text 8"/>
          <p:cNvSpPr/>
          <p:nvPr/>
        </p:nvSpPr>
        <p:spPr>
          <a:xfrm>
            <a:off x="777240" y="2240280"/>
            <a:ext cx="1060704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Each Bedrock API call is completely independent.</a:t>
            </a:r>
            <a:endParaRPr lang="en-US" sz="2200" dirty="0"/>
          </a:p>
        </p:txBody>
      </p:sp>
      <p:sp>
        <p:nvSpPr>
          <p:cNvPr id="11" name="Text 9"/>
          <p:cNvSpPr/>
          <p:nvPr/>
        </p:nvSpPr>
        <p:spPr>
          <a:xfrm>
            <a:off x="777240" y="2743200"/>
            <a:ext cx="10607040" cy="45720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The model does not remember anything from previous requests.</a:t>
            </a:r>
            <a:endParaRPr lang="en-US" sz="2200" dirty="0"/>
          </a:p>
        </p:txBody>
      </p:sp>
      <p:sp>
        <p:nvSpPr>
          <p:cNvPr id="12" name="Text 10"/>
          <p:cNvSpPr/>
          <p:nvPr/>
        </p:nvSpPr>
        <p:spPr>
          <a:xfrm>
            <a:off x="777240" y="3246120"/>
            <a:ext cx="10607040" cy="27432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Not your last call. Not the last 100 calls. Nothing.</a:t>
            </a:r>
            <a:endParaRPr lang="en-US" sz="1300" dirty="0"/>
          </a:p>
        </p:txBody>
      </p:sp>
      <p:sp>
        <p:nvSpPr>
          <p:cNvPr id="13" name="Shape 11"/>
          <p:cNvSpPr/>
          <p:nvPr/>
        </p:nvSpPr>
        <p:spPr>
          <a:xfrm>
            <a:off x="838048" y="4023360"/>
            <a:ext cx="3200400" cy="1280160"/>
          </a:xfrm>
          <a:prstGeom prst="rect">
            <a:avLst/>
          </a:prstGeom>
          <a:solidFill>
            <a:srgbClr val="F8FAFC"/>
          </a:solidFill>
          <a:ln w="9525">
            <a:solidFill>
              <a:srgbClr val="E2E8F0"/>
            </a:solidFill>
            <a:prstDash val="solid"/>
          </a:ln>
        </p:spPr>
      </p:sp>
      <p:sp>
        <p:nvSpPr>
          <p:cNvPr id="14" name="Text 12"/>
          <p:cNvSpPr/>
          <p:nvPr/>
        </p:nvSpPr>
        <p:spPr>
          <a:xfrm>
            <a:off x="838048" y="4160520"/>
            <a:ext cx="3200400" cy="36576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Call 1</a:t>
            </a:r>
            <a:endParaRPr lang="en-US" sz="1600" dirty="0"/>
          </a:p>
        </p:txBody>
      </p:sp>
      <p:sp>
        <p:nvSpPr>
          <p:cNvPr id="15" name="Text 13"/>
          <p:cNvSpPr/>
          <p:nvPr/>
        </p:nvSpPr>
        <p:spPr>
          <a:xfrm>
            <a:off x="1020928" y="4572000"/>
            <a:ext cx="2834640" cy="64008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the model knows</a:t>
            </a:r>
            <a:endParaRPr lang="en-US" sz="1100" dirty="0"/>
          </a:p>
          <a:p>
            <a:pPr algn="ctr" indent="0" marL="0">
              <a:buNone/>
            </a:pPr>
            <a:r>
              <a:rPr lang="en-US" sz="1100" i="1" dirty="0">
                <a:solidFill>
                  <a:srgbClr val="64748B"/>
                </a:solidFill>
                <a:latin typeface="Calibri" pitchFamily="34" charset="0"/>
                <a:ea typeface="Calibri" pitchFamily="34" charset="-122"/>
                <a:cs typeface="Calibri" pitchFamily="34" charset="-120"/>
              </a:rPr>
              <a:t>nothing about the others</a:t>
            </a:r>
            <a:endParaRPr lang="en-US" sz="1100" dirty="0"/>
          </a:p>
        </p:txBody>
      </p:sp>
      <p:sp>
        <p:nvSpPr>
          <p:cNvPr id="16" name="Shape 14"/>
          <p:cNvSpPr/>
          <p:nvPr/>
        </p:nvSpPr>
        <p:spPr>
          <a:xfrm>
            <a:off x="4084168" y="4663440"/>
            <a:ext cx="365760" cy="0"/>
          </a:xfrm>
          <a:prstGeom prst="line">
            <a:avLst/>
          </a:prstGeom>
          <a:noFill/>
          <a:ln w="19050">
            <a:solidFill>
              <a:srgbClr val="B91C1C"/>
            </a:solidFill>
            <a:prstDash val="dash"/>
          </a:ln>
        </p:spPr>
      </p:sp>
      <p:sp>
        <p:nvSpPr>
          <p:cNvPr id="17" name="Text 15"/>
          <p:cNvSpPr/>
          <p:nvPr/>
        </p:nvSpPr>
        <p:spPr>
          <a:xfrm>
            <a:off x="4175608" y="4526280"/>
            <a:ext cx="182880" cy="274320"/>
          </a:xfrm>
          <a:prstGeom prst="rect">
            <a:avLst/>
          </a:prstGeom>
          <a:noFill/>
          <a:ln/>
        </p:spPr>
        <p:txBody>
          <a:bodyPr wrap="square" lIns="0" tIns="0" rIns="0" bIns="0" rtlCol="0" anchor="ctr"/>
          <a:lstStyle/>
          <a:p>
            <a:pPr algn="ctr" indent="0" marL="0">
              <a:buNone/>
            </a:pPr>
            <a:r>
              <a:rPr lang="en-US" sz="1600" b="1" dirty="0">
                <a:solidFill>
                  <a:srgbClr val="B91C1C"/>
                </a:solidFill>
                <a:latin typeface="Georgia" pitchFamily="34" charset="0"/>
                <a:ea typeface="Georgia" pitchFamily="34" charset="-122"/>
                <a:cs typeface="Georgia" pitchFamily="34" charset="-120"/>
              </a:rPr>
              <a:t>✕</a:t>
            </a:r>
            <a:endParaRPr lang="en-US" sz="1600" dirty="0"/>
          </a:p>
        </p:txBody>
      </p:sp>
      <p:sp>
        <p:nvSpPr>
          <p:cNvPr id="18" name="Shape 16"/>
          <p:cNvSpPr/>
          <p:nvPr/>
        </p:nvSpPr>
        <p:spPr>
          <a:xfrm>
            <a:off x="4495648" y="4023360"/>
            <a:ext cx="3200400" cy="1280160"/>
          </a:xfrm>
          <a:prstGeom prst="rect">
            <a:avLst/>
          </a:prstGeom>
          <a:solidFill>
            <a:srgbClr val="F8FAFC"/>
          </a:solidFill>
          <a:ln w="9525">
            <a:solidFill>
              <a:srgbClr val="E2E8F0"/>
            </a:solidFill>
            <a:prstDash val="solid"/>
          </a:ln>
        </p:spPr>
      </p:sp>
      <p:sp>
        <p:nvSpPr>
          <p:cNvPr id="19" name="Text 17"/>
          <p:cNvSpPr/>
          <p:nvPr/>
        </p:nvSpPr>
        <p:spPr>
          <a:xfrm>
            <a:off x="4495648" y="4160520"/>
            <a:ext cx="3200400" cy="36576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Call 2</a:t>
            </a:r>
            <a:endParaRPr lang="en-US" sz="1600" dirty="0"/>
          </a:p>
        </p:txBody>
      </p:sp>
      <p:sp>
        <p:nvSpPr>
          <p:cNvPr id="20" name="Text 18"/>
          <p:cNvSpPr/>
          <p:nvPr/>
        </p:nvSpPr>
        <p:spPr>
          <a:xfrm>
            <a:off x="4678528" y="4572000"/>
            <a:ext cx="2834640" cy="64008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the model knows</a:t>
            </a:r>
            <a:endParaRPr lang="en-US" sz="1100" dirty="0"/>
          </a:p>
          <a:p>
            <a:pPr algn="ctr" indent="0" marL="0">
              <a:buNone/>
            </a:pPr>
            <a:r>
              <a:rPr lang="en-US" sz="1100" i="1" dirty="0">
                <a:solidFill>
                  <a:srgbClr val="64748B"/>
                </a:solidFill>
                <a:latin typeface="Calibri" pitchFamily="34" charset="0"/>
                <a:ea typeface="Calibri" pitchFamily="34" charset="-122"/>
                <a:cs typeface="Calibri" pitchFamily="34" charset="-120"/>
              </a:rPr>
              <a:t>nothing about the others</a:t>
            </a:r>
            <a:endParaRPr lang="en-US" sz="1100" dirty="0"/>
          </a:p>
        </p:txBody>
      </p:sp>
      <p:sp>
        <p:nvSpPr>
          <p:cNvPr id="21" name="Shape 19"/>
          <p:cNvSpPr/>
          <p:nvPr/>
        </p:nvSpPr>
        <p:spPr>
          <a:xfrm>
            <a:off x="7741768" y="4663440"/>
            <a:ext cx="365760" cy="0"/>
          </a:xfrm>
          <a:prstGeom prst="line">
            <a:avLst/>
          </a:prstGeom>
          <a:noFill/>
          <a:ln w="19050">
            <a:solidFill>
              <a:srgbClr val="B91C1C"/>
            </a:solidFill>
            <a:prstDash val="dash"/>
          </a:ln>
        </p:spPr>
      </p:sp>
      <p:sp>
        <p:nvSpPr>
          <p:cNvPr id="22" name="Text 20"/>
          <p:cNvSpPr/>
          <p:nvPr/>
        </p:nvSpPr>
        <p:spPr>
          <a:xfrm>
            <a:off x="7833208" y="4526280"/>
            <a:ext cx="182880" cy="274320"/>
          </a:xfrm>
          <a:prstGeom prst="rect">
            <a:avLst/>
          </a:prstGeom>
          <a:noFill/>
          <a:ln/>
        </p:spPr>
        <p:txBody>
          <a:bodyPr wrap="square" lIns="0" tIns="0" rIns="0" bIns="0" rtlCol="0" anchor="ctr"/>
          <a:lstStyle/>
          <a:p>
            <a:pPr algn="ctr" indent="0" marL="0">
              <a:buNone/>
            </a:pPr>
            <a:r>
              <a:rPr lang="en-US" sz="1600" b="1" dirty="0">
                <a:solidFill>
                  <a:srgbClr val="B91C1C"/>
                </a:solidFill>
                <a:latin typeface="Georgia" pitchFamily="34" charset="0"/>
                <a:ea typeface="Georgia" pitchFamily="34" charset="-122"/>
                <a:cs typeface="Georgia" pitchFamily="34" charset="-120"/>
              </a:rPr>
              <a:t>✕</a:t>
            </a:r>
            <a:endParaRPr lang="en-US" sz="1600" dirty="0"/>
          </a:p>
        </p:txBody>
      </p:sp>
      <p:sp>
        <p:nvSpPr>
          <p:cNvPr id="23" name="Shape 21"/>
          <p:cNvSpPr/>
          <p:nvPr/>
        </p:nvSpPr>
        <p:spPr>
          <a:xfrm>
            <a:off x="8153248" y="4023360"/>
            <a:ext cx="3200400" cy="1280160"/>
          </a:xfrm>
          <a:prstGeom prst="rect">
            <a:avLst/>
          </a:prstGeom>
          <a:solidFill>
            <a:srgbClr val="F8FAFC"/>
          </a:solidFill>
          <a:ln w="9525">
            <a:solidFill>
              <a:srgbClr val="E2E8F0"/>
            </a:solidFill>
            <a:prstDash val="solid"/>
          </a:ln>
        </p:spPr>
      </p:sp>
      <p:sp>
        <p:nvSpPr>
          <p:cNvPr id="24" name="Text 22"/>
          <p:cNvSpPr/>
          <p:nvPr/>
        </p:nvSpPr>
        <p:spPr>
          <a:xfrm>
            <a:off x="8153248" y="4160520"/>
            <a:ext cx="3200400" cy="36576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Call 3</a:t>
            </a:r>
            <a:endParaRPr lang="en-US" sz="1600" dirty="0"/>
          </a:p>
        </p:txBody>
      </p:sp>
      <p:sp>
        <p:nvSpPr>
          <p:cNvPr id="25" name="Text 23"/>
          <p:cNvSpPr/>
          <p:nvPr/>
        </p:nvSpPr>
        <p:spPr>
          <a:xfrm>
            <a:off x="8336128" y="4572000"/>
            <a:ext cx="2834640" cy="64008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the model knows</a:t>
            </a:r>
            <a:endParaRPr lang="en-US" sz="1100" dirty="0"/>
          </a:p>
          <a:p>
            <a:pPr algn="ctr" indent="0" marL="0">
              <a:buNone/>
            </a:pPr>
            <a:r>
              <a:rPr lang="en-US" sz="1100" i="1" dirty="0">
                <a:solidFill>
                  <a:srgbClr val="64748B"/>
                </a:solidFill>
                <a:latin typeface="Calibri" pitchFamily="34" charset="0"/>
                <a:ea typeface="Calibri" pitchFamily="34" charset="-122"/>
                <a:cs typeface="Calibri" pitchFamily="34" charset="-120"/>
              </a:rPr>
              <a:t>nothing about the others</a:t>
            </a:r>
            <a:endParaRPr lang="en-US" sz="1100" dirty="0"/>
          </a:p>
        </p:txBody>
      </p:sp>
      <p:sp>
        <p:nvSpPr>
          <p:cNvPr id="26" name="Shape 24"/>
          <p:cNvSpPr/>
          <p:nvPr/>
        </p:nvSpPr>
        <p:spPr>
          <a:xfrm>
            <a:off x="502920" y="5532120"/>
            <a:ext cx="11155680" cy="731520"/>
          </a:xfrm>
          <a:prstGeom prst="rect">
            <a:avLst/>
          </a:prstGeom>
          <a:solidFill>
            <a:srgbClr val="F1F5F9"/>
          </a:solidFill>
          <a:ln w="12700">
            <a:solidFill>
              <a:srgbClr val="F1F5F9"/>
            </a:solidFill>
            <a:prstDash val="solid"/>
          </a:ln>
        </p:spPr>
      </p:sp>
      <p:sp>
        <p:nvSpPr>
          <p:cNvPr id="27" name="Shape 25"/>
          <p:cNvSpPr/>
          <p:nvPr/>
        </p:nvSpPr>
        <p:spPr>
          <a:xfrm>
            <a:off x="502920" y="5532120"/>
            <a:ext cx="45720" cy="731520"/>
          </a:xfrm>
          <a:prstGeom prst="rect">
            <a:avLst/>
          </a:prstGeom>
          <a:solidFill>
            <a:srgbClr val="B45309"/>
          </a:solidFill>
          <a:ln w="12700">
            <a:solidFill>
              <a:srgbClr val="B45309"/>
            </a:solidFill>
            <a:prstDash val="solid"/>
          </a:ln>
        </p:spPr>
      </p:sp>
      <p:sp>
        <p:nvSpPr>
          <p:cNvPr id="28" name="Text 26"/>
          <p:cNvSpPr/>
          <p:nvPr/>
        </p:nvSpPr>
        <p:spPr>
          <a:xfrm>
            <a:off x="685800" y="562356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BUT CHATGPT SEEMS TO REMEMBER</a:t>
            </a:r>
            <a:endParaRPr lang="en-US" sz="900" dirty="0"/>
          </a:p>
        </p:txBody>
      </p:sp>
      <p:sp>
        <p:nvSpPr>
          <p:cNvPr id="29" name="Text 27"/>
          <p:cNvSpPr/>
          <p:nvPr/>
        </p:nvSpPr>
        <p:spPr>
          <a:xfrm>
            <a:off x="685800" y="5824728"/>
            <a:ext cx="10881360" cy="34747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It does not. The UI is collecting the conversation history and submitting all of it on every request behind the scenes. That is not magic — it is resending history every time.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THE IMPLICATION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24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this means for your code</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endParaRPr lang="en-US" sz="1400" dirty="0"/>
          </a:p>
        </p:txBody>
      </p:sp>
      <p:sp>
        <p:nvSpPr>
          <p:cNvPr id="9" name="Shape 7"/>
          <p:cNvSpPr/>
          <p:nvPr/>
        </p:nvSpPr>
        <p:spPr>
          <a:xfrm>
            <a:off x="1371600" y="2560320"/>
            <a:ext cx="9418320" cy="45720"/>
          </a:xfrm>
          <a:prstGeom prst="rect">
            <a:avLst/>
          </a:prstGeom>
          <a:solidFill>
            <a:srgbClr val="B45309"/>
          </a:solidFill>
          <a:ln w="12700">
            <a:solidFill>
              <a:srgbClr val="B45309"/>
            </a:solidFill>
            <a:prstDash val="solid"/>
          </a:ln>
        </p:spPr>
      </p:sp>
      <p:sp>
        <p:nvSpPr>
          <p:cNvPr id="10" name="Text 8"/>
          <p:cNvSpPr/>
          <p:nvPr/>
        </p:nvSpPr>
        <p:spPr>
          <a:xfrm>
            <a:off x="1371600" y="2743200"/>
            <a:ext cx="9418320" cy="640080"/>
          </a:xfrm>
          <a:prstGeom prst="rect">
            <a:avLst/>
          </a:prstGeom>
          <a:noFill/>
          <a:ln/>
        </p:spPr>
        <p:txBody>
          <a:bodyPr wrap="square" lIns="0" tIns="0" rIns="0" bIns="0" rtlCol="0" anchor="ctr"/>
          <a:lstStyle/>
          <a:p>
            <a:pPr indent="0" marL="0">
              <a:buNone/>
            </a:pPr>
            <a:r>
              <a:rPr lang="en-US" sz="2600" dirty="0">
                <a:solidFill>
                  <a:srgbClr val="0F172A"/>
                </a:solidFill>
                <a:latin typeface="Georgia" pitchFamily="34" charset="0"/>
                <a:ea typeface="Georgia" pitchFamily="34" charset="-122"/>
                <a:cs typeface="Georgia" pitchFamily="34" charset="-120"/>
              </a:rPr>
              <a:t>If you want a multi-turn conversation,</a:t>
            </a:r>
            <a:endParaRPr lang="en-US" sz="2600" dirty="0"/>
          </a:p>
        </p:txBody>
      </p:sp>
      <p:sp>
        <p:nvSpPr>
          <p:cNvPr id="11" name="Text 9"/>
          <p:cNvSpPr/>
          <p:nvPr/>
        </p:nvSpPr>
        <p:spPr>
          <a:xfrm>
            <a:off x="1371600" y="3383280"/>
            <a:ext cx="9418320" cy="64008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your code is responsible for collecting the history</a:t>
            </a:r>
            <a:endParaRPr lang="en-US" sz="2600" dirty="0"/>
          </a:p>
        </p:txBody>
      </p:sp>
      <p:sp>
        <p:nvSpPr>
          <p:cNvPr id="12" name="Text 10"/>
          <p:cNvSpPr/>
          <p:nvPr/>
        </p:nvSpPr>
        <p:spPr>
          <a:xfrm>
            <a:off x="1371600" y="4023360"/>
            <a:ext cx="9418320" cy="640080"/>
          </a:xfrm>
          <a:prstGeom prst="rect">
            <a:avLst/>
          </a:prstGeom>
          <a:noFill/>
          <a:ln/>
        </p:spPr>
        <p:txBody>
          <a:bodyPr wrap="square" lIns="0" tIns="0" rIns="0" bIns="0" rtlCol="0" anchor="ctr"/>
          <a:lstStyle/>
          <a:p>
            <a:pPr indent="0" marL="0">
              <a:buNone/>
            </a:pPr>
            <a:r>
              <a:rPr lang="en-US" sz="2600" b="1" i="1" dirty="0">
                <a:solidFill>
                  <a:srgbClr val="B45309"/>
                </a:solidFill>
                <a:latin typeface="Georgia" pitchFamily="34" charset="0"/>
                <a:ea typeface="Georgia" pitchFamily="34" charset="-122"/>
                <a:cs typeface="Georgia" pitchFamily="34" charset="-120"/>
              </a:rPr>
              <a:t>and sending it back with every request.</a:t>
            </a:r>
            <a:endParaRPr lang="en-US" sz="2600" dirty="0"/>
          </a:p>
        </p:txBody>
      </p:sp>
      <p:sp>
        <p:nvSpPr>
          <p:cNvPr id="13" name="Shape 11"/>
          <p:cNvSpPr/>
          <p:nvPr/>
        </p:nvSpPr>
        <p:spPr>
          <a:xfrm>
            <a:off x="1371600" y="5120640"/>
            <a:ext cx="9418320" cy="1097280"/>
          </a:xfrm>
          <a:prstGeom prst="rect">
            <a:avLst/>
          </a:prstGeom>
          <a:solidFill>
            <a:srgbClr val="F1F5F9"/>
          </a:solidFill>
          <a:ln w="12700">
            <a:solidFill>
              <a:srgbClr val="F1F5F9"/>
            </a:solidFill>
            <a:prstDash val="solid"/>
          </a:ln>
        </p:spPr>
      </p:sp>
      <p:sp>
        <p:nvSpPr>
          <p:cNvPr id="14" name="Shape 12"/>
          <p:cNvSpPr/>
          <p:nvPr/>
        </p:nvSpPr>
        <p:spPr>
          <a:xfrm>
            <a:off x="1371600" y="5120640"/>
            <a:ext cx="45720" cy="1097280"/>
          </a:xfrm>
          <a:prstGeom prst="rect">
            <a:avLst/>
          </a:prstGeom>
          <a:solidFill>
            <a:srgbClr val="B45309"/>
          </a:solidFill>
          <a:ln w="12700">
            <a:solidFill>
              <a:srgbClr val="B45309"/>
            </a:solidFill>
            <a:prstDash val="solid"/>
          </a:ln>
        </p:spPr>
      </p:sp>
      <p:sp>
        <p:nvSpPr>
          <p:cNvPr id="15" name="Text 13"/>
          <p:cNvSpPr/>
          <p:nvPr/>
        </p:nvSpPr>
        <p:spPr>
          <a:xfrm>
            <a:off x="1554480" y="5212080"/>
            <a:ext cx="914400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THIS LOOKS LIKE</a:t>
            </a:r>
            <a:endParaRPr lang="en-US" sz="900" dirty="0"/>
          </a:p>
        </p:txBody>
      </p:sp>
      <p:sp>
        <p:nvSpPr>
          <p:cNvPr id="16" name="Text 14"/>
          <p:cNvSpPr/>
          <p:nvPr/>
        </p:nvSpPr>
        <p:spPr>
          <a:xfrm>
            <a:off x="1554480" y="5413248"/>
            <a:ext cx="9144000" cy="71323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You will maintain a `conversation_history` list. Before each call you append the user's new message. After each call you append the model's reply. Then you call again with the full list. We will see this on the next slides.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THE PATTERN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25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four-step pattern, on every turn</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Memorize this loop. It is the entire multi-turn algorithm.</a:t>
            </a:r>
            <a:endParaRPr lang="en-US" sz="1400" dirty="0"/>
          </a:p>
        </p:txBody>
      </p:sp>
      <p:sp>
        <p:nvSpPr>
          <p:cNvPr id="9" name="Shape 7"/>
          <p:cNvSpPr/>
          <p:nvPr/>
        </p:nvSpPr>
        <p:spPr>
          <a:xfrm>
            <a:off x="502920" y="2194560"/>
            <a:ext cx="11155680" cy="777240"/>
          </a:xfrm>
          <a:prstGeom prst="rect">
            <a:avLst/>
          </a:prstGeom>
          <a:solidFill>
            <a:srgbClr val="F8FAFC"/>
          </a:solidFill>
          <a:ln w="6350">
            <a:solidFill>
              <a:srgbClr val="E2E8F0"/>
            </a:solidFill>
            <a:prstDash val="solid"/>
          </a:ln>
        </p:spPr>
      </p:sp>
      <p:sp>
        <p:nvSpPr>
          <p:cNvPr id="10" name="Shape 8"/>
          <p:cNvSpPr/>
          <p:nvPr/>
        </p:nvSpPr>
        <p:spPr>
          <a:xfrm>
            <a:off x="731520" y="2340864"/>
            <a:ext cx="502920" cy="502920"/>
          </a:xfrm>
          <a:prstGeom prst="ellipse">
            <a:avLst/>
          </a:prstGeom>
          <a:solidFill>
            <a:srgbClr val="0F172A"/>
          </a:solidFill>
          <a:ln w="12700">
            <a:solidFill>
              <a:srgbClr val="0F172A"/>
            </a:solidFill>
            <a:prstDash val="solid"/>
          </a:ln>
        </p:spPr>
      </p:sp>
      <p:sp>
        <p:nvSpPr>
          <p:cNvPr id="11" name="Text 9"/>
          <p:cNvSpPr/>
          <p:nvPr/>
        </p:nvSpPr>
        <p:spPr>
          <a:xfrm>
            <a:off x="731520" y="234086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1508760" y="2304288"/>
            <a:ext cx="996696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Append the user's new message</a:t>
            </a:r>
            <a:endParaRPr lang="en-US" sz="1700" dirty="0"/>
          </a:p>
        </p:txBody>
      </p:sp>
      <p:sp>
        <p:nvSpPr>
          <p:cNvPr id="13" name="Text 11"/>
          <p:cNvSpPr/>
          <p:nvPr/>
        </p:nvSpPr>
        <p:spPr>
          <a:xfrm>
            <a:off x="1508760" y="2633472"/>
            <a:ext cx="9966960" cy="2743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to conversation_history</a:t>
            </a:r>
            <a:endParaRPr lang="en-US" sz="1200" dirty="0"/>
          </a:p>
        </p:txBody>
      </p:sp>
      <p:sp>
        <p:nvSpPr>
          <p:cNvPr id="14" name="Shape 12"/>
          <p:cNvSpPr/>
          <p:nvPr/>
        </p:nvSpPr>
        <p:spPr>
          <a:xfrm>
            <a:off x="502920" y="3063240"/>
            <a:ext cx="11155680" cy="777240"/>
          </a:xfrm>
          <a:prstGeom prst="rect">
            <a:avLst/>
          </a:prstGeom>
          <a:solidFill>
            <a:srgbClr val="F8FAFC"/>
          </a:solidFill>
          <a:ln w="6350">
            <a:solidFill>
              <a:srgbClr val="E2E8F0"/>
            </a:solidFill>
            <a:prstDash val="solid"/>
          </a:ln>
        </p:spPr>
      </p:sp>
      <p:sp>
        <p:nvSpPr>
          <p:cNvPr id="15" name="Shape 13"/>
          <p:cNvSpPr/>
          <p:nvPr/>
        </p:nvSpPr>
        <p:spPr>
          <a:xfrm>
            <a:off x="731520" y="3209544"/>
            <a:ext cx="502920" cy="502920"/>
          </a:xfrm>
          <a:prstGeom prst="ellipse">
            <a:avLst/>
          </a:prstGeom>
          <a:solidFill>
            <a:srgbClr val="0F172A"/>
          </a:solidFill>
          <a:ln w="12700">
            <a:solidFill>
              <a:srgbClr val="0F172A"/>
            </a:solidFill>
            <a:prstDash val="solid"/>
          </a:ln>
        </p:spPr>
      </p:sp>
      <p:sp>
        <p:nvSpPr>
          <p:cNvPr id="16" name="Text 14"/>
          <p:cNvSpPr/>
          <p:nvPr/>
        </p:nvSpPr>
        <p:spPr>
          <a:xfrm>
            <a:off x="731520" y="32095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Text 15"/>
          <p:cNvSpPr/>
          <p:nvPr/>
        </p:nvSpPr>
        <p:spPr>
          <a:xfrm>
            <a:off x="1508760" y="3172968"/>
            <a:ext cx="996696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Call Converse</a:t>
            </a:r>
            <a:endParaRPr lang="en-US" sz="1700" dirty="0"/>
          </a:p>
        </p:txBody>
      </p:sp>
      <p:sp>
        <p:nvSpPr>
          <p:cNvPr id="18" name="Text 16"/>
          <p:cNvSpPr/>
          <p:nvPr/>
        </p:nvSpPr>
        <p:spPr>
          <a:xfrm>
            <a:off x="1508760" y="3502152"/>
            <a:ext cx="9966960" cy="2743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with the full conversation_history</a:t>
            </a:r>
            <a:endParaRPr lang="en-US" sz="1200" dirty="0"/>
          </a:p>
        </p:txBody>
      </p:sp>
      <p:sp>
        <p:nvSpPr>
          <p:cNvPr id="19" name="Shape 17"/>
          <p:cNvSpPr/>
          <p:nvPr/>
        </p:nvSpPr>
        <p:spPr>
          <a:xfrm>
            <a:off x="502920" y="3931920"/>
            <a:ext cx="11155680" cy="777240"/>
          </a:xfrm>
          <a:prstGeom prst="rect">
            <a:avLst/>
          </a:prstGeom>
          <a:solidFill>
            <a:srgbClr val="F8FAFC"/>
          </a:solidFill>
          <a:ln w="6350">
            <a:solidFill>
              <a:srgbClr val="E2E8F0"/>
            </a:solidFill>
            <a:prstDash val="solid"/>
          </a:ln>
        </p:spPr>
      </p:sp>
      <p:sp>
        <p:nvSpPr>
          <p:cNvPr id="20" name="Shape 18"/>
          <p:cNvSpPr/>
          <p:nvPr/>
        </p:nvSpPr>
        <p:spPr>
          <a:xfrm>
            <a:off x="731520" y="4078224"/>
            <a:ext cx="502920" cy="502920"/>
          </a:xfrm>
          <a:prstGeom prst="ellipse">
            <a:avLst/>
          </a:prstGeom>
          <a:solidFill>
            <a:srgbClr val="0F172A"/>
          </a:solidFill>
          <a:ln w="12700">
            <a:solidFill>
              <a:srgbClr val="0F172A"/>
            </a:solidFill>
            <a:prstDash val="solid"/>
          </a:ln>
        </p:spPr>
      </p:sp>
      <p:sp>
        <p:nvSpPr>
          <p:cNvPr id="21" name="Text 19"/>
          <p:cNvSpPr/>
          <p:nvPr/>
        </p:nvSpPr>
        <p:spPr>
          <a:xfrm>
            <a:off x="731520" y="40782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2" name="Text 20"/>
          <p:cNvSpPr/>
          <p:nvPr/>
        </p:nvSpPr>
        <p:spPr>
          <a:xfrm>
            <a:off x="1508760" y="4041648"/>
            <a:ext cx="996696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Append the model's reply</a:t>
            </a:r>
            <a:endParaRPr lang="en-US" sz="1700" dirty="0"/>
          </a:p>
        </p:txBody>
      </p:sp>
      <p:sp>
        <p:nvSpPr>
          <p:cNvPr id="23" name="Text 21"/>
          <p:cNvSpPr/>
          <p:nvPr/>
        </p:nvSpPr>
        <p:spPr>
          <a:xfrm>
            <a:off x="1508760" y="4370832"/>
            <a:ext cx="9966960" cy="2743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to conversation_history</a:t>
            </a:r>
            <a:endParaRPr lang="en-US" sz="1200" dirty="0"/>
          </a:p>
        </p:txBody>
      </p:sp>
      <p:sp>
        <p:nvSpPr>
          <p:cNvPr id="24" name="Shape 22"/>
          <p:cNvSpPr/>
          <p:nvPr/>
        </p:nvSpPr>
        <p:spPr>
          <a:xfrm>
            <a:off x="502920" y="4800600"/>
            <a:ext cx="11155680" cy="777240"/>
          </a:xfrm>
          <a:prstGeom prst="rect">
            <a:avLst/>
          </a:prstGeom>
          <a:solidFill>
            <a:srgbClr val="FEF3C7"/>
          </a:solidFill>
          <a:ln w="6350">
            <a:solidFill>
              <a:srgbClr val="B45309"/>
            </a:solidFill>
            <a:prstDash val="solid"/>
          </a:ln>
        </p:spPr>
      </p:sp>
      <p:sp>
        <p:nvSpPr>
          <p:cNvPr id="25" name="Shape 23"/>
          <p:cNvSpPr/>
          <p:nvPr/>
        </p:nvSpPr>
        <p:spPr>
          <a:xfrm>
            <a:off x="731520" y="4946904"/>
            <a:ext cx="502920" cy="502920"/>
          </a:xfrm>
          <a:prstGeom prst="ellipse">
            <a:avLst/>
          </a:prstGeom>
          <a:solidFill>
            <a:srgbClr val="0F172A"/>
          </a:solidFill>
          <a:ln w="12700">
            <a:solidFill>
              <a:srgbClr val="0F172A"/>
            </a:solidFill>
            <a:prstDash val="solid"/>
          </a:ln>
        </p:spPr>
      </p:sp>
      <p:sp>
        <p:nvSpPr>
          <p:cNvPr id="26" name="Text 24"/>
          <p:cNvSpPr/>
          <p:nvPr/>
        </p:nvSpPr>
        <p:spPr>
          <a:xfrm>
            <a:off x="731520" y="49469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7" name="Text 25"/>
          <p:cNvSpPr/>
          <p:nvPr/>
        </p:nvSpPr>
        <p:spPr>
          <a:xfrm>
            <a:off x="1508760" y="4910328"/>
            <a:ext cx="996696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Repeat for the next turn</a:t>
            </a:r>
            <a:endParaRPr lang="en-US" sz="1700" dirty="0"/>
          </a:p>
        </p:txBody>
      </p:sp>
      <p:sp>
        <p:nvSpPr>
          <p:cNvPr id="28" name="Text 26"/>
          <p:cNvSpPr/>
          <p:nvPr/>
        </p:nvSpPr>
        <p:spPr>
          <a:xfrm>
            <a:off x="1508760" y="5239512"/>
            <a:ext cx="9966960" cy="2743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from step 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TURN 1</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26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Turn 1 — first user message, first response</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Build up the conversation_history list. Note: append user before call, append assistant after.</a:t>
            </a:r>
            <a:endParaRPr lang="en-US" sz="1400" dirty="0"/>
          </a:p>
        </p:txBody>
      </p:sp>
      <p:sp>
        <p:nvSpPr>
          <p:cNvPr id="9" name="Shape 7"/>
          <p:cNvSpPr/>
          <p:nvPr/>
        </p:nvSpPr>
        <p:spPr>
          <a:xfrm>
            <a:off x="502920" y="1874520"/>
            <a:ext cx="11155680" cy="4572000"/>
          </a:xfrm>
          <a:prstGeom prst="rect">
            <a:avLst/>
          </a:prstGeom>
          <a:solidFill>
            <a:srgbClr val="0F172A"/>
          </a:solidFill>
          <a:ln w="12700">
            <a:solidFill>
              <a:srgbClr val="0F172A"/>
            </a:solidFill>
            <a:prstDash val="solid"/>
          </a:ln>
        </p:spPr>
      </p:sp>
      <p:sp>
        <p:nvSpPr>
          <p:cNvPr id="10" name="Text 8"/>
          <p:cNvSpPr/>
          <p:nvPr/>
        </p:nvSpPr>
        <p:spPr>
          <a:xfrm>
            <a:off x="667512" y="1984248"/>
            <a:ext cx="10826496" cy="4352544"/>
          </a:xfrm>
          <a:prstGeom prst="rect">
            <a:avLst/>
          </a:prstGeom>
          <a:noFill/>
          <a:ln/>
        </p:spPr>
        <p:txBody>
          <a:bodyPr wrap="square" lIns="0" tIns="0" rIns="0" bIns="0" rtlCol="0" anchor="t"/>
          <a:lstStyle/>
          <a:p>
            <a:pPr indent="0" marL="0">
              <a:buNone/>
            </a:pPr>
            <a:r>
              <a:rPr lang="en-US" sz="1050" dirty="0">
                <a:solidFill>
                  <a:srgbClr val="E2E8F0"/>
                </a:solidFill>
                <a:latin typeface="Consolas" pitchFamily="34" charset="0"/>
                <a:ea typeface="Consolas" pitchFamily="34" charset="-122"/>
                <a:cs typeface="Consolas" pitchFamily="34" charset="-120"/>
              </a:rPr>
              <a:t>conversation_history =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Turn 1 — user asks for a recipe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user_message_1 = "Suggest a quick dinner recipe with chicken."</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conversation_history.append({</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"role": "user",</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"content": [{"text": user_message_1}]</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response_1 = bedrock_runtime.converse(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modelId=model_id,</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system=system_prompt,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messages=conversation_history,</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inferenceConfig={"temperature": 0.7, "maxTokens": 200}</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assistant_message_1 = response_1['output']['message']['content'][0]['text']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Add assistant's response to history</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conversation_history.append({</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"role": "assistant",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"content": [{"text": assistant_message_1}]</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TURN 2</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27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Turn 2 — follow-up only works because of history</a:t>
            </a:r>
            <a:endParaRPr lang="en-US" sz="28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"Make it vegetarian" only resolves because turn 1 is in the array. Take it out, the model has no idea what "it" is.</a:t>
            </a:r>
            <a:endParaRPr lang="en-US" sz="1400" dirty="0"/>
          </a:p>
        </p:txBody>
      </p:sp>
      <p:sp>
        <p:nvSpPr>
          <p:cNvPr id="9" name="Shape 7"/>
          <p:cNvSpPr/>
          <p:nvPr/>
        </p:nvSpPr>
        <p:spPr>
          <a:xfrm>
            <a:off x="502920" y="2103120"/>
            <a:ext cx="11155680" cy="4114800"/>
          </a:xfrm>
          <a:prstGeom prst="rect">
            <a:avLst/>
          </a:prstGeom>
          <a:solidFill>
            <a:srgbClr val="0F172A"/>
          </a:solidFill>
          <a:ln w="12700">
            <a:solidFill>
              <a:srgbClr val="0F172A"/>
            </a:solidFill>
            <a:prstDash val="solid"/>
          </a:ln>
        </p:spPr>
      </p:sp>
      <p:sp>
        <p:nvSpPr>
          <p:cNvPr id="10" name="Text 8"/>
          <p:cNvSpPr/>
          <p:nvPr/>
        </p:nvSpPr>
        <p:spPr>
          <a:xfrm>
            <a:off x="667512" y="2212848"/>
            <a:ext cx="10826496" cy="3895344"/>
          </a:xfrm>
          <a:prstGeom prst="rect">
            <a:avLst/>
          </a:prstGeom>
          <a:noFill/>
          <a:ln/>
        </p:spPr>
        <p:txBody>
          <a:bodyPr wrap="square" lIns="0" tIns="0" rIns="0" bIns="0"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Turn 2 — pronoun-heavy follow-up</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user_message_2 = "Can you make it vegetarian instead?"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conversation_history.append({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"role": "user",</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"content": [{"text": user_message_2}]</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response_2 = bedrock_runtime.converse(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modelId=model_id,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system=system_prompt,</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messages=conversation_history,    # &lt;-- the full history is sent again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inferenceConfig={"temperature": 0.7, "maxTokens": 200}</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assistant_message_2 = response_2['output']['message']['content'][0]['text']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conversation_history.append({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"role": "assistant",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"content": [{"text": assistant_message_2}]</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WHAT THE LIST LOOKS LIKE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28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How conversation_history grows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 turn adds two entries — user and assistant. By turn 3 the list is five messages long.</a:t>
            </a:r>
            <a:endParaRPr lang="en-US" sz="1400" dirty="0"/>
          </a:p>
        </p:txBody>
      </p:sp>
      <p:sp>
        <p:nvSpPr>
          <p:cNvPr id="9" name="Shape 7"/>
          <p:cNvSpPr/>
          <p:nvPr/>
        </p:nvSpPr>
        <p:spPr>
          <a:xfrm>
            <a:off x="472288" y="2286000"/>
            <a:ext cx="3657600" cy="3657600"/>
          </a:xfrm>
          <a:prstGeom prst="rect">
            <a:avLst/>
          </a:prstGeom>
          <a:solidFill>
            <a:srgbClr val="F8FAFC"/>
          </a:solidFill>
          <a:ln w="6350">
            <a:solidFill>
              <a:srgbClr val="E2E8F0"/>
            </a:solidFill>
            <a:prstDash val="solid"/>
          </a:ln>
        </p:spPr>
      </p:sp>
      <p:sp>
        <p:nvSpPr>
          <p:cNvPr id="10" name="Text 8"/>
          <p:cNvSpPr/>
          <p:nvPr/>
        </p:nvSpPr>
        <p:spPr>
          <a:xfrm>
            <a:off x="472288" y="2423160"/>
            <a:ext cx="3657600" cy="274320"/>
          </a:xfrm>
          <a:prstGeom prst="rect">
            <a:avLst/>
          </a:prstGeom>
          <a:noFill/>
          <a:ln/>
        </p:spPr>
        <p:txBody>
          <a:bodyPr wrap="square" lIns="0" tIns="0" rIns="0" bIns="0" rtlCol="0" anchor="ctr"/>
          <a:lstStyle/>
          <a:p>
            <a:pPr algn="ctr" indent="0" marL="0">
              <a:buNone/>
            </a:pPr>
            <a:r>
              <a:rPr lang="en-US" sz="1000" b="1" spc="300" kern="0" dirty="0">
                <a:solidFill>
                  <a:srgbClr val="64748B"/>
                </a:solidFill>
                <a:latin typeface="Calibri" pitchFamily="34" charset="0"/>
                <a:ea typeface="Calibri" pitchFamily="34" charset="-122"/>
                <a:cs typeface="Calibri" pitchFamily="34" charset="-120"/>
              </a:rPr>
              <a:t>AFTER TURN 1</a:t>
            </a:r>
            <a:endParaRPr lang="en-US" sz="1000" dirty="0"/>
          </a:p>
        </p:txBody>
      </p:sp>
      <p:sp>
        <p:nvSpPr>
          <p:cNvPr id="11" name="Shape 9"/>
          <p:cNvSpPr/>
          <p:nvPr/>
        </p:nvSpPr>
        <p:spPr>
          <a:xfrm>
            <a:off x="609448" y="2788920"/>
            <a:ext cx="640080" cy="292608"/>
          </a:xfrm>
          <a:prstGeom prst="roundRect">
            <a:avLst>
              <a:gd name="adj" fmla="val 12500"/>
            </a:avLst>
          </a:prstGeom>
          <a:solidFill>
            <a:srgbClr val="0F172A"/>
          </a:solidFill>
          <a:ln w="12700">
            <a:solidFill>
              <a:srgbClr val="0F172A"/>
            </a:solidFill>
            <a:prstDash val="solid"/>
          </a:ln>
        </p:spPr>
      </p:sp>
      <p:sp>
        <p:nvSpPr>
          <p:cNvPr id="12" name="Text 10"/>
          <p:cNvSpPr/>
          <p:nvPr/>
        </p:nvSpPr>
        <p:spPr>
          <a:xfrm>
            <a:off x="609448" y="278892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13" name="Text 11"/>
          <p:cNvSpPr/>
          <p:nvPr/>
        </p:nvSpPr>
        <p:spPr>
          <a:xfrm>
            <a:off x="1340968" y="278892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"Suggest a chicken recipe..."</a:t>
            </a:r>
            <a:endParaRPr lang="en-US" sz="1000" dirty="0"/>
          </a:p>
        </p:txBody>
      </p:sp>
      <p:sp>
        <p:nvSpPr>
          <p:cNvPr id="14" name="Shape 12"/>
          <p:cNvSpPr/>
          <p:nvPr/>
        </p:nvSpPr>
        <p:spPr>
          <a:xfrm>
            <a:off x="609448" y="3291840"/>
            <a:ext cx="640080" cy="292608"/>
          </a:xfrm>
          <a:prstGeom prst="roundRect">
            <a:avLst>
              <a:gd name="adj" fmla="val 12500"/>
            </a:avLst>
          </a:prstGeom>
          <a:solidFill>
            <a:srgbClr val="B45309"/>
          </a:solidFill>
          <a:ln w="12700">
            <a:solidFill>
              <a:srgbClr val="B45309"/>
            </a:solidFill>
            <a:prstDash val="solid"/>
          </a:ln>
        </p:spPr>
      </p:sp>
      <p:sp>
        <p:nvSpPr>
          <p:cNvPr id="15" name="Text 13"/>
          <p:cNvSpPr/>
          <p:nvPr/>
        </p:nvSpPr>
        <p:spPr>
          <a:xfrm>
            <a:off x="609448" y="329184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asst</a:t>
            </a:r>
            <a:endParaRPr lang="en-US" sz="900" dirty="0"/>
          </a:p>
        </p:txBody>
      </p:sp>
      <p:sp>
        <p:nvSpPr>
          <p:cNvPr id="16" name="Text 14"/>
          <p:cNvSpPr/>
          <p:nvPr/>
        </p:nvSpPr>
        <p:spPr>
          <a:xfrm>
            <a:off x="1340968" y="329184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recipe suggestion</a:t>
            </a:r>
            <a:endParaRPr lang="en-US" sz="1000" dirty="0"/>
          </a:p>
        </p:txBody>
      </p:sp>
      <p:sp>
        <p:nvSpPr>
          <p:cNvPr id="17" name="Shape 15"/>
          <p:cNvSpPr/>
          <p:nvPr/>
        </p:nvSpPr>
        <p:spPr>
          <a:xfrm>
            <a:off x="4267048" y="2286000"/>
            <a:ext cx="3657600" cy="3657600"/>
          </a:xfrm>
          <a:prstGeom prst="rect">
            <a:avLst/>
          </a:prstGeom>
          <a:solidFill>
            <a:srgbClr val="F8FAFC"/>
          </a:solidFill>
          <a:ln w="6350">
            <a:solidFill>
              <a:srgbClr val="E2E8F0"/>
            </a:solidFill>
            <a:prstDash val="solid"/>
          </a:ln>
        </p:spPr>
      </p:sp>
      <p:sp>
        <p:nvSpPr>
          <p:cNvPr id="18" name="Text 16"/>
          <p:cNvSpPr/>
          <p:nvPr/>
        </p:nvSpPr>
        <p:spPr>
          <a:xfrm>
            <a:off x="4267048" y="2423160"/>
            <a:ext cx="3657600" cy="274320"/>
          </a:xfrm>
          <a:prstGeom prst="rect">
            <a:avLst/>
          </a:prstGeom>
          <a:noFill/>
          <a:ln/>
        </p:spPr>
        <p:txBody>
          <a:bodyPr wrap="square" lIns="0" tIns="0" rIns="0" bIns="0" rtlCol="0" anchor="ctr"/>
          <a:lstStyle/>
          <a:p>
            <a:pPr algn="ctr" indent="0" marL="0">
              <a:buNone/>
            </a:pPr>
            <a:r>
              <a:rPr lang="en-US" sz="1000" b="1" spc="300" kern="0" dirty="0">
                <a:solidFill>
                  <a:srgbClr val="64748B"/>
                </a:solidFill>
                <a:latin typeface="Calibri" pitchFamily="34" charset="0"/>
                <a:ea typeface="Calibri" pitchFamily="34" charset="-122"/>
                <a:cs typeface="Calibri" pitchFamily="34" charset="-120"/>
              </a:rPr>
              <a:t>AFTER TURN 2</a:t>
            </a:r>
            <a:endParaRPr lang="en-US" sz="1000" dirty="0"/>
          </a:p>
        </p:txBody>
      </p:sp>
      <p:sp>
        <p:nvSpPr>
          <p:cNvPr id="19" name="Shape 17"/>
          <p:cNvSpPr/>
          <p:nvPr/>
        </p:nvSpPr>
        <p:spPr>
          <a:xfrm>
            <a:off x="4404208" y="2788920"/>
            <a:ext cx="640080" cy="292608"/>
          </a:xfrm>
          <a:prstGeom prst="roundRect">
            <a:avLst>
              <a:gd name="adj" fmla="val 12500"/>
            </a:avLst>
          </a:prstGeom>
          <a:solidFill>
            <a:srgbClr val="0F172A"/>
          </a:solidFill>
          <a:ln w="12700">
            <a:solidFill>
              <a:srgbClr val="0F172A"/>
            </a:solidFill>
            <a:prstDash val="solid"/>
          </a:ln>
        </p:spPr>
      </p:sp>
      <p:sp>
        <p:nvSpPr>
          <p:cNvPr id="20" name="Text 18"/>
          <p:cNvSpPr/>
          <p:nvPr/>
        </p:nvSpPr>
        <p:spPr>
          <a:xfrm>
            <a:off x="4404208" y="278892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21" name="Text 19"/>
          <p:cNvSpPr/>
          <p:nvPr/>
        </p:nvSpPr>
        <p:spPr>
          <a:xfrm>
            <a:off x="5135728" y="278892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"Suggest a chicken recipe..."</a:t>
            </a:r>
            <a:endParaRPr lang="en-US" sz="1000" dirty="0"/>
          </a:p>
        </p:txBody>
      </p:sp>
      <p:sp>
        <p:nvSpPr>
          <p:cNvPr id="22" name="Shape 20"/>
          <p:cNvSpPr/>
          <p:nvPr/>
        </p:nvSpPr>
        <p:spPr>
          <a:xfrm>
            <a:off x="4404208" y="3291840"/>
            <a:ext cx="640080" cy="292608"/>
          </a:xfrm>
          <a:prstGeom prst="roundRect">
            <a:avLst>
              <a:gd name="adj" fmla="val 12500"/>
            </a:avLst>
          </a:prstGeom>
          <a:solidFill>
            <a:srgbClr val="B45309"/>
          </a:solidFill>
          <a:ln w="12700">
            <a:solidFill>
              <a:srgbClr val="B45309"/>
            </a:solidFill>
            <a:prstDash val="solid"/>
          </a:ln>
        </p:spPr>
      </p:sp>
      <p:sp>
        <p:nvSpPr>
          <p:cNvPr id="23" name="Text 21"/>
          <p:cNvSpPr/>
          <p:nvPr/>
        </p:nvSpPr>
        <p:spPr>
          <a:xfrm>
            <a:off x="4404208" y="329184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asst</a:t>
            </a:r>
            <a:endParaRPr lang="en-US" sz="900" dirty="0"/>
          </a:p>
        </p:txBody>
      </p:sp>
      <p:sp>
        <p:nvSpPr>
          <p:cNvPr id="24" name="Text 22"/>
          <p:cNvSpPr/>
          <p:nvPr/>
        </p:nvSpPr>
        <p:spPr>
          <a:xfrm>
            <a:off x="5135728" y="329184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recipe suggestion</a:t>
            </a:r>
            <a:endParaRPr lang="en-US" sz="1000" dirty="0"/>
          </a:p>
        </p:txBody>
      </p:sp>
      <p:sp>
        <p:nvSpPr>
          <p:cNvPr id="25" name="Shape 23"/>
          <p:cNvSpPr/>
          <p:nvPr/>
        </p:nvSpPr>
        <p:spPr>
          <a:xfrm>
            <a:off x="4404208" y="3794760"/>
            <a:ext cx="640080" cy="292608"/>
          </a:xfrm>
          <a:prstGeom prst="roundRect">
            <a:avLst>
              <a:gd name="adj" fmla="val 12500"/>
            </a:avLst>
          </a:prstGeom>
          <a:solidFill>
            <a:srgbClr val="0F172A"/>
          </a:solidFill>
          <a:ln w="12700">
            <a:solidFill>
              <a:srgbClr val="0F172A"/>
            </a:solidFill>
            <a:prstDash val="solid"/>
          </a:ln>
        </p:spPr>
      </p:sp>
      <p:sp>
        <p:nvSpPr>
          <p:cNvPr id="26" name="Text 24"/>
          <p:cNvSpPr/>
          <p:nvPr/>
        </p:nvSpPr>
        <p:spPr>
          <a:xfrm>
            <a:off x="4404208" y="379476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27" name="Text 25"/>
          <p:cNvSpPr/>
          <p:nvPr/>
        </p:nvSpPr>
        <p:spPr>
          <a:xfrm>
            <a:off x="5135728" y="379476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"Can you make it vegetarian?"</a:t>
            </a:r>
            <a:endParaRPr lang="en-US" sz="1000" dirty="0"/>
          </a:p>
        </p:txBody>
      </p:sp>
      <p:sp>
        <p:nvSpPr>
          <p:cNvPr id="28" name="Shape 26"/>
          <p:cNvSpPr/>
          <p:nvPr/>
        </p:nvSpPr>
        <p:spPr>
          <a:xfrm>
            <a:off x="4404208" y="4297680"/>
            <a:ext cx="640080" cy="292608"/>
          </a:xfrm>
          <a:prstGeom prst="roundRect">
            <a:avLst>
              <a:gd name="adj" fmla="val 12500"/>
            </a:avLst>
          </a:prstGeom>
          <a:solidFill>
            <a:srgbClr val="B45309"/>
          </a:solidFill>
          <a:ln w="12700">
            <a:solidFill>
              <a:srgbClr val="B45309"/>
            </a:solidFill>
            <a:prstDash val="solid"/>
          </a:ln>
        </p:spPr>
      </p:sp>
      <p:sp>
        <p:nvSpPr>
          <p:cNvPr id="29" name="Text 27"/>
          <p:cNvSpPr/>
          <p:nvPr/>
        </p:nvSpPr>
        <p:spPr>
          <a:xfrm>
            <a:off x="4404208" y="429768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asst</a:t>
            </a:r>
            <a:endParaRPr lang="en-US" sz="900" dirty="0"/>
          </a:p>
        </p:txBody>
      </p:sp>
      <p:sp>
        <p:nvSpPr>
          <p:cNvPr id="30" name="Text 28"/>
          <p:cNvSpPr/>
          <p:nvPr/>
        </p:nvSpPr>
        <p:spPr>
          <a:xfrm>
            <a:off x="5135728" y="429768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vegetarian swap</a:t>
            </a:r>
            <a:endParaRPr lang="en-US" sz="1000" dirty="0"/>
          </a:p>
        </p:txBody>
      </p:sp>
      <p:sp>
        <p:nvSpPr>
          <p:cNvPr id="31" name="Shape 29"/>
          <p:cNvSpPr/>
          <p:nvPr/>
        </p:nvSpPr>
        <p:spPr>
          <a:xfrm>
            <a:off x="8061808" y="2286000"/>
            <a:ext cx="3657600" cy="3657600"/>
          </a:xfrm>
          <a:prstGeom prst="rect">
            <a:avLst/>
          </a:prstGeom>
          <a:solidFill>
            <a:srgbClr val="FEF3C7"/>
          </a:solidFill>
          <a:ln w="12700">
            <a:solidFill>
              <a:srgbClr val="B45309"/>
            </a:solidFill>
            <a:prstDash val="solid"/>
          </a:ln>
        </p:spPr>
      </p:sp>
      <p:sp>
        <p:nvSpPr>
          <p:cNvPr id="32" name="Text 30"/>
          <p:cNvSpPr/>
          <p:nvPr/>
        </p:nvSpPr>
        <p:spPr>
          <a:xfrm>
            <a:off x="8061808" y="2423160"/>
            <a:ext cx="3657600" cy="274320"/>
          </a:xfrm>
          <a:prstGeom prst="rect">
            <a:avLst/>
          </a:prstGeom>
          <a:noFill/>
          <a:ln/>
        </p:spPr>
        <p:txBody>
          <a:bodyPr wrap="square" lIns="0" tIns="0" rIns="0" bIns="0" rtlCol="0" anchor="ctr"/>
          <a:lstStyle/>
          <a:p>
            <a:pPr algn="ctr" indent="0" marL="0">
              <a:buNone/>
            </a:pPr>
            <a:r>
              <a:rPr lang="en-US" sz="1000" b="1" spc="300" kern="0" dirty="0">
                <a:solidFill>
                  <a:srgbClr val="B45309"/>
                </a:solidFill>
                <a:latin typeface="Calibri" pitchFamily="34" charset="0"/>
                <a:ea typeface="Calibri" pitchFamily="34" charset="-122"/>
                <a:cs typeface="Calibri" pitchFamily="34" charset="-120"/>
              </a:rPr>
              <a:t>AFTER TURN 3</a:t>
            </a:r>
            <a:endParaRPr lang="en-US" sz="1000" dirty="0"/>
          </a:p>
        </p:txBody>
      </p:sp>
      <p:sp>
        <p:nvSpPr>
          <p:cNvPr id="33" name="Shape 31"/>
          <p:cNvSpPr/>
          <p:nvPr/>
        </p:nvSpPr>
        <p:spPr>
          <a:xfrm>
            <a:off x="8198968" y="2788920"/>
            <a:ext cx="640080" cy="292608"/>
          </a:xfrm>
          <a:prstGeom prst="roundRect">
            <a:avLst>
              <a:gd name="adj" fmla="val 12500"/>
            </a:avLst>
          </a:prstGeom>
          <a:solidFill>
            <a:srgbClr val="0F172A"/>
          </a:solidFill>
          <a:ln w="12700">
            <a:solidFill>
              <a:srgbClr val="0F172A"/>
            </a:solidFill>
            <a:prstDash val="solid"/>
          </a:ln>
        </p:spPr>
      </p:sp>
      <p:sp>
        <p:nvSpPr>
          <p:cNvPr id="34" name="Text 32"/>
          <p:cNvSpPr/>
          <p:nvPr/>
        </p:nvSpPr>
        <p:spPr>
          <a:xfrm>
            <a:off x="8198968" y="278892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35" name="Text 33"/>
          <p:cNvSpPr/>
          <p:nvPr/>
        </p:nvSpPr>
        <p:spPr>
          <a:xfrm>
            <a:off x="8930488" y="278892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"Suggest a chicken recipe..."</a:t>
            </a:r>
            <a:endParaRPr lang="en-US" sz="1000" dirty="0"/>
          </a:p>
        </p:txBody>
      </p:sp>
      <p:sp>
        <p:nvSpPr>
          <p:cNvPr id="36" name="Shape 34"/>
          <p:cNvSpPr/>
          <p:nvPr/>
        </p:nvSpPr>
        <p:spPr>
          <a:xfrm>
            <a:off x="8198968" y="3291840"/>
            <a:ext cx="640080" cy="292608"/>
          </a:xfrm>
          <a:prstGeom prst="roundRect">
            <a:avLst>
              <a:gd name="adj" fmla="val 12500"/>
            </a:avLst>
          </a:prstGeom>
          <a:solidFill>
            <a:srgbClr val="B45309"/>
          </a:solidFill>
          <a:ln w="12700">
            <a:solidFill>
              <a:srgbClr val="B45309"/>
            </a:solidFill>
            <a:prstDash val="solid"/>
          </a:ln>
        </p:spPr>
      </p:sp>
      <p:sp>
        <p:nvSpPr>
          <p:cNvPr id="37" name="Text 35"/>
          <p:cNvSpPr/>
          <p:nvPr/>
        </p:nvSpPr>
        <p:spPr>
          <a:xfrm>
            <a:off x="8198968" y="329184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asst</a:t>
            </a:r>
            <a:endParaRPr lang="en-US" sz="900" dirty="0"/>
          </a:p>
        </p:txBody>
      </p:sp>
      <p:sp>
        <p:nvSpPr>
          <p:cNvPr id="38" name="Text 36"/>
          <p:cNvSpPr/>
          <p:nvPr/>
        </p:nvSpPr>
        <p:spPr>
          <a:xfrm>
            <a:off x="8930488" y="329184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recipe suggestion</a:t>
            </a:r>
            <a:endParaRPr lang="en-US" sz="1000" dirty="0"/>
          </a:p>
        </p:txBody>
      </p:sp>
      <p:sp>
        <p:nvSpPr>
          <p:cNvPr id="39" name="Shape 37"/>
          <p:cNvSpPr/>
          <p:nvPr/>
        </p:nvSpPr>
        <p:spPr>
          <a:xfrm>
            <a:off x="8198968" y="3794760"/>
            <a:ext cx="640080" cy="292608"/>
          </a:xfrm>
          <a:prstGeom prst="roundRect">
            <a:avLst>
              <a:gd name="adj" fmla="val 12500"/>
            </a:avLst>
          </a:prstGeom>
          <a:solidFill>
            <a:srgbClr val="0F172A"/>
          </a:solidFill>
          <a:ln w="12700">
            <a:solidFill>
              <a:srgbClr val="0F172A"/>
            </a:solidFill>
            <a:prstDash val="solid"/>
          </a:ln>
        </p:spPr>
      </p:sp>
      <p:sp>
        <p:nvSpPr>
          <p:cNvPr id="40" name="Text 38"/>
          <p:cNvSpPr/>
          <p:nvPr/>
        </p:nvSpPr>
        <p:spPr>
          <a:xfrm>
            <a:off x="8198968" y="379476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41" name="Text 39"/>
          <p:cNvSpPr/>
          <p:nvPr/>
        </p:nvSpPr>
        <p:spPr>
          <a:xfrm>
            <a:off x="8930488" y="379476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"Can you make it vegetarian?"</a:t>
            </a:r>
            <a:endParaRPr lang="en-US" sz="1000" dirty="0"/>
          </a:p>
        </p:txBody>
      </p:sp>
      <p:sp>
        <p:nvSpPr>
          <p:cNvPr id="42" name="Shape 40"/>
          <p:cNvSpPr/>
          <p:nvPr/>
        </p:nvSpPr>
        <p:spPr>
          <a:xfrm>
            <a:off x="8198968" y="4297680"/>
            <a:ext cx="640080" cy="292608"/>
          </a:xfrm>
          <a:prstGeom prst="roundRect">
            <a:avLst>
              <a:gd name="adj" fmla="val 12500"/>
            </a:avLst>
          </a:prstGeom>
          <a:solidFill>
            <a:srgbClr val="B45309"/>
          </a:solidFill>
          <a:ln w="12700">
            <a:solidFill>
              <a:srgbClr val="B45309"/>
            </a:solidFill>
            <a:prstDash val="solid"/>
          </a:ln>
        </p:spPr>
      </p:sp>
      <p:sp>
        <p:nvSpPr>
          <p:cNvPr id="43" name="Text 41"/>
          <p:cNvSpPr/>
          <p:nvPr/>
        </p:nvSpPr>
        <p:spPr>
          <a:xfrm>
            <a:off x="8198968" y="429768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asst</a:t>
            </a:r>
            <a:endParaRPr lang="en-US" sz="900" dirty="0"/>
          </a:p>
        </p:txBody>
      </p:sp>
      <p:sp>
        <p:nvSpPr>
          <p:cNvPr id="44" name="Text 42"/>
          <p:cNvSpPr/>
          <p:nvPr/>
        </p:nvSpPr>
        <p:spPr>
          <a:xfrm>
            <a:off x="8930488" y="429768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vegetarian swap</a:t>
            </a:r>
            <a:endParaRPr lang="en-US" sz="1000" dirty="0"/>
          </a:p>
        </p:txBody>
      </p:sp>
      <p:sp>
        <p:nvSpPr>
          <p:cNvPr id="45" name="Shape 43"/>
          <p:cNvSpPr/>
          <p:nvPr/>
        </p:nvSpPr>
        <p:spPr>
          <a:xfrm>
            <a:off x="8198968" y="4800600"/>
            <a:ext cx="640080" cy="292608"/>
          </a:xfrm>
          <a:prstGeom prst="roundRect">
            <a:avLst>
              <a:gd name="adj" fmla="val 12500"/>
            </a:avLst>
          </a:prstGeom>
          <a:solidFill>
            <a:srgbClr val="0F172A"/>
          </a:solidFill>
          <a:ln w="12700">
            <a:solidFill>
              <a:srgbClr val="0F172A"/>
            </a:solidFill>
            <a:prstDash val="solid"/>
          </a:ln>
        </p:spPr>
      </p:sp>
      <p:sp>
        <p:nvSpPr>
          <p:cNvPr id="46" name="Text 44"/>
          <p:cNvSpPr/>
          <p:nvPr/>
        </p:nvSpPr>
        <p:spPr>
          <a:xfrm>
            <a:off x="8198968" y="480060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47" name="Text 45"/>
          <p:cNvSpPr/>
          <p:nvPr/>
        </p:nvSpPr>
        <p:spPr>
          <a:xfrm>
            <a:off x="8930488" y="480060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"How long to prepare?"</a:t>
            </a:r>
            <a:endParaRPr lang="en-US" sz="1000" dirty="0"/>
          </a:p>
        </p:txBody>
      </p:sp>
      <p:sp>
        <p:nvSpPr>
          <p:cNvPr id="48" name="Shape 46"/>
          <p:cNvSpPr/>
          <p:nvPr/>
        </p:nvSpPr>
        <p:spPr>
          <a:xfrm>
            <a:off x="8198968" y="5303520"/>
            <a:ext cx="640080" cy="292608"/>
          </a:xfrm>
          <a:prstGeom prst="roundRect">
            <a:avLst>
              <a:gd name="adj" fmla="val 12500"/>
            </a:avLst>
          </a:prstGeom>
          <a:solidFill>
            <a:srgbClr val="B45309"/>
          </a:solidFill>
          <a:ln w="12700">
            <a:solidFill>
              <a:srgbClr val="B45309"/>
            </a:solidFill>
            <a:prstDash val="solid"/>
          </a:ln>
        </p:spPr>
      </p:sp>
      <p:sp>
        <p:nvSpPr>
          <p:cNvPr id="49" name="Text 47"/>
          <p:cNvSpPr/>
          <p:nvPr/>
        </p:nvSpPr>
        <p:spPr>
          <a:xfrm>
            <a:off x="8198968" y="5303520"/>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asst</a:t>
            </a:r>
            <a:endParaRPr lang="en-US" sz="900" dirty="0"/>
          </a:p>
        </p:txBody>
      </p:sp>
      <p:sp>
        <p:nvSpPr>
          <p:cNvPr id="50" name="Text 48"/>
          <p:cNvSpPr/>
          <p:nvPr/>
        </p:nvSpPr>
        <p:spPr>
          <a:xfrm>
            <a:off x="8930488" y="5303520"/>
            <a:ext cx="2651760" cy="292608"/>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timing</a:t>
            </a:r>
            <a:endParaRPr lang="en-US" sz="1000" dirty="0"/>
          </a:p>
        </p:txBody>
      </p:sp>
      <p:sp>
        <p:nvSpPr>
          <p:cNvPr id="51" name="Shape 49"/>
          <p:cNvSpPr/>
          <p:nvPr/>
        </p:nvSpPr>
        <p:spPr>
          <a:xfrm>
            <a:off x="502920" y="5989320"/>
            <a:ext cx="11155680" cy="365760"/>
          </a:xfrm>
          <a:prstGeom prst="rect">
            <a:avLst/>
          </a:prstGeom>
          <a:solidFill>
            <a:srgbClr val="F1F5F9"/>
          </a:solidFill>
          <a:ln w="12700">
            <a:solidFill>
              <a:srgbClr val="F1F5F9"/>
            </a:solidFill>
            <a:prstDash val="solid"/>
          </a:ln>
        </p:spPr>
      </p:sp>
      <p:sp>
        <p:nvSpPr>
          <p:cNvPr id="52" name="Shape 50"/>
          <p:cNvSpPr/>
          <p:nvPr/>
        </p:nvSpPr>
        <p:spPr>
          <a:xfrm>
            <a:off x="502920" y="5989320"/>
            <a:ext cx="45720" cy="365760"/>
          </a:xfrm>
          <a:prstGeom prst="rect">
            <a:avLst/>
          </a:prstGeom>
          <a:solidFill>
            <a:srgbClr val="B45309"/>
          </a:solidFill>
          <a:ln w="12700">
            <a:solidFill>
              <a:srgbClr val="B45309"/>
            </a:solidFill>
            <a:prstDash val="solid"/>
          </a:ln>
        </p:spPr>
      </p:sp>
      <p:sp>
        <p:nvSpPr>
          <p:cNvPr id="53" name="Text 51"/>
          <p:cNvSpPr/>
          <p:nvPr/>
        </p:nvSpPr>
        <p:spPr>
          <a:xfrm>
            <a:off x="685800" y="608076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EVERY TURN</a:t>
            </a:r>
            <a:endParaRPr lang="en-US" sz="900" dirty="0"/>
          </a:p>
        </p:txBody>
      </p:sp>
      <p:sp>
        <p:nvSpPr>
          <p:cNvPr id="54" name="Text 52"/>
          <p:cNvSpPr/>
          <p:nvPr/>
        </p:nvSpPr>
        <p:spPr>
          <a:xfrm>
            <a:off x="685800" y="6281928"/>
            <a:ext cx="10881360" cy="-1828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...the entire list is sent in the next API call. Every. Single. Time.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THE COST CONSEQUENCE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29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You pay for the history — every turn</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full conversation is sent on every call. Long chats get expensive fast.</a:t>
            </a:r>
            <a:endParaRPr lang="en-US" sz="1400" dirty="0"/>
          </a:p>
        </p:txBody>
      </p:sp>
      <p:sp>
        <p:nvSpPr>
          <p:cNvPr id="9" name="Text 7"/>
          <p:cNvSpPr/>
          <p:nvPr/>
        </p:nvSpPr>
        <p:spPr>
          <a:xfrm>
            <a:off x="502920" y="2194560"/>
            <a:ext cx="13716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Input tokens</a:t>
            </a:r>
            <a:endParaRPr lang="en-US" sz="1000" dirty="0"/>
          </a:p>
        </p:txBody>
      </p:sp>
      <p:sp>
        <p:nvSpPr>
          <p:cNvPr id="10" name="Shape 8"/>
          <p:cNvSpPr/>
          <p:nvPr/>
        </p:nvSpPr>
        <p:spPr>
          <a:xfrm>
            <a:off x="731520" y="5392103"/>
            <a:ext cx="1005840" cy="94298"/>
          </a:xfrm>
          <a:prstGeom prst="rect">
            <a:avLst/>
          </a:prstGeom>
          <a:solidFill>
            <a:srgbClr val="B45309"/>
          </a:solidFill>
          <a:ln w="12700">
            <a:solidFill>
              <a:srgbClr val="FFFFFF"/>
            </a:solidFill>
            <a:prstDash val="solid"/>
          </a:ln>
        </p:spPr>
      </p:sp>
      <p:sp>
        <p:nvSpPr>
          <p:cNvPr id="11" name="Text 9"/>
          <p:cNvSpPr/>
          <p:nvPr/>
        </p:nvSpPr>
        <p:spPr>
          <a:xfrm>
            <a:off x="731520" y="5072063"/>
            <a:ext cx="100584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50</a:t>
            </a:r>
            <a:endParaRPr lang="en-US" sz="1000" dirty="0"/>
          </a:p>
        </p:txBody>
      </p:sp>
      <p:sp>
        <p:nvSpPr>
          <p:cNvPr id="12" name="Text 10"/>
          <p:cNvSpPr/>
          <p:nvPr/>
        </p:nvSpPr>
        <p:spPr>
          <a:xfrm>
            <a:off x="731520" y="5577840"/>
            <a:ext cx="1005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Turn 1</a:t>
            </a:r>
            <a:endParaRPr lang="en-US" sz="1000" dirty="0"/>
          </a:p>
        </p:txBody>
      </p:sp>
      <p:sp>
        <p:nvSpPr>
          <p:cNvPr id="13" name="Shape 11"/>
          <p:cNvSpPr/>
          <p:nvPr/>
        </p:nvSpPr>
        <p:spPr>
          <a:xfrm>
            <a:off x="1874520" y="5109210"/>
            <a:ext cx="1005840" cy="377190"/>
          </a:xfrm>
          <a:prstGeom prst="rect">
            <a:avLst/>
          </a:prstGeom>
          <a:solidFill>
            <a:srgbClr val="B45309"/>
          </a:solidFill>
          <a:ln w="12700">
            <a:solidFill>
              <a:srgbClr val="FFFFFF"/>
            </a:solidFill>
            <a:prstDash val="solid"/>
          </a:ln>
        </p:spPr>
      </p:sp>
      <p:sp>
        <p:nvSpPr>
          <p:cNvPr id="14" name="Text 12"/>
          <p:cNvSpPr/>
          <p:nvPr/>
        </p:nvSpPr>
        <p:spPr>
          <a:xfrm>
            <a:off x="1874520" y="4789170"/>
            <a:ext cx="100584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200</a:t>
            </a:r>
            <a:endParaRPr lang="en-US" sz="1000" dirty="0"/>
          </a:p>
        </p:txBody>
      </p:sp>
      <p:sp>
        <p:nvSpPr>
          <p:cNvPr id="15" name="Text 13"/>
          <p:cNvSpPr/>
          <p:nvPr/>
        </p:nvSpPr>
        <p:spPr>
          <a:xfrm>
            <a:off x="1874520" y="5577840"/>
            <a:ext cx="1005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Turn 2</a:t>
            </a:r>
            <a:endParaRPr lang="en-US" sz="1000" dirty="0"/>
          </a:p>
        </p:txBody>
      </p:sp>
      <p:sp>
        <p:nvSpPr>
          <p:cNvPr id="16" name="Shape 14"/>
          <p:cNvSpPr/>
          <p:nvPr/>
        </p:nvSpPr>
        <p:spPr>
          <a:xfrm>
            <a:off x="3017520" y="4637723"/>
            <a:ext cx="1005840" cy="848678"/>
          </a:xfrm>
          <a:prstGeom prst="rect">
            <a:avLst/>
          </a:prstGeom>
          <a:solidFill>
            <a:srgbClr val="B45309"/>
          </a:solidFill>
          <a:ln w="12700">
            <a:solidFill>
              <a:srgbClr val="FFFFFF"/>
            </a:solidFill>
            <a:prstDash val="solid"/>
          </a:ln>
        </p:spPr>
      </p:sp>
      <p:sp>
        <p:nvSpPr>
          <p:cNvPr id="17" name="Text 15"/>
          <p:cNvSpPr/>
          <p:nvPr/>
        </p:nvSpPr>
        <p:spPr>
          <a:xfrm>
            <a:off x="3017520" y="4317683"/>
            <a:ext cx="100584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450</a:t>
            </a:r>
            <a:endParaRPr lang="en-US" sz="1000" dirty="0"/>
          </a:p>
        </p:txBody>
      </p:sp>
      <p:sp>
        <p:nvSpPr>
          <p:cNvPr id="18" name="Text 16"/>
          <p:cNvSpPr/>
          <p:nvPr/>
        </p:nvSpPr>
        <p:spPr>
          <a:xfrm>
            <a:off x="3017520" y="5577840"/>
            <a:ext cx="1005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Turn 3</a:t>
            </a:r>
            <a:endParaRPr lang="en-US" sz="1000" dirty="0"/>
          </a:p>
        </p:txBody>
      </p:sp>
      <p:sp>
        <p:nvSpPr>
          <p:cNvPr id="19" name="Shape 17"/>
          <p:cNvSpPr/>
          <p:nvPr/>
        </p:nvSpPr>
        <p:spPr>
          <a:xfrm>
            <a:off x="4160520" y="4071938"/>
            <a:ext cx="1005840" cy="1414463"/>
          </a:xfrm>
          <a:prstGeom prst="rect">
            <a:avLst/>
          </a:prstGeom>
          <a:solidFill>
            <a:srgbClr val="B45309"/>
          </a:solidFill>
          <a:ln w="12700">
            <a:solidFill>
              <a:srgbClr val="FFFFFF"/>
            </a:solidFill>
            <a:prstDash val="solid"/>
          </a:ln>
        </p:spPr>
      </p:sp>
      <p:sp>
        <p:nvSpPr>
          <p:cNvPr id="20" name="Text 18"/>
          <p:cNvSpPr/>
          <p:nvPr/>
        </p:nvSpPr>
        <p:spPr>
          <a:xfrm>
            <a:off x="4160520" y="3751898"/>
            <a:ext cx="100584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750</a:t>
            </a:r>
            <a:endParaRPr lang="en-US" sz="1000" dirty="0"/>
          </a:p>
        </p:txBody>
      </p:sp>
      <p:sp>
        <p:nvSpPr>
          <p:cNvPr id="21" name="Text 19"/>
          <p:cNvSpPr/>
          <p:nvPr/>
        </p:nvSpPr>
        <p:spPr>
          <a:xfrm>
            <a:off x="4160520" y="5577840"/>
            <a:ext cx="1005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Turn 4</a:t>
            </a:r>
            <a:endParaRPr lang="en-US" sz="1000" dirty="0"/>
          </a:p>
        </p:txBody>
      </p:sp>
      <p:sp>
        <p:nvSpPr>
          <p:cNvPr id="22" name="Shape 20"/>
          <p:cNvSpPr/>
          <p:nvPr/>
        </p:nvSpPr>
        <p:spPr>
          <a:xfrm>
            <a:off x="5303520" y="3411855"/>
            <a:ext cx="1005840" cy="2074545"/>
          </a:xfrm>
          <a:prstGeom prst="rect">
            <a:avLst/>
          </a:prstGeom>
          <a:solidFill>
            <a:srgbClr val="B45309"/>
          </a:solidFill>
          <a:ln w="12700">
            <a:solidFill>
              <a:srgbClr val="FFFFFF"/>
            </a:solidFill>
            <a:prstDash val="solid"/>
          </a:ln>
        </p:spPr>
      </p:sp>
      <p:sp>
        <p:nvSpPr>
          <p:cNvPr id="23" name="Text 21"/>
          <p:cNvSpPr/>
          <p:nvPr/>
        </p:nvSpPr>
        <p:spPr>
          <a:xfrm>
            <a:off x="5303520" y="3091815"/>
            <a:ext cx="100584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1100</a:t>
            </a:r>
            <a:endParaRPr lang="en-US" sz="1000" dirty="0"/>
          </a:p>
        </p:txBody>
      </p:sp>
      <p:sp>
        <p:nvSpPr>
          <p:cNvPr id="24" name="Text 22"/>
          <p:cNvSpPr/>
          <p:nvPr/>
        </p:nvSpPr>
        <p:spPr>
          <a:xfrm>
            <a:off x="5303520" y="5577840"/>
            <a:ext cx="1005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Turn 5</a:t>
            </a:r>
            <a:endParaRPr lang="en-US" sz="1000" dirty="0"/>
          </a:p>
        </p:txBody>
      </p:sp>
      <p:sp>
        <p:nvSpPr>
          <p:cNvPr id="25" name="Shape 23"/>
          <p:cNvSpPr/>
          <p:nvPr/>
        </p:nvSpPr>
        <p:spPr>
          <a:xfrm>
            <a:off x="6446520" y="2657475"/>
            <a:ext cx="1005840" cy="2828925"/>
          </a:xfrm>
          <a:prstGeom prst="rect">
            <a:avLst/>
          </a:prstGeom>
          <a:solidFill>
            <a:srgbClr val="B91C1C"/>
          </a:solidFill>
          <a:ln w="12700">
            <a:solidFill>
              <a:srgbClr val="FFFFFF"/>
            </a:solidFill>
            <a:prstDash val="solid"/>
          </a:ln>
        </p:spPr>
      </p:sp>
      <p:sp>
        <p:nvSpPr>
          <p:cNvPr id="26" name="Text 24"/>
          <p:cNvSpPr/>
          <p:nvPr/>
        </p:nvSpPr>
        <p:spPr>
          <a:xfrm>
            <a:off x="6446520" y="2337435"/>
            <a:ext cx="100584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1500</a:t>
            </a:r>
            <a:endParaRPr lang="en-US" sz="1000" dirty="0"/>
          </a:p>
        </p:txBody>
      </p:sp>
      <p:sp>
        <p:nvSpPr>
          <p:cNvPr id="27" name="Text 25"/>
          <p:cNvSpPr/>
          <p:nvPr/>
        </p:nvSpPr>
        <p:spPr>
          <a:xfrm>
            <a:off x="6446520" y="5577840"/>
            <a:ext cx="1005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Turn 6</a:t>
            </a:r>
            <a:endParaRPr lang="en-US" sz="1000" dirty="0"/>
          </a:p>
        </p:txBody>
      </p:sp>
      <p:sp>
        <p:nvSpPr>
          <p:cNvPr id="28" name="Shape 26"/>
          <p:cNvSpPr/>
          <p:nvPr/>
        </p:nvSpPr>
        <p:spPr>
          <a:xfrm>
            <a:off x="731520" y="5486400"/>
            <a:ext cx="6858000" cy="0"/>
          </a:xfrm>
          <a:prstGeom prst="line">
            <a:avLst/>
          </a:prstGeom>
          <a:noFill/>
          <a:ln w="12700">
            <a:solidFill>
              <a:srgbClr val="0F172A"/>
            </a:solidFill>
            <a:prstDash val="solid"/>
          </a:ln>
        </p:spPr>
      </p:sp>
      <p:sp>
        <p:nvSpPr>
          <p:cNvPr id="29" name="Text 27"/>
          <p:cNvSpPr/>
          <p:nvPr/>
        </p:nvSpPr>
        <p:spPr>
          <a:xfrm>
            <a:off x="7863840" y="2377440"/>
            <a:ext cx="384048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STRATEGIES IN PRODUCTION</a:t>
            </a:r>
            <a:endParaRPr lang="en-US" sz="1000" dirty="0"/>
          </a:p>
        </p:txBody>
      </p:sp>
      <p:sp>
        <p:nvSpPr>
          <p:cNvPr id="30" name="Text 28"/>
          <p:cNvSpPr/>
          <p:nvPr/>
        </p:nvSpPr>
        <p:spPr>
          <a:xfrm>
            <a:off x="7863840" y="2697480"/>
            <a:ext cx="384048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Cap history length</a:t>
            </a:r>
            <a:endParaRPr lang="en-US" sz="1400" dirty="0"/>
          </a:p>
        </p:txBody>
      </p:sp>
      <p:sp>
        <p:nvSpPr>
          <p:cNvPr id="31" name="Text 29"/>
          <p:cNvSpPr/>
          <p:nvPr/>
        </p:nvSpPr>
        <p:spPr>
          <a:xfrm>
            <a:off x="7863840" y="2971800"/>
            <a:ext cx="3840480" cy="4114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Keep last N messages</a:t>
            </a:r>
            <a:endParaRPr lang="en-US" sz="1100" dirty="0"/>
          </a:p>
        </p:txBody>
      </p:sp>
      <p:sp>
        <p:nvSpPr>
          <p:cNvPr id="32" name="Text 30"/>
          <p:cNvSpPr/>
          <p:nvPr/>
        </p:nvSpPr>
        <p:spPr>
          <a:xfrm>
            <a:off x="7863840" y="3474720"/>
            <a:ext cx="384048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Summarize old turns</a:t>
            </a:r>
            <a:endParaRPr lang="en-US" sz="1400" dirty="0"/>
          </a:p>
        </p:txBody>
      </p:sp>
      <p:sp>
        <p:nvSpPr>
          <p:cNvPr id="33" name="Text 31"/>
          <p:cNvSpPr/>
          <p:nvPr/>
        </p:nvSpPr>
        <p:spPr>
          <a:xfrm>
            <a:off x="7863840" y="3749040"/>
            <a:ext cx="3840480" cy="4114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Rolling summary in a single message</a:t>
            </a:r>
            <a:endParaRPr lang="en-US" sz="1100" dirty="0"/>
          </a:p>
        </p:txBody>
      </p:sp>
      <p:sp>
        <p:nvSpPr>
          <p:cNvPr id="34" name="Text 32"/>
          <p:cNvSpPr/>
          <p:nvPr/>
        </p:nvSpPr>
        <p:spPr>
          <a:xfrm>
            <a:off x="7863840" y="4251960"/>
            <a:ext cx="384048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Persist to database</a:t>
            </a:r>
            <a:endParaRPr lang="en-US" sz="1400" dirty="0"/>
          </a:p>
        </p:txBody>
      </p:sp>
      <p:sp>
        <p:nvSpPr>
          <p:cNvPr id="35" name="Text 33"/>
          <p:cNvSpPr/>
          <p:nvPr/>
        </p:nvSpPr>
        <p:spPr>
          <a:xfrm>
            <a:off x="7863840" y="4526280"/>
            <a:ext cx="3840480" cy="4114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Load history when user returns</a:t>
            </a:r>
            <a:endParaRPr lang="en-US" sz="1100" dirty="0"/>
          </a:p>
        </p:txBody>
      </p:sp>
      <p:sp>
        <p:nvSpPr>
          <p:cNvPr id="36" name="Text 34"/>
          <p:cNvSpPr/>
          <p:nvPr/>
        </p:nvSpPr>
        <p:spPr>
          <a:xfrm>
            <a:off x="7863840" y="5029200"/>
            <a:ext cx="384048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Prompt caching</a:t>
            </a:r>
            <a:endParaRPr lang="en-US" sz="1400" dirty="0"/>
          </a:p>
        </p:txBody>
      </p:sp>
      <p:sp>
        <p:nvSpPr>
          <p:cNvPr id="37" name="Text 35"/>
          <p:cNvSpPr/>
          <p:nvPr/>
        </p:nvSpPr>
        <p:spPr>
          <a:xfrm>
            <a:off x="7863840" y="5303520"/>
            <a:ext cx="3840480" cy="4114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Cache stable prefix server-side</a:t>
            </a:r>
            <a:endParaRPr lang="en-US" sz="1100" dirty="0"/>
          </a:p>
        </p:txBody>
      </p:sp>
      <p:sp>
        <p:nvSpPr>
          <p:cNvPr id="38" name="Shape 36"/>
          <p:cNvSpPr/>
          <p:nvPr/>
        </p:nvSpPr>
        <p:spPr>
          <a:xfrm>
            <a:off x="502920" y="5897880"/>
            <a:ext cx="11155680" cy="411480"/>
          </a:xfrm>
          <a:prstGeom prst="rect">
            <a:avLst/>
          </a:prstGeom>
          <a:solidFill>
            <a:srgbClr val="F1F5F9"/>
          </a:solidFill>
          <a:ln w="12700">
            <a:solidFill>
              <a:srgbClr val="F1F5F9"/>
            </a:solidFill>
            <a:prstDash val="solid"/>
          </a:ln>
        </p:spPr>
      </p:sp>
      <p:sp>
        <p:nvSpPr>
          <p:cNvPr id="39" name="Shape 37"/>
          <p:cNvSpPr/>
          <p:nvPr/>
        </p:nvSpPr>
        <p:spPr>
          <a:xfrm>
            <a:off x="502920" y="5897880"/>
            <a:ext cx="45720" cy="411480"/>
          </a:xfrm>
          <a:prstGeom prst="rect">
            <a:avLst/>
          </a:prstGeom>
          <a:solidFill>
            <a:srgbClr val="B45309"/>
          </a:solidFill>
          <a:ln w="12700">
            <a:solidFill>
              <a:srgbClr val="B45309"/>
            </a:solidFill>
            <a:prstDash val="solid"/>
          </a:ln>
        </p:spPr>
      </p:sp>
      <p:sp>
        <p:nvSpPr>
          <p:cNvPr id="40" name="Text 38"/>
          <p:cNvSpPr/>
          <p:nvPr/>
        </p:nvSpPr>
        <p:spPr>
          <a:xfrm>
            <a:off x="685800" y="598932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RULE OF THUMB</a:t>
            </a:r>
            <a:endParaRPr lang="en-US" sz="900" dirty="0"/>
          </a:p>
        </p:txBody>
      </p:sp>
      <p:sp>
        <p:nvSpPr>
          <p:cNvPr id="41" name="Text 39"/>
          <p:cNvSpPr/>
          <p:nvPr/>
        </p:nvSpPr>
        <p:spPr>
          <a:xfrm>
            <a:off x="685800" y="6190488"/>
            <a:ext cx="10881360" cy="2743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Unbounded conversations → unbounded bills. Pick a strategy before going to production.</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4 · THE CONTRACT, RESTATED</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30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4</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Why we are doing all of this the hard way</a:t>
            </a:r>
            <a:endParaRPr lang="en-US" sz="3200" dirty="0"/>
          </a:p>
        </p:txBody>
      </p:sp>
      <p:sp>
        <p:nvSpPr>
          <p:cNvPr id="8" name="Shape 6"/>
          <p:cNvSpPr/>
          <p:nvPr/>
        </p:nvSpPr>
        <p:spPr>
          <a:xfrm>
            <a:off x="1371600" y="2194560"/>
            <a:ext cx="9418320" cy="45720"/>
          </a:xfrm>
          <a:prstGeom prst="rect">
            <a:avLst/>
          </a:prstGeom>
          <a:solidFill>
            <a:srgbClr val="B45309"/>
          </a:solidFill>
          <a:ln w="12700">
            <a:solidFill>
              <a:srgbClr val="B45309"/>
            </a:solidFill>
            <a:prstDash val="solid"/>
          </a:ln>
        </p:spPr>
      </p:sp>
      <p:sp>
        <p:nvSpPr>
          <p:cNvPr id="9" name="Text 7"/>
          <p:cNvSpPr/>
          <p:nvPr/>
        </p:nvSpPr>
        <p:spPr>
          <a:xfrm>
            <a:off x="1371600" y="2423160"/>
            <a:ext cx="9418320" cy="1371600"/>
          </a:xfrm>
          <a:prstGeom prst="rect">
            <a:avLst/>
          </a:prstGeom>
          <a:noFill/>
          <a:ln/>
        </p:spPr>
        <p:txBody>
          <a:bodyPr wrap="square" lIns="0" tIns="0" rIns="0" bIns="0" rtlCol="0" anchor="ctr"/>
          <a:lstStyle/>
          <a:p>
            <a:pPr indent="0" marL="0">
              <a:buNone/>
            </a:pPr>
            <a:r>
              <a:rPr lang="en-US" sz="2000" i="1" dirty="0">
                <a:solidFill>
                  <a:srgbClr val="0F172A"/>
                </a:solidFill>
                <a:latin typeface="Georgia" pitchFamily="34" charset="0"/>
                <a:ea typeface="Georgia" pitchFamily="34" charset="-122"/>
                <a:cs typeface="Georgia" pitchFamily="34" charset="-120"/>
              </a:rPr>
              <a:t>“Showing you how to use the Converse API like this is essentially doing it the hard way, and we are doing this on purpose for learning purposes.”</a:t>
            </a:r>
            <a:endParaRPr lang="en-US" sz="2000" dirty="0"/>
          </a:p>
        </p:txBody>
      </p:sp>
      <p:sp>
        <p:nvSpPr>
          <p:cNvPr id="10" name="Text 8"/>
          <p:cNvSpPr/>
          <p:nvPr/>
        </p:nvSpPr>
        <p:spPr>
          <a:xfrm>
            <a:off x="1371600" y="3840480"/>
            <a:ext cx="9418320" cy="1188720"/>
          </a:xfrm>
          <a:prstGeom prst="rect">
            <a:avLst/>
          </a:prstGeom>
          <a:noFill/>
          <a:ln/>
        </p:spPr>
        <p:txBody>
          <a:bodyPr wrap="square" lIns="0" tIns="0" rIns="0" bIns="0" rtlCol="0" anchor="ctr"/>
          <a:lstStyle/>
          <a:p>
            <a:pPr indent="0" marL="0">
              <a:buNone/>
            </a:pPr>
            <a:r>
              <a:rPr lang="en-US" sz="1800" i="1" dirty="0">
                <a:solidFill>
                  <a:srgbClr val="334155"/>
                </a:solidFill>
                <a:latin typeface="Georgia" pitchFamily="34" charset="0"/>
                <a:ea typeface="Georgia" pitchFamily="34" charset="-122"/>
                <a:cs typeface="Georgia" pitchFamily="34" charset="-120"/>
              </a:rPr>
              <a:t>“There are higher-level libraries and frameworks that can handle a lot of that complexity for you — including managing the message history and formatting the request body.”</a:t>
            </a:r>
            <a:endParaRPr lang="en-US" sz="1800" dirty="0"/>
          </a:p>
        </p:txBody>
      </p:sp>
      <p:sp>
        <p:nvSpPr>
          <p:cNvPr id="11" name="Text 9"/>
          <p:cNvSpPr/>
          <p:nvPr/>
        </p:nvSpPr>
        <p:spPr>
          <a:xfrm>
            <a:off x="1371600" y="5120640"/>
            <a:ext cx="9418320" cy="1188720"/>
          </a:xfrm>
          <a:prstGeom prst="rect">
            <a:avLst/>
          </a:prstGeom>
          <a:noFill/>
          <a:ln/>
        </p:spPr>
        <p:txBody>
          <a:bodyPr wrap="square" lIns="0" tIns="0" rIns="0" bIns="0" rtlCol="0" anchor="ctr"/>
          <a:lstStyle/>
          <a:p>
            <a:pPr indent="0" marL="0">
              <a:buNone/>
            </a:pPr>
            <a:r>
              <a:rPr lang="en-US" sz="1800" i="1" dirty="0">
                <a:solidFill>
                  <a:srgbClr val="334155"/>
                </a:solidFill>
                <a:latin typeface="Georgia" pitchFamily="34" charset="0"/>
                <a:ea typeface="Georgia" pitchFamily="34" charset="-122"/>
                <a:cs typeface="Georgia" pitchFamily="34" charset="-120"/>
              </a:rPr>
              <a:t>“But we are working with the Bedrock APIs directly for now so you understand exactly how Bedrock and AI models actually work. Later, when we show you the simpler way using the Strands Agents SDK, you will fully understand what is happening under the hood.”</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END OF CHAPTERS 1 – 4</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31 / 31</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Recap</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you can now do</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Before we go further, take stock.</a:t>
            </a:r>
            <a:endParaRPr lang="en-US" sz="1400" dirty="0"/>
          </a:p>
        </p:txBody>
      </p:sp>
      <p:sp>
        <p:nvSpPr>
          <p:cNvPr id="9" name="Shape 7"/>
          <p:cNvSpPr/>
          <p:nvPr/>
        </p:nvSpPr>
        <p:spPr>
          <a:xfrm>
            <a:off x="731520" y="2194560"/>
            <a:ext cx="365760" cy="365760"/>
          </a:xfrm>
          <a:prstGeom prst="rect">
            <a:avLst/>
          </a:prstGeom>
          <a:solidFill>
            <a:srgbClr val="047857"/>
          </a:solidFill>
          <a:ln w="12700">
            <a:solidFill>
              <a:srgbClr val="047857"/>
            </a:solidFill>
            <a:prstDash val="solid"/>
          </a:ln>
        </p:spPr>
      </p:sp>
      <p:sp>
        <p:nvSpPr>
          <p:cNvPr id="10" name="Text 8"/>
          <p:cNvSpPr/>
          <p:nvPr/>
        </p:nvSpPr>
        <p:spPr>
          <a:xfrm>
            <a:off x="731520" y="21945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1" name="Text 9"/>
          <p:cNvSpPr/>
          <p:nvPr/>
        </p:nvSpPr>
        <p:spPr>
          <a:xfrm>
            <a:off x="1280160" y="219456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Call any Bedrock model with the Converse API</a:t>
            </a:r>
            <a:endParaRPr lang="en-US" sz="1700" dirty="0"/>
          </a:p>
        </p:txBody>
      </p:sp>
      <p:sp>
        <p:nvSpPr>
          <p:cNvPr id="12" name="Shape 10"/>
          <p:cNvSpPr/>
          <p:nvPr/>
        </p:nvSpPr>
        <p:spPr>
          <a:xfrm>
            <a:off x="731520" y="2697480"/>
            <a:ext cx="365760" cy="365760"/>
          </a:xfrm>
          <a:prstGeom prst="rect">
            <a:avLst/>
          </a:prstGeom>
          <a:solidFill>
            <a:srgbClr val="047857"/>
          </a:solidFill>
          <a:ln w="12700">
            <a:solidFill>
              <a:srgbClr val="047857"/>
            </a:solidFill>
            <a:prstDash val="solid"/>
          </a:ln>
        </p:spPr>
      </p:sp>
      <p:sp>
        <p:nvSpPr>
          <p:cNvPr id="13" name="Text 11"/>
          <p:cNvSpPr/>
          <p:nvPr/>
        </p:nvSpPr>
        <p:spPr>
          <a:xfrm>
            <a:off x="731520" y="269748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4" name="Text 12"/>
          <p:cNvSpPr/>
          <p:nvPr/>
        </p:nvSpPr>
        <p:spPr>
          <a:xfrm>
            <a:off x="1280160" y="269748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Set the model's behavior with a system prompt</a:t>
            </a:r>
            <a:endParaRPr lang="en-US" sz="1700" dirty="0"/>
          </a:p>
        </p:txBody>
      </p:sp>
      <p:sp>
        <p:nvSpPr>
          <p:cNvPr id="15" name="Shape 13"/>
          <p:cNvSpPr/>
          <p:nvPr/>
        </p:nvSpPr>
        <p:spPr>
          <a:xfrm>
            <a:off x="731520" y="3200400"/>
            <a:ext cx="365760" cy="365760"/>
          </a:xfrm>
          <a:prstGeom prst="rect">
            <a:avLst/>
          </a:prstGeom>
          <a:solidFill>
            <a:srgbClr val="047857"/>
          </a:solidFill>
          <a:ln w="12700">
            <a:solidFill>
              <a:srgbClr val="047857"/>
            </a:solidFill>
            <a:prstDash val="solid"/>
          </a:ln>
        </p:spPr>
      </p:sp>
      <p:sp>
        <p:nvSpPr>
          <p:cNvPr id="16" name="Text 14"/>
          <p:cNvSpPr/>
          <p:nvPr/>
        </p:nvSpPr>
        <p:spPr>
          <a:xfrm>
            <a:off x="731520" y="320040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7" name="Text 15"/>
          <p:cNvSpPr/>
          <p:nvPr/>
        </p:nvSpPr>
        <p:spPr>
          <a:xfrm>
            <a:off x="1280160" y="320040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Tune output with temperature and maxTokens</a:t>
            </a:r>
            <a:endParaRPr lang="en-US" sz="1700" dirty="0"/>
          </a:p>
        </p:txBody>
      </p:sp>
      <p:sp>
        <p:nvSpPr>
          <p:cNvPr id="18" name="Shape 16"/>
          <p:cNvSpPr/>
          <p:nvPr/>
        </p:nvSpPr>
        <p:spPr>
          <a:xfrm>
            <a:off x="731520" y="3703320"/>
            <a:ext cx="365760" cy="365760"/>
          </a:xfrm>
          <a:prstGeom prst="rect">
            <a:avLst/>
          </a:prstGeom>
          <a:solidFill>
            <a:srgbClr val="047857"/>
          </a:solidFill>
          <a:ln w="12700">
            <a:solidFill>
              <a:srgbClr val="047857"/>
            </a:solidFill>
            <a:prstDash val="solid"/>
          </a:ln>
        </p:spPr>
      </p:sp>
      <p:sp>
        <p:nvSpPr>
          <p:cNvPr id="19" name="Text 17"/>
          <p:cNvSpPr/>
          <p:nvPr/>
        </p:nvSpPr>
        <p:spPr>
          <a:xfrm>
            <a:off x="731520" y="370332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0" name="Text 18"/>
          <p:cNvSpPr/>
          <p:nvPr/>
        </p:nvSpPr>
        <p:spPr>
          <a:xfrm>
            <a:off x="1280160" y="370332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Read the response — including token usage</a:t>
            </a:r>
            <a:endParaRPr lang="en-US" sz="1700" dirty="0"/>
          </a:p>
        </p:txBody>
      </p:sp>
      <p:sp>
        <p:nvSpPr>
          <p:cNvPr id="21" name="Shape 19"/>
          <p:cNvSpPr/>
          <p:nvPr/>
        </p:nvSpPr>
        <p:spPr>
          <a:xfrm>
            <a:off x="731520" y="4206240"/>
            <a:ext cx="365760" cy="365760"/>
          </a:xfrm>
          <a:prstGeom prst="rect">
            <a:avLst/>
          </a:prstGeom>
          <a:solidFill>
            <a:srgbClr val="047857"/>
          </a:solidFill>
          <a:ln w="12700">
            <a:solidFill>
              <a:srgbClr val="047857"/>
            </a:solidFill>
            <a:prstDash val="solid"/>
          </a:ln>
        </p:spPr>
      </p:sp>
      <p:sp>
        <p:nvSpPr>
          <p:cNvPr id="22" name="Text 20"/>
          <p:cNvSpPr/>
          <p:nvPr/>
        </p:nvSpPr>
        <p:spPr>
          <a:xfrm>
            <a:off x="731520" y="420624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3" name="Text 21"/>
          <p:cNvSpPr/>
          <p:nvPr/>
        </p:nvSpPr>
        <p:spPr>
          <a:xfrm>
            <a:off x="1280160" y="420624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Understand tokens and the context window</a:t>
            </a:r>
            <a:endParaRPr lang="en-US" sz="1700" dirty="0"/>
          </a:p>
        </p:txBody>
      </p:sp>
      <p:sp>
        <p:nvSpPr>
          <p:cNvPr id="24" name="Shape 22"/>
          <p:cNvSpPr/>
          <p:nvPr/>
        </p:nvSpPr>
        <p:spPr>
          <a:xfrm>
            <a:off x="731520" y="4709160"/>
            <a:ext cx="365760" cy="365760"/>
          </a:xfrm>
          <a:prstGeom prst="rect">
            <a:avLst/>
          </a:prstGeom>
          <a:solidFill>
            <a:srgbClr val="047857"/>
          </a:solidFill>
          <a:ln w="12700">
            <a:solidFill>
              <a:srgbClr val="047857"/>
            </a:solidFill>
            <a:prstDash val="solid"/>
          </a:ln>
        </p:spPr>
      </p:sp>
      <p:sp>
        <p:nvSpPr>
          <p:cNvPr id="25" name="Text 23"/>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6" name="Text 24"/>
          <p:cNvSpPr/>
          <p:nvPr/>
        </p:nvSpPr>
        <p:spPr>
          <a:xfrm>
            <a:off x="1280160" y="470916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Hold a multi-turn conversation by managing history yourself</a:t>
            </a:r>
            <a:endParaRPr lang="en-US" sz="1700" dirty="0"/>
          </a:p>
        </p:txBody>
      </p:sp>
      <p:sp>
        <p:nvSpPr>
          <p:cNvPr id="27" name="Shape 25"/>
          <p:cNvSpPr/>
          <p:nvPr/>
        </p:nvSpPr>
        <p:spPr>
          <a:xfrm>
            <a:off x="502920" y="5349240"/>
            <a:ext cx="11155680" cy="822960"/>
          </a:xfrm>
          <a:prstGeom prst="rect">
            <a:avLst/>
          </a:prstGeom>
          <a:solidFill>
            <a:srgbClr val="F1F5F9"/>
          </a:solidFill>
          <a:ln w="12700">
            <a:solidFill>
              <a:srgbClr val="F1F5F9"/>
            </a:solidFill>
            <a:prstDash val="solid"/>
          </a:ln>
        </p:spPr>
      </p:sp>
      <p:sp>
        <p:nvSpPr>
          <p:cNvPr id="28" name="Shape 26"/>
          <p:cNvSpPr/>
          <p:nvPr/>
        </p:nvSpPr>
        <p:spPr>
          <a:xfrm>
            <a:off x="502920" y="5349240"/>
            <a:ext cx="45720" cy="822960"/>
          </a:xfrm>
          <a:prstGeom prst="rect">
            <a:avLst/>
          </a:prstGeom>
          <a:solidFill>
            <a:srgbClr val="B45309"/>
          </a:solidFill>
          <a:ln w="12700">
            <a:solidFill>
              <a:srgbClr val="B45309"/>
            </a:solidFill>
            <a:prstDash val="solid"/>
          </a:ln>
        </p:spPr>
      </p:sp>
      <p:sp>
        <p:nvSpPr>
          <p:cNvPr id="29" name="Text 27"/>
          <p:cNvSpPr/>
          <p:nvPr/>
        </p:nvSpPr>
        <p:spPr>
          <a:xfrm>
            <a:off x="685800" y="5440680"/>
            <a:ext cx="1088136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NEXT — CHAPTER 5</a:t>
            </a:r>
            <a:endParaRPr lang="en-US" sz="900" dirty="0"/>
          </a:p>
        </p:txBody>
      </p:sp>
      <p:sp>
        <p:nvSpPr>
          <p:cNvPr id="30" name="Text 28"/>
          <p:cNvSpPr/>
          <p:nvPr/>
        </p:nvSpPr>
        <p:spPr>
          <a:xfrm>
            <a:off x="685800" y="5641848"/>
            <a:ext cx="108813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Tool use — letting the model call your code</a:t>
            </a:r>
            <a:endParaRPr lang="en-US" sz="1300" dirty="0"/>
          </a:p>
        </p:txBody>
      </p:sp>
      <p:sp>
        <p:nvSpPr>
          <p:cNvPr id="31" name="Text 29"/>
          <p:cNvSpPr/>
          <p:nvPr/>
        </p:nvSpPr>
        <p:spPr>
          <a:xfrm>
            <a:off x="685800" y="5934456"/>
            <a:ext cx="10881360" cy="1463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So far the model can only generate text. Next we will give it access to functions you write, so it can fetch real-time data, run computations, and interact with the world.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Bedrock — From First Prompt to AI Agent (Chapters 1–4)</dc:title>
  <dc:subject>PptxGenJS Presentation</dc:subject>
  <dc:creator>Agentic AI Practitioner Program</dc:creator>
  <cp:lastModifiedBy>Agentic AI Practitioner Program</cp:lastModifiedBy>
  <cp:revision>1</cp:revision>
  <dcterms:created xsi:type="dcterms:W3CDTF">2026-05-14T05:10:51Z</dcterms:created>
  <dcterms:modified xsi:type="dcterms:W3CDTF">2026-05-14T05:10:51Z</dcterms:modified>
</cp:coreProperties>
</file>