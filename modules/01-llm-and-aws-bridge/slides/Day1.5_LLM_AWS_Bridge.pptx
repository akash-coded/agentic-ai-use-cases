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5D6D7E"/>
                </a:solidFill>
                <a:latin typeface="Calibri"/>
              </a:rPr>
              <a:t> ·  AGENTIC AI PRACTITIONER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0" b="1" i="0">
                <a:solidFill>
                  <a:srgbClr val="1B2A4E"/>
                </a:solidFill>
                <a:latin typeface="Georgia"/>
              </a:rPr>
              <a:t>Day 1.5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000" b="1" i="0">
                <a:solidFill>
                  <a:srgbClr val="2E5C8A"/>
                </a:solidFill>
                <a:latin typeface="Georgia"/>
              </a:rPr>
              <a:t>The LLM Landscape</a:t>
            </a:r>
          </a:p>
          <a:p>
            <a:pPr algn="l"/>
            <a:r>
              <a:rPr sz="4000" b="1" i="0">
                <a:solidFill>
                  <a:srgbClr val="2E5C8A"/>
                </a:solidFill>
                <a:latin typeface="Georgia"/>
              </a:rPr>
              <a:t>&amp; The AWS Bridge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4297680"/>
            <a:ext cx="3657600" cy="0"/>
          </a:xfrm>
          <a:prstGeom prst="line">
            <a:avLst/>
          </a:prstGeom>
          <a:ln w="9525">
            <a:solidFill>
              <a:srgbClr val="D5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4434840"/>
            <a:ext cx="10058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TODAY'S PROMISE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09160"/>
            <a:ext cx="1051560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2C3E50"/>
                </a:solidFill>
                <a:latin typeface="Georgia"/>
              </a:rPr>
              <a:t>By the end of today, when someone says "let's use Llama 3.3 70B on Bedrock</a:t>
            </a:r>
          </a:p>
          <a:p>
            <a:pPr algn="l"/>
            <a:r>
              <a:rPr sz="1800" b="0" i="1">
                <a:solidFill>
                  <a:srgbClr val="2C3E50"/>
                </a:solidFill>
                <a:latin typeface="Georgia"/>
              </a:rPr>
              <a:t>with a guardrail," you will know what every word means — and what trade-off</a:t>
            </a:r>
          </a:p>
          <a:p>
            <a:pPr algn="l"/>
            <a:r>
              <a:rPr sz="1800" b="0" i="1">
                <a:solidFill>
                  <a:srgbClr val="2C3E50"/>
                </a:solidFill>
                <a:latin typeface="Georgia"/>
              </a:rPr>
              <a:t>they just made.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3 HOURS  ·  2 HALVES  ·  NO LABS  ·  CONCEPTUAL SCAFFOLDING FOR DAY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OPENING · 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Before we begin, a quick warm-up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828800"/>
            <a:ext cx="7589520" cy="36576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0" y="2194560"/>
            <a:ext cx="6858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FIVE STATEMENTS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697480"/>
            <a:ext cx="68580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 i="0">
                <a:solidFill>
                  <a:srgbClr val="1B2A4E"/>
                </a:solidFill>
                <a:latin typeface="Georgia"/>
              </a:rPr>
              <a:t>True or false?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3749040"/>
            <a:ext cx="68580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 i="0">
                <a:solidFill>
                  <a:srgbClr val="2C3E50"/>
                </a:solidFill>
                <a:latin typeface="Calibri"/>
              </a:rPr>
              <a:t>For each, vote in your head — true or false — before the reveal.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 i="0">
                <a:solidFill>
                  <a:srgbClr val="2C3E50"/>
                </a:solidFill>
                <a:latin typeface="Calibri"/>
              </a:rPr>
              <a:t>We will go through the reasoning together. The point is not whether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 i="0">
                <a:solidFill>
                  <a:srgbClr val="2C3E50"/>
                </a:solidFill>
                <a:latin typeface="Calibri"/>
              </a:rPr>
              <a:t>you got it right; the point is to surface what you think you know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 i="0">
                <a:solidFill>
                  <a:srgbClr val="2C3E50"/>
                </a:solidFill>
                <a:latin typeface="Calibri"/>
              </a:rPr>
              <a:t>versus what is actually true.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WARM-UP · QUESTION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True or false?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10058400" cy="320040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560320"/>
            <a:ext cx="5486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5600" b="1" i="0">
                <a:solidFill>
                  <a:srgbClr val="2E5C8A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651760"/>
            <a:ext cx="841248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0" i="1">
                <a:solidFill>
                  <a:srgbClr val="1B2A4E"/>
                </a:solidFill>
                <a:latin typeface="Georgia"/>
              </a:rPr>
              <a:t>GPT-5, Claude Opus 4.7, and Gemini 3 Pro are all LLMs — they all work the same way under the hood.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5778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VOTE NOW  ·  REVEAL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All transformer-based, but very different beasts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645920" cy="502920"/>
          </a:xfrm>
          <a:prstGeom prst="roundRect">
            <a:avLst>
              <a:gd name="adj" fmla="val 40000"/>
            </a:avLst>
          </a:prstGeom>
          <a:solidFill>
            <a:srgbClr val="B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645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All use the transformer architecture, but differ in: variant (dense vs Mixture of Experts), training data, RLHF approach, reasoning method, context window, native multimodality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Gemini 3 Pro is natively multimodal from training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GPT-5.5 has reasoning baked in by default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Claude Opus 4.7 uses constitutional AI for alignment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Same family. Very different operating characteristics. Picking by brand alone is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WARM-UP · QUESTION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True or false?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10058400" cy="320040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560320"/>
            <a:ext cx="5486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5600" b="1" i="0">
                <a:solidFill>
                  <a:srgbClr val="2E5C8A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651760"/>
            <a:ext cx="841248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0" i="1">
                <a:solidFill>
                  <a:srgbClr val="1B2A4E"/>
                </a:solidFill>
                <a:latin typeface="Georgia"/>
              </a:rPr>
              <a:t>More parameters always means a smarter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5778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VOTE NOW  ·  REVEAL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Data and training matter more than raw count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645920" cy="502920"/>
          </a:xfrm>
          <a:prstGeom prst="roundRect">
            <a:avLst>
              <a:gd name="adj" fmla="val 40000"/>
            </a:avLst>
          </a:prstGeom>
          <a:solidFill>
            <a:srgbClr val="B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645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A 7B model trained on better data + better RLHF can beat a poorly-trained 70B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Llama 4 Scout has 109B total parameters but only 17B active — Mixture of Experts pattern (looks huge, runs cheap)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DeepSeek V4 Pro has 1.6T total parameters but only 49B active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The right comparison is: capability per dollar per latency — not parameter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WARM-UP · QUESTION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True or false?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10058400" cy="320040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560320"/>
            <a:ext cx="5486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5600" b="1" i="0">
                <a:solidFill>
                  <a:srgbClr val="2E5C8A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651760"/>
            <a:ext cx="841248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0" i="1">
                <a:solidFill>
                  <a:srgbClr val="1B2A4E"/>
                </a:solidFill>
                <a:latin typeface="Georgia"/>
              </a:rPr>
              <a:t>If I give an LLM a 1 million token context window, it will use all of it equally well.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5778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VOTE NOW  ·  REVEAL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"Lost in the middle" is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645920" cy="502920"/>
          </a:xfrm>
          <a:prstGeom prst="roundRect">
            <a:avLst>
              <a:gd name="adj" fmla="val 40000"/>
            </a:avLst>
          </a:prstGeom>
          <a:solidFill>
            <a:srgbClr val="B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645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Most models pay disproportionate attention to the start and end of context, less to the middle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Effective context is often 30–50% of advertised context for complex reasoning tasks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1M context is a ceiling, not a recall guarantee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Implication: chunking, retrieval, and re-ranking still matter even with huge 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WARM-UP · QUESTION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True or false?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10058400" cy="320040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560320"/>
            <a:ext cx="5486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5600" b="1" i="0">
                <a:solidFill>
                  <a:srgbClr val="2E5C8A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651760"/>
            <a:ext cx="841248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0" i="1">
                <a:solidFill>
                  <a:srgbClr val="1B2A4E"/>
                </a:solidFill>
                <a:latin typeface="Georgia"/>
              </a:rPr>
              <a:t>When I call an LLM, the response is deterministic — same input, same output.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5778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VOTE NOW  ·  REVEAL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Probabilistic by default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645920" cy="502920"/>
          </a:xfrm>
          <a:prstGeom prst="roundRect">
            <a:avLst>
              <a:gd name="adj" fmla="val 40000"/>
            </a:avLst>
          </a:prstGeom>
          <a:solidFill>
            <a:srgbClr val="B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645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LLM sampling is probabilistic. Same prompt at temperature 0.7 → different outputs each time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Can be made closer-to-deterministic with temperature=0 and seed (if provider supports it)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Even then, not bit-exact. Greedy decoding picks highest-probability token, but ties exist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This is why testing agents is hard — and why this program has a dedicated QA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WARM-UP · QUESTION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True or false?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10058400" cy="320040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560320"/>
            <a:ext cx="5486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5600" b="1" i="0">
                <a:solidFill>
                  <a:srgbClr val="2E5C8A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651760"/>
            <a:ext cx="841248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0" i="1">
                <a:solidFill>
                  <a:srgbClr val="1B2A4E"/>
                </a:solidFill>
                <a:latin typeface="Georgia"/>
              </a:rPr>
              <a:t>Foundation Model, LLM, and Generative AI are all the same 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5778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VOTE NOW  ·  REVEAL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These are nested concepts, not synonyms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645920" cy="502920"/>
          </a:xfrm>
          <a:prstGeom prst="roundRect">
            <a:avLst>
              <a:gd name="adj" fmla="val 40000"/>
            </a:avLst>
          </a:prstGeom>
          <a:solidFill>
            <a:srgbClr val="B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645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Generative AI ⊃ Foundation Models ⊃ LLMs ⊃ Reasoning LLMs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Generative AI = any model that produces new content (images, audio, video, text)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Foundation Models = large, pre-trained, adaptable across many tasks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LLMs = foundation models specifically for text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We'll draw this on the next slide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12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FRAMEWORK · 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The vocabulary pyramid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1554480"/>
            <a:ext cx="5486400" cy="457200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9164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2E5C8A"/>
                </a:solidFill>
                <a:latin typeface="Calibri"/>
              </a:rPr>
              <a:t>GENERATIVE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65960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D6D7E"/>
                </a:solidFill>
                <a:latin typeface="Calibri"/>
              </a:rPr>
              <a:t>Any model that creates new content (text, image, audio, video)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2468880"/>
            <a:ext cx="4572000" cy="3520440"/>
          </a:xfrm>
          <a:prstGeom prst="roundRect">
            <a:avLst>
              <a:gd name="adj" fmla="val 4000"/>
            </a:avLst>
          </a:prstGeom>
          <a:solidFill>
            <a:srgbClr val="D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606040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FOUNDATION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880360"/>
            <a:ext cx="4206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D6D7E"/>
                </a:solidFill>
                <a:latin typeface="Calibri"/>
              </a:rPr>
              <a:t>Large, pre-trained, adaptable across many 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3291840"/>
            <a:ext cx="3566160" cy="2468880"/>
          </a:xfrm>
          <a:prstGeom prst="roundRect">
            <a:avLst>
              <a:gd name="adj" fmla="val 4000"/>
            </a:avLst>
          </a:prstGeom>
          <a:solidFill>
            <a:srgbClr val="B8C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342900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LLMs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703320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1B2A4E"/>
                </a:solidFill>
                <a:latin typeface="Calibri"/>
              </a:rPr>
              <a:t>Foundation models for text/language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4023360"/>
            <a:ext cx="2560320" cy="1463040"/>
          </a:xfrm>
          <a:prstGeom prst="roundRect">
            <a:avLst>
              <a:gd name="adj" fmla="val 4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4160520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REASONING LLMs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434840"/>
            <a:ext cx="2286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LLMs with built-in chain-of-thought (o3, Opus 4.7, Gemini 3 Pro)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828800"/>
            <a:ext cx="41148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1B2A4E"/>
                </a:solidFill>
                <a:latin typeface="Calibri"/>
              </a:rPr>
              <a:t>Every reasoning model is an LLM.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1B2A4E"/>
                </a:solidFill>
                <a:latin typeface="Calibri"/>
              </a:rPr>
              <a:t>Every LLM is a foundation model.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1B2A4E"/>
                </a:solidFill>
                <a:latin typeface="Calibri"/>
              </a:rPr>
              <a:t>Every foundation model is GenAI.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 i="1">
                <a:solidFill>
                  <a:srgbClr val="B84A3E"/>
                </a:solidFill>
                <a:latin typeface="Calibri"/>
              </a:rPr>
              <a:t>The reverse is not true.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When a PM says "we need GenAI," they probably mean LLMs.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When they say "agentic AI," they mean LLMs + tools + autonomy.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1">
                <a:solidFill>
                  <a:srgbClr val="5D6D7E"/>
                </a:solidFill>
                <a:latin typeface="Calibri"/>
              </a:rPr>
              <a:t>Vocabulary precision matters in RFPs and architecture reviews.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ANATOMY · 8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What is actually inside an LLM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697480" cy="292608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TOKENIZER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2E5C8A"/>
                </a:solidFill>
                <a:latin typeface="Calibri"/>
              </a:rPr>
              <a:t>Text →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2331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Splits input into tokens, maps each to an integer ID. Quality varies wildly by language.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64408" y="3200400"/>
            <a:ext cx="146304" cy="0"/>
          </a:xfrm>
          <a:prstGeom prst="line">
            <a:avLst/>
          </a:prstGeom>
          <a:ln w="1905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29000" y="1737360"/>
            <a:ext cx="2697480" cy="292608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1188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92024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51460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EMBEDDING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83464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2E5C8A"/>
                </a:solidFill>
                <a:latin typeface="Calibri"/>
              </a:rPr>
              <a:t>IDs → vectors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291840"/>
            <a:ext cx="2331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Each token ID becomes a high-dimensional vector (typically 4K–12K dims).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44768" y="3200400"/>
            <a:ext cx="146304" cy="0"/>
          </a:xfrm>
          <a:prstGeom prst="line">
            <a:avLst/>
          </a:prstGeom>
          <a:ln w="1905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09360" y="1737360"/>
            <a:ext cx="2697480" cy="292608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9224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92024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51460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TRANSFORMER BLOCKS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83464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2E5C8A"/>
                </a:solidFill>
                <a:latin typeface="Calibri"/>
              </a:rPr>
              <a:t>Stacked 30–100+ times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291840"/>
            <a:ext cx="2331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Each block: self-attention + feed-forward. Most parameters live here.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25128" y="3200400"/>
            <a:ext cx="146304" cy="0"/>
          </a:xfrm>
          <a:prstGeom prst="line">
            <a:avLst/>
          </a:prstGeom>
          <a:ln w="1905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89720" y="1737360"/>
            <a:ext cx="2697480" cy="292608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7260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192024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251460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OUTPUT HEAD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83464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2E5C8A"/>
                </a:solidFill>
                <a:latin typeface="Calibri"/>
              </a:rPr>
              <a:t>Vectors → probabilities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3291840"/>
            <a:ext cx="2331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Final layer produces a probability distribution over ~50K possible next tokens.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029200"/>
            <a:ext cx="11064240" cy="118872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166360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E5C8A"/>
                </a:solidFill>
                <a:latin typeface="Calibri"/>
              </a:rPr>
              <a:t>THE KEY INSIGHT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440680"/>
            <a:ext cx="106984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"70B parameters" = total weights across all these components. Every major model — GPT, Claude, Gemini, Llama, Mistral, DeepSeek — has roughly this same skeleton. Differences are in tokenizer, attention variants, training recipe, and alignment.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ATOMIC UNIT · 6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Tokens: the smallest billable thing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486400" cy="45720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2E5C8A"/>
                </a:solidFill>
                <a:latin typeface="Calibri"/>
              </a:rPr>
              <a:t>WHAT IS A 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50292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1B2A4E"/>
                </a:solidFill>
                <a:latin typeface="Georgia"/>
              </a:rPr>
              <a:t>~4 characters of 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5029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5D6D7E"/>
                </a:solidFill>
                <a:latin typeface="Calibri"/>
              </a:rPr>
              <a:t>or roughly 0.75 of a word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3246120"/>
            <a:ext cx="5029200" cy="0"/>
          </a:xfrm>
          <a:prstGeom prst="line">
            <a:avLst/>
          </a:prstGeom>
          <a:ln w="9525">
            <a:solidFill>
              <a:srgbClr val="D5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3383280"/>
            <a:ext cx="50292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1" i="0">
                <a:solidFill>
                  <a:srgbClr val="1B2A4E"/>
                </a:solidFill>
                <a:latin typeface="Calibri"/>
              </a:rPr>
              <a:t>Example: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 i="1">
                <a:solidFill>
                  <a:srgbClr val="2C3E50"/>
                </a:solidFill>
                <a:latin typeface="Calibri"/>
              </a:rPr>
              <a:t>"Bengaluru is the Silicon Valley of India"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1" i="0">
                <a:solidFill>
                  <a:srgbClr val="2E5C8A"/>
                </a:solidFill>
                <a:latin typeface="Calibri"/>
              </a:rPr>
              <a:t>→ ~10 tokens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1" i="0">
                <a:solidFill>
                  <a:srgbClr val="1B2A4E"/>
                </a:solidFill>
                <a:latin typeface="Calibri"/>
              </a:rPr>
              <a:t>Useful intuition: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1 page of A4 ≈ 500 words ≈ 650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212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2E5C8A"/>
                </a:solidFill>
                <a:latin typeface="Calibri"/>
              </a:rPr>
              <a:t>WHY TOKENS MATTER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48840"/>
            <a:ext cx="5212080" cy="96012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24028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6576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Tokens × per-token price.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Output tokens cost 3–5× input tokens on most models.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154680"/>
            <a:ext cx="5212080" cy="96012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24612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246120"/>
            <a:ext cx="36576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Tokens × generation speed.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Long outputs are slow outputs.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160520"/>
            <a:ext cx="5212080" cy="96012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25196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51960"/>
            <a:ext cx="36576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Window size measured in tokens.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System prompt + history + tools + retrieval consume the budget.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5166360"/>
            <a:ext cx="5212080" cy="96012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525780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LANGUAGE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257800"/>
            <a:ext cx="36576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English-trained tokenizers waste tokens on non-Latin scripts.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"नमस्ते" can be 1 or 8 tokens depending on the model.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API SURFACE · 8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The six knobs every API exposes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2103120" cy="41148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9202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PARAMETER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691640"/>
            <a:ext cx="4572000" cy="41148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1691640"/>
            <a:ext cx="43891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691640"/>
            <a:ext cx="4389120" cy="41148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691640"/>
            <a:ext cx="42062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WHEN TO 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2103120" cy="566928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03120"/>
            <a:ext cx="192024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onsolas"/>
              </a:rPr>
              <a:t>temperature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2103120"/>
            <a:ext cx="4572000" cy="566928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2103120"/>
            <a:ext cx="438912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Randomness in token sampling (0 = greedy, 2 = wild)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2103120"/>
            <a:ext cx="4389120" cy="566928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2103120"/>
            <a:ext cx="420624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0 for extraction / classification / tool-calls; 0.7+ for creative writing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70048"/>
            <a:ext cx="21031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670048"/>
            <a:ext cx="192024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onsolas"/>
              </a:rPr>
              <a:t>top_p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2670048"/>
            <a:ext cx="45720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2670048"/>
            <a:ext cx="438912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Nucleus sampling — top tokens whose cumulative probability ≤ 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2670048"/>
            <a:ext cx="43891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2670048"/>
            <a:ext cx="420624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Leave at 0.9–1.0 unless you have a specific reason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36976"/>
            <a:ext cx="2103120" cy="566928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236976"/>
            <a:ext cx="192024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onsolas"/>
              </a:rPr>
              <a:t>top_k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3236976"/>
            <a:ext cx="4572000" cy="566928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3236976"/>
            <a:ext cx="438912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Limit sampling to top K most likely tokens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3236976"/>
            <a:ext cx="4389120" cy="566928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3236976"/>
            <a:ext cx="420624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Tighter output control, less common in production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803904"/>
            <a:ext cx="21031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803904"/>
            <a:ext cx="192024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onsolas"/>
              </a:rPr>
              <a:t>max_tokens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51760" y="3803904"/>
            <a:ext cx="45720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88920" y="3803904"/>
            <a:ext cx="438912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Hard cap on output length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3803904"/>
            <a:ext cx="43891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3803904"/>
            <a:ext cx="420624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Always set. Runaway generations can cost $10 on one call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370832"/>
            <a:ext cx="2103120" cy="566928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370832"/>
            <a:ext cx="192024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onsolas"/>
              </a:rPr>
              <a:t>stop_sequences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4370832"/>
            <a:ext cx="4572000" cy="566928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88920" y="4370832"/>
            <a:ext cx="438912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Strings that halt generation when produced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760" y="4370832"/>
            <a:ext cx="4389120" cy="566928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4370832"/>
            <a:ext cx="420624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Structured output discipline; agent boundary markers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937760"/>
            <a:ext cx="21031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937760"/>
            <a:ext cx="192024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onsolas"/>
              </a:rPr>
              <a:t>seed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51760" y="4937760"/>
            <a:ext cx="45720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88920" y="4937760"/>
            <a:ext cx="438912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Reproducibility hint (if supported by provider)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23760" y="4937760"/>
            <a:ext cx="43891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4937760"/>
            <a:ext cx="420624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Testing, audits, regression suites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B84A3E"/>
                </a:solidFill>
                <a:latin typeface="Calibri"/>
              </a:rPr>
              <a:t>Temperature = 0 ≠ deterministic. It's greedy (always pick highest-probability token). Closer to deterministic, but still not bit-exact.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UNDER THE HOOD · 6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How an LLM actually generates 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6858000" cy="713232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836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83664"/>
            <a:ext cx="420624" cy="4206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2880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84832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onsolas"/>
              </a:rPr>
              <a:t>"The capital of France is"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87752"/>
            <a:ext cx="6858000" cy="713232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73405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34056"/>
            <a:ext cx="420624" cy="4206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79192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TOKENIZE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35224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onsolas"/>
              </a:rPr>
              <a:t>[The, capital, of, France, is]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38144"/>
            <a:ext cx="6858000" cy="713232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584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84448"/>
            <a:ext cx="420624" cy="4206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529584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FORWARD 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785616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onsolas"/>
              </a:rPr>
              <a:t>Probability distribution over ~50K tokens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88536"/>
            <a:ext cx="6858000" cy="713232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443484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34840"/>
            <a:ext cx="420624" cy="4206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379976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SAMPLE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636008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onsolas"/>
              </a:rPr>
              <a:t>"Paris"  (probability 0.94)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38928"/>
            <a:ext cx="6858000" cy="713232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528523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85232"/>
            <a:ext cx="420624" cy="4206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230368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APPEND &amp; REPEAT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486400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onsolas"/>
              </a:rPr>
              <a:t>"...is Paris" → next token → ...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1737360"/>
            <a:ext cx="4023360" cy="411480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19202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E5C8A"/>
                </a:solidFill>
                <a:latin typeface="Calibri"/>
              </a:rPr>
              <a:t>WHY THIS MATTERS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286000"/>
            <a:ext cx="365760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 b="0" i="0">
                <a:solidFill>
                  <a:srgbClr val="2C3E50"/>
                </a:solidFill>
                <a:latin typeface="Calibri"/>
              </a:rPr>
              <a:t>Autoregressive: each token depends on every token before it.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 b="0" i="0">
                <a:solidFill>
                  <a:srgbClr val="2C3E50"/>
                </a:solidFill>
                <a:latin typeface="Calibri"/>
              </a:rPr>
              <a:t>Streaming feels smooth because tokens hit your screen as they're sampled.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 b="0" i="1">
                <a:solidFill>
                  <a:srgbClr val="B84A3E"/>
                </a:solidFill>
                <a:latin typeface="Calibri"/>
              </a:rPr>
              <a:t>Hallucination is structural, not a bug. The model picks plausible next tokens. Sometimes plausible ≠ true.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REALITY CHECK · 10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Five real limitations of LLMs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64592" cy="850392"/>
          </a:xfrm>
          <a:prstGeom prst="rect">
            <a:avLst/>
          </a:prstGeom>
          <a:solidFill>
            <a:srgbClr val="B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691640"/>
            <a:ext cx="10899648" cy="850392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HALLUCINATION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5943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Produces confident, plausible, false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947672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 i="1">
                <a:solidFill>
                  <a:srgbClr val="B84A3E"/>
                </a:solidFill>
                <a:latin typeface="Calibri"/>
              </a:rPr>
              <a:t>→ RAG, guardrails, evaluations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33472"/>
            <a:ext cx="164592" cy="850392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2633472"/>
            <a:ext cx="10899648" cy="850392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STALE 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5943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Frozen at training cutoff (months to years old)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889504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 i="1">
                <a:solidFill>
                  <a:srgbClr val="C88A2E"/>
                </a:solidFill>
                <a:latin typeface="Calibri"/>
              </a:rPr>
              <a:t>→ Tool use (live search, DB queries)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75304"/>
            <a:ext cx="164592" cy="850392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" y="3575304"/>
            <a:ext cx="10899648" cy="850392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66744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NO NATIVE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59352"/>
            <a:ext cx="5943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Every API call starts fresh unless you pass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831336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 i="1">
                <a:solidFill>
                  <a:srgbClr val="2E5C8A"/>
                </a:solidFill>
                <a:latin typeface="Calibri"/>
              </a:rPr>
              <a:t>→ Memory systems (Day 4)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17136"/>
            <a:ext cx="164592" cy="850392"/>
          </a:xfrm>
          <a:prstGeom prst="rect">
            <a:avLst/>
          </a:prstGeom>
          <a:solidFill>
            <a:srgbClr val="3F7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4517136"/>
            <a:ext cx="10899648" cy="850392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08576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CONTEXT WINDOW CEILING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01184"/>
            <a:ext cx="5943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Cannot reason over arbitrary-length inputs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773168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 i="1">
                <a:solidFill>
                  <a:srgbClr val="3F7D58"/>
                </a:solidFill>
                <a:latin typeface="Calibri"/>
              </a:rPr>
              <a:t>→ Retrieval, chunking, summarization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458968"/>
            <a:ext cx="164592" cy="850392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3232" y="5458968"/>
            <a:ext cx="10899648" cy="850392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550408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PROBABILISTIC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843016"/>
            <a:ext cx="5943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Same prompt → different answers; hard to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5715000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 i="1">
                <a:solidFill>
                  <a:srgbClr val="1B2A4E"/>
                </a:solidFill>
                <a:latin typeface="Calibri"/>
              </a:rPr>
              <a:t>→ QA discipline (add-on track)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HALF 1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Where we are — and where we go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86400" cy="36576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2E5C8A"/>
                </a:solidFill>
                <a:latin typeface="Calibri"/>
              </a:rPr>
              <a:t>COVERED THIS HALF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502920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•  Tokens — the atomic billing and latency unit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•  Parameters — what 7B vs 70B vs 671B really means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•  The transformer skeleton — tokenizer, embeddings, blocks, head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•  Inference knobs — temperature, top_p, max_tokens, seed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•  Autoregressive generation — one token at a time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•  Five real limitations — each one a Day 2+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91640"/>
            <a:ext cx="5212080" cy="365760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82880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2E5C8A"/>
                </a:solidFill>
                <a:latin typeface="Calibri"/>
              </a:rPr>
              <a:t>AFTER THE BREAK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286000"/>
            <a:ext cx="484632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The market — who builds which models, and how to pick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GenAI platforms — OpenAI vs Anthropic vs Google vs Bedrock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Bedrock — what's inside, why it exists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AgentCore — what it adds on top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577840"/>
            <a:ext cx="11064240" cy="548640"/>
          </a:xfrm>
          <a:prstGeom prst="roundRect">
            <a:avLst>
              <a:gd name="adj" fmla="val 4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15-MINUTE BREAK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19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HALF 2 · THE AWS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From the LLM zoo to a Bedrock-shaped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2C3E50"/>
                </a:solidFill>
                <a:latin typeface="Georgia"/>
              </a:rPr>
              <a:t>Half 2 is the connective tissue between LLM theory and Day 2's hands-on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2697480" cy="32004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2697480" cy="457200"/>
          </a:xfrm>
          <a:prstGeom prst="roundRect">
            <a:avLst>
              <a:gd name="adj" fmla="val 4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26974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23317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2A4E"/>
                </a:solidFill>
                <a:latin typeface="Georgia"/>
              </a:rPr>
              <a:t>The LLM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233172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Who builds what, current state in May 2026, how to pick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651760"/>
            <a:ext cx="2697480" cy="32004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2651760"/>
            <a:ext cx="2697480" cy="457200"/>
          </a:xfrm>
          <a:prstGeom prst="roundRect">
            <a:avLst>
              <a:gd name="adj" fmla="val 4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651760"/>
            <a:ext cx="26974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337560"/>
            <a:ext cx="23317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2A4E"/>
                </a:solidFill>
                <a:latin typeface="Georgia"/>
              </a:rPr>
              <a:t>Model variants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4206240"/>
            <a:ext cx="233172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Opus vs Sonnet vs Haiku — and the equivalent across families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651760"/>
            <a:ext cx="2697480" cy="32004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2651760"/>
            <a:ext cx="2697480" cy="457200"/>
          </a:xfrm>
          <a:prstGeom prst="roundRect">
            <a:avLst>
              <a:gd name="adj" fmla="val 4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651760"/>
            <a:ext cx="26974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37560"/>
            <a:ext cx="23317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2A4E"/>
                </a:solidFill>
                <a:latin typeface="Georgia"/>
              </a:rPr>
              <a:t>Bedrock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06240"/>
            <a:ext cx="233172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What it actually is, what's inside, why it exists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2651760"/>
            <a:ext cx="2697480" cy="32004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9720" y="2651760"/>
            <a:ext cx="2697480" cy="457200"/>
          </a:xfrm>
          <a:prstGeom prst="roundRect">
            <a:avLst>
              <a:gd name="adj" fmla="val 4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2651760"/>
            <a:ext cx="26974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337560"/>
            <a:ext cx="23317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2A4E"/>
                </a:solidFill>
                <a:latin typeface="Georgia"/>
              </a:rPr>
              <a:t>AgentCore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4206240"/>
            <a:ext cx="233172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The agent platform that sits above Bedrock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LANDSCAPE · 8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The LLM market in 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2103120" cy="384048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9659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FAMILY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691640"/>
            <a:ext cx="1371600" cy="384048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691640"/>
            <a:ext cx="123444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PROVIDER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691640"/>
            <a:ext cx="1828800" cy="384048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691640"/>
            <a:ext cx="169164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FLAGSHIP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691640"/>
            <a:ext cx="822960" cy="384048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691640"/>
            <a:ext cx="68580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OPEN?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691640"/>
            <a:ext cx="4937760" cy="384048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691640"/>
            <a:ext cx="480060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SWEET SPOT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210312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075688"/>
            <a:ext cx="1965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B2A4E"/>
                </a:solidFill>
                <a:latin typeface="Calibri"/>
              </a:rPr>
              <a:t>GPT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075688"/>
            <a:ext cx="137160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2075688"/>
            <a:ext cx="12344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OpenAI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2075688"/>
            <a:ext cx="182880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2075688"/>
            <a:ext cx="1691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GPT-5.5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2075688"/>
            <a:ext cx="82296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2075688"/>
            <a:ext cx="685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B84A3E"/>
                </a:solidFill>
                <a:latin typeface="Calibri"/>
              </a:rPr>
              <a:t>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2075688"/>
            <a:ext cx="493776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2075688"/>
            <a:ext cx="48006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Agentic terminal work, general-purpose, ecosystem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578608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578608"/>
            <a:ext cx="1965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B2A4E"/>
                </a:solidFill>
                <a:latin typeface="Calibri"/>
              </a:rPr>
              <a:t>Claude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2578608"/>
            <a:ext cx="1371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2578608"/>
            <a:ext cx="12344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Anthropic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0" y="257860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0" y="2578608"/>
            <a:ext cx="1691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Opus 4.7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2578608"/>
            <a:ext cx="8229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2578608"/>
            <a:ext cx="685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B84A3E"/>
                </a:solidFill>
                <a:latin typeface="Calibri"/>
              </a:rPr>
              <a:t>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2578608"/>
            <a:ext cx="49377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2578608"/>
            <a:ext cx="48006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Multi-file code, nuanced writing, long context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081528"/>
            <a:ext cx="210312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081528"/>
            <a:ext cx="1965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B2A4E"/>
                </a:solidFill>
                <a:latin typeface="Calibri"/>
              </a:rPr>
              <a:t>Gemini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3081528"/>
            <a:ext cx="137160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0" y="3081528"/>
            <a:ext cx="12344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Google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23360" y="3081528"/>
            <a:ext cx="182880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0" y="3081528"/>
            <a:ext cx="1691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3 Pro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52160" y="3081528"/>
            <a:ext cx="82296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0" y="3081528"/>
            <a:ext cx="685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B84A3E"/>
                </a:solidFill>
                <a:latin typeface="Calibri"/>
              </a:rPr>
              <a:t>No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3081528"/>
            <a:ext cx="493776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0" y="3081528"/>
            <a:ext cx="48006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Multimodal, 1M+ context, scientific reasoning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584448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3584448"/>
            <a:ext cx="1965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B2A4E"/>
                </a:solidFill>
                <a:latin typeface="Calibri"/>
              </a:rPr>
              <a:t>Llama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51760" y="3584448"/>
            <a:ext cx="1371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0" y="3584448"/>
            <a:ext cx="12344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Meta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23360" y="358444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0" y="3584448"/>
            <a:ext cx="1691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Llama 4 Scout/Maverick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52160" y="3584448"/>
            <a:ext cx="8229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0" y="3584448"/>
            <a:ext cx="685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3F7D58"/>
                </a:solidFill>
                <a:latin typeface="Calibri"/>
              </a:rPr>
              <a:t>Yes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75120" y="3584448"/>
            <a:ext cx="49377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0" y="3584448"/>
            <a:ext cx="48006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Self-host, fine-tune, data sovereignty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087368"/>
            <a:ext cx="210312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4087368"/>
            <a:ext cx="1965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B2A4E"/>
                </a:solidFill>
                <a:latin typeface="Calibri"/>
              </a:rPr>
              <a:t>Mistral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51760" y="4087368"/>
            <a:ext cx="137160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0" y="4087368"/>
            <a:ext cx="12344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Mistral AI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23360" y="4087368"/>
            <a:ext cx="182880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0" y="4087368"/>
            <a:ext cx="1691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Mistral Large 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2160" y="4087368"/>
            <a:ext cx="82296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0" y="4087368"/>
            <a:ext cx="685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C88A2E"/>
                </a:solidFill>
                <a:latin typeface="Calibri"/>
              </a:rPr>
              <a:t>Partial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75120" y="4087368"/>
            <a:ext cx="493776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66560" y="4087368"/>
            <a:ext cx="48006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EU sovereignty, efficient inference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4590288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4590288"/>
            <a:ext cx="1965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B2A4E"/>
                </a:solidFill>
                <a:latin typeface="Calibri"/>
              </a:rPr>
              <a:t>DeepSeek/Qwen/GLM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51760" y="4590288"/>
            <a:ext cx="1371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0" y="4590288"/>
            <a:ext cx="12344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Chinese labs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023360" y="459028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0" y="4590288"/>
            <a:ext cx="1691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V4, 3.5, 5.1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852160" y="4590288"/>
            <a:ext cx="8229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43600" y="4590288"/>
            <a:ext cx="685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3F7D58"/>
                </a:solidFill>
                <a:latin typeface="Calibri"/>
              </a:rPr>
              <a:t>Yes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75120" y="4590288"/>
            <a:ext cx="49377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66560" y="4590288"/>
            <a:ext cx="48006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Cost-performance leader, 5–25× cheaper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7240" y="5486400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E5C8A"/>
                </a:solidFill>
                <a:latin typeface="Calibri"/>
              </a:rPr>
              <a:t>TASK-SPECIFIC ROUTING IS THE 2026 DEFAULT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7240" y="5760720"/>
            <a:ext cx="106984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No model is best at everything. Most production systems route across 2–3 models: cheap for classification, strong for reasoning, occasionally a code-specialist for code paths.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INSIDE A FAMILY · 8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What "GPT-5.5" actually means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657600" cy="292608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3657600" cy="502920"/>
          </a:xfrm>
          <a:prstGeom prst="rect">
            <a:avLst/>
          </a:prstGeom>
          <a:solidFill>
            <a:srgbClr val="B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6576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OPUS-CLASS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2918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1B2A4E"/>
                </a:solidFill>
                <a:latin typeface="Georgia"/>
              </a:rPr>
              <a:t>Largest. Smartest. Slowest. Most expensive.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2918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Deep reasoning, hard problems, low-volume high-stakes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931920"/>
            <a:ext cx="3291840" cy="0"/>
          </a:xfrm>
          <a:prstGeom prst="line">
            <a:avLst/>
          </a:prstGeom>
          <a:ln w="9525">
            <a:solidFill>
              <a:srgbClr val="D5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402336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6D7E"/>
                </a:solidFill>
                <a:latin typeface="Calibri"/>
              </a:rPr>
              <a:t>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B84A3E"/>
                </a:solidFill>
                <a:latin typeface="Calibri"/>
              </a:rPr>
              <a:t>Opus 4.7  ·  GPT-5.5  ·  Gemini 3 Pro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737360"/>
            <a:ext cx="3657600" cy="292608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737360"/>
            <a:ext cx="3657600" cy="5029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737360"/>
            <a:ext cx="36576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SONNET-CLASS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377440"/>
            <a:ext cx="32918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1B2A4E"/>
                </a:solidFill>
                <a:latin typeface="Georgia"/>
              </a:rPr>
              <a:t>Mid-tier. Balanced.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926080"/>
            <a:ext cx="32918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Production default for most enterprise tasks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80560" y="3931920"/>
            <a:ext cx="3291840" cy="0"/>
          </a:xfrm>
          <a:prstGeom prst="line">
            <a:avLst/>
          </a:prstGeom>
          <a:ln w="9525">
            <a:solidFill>
              <a:srgbClr val="D5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80560" y="402336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6D7E"/>
                </a:solidFill>
                <a:latin typeface="Calibri"/>
              </a:rPr>
              <a:t>EXAMPLES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25196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2E5C8A"/>
                </a:solidFill>
                <a:latin typeface="Calibri"/>
              </a:rPr>
              <a:t>Sonnet 4.6  ·  GPT-5.5 mini  ·  Gemini 3 Flash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737360"/>
            <a:ext cx="3657600" cy="292608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737360"/>
            <a:ext cx="3657600" cy="502920"/>
          </a:xfrm>
          <a:prstGeom prst="rect">
            <a:avLst/>
          </a:prstGeom>
          <a:solidFill>
            <a:srgbClr val="3F7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1737360"/>
            <a:ext cx="36576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HAIKU-CLASS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377440"/>
            <a:ext cx="32918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1B2A4E"/>
                </a:solidFill>
                <a:latin typeface="Georgia"/>
              </a:rPr>
              <a:t>Small. Fast. Cheap.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926080"/>
            <a:ext cx="32918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Classification, routing, high-volume queries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600" y="3931920"/>
            <a:ext cx="3291840" cy="0"/>
          </a:xfrm>
          <a:prstGeom prst="line">
            <a:avLst/>
          </a:prstGeom>
          <a:ln w="9525">
            <a:solidFill>
              <a:srgbClr val="D5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29600" y="402336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6D7E"/>
                </a:solidFill>
                <a:latin typeface="Calibri"/>
              </a:rPr>
              <a:t>EXAMPLES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5196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3F7D58"/>
                </a:solidFill>
                <a:latin typeface="Calibri"/>
              </a:rPr>
              <a:t>Haiku 3.5  ·  GPT-5.5 nano  ·  Gemini 3 Nano  ·  Nova Micro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937760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E5C8A"/>
                </a:solidFill>
                <a:latin typeface="Calibri"/>
              </a:rPr>
              <a:t>PLUS ORTHOGONAL AXES — every flagship offers these toggles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257800"/>
            <a:ext cx="106984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2C3E50"/>
                </a:solidFill>
                <a:latin typeface="Calibri"/>
              </a:rPr>
              <a:t>Reasoning mode — extended thinking on/off (more tokens spent on internal reasoning before final output)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2C3E50"/>
                </a:solidFill>
                <a:latin typeface="Calibri"/>
              </a:rPr>
              <a:t>Effort level — low / medium / high / max (how hard the model 'tries' on hard problems)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2C3E50"/>
                </a:solidFill>
                <a:latin typeface="Calibri"/>
              </a:rPr>
              <a:t>Context window — 200K default, 1M+ for some tiers   ·   Multimodal — vision support varies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STRATEGIC CHOICE · 6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Open weights vs closed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40680" cy="420624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40680" cy="502920"/>
          </a:xfrm>
          <a:prstGeom prst="rect">
            <a:avLst/>
          </a:prstGeom>
          <a:solidFill>
            <a:srgbClr val="3F7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4406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OPEN WEIGHTS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074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 i="1">
                <a:solidFill>
                  <a:srgbClr val="5D6D7E"/>
                </a:solidFill>
                <a:latin typeface="Calibri"/>
              </a:rPr>
              <a:t>Llama  ·  Qwen  ·  DeepSeek  ·  Mistral  ·  GLM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5074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50749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•  Full data sovereignty (HIPAA, GDPR)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•  Self-host, or use Bedrock with full control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•  Fine-tune on proprietary data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•  Predictable cost at scale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•  Best for high-volume, repetitive tasks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5212080"/>
            <a:ext cx="5074920" cy="0"/>
          </a:xfrm>
          <a:prstGeom prst="line">
            <a:avLst/>
          </a:prstGeom>
          <a:ln w="9525">
            <a:solidFill>
              <a:srgbClr val="D5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5303520"/>
            <a:ext cx="5074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B84A3E"/>
                </a:solidFill>
                <a:latin typeface="Calibri"/>
              </a:rPr>
              <a:t>NEEDS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5074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ML infrastructure + ops expertise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91640"/>
            <a:ext cx="5440680" cy="420624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91640"/>
            <a:ext cx="5440680" cy="5029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91640"/>
            <a:ext cx="54406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CLOSED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074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 i="1">
                <a:solidFill>
                  <a:srgbClr val="5D6D7E"/>
                </a:solidFill>
                <a:latin typeface="Calibri"/>
              </a:rPr>
              <a:t>GPT  ·  Claude  ·  Gemini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97480"/>
            <a:ext cx="5074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71800"/>
            <a:ext cx="50749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•  Higher absolute capability ceiling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•  Zero infra investment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•  Native multimodality (most flagships)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•  Frontier features first (reasoning, agents)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•  Best for low-volume, high-stakes tasks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0" y="5212080"/>
            <a:ext cx="5074920" cy="0"/>
          </a:xfrm>
          <a:prstGeom prst="line">
            <a:avLst/>
          </a:prstGeom>
          <a:ln w="9525">
            <a:solidFill>
              <a:srgbClr val="D5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0" y="5303520"/>
            <a:ext cx="5074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B84A3E"/>
                </a:solidFill>
                <a:latin typeface="Calibri"/>
              </a:rPr>
              <a:t>LIMITS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532120"/>
            <a:ext cx="5074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Pay per token; opaque cost at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 i="1">
                <a:solidFill>
                  <a:srgbClr val="1B2A4E"/>
                </a:solidFill>
                <a:latin typeface="Calibri"/>
              </a:rPr>
              <a:t>The open-weight model you can run today is roughly as capable as the closed flagship of 12–18 months ago. Plan accordingly.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THE SKEPTIC'S QUESTION · 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If I can just call OpenAI directly...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9418320" cy="228600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468880"/>
            <a:ext cx="6400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0" b="1" i="0">
                <a:solidFill>
                  <a:srgbClr val="2E5C8A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651760"/>
            <a:ext cx="822960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0" i="1">
                <a:solidFill>
                  <a:srgbClr val="1B2A4E"/>
                </a:solidFill>
                <a:latin typeface="Georgia"/>
              </a:rPr>
              <a:t>If I can just call the OpenAI API directly,</a:t>
            </a:r>
          </a:p>
          <a:p>
            <a:pPr algn="l"/>
            <a:r>
              <a:rPr sz="2200" b="0" i="1">
                <a:solidFill>
                  <a:srgbClr val="1B2A4E"/>
                </a:solidFill>
                <a:latin typeface="Georgia"/>
              </a:rPr>
              <a:t>why do I need Bedrock or any platform at all?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5D6D7E"/>
                </a:solidFill>
                <a:latin typeface="Calibri"/>
              </a:rPr>
              <a:t>REVEAL NEXT — what you give up by going API-direct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What you give up going API-direct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64240" cy="658368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27432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B84A3E"/>
                </a:solidFill>
                <a:latin typeface="Calibri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737360"/>
            <a:ext cx="50292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B2A4E"/>
                </a:solidFill>
                <a:latin typeface="Calibri"/>
              </a:rPr>
              <a:t>One-provider lock-in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292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1">
                <a:solidFill>
                  <a:srgbClr val="2C3E50"/>
                </a:solidFill>
                <a:latin typeface="Calibri"/>
              </a:rPr>
              <a:t>vs Bedrock's multi-provider single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11064240" cy="658368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27432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B84A3E"/>
                </a:solidFill>
                <a:latin typeface="Calibri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68880"/>
            <a:ext cx="50292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B2A4E"/>
                </a:solidFill>
                <a:latin typeface="Calibri"/>
              </a:rPr>
              <a:t>Data flows to provider's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50292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1">
                <a:solidFill>
                  <a:srgbClr val="2C3E50"/>
                </a:solidFill>
                <a:latin typeface="Calibri"/>
              </a:rPr>
              <a:t>vs Bedrock keeping data in your AWS account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11064240" cy="658368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27432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B84A3E"/>
                </a:solidFill>
                <a:latin typeface="Calibr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00400"/>
            <a:ext cx="50292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B2A4E"/>
                </a:solidFill>
                <a:latin typeface="Calibri"/>
              </a:rPr>
              <a:t>Separate IAM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50292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1">
                <a:solidFill>
                  <a:srgbClr val="2C3E50"/>
                </a:solidFill>
                <a:latin typeface="Calibri"/>
              </a:rPr>
              <a:t>vs your existing AWS IAM, KMS, VPC, CloudTrail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11064240" cy="658368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31920"/>
            <a:ext cx="27432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B84A3E"/>
                </a:solidFill>
                <a:latin typeface="Calibri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931920"/>
            <a:ext cx="50292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B2A4E"/>
                </a:solidFill>
                <a:latin typeface="Calibri"/>
              </a:rPr>
              <a:t>No native enterprise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31920"/>
            <a:ext cx="50292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1">
                <a:solidFill>
                  <a:srgbClr val="2C3E50"/>
                </a:solidFill>
                <a:latin typeface="Calibri"/>
              </a:rPr>
              <a:t>vs Bedrock's Guardrails, Evaluations, Knowledge Bases, agent runtime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63440"/>
            <a:ext cx="11064240" cy="658368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663440"/>
            <a:ext cx="27432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B84A3E"/>
                </a:solidFill>
                <a:latin typeface="Calibri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663440"/>
            <a:ext cx="50292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B2A4E"/>
                </a:solidFill>
                <a:latin typeface="Calibri"/>
              </a:rPr>
              <a:t>Separate billing and audit trail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63440"/>
            <a:ext cx="50292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1">
                <a:solidFill>
                  <a:srgbClr val="2C3E50"/>
                </a:solidFill>
                <a:latin typeface="Calibri"/>
              </a:rPr>
              <a:t>vs unified AWS billing and compliance posture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394960"/>
            <a:ext cx="11064240" cy="658368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94960"/>
            <a:ext cx="27432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B84A3E"/>
                </a:solidFill>
                <a:latin typeface="Calibri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394960"/>
            <a:ext cx="50292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B2A4E"/>
                </a:solidFill>
                <a:latin typeface="Calibri"/>
              </a:rPr>
              <a:t>Multi-model routing/fallback is your problem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394960"/>
            <a:ext cx="50292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1">
                <a:solidFill>
                  <a:srgbClr val="2C3E50"/>
                </a:solidFill>
                <a:latin typeface="Calibri"/>
              </a:rPr>
              <a:t>vs Bedrock Intelligent Prompt Routing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ANCHOR CONCEPT · 10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What is Amazon Bedrock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1">
                <a:solidFill>
                  <a:srgbClr val="1B2A4E"/>
                </a:solidFill>
                <a:latin typeface="Georgia"/>
              </a:rPr>
              <a:t>AWS's managed service for foundation models — multi-provider, multi-feature, IAM-integrated.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697480" cy="169164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23317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Model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233172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Unified API across Anthropic, Meta, Mistral, Nova, AI21, Cohere, Stability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194560"/>
            <a:ext cx="2697480" cy="169164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331720"/>
            <a:ext cx="23317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Model customization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834640"/>
            <a:ext cx="233172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Fine-tuning, continued pre-training, custom model import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94560"/>
            <a:ext cx="2697480" cy="169164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23317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Knowledge Bases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233172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Managed RAG with S3 Vectors, OpenSearch, Aurora, Pinecone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194560"/>
            <a:ext cx="2697480" cy="169164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331720"/>
            <a:ext cx="23317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Guardrails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834640"/>
            <a:ext cx="233172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Content filters, denied topics, PII detection, grounding checks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2697480" cy="169164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60520"/>
            <a:ext cx="23317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Evaluations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63440"/>
            <a:ext cx="233172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Built-in model assessment (automated + human-in-the-loop)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4023360"/>
            <a:ext cx="2697480" cy="169164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4160520"/>
            <a:ext cx="23317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663440"/>
            <a:ext cx="233172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Visual workflow orchestrator for multi-step LLM pipelines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023360"/>
            <a:ext cx="2697480" cy="169164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160520"/>
            <a:ext cx="23317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Prompt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63440"/>
            <a:ext cx="233172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Versioned prompt library with deployment controls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4023360"/>
            <a:ext cx="2697480" cy="169164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4160520"/>
            <a:ext cx="23317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Marketplace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4663440"/>
            <a:ext cx="233172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100+ additional models from various providers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 i="1">
                <a:solidFill>
                  <a:srgbClr val="1B2A4E"/>
                </a:solidFill>
                <a:latin typeface="Calibri"/>
              </a:rPr>
              <a:t>There's no separate "Bedrock fee." You pay for model inference + any add-ons used (KB retrieval, Guardrails text units, etc.)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COST DISCIPLINE · 8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Bedrock pricing mental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064240" cy="82296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5623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56232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01368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03120"/>
            <a:ext cx="10058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Input vs output — output is 3–5× more expensive on most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51760"/>
            <a:ext cx="11064240" cy="82296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81635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16352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761488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MODEL CHOICE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63240"/>
            <a:ext cx="10058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Up to 400× variance. Nova Micro ≈ $0.035/M output vs Opus 4.7 ≈ $75/M output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77647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76472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721608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ADD-ON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023360"/>
            <a:ext cx="10058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Guardrails ($0.15/1K text units per filter)  ·  KB retrieval  ·  BDA parsing ($0.010/page)  ·  Rerank ($1.00/1K)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72000"/>
            <a:ext cx="11064240" cy="82296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73659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736592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681728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INFERENCE 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983480"/>
            <a:ext cx="10058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On-demand  vs  Batch (50% discount)  vs  Provisioned Throughput (reserved capacity)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32120"/>
            <a:ext cx="3657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800" b="0" i="0">
                <a:solidFill>
                  <a:srgbClr val="B84A3E"/>
                </a:solidFill>
                <a:latin typeface="Calibri"/>
              </a:rPr>
              <a:t>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577840"/>
            <a:ext cx="10424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B84A3E"/>
                </a:solidFill>
                <a:latin typeface="Calibri"/>
              </a:rPr>
              <a:t>AGENT TOKEN AMPLIFICATION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852160"/>
            <a:ext cx="104241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A single user query in an agent flow can consume 4–8× the tokens you'd estimate. Thinking, searching, tool-calling, summarising all cost.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THE STACK · 6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What sits where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691640"/>
            <a:ext cx="7589520" cy="777240"/>
          </a:xfrm>
          <a:prstGeom prst="roundRect">
            <a:avLst>
              <a:gd name="adj" fmla="val 4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4600" y="1764792"/>
            <a:ext cx="71323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YOUR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112264"/>
            <a:ext cx="7132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  <a:latin typeface="Calibri"/>
              </a:rPr>
              <a:t>UI, business logic, integrations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542032"/>
            <a:ext cx="7589520" cy="777240"/>
          </a:xfrm>
          <a:prstGeom prst="roundRect">
            <a:avLst>
              <a:gd name="adj" fmla="val 4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2615184"/>
            <a:ext cx="71323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BEDROCK AGENTCORE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62656"/>
            <a:ext cx="7132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  <a:latin typeface="Calibri"/>
              </a:rPr>
              <a:t>Agent runtime layer (Runtime, Memory, Gateway, Identity, Observability)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3392424"/>
            <a:ext cx="7589520" cy="777240"/>
          </a:xfrm>
          <a:prstGeom prst="roundRect">
            <a:avLst>
              <a:gd name="adj" fmla="val 4000"/>
            </a:avLst>
          </a:prstGeom>
          <a:solidFill>
            <a:srgbClr val="3F5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3465576"/>
            <a:ext cx="71323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BEDROCK ADD-ONS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813048"/>
            <a:ext cx="7132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  <a:latin typeface="Calibri"/>
              </a:rPr>
              <a:t>Knowledge Bases  ·  Guardrails  ·  Evaluations  ·  Flows  ·  Prompt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4242816"/>
            <a:ext cx="7589520" cy="777240"/>
          </a:xfrm>
          <a:prstGeom prst="roundRect">
            <a:avLst>
              <a:gd name="adj" fmla="val 4000"/>
            </a:avLst>
          </a:prstGeom>
          <a:solidFill>
            <a:srgbClr val="5A7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4315968"/>
            <a:ext cx="71323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BEDROCK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4663440"/>
            <a:ext cx="7132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  <a:latin typeface="Calibri"/>
              </a:rPr>
              <a:t>Unified inference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5093208"/>
            <a:ext cx="7589520" cy="777240"/>
          </a:xfrm>
          <a:prstGeom prst="roundRect">
            <a:avLst>
              <a:gd name="adj" fmla="val 4000"/>
            </a:avLst>
          </a:prstGeom>
          <a:solidFill>
            <a:srgbClr val="7A9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5166360"/>
            <a:ext cx="71323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FOUNDATION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5513832"/>
            <a:ext cx="7132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  <a:latin typeface="Calibri"/>
              </a:rPr>
              <a:t>Anthropic  ·  Meta  ·  Mistral  ·  Nova  ·  AI21  ·  Cohere  ·  Stability  ·  Marketplace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1691640"/>
            <a:ext cx="17373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 i="1">
                <a:solidFill>
                  <a:srgbClr val="5D6D7E"/>
                </a:solidFill>
                <a:latin typeface="Calibri"/>
              </a:rPr>
              <a:t>TOP</a:t>
            </a:r>
          </a:p>
          <a:p>
            <a:pPr algn="r"/>
            <a:r>
              <a:rPr sz="1000" b="0" i="1">
                <a:solidFill>
                  <a:srgbClr val="5D6D7E"/>
                </a:solidFill>
                <a:latin typeface="Calibri"/>
              </a:rPr>
              <a:t>Closest to</a:t>
            </a:r>
          </a:p>
          <a:p>
            <a:pPr algn="r"/>
            <a:r>
              <a:rPr sz="1000" b="0" i="1">
                <a:solidFill>
                  <a:srgbClr val="5D6D7E"/>
                </a:solidFill>
                <a:latin typeface="Calibri"/>
              </a:rPr>
              <a:t>the user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303520"/>
            <a:ext cx="17373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 i="1">
                <a:solidFill>
                  <a:srgbClr val="5D6D7E"/>
                </a:solidFill>
                <a:latin typeface="Calibri"/>
              </a:rPr>
              <a:t>BOTTOM</a:t>
            </a:r>
          </a:p>
          <a:p>
            <a:pPr algn="r"/>
            <a:r>
              <a:rPr sz="1000" b="0" i="1">
                <a:solidFill>
                  <a:srgbClr val="5D6D7E"/>
                </a:solidFill>
                <a:latin typeface="Calibri"/>
              </a:rPr>
              <a:t>The actual</a:t>
            </a:r>
          </a:p>
          <a:p>
            <a:pPr algn="r"/>
            <a:r>
              <a:rPr sz="1000" b="0" i="1">
                <a:solidFill>
                  <a:srgbClr val="5D6D7E"/>
                </a:solidFill>
                <a:latin typeface="Calibri"/>
              </a:rPr>
              <a:t>intelligence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1691640"/>
            <a:ext cx="1828800" cy="411480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60" y="1828800"/>
            <a:ext cx="16002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2E5C8A"/>
                </a:solidFill>
                <a:latin typeface="Calibri"/>
              </a:rPr>
              <a:t>COMPOSABLE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2C3E50"/>
                </a:solidFill>
                <a:latin typeface="Calibri"/>
              </a:rPr>
              <a:t>You can use any layer independently.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2C3E50"/>
                </a:solidFill>
                <a:latin typeface="Calibri"/>
              </a:rPr>
              <a:t>Bedrock without AgentCore = single-shot LLM + RAG + guardrails.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2C3E50"/>
                </a:solidFill>
                <a:latin typeface="Calibri"/>
              </a:rPr>
              <a:t>AgentCore with non-Bedrock models = also supported.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THE AGENT PLATFORM · 10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Bedrock AgentCore — five modular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1B2A4E"/>
                </a:solidFill>
                <a:latin typeface="Georgia"/>
              </a:rPr>
              <a:t>AWS's production-grade agent platform. Framework-agnostic, model-agnostic, modular.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194560" cy="22860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2194560" cy="41148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192024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Secure sandboxed environment to host agents at scale. Consumption-based pricing (per-second vCPU + GB-hours). Pay only for active 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194560"/>
            <a:ext cx="2194560" cy="22860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40" y="2194560"/>
            <a:ext cx="2194560" cy="41148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2194560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97480"/>
            <a:ext cx="192024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Short-term (session) + long-term (persistent) memory. Built-in strategies or custom configurations.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194560"/>
            <a:ext cx="2194560" cy="22860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2194560"/>
            <a:ext cx="2194560" cy="41148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194560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697480"/>
            <a:ext cx="192024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Connects agents to external tools/APIs with auth. Supports VPC connectivity for private endpoints.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194560"/>
            <a:ext cx="2194560" cy="22860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2194560"/>
            <a:ext cx="2194560" cy="41148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2194560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697480"/>
            <a:ext cx="192024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Inbound auth (SigV4, OAuth, Cognito) + outbound credential management for third-party APIs.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2194560"/>
            <a:ext cx="2194560" cy="22860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92640" y="2194560"/>
            <a:ext cx="2194560" cy="41148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2194560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OBSERVABILITY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697480"/>
            <a:ext cx="192024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Full agent traces in CloudWatch — every tool call, every LLM call, every decision.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17720"/>
            <a:ext cx="11064240" cy="164592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754880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2E5C8A"/>
                </a:solidFill>
                <a:latin typeface="Calibri"/>
              </a:rPr>
              <a:t>PLUS — newer additions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120640"/>
            <a:ext cx="106984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Code Interpreter — sandboxed code execution for agent-driven analysis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Browser Tool — agent-controlled web browsing with profile persistence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Policy / Authorization — fine-grained agent permissions at $0.000025 per authorization 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MAKE VS BUY · 6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What AgentCore replaces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1B2A4E"/>
                </a:solidFill>
                <a:latin typeface="Georgia"/>
              </a:rPr>
              <a:t>Without AgentCore, an enterprise agent team builds six things from scratch.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440680" cy="347472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5440680" cy="457200"/>
          </a:xfrm>
          <a:prstGeom prst="rect">
            <a:avLst/>
          </a:prstGeom>
          <a:solidFill>
            <a:srgbClr val="B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54406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BUILD IT YOURSELF (months per layer)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1B2A4E"/>
                </a:solidFill>
                <a:latin typeface="Calibri"/>
              </a:rPr>
              <a:t>•  Container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78892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2C3E50"/>
                </a:solidFill>
                <a:latin typeface="Calibri"/>
              </a:rPr>
              <a:t>ECS/EKS + scaling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1B2A4E"/>
                </a:solidFill>
                <a:latin typeface="Calibri"/>
              </a:rPr>
              <a:t>•  Memory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24612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2C3E50"/>
                </a:solidFill>
                <a:latin typeface="Calibri"/>
              </a:rPr>
              <a:t>Redis + Postgres + retention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1B2A4E"/>
                </a:solidFill>
                <a:latin typeface="Calibri"/>
              </a:rPr>
              <a:t>•  Tool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70332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2C3E50"/>
                </a:solidFill>
                <a:latin typeface="Calibri"/>
              </a:rPr>
              <a:t>API gateway + auth +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1B2A4E"/>
                </a:solidFill>
                <a:latin typeface="Calibri"/>
              </a:rPr>
              <a:t>•  Identity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16052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2C3E50"/>
                </a:solidFill>
                <a:latin typeface="Calibri"/>
              </a:rPr>
              <a:t>Cognito + IAM + token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1772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1B2A4E"/>
                </a:solidFill>
                <a:latin typeface="Calibri"/>
              </a:rPr>
              <a:t>•  Observability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61772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2C3E50"/>
                </a:solidFill>
                <a:latin typeface="Calibri"/>
              </a:rPr>
              <a:t>OpenTelemetry + CloudWatch + custom tracing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1B2A4E"/>
                </a:solidFill>
                <a:latin typeface="Calibri"/>
              </a:rPr>
              <a:t>•  Code sandbox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07492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2C3E50"/>
                </a:solidFill>
                <a:latin typeface="Calibri"/>
              </a:rPr>
              <a:t>Lambda + Firecracker or similar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194560"/>
            <a:ext cx="5440680" cy="347472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194560"/>
            <a:ext cx="5440680" cy="457200"/>
          </a:xfrm>
          <a:prstGeom prst="rect">
            <a:avLst/>
          </a:prstGeom>
          <a:solidFill>
            <a:srgbClr val="3F7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2194560"/>
            <a:ext cx="54406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AGENTCORE (managed, day one)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834640"/>
            <a:ext cx="489204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 i="0">
                <a:solidFill>
                  <a:srgbClr val="1B2A4E"/>
                </a:solidFill>
                <a:latin typeface="Calibri"/>
              </a:rPr>
              <a:t>All six capabilities, exposed as managed services.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Pay-as-you-go: per-second vCPU + GB-hours.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Typical agent workload is 30–70% I/O wait (waiting for LLM, tool calls, DB).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1">
                <a:solidFill>
                  <a:srgbClr val="2E5C8A"/>
                </a:solidFill>
                <a:latin typeface="Calibri"/>
              </a:rPr>
              <a:t>You don't pay for I/O wait — consumption-based pricing only bills active compute. Substantial savings vs pre-allocated.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THE FULL PICTURE · 6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Day 1 + Day 1.5 in one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828800" cy="502920"/>
          </a:xfrm>
          <a:prstGeom prst="roundRect">
            <a:avLst>
              <a:gd name="adj" fmla="val 4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828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USER REQUEST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23160" y="1801368"/>
            <a:ext cx="365760" cy="0"/>
          </a:xfrm>
          <a:prstGeom prst="line">
            <a:avLst/>
          </a:prstGeom>
          <a:ln w="2540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34640" y="1554480"/>
            <a:ext cx="1828800" cy="502920"/>
          </a:xfrm>
          <a:prstGeom prst="roundRect">
            <a:avLst>
              <a:gd name="adj" fmla="val 4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554480"/>
            <a:ext cx="1828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UI LAYER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49039" y="2066543"/>
            <a:ext cx="0" cy="201169"/>
          </a:xfrm>
          <a:prstGeom prst="line">
            <a:avLst/>
          </a:prstGeom>
          <a:ln w="2540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2286000"/>
            <a:ext cx="11064240" cy="594360"/>
          </a:xfrm>
          <a:prstGeom prst="roundRect">
            <a:avLst>
              <a:gd name="adj" fmla="val 4000"/>
            </a:avLst>
          </a:prstGeom>
          <a:solidFill>
            <a:srgbClr val="B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1106424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AGENT LAYER  (AgentCore Runtime)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46120"/>
            <a:ext cx="2606040" cy="96012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46120"/>
            <a:ext cx="91440" cy="9601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3756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LLM BRAIN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2E5C8A"/>
                </a:solidFill>
                <a:latin typeface="Calibri"/>
              </a:rPr>
              <a:t>via Bedrock Runtime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51660.0" y="2889504"/>
            <a:ext cx="0.0" cy="338328"/>
          </a:xfrm>
          <a:prstGeom prst="line">
            <a:avLst/>
          </a:prstGeom>
          <a:ln w="1905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291840" y="3246120"/>
            <a:ext cx="2606040" cy="96012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3246120"/>
            <a:ext cx="91440" cy="960120"/>
          </a:xfrm>
          <a:prstGeom prst="rect">
            <a:avLst/>
          </a:prstGeom>
          <a:solidFill>
            <a:srgbClr val="3F7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333756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65760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2E5C8A"/>
                </a:solidFill>
                <a:latin typeface="Calibri"/>
              </a:rPr>
              <a:t>via AgentCore Memory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94860.0" y="2889504"/>
            <a:ext cx="0.0" cy="338328"/>
          </a:xfrm>
          <a:prstGeom prst="line">
            <a:avLst/>
          </a:prstGeom>
          <a:ln w="1905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035040" y="3246120"/>
            <a:ext cx="2606040" cy="96012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3246120"/>
            <a:ext cx="91440" cy="9601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33756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65760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2E5C8A"/>
                </a:solidFill>
                <a:latin typeface="Calibri"/>
              </a:rPr>
              <a:t>via AgentCore Gateway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38060.0" y="2889504"/>
            <a:ext cx="0.0" cy="338328"/>
          </a:xfrm>
          <a:prstGeom prst="line">
            <a:avLst/>
          </a:prstGeom>
          <a:ln w="1905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778240" y="3246120"/>
            <a:ext cx="2606040" cy="96012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78240" y="3246120"/>
            <a:ext cx="91440" cy="960120"/>
          </a:xfrm>
          <a:prstGeom prst="rect">
            <a:avLst/>
          </a:prstGeom>
          <a:solidFill>
            <a:srgbClr val="B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333756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GUARDRAILS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65760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2E5C8A"/>
                </a:solidFill>
                <a:latin typeface="Calibri"/>
              </a:rPr>
              <a:t>via Bedrock Guardrails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081260.0" y="2889504"/>
            <a:ext cx="0.0" cy="338328"/>
          </a:xfrm>
          <a:prstGeom prst="line">
            <a:avLst/>
          </a:prstGeom>
          <a:ln w="1905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48640" y="4526280"/>
            <a:ext cx="2606040" cy="777240"/>
          </a:xfrm>
          <a:prstGeom prst="roundRect">
            <a:avLst>
              <a:gd name="adj" fmla="val 4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526280"/>
            <a:ext cx="26060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FM MODELS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851660.0" y="4224528"/>
            <a:ext cx="0.0" cy="283464"/>
          </a:xfrm>
          <a:prstGeom prst="line">
            <a:avLst/>
          </a:prstGeom>
          <a:ln w="1905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291840" y="4526280"/>
            <a:ext cx="2606040" cy="777240"/>
          </a:xfrm>
          <a:prstGeom prst="roundRect">
            <a:avLst>
              <a:gd name="adj" fmla="val 4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526280"/>
            <a:ext cx="26060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SESSION + LONG-TERM STORE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94860.0" y="4224528"/>
            <a:ext cx="0.0" cy="283464"/>
          </a:xfrm>
          <a:prstGeom prst="line">
            <a:avLst/>
          </a:prstGeom>
          <a:ln w="1905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035040" y="4526280"/>
            <a:ext cx="2606040" cy="777240"/>
          </a:xfrm>
          <a:prstGeom prst="roundRect">
            <a:avLst>
              <a:gd name="adj" fmla="val 4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0" y="4526280"/>
            <a:ext cx="26060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EXTERNAL APIs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338060.0" y="4224528"/>
            <a:ext cx="0.0" cy="283464"/>
          </a:xfrm>
          <a:prstGeom prst="line">
            <a:avLst/>
          </a:prstGeom>
          <a:ln w="1905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778240" y="4526280"/>
            <a:ext cx="2606040" cy="777240"/>
          </a:xfrm>
          <a:prstGeom prst="roundRect">
            <a:avLst>
              <a:gd name="adj" fmla="val 4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0" y="4526280"/>
            <a:ext cx="26060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OBSERVABILITY (CloudWatch)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081260.0" y="4224528"/>
            <a:ext cx="0.0" cy="283464"/>
          </a:xfrm>
          <a:prstGeom prst="line">
            <a:avLst/>
          </a:prstGeom>
          <a:ln w="1905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486400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E5C8A"/>
                </a:solidFill>
                <a:latin typeface="Calibri"/>
              </a:rPr>
              <a:t>EVERY BOX HAS A CONCEPT WE'VE ALREADY COVERED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760720"/>
            <a:ext cx="106984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LLM Brain → today's Half 1  ·  Tools, Memory → Day 1's anatomy  ·  Guardrails, Observability → Day 1 Half 2  ·  Bedrock, AgentCore → today's Half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APPLICATION · 8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Self-check — three real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064240" cy="132588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486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56232"/>
            <a:ext cx="99669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1B2A4E"/>
                </a:solidFill>
                <a:latin typeface="Georgia"/>
              </a:rPr>
              <a:t>A PM asks: "Should we use GPT-5.5 or Opus 4.7 for our customer support agent?"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04872"/>
            <a:ext cx="99669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What's your first response?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54680"/>
            <a:ext cx="11064240" cy="132588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B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5486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19272"/>
            <a:ext cx="99669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1B2A4E"/>
                </a:solidFill>
                <a:latin typeface="Georgia"/>
              </a:rPr>
              <a:t>An architect proposes: "Let's use Llama 3.3 70B on Bedrock for everything — it's cheapest."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867912"/>
            <a:ext cx="99669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B84A3E"/>
                </a:solidFill>
                <a:latin typeface="Calibri"/>
              </a:rPr>
              <a:t>What's missing from that recommendation?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17720"/>
            <a:ext cx="11064240" cy="132588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F7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5486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782312"/>
            <a:ext cx="99669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1B2A4E"/>
                </a:solidFill>
                <a:latin typeface="Georgia"/>
              </a:rPr>
              <a:t>A QA lead asks: "How do I write deterministic tests for an LLM call?"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330952"/>
            <a:ext cx="99669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F7D58"/>
                </a:solidFill>
                <a:latin typeface="Calibri"/>
              </a:rPr>
              <a:t>What's your honest answer?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5D6D7E"/>
                </a:solidFill>
                <a:latin typeface="Calibri"/>
              </a:rPr>
              <a:t>PAIR DISCUSSION 2 MIN PER QUESTION  ·  THEN GROUP REVEAL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WHAT'S NEXT · 3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Day 2 preview &amp; tonight's pre-work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86400" cy="429768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2E5C8A"/>
                </a:solidFill>
                <a:latin typeface="Calibri"/>
              </a:rPr>
              <a:t>DAY 2 — HANDS-ON OPENS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502920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 i="0">
                <a:solidFill>
                  <a:srgbClr val="1B2A4E"/>
                </a:solidFill>
                <a:latin typeface="Calibri"/>
              </a:rPr>
              <a:t>Bedrock console hands-on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2C3E50"/>
                </a:solidFill>
                <a:latin typeface="Calibri"/>
              </a:rPr>
              <a:t>First FM API call, set up a Knowledge Base, configure a guardrail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 i="0">
                <a:solidFill>
                  <a:srgbClr val="1B2A4E"/>
                </a:solidFill>
                <a:latin typeface="Calibri"/>
              </a:rPr>
              <a:t>AgentCore introduction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2C3E50"/>
                </a:solidFill>
                <a:latin typeface="Calibri"/>
              </a:rPr>
              <a:t>Runtime, Memory, Gateway — a working single-agent system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 i="0">
                <a:solidFill>
                  <a:srgbClr val="3F7D58"/>
                </a:solidFill>
                <a:latin typeface="Calibri"/>
              </a:rPr>
              <a:t>By end of Day 2: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1">
                <a:solidFill>
                  <a:srgbClr val="2C3E50"/>
                </a:solidFill>
                <a:latin typeface="Calibri"/>
              </a:rPr>
              <a:t>A working agent with retrieval, memory, and guardrails — on AWS, in your account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91640"/>
            <a:ext cx="5212080" cy="429768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828800"/>
            <a:ext cx="4846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B84A3E"/>
                </a:solidFill>
                <a:latin typeface="Calibri"/>
              </a:rPr>
              <a:t>PRE-WORK TONIGHT — NON-NEGOTIABLE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240280"/>
            <a:ext cx="484632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 Confirm AWS console access works (your account)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 Verify Bedrock model access enabled in us-west-2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 Anthropic + Meta + Nova at minimum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 pip install boto3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 Run hello-world Bedrock call from workbook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 Skim the glossary in the companion XLSX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 i="1">
                <a:solidFill>
                  <a:srgbClr val="B84A3E"/>
                </a:solidFill>
                <a:latin typeface="Calibri"/>
              </a:rPr>
              <a:t>If AWS access doesn't work tomorrow morning, you'll be a spectator for Day 2. That's not what we want.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OPEN FLOOR · 8–10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2103120"/>
            <a:ext cx="8869680" cy="320040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468880"/>
            <a:ext cx="88696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400" b="1" i="0">
                <a:solidFill>
                  <a:srgbClr val="1B2A4E"/>
                </a:solidFill>
                <a:latin typeface="Georgia"/>
              </a:rPr>
              <a:t>What do you want me to weight more heavily</a:t>
            </a:r>
          </a:p>
          <a:p>
            <a:pPr algn="ctr"/>
            <a:r>
              <a:rPr sz="2400" b="1" i="0">
                <a:solidFill>
                  <a:srgbClr val="1B2A4E"/>
                </a:solidFill>
                <a:latin typeface="Georgia"/>
              </a:rPr>
              <a:t>over the next 8 days?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931920"/>
            <a:ext cx="88696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0" i="1">
                <a:solidFill>
                  <a:srgbClr val="2E5C8A"/>
                </a:solidFill>
                <a:latin typeface="Georgia"/>
              </a:rPr>
              <a:t>Tell me which concepts from today felt soft.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480560"/>
            <a:ext cx="88696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I will rebalance Day 2's opening accordingly.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5D6D7E"/>
                </a:solidFill>
                <a:latin typeface="Calibri"/>
              </a:rPr>
              <a:t>SEE YOU TOMORROW — DAY 2 STARTS HANDS-ON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 ·  Agentic AI Practitioner Program  ·  Day 1.5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