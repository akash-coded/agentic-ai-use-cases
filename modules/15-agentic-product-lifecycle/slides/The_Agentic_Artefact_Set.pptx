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three questions. Day 2 decided the thing is an agent. Today is the paperwork that decision creates, and the paperwork is the product owner's, not the architect's.
Two hours, one break at the sixty minute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zone once. Say the whole day hangs off zone A, the sheet.
Do not read the sub-bullets aloud, they are for the learner reading the deck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scenario properly. SkyWays is our airline booking platform. The problem is the 12,000 change requests a month that reach a person.
Say the funnel out loud: half a million bookings, 6% ask to change, most self-serve, 12,000 land on a human at $8 each.
Backward hook: you gave this agent a level, a bar and a tool contract on Day 2. You are completing it, not starting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passenger quote aloud, then the build it maps to.
The point: the same three words hide four problems. A rule handles the top two, a person-plus-model the third, and only the fourth needs a real agent.
This is the callback to Day 2 section two. Ask the room to name the agentic one before you reveal the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deliverables-sheet equivalent. Spend time here.
Say: a PM who loses in review usually owed a green row and skipped it, or argued about a purple one that never mattered. The colour tells you where to spend effort.
Ask the room to guess which five are mandatory before you walk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is d. A draft-only agent takes no high-impact action, so the rollback runbook (optional) does not apply. The other three are mandatory whatever the agent does.
This checks that they read the colour, not the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Bridge: before we fill the rows, one reassurance. This set is not invented, it is a standard architecture template in disguise.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iSAQB / solution-architecture anchor. Many in a senior product room have seen arc42 or heard of it.
Say: the reason the set feels like a lot is that good architecture documentation is a lot. The colour-coding tells you which sections an agent actually forces.
Read the mapping as: arc42 section on the left, the artefact that fills it on the right, its duty in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old-world new-world move from the SAP FTS slide.
The one line that lands: a PRD is written once and filed, and the artefact set is read by the agent and the team and kept alive. That is the AiDD idea, a living spec.
Say: you are not abandoning the PRD skill, you are splitting it into pieces that can each be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each card's question aloud: why this, what does it do, how does it run, what does it need.
The three-lines card is a callback. Say: you already built that on Day 2, so you are one card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is the decomposition move from Day 2. Prompt them to use verbs.
Step 4 is the new one for this session. Stale partner data is what broke the codeshare slice, so freshness is a first-class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summarise-the-steps slide after the first major topic. Read the strip left to right once.
Say: whenever you finish a feature, run this strip. Five green boxes, all filled, and you are through P1 on the paperwork.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Skeleton before instance, the Q-Gate-anatomy move.
Read the six field names and stop. The next slide fills them for the flight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field by field and point at where each came from. Boundary is the autonomy line, done is the bar.
Say: this is a complete, buildable spec, and it took six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evolved layer for this concept. Say plainly it is a first draft, not a spec. The value is speed on the parts you would write anyway.
The trap to name: the model under-fills the boundary, because it does not know what hurts your business. That judgement stays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decision rule with a threshold, the SAP diagnostic style.
Walk the four questions against the flight agent: it acts, so autonomy spec yes; output is probabilistic, so acceptance plan yes; codeshare is unresolved, so open-decisions log yes; it runs alone for now, so registry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read-the-decision-tree-in-words slide. Say each line as a full if-then sentence.
The habit to teach: never eyeball a rule. Walk every row, answer yes or no, and the artefacts you owe fall out. That is what stops both over-documenting and missing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False. Fixed rules are deterministic, so the output is not probabilistic and the trigger for a statistical plan is not met. This is the same not-everything-is-an-agent lesson from Day 2, applied to artefacts.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you now know which artefacts you owe. The rest of the session is how they change over time and how they get signed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where the artefacts come from and where they go, which the TOC calls out.
Say: at P0 the spec is a paragraph, and demanding the full thing at P0 is why teams stall before they have learned anything. Firm it at P1, not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Q-Gate anatomy applied to agentic work.
Say: the gate is cheap and a failure here costs an hour. The same gap found after launch costs a quarter, which is why the gate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iSAQB / solution-architecture anchor, and it answers the permeable-barriers question directly: the barrier is which cell you sit in, and it moves as proficiency grows.
Read one row: for the tool contract, the architect is accountable, eng lead responsible, you consulted. For the autonomy line it flips, you are accountable.
Say: exactly one A per row, always. Two accountable names is how an artefact falls between two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tribunal's own line if asked: a chatbot is still part of the website, and it makes no difference whether the information comes from a static page or a chatbot.
The transfer: run your own agent's policy-stating actions through the conditional rule before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sheet one last time as the flight agent. Five green owed, autonomy spec and acceptance plan and open-decisions log owed on their triggers, UX flows and rollback skipped.
The task is one spec. Anybody who marks the whole sheet has done more than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people photograph. Read the four and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here. Do not add a closing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7"/>
        </a:solidFill>
      </p:bgPr>
    </p:bg>
    <p:spTree>
      <p:nvGrpSpPr>
        <p:cNvPr id="1" name=""/>
        <p:cNvGrpSpPr/>
        <p:nvPr/>
      </p:nvGrpSpPr>
      <p:grpSpPr>
        <a:xfrm>
          <a:off x="0" y="0"/>
          <a:ext cx="0" cy="0"/>
          <a:chOff x="0" y="0"/>
          <a:chExt cx="0" cy="0"/>
        </a:xfrm>
      </p:grpSpPr>
      <p:sp>
        <p:nvSpPr>
          <p:cNvPr id="2" name="Text 0"/>
          <p:cNvSpPr/>
          <p:nvPr/>
        </p:nvSpPr>
        <p:spPr>
          <a:xfrm>
            <a:off x="640080" y="658368"/>
            <a:ext cx="10911535" cy="219456"/>
          </a:xfrm>
          <a:prstGeom prst="rect">
            <a:avLst/>
          </a:prstGeom>
          <a:noFill/>
          <a:ln/>
        </p:spPr>
        <p:txBody>
          <a:bodyPr wrap="square" lIns="0" tIns="0" rIns="0" bIns="0" rtlCol="0" anchor="ctr"/>
          <a:lstStyle/>
          <a:p>
            <a:pPr indent="0" marL="0">
              <a:buNone/>
            </a:pPr>
            <a:r>
              <a:rPr lang="en-US" sz="850" b="1" spc="220" kern="0" dirty="0">
                <a:solidFill>
                  <a:srgbClr val="9CC0A0"/>
                </a:solidFill>
                <a:latin typeface="Calibri" pitchFamily="34" charset="0"/>
                <a:ea typeface="Calibri" pitchFamily="34" charset="-122"/>
                <a:cs typeface="Calibri" pitchFamily="34" charset="-120"/>
              </a:rPr>
              <a:t>SOFTWARE  ·  PRODUCT MANAGERS AND PRODUCT OWNERS  ·  DAY 3</a:t>
            </a:r>
            <a:endParaRPr lang="en-US" sz="850" dirty="0"/>
          </a:p>
        </p:txBody>
      </p:sp>
      <p:sp>
        <p:nvSpPr>
          <p:cNvPr id="3" name="Text 1"/>
          <p:cNvSpPr/>
          <p:nvPr/>
        </p:nvSpPr>
        <p:spPr>
          <a:xfrm>
            <a:off x="640080" y="1170432"/>
            <a:ext cx="9692640" cy="868680"/>
          </a:xfrm>
          <a:prstGeom prst="rect">
            <a:avLst/>
          </a:prstGeom>
          <a:noFill/>
          <a:ln/>
        </p:spPr>
        <p:txBody>
          <a:bodyPr wrap="square" lIns="0" tIns="0" rIns="0" bIns="0"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The Agentic Artefact Set</a:t>
            </a:r>
            <a:endParaRPr lang="en-US" sz="4200" dirty="0"/>
          </a:p>
        </p:txBody>
      </p:sp>
      <p:sp>
        <p:nvSpPr>
          <p:cNvPr id="4" name="Text 2"/>
          <p:cNvSpPr/>
          <p:nvPr/>
        </p:nvSpPr>
        <p:spPr>
          <a:xfrm>
            <a:off x="640080" y="2139696"/>
            <a:ext cx="8595360" cy="566928"/>
          </a:xfrm>
          <a:prstGeom prst="rect">
            <a:avLst/>
          </a:prstGeom>
          <a:noFill/>
          <a:ln/>
        </p:spPr>
        <p:txBody>
          <a:bodyPr wrap="square" lIns="0" tIns="0" rIns="0" bIns="0" rtlCol="0" anchor="ctr"/>
          <a:lstStyle/>
          <a:p>
            <a:pPr indent="0" marL="0">
              <a:lnSpc>
                <a:spcPct val="115000"/>
              </a:lnSpc>
              <a:buNone/>
            </a:pPr>
            <a:r>
              <a:rPr lang="en-US" sz="1400" i="1" dirty="0">
                <a:solidFill>
                  <a:srgbClr val="B7BEC8"/>
                </a:solidFill>
                <a:latin typeface="Calibri" pitchFamily="34" charset="0"/>
                <a:ea typeface="Calibri" pitchFamily="34" charset="-122"/>
                <a:cs typeface="Calibri" pitchFamily="34" charset="-120"/>
              </a:rPr>
              <a:t>What you hand engineering when you move from “we are building an agent” to “build this one”.</a:t>
            </a:r>
            <a:endParaRPr lang="en-US" sz="1400" dirty="0"/>
          </a:p>
        </p:txBody>
      </p:sp>
      <p:sp>
        <p:nvSpPr>
          <p:cNvPr id="5" name="Shape 3"/>
          <p:cNvSpPr/>
          <p:nvPr/>
        </p:nvSpPr>
        <p:spPr>
          <a:xfrm>
            <a:off x="640080" y="2962656"/>
            <a:ext cx="3840480" cy="0"/>
          </a:xfrm>
          <a:prstGeom prst="line">
            <a:avLst/>
          </a:prstGeom>
          <a:noFill/>
          <a:ln w="12700">
            <a:solidFill>
              <a:srgbClr val="3B4658"/>
            </a:solidFill>
            <a:prstDash val="solid"/>
          </a:ln>
        </p:spPr>
      </p:sp>
      <p:sp>
        <p:nvSpPr>
          <p:cNvPr id="6" name="Text 4"/>
          <p:cNvSpPr/>
          <p:nvPr/>
        </p:nvSpPr>
        <p:spPr>
          <a:xfrm>
            <a:off x="640080" y="3273552"/>
            <a:ext cx="365760" cy="310896"/>
          </a:xfrm>
          <a:prstGeom prst="rect">
            <a:avLst/>
          </a:prstGeom>
          <a:noFill/>
          <a:ln/>
        </p:spPr>
        <p:txBody>
          <a:bodyPr wrap="square" lIns="0" tIns="0" rIns="0" bIns="0" rtlCol="0" anchor="ctr"/>
          <a:lstStyle/>
          <a:p>
            <a:pPr indent="0" marL="0">
              <a:buNone/>
            </a:pPr>
            <a:r>
              <a:rPr lang="en-US" sz="1400" b="1" dirty="0">
                <a:solidFill>
                  <a:srgbClr val="9CC0A0"/>
                </a:solidFill>
                <a:latin typeface="Consolas" pitchFamily="34" charset="0"/>
                <a:ea typeface="Consolas" pitchFamily="34" charset="-122"/>
                <a:cs typeface="Consolas" pitchFamily="34" charset="-120"/>
              </a:rPr>
              <a:t>1</a:t>
            </a:r>
            <a:endParaRPr lang="en-US" sz="1400" dirty="0"/>
          </a:p>
        </p:txBody>
      </p:sp>
      <p:sp>
        <p:nvSpPr>
          <p:cNvPr id="7" name="Text 5"/>
          <p:cNvSpPr/>
          <p:nvPr/>
        </p:nvSpPr>
        <p:spPr>
          <a:xfrm>
            <a:off x="1042416" y="3255264"/>
            <a:ext cx="9509760" cy="3657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Which documents do I owe at P1, and which are optional?</a:t>
            </a:r>
            <a:endParaRPr lang="en-US" sz="1450" dirty="0"/>
          </a:p>
        </p:txBody>
      </p:sp>
      <p:sp>
        <p:nvSpPr>
          <p:cNvPr id="8" name="Text 6"/>
          <p:cNvSpPr/>
          <p:nvPr/>
        </p:nvSpPr>
        <p:spPr>
          <a:xfrm>
            <a:off x="640080" y="3749040"/>
            <a:ext cx="365760" cy="310896"/>
          </a:xfrm>
          <a:prstGeom prst="rect">
            <a:avLst/>
          </a:prstGeom>
          <a:noFill/>
          <a:ln/>
        </p:spPr>
        <p:txBody>
          <a:bodyPr wrap="square" lIns="0" tIns="0" rIns="0" bIns="0" rtlCol="0" anchor="ctr"/>
          <a:lstStyle/>
          <a:p>
            <a:pPr indent="0" marL="0">
              <a:buNone/>
            </a:pPr>
            <a:r>
              <a:rPr lang="en-US" sz="1400" b="1" dirty="0">
                <a:solidFill>
                  <a:srgbClr val="9CC0A0"/>
                </a:solidFill>
                <a:latin typeface="Consolas" pitchFamily="34" charset="0"/>
                <a:ea typeface="Consolas" pitchFamily="34" charset="-122"/>
                <a:cs typeface="Consolas" pitchFamily="34" charset="-120"/>
              </a:rPr>
              <a:t>2</a:t>
            </a:r>
            <a:endParaRPr lang="en-US" sz="1400" dirty="0"/>
          </a:p>
        </p:txBody>
      </p:sp>
      <p:sp>
        <p:nvSpPr>
          <p:cNvPr id="9" name="Text 7"/>
          <p:cNvSpPr/>
          <p:nvPr/>
        </p:nvSpPr>
        <p:spPr>
          <a:xfrm>
            <a:off x="1042416" y="3730752"/>
            <a:ext cx="9509760" cy="3657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How do I fill each one for my own feature?</a:t>
            </a:r>
            <a:endParaRPr lang="en-US" sz="1450" dirty="0"/>
          </a:p>
        </p:txBody>
      </p:sp>
      <p:sp>
        <p:nvSpPr>
          <p:cNvPr id="10" name="Text 8"/>
          <p:cNvSpPr/>
          <p:nvPr/>
        </p:nvSpPr>
        <p:spPr>
          <a:xfrm>
            <a:off x="640080" y="4224528"/>
            <a:ext cx="365760" cy="310896"/>
          </a:xfrm>
          <a:prstGeom prst="rect">
            <a:avLst/>
          </a:prstGeom>
          <a:noFill/>
          <a:ln/>
        </p:spPr>
        <p:txBody>
          <a:bodyPr wrap="square" lIns="0" tIns="0" rIns="0" bIns="0" rtlCol="0" anchor="ctr"/>
          <a:lstStyle/>
          <a:p>
            <a:pPr indent="0" marL="0">
              <a:buNone/>
            </a:pPr>
            <a:r>
              <a:rPr lang="en-US" sz="1400" b="1" dirty="0">
                <a:solidFill>
                  <a:srgbClr val="9CC0A0"/>
                </a:solidFill>
                <a:latin typeface="Consolas" pitchFamily="34" charset="0"/>
                <a:ea typeface="Consolas" pitchFamily="34" charset="-122"/>
                <a:cs typeface="Consolas" pitchFamily="34" charset="-120"/>
              </a:rPr>
              <a:t>3</a:t>
            </a:r>
            <a:endParaRPr lang="en-US" sz="1400" dirty="0"/>
          </a:p>
        </p:txBody>
      </p:sp>
      <p:sp>
        <p:nvSpPr>
          <p:cNvPr id="11" name="Text 9"/>
          <p:cNvSpPr/>
          <p:nvPr/>
        </p:nvSpPr>
        <p:spPr>
          <a:xfrm>
            <a:off x="1042416" y="4206240"/>
            <a:ext cx="9509760" cy="3657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How do these evolve as the agent moves from P0 to P3?</a:t>
            </a:r>
            <a:endParaRPr lang="en-US" sz="1450" dirty="0"/>
          </a:p>
        </p:txBody>
      </p:sp>
      <p:sp>
        <p:nvSpPr>
          <p:cNvPr id="12" name="Text 10"/>
          <p:cNvSpPr/>
          <p:nvPr/>
        </p:nvSpPr>
        <p:spPr>
          <a:xfrm>
            <a:off x="640080" y="5138928"/>
            <a:ext cx="9875520" cy="365760"/>
          </a:xfrm>
          <a:prstGeom prst="rect">
            <a:avLst/>
          </a:prstGeom>
          <a:noFill/>
          <a:ln/>
        </p:spPr>
        <p:txBody>
          <a:bodyPr wrap="square" lIns="0" tIns="0" rIns="0" bIns="0" rtlCol="0" anchor="ctr"/>
          <a:lstStyle/>
          <a:p>
            <a:pPr indent="0" marL="0">
              <a:buNone/>
            </a:pPr>
            <a:r>
              <a:rPr lang="en-US" sz="1250" i="1" dirty="0">
                <a:solidFill>
                  <a:srgbClr val="9CC0A0"/>
                </a:solidFill>
                <a:latin typeface="Calibri" pitchFamily="34" charset="0"/>
                <a:ea typeface="Calibri" pitchFamily="34" charset="-122"/>
                <a:cs typeface="Calibri" pitchFamily="34" charset="-120"/>
              </a:rPr>
              <a:t>By the end you can draft the mandatory set for one feature in your own backlog.</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TODAY'S ROADMAP</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One sheet, then how to fill it</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One anchor artefact, then each document on it, taught the same way each time.</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2</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sp>
        <p:nvSpPr>
          <p:cNvPr id="7" name="Shape 5"/>
          <p:cNvSpPr/>
          <p:nvPr/>
        </p:nvSpPr>
        <p:spPr>
          <a:xfrm>
            <a:off x="640080" y="1499616"/>
            <a:ext cx="2577008" cy="3931920"/>
          </a:xfrm>
          <a:prstGeom prst="rect">
            <a:avLst/>
          </a:prstGeom>
          <a:solidFill>
            <a:srgbClr val="E8F0E6"/>
          </a:solidFill>
          <a:ln w="19050">
            <a:solidFill>
              <a:srgbClr val="5C7A52"/>
            </a:solidFill>
            <a:prstDash val="solid"/>
          </a:ln>
        </p:spPr>
      </p:sp>
      <p:sp>
        <p:nvSpPr>
          <p:cNvPr id="8" name="Shape 6"/>
          <p:cNvSpPr/>
          <p:nvPr/>
        </p:nvSpPr>
        <p:spPr>
          <a:xfrm>
            <a:off x="640080" y="1499616"/>
            <a:ext cx="2577008" cy="457200"/>
          </a:xfrm>
          <a:prstGeom prst="rect">
            <a:avLst/>
          </a:prstGeom>
          <a:solidFill>
            <a:srgbClr val="C8DDC8"/>
          </a:solidFill>
          <a:ln w="12700">
            <a:solidFill>
              <a:srgbClr val="333333"/>
            </a:solidFill>
            <a:prstDash val="solid"/>
          </a:ln>
        </p:spPr>
      </p:sp>
      <p:sp>
        <p:nvSpPr>
          <p:cNvPr id="9" name="Text 7"/>
          <p:cNvSpPr/>
          <p:nvPr/>
        </p:nvSpPr>
        <p:spPr>
          <a:xfrm>
            <a:off x="786384" y="1636776"/>
            <a:ext cx="2302688" cy="256032"/>
          </a:xfrm>
          <a:prstGeom prst="rect">
            <a:avLst/>
          </a:prstGeom>
          <a:noFill/>
          <a:ln/>
        </p:spPr>
        <p:txBody>
          <a:bodyPr wrap="square" lIns="0" tIns="0" rIns="0" bIns="0" rtlCol="0" anchor="ctr"/>
          <a:lstStyle/>
          <a:p>
            <a:pPr indent="0" marL="0">
              <a:buNone/>
            </a:pPr>
            <a:r>
              <a:rPr lang="en-US" sz="900" b="1" spc="140" kern="0" dirty="0">
                <a:solidFill>
                  <a:srgbClr val="5C7A52"/>
                </a:solidFill>
                <a:latin typeface="Calibri" pitchFamily="34" charset="0"/>
                <a:ea typeface="Calibri" pitchFamily="34" charset="-122"/>
                <a:cs typeface="Calibri" pitchFamily="34" charset="-120"/>
              </a:rPr>
              <a:t>THE SHEET</a:t>
            </a:r>
            <a:endParaRPr lang="en-US" sz="900" dirty="0"/>
          </a:p>
        </p:txBody>
      </p:sp>
      <p:sp>
        <p:nvSpPr>
          <p:cNvPr id="10" name="Text 8"/>
          <p:cNvSpPr/>
          <p:nvPr/>
        </p:nvSpPr>
        <p:spPr>
          <a:xfrm>
            <a:off x="786384" y="2103120"/>
            <a:ext cx="2302688" cy="548640"/>
          </a:xfrm>
          <a:prstGeom prst="rect">
            <a:avLst/>
          </a:prstGeom>
          <a:noFill/>
          <a:ln/>
        </p:spPr>
        <p:txBody>
          <a:bodyPr wrap="square" lIns="0" tIns="0" rIns="0" bIns="0" rtlCol="0" anchor="t"/>
          <a:lstStyle/>
          <a:p>
            <a:pPr indent="0" marL="0">
              <a:lnSpc>
                <a:spcPct val="105000"/>
              </a:lnSpc>
              <a:buNone/>
            </a:pPr>
            <a:r>
              <a:rPr lang="en-US" sz="1500" b="1" dirty="0">
                <a:solidFill>
                  <a:srgbClr val="1F2937"/>
                </a:solidFill>
                <a:latin typeface="Georgia" pitchFamily="34" charset="0"/>
                <a:ea typeface="Georgia" pitchFamily="34" charset="-122"/>
                <a:cs typeface="Georgia" pitchFamily="34" charset="-120"/>
              </a:rPr>
              <a:t>What you owe at P1</a:t>
            </a:r>
            <a:endParaRPr lang="en-US" sz="1500" dirty="0"/>
          </a:p>
        </p:txBody>
      </p:sp>
      <p:sp>
        <p:nvSpPr>
          <p:cNvPr id="11" name="Shape 9"/>
          <p:cNvSpPr/>
          <p:nvPr/>
        </p:nvSpPr>
        <p:spPr>
          <a:xfrm>
            <a:off x="804672" y="2926080"/>
            <a:ext cx="82296" cy="82296"/>
          </a:xfrm>
          <a:prstGeom prst="rect">
            <a:avLst/>
          </a:prstGeom>
          <a:solidFill>
            <a:srgbClr val="5C7A52"/>
          </a:solidFill>
          <a:ln w="12700">
            <a:solidFill>
              <a:srgbClr val="333333"/>
            </a:solidFill>
            <a:prstDash val="solid"/>
          </a:ln>
        </p:spPr>
      </p:sp>
      <p:sp>
        <p:nvSpPr>
          <p:cNvPr id="12" name="Text 10"/>
          <p:cNvSpPr/>
          <p:nvPr/>
        </p:nvSpPr>
        <p:spPr>
          <a:xfrm>
            <a:off x="969264" y="2852928"/>
            <a:ext cx="2119808" cy="365760"/>
          </a:xfrm>
          <a:prstGeom prst="rect">
            <a:avLst/>
          </a:prstGeom>
          <a:noFill/>
          <a:ln/>
        </p:spPr>
        <p:txBody>
          <a:bodyPr wrap="square" lIns="0" tIns="0" rIns="0" bIns="0" rtlCol="0" anchor="t"/>
          <a:lstStyle/>
          <a:p>
            <a:pPr indent="0" marL="0">
              <a:lnSpc>
                <a:spcPct val="105000"/>
              </a:lnSpc>
              <a:buNone/>
            </a:pPr>
            <a:r>
              <a:rPr lang="en-US" sz="1150" dirty="0">
                <a:solidFill>
                  <a:srgbClr val="374151"/>
                </a:solidFill>
                <a:latin typeface="Calibri" pitchFamily="34" charset="0"/>
                <a:ea typeface="Calibri" pitchFamily="34" charset="-122"/>
                <a:cs typeface="Calibri" pitchFamily="34" charset="-120"/>
              </a:rPr>
              <a:t>Mandatory five</a:t>
            </a:r>
            <a:endParaRPr lang="en-US" sz="1150" dirty="0"/>
          </a:p>
        </p:txBody>
      </p:sp>
      <p:sp>
        <p:nvSpPr>
          <p:cNvPr id="13" name="Shape 11"/>
          <p:cNvSpPr/>
          <p:nvPr/>
        </p:nvSpPr>
        <p:spPr>
          <a:xfrm>
            <a:off x="804672" y="3310128"/>
            <a:ext cx="82296" cy="82296"/>
          </a:xfrm>
          <a:prstGeom prst="rect">
            <a:avLst/>
          </a:prstGeom>
          <a:solidFill>
            <a:srgbClr val="5C7A52"/>
          </a:solidFill>
          <a:ln w="12700">
            <a:solidFill>
              <a:srgbClr val="333333"/>
            </a:solidFill>
            <a:prstDash val="solid"/>
          </a:ln>
        </p:spPr>
      </p:sp>
      <p:sp>
        <p:nvSpPr>
          <p:cNvPr id="14" name="Text 12"/>
          <p:cNvSpPr/>
          <p:nvPr/>
        </p:nvSpPr>
        <p:spPr>
          <a:xfrm>
            <a:off x="969264" y="3236976"/>
            <a:ext cx="2119808" cy="365760"/>
          </a:xfrm>
          <a:prstGeom prst="rect">
            <a:avLst/>
          </a:prstGeom>
          <a:noFill/>
          <a:ln/>
        </p:spPr>
        <p:txBody>
          <a:bodyPr wrap="square" lIns="0" tIns="0" rIns="0" bIns="0" rtlCol="0" anchor="t"/>
          <a:lstStyle/>
          <a:p>
            <a:pPr indent="0" marL="0">
              <a:lnSpc>
                <a:spcPct val="105000"/>
              </a:lnSpc>
              <a:buNone/>
            </a:pPr>
            <a:r>
              <a:rPr lang="en-US" sz="1150" dirty="0">
                <a:solidFill>
                  <a:srgbClr val="374151"/>
                </a:solidFill>
                <a:latin typeface="Calibri" pitchFamily="34" charset="0"/>
                <a:ea typeface="Calibri" pitchFamily="34" charset="-122"/>
                <a:cs typeface="Calibri" pitchFamily="34" charset="-120"/>
              </a:rPr>
              <a:t>Conditional three</a:t>
            </a:r>
            <a:endParaRPr lang="en-US" sz="1150" dirty="0"/>
          </a:p>
        </p:txBody>
      </p:sp>
      <p:sp>
        <p:nvSpPr>
          <p:cNvPr id="15" name="Shape 13"/>
          <p:cNvSpPr/>
          <p:nvPr/>
        </p:nvSpPr>
        <p:spPr>
          <a:xfrm>
            <a:off x="804672" y="3694176"/>
            <a:ext cx="82296" cy="82296"/>
          </a:xfrm>
          <a:prstGeom prst="rect">
            <a:avLst/>
          </a:prstGeom>
          <a:solidFill>
            <a:srgbClr val="5C7A52"/>
          </a:solidFill>
          <a:ln w="12700">
            <a:solidFill>
              <a:srgbClr val="333333"/>
            </a:solidFill>
            <a:prstDash val="solid"/>
          </a:ln>
        </p:spPr>
      </p:sp>
      <p:sp>
        <p:nvSpPr>
          <p:cNvPr id="16" name="Text 14"/>
          <p:cNvSpPr/>
          <p:nvPr/>
        </p:nvSpPr>
        <p:spPr>
          <a:xfrm>
            <a:off x="969264" y="3621024"/>
            <a:ext cx="2119808" cy="365760"/>
          </a:xfrm>
          <a:prstGeom prst="rect">
            <a:avLst/>
          </a:prstGeom>
          <a:noFill/>
          <a:ln/>
        </p:spPr>
        <p:txBody>
          <a:bodyPr wrap="square" lIns="0" tIns="0" rIns="0" bIns="0" rtlCol="0" anchor="t"/>
          <a:lstStyle/>
          <a:p>
            <a:pPr indent="0" marL="0">
              <a:lnSpc>
                <a:spcPct val="105000"/>
              </a:lnSpc>
              <a:buNone/>
            </a:pPr>
            <a:r>
              <a:rPr lang="en-US" sz="1150" dirty="0">
                <a:solidFill>
                  <a:srgbClr val="374151"/>
                </a:solidFill>
                <a:latin typeface="Calibri" pitchFamily="34" charset="0"/>
                <a:ea typeface="Calibri" pitchFamily="34" charset="-122"/>
                <a:cs typeface="Calibri" pitchFamily="34" charset="-120"/>
              </a:rPr>
              <a:t>Optional two</a:t>
            </a:r>
            <a:endParaRPr lang="en-US" sz="1150" dirty="0"/>
          </a:p>
        </p:txBody>
      </p:sp>
      <p:sp>
        <p:nvSpPr>
          <p:cNvPr id="17" name="Shape 15"/>
          <p:cNvSpPr/>
          <p:nvPr/>
        </p:nvSpPr>
        <p:spPr>
          <a:xfrm>
            <a:off x="3418256" y="1499616"/>
            <a:ext cx="2577008" cy="3931920"/>
          </a:xfrm>
          <a:prstGeom prst="rect">
            <a:avLst/>
          </a:prstGeom>
          <a:solidFill>
            <a:srgbClr val="FBEACA"/>
          </a:solidFill>
          <a:ln w="19050">
            <a:solidFill>
              <a:srgbClr val="B8763A"/>
            </a:solidFill>
            <a:prstDash val="solid"/>
          </a:ln>
        </p:spPr>
      </p:sp>
      <p:sp>
        <p:nvSpPr>
          <p:cNvPr id="18" name="Shape 16"/>
          <p:cNvSpPr/>
          <p:nvPr/>
        </p:nvSpPr>
        <p:spPr>
          <a:xfrm>
            <a:off x="3418256" y="1499616"/>
            <a:ext cx="2577008" cy="457200"/>
          </a:xfrm>
          <a:prstGeom prst="rect">
            <a:avLst/>
          </a:prstGeom>
          <a:solidFill>
            <a:srgbClr val="FAD9B5"/>
          </a:solidFill>
          <a:ln w="12700">
            <a:solidFill>
              <a:srgbClr val="333333"/>
            </a:solidFill>
            <a:prstDash val="solid"/>
          </a:ln>
        </p:spPr>
      </p:sp>
      <p:sp>
        <p:nvSpPr>
          <p:cNvPr id="19" name="Text 17"/>
          <p:cNvSpPr/>
          <p:nvPr/>
        </p:nvSpPr>
        <p:spPr>
          <a:xfrm>
            <a:off x="3564560" y="1636776"/>
            <a:ext cx="2302688" cy="256032"/>
          </a:xfrm>
          <a:prstGeom prst="rect">
            <a:avLst/>
          </a:prstGeom>
          <a:noFill/>
          <a:ln/>
        </p:spPr>
        <p:txBody>
          <a:bodyPr wrap="square" lIns="0" tIns="0" rIns="0" bIns="0" rtlCol="0" anchor="ctr"/>
          <a:lstStyle/>
          <a:p>
            <a:pPr indent="0" marL="0">
              <a:buNone/>
            </a:pPr>
            <a:r>
              <a:rPr lang="en-US" sz="900" b="1" spc="140" kern="0" dirty="0">
                <a:solidFill>
                  <a:srgbClr val="B8763A"/>
                </a:solidFill>
                <a:latin typeface="Calibri" pitchFamily="34" charset="0"/>
                <a:ea typeface="Calibri" pitchFamily="34" charset="-122"/>
                <a:cs typeface="Calibri" pitchFamily="34" charset="-120"/>
              </a:rPr>
              <a:t>FILL THE CORE</a:t>
            </a:r>
            <a:endParaRPr lang="en-US" sz="900" dirty="0"/>
          </a:p>
        </p:txBody>
      </p:sp>
      <p:sp>
        <p:nvSpPr>
          <p:cNvPr id="20" name="Text 18"/>
          <p:cNvSpPr/>
          <p:nvPr/>
        </p:nvSpPr>
        <p:spPr>
          <a:xfrm>
            <a:off x="3564560" y="2103120"/>
            <a:ext cx="2302688" cy="548640"/>
          </a:xfrm>
          <a:prstGeom prst="rect">
            <a:avLst/>
          </a:prstGeom>
          <a:noFill/>
          <a:ln/>
        </p:spPr>
        <p:txBody>
          <a:bodyPr wrap="square" lIns="0" tIns="0" rIns="0" bIns="0" rtlCol="0" anchor="t"/>
          <a:lstStyle/>
          <a:p>
            <a:pPr indent="0" marL="0">
              <a:lnSpc>
                <a:spcPct val="105000"/>
              </a:lnSpc>
              <a:buNone/>
            </a:pPr>
            <a:r>
              <a:rPr lang="en-US" sz="1500" b="1" dirty="0">
                <a:solidFill>
                  <a:srgbClr val="1F2937"/>
                </a:solidFill>
                <a:latin typeface="Georgia" pitchFamily="34" charset="0"/>
                <a:ea typeface="Georgia" pitchFamily="34" charset="-122"/>
                <a:cs typeface="Georgia" pitchFamily="34" charset="-120"/>
              </a:rPr>
              <a:t>The mandatory set</a:t>
            </a:r>
            <a:endParaRPr lang="en-US" sz="1500" dirty="0"/>
          </a:p>
        </p:txBody>
      </p:sp>
      <p:sp>
        <p:nvSpPr>
          <p:cNvPr id="21" name="Shape 19"/>
          <p:cNvSpPr/>
          <p:nvPr/>
        </p:nvSpPr>
        <p:spPr>
          <a:xfrm>
            <a:off x="3582848" y="2926080"/>
            <a:ext cx="82296" cy="82296"/>
          </a:xfrm>
          <a:prstGeom prst="rect">
            <a:avLst/>
          </a:prstGeom>
          <a:solidFill>
            <a:srgbClr val="B8763A"/>
          </a:solidFill>
          <a:ln w="12700">
            <a:solidFill>
              <a:srgbClr val="333333"/>
            </a:solidFill>
            <a:prstDash val="solid"/>
          </a:ln>
        </p:spPr>
      </p:sp>
      <p:sp>
        <p:nvSpPr>
          <p:cNvPr id="22" name="Text 20"/>
          <p:cNvSpPr/>
          <p:nvPr/>
        </p:nvSpPr>
        <p:spPr>
          <a:xfrm>
            <a:off x="3747440" y="2852928"/>
            <a:ext cx="2119808" cy="365760"/>
          </a:xfrm>
          <a:prstGeom prst="rect">
            <a:avLst/>
          </a:prstGeom>
          <a:noFill/>
          <a:ln/>
        </p:spPr>
        <p:txBody>
          <a:bodyPr wrap="square" lIns="0" tIns="0" rIns="0" bIns="0" rtlCol="0" anchor="t"/>
          <a:lstStyle/>
          <a:p>
            <a:pPr indent="0" marL="0">
              <a:lnSpc>
                <a:spcPct val="105000"/>
              </a:lnSpc>
              <a:buNone/>
            </a:pPr>
            <a:r>
              <a:rPr lang="en-US" sz="1150" dirty="0">
                <a:solidFill>
                  <a:srgbClr val="374151"/>
                </a:solidFill>
                <a:latin typeface="Calibri" pitchFamily="34" charset="0"/>
                <a:ea typeface="Calibri" pitchFamily="34" charset="-122"/>
                <a:cs typeface="Calibri" pitchFamily="34" charset="-120"/>
              </a:rPr>
              <a:t>Problem brief</a:t>
            </a:r>
            <a:endParaRPr lang="en-US" sz="1150" dirty="0"/>
          </a:p>
        </p:txBody>
      </p:sp>
      <p:sp>
        <p:nvSpPr>
          <p:cNvPr id="23" name="Shape 21"/>
          <p:cNvSpPr/>
          <p:nvPr/>
        </p:nvSpPr>
        <p:spPr>
          <a:xfrm>
            <a:off x="3582848" y="3310128"/>
            <a:ext cx="82296" cy="82296"/>
          </a:xfrm>
          <a:prstGeom prst="rect">
            <a:avLst/>
          </a:prstGeom>
          <a:solidFill>
            <a:srgbClr val="B8763A"/>
          </a:solidFill>
          <a:ln w="12700">
            <a:solidFill>
              <a:srgbClr val="333333"/>
            </a:solidFill>
            <a:prstDash val="solid"/>
          </a:ln>
        </p:spPr>
      </p:sp>
      <p:sp>
        <p:nvSpPr>
          <p:cNvPr id="24" name="Text 22"/>
          <p:cNvSpPr/>
          <p:nvPr/>
        </p:nvSpPr>
        <p:spPr>
          <a:xfrm>
            <a:off x="3747440" y="3236976"/>
            <a:ext cx="2119808" cy="365760"/>
          </a:xfrm>
          <a:prstGeom prst="rect">
            <a:avLst/>
          </a:prstGeom>
          <a:noFill/>
          <a:ln/>
        </p:spPr>
        <p:txBody>
          <a:bodyPr wrap="square" lIns="0" tIns="0" rIns="0" bIns="0" rtlCol="0" anchor="t"/>
          <a:lstStyle/>
          <a:p>
            <a:pPr indent="0" marL="0">
              <a:lnSpc>
                <a:spcPct val="105000"/>
              </a:lnSpc>
              <a:buNone/>
            </a:pPr>
            <a:r>
              <a:rPr lang="en-US" sz="1150" dirty="0">
                <a:solidFill>
                  <a:srgbClr val="374151"/>
                </a:solidFill>
                <a:latin typeface="Calibri" pitchFamily="34" charset="0"/>
                <a:ea typeface="Calibri" pitchFamily="34" charset="-122"/>
                <a:cs typeface="Calibri" pitchFamily="34" charset="-120"/>
              </a:rPr>
              <a:t>Agent spec</a:t>
            </a:r>
            <a:endParaRPr lang="en-US" sz="1150" dirty="0"/>
          </a:p>
        </p:txBody>
      </p:sp>
      <p:sp>
        <p:nvSpPr>
          <p:cNvPr id="25" name="Shape 23"/>
          <p:cNvSpPr/>
          <p:nvPr/>
        </p:nvSpPr>
        <p:spPr>
          <a:xfrm>
            <a:off x="3582848" y="3694176"/>
            <a:ext cx="82296" cy="82296"/>
          </a:xfrm>
          <a:prstGeom prst="rect">
            <a:avLst/>
          </a:prstGeom>
          <a:solidFill>
            <a:srgbClr val="B8763A"/>
          </a:solidFill>
          <a:ln w="12700">
            <a:solidFill>
              <a:srgbClr val="333333"/>
            </a:solidFill>
            <a:prstDash val="solid"/>
          </a:ln>
        </p:spPr>
      </p:sp>
      <p:sp>
        <p:nvSpPr>
          <p:cNvPr id="26" name="Text 24"/>
          <p:cNvSpPr/>
          <p:nvPr/>
        </p:nvSpPr>
        <p:spPr>
          <a:xfrm>
            <a:off x="3747440" y="3621024"/>
            <a:ext cx="2119808" cy="365760"/>
          </a:xfrm>
          <a:prstGeom prst="rect">
            <a:avLst/>
          </a:prstGeom>
          <a:noFill/>
          <a:ln/>
        </p:spPr>
        <p:txBody>
          <a:bodyPr wrap="square" lIns="0" tIns="0" rIns="0" bIns="0" rtlCol="0" anchor="t"/>
          <a:lstStyle/>
          <a:p>
            <a:pPr indent="0" marL="0">
              <a:lnSpc>
                <a:spcPct val="105000"/>
              </a:lnSpc>
              <a:buNone/>
            </a:pPr>
            <a:r>
              <a:rPr lang="en-US" sz="1150" dirty="0">
                <a:solidFill>
                  <a:srgbClr val="374151"/>
                </a:solidFill>
                <a:latin typeface="Calibri" pitchFamily="34" charset="0"/>
                <a:ea typeface="Calibri" pitchFamily="34" charset="-122"/>
                <a:cs typeface="Calibri" pitchFamily="34" charset="-120"/>
              </a:rPr>
              <a:t>The three lines</a:t>
            </a:r>
            <a:endParaRPr lang="en-US" sz="1150" dirty="0"/>
          </a:p>
        </p:txBody>
      </p:sp>
      <p:sp>
        <p:nvSpPr>
          <p:cNvPr id="27" name="Shape 25"/>
          <p:cNvSpPr/>
          <p:nvPr/>
        </p:nvSpPr>
        <p:spPr>
          <a:xfrm>
            <a:off x="6196432" y="1499616"/>
            <a:ext cx="2577008" cy="3931920"/>
          </a:xfrm>
          <a:prstGeom prst="rect">
            <a:avLst/>
          </a:prstGeom>
          <a:solidFill>
            <a:srgbClr val="EFE9F5"/>
          </a:solidFill>
          <a:ln w="19050">
            <a:solidFill>
              <a:srgbClr val="5B4889"/>
            </a:solidFill>
            <a:prstDash val="solid"/>
          </a:ln>
        </p:spPr>
      </p:sp>
      <p:sp>
        <p:nvSpPr>
          <p:cNvPr id="28" name="Shape 26"/>
          <p:cNvSpPr/>
          <p:nvPr/>
        </p:nvSpPr>
        <p:spPr>
          <a:xfrm>
            <a:off x="6196432" y="1499616"/>
            <a:ext cx="2577008" cy="457200"/>
          </a:xfrm>
          <a:prstGeom prst="rect">
            <a:avLst/>
          </a:prstGeom>
          <a:solidFill>
            <a:srgbClr val="DACFE8"/>
          </a:solidFill>
          <a:ln w="12700">
            <a:solidFill>
              <a:srgbClr val="333333"/>
            </a:solidFill>
            <a:prstDash val="solid"/>
          </a:ln>
        </p:spPr>
      </p:sp>
      <p:sp>
        <p:nvSpPr>
          <p:cNvPr id="29" name="Text 27"/>
          <p:cNvSpPr/>
          <p:nvPr/>
        </p:nvSpPr>
        <p:spPr>
          <a:xfrm>
            <a:off x="6342736" y="1636776"/>
            <a:ext cx="2302688" cy="256032"/>
          </a:xfrm>
          <a:prstGeom prst="rect">
            <a:avLst/>
          </a:prstGeom>
          <a:noFill/>
          <a:ln/>
        </p:spPr>
        <p:txBody>
          <a:bodyPr wrap="square" lIns="0" tIns="0" rIns="0" bIns="0" rtlCol="0" anchor="ctr"/>
          <a:lstStyle/>
          <a:p>
            <a:pPr indent="0" marL="0">
              <a:buNone/>
            </a:pPr>
            <a:r>
              <a:rPr lang="en-US" sz="900" b="1" spc="140" kern="0" dirty="0">
                <a:solidFill>
                  <a:srgbClr val="5B4889"/>
                </a:solidFill>
                <a:latin typeface="Calibri" pitchFamily="34" charset="0"/>
                <a:ea typeface="Calibri" pitchFamily="34" charset="-122"/>
                <a:cs typeface="Calibri" pitchFamily="34" charset="-120"/>
              </a:rPr>
              <a:t>ADD WHEN NEEDED</a:t>
            </a:r>
            <a:endParaRPr lang="en-US" sz="900" dirty="0"/>
          </a:p>
        </p:txBody>
      </p:sp>
      <p:sp>
        <p:nvSpPr>
          <p:cNvPr id="30" name="Text 28"/>
          <p:cNvSpPr/>
          <p:nvPr/>
        </p:nvSpPr>
        <p:spPr>
          <a:xfrm>
            <a:off x="6342736" y="2103120"/>
            <a:ext cx="2302688" cy="548640"/>
          </a:xfrm>
          <a:prstGeom prst="rect">
            <a:avLst/>
          </a:prstGeom>
          <a:noFill/>
          <a:ln/>
        </p:spPr>
        <p:txBody>
          <a:bodyPr wrap="square" lIns="0" tIns="0" rIns="0" bIns="0" rtlCol="0" anchor="t"/>
          <a:lstStyle/>
          <a:p>
            <a:pPr indent="0" marL="0">
              <a:lnSpc>
                <a:spcPct val="105000"/>
              </a:lnSpc>
              <a:buNone/>
            </a:pPr>
            <a:r>
              <a:rPr lang="en-US" sz="1500" b="1" dirty="0">
                <a:solidFill>
                  <a:srgbClr val="1F2937"/>
                </a:solidFill>
                <a:latin typeface="Georgia" pitchFamily="34" charset="0"/>
                <a:ea typeface="Georgia" pitchFamily="34" charset="-122"/>
                <a:cs typeface="Georgia" pitchFamily="34" charset="-120"/>
              </a:rPr>
              <a:t>The conditional set</a:t>
            </a:r>
            <a:endParaRPr lang="en-US" sz="1500" dirty="0"/>
          </a:p>
        </p:txBody>
      </p:sp>
      <p:sp>
        <p:nvSpPr>
          <p:cNvPr id="31" name="Shape 29"/>
          <p:cNvSpPr/>
          <p:nvPr/>
        </p:nvSpPr>
        <p:spPr>
          <a:xfrm>
            <a:off x="6361024" y="2926080"/>
            <a:ext cx="82296" cy="82296"/>
          </a:xfrm>
          <a:prstGeom prst="rect">
            <a:avLst/>
          </a:prstGeom>
          <a:solidFill>
            <a:srgbClr val="5B4889"/>
          </a:solidFill>
          <a:ln w="12700">
            <a:solidFill>
              <a:srgbClr val="333333"/>
            </a:solidFill>
            <a:prstDash val="solid"/>
          </a:ln>
        </p:spPr>
      </p:sp>
      <p:sp>
        <p:nvSpPr>
          <p:cNvPr id="32" name="Text 30"/>
          <p:cNvSpPr/>
          <p:nvPr/>
        </p:nvSpPr>
        <p:spPr>
          <a:xfrm>
            <a:off x="6525616" y="2852928"/>
            <a:ext cx="2119808" cy="365760"/>
          </a:xfrm>
          <a:prstGeom prst="rect">
            <a:avLst/>
          </a:prstGeom>
          <a:noFill/>
          <a:ln/>
        </p:spPr>
        <p:txBody>
          <a:bodyPr wrap="square" lIns="0" tIns="0" rIns="0" bIns="0" rtlCol="0" anchor="t"/>
          <a:lstStyle/>
          <a:p>
            <a:pPr indent="0" marL="0">
              <a:lnSpc>
                <a:spcPct val="105000"/>
              </a:lnSpc>
              <a:buNone/>
            </a:pPr>
            <a:r>
              <a:rPr lang="en-US" sz="1150" dirty="0">
                <a:solidFill>
                  <a:srgbClr val="374151"/>
                </a:solidFill>
                <a:latin typeface="Calibri" pitchFamily="34" charset="0"/>
                <a:ea typeface="Calibri" pitchFamily="34" charset="-122"/>
                <a:cs typeface="Calibri" pitchFamily="34" charset="-120"/>
              </a:rPr>
              <a:t>Autonomy spec</a:t>
            </a:r>
            <a:endParaRPr lang="en-US" sz="1150" dirty="0"/>
          </a:p>
        </p:txBody>
      </p:sp>
      <p:sp>
        <p:nvSpPr>
          <p:cNvPr id="33" name="Shape 31"/>
          <p:cNvSpPr/>
          <p:nvPr/>
        </p:nvSpPr>
        <p:spPr>
          <a:xfrm>
            <a:off x="6361024" y="3310128"/>
            <a:ext cx="82296" cy="82296"/>
          </a:xfrm>
          <a:prstGeom prst="rect">
            <a:avLst/>
          </a:prstGeom>
          <a:solidFill>
            <a:srgbClr val="5B4889"/>
          </a:solidFill>
          <a:ln w="12700">
            <a:solidFill>
              <a:srgbClr val="333333"/>
            </a:solidFill>
            <a:prstDash val="solid"/>
          </a:ln>
        </p:spPr>
      </p:sp>
      <p:sp>
        <p:nvSpPr>
          <p:cNvPr id="34" name="Text 32"/>
          <p:cNvSpPr/>
          <p:nvPr/>
        </p:nvSpPr>
        <p:spPr>
          <a:xfrm>
            <a:off x="6525616" y="3236976"/>
            <a:ext cx="2119808" cy="365760"/>
          </a:xfrm>
          <a:prstGeom prst="rect">
            <a:avLst/>
          </a:prstGeom>
          <a:noFill/>
          <a:ln/>
        </p:spPr>
        <p:txBody>
          <a:bodyPr wrap="square" lIns="0" tIns="0" rIns="0" bIns="0" rtlCol="0" anchor="t"/>
          <a:lstStyle/>
          <a:p>
            <a:pPr indent="0" marL="0">
              <a:lnSpc>
                <a:spcPct val="105000"/>
              </a:lnSpc>
              <a:buNone/>
            </a:pPr>
            <a:r>
              <a:rPr lang="en-US" sz="1150" dirty="0">
                <a:solidFill>
                  <a:srgbClr val="374151"/>
                </a:solidFill>
                <a:latin typeface="Calibri" pitchFamily="34" charset="0"/>
                <a:ea typeface="Calibri" pitchFamily="34" charset="-122"/>
                <a:cs typeface="Calibri" pitchFamily="34" charset="-120"/>
              </a:rPr>
              <a:t>Acceptance plan</a:t>
            </a:r>
            <a:endParaRPr lang="en-US" sz="1150" dirty="0"/>
          </a:p>
        </p:txBody>
      </p:sp>
      <p:sp>
        <p:nvSpPr>
          <p:cNvPr id="35" name="Shape 33"/>
          <p:cNvSpPr/>
          <p:nvPr/>
        </p:nvSpPr>
        <p:spPr>
          <a:xfrm>
            <a:off x="6361024" y="3694176"/>
            <a:ext cx="82296" cy="82296"/>
          </a:xfrm>
          <a:prstGeom prst="rect">
            <a:avLst/>
          </a:prstGeom>
          <a:solidFill>
            <a:srgbClr val="5B4889"/>
          </a:solidFill>
          <a:ln w="12700">
            <a:solidFill>
              <a:srgbClr val="333333"/>
            </a:solidFill>
            <a:prstDash val="solid"/>
          </a:ln>
        </p:spPr>
      </p:sp>
      <p:sp>
        <p:nvSpPr>
          <p:cNvPr id="36" name="Text 34"/>
          <p:cNvSpPr/>
          <p:nvPr/>
        </p:nvSpPr>
        <p:spPr>
          <a:xfrm>
            <a:off x="6525616" y="3621024"/>
            <a:ext cx="2119808" cy="365760"/>
          </a:xfrm>
          <a:prstGeom prst="rect">
            <a:avLst/>
          </a:prstGeom>
          <a:noFill/>
          <a:ln/>
        </p:spPr>
        <p:txBody>
          <a:bodyPr wrap="square" lIns="0" tIns="0" rIns="0" bIns="0" rtlCol="0" anchor="t"/>
          <a:lstStyle/>
          <a:p>
            <a:pPr indent="0" marL="0">
              <a:lnSpc>
                <a:spcPct val="105000"/>
              </a:lnSpc>
              <a:buNone/>
            </a:pPr>
            <a:r>
              <a:rPr lang="en-US" sz="1150" dirty="0">
                <a:solidFill>
                  <a:srgbClr val="374151"/>
                </a:solidFill>
                <a:latin typeface="Calibri" pitchFamily="34" charset="0"/>
                <a:ea typeface="Calibri" pitchFamily="34" charset="-122"/>
                <a:cs typeface="Calibri" pitchFamily="34" charset="-120"/>
              </a:rPr>
              <a:t>Registry</a:t>
            </a:r>
            <a:endParaRPr lang="en-US" sz="1150" dirty="0"/>
          </a:p>
        </p:txBody>
      </p:sp>
      <p:sp>
        <p:nvSpPr>
          <p:cNvPr id="37" name="Shape 35"/>
          <p:cNvSpPr/>
          <p:nvPr/>
        </p:nvSpPr>
        <p:spPr>
          <a:xfrm>
            <a:off x="8974607" y="1499616"/>
            <a:ext cx="2577008" cy="3931920"/>
          </a:xfrm>
          <a:prstGeom prst="rect">
            <a:avLst/>
          </a:prstGeom>
          <a:solidFill>
            <a:srgbClr val="E4EEF5"/>
          </a:solidFill>
          <a:ln w="19050">
            <a:solidFill>
              <a:srgbClr val="3F6B8A"/>
            </a:solidFill>
            <a:prstDash val="solid"/>
          </a:ln>
        </p:spPr>
      </p:sp>
      <p:sp>
        <p:nvSpPr>
          <p:cNvPr id="38" name="Shape 36"/>
          <p:cNvSpPr/>
          <p:nvPr/>
        </p:nvSpPr>
        <p:spPr>
          <a:xfrm>
            <a:off x="8974607" y="1499616"/>
            <a:ext cx="2577008" cy="457200"/>
          </a:xfrm>
          <a:prstGeom prst="rect">
            <a:avLst/>
          </a:prstGeom>
          <a:solidFill>
            <a:srgbClr val="CCE0EE"/>
          </a:solidFill>
          <a:ln w="12700">
            <a:solidFill>
              <a:srgbClr val="333333"/>
            </a:solidFill>
            <a:prstDash val="solid"/>
          </a:ln>
        </p:spPr>
      </p:sp>
      <p:sp>
        <p:nvSpPr>
          <p:cNvPr id="39" name="Text 37"/>
          <p:cNvSpPr/>
          <p:nvPr/>
        </p:nvSpPr>
        <p:spPr>
          <a:xfrm>
            <a:off x="9120911" y="1636776"/>
            <a:ext cx="2302688" cy="256032"/>
          </a:xfrm>
          <a:prstGeom prst="rect">
            <a:avLst/>
          </a:prstGeom>
          <a:noFill/>
          <a:ln/>
        </p:spPr>
        <p:txBody>
          <a:bodyPr wrap="square" lIns="0" tIns="0" rIns="0" bIns="0" rtlCol="0" anchor="ctr"/>
          <a:lstStyle/>
          <a:p>
            <a:pPr indent="0" marL="0">
              <a:buNone/>
            </a:pPr>
            <a:r>
              <a:rPr lang="en-US" sz="900" b="1" spc="140" kern="0" dirty="0">
                <a:solidFill>
                  <a:srgbClr val="3F6B8A"/>
                </a:solidFill>
                <a:latin typeface="Calibri" pitchFamily="34" charset="0"/>
                <a:ea typeface="Calibri" pitchFamily="34" charset="-122"/>
                <a:cs typeface="Calibri" pitchFamily="34" charset="-120"/>
              </a:rPr>
              <a:t>MAKE IT LIVE</a:t>
            </a:r>
            <a:endParaRPr lang="en-US" sz="900" dirty="0"/>
          </a:p>
        </p:txBody>
      </p:sp>
      <p:sp>
        <p:nvSpPr>
          <p:cNvPr id="40" name="Text 38"/>
          <p:cNvSpPr/>
          <p:nvPr/>
        </p:nvSpPr>
        <p:spPr>
          <a:xfrm>
            <a:off x="9120911" y="2103120"/>
            <a:ext cx="2302688" cy="548640"/>
          </a:xfrm>
          <a:prstGeom prst="rect">
            <a:avLst/>
          </a:prstGeom>
          <a:noFill/>
          <a:ln/>
        </p:spPr>
        <p:txBody>
          <a:bodyPr wrap="square" lIns="0" tIns="0" rIns="0" bIns="0" rtlCol="0" anchor="t"/>
          <a:lstStyle/>
          <a:p>
            <a:pPr indent="0" marL="0">
              <a:lnSpc>
                <a:spcPct val="105000"/>
              </a:lnSpc>
              <a:buNone/>
            </a:pPr>
            <a:r>
              <a:rPr lang="en-US" sz="1500" b="1" dirty="0">
                <a:solidFill>
                  <a:srgbClr val="1F2937"/>
                </a:solidFill>
                <a:latin typeface="Georgia" pitchFamily="34" charset="0"/>
                <a:ea typeface="Georgia" pitchFamily="34" charset="-122"/>
                <a:cs typeface="Georgia" pitchFamily="34" charset="-120"/>
              </a:rPr>
              <a:t>Evolve and gate</a:t>
            </a:r>
            <a:endParaRPr lang="en-US" sz="1500" dirty="0"/>
          </a:p>
        </p:txBody>
      </p:sp>
      <p:sp>
        <p:nvSpPr>
          <p:cNvPr id="41" name="Shape 39"/>
          <p:cNvSpPr/>
          <p:nvPr/>
        </p:nvSpPr>
        <p:spPr>
          <a:xfrm>
            <a:off x="9139199" y="2926080"/>
            <a:ext cx="82296" cy="82296"/>
          </a:xfrm>
          <a:prstGeom prst="rect">
            <a:avLst/>
          </a:prstGeom>
          <a:solidFill>
            <a:srgbClr val="3F6B8A"/>
          </a:solidFill>
          <a:ln w="12700">
            <a:solidFill>
              <a:srgbClr val="333333"/>
            </a:solidFill>
            <a:prstDash val="solid"/>
          </a:ln>
        </p:spPr>
      </p:sp>
      <p:sp>
        <p:nvSpPr>
          <p:cNvPr id="42" name="Text 40"/>
          <p:cNvSpPr/>
          <p:nvPr/>
        </p:nvSpPr>
        <p:spPr>
          <a:xfrm>
            <a:off x="9303791" y="2852928"/>
            <a:ext cx="2119808" cy="365760"/>
          </a:xfrm>
          <a:prstGeom prst="rect">
            <a:avLst/>
          </a:prstGeom>
          <a:noFill/>
          <a:ln/>
        </p:spPr>
        <p:txBody>
          <a:bodyPr wrap="square" lIns="0" tIns="0" rIns="0" bIns="0" rtlCol="0" anchor="t"/>
          <a:lstStyle/>
          <a:p>
            <a:pPr indent="0" marL="0">
              <a:lnSpc>
                <a:spcPct val="105000"/>
              </a:lnSpc>
              <a:buNone/>
            </a:pPr>
            <a:r>
              <a:rPr lang="en-US" sz="1150" dirty="0">
                <a:solidFill>
                  <a:srgbClr val="374151"/>
                </a:solidFill>
                <a:latin typeface="Calibri" pitchFamily="34" charset="0"/>
                <a:ea typeface="Calibri" pitchFamily="34" charset="-122"/>
                <a:cs typeface="Calibri" pitchFamily="34" charset="-120"/>
              </a:rPr>
              <a:t>P0 to P3 maturity</a:t>
            </a:r>
            <a:endParaRPr lang="en-US" sz="1150" dirty="0"/>
          </a:p>
        </p:txBody>
      </p:sp>
      <p:sp>
        <p:nvSpPr>
          <p:cNvPr id="43" name="Shape 41"/>
          <p:cNvSpPr/>
          <p:nvPr/>
        </p:nvSpPr>
        <p:spPr>
          <a:xfrm>
            <a:off x="9139199" y="3310128"/>
            <a:ext cx="82296" cy="82296"/>
          </a:xfrm>
          <a:prstGeom prst="rect">
            <a:avLst/>
          </a:prstGeom>
          <a:solidFill>
            <a:srgbClr val="3F6B8A"/>
          </a:solidFill>
          <a:ln w="12700">
            <a:solidFill>
              <a:srgbClr val="333333"/>
            </a:solidFill>
            <a:prstDash val="solid"/>
          </a:ln>
        </p:spPr>
      </p:sp>
      <p:sp>
        <p:nvSpPr>
          <p:cNvPr id="44" name="Text 42"/>
          <p:cNvSpPr/>
          <p:nvPr/>
        </p:nvSpPr>
        <p:spPr>
          <a:xfrm>
            <a:off x="9303791" y="3236976"/>
            <a:ext cx="2119808" cy="365760"/>
          </a:xfrm>
          <a:prstGeom prst="rect">
            <a:avLst/>
          </a:prstGeom>
          <a:noFill/>
          <a:ln/>
        </p:spPr>
        <p:txBody>
          <a:bodyPr wrap="square" lIns="0" tIns="0" rIns="0" bIns="0" rtlCol="0" anchor="t"/>
          <a:lstStyle/>
          <a:p>
            <a:pPr indent="0" marL="0">
              <a:lnSpc>
                <a:spcPct val="105000"/>
              </a:lnSpc>
              <a:buNone/>
            </a:pPr>
            <a:r>
              <a:rPr lang="en-US" sz="1150" dirty="0">
                <a:solidFill>
                  <a:srgbClr val="374151"/>
                </a:solidFill>
                <a:latin typeface="Calibri" pitchFamily="34" charset="0"/>
                <a:ea typeface="Calibri" pitchFamily="34" charset="-122"/>
                <a:cs typeface="Calibri" pitchFamily="34" charset="-120"/>
              </a:rPr>
              <a:t>The P1 gate</a:t>
            </a:r>
            <a:endParaRPr lang="en-US" sz="1150" dirty="0"/>
          </a:p>
        </p:txBody>
      </p:sp>
      <p:sp>
        <p:nvSpPr>
          <p:cNvPr id="45" name="Shape 43"/>
          <p:cNvSpPr/>
          <p:nvPr/>
        </p:nvSpPr>
        <p:spPr>
          <a:xfrm>
            <a:off x="9139199" y="3694176"/>
            <a:ext cx="82296" cy="82296"/>
          </a:xfrm>
          <a:prstGeom prst="rect">
            <a:avLst/>
          </a:prstGeom>
          <a:solidFill>
            <a:srgbClr val="3F6B8A"/>
          </a:solidFill>
          <a:ln w="12700">
            <a:solidFill>
              <a:srgbClr val="333333"/>
            </a:solidFill>
            <a:prstDash val="solid"/>
          </a:ln>
        </p:spPr>
      </p:sp>
      <p:sp>
        <p:nvSpPr>
          <p:cNvPr id="46" name="Text 44"/>
          <p:cNvSpPr/>
          <p:nvPr/>
        </p:nvSpPr>
        <p:spPr>
          <a:xfrm>
            <a:off x="9303791" y="3621024"/>
            <a:ext cx="2119808" cy="365760"/>
          </a:xfrm>
          <a:prstGeom prst="rect">
            <a:avLst/>
          </a:prstGeom>
          <a:noFill/>
          <a:ln/>
        </p:spPr>
        <p:txBody>
          <a:bodyPr wrap="square" lIns="0" tIns="0" rIns="0" bIns="0" rtlCol="0" anchor="t"/>
          <a:lstStyle/>
          <a:p>
            <a:pPr indent="0" marL="0">
              <a:lnSpc>
                <a:spcPct val="105000"/>
              </a:lnSpc>
              <a:buNone/>
            </a:pPr>
            <a:r>
              <a:rPr lang="en-US" sz="1150" dirty="0">
                <a:solidFill>
                  <a:srgbClr val="374151"/>
                </a:solidFill>
                <a:latin typeface="Calibri" pitchFamily="34" charset="0"/>
                <a:ea typeface="Calibri" pitchFamily="34" charset="-122"/>
                <a:cs typeface="Calibri" pitchFamily="34" charset="-120"/>
              </a:rPr>
              <a:t>Your own feature</a:t>
            </a:r>
            <a:endParaRPr lang="en-US" sz="1150" dirty="0"/>
          </a:p>
        </p:txBody>
      </p:sp>
      <p:sp>
        <p:nvSpPr>
          <p:cNvPr id="47" name="Text 45"/>
          <p:cNvSpPr/>
          <p:nvPr/>
        </p:nvSpPr>
        <p:spPr>
          <a:xfrm>
            <a:off x="640080" y="5614416"/>
            <a:ext cx="10911535" cy="45720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By the end of the session you will have drafted an agent spec and know exactly which optional artefacts your feature triggers.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THE FEATURE WE WILL USE  ·  1 OF 2</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SkyWays Booking, and the change-flight problem</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One product, one expensive problem, and the money an agent is meant to save.</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3</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pic>
        <p:nvPicPr>
          <p:cNvPr id="7" name="Image 0" descr="preencoded.png">    </p:cNvPr>
          <p:cNvPicPr>
            <a:picLocks noChangeAspect="1"/>
          </p:cNvPicPr>
          <p:nvPr/>
        </p:nvPicPr>
        <p:blipFill>
          <a:blip r:embed="rId1"/>
          <a:stretch>
            <a:fillRect/>
          </a:stretch>
        </p:blipFill>
        <p:spPr>
          <a:xfrm>
            <a:off x="1248406" y="1499616"/>
            <a:ext cx="9694884" cy="4087368"/>
          </a:xfrm>
          <a:prstGeom prst="rect">
            <a:avLst/>
          </a:prstGeom>
        </p:spPr>
      </p:pic>
      <p:sp>
        <p:nvSpPr>
          <p:cNvPr id="8" name="Shape 5"/>
          <p:cNvSpPr/>
          <p:nvPr/>
        </p:nvSpPr>
        <p:spPr>
          <a:xfrm>
            <a:off x="640080" y="5760720"/>
            <a:ext cx="10911535" cy="420624"/>
          </a:xfrm>
          <a:prstGeom prst="rect">
            <a:avLst/>
          </a:prstGeom>
          <a:solidFill>
            <a:srgbClr val="E8F0E6"/>
          </a:solidFill>
          <a:ln w="12700">
            <a:solidFill>
              <a:srgbClr val="E8F0E6"/>
            </a:solidFill>
            <a:prstDash val="solid"/>
          </a:ln>
        </p:spPr>
      </p:sp>
      <p:sp>
        <p:nvSpPr>
          <p:cNvPr id="9" name="Shape 6"/>
          <p:cNvSpPr/>
          <p:nvPr/>
        </p:nvSpPr>
        <p:spPr>
          <a:xfrm>
            <a:off x="640080" y="5760720"/>
            <a:ext cx="41148" cy="420624"/>
          </a:xfrm>
          <a:prstGeom prst="rect">
            <a:avLst/>
          </a:prstGeom>
          <a:solidFill>
            <a:srgbClr val="5C7A52"/>
          </a:solidFill>
          <a:ln w="12700">
            <a:solidFill>
              <a:srgbClr val="333333"/>
            </a:solidFill>
            <a:prstDash val="solid"/>
          </a:ln>
        </p:spPr>
      </p:sp>
      <p:sp>
        <p:nvSpPr>
          <p:cNvPr id="10" name="Text 7"/>
          <p:cNvSpPr/>
          <p:nvPr/>
        </p:nvSpPr>
        <p:spPr>
          <a:xfrm>
            <a:off x="841248" y="5861304"/>
            <a:ext cx="10527487" cy="2377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This is the SkyWays change-flight agent, the same one you scoped on Day 2. Today you build the full artefact set around it.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THE FEATURE WE WILL USE  ·  2 OF 2</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The same request arrives in four shapes</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“Change my flight” is four different problems, and Day 2 put each on a different build.</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4</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pic>
        <p:nvPicPr>
          <p:cNvPr id="7" name="Image 0" descr="preencoded.png">    </p:cNvPr>
          <p:cNvPicPr>
            <a:picLocks noChangeAspect="1"/>
          </p:cNvPicPr>
          <p:nvPr/>
        </p:nvPicPr>
        <p:blipFill>
          <a:blip r:embed="rId1"/>
          <a:stretch>
            <a:fillRect/>
          </a:stretch>
        </p:blipFill>
        <p:spPr>
          <a:xfrm>
            <a:off x="1248406" y="1499616"/>
            <a:ext cx="9694884" cy="4087368"/>
          </a:xfrm>
          <a:prstGeom prst="rect">
            <a:avLst/>
          </a:prstGeom>
        </p:spPr>
      </p:pic>
      <p:sp>
        <p:nvSpPr>
          <p:cNvPr id="8" name="Shape 5"/>
          <p:cNvSpPr/>
          <p:nvPr/>
        </p:nvSpPr>
        <p:spPr>
          <a:xfrm>
            <a:off x="640080" y="5760720"/>
            <a:ext cx="10911535" cy="420624"/>
          </a:xfrm>
          <a:prstGeom prst="rect">
            <a:avLst/>
          </a:prstGeom>
          <a:solidFill>
            <a:srgbClr val="E8F0E6"/>
          </a:solidFill>
          <a:ln w="12700">
            <a:solidFill>
              <a:srgbClr val="E8F0E6"/>
            </a:solidFill>
            <a:prstDash val="solid"/>
          </a:ln>
        </p:spPr>
      </p:sp>
      <p:sp>
        <p:nvSpPr>
          <p:cNvPr id="9" name="Shape 6"/>
          <p:cNvSpPr/>
          <p:nvPr/>
        </p:nvSpPr>
        <p:spPr>
          <a:xfrm>
            <a:off x="640080" y="5760720"/>
            <a:ext cx="41148" cy="420624"/>
          </a:xfrm>
          <a:prstGeom prst="rect">
            <a:avLst/>
          </a:prstGeom>
          <a:solidFill>
            <a:srgbClr val="5C7A52"/>
          </a:solidFill>
          <a:ln w="12700">
            <a:solidFill>
              <a:srgbClr val="333333"/>
            </a:solidFill>
            <a:prstDash val="solid"/>
          </a:ln>
        </p:spPr>
      </p:sp>
      <p:sp>
        <p:nvSpPr>
          <p:cNvPr id="10" name="Text 7"/>
          <p:cNvSpPr/>
          <p:nvPr/>
        </p:nvSpPr>
        <p:spPr>
          <a:xfrm>
            <a:off x="841248" y="5861304"/>
            <a:ext cx="10527487" cy="2377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The agentic shape, the codeshare-and-visa case, is the hard one. It is why this agent needs the full artefact set and a simple rule would not.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01 · THE ARTEFACT SET</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The artefact set: ten documents, three duties</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Every document you might owe at P1, sorted by duty: always, on a condition, or rarely.</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5</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pic>
        <p:nvPicPr>
          <p:cNvPr id="7" name="Image 0" descr="preencoded.png">    </p:cNvPr>
          <p:cNvPicPr>
            <a:picLocks noChangeAspect="1"/>
          </p:cNvPicPr>
          <p:nvPr/>
        </p:nvPicPr>
        <p:blipFill>
          <a:blip r:embed="rId1"/>
          <a:stretch>
            <a:fillRect/>
          </a:stretch>
        </p:blipFill>
        <p:spPr>
          <a:xfrm>
            <a:off x="1742520" y="1499616"/>
            <a:ext cx="8706656" cy="3776472"/>
          </a:xfrm>
          <a:prstGeom prst="rect">
            <a:avLst/>
          </a:prstGeom>
        </p:spPr>
      </p:pic>
      <p:sp>
        <p:nvSpPr>
          <p:cNvPr id="8" name="Shape 5"/>
          <p:cNvSpPr/>
          <p:nvPr/>
        </p:nvSpPr>
        <p:spPr>
          <a:xfrm>
            <a:off x="640080" y="5449824"/>
            <a:ext cx="10911535" cy="420624"/>
          </a:xfrm>
          <a:prstGeom prst="rect">
            <a:avLst/>
          </a:prstGeom>
          <a:solidFill>
            <a:srgbClr val="E8F0E6"/>
          </a:solidFill>
          <a:ln w="12700">
            <a:solidFill>
              <a:srgbClr val="E8F0E6"/>
            </a:solidFill>
            <a:prstDash val="solid"/>
          </a:ln>
        </p:spPr>
      </p:sp>
      <p:sp>
        <p:nvSpPr>
          <p:cNvPr id="9" name="Shape 6"/>
          <p:cNvSpPr/>
          <p:nvPr/>
        </p:nvSpPr>
        <p:spPr>
          <a:xfrm>
            <a:off x="640080" y="5449824"/>
            <a:ext cx="41148" cy="420624"/>
          </a:xfrm>
          <a:prstGeom prst="rect">
            <a:avLst/>
          </a:prstGeom>
          <a:solidFill>
            <a:srgbClr val="5C7A52"/>
          </a:solidFill>
          <a:ln w="12700">
            <a:solidFill>
              <a:srgbClr val="333333"/>
            </a:solidFill>
            <a:prstDash val="solid"/>
          </a:ln>
        </p:spPr>
      </p:sp>
      <p:sp>
        <p:nvSpPr>
          <p:cNvPr id="10" name="Text 7"/>
          <p:cNvSpPr/>
          <p:nvPr/>
        </p:nvSpPr>
        <p:spPr>
          <a:xfrm>
            <a:off x="841248" y="5550408"/>
            <a:ext cx="10527487" cy="2377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This sheet is the whole day. Every slide after this fills one row or decides whether a row applies to you.</a:t>
            </a:r>
            <a:endParaRPr lang="en-US" sz="1100" dirty="0"/>
          </a:p>
        </p:txBody>
      </p:sp>
      <p:sp>
        <p:nvSpPr>
          <p:cNvPr id="11" name="Text 8"/>
          <p:cNvSpPr/>
          <p:nvPr/>
        </p:nvSpPr>
        <p:spPr>
          <a:xfrm>
            <a:off x="640080" y="6035040"/>
            <a:ext cx="10911535" cy="384048"/>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950" i="1" dirty="0">
                <a:solidFill>
                  <a:srgbClr val="6B7280"/>
                </a:solidFill>
                <a:latin typeface="Calibri" pitchFamily="34" charset="0"/>
                <a:ea typeface="Calibri" pitchFamily="34" charset="-122"/>
                <a:cs typeface="Calibri" pitchFamily="34" charset="-120"/>
              </a:rPr>
              <a:t>Read the colour, not the row. Green you always owe, terracotta you owe on a condition, purple you rarely owe.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01 · THE ARTEFACT SET</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Which of these do you always owe?</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Answer from the sheet you just saw.</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6</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sp>
        <p:nvSpPr>
          <p:cNvPr id="7" name="Text 5"/>
          <p:cNvSpPr/>
          <p:nvPr/>
        </p:nvSpPr>
        <p:spPr>
          <a:xfrm>
            <a:off x="640080" y="1609344"/>
            <a:ext cx="10911535" cy="375920"/>
          </a:xfrm>
          <a:prstGeom prst="rect">
            <a:avLst/>
          </a:prstGeom>
          <a:noFill/>
          <a:ln/>
        </p:spPr>
        <p:txBody>
          <a:bodyPr wrap="square" lIns="0" tIns="0" rIns="0" bIns="0" rtlCol="0" anchor="t"/>
          <a:lstStyle/>
          <a:p>
            <a:pPr indent="0" marL="0">
              <a:lnSpc>
                <a:spcPct val="115000"/>
              </a:lnSpc>
              <a:buNone/>
            </a:pPr>
            <a:r>
              <a:rPr lang="en-US" sz="1600" dirty="0">
                <a:solidFill>
                  <a:srgbClr val="1F2937"/>
                </a:solidFill>
                <a:latin typeface="Calibri" pitchFamily="34" charset="0"/>
                <a:ea typeface="Calibri" pitchFamily="34" charset="-122"/>
                <a:cs typeface="Calibri" pitchFamily="34" charset="-120"/>
              </a:rPr>
              <a:t>An agent that reads a booking and drafts a reply for a person to send. Which document can you skip?</a:t>
            </a:r>
            <a:endParaRPr lang="en-US" sz="1600" dirty="0"/>
          </a:p>
        </p:txBody>
      </p:sp>
      <p:sp>
        <p:nvSpPr>
          <p:cNvPr id="8" name="Shape 6"/>
          <p:cNvSpPr/>
          <p:nvPr/>
        </p:nvSpPr>
        <p:spPr>
          <a:xfrm>
            <a:off x="731520" y="2277872"/>
            <a:ext cx="365760" cy="365760"/>
          </a:xfrm>
          <a:prstGeom prst="rect">
            <a:avLst/>
          </a:prstGeom>
          <a:solidFill>
            <a:srgbClr val="FFFFFF"/>
          </a:solidFill>
          <a:ln w="15875">
            <a:solidFill>
              <a:srgbClr val="5C7A52"/>
            </a:solidFill>
            <a:prstDash val="solid"/>
          </a:ln>
        </p:spPr>
      </p:sp>
      <p:sp>
        <p:nvSpPr>
          <p:cNvPr id="9" name="Text 7"/>
          <p:cNvSpPr/>
          <p:nvPr/>
        </p:nvSpPr>
        <p:spPr>
          <a:xfrm>
            <a:off x="731520" y="2341880"/>
            <a:ext cx="365760" cy="274320"/>
          </a:xfrm>
          <a:prstGeom prst="rect">
            <a:avLst/>
          </a:prstGeom>
          <a:noFill/>
          <a:ln/>
        </p:spPr>
        <p:txBody>
          <a:bodyPr wrap="square" lIns="0" tIns="0" rIns="0" bIns="0" rtlCol="0" anchor="ctr"/>
          <a:lstStyle/>
          <a:p>
            <a:pPr algn="ctr" indent="0" marL="0">
              <a:buNone/>
            </a:pPr>
            <a:r>
              <a:rPr lang="en-US" sz="1400" b="1" dirty="0">
                <a:solidFill>
                  <a:srgbClr val="5C7A52"/>
                </a:solidFill>
                <a:latin typeface="Calibri" pitchFamily="34" charset="0"/>
                <a:ea typeface="Calibri" pitchFamily="34" charset="-122"/>
                <a:cs typeface="Calibri" pitchFamily="34" charset="-120"/>
              </a:rPr>
              <a:t>a</a:t>
            </a:r>
            <a:endParaRPr lang="en-US" sz="1400" dirty="0"/>
          </a:p>
        </p:txBody>
      </p:sp>
      <p:sp>
        <p:nvSpPr>
          <p:cNvPr id="10" name="Text 8"/>
          <p:cNvSpPr/>
          <p:nvPr/>
        </p:nvSpPr>
        <p:spPr>
          <a:xfrm>
            <a:off x="1261872" y="2305304"/>
            <a:ext cx="10198303" cy="363220"/>
          </a:xfrm>
          <a:prstGeom prst="rect">
            <a:avLst/>
          </a:prstGeom>
          <a:noFill/>
          <a:ln/>
        </p:spPr>
        <p:txBody>
          <a:bodyPr wrap="square" lIns="0" tIns="0" rIns="0" bIns="0" rtlCol="0" anchor="t"/>
          <a:lstStyle/>
          <a:p>
            <a:pPr indent="0" marL="0">
              <a:lnSpc>
                <a:spcPct val="112000"/>
              </a:lnSpc>
              <a:buNone/>
            </a:pPr>
            <a:r>
              <a:rPr lang="en-US" sz="1400" dirty="0">
                <a:solidFill>
                  <a:srgbClr val="374151"/>
                </a:solidFill>
                <a:latin typeface="Calibri" pitchFamily="34" charset="0"/>
                <a:ea typeface="Calibri" pitchFamily="34" charset="-122"/>
                <a:cs typeface="Calibri" pitchFamily="34" charset="-120"/>
              </a:rPr>
              <a:t>The problem brief</a:t>
            </a:r>
            <a:endParaRPr lang="en-US" sz="1400" dirty="0"/>
          </a:p>
        </p:txBody>
      </p:sp>
      <p:sp>
        <p:nvSpPr>
          <p:cNvPr id="11" name="Shape 9"/>
          <p:cNvSpPr/>
          <p:nvPr/>
        </p:nvSpPr>
        <p:spPr>
          <a:xfrm>
            <a:off x="731520" y="2917952"/>
            <a:ext cx="365760" cy="365760"/>
          </a:xfrm>
          <a:prstGeom prst="rect">
            <a:avLst/>
          </a:prstGeom>
          <a:solidFill>
            <a:srgbClr val="FFFFFF"/>
          </a:solidFill>
          <a:ln w="15875">
            <a:solidFill>
              <a:srgbClr val="5C7A52"/>
            </a:solidFill>
            <a:prstDash val="solid"/>
          </a:ln>
        </p:spPr>
      </p:sp>
      <p:sp>
        <p:nvSpPr>
          <p:cNvPr id="12" name="Text 10"/>
          <p:cNvSpPr/>
          <p:nvPr/>
        </p:nvSpPr>
        <p:spPr>
          <a:xfrm>
            <a:off x="731520" y="2981960"/>
            <a:ext cx="365760" cy="274320"/>
          </a:xfrm>
          <a:prstGeom prst="rect">
            <a:avLst/>
          </a:prstGeom>
          <a:noFill/>
          <a:ln/>
        </p:spPr>
        <p:txBody>
          <a:bodyPr wrap="square" lIns="0" tIns="0" rIns="0" bIns="0" rtlCol="0" anchor="ctr"/>
          <a:lstStyle/>
          <a:p>
            <a:pPr algn="ctr" indent="0" marL="0">
              <a:buNone/>
            </a:pPr>
            <a:r>
              <a:rPr lang="en-US" sz="1400" b="1" dirty="0">
                <a:solidFill>
                  <a:srgbClr val="5C7A52"/>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1261872" y="2945384"/>
            <a:ext cx="10198303" cy="363220"/>
          </a:xfrm>
          <a:prstGeom prst="rect">
            <a:avLst/>
          </a:prstGeom>
          <a:noFill/>
          <a:ln/>
        </p:spPr>
        <p:txBody>
          <a:bodyPr wrap="square" lIns="0" tIns="0" rIns="0" bIns="0" rtlCol="0" anchor="t"/>
          <a:lstStyle/>
          <a:p>
            <a:pPr indent="0" marL="0">
              <a:lnSpc>
                <a:spcPct val="112000"/>
              </a:lnSpc>
              <a:buNone/>
            </a:pPr>
            <a:r>
              <a:rPr lang="en-US" sz="1400" dirty="0">
                <a:solidFill>
                  <a:srgbClr val="374151"/>
                </a:solidFill>
                <a:latin typeface="Calibri" pitchFamily="34" charset="0"/>
                <a:ea typeface="Calibri" pitchFamily="34" charset="-122"/>
                <a:cs typeface="Calibri" pitchFamily="34" charset="-120"/>
              </a:rPr>
              <a:t>The agent spec</a:t>
            </a:r>
            <a:endParaRPr lang="en-US" sz="1400" dirty="0"/>
          </a:p>
        </p:txBody>
      </p:sp>
      <p:sp>
        <p:nvSpPr>
          <p:cNvPr id="14" name="Shape 12"/>
          <p:cNvSpPr/>
          <p:nvPr/>
        </p:nvSpPr>
        <p:spPr>
          <a:xfrm>
            <a:off x="731520" y="3558032"/>
            <a:ext cx="365760" cy="365760"/>
          </a:xfrm>
          <a:prstGeom prst="rect">
            <a:avLst/>
          </a:prstGeom>
          <a:solidFill>
            <a:srgbClr val="FFFFFF"/>
          </a:solidFill>
          <a:ln w="15875">
            <a:solidFill>
              <a:srgbClr val="5C7A52"/>
            </a:solidFill>
            <a:prstDash val="solid"/>
          </a:ln>
        </p:spPr>
      </p:sp>
      <p:sp>
        <p:nvSpPr>
          <p:cNvPr id="15" name="Text 13"/>
          <p:cNvSpPr/>
          <p:nvPr/>
        </p:nvSpPr>
        <p:spPr>
          <a:xfrm>
            <a:off x="731520" y="3622040"/>
            <a:ext cx="365760" cy="274320"/>
          </a:xfrm>
          <a:prstGeom prst="rect">
            <a:avLst/>
          </a:prstGeom>
          <a:noFill/>
          <a:ln/>
        </p:spPr>
        <p:txBody>
          <a:bodyPr wrap="square" lIns="0" tIns="0" rIns="0" bIns="0" rtlCol="0" anchor="ctr"/>
          <a:lstStyle/>
          <a:p>
            <a:pPr algn="ctr" indent="0" marL="0">
              <a:buNone/>
            </a:pPr>
            <a:r>
              <a:rPr lang="en-US" sz="1400" b="1" dirty="0">
                <a:solidFill>
                  <a:srgbClr val="5C7A52"/>
                </a:solidFill>
                <a:latin typeface="Calibri" pitchFamily="34" charset="0"/>
                <a:ea typeface="Calibri" pitchFamily="34" charset="-122"/>
                <a:cs typeface="Calibri" pitchFamily="34" charset="-120"/>
              </a:rPr>
              <a:t>c</a:t>
            </a:r>
            <a:endParaRPr lang="en-US" sz="1400" dirty="0"/>
          </a:p>
        </p:txBody>
      </p:sp>
      <p:sp>
        <p:nvSpPr>
          <p:cNvPr id="16" name="Text 14"/>
          <p:cNvSpPr/>
          <p:nvPr/>
        </p:nvSpPr>
        <p:spPr>
          <a:xfrm>
            <a:off x="1261872" y="3585464"/>
            <a:ext cx="10198303" cy="363220"/>
          </a:xfrm>
          <a:prstGeom prst="rect">
            <a:avLst/>
          </a:prstGeom>
          <a:noFill/>
          <a:ln/>
        </p:spPr>
        <p:txBody>
          <a:bodyPr wrap="square" lIns="0" tIns="0" rIns="0" bIns="0" rtlCol="0" anchor="t"/>
          <a:lstStyle/>
          <a:p>
            <a:pPr indent="0" marL="0">
              <a:lnSpc>
                <a:spcPct val="112000"/>
              </a:lnSpc>
              <a:buNone/>
            </a:pPr>
            <a:r>
              <a:rPr lang="en-US" sz="1400" dirty="0">
                <a:solidFill>
                  <a:srgbClr val="374151"/>
                </a:solidFill>
                <a:latin typeface="Calibri" pitchFamily="34" charset="0"/>
                <a:ea typeface="Calibri" pitchFamily="34" charset="-122"/>
                <a:cs typeface="Calibri" pitchFamily="34" charset="-120"/>
              </a:rPr>
              <a:t>The autonomy line</a:t>
            </a:r>
            <a:endParaRPr lang="en-US" sz="1400" dirty="0"/>
          </a:p>
        </p:txBody>
      </p:sp>
      <p:sp>
        <p:nvSpPr>
          <p:cNvPr id="17" name="Shape 15"/>
          <p:cNvSpPr/>
          <p:nvPr/>
        </p:nvSpPr>
        <p:spPr>
          <a:xfrm>
            <a:off x="731520" y="4198112"/>
            <a:ext cx="365760" cy="365760"/>
          </a:xfrm>
          <a:prstGeom prst="rect">
            <a:avLst/>
          </a:prstGeom>
          <a:solidFill>
            <a:srgbClr val="FFFFFF"/>
          </a:solidFill>
          <a:ln w="15875">
            <a:solidFill>
              <a:srgbClr val="5C7A52"/>
            </a:solidFill>
            <a:prstDash val="solid"/>
          </a:ln>
        </p:spPr>
      </p:sp>
      <p:sp>
        <p:nvSpPr>
          <p:cNvPr id="18" name="Text 16"/>
          <p:cNvSpPr/>
          <p:nvPr/>
        </p:nvSpPr>
        <p:spPr>
          <a:xfrm>
            <a:off x="731520" y="4262120"/>
            <a:ext cx="365760" cy="274320"/>
          </a:xfrm>
          <a:prstGeom prst="rect">
            <a:avLst/>
          </a:prstGeom>
          <a:noFill/>
          <a:ln/>
        </p:spPr>
        <p:txBody>
          <a:bodyPr wrap="square" lIns="0" tIns="0" rIns="0" bIns="0" rtlCol="0" anchor="ctr"/>
          <a:lstStyle/>
          <a:p>
            <a:pPr algn="ctr" indent="0" marL="0">
              <a:buNone/>
            </a:pPr>
            <a:r>
              <a:rPr lang="en-US" sz="1400" b="1" dirty="0">
                <a:solidFill>
                  <a:srgbClr val="5C7A52"/>
                </a:solidFill>
                <a:latin typeface="Calibri" pitchFamily="34" charset="0"/>
                <a:ea typeface="Calibri" pitchFamily="34" charset="-122"/>
                <a:cs typeface="Calibri" pitchFamily="34" charset="-120"/>
              </a:rPr>
              <a:t>d</a:t>
            </a:r>
            <a:endParaRPr lang="en-US" sz="1400" dirty="0"/>
          </a:p>
        </p:txBody>
      </p:sp>
      <p:sp>
        <p:nvSpPr>
          <p:cNvPr id="19" name="Text 17"/>
          <p:cNvSpPr/>
          <p:nvPr/>
        </p:nvSpPr>
        <p:spPr>
          <a:xfrm>
            <a:off x="1261872" y="4225544"/>
            <a:ext cx="10198303" cy="363220"/>
          </a:xfrm>
          <a:prstGeom prst="rect">
            <a:avLst/>
          </a:prstGeom>
          <a:noFill/>
          <a:ln/>
        </p:spPr>
        <p:txBody>
          <a:bodyPr wrap="square" lIns="0" tIns="0" rIns="0" bIns="0" rtlCol="0" anchor="t"/>
          <a:lstStyle/>
          <a:p>
            <a:pPr indent="0" marL="0">
              <a:lnSpc>
                <a:spcPct val="112000"/>
              </a:lnSpc>
              <a:buNone/>
            </a:pPr>
            <a:r>
              <a:rPr lang="en-US" sz="1400" dirty="0">
                <a:solidFill>
                  <a:srgbClr val="374151"/>
                </a:solidFill>
                <a:latin typeface="Calibri" pitchFamily="34" charset="0"/>
                <a:ea typeface="Calibri" pitchFamily="34" charset="-122"/>
                <a:cs typeface="Calibri" pitchFamily="34" charset="-120"/>
              </a:rPr>
              <a:t>The rollback runbook</a:t>
            </a:r>
            <a:endParaRPr lang="en-US" sz="1400" dirty="0"/>
          </a:p>
        </p:txBody>
      </p:sp>
      <p:sp>
        <p:nvSpPr>
          <p:cNvPr id="20" name="Shape 18"/>
          <p:cNvSpPr/>
          <p:nvPr/>
        </p:nvSpPr>
        <p:spPr>
          <a:xfrm>
            <a:off x="640080" y="5057648"/>
            <a:ext cx="10911535" cy="420624"/>
          </a:xfrm>
          <a:prstGeom prst="rect">
            <a:avLst/>
          </a:prstGeom>
          <a:solidFill>
            <a:srgbClr val="E8F0E6"/>
          </a:solidFill>
          <a:ln w="12700">
            <a:solidFill>
              <a:srgbClr val="E8F0E6"/>
            </a:solidFill>
            <a:prstDash val="solid"/>
          </a:ln>
        </p:spPr>
      </p:sp>
      <p:sp>
        <p:nvSpPr>
          <p:cNvPr id="21" name="Shape 19"/>
          <p:cNvSpPr/>
          <p:nvPr/>
        </p:nvSpPr>
        <p:spPr>
          <a:xfrm>
            <a:off x="640080" y="5057648"/>
            <a:ext cx="41148" cy="420624"/>
          </a:xfrm>
          <a:prstGeom prst="rect">
            <a:avLst/>
          </a:prstGeom>
          <a:solidFill>
            <a:srgbClr val="5C7A52"/>
          </a:solidFill>
          <a:ln w="12700">
            <a:solidFill>
              <a:srgbClr val="333333"/>
            </a:solidFill>
            <a:prstDash val="solid"/>
          </a:ln>
        </p:spPr>
      </p:sp>
      <p:sp>
        <p:nvSpPr>
          <p:cNvPr id="22" name="Text 20"/>
          <p:cNvSpPr/>
          <p:nvPr/>
        </p:nvSpPr>
        <p:spPr>
          <a:xfrm>
            <a:off x="841248" y="5158232"/>
            <a:ext cx="10527487" cy="2377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Type one letter in the chat.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01 · THE ARTEFACT SET</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Why the runbook is the one you can skip</a:t>
            </a:r>
            <a:endParaRPr lang="en-US" sz="2550" dirty="0"/>
          </a:p>
        </p:txBody>
      </p:sp>
      <p:sp>
        <p:nvSpPr>
          <p:cNvPr id="4" name="Text 2"/>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7</a:t>
            </a:r>
            <a:endParaRPr lang="en-US" sz="750" dirty="0"/>
          </a:p>
        </p:txBody>
      </p:sp>
      <p:sp>
        <p:nvSpPr>
          <p:cNvPr id="5" name="Text 3"/>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sp>
        <p:nvSpPr>
          <p:cNvPr id="6" name="Shape 4"/>
          <p:cNvSpPr/>
          <p:nvPr/>
        </p:nvSpPr>
        <p:spPr>
          <a:xfrm>
            <a:off x="640080" y="1499616"/>
            <a:ext cx="10911535" cy="658876"/>
          </a:xfrm>
          <a:prstGeom prst="rect">
            <a:avLst/>
          </a:prstGeom>
          <a:solidFill>
            <a:srgbClr val="E8F0E6"/>
          </a:solidFill>
          <a:ln w="12700">
            <a:solidFill>
              <a:srgbClr val="333333"/>
            </a:solidFill>
            <a:prstDash val="solid"/>
          </a:ln>
        </p:spPr>
      </p:sp>
      <p:sp>
        <p:nvSpPr>
          <p:cNvPr id="7" name="Shape 5"/>
          <p:cNvSpPr/>
          <p:nvPr/>
        </p:nvSpPr>
        <p:spPr>
          <a:xfrm>
            <a:off x="640080" y="1499616"/>
            <a:ext cx="41148" cy="658876"/>
          </a:xfrm>
          <a:prstGeom prst="rect">
            <a:avLst/>
          </a:prstGeom>
          <a:solidFill>
            <a:srgbClr val="5C7A52"/>
          </a:solidFill>
          <a:ln w="12700">
            <a:solidFill>
              <a:srgbClr val="333333"/>
            </a:solidFill>
            <a:prstDash val="solid"/>
          </a:ln>
        </p:spPr>
      </p:sp>
      <p:sp>
        <p:nvSpPr>
          <p:cNvPr id="8" name="Text 6"/>
          <p:cNvSpPr/>
          <p:nvPr/>
        </p:nvSpPr>
        <p:spPr>
          <a:xfrm>
            <a:off x="859536" y="1618488"/>
            <a:ext cx="10500055" cy="439420"/>
          </a:xfrm>
          <a:prstGeom prst="rect">
            <a:avLst/>
          </a:prstGeom>
          <a:noFill/>
          <a:ln/>
        </p:spPr>
        <p:txBody>
          <a:bodyPr wrap="square" lIns="0" tIns="0" rIns="0" bIns="0" rtlCol="0" anchor="t"/>
          <a:lstStyle/>
          <a:p>
            <a:pPr indent="0" marL="0">
              <a:lnSpc>
                <a:spcPct val="114000"/>
              </a:lnSpc>
              <a:buNone/>
            </a:pPr>
            <a:r>
              <a:rPr lang="en-US" sz="1300" b="1" dirty="0">
                <a:solidFill>
                  <a:srgbClr val="445B3D"/>
                </a:solidFill>
                <a:latin typeface="Calibri" pitchFamily="34" charset="0"/>
                <a:ea typeface="Calibri" pitchFamily="34" charset="-122"/>
                <a:cs typeface="Calibri" pitchFamily="34" charset="-120"/>
              </a:rPr>
              <a:t>The three mandatory rows are owed by every agent regardless of what it does. The rollback runbook is optional, owed only when an action is high-impact, and a draft-only agent has none.</a:t>
            </a:r>
            <a:endParaRPr lang="en-US" sz="1300" dirty="0"/>
          </a:p>
        </p:txBody>
      </p:sp>
      <p:sp>
        <p:nvSpPr>
          <p:cNvPr id="9" name="Text 7"/>
          <p:cNvSpPr/>
          <p:nvPr/>
        </p:nvSpPr>
        <p:spPr>
          <a:xfrm>
            <a:off x="640080" y="2414524"/>
            <a:ext cx="10911535" cy="201168"/>
          </a:xfrm>
          <a:prstGeom prst="rect">
            <a:avLst/>
          </a:prstGeom>
          <a:noFill/>
          <a:ln/>
        </p:spPr>
        <p:txBody>
          <a:bodyPr wrap="square" lIns="0" tIns="0" rIns="0" bIns="0" rtlCol="0" anchor="ctr"/>
          <a:lstStyle/>
          <a:p>
            <a:pPr indent="0" marL="0">
              <a:buNone/>
            </a:pPr>
            <a:r>
              <a:rPr lang="en-US" sz="800" b="1" spc="180" kern="0" dirty="0">
                <a:solidFill>
                  <a:srgbClr val="9AA1AC"/>
                </a:solidFill>
                <a:latin typeface="Calibri" pitchFamily="34" charset="0"/>
                <a:ea typeface="Calibri" pitchFamily="34" charset="-122"/>
                <a:cs typeface="Calibri" pitchFamily="34" charset="-120"/>
              </a:rPr>
              <a:t>WHY THE OTHERS DO NOT HOLD</a:t>
            </a:r>
            <a:endParaRPr lang="en-US" sz="800" dirty="0"/>
          </a:p>
        </p:txBody>
      </p:sp>
      <p:sp>
        <p:nvSpPr>
          <p:cNvPr id="10" name="Shape 8"/>
          <p:cNvSpPr/>
          <p:nvPr/>
        </p:nvSpPr>
        <p:spPr>
          <a:xfrm>
            <a:off x="640080" y="2652268"/>
            <a:ext cx="10911535" cy="0"/>
          </a:xfrm>
          <a:prstGeom prst="line">
            <a:avLst/>
          </a:prstGeom>
          <a:noFill/>
          <a:ln w="12700">
            <a:solidFill>
              <a:srgbClr val="D8DCE2"/>
            </a:solidFill>
            <a:prstDash val="solid"/>
          </a:ln>
        </p:spPr>
      </p:sp>
      <p:sp>
        <p:nvSpPr>
          <p:cNvPr id="11" name="Text 9"/>
          <p:cNvSpPr/>
          <p:nvPr/>
        </p:nvSpPr>
        <p:spPr>
          <a:xfrm>
            <a:off x="640080" y="2798572"/>
            <a:ext cx="3863918" cy="713063"/>
          </a:xfrm>
          <a:prstGeom prst="rect">
            <a:avLst/>
          </a:prstGeom>
          <a:noFill/>
          <a:ln/>
        </p:spPr>
        <p:txBody>
          <a:bodyPr wrap="square" lIns="0" tIns="0" rIns="0" bIns="0" rtlCol="0" anchor="t"/>
          <a:lstStyle/>
          <a:p>
            <a:pPr indent="0" marL="0">
              <a:lnSpc>
                <a:spcPct val="113000"/>
              </a:lnSpc>
              <a:buNone/>
            </a:pPr>
            <a:r>
              <a:rPr lang="en-US" sz="1300" b="1" dirty="0">
                <a:solidFill>
                  <a:srgbClr val="445B3D"/>
                </a:solidFill>
                <a:latin typeface="Calibri" pitchFamily="34" charset="0"/>
                <a:ea typeface="Calibri" pitchFamily="34" charset="-122"/>
                <a:cs typeface="Calibri" pitchFamily="34" charset="-120"/>
              </a:rPr>
              <a:t>The problem brief</a:t>
            </a:r>
            <a:endParaRPr lang="en-US" sz="1300" dirty="0"/>
          </a:p>
        </p:txBody>
      </p:sp>
      <p:sp>
        <p:nvSpPr>
          <p:cNvPr id="12" name="Text 10"/>
          <p:cNvSpPr/>
          <p:nvPr/>
        </p:nvSpPr>
        <p:spPr>
          <a:xfrm>
            <a:off x="4650302" y="2798572"/>
            <a:ext cx="6755009" cy="713063"/>
          </a:xfrm>
          <a:prstGeom prst="rect">
            <a:avLst/>
          </a:prstGeom>
          <a:noFill/>
          <a:ln/>
        </p:spPr>
        <p:txBody>
          <a:bodyPr wrap="square" lIns="0" tIns="0" rIns="0" bIns="0" rtlCol="0" anchor="t"/>
          <a:lstStyle/>
          <a:p>
            <a:pPr indent="0" marL="0">
              <a:lnSpc>
                <a:spcPct val="113000"/>
              </a:lnSpc>
              <a:buNone/>
            </a:pPr>
            <a:r>
              <a:rPr lang="en-US" sz="1300" dirty="0">
                <a:solidFill>
                  <a:srgbClr val="374151"/>
                </a:solidFill>
                <a:latin typeface="Calibri" pitchFamily="34" charset="0"/>
                <a:ea typeface="Calibri" pitchFamily="34" charset="-122"/>
                <a:cs typeface="Calibri" pitchFamily="34" charset="-120"/>
              </a:rPr>
              <a:t>Mandatory. Every agent needs a reason it exists, whatever it does. Skipping it is how agents get built that nobody asked for.</a:t>
            </a:r>
            <a:endParaRPr lang="en-US" sz="1300" dirty="0"/>
          </a:p>
        </p:txBody>
      </p:sp>
      <p:sp>
        <p:nvSpPr>
          <p:cNvPr id="13" name="Shape 11"/>
          <p:cNvSpPr/>
          <p:nvPr/>
        </p:nvSpPr>
        <p:spPr>
          <a:xfrm>
            <a:off x="640080" y="3520779"/>
            <a:ext cx="10911535" cy="0"/>
          </a:xfrm>
          <a:prstGeom prst="line">
            <a:avLst/>
          </a:prstGeom>
          <a:noFill/>
          <a:ln w="6350">
            <a:solidFill>
              <a:srgbClr val="E5E7EB"/>
            </a:solidFill>
            <a:prstDash val="solid"/>
          </a:ln>
        </p:spPr>
      </p:sp>
      <p:sp>
        <p:nvSpPr>
          <p:cNvPr id="14" name="Text 12"/>
          <p:cNvSpPr/>
          <p:nvPr/>
        </p:nvSpPr>
        <p:spPr>
          <a:xfrm>
            <a:off x="640080" y="3603075"/>
            <a:ext cx="3863918" cy="713063"/>
          </a:xfrm>
          <a:prstGeom prst="rect">
            <a:avLst/>
          </a:prstGeom>
          <a:noFill/>
          <a:ln/>
        </p:spPr>
        <p:txBody>
          <a:bodyPr wrap="square" lIns="0" tIns="0" rIns="0" bIns="0" rtlCol="0" anchor="t"/>
          <a:lstStyle/>
          <a:p>
            <a:pPr indent="0" marL="0">
              <a:lnSpc>
                <a:spcPct val="113000"/>
              </a:lnSpc>
              <a:buNone/>
            </a:pPr>
            <a:r>
              <a:rPr lang="en-US" sz="1300" b="1" dirty="0">
                <a:solidFill>
                  <a:srgbClr val="445B3D"/>
                </a:solidFill>
                <a:latin typeface="Calibri" pitchFamily="34" charset="0"/>
                <a:ea typeface="Calibri" pitchFamily="34" charset="-122"/>
                <a:cs typeface="Calibri" pitchFamily="34" charset="-120"/>
              </a:rPr>
              <a:t>The agent spec</a:t>
            </a:r>
            <a:endParaRPr lang="en-US" sz="1300" dirty="0"/>
          </a:p>
        </p:txBody>
      </p:sp>
      <p:sp>
        <p:nvSpPr>
          <p:cNvPr id="15" name="Text 13"/>
          <p:cNvSpPr/>
          <p:nvPr/>
        </p:nvSpPr>
        <p:spPr>
          <a:xfrm>
            <a:off x="4650302" y="3603075"/>
            <a:ext cx="6755009" cy="713063"/>
          </a:xfrm>
          <a:prstGeom prst="rect">
            <a:avLst/>
          </a:prstGeom>
          <a:noFill/>
          <a:ln/>
        </p:spPr>
        <p:txBody>
          <a:bodyPr wrap="square" lIns="0" tIns="0" rIns="0" bIns="0" rtlCol="0" anchor="t"/>
          <a:lstStyle/>
          <a:p>
            <a:pPr indent="0" marL="0">
              <a:lnSpc>
                <a:spcPct val="113000"/>
              </a:lnSpc>
              <a:buNone/>
            </a:pPr>
            <a:r>
              <a:rPr lang="en-US" sz="1300" dirty="0">
                <a:solidFill>
                  <a:srgbClr val="374151"/>
                </a:solidFill>
                <a:latin typeface="Calibri" pitchFamily="34" charset="0"/>
                <a:ea typeface="Calibri" pitchFamily="34" charset="-122"/>
                <a:cs typeface="Calibri" pitchFamily="34" charset="-120"/>
              </a:rPr>
              <a:t>Mandatory. Without it there is nothing for engineering to build against, draft-only or not.</a:t>
            </a:r>
            <a:endParaRPr lang="en-US" sz="1300" dirty="0"/>
          </a:p>
        </p:txBody>
      </p:sp>
      <p:sp>
        <p:nvSpPr>
          <p:cNvPr id="16" name="Shape 14"/>
          <p:cNvSpPr/>
          <p:nvPr/>
        </p:nvSpPr>
        <p:spPr>
          <a:xfrm>
            <a:off x="640080" y="4325281"/>
            <a:ext cx="10911535" cy="0"/>
          </a:xfrm>
          <a:prstGeom prst="line">
            <a:avLst/>
          </a:prstGeom>
          <a:noFill/>
          <a:ln w="6350">
            <a:solidFill>
              <a:srgbClr val="E5E7EB"/>
            </a:solidFill>
            <a:prstDash val="solid"/>
          </a:ln>
        </p:spPr>
      </p:sp>
      <p:sp>
        <p:nvSpPr>
          <p:cNvPr id="17" name="Text 15"/>
          <p:cNvSpPr/>
          <p:nvPr/>
        </p:nvSpPr>
        <p:spPr>
          <a:xfrm>
            <a:off x="640080" y="4407577"/>
            <a:ext cx="3863918" cy="713063"/>
          </a:xfrm>
          <a:prstGeom prst="rect">
            <a:avLst/>
          </a:prstGeom>
          <a:noFill/>
          <a:ln/>
        </p:spPr>
        <p:txBody>
          <a:bodyPr wrap="square" lIns="0" tIns="0" rIns="0" bIns="0" rtlCol="0" anchor="t"/>
          <a:lstStyle/>
          <a:p>
            <a:pPr indent="0" marL="0">
              <a:lnSpc>
                <a:spcPct val="113000"/>
              </a:lnSpc>
              <a:buNone/>
            </a:pPr>
            <a:r>
              <a:rPr lang="en-US" sz="1300" b="1" dirty="0">
                <a:solidFill>
                  <a:srgbClr val="445B3D"/>
                </a:solidFill>
                <a:latin typeface="Calibri" pitchFamily="34" charset="0"/>
                <a:ea typeface="Calibri" pitchFamily="34" charset="-122"/>
                <a:cs typeface="Calibri" pitchFamily="34" charset="-120"/>
              </a:rPr>
              <a:t>The autonomy line</a:t>
            </a:r>
            <a:endParaRPr lang="en-US" sz="1300" dirty="0"/>
          </a:p>
        </p:txBody>
      </p:sp>
      <p:sp>
        <p:nvSpPr>
          <p:cNvPr id="18" name="Text 16"/>
          <p:cNvSpPr/>
          <p:nvPr/>
        </p:nvSpPr>
        <p:spPr>
          <a:xfrm>
            <a:off x="4650302" y="4407577"/>
            <a:ext cx="6755009" cy="713063"/>
          </a:xfrm>
          <a:prstGeom prst="rect">
            <a:avLst/>
          </a:prstGeom>
          <a:noFill/>
          <a:ln/>
        </p:spPr>
        <p:txBody>
          <a:bodyPr wrap="square" lIns="0" tIns="0" rIns="0" bIns="0" rtlCol="0" anchor="t"/>
          <a:lstStyle/>
          <a:p>
            <a:pPr indent="0" marL="0">
              <a:lnSpc>
                <a:spcPct val="113000"/>
              </a:lnSpc>
              <a:buNone/>
            </a:pPr>
            <a:r>
              <a:rPr lang="en-US" sz="1300" dirty="0">
                <a:solidFill>
                  <a:srgbClr val="374151"/>
                </a:solidFill>
                <a:latin typeface="Calibri" pitchFamily="34" charset="0"/>
                <a:ea typeface="Calibri" pitchFamily="34" charset="-122"/>
                <a:cs typeface="Calibri" pitchFamily="34" charset="-120"/>
              </a:rPr>
              <a:t>Mandatory. Even a draft-only agent has a level, and writing it down is what confirms it is only drafting.</a:t>
            </a:r>
            <a:endParaRPr lang="en-US" sz="1300" dirty="0"/>
          </a:p>
        </p:txBody>
      </p:sp>
      <p:sp>
        <p:nvSpPr>
          <p:cNvPr id="19" name="Shape 17"/>
          <p:cNvSpPr/>
          <p:nvPr/>
        </p:nvSpPr>
        <p:spPr>
          <a:xfrm>
            <a:off x="640080" y="5230368"/>
            <a:ext cx="10911535" cy="0"/>
          </a:xfrm>
          <a:prstGeom prst="line">
            <a:avLst/>
          </a:prstGeom>
          <a:noFill/>
          <a:ln w="6350">
            <a:solidFill>
              <a:srgbClr val="E5E7EB"/>
            </a:solidFill>
            <a:prstDash val="solid"/>
          </a:ln>
        </p:spPr>
      </p:sp>
      <p:sp>
        <p:nvSpPr>
          <p:cNvPr id="20" name="Text 18"/>
          <p:cNvSpPr/>
          <p:nvPr/>
        </p:nvSpPr>
        <p:spPr>
          <a:xfrm>
            <a:off x="640080" y="5358384"/>
            <a:ext cx="10911535" cy="365760"/>
          </a:xfrm>
          <a:prstGeom prst="rect">
            <a:avLst/>
          </a:prstGeom>
          <a:noFill/>
          <a:ln/>
        </p:spPr>
        <p:txBody>
          <a:bodyPr wrap="square" lIns="0" tIns="0" rIns="0" bIns="0" rtlCol="0" anchor="t"/>
          <a:lstStyle/>
          <a:p>
            <a:pPr indent="0" marL="0">
              <a:buNone/>
            </a:pPr>
            <a:r>
              <a:rPr lang="en-US" sz="800" b="1" spc="160" kern="0" dirty="0">
                <a:solidFill>
                  <a:srgbClr val="9AA1AC"/>
                </a:solidFill>
                <a:latin typeface="Calibri" pitchFamily="34" charset="0"/>
                <a:ea typeface="Calibri" pitchFamily="34" charset="-122"/>
                <a:cs typeface="Calibri" pitchFamily="34" charset="-120"/>
              </a:rPr>
              <a:t>REMEMBER IT AS  </a:t>
            </a:r>
            <a:pPr indent="0" marL="0">
              <a:buNone/>
            </a:pPr>
            <a:r>
              <a:rPr lang="en-US" sz="1250" i="1" dirty="0">
                <a:solidFill>
                  <a:srgbClr val="1F2937"/>
                </a:solidFill>
                <a:latin typeface="Calibri" pitchFamily="34" charset="0"/>
                <a:ea typeface="Calibri" pitchFamily="34" charset="-122"/>
                <a:cs typeface="Calibri" pitchFamily="34" charset="-120"/>
              </a:rPr>
              <a:t>Mandatory rows are owed by what the agent IS. Conditional and optional rows are owed by what it DOES.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01 · THE ARTEFACT SET  ·  WHERE IT COMES FROM</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This set is arc42, the standard template, in disguise</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arc42 is the industry-standard way to document any architecture. The agentic set fills the sections an agent needs.</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8</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pic>
        <p:nvPicPr>
          <p:cNvPr id="7" name="Image 0" descr="preencoded.png">    </p:cNvPr>
          <p:cNvPicPr>
            <a:picLocks noChangeAspect="1"/>
          </p:cNvPicPr>
          <p:nvPr/>
        </p:nvPicPr>
        <p:blipFill>
          <a:blip r:embed="rId1"/>
          <a:stretch>
            <a:fillRect/>
          </a:stretch>
        </p:blipFill>
        <p:spPr>
          <a:xfrm>
            <a:off x="1486713" y="1499616"/>
            <a:ext cx="9218270" cy="3776472"/>
          </a:xfrm>
          <a:prstGeom prst="rect">
            <a:avLst/>
          </a:prstGeom>
        </p:spPr>
      </p:pic>
      <p:sp>
        <p:nvSpPr>
          <p:cNvPr id="8" name="Shape 5"/>
          <p:cNvSpPr/>
          <p:nvPr/>
        </p:nvSpPr>
        <p:spPr>
          <a:xfrm>
            <a:off x="640080" y="5449824"/>
            <a:ext cx="10911535" cy="420624"/>
          </a:xfrm>
          <a:prstGeom prst="rect">
            <a:avLst/>
          </a:prstGeom>
          <a:solidFill>
            <a:srgbClr val="E8F0E6"/>
          </a:solidFill>
          <a:ln w="12700">
            <a:solidFill>
              <a:srgbClr val="E8F0E6"/>
            </a:solidFill>
            <a:prstDash val="solid"/>
          </a:ln>
        </p:spPr>
      </p:sp>
      <p:sp>
        <p:nvSpPr>
          <p:cNvPr id="9" name="Shape 6"/>
          <p:cNvSpPr/>
          <p:nvPr/>
        </p:nvSpPr>
        <p:spPr>
          <a:xfrm>
            <a:off x="640080" y="5449824"/>
            <a:ext cx="41148" cy="420624"/>
          </a:xfrm>
          <a:prstGeom prst="rect">
            <a:avLst/>
          </a:prstGeom>
          <a:solidFill>
            <a:srgbClr val="5C7A52"/>
          </a:solidFill>
          <a:ln w="12700">
            <a:solidFill>
              <a:srgbClr val="333333"/>
            </a:solidFill>
            <a:prstDash val="solid"/>
          </a:ln>
        </p:spPr>
      </p:sp>
      <p:sp>
        <p:nvSpPr>
          <p:cNvPr id="10" name="Text 7"/>
          <p:cNvSpPr/>
          <p:nvPr/>
        </p:nvSpPr>
        <p:spPr>
          <a:xfrm>
            <a:off x="841248" y="5550408"/>
            <a:ext cx="10527487" cy="2377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You are not learning a new bureaucracy. You are filling the arc42 sections that matter for an agent, and skipping the ones that do not.</a:t>
            </a:r>
            <a:endParaRPr lang="en-US" sz="1100" dirty="0"/>
          </a:p>
        </p:txBody>
      </p:sp>
      <p:sp>
        <p:nvSpPr>
          <p:cNvPr id="11" name="Text 8"/>
          <p:cNvSpPr/>
          <p:nvPr/>
        </p:nvSpPr>
        <p:spPr>
          <a:xfrm>
            <a:off x="640080" y="6035040"/>
            <a:ext cx="10911535" cy="384048"/>
          </a:xfrm>
          <a:prstGeom prst="rect">
            <a:avLst/>
          </a:prstGeom>
          <a:noFill/>
          <a:ln/>
        </p:spPr>
        <p:txBody>
          <a:bodyPr wrap="square" lIns="0" tIns="0" rIns="0" bIns="0" rtlCol="0" anchor="t"/>
          <a:lstStyle/>
          <a:p>
            <a:pPr indent="0" marL="0">
              <a:lnSpc>
                <a:spcPct val="110000"/>
              </a:lnSpc>
              <a:buNone/>
            </a:pPr>
            <a:r>
              <a:rPr lang="en-US" sz="950" b="1" spc="160" kern="0" dirty="0">
                <a:solidFill>
                  <a:srgbClr val="9AA1AC"/>
                </a:solidFill>
                <a:latin typeface="Calibri" pitchFamily="34" charset="0"/>
                <a:ea typeface="Calibri" pitchFamily="34" charset="-122"/>
                <a:cs typeface="Calibri" pitchFamily="34" charset="-120"/>
              </a:rPr>
              <a:t>CONFIDENCE  ·  </a:t>
            </a:r>
            <a:pPr indent="0" marL="0">
              <a:lnSpc>
                <a:spcPct val="110000"/>
              </a:lnSpc>
              <a:buNone/>
            </a:pPr>
            <a:r>
              <a:rPr lang="en-US" sz="950" i="1" dirty="0">
                <a:solidFill>
                  <a:srgbClr val="6B7280"/>
                </a:solidFill>
                <a:latin typeface="Calibri" pitchFamily="34" charset="0"/>
                <a:ea typeface="Calibri" pitchFamily="34" charset="-122"/>
                <a:cs typeface="Calibri" pitchFamily="34" charset="-120"/>
              </a:rPr>
              <a:t>Established. arc42 is a widely used open architecture-documentation template, not this course’s invention. The mapping to agentic artefacts is the teaching aid.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02 · WHY THE SET, NOT A PRD</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A PRD describes software, the set describes an agent</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The document you already know assumes something an agent breaks.</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9</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pic>
        <p:nvPicPr>
          <p:cNvPr id="7" name="Image 0" descr="preencoded.png">    </p:cNvPr>
          <p:cNvPicPr>
            <a:picLocks noChangeAspect="1"/>
          </p:cNvPicPr>
          <p:nvPr/>
        </p:nvPicPr>
        <p:blipFill>
          <a:blip r:embed="rId1"/>
          <a:stretch>
            <a:fillRect/>
          </a:stretch>
        </p:blipFill>
        <p:spPr>
          <a:xfrm>
            <a:off x="640080" y="1702230"/>
            <a:ext cx="10911535" cy="3682140"/>
          </a:xfrm>
          <a:prstGeom prst="rect">
            <a:avLst/>
          </a:prstGeom>
        </p:spPr>
      </p:pic>
      <p:sp>
        <p:nvSpPr>
          <p:cNvPr id="8" name="Shape 5"/>
          <p:cNvSpPr/>
          <p:nvPr/>
        </p:nvSpPr>
        <p:spPr>
          <a:xfrm>
            <a:off x="640080" y="5695266"/>
            <a:ext cx="10911535" cy="420624"/>
          </a:xfrm>
          <a:prstGeom prst="rect">
            <a:avLst/>
          </a:prstGeom>
          <a:solidFill>
            <a:srgbClr val="E8F0E6"/>
          </a:solidFill>
          <a:ln w="12700">
            <a:solidFill>
              <a:srgbClr val="E8F0E6"/>
            </a:solidFill>
            <a:prstDash val="solid"/>
          </a:ln>
        </p:spPr>
      </p:sp>
      <p:sp>
        <p:nvSpPr>
          <p:cNvPr id="9" name="Shape 6"/>
          <p:cNvSpPr/>
          <p:nvPr/>
        </p:nvSpPr>
        <p:spPr>
          <a:xfrm>
            <a:off x="640080" y="5695266"/>
            <a:ext cx="41148" cy="420624"/>
          </a:xfrm>
          <a:prstGeom prst="rect">
            <a:avLst/>
          </a:prstGeom>
          <a:solidFill>
            <a:srgbClr val="5C7A52"/>
          </a:solidFill>
          <a:ln w="12700">
            <a:solidFill>
              <a:srgbClr val="333333"/>
            </a:solidFill>
            <a:prstDash val="solid"/>
          </a:ln>
        </p:spPr>
      </p:sp>
      <p:sp>
        <p:nvSpPr>
          <p:cNvPr id="10" name="Text 7"/>
          <p:cNvSpPr/>
          <p:nvPr/>
        </p:nvSpPr>
        <p:spPr>
          <a:xfrm>
            <a:off x="841248" y="5795850"/>
            <a:ext cx="10527487" cy="2377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A PRD assumes the same input gives the same output. An agent does not, so a single document cannot hold it, and the set exists to cover the gap.</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03 · THE MANDATORY SET</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The five you always owe, as four cards</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The three lines from Session 3 are one card here, so four cards cover all five documents.</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10</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pic>
        <p:nvPicPr>
          <p:cNvPr id="7" name="Image 0" descr="preencoded.png">    </p:cNvPr>
          <p:cNvPicPr>
            <a:picLocks noChangeAspect="1"/>
          </p:cNvPicPr>
          <p:nvPr/>
        </p:nvPicPr>
        <p:blipFill>
          <a:blip r:embed="rId1"/>
          <a:stretch>
            <a:fillRect/>
          </a:stretch>
        </p:blipFill>
        <p:spPr>
          <a:xfrm>
            <a:off x="640080" y="1702230"/>
            <a:ext cx="10911535" cy="3682140"/>
          </a:xfrm>
          <a:prstGeom prst="rect">
            <a:avLst/>
          </a:prstGeom>
        </p:spPr>
      </p:pic>
      <p:sp>
        <p:nvSpPr>
          <p:cNvPr id="8" name="Shape 5"/>
          <p:cNvSpPr/>
          <p:nvPr/>
        </p:nvSpPr>
        <p:spPr>
          <a:xfrm>
            <a:off x="640080" y="5695266"/>
            <a:ext cx="10911535" cy="420624"/>
          </a:xfrm>
          <a:prstGeom prst="rect">
            <a:avLst/>
          </a:prstGeom>
          <a:solidFill>
            <a:srgbClr val="E8F0E6"/>
          </a:solidFill>
          <a:ln w="12700">
            <a:solidFill>
              <a:srgbClr val="E8F0E6"/>
            </a:solidFill>
            <a:prstDash val="solid"/>
          </a:ln>
        </p:spPr>
      </p:sp>
      <p:sp>
        <p:nvSpPr>
          <p:cNvPr id="9" name="Shape 6"/>
          <p:cNvSpPr/>
          <p:nvPr/>
        </p:nvSpPr>
        <p:spPr>
          <a:xfrm>
            <a:off x="640080" y="5695266"/>
            <a:ext cx="41148" cy="420624"/>
          </a:xfrm>
          <a:prstGeom prst="rect">
            <a:avLst/>
          </a:prstGeom>
          <a:solidFill>
            <a:srgbClr val="5C7A52"/>
          </a:solidFill>
          <a:ln w="12700">
            <a:solidFill>
              <a:srgbClr val="333333"/>
            </a:solidFill>
            <a:prstDash val="solid"/>
          </a:ln>
        </p:spPr>
      </p:sp>
      <p:sp>
        <p:nvSpPr>
          <p:cNvPr id="10" name="Text 7"/>
          <p:cNvSpPr/>
          <p:nvPr/>
        </p:nvSpPr>
        <p:spPr>
          <a:xfrm>
            <a:off x="841248" y="5795850"/>
            <a:ext cx="10527487" cy="2377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If you cannot fill one of these four for a feature, that feature is not ready to leave P1, whatever the demo looks like.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03 · THE MANDATORY SET</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Filling the mandatory set, in five steps</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Fifteen minutes per feature once you know the agent. Step two is the one people skip.</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11</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sp>
        <p:nvSpPr>
          <p:cNvPr id="7" name="Text 5"/>
          <p:cNvSpPr/>
          <p:nvPr/>
        </p:nvSpPr>
        <p:spPr>
          <a:xfrm>
            <a:off x="1114495" y="1499616"/>
            <a:ext cx="3287769" cy="201168"/>
          </a:xfrm>
          <a:prstGeom prst="rect">
            <a:avLst/>
          </a:prstGeom>
          <a:noFill/>
          <a:ln/>
        </p:spPr>
        <p:txBody>
          <a:bodyPr wrap="square" lIns="0" tIns="0" rIns="0" bIns="0" rtlCol="0" anchor="ctr"/>
          <a:lstStyle/>
          <a:p>
            <a:pPr indent="0" marL="0">
              <a:buNone/>
            </a:pPr>
            <a:r>
              <a:rPr lang="en-US" sz="800" b="1" spc="160" kern="0" dirty="0">
                <a:solidFill>
                  <a:srgbClr val="9AA1AC"/>
                </a:solidFill>
                <a:latin typeface="Calibri" pitchFamily="34" charset="0"/>
                <a:ea typeface="Calibri" pitchFamily="34" charset="-122"/>
                <a:cs typeface="Calibri" pitchFamily="34" charset="-120"/>
              </a:rPr>
              <a:t>WHAT YOU DO</a:t>
            </a:r>
            <a:endParaRPr lang="en-US" sz="800" dirty="0"/>
          </a:p>
        </p:txBody>
      </p:sp>
      <p:sp>
        <p:nvSpPr>
          <p:cNvPr id="8" name="Text 6"/>
          <p:cNvSpPr/>
          <p:nvPr/>
        </p:nvSpPr>
        <p:spPr>
          <a:xfrm>
            <a:off x="4530280" y="1499616"/>
            <a:ext cx="3572418" cy="201168"/>
          </a:xfrm>
          <a:prstGeom prst="rect">
            <a:avLst/>
          </a:prstGeom>
          <a:noFill/>
          <a:ln/>
        </p:spPr>
        <p:txBody>
          <a:bodyPr wrap="square" lIns="0" tIns="0" rIns="0" bIns="0" rtlCol="0" anchor="ctr"/>
          <a:lstStyle/>
          <a:p>
            <a:pPr indent="0" marL="0">
              <a:buNone/>
            </a:pPr>
            <a:r>
              <a:rPr lang="en-US" sz="800" b="1" spc="160" kern="0" dirty="0">
                <a:solidFill>
                  <a:srgbClr val="9AA1AC"/>
                </a:solidFill>
                <a:latin typeface="Calibri" pitchFamily="34" charset="0"/>
                <a:ea typeface="Calibri" pitchFamily="34" charset="-122"/>
                <a:cs typeface="Calibri" pitchFamily="34" charset="-120"/>
              </a:rPr>
              <a:t>THE QUESTION BEHIND IT</a:t>
            </a:r>
            <a:endParaRPr lang="en-US" sz="800" dirty="0"/>
          </a:p>
        </p:txBody>
      </p:sp>
      <p:sp>
        <p:nvSpPr>
          <p:cNvPr id="9" name="Text 7"/>
          <p:cNvSpPr/>
          <p:nvPr/>
        </p:nvSpPr>
        <p:spPr>
          <a:xfrm>
            <a:off x="8230713" y="1499616"/>
            <a:ext cx="3192886" cy="201168"/>
          </a:xfrm>
          <a:prstGeom prst="rect">
            <a:avLst/>
          </a:prstGeom>
          <a:noFill/>
          <a:ln/>
        </p:spPr>
        <p:txBody>
          <a:bodyPr wrap="square" lIns="0" tIns="0" rIns="0" bIns="0" rtlCol="0" anchor="ctr"/>
          <a:lstStyle/>
          <a:p>
            <a:pPr indent="0" marL="0">
              <a:buNone/>
            </a:pPr>
            <a:r>
              <a:rPr lang="en-US" sz="800" b="1" spc="160" kern="0" dirty="0">
                <a:solidFill>
                  <a:srgbClr val="9AA1AC"/>
                </a:solidFill>
                <a:latin typeface="Calibri" pitchFamily="34" charset="0"/>
                <a:ea typeface="Calibri" pitchFamily="34" charset="-122"/>
                <a:cs typeface="Calibri" pitchFamily="34" charset="-120"/>
              </a:rPr>
              <a:t>WHAT YOU END UP WITH</a:t>
            </a:r>
            <a:endParaRPr lang="en-US" sz="800" dirty="0"/>
          </a:p>
        </p:txBody>
      </p:sp>
      <p:sp>
        <p:nvSpPr>
          <p:cNvPr id="10" name="Shape 8"/>
          <p:cNvSpPr/>
          <p:nvPr/>
        </p:nvSpPr>
        <p:spPr>
          <a:xfrm>
            <a:off x="640080" y="1737360"/>
            <a:ext cx="10911535" cy="0"/>
          </a:xfrm>
          <a:prstGeom prst="line">
            <a:avLst/>
          </a:prstGeom>
          <a:noFill/>
          <a:ln w="12700">
            <a:solidFill>
              <a:srgbClr val="D8DCE2"/>
            </a:solidFill>
            <a:prstDash val="solid"/>
          </a:ln>
        </p:spPr>
      </p:sp>
      <p:sp>
        <p:nvSpPr>
          <p:cNvPr id="11" name="Text 9"/>
          <p:cNvSpPr/>
          <p:nvPr/>
        </p:nvSpPr>
        <p:spPr>
          <a:xfrm>
            <a:off x="640080" y="1883664"/>
            <a:ext cx="474415" cy="274320"/>
          </a:xfrm>
          <a:prstGeom prst="rect">
            <a:avLst/>
          </a:prstGeom>
          <a:noFill/>
          <a:ln/>
        </p:spPr>
        <p:txBody>
          <a:bodyPr wrap="square" lIns="0" tIns="0" rIns="0" bIns="0" rtlCol="0" anchor="ctr"/>
          <a:lstStyle/>
          <a:p>
            <a:pPr indent="0" marL="0">
              <a:buNone/>
            </a:pPr>
            <a:r>
              <a:rPr lang="en-US" sz="1300" b="1" dirty="0">
                <a:solidFill>
                  <a:srgbClr val="5C7A52"/>
                </a:solidFill>
                <a:latin typeface="Consolas" pitchFamily="34" charset="0"/>
                <a:ea typeface="Consolas" pitchFamily="34" charset="-122"/>
                <a:cs typeface="Consolas" pitchFamily="34" charset="-120"/>
              </a:rPr>
              <a:t>1</a:t>
            </a:r>
            <a:endParaRPr lang="en-US" sz="1300" dirty="0"/>
          </a:p>
        </p:txBody>
      </p:sp>
      <p:sp>
        <p:nvSpPr>
          <p:cNvPr id="12" name="Text 10"/>
          <p:cNvSpPr/>
          <p:nvPr/>
        </p:nvSpPr>
        <p:spPr>
          <a:xfrm>
            <a:off x="1114495" y="1911096"/>
            <a:ext cx="3269481" cy="596011"/>
          </a:xfrm>
          <a:prstGeom prst="rect">
            <a:avLst/>
          </a:prstGeom>
          <a:noFill/>
          <a:ln/>
        </p:spPr>
        <p:txBody>
          <a:bodyPr wrap="square" lIns="0" tIns="0" rIns="0" bIns="0" rtlCol="0" anchor="t"/>
          <a:lstStyle/>
          <a:p>
            <a:pPr indent="0" marL="0">
              <a:lnSpc>
                <a:spcPct val="114000"/>
              </a:lnSpc>
              <a:buNone/>
            </a:pPr>
            <a:r>
              <a:rPr lang="en-US" sz="1250" dirty="0">
                <a:solidFill>
                  <a:srgbClr val="374151"/>
                </a:solidFill>
                <a:latin typeface="Calibri" pitchFamily="34" charset="0"/>
                <a:ea typeface="Calibri" pitchFamily="34" charset="-122"/>
                <a:cs typeface="Calibri" pitchFamily="34" charset="-120"/>
              </a:rPr>
              <a:t>Write the problem in the customer's words</a:t>
            </a:r>
            <a:endParaRPr lang="en-US" sz="1250" dirty="0"/>
          </a:p>
        </p:txBody>
      </p:sp>
      <p:sp>
        <p:nvSpPr>
          <p:cNvPr id="13" name="Text 11"/>
          <p:cNvSpPr/>
          <p:nvPr/>
        </p:nvSpPr>
        <p:spPr>
          <a:xfrm>
            <a:off x="4530280" y="1911096"/>
            <a:ext cx="3554130" cy="596011"/>
          </a:xfrm>
          <a:prstGeom prst="rect">
            <a:avLst/>
          </a:prstGeom>
          <a:noFill/>
          <a:ln/>
        </p:spPr>
        <p:txBody>
          <a:bodyPr wrap="square" lIns="0" tIns="0" rIns="0" bIns="0" rtlCol="0" anchor="t"/>
          <a:lstStyle/>
          <a:p>
            <a:pPr indent="0" marL="0">
              <a:lnSpc>
                <a:spcPct val="114000"/>
              </a:lnSpc>
              <a:buNone/>
            </a:pPr>
            <a:r>
              <a:rPr lang="en-US" sz="1250" i="1" dirty="0">
                <a:solidFill>
                  <a:srgbClr val="6B7280"/>
                </a:solidFill>
                <a:latin typeface="Calibri" pitchFamily="34" charset="0"/>
                <a:ea typeface="Calibri" pitchFamily="34" charset="-122"/>
                <a:cs typeface="Calibri" pitchFamily="34" charset="-120"/>
              </a:rPr>
              <a:t>Whose problem is this, and why now?</a:t>
            </a:r>
            <a:endParaRPr lang="en-US" sz="1250" dirty="0"/>
          </a:p>
        </p:txBody>
      </p:sp>
      <p:sp>
        <p:nvSpPr>
          <p:cNvPr id="14" name="Text 12"/>
          <p:cNvSpPr/>
          <p:nvPr/>
        </p:nvSpPr>
        <p:spPr>
          <a:xfrm>
            <a:off x="8230713" y="1911096"/>
            <a:ext cx="3174598" cy="596011"/>
          </a:xfrm>
          <a:prstGeom prst="rect">
            <a:avLst/>
          </a:prstGeom>
          <a:noFill/>
          <a:ln/>
        </p:spPr>
        <p:txBody>
          <a:bodyPr wrap="square" lIns="0" tIns="0" rIns="0" bIns="0" rtlCol="0" anchor="t"/>
          <a:lstStyle/>
          <a:p>
            <a:pPr indent="0" marL="0">
              <a:lnSpc>
                <a:spcPct val="114000"/>
              </a:lnSpc>
              <a:buNone/>
            </a:pPr>
            <a:r>
              <a:rPr lang="en-US" sz="1250" b="1" dirty="0">
                <a:solidFill>
                  <a:srgbClr val="445B3D"/>
                </a:solidFill>
                <a:latin typeface="Calibri" pitchFamily="34" charset="0"/>
                <a:ea typeface="Calibri" pitchFamily="34" charset="-122"/>
                <a:cs typeface="Calibri" pitchFamily="34" charset="-120"/>
              </a:rPr>
              <a:t>A one-paragraph brief</a:t>
            </a:r>
            <a:endParaRPr lang="en-US" sz="1250" dirty="0"/>
          </a:p>
        </p:txBody>
      </p:sp>
      <p:sp>
        <p:nvSpPr>
          <p:cNvPr id="15" name="Shape 13"/>
          <p:cNvSpPr/>
          <p:nvPr/>
        </p:nvSpPr>
        <p:spPr>
          <a:xfrm>
            <a:off x="640080" y="2507107"/>
            <a:ext cx="10911535" cy="0"/>
          </a:xfrm>
          <a:prstGeom prst="line">
            <a:avLst/>
          </a:prstGeom>
          <a:noFill/>
          <a:ln w="6350">
            <a:solidFill>
              <a:srgbClr val="E5E7EB"/>
            </a:solidFill>
            <a:prstDash val="solid"/>
          </a:ln>
        </p:spPr>
      </p:sp>
      <p:sp>
        <p:nvSpPr>
          <p:cNvPr id="16" name="Text 14"/>
          <p:cNvSpPr/>
          <p:nvPr/>
        </p:nvSpPr>
        <p:spPr>
          <a:xfrm>
            <a:off x="640080" y="2589403"/>
            <a:ext cx="474415" cy="274320"/>
          </a:xfrm>
          <a:prstGeom prst="rect">
            <a:avLst/>
          </a:prstGeom>
          <a:noFill/>
          <a:ln/>
        </p:spPr>
        <p:txBody>
          <a:bodyPr wrap="square" lIns="0" tIns="0" rIns="0" bIns="0" rtlCol="0" anchor="ctr"/>
          <a:lstStyle/>
          <a:p>
            <a:pPr indent="0" marL="0">
              <a:buNone/>
            </a:pPr>
            <a:r>
              <a:rPr lang="en-US" sz="1300" b="1" dirty="0">
                <a:solidFill>
                  <a:srgbClr val="5C7A52"/>
                </a:solidFill>
                <a:latin typeface="Consolas" pitchFamily="34" charset="0"/>
                <a:ea typeface="Consolas" pitchFamily="34" charset="-122"/>
                <a:cs typeface="Consolas" pitchFamily="34" charset="-120"/>
              </a:rPr>
              <a:t>2</a:t>
            </a:r>
            <a:endParaRPr lang="en-US" sz="1300" dirty="0"/>
          </a:p>
        </p:txBody>
      </p:sp>
      <p:sp>
        <p:nvSpPr>
          <p:cNvPr id="17" name="Text 15"/>
          <p:cNvSpPr/>
          <p:nvPr/>
        </p:nvSpPr>
        <p:spPr>
          <a:xfrm>
            <a:off x="1114495" y="2616835"/>
            <a:ext cx="3269481" cy="596011"/>
          </a:xfrm>
          <a:prstGeom prst="rect">
            <a:avLst/>
          </a:prstGeom>
          <a:noFill/>
          <a:ln/>
        </p:spPr>
        <p:txBody>
          <a:bodyPr wrap="square" lIns="0" tIns="0" rIns="0" bIns="0" rtlCol="0" anchor="t"/>
          <a:lstStyle/>
          <a:p>
            <a:pPr indent="0" marL="0">
              <a:lnSpc>
                <a:spcPct val="114000"/>
              </a:lnSpc>
              <a:buNone/>
            </a:pPr>
            <a:r>
              <a:rPr lang="en-US" sz="1250" dirty="0">
                <a:solidFill>
                  <a:srgbClr val="374151"/>
                </a:solidFill>
                <a:latin typeface="Calibri" pitchFamily="34" charset="0"/>
                <a:ea typeface="Calibri" pitchFamily="34" charset="-122"/>
                <a:cs typeface="Calibri" pitchFamily="34" charset="-120"/>
              </a:rPr>
              <a:t>List every action the agent can take</a:t>
            </a:r>
            <a:endParaRPr lang="en-US" sz="1250" dirty="0"/>
          </a:p>
        </p:txBody>
      </p:sp>
      <p:sp>
        <p:nvSpPr>
          <p:cNvPr id="18" name="Text 16"/>
          <p:cNvSpPr/>
          <p:nvPr/>
        </p:nvSpPr>
        <p:spPr>
          <a:xfrm>
            <a:off x="4530280" y="2616835"/>
            <a:ext cx="3554130" cy="596011"/>
          </a:xfrm>
          <a:prstGeom prst="rect">
            <a:avLst/>
          </a:prstGeom>
          <a:noFill/>
          <a:ln/>
        </p:spPr>
        <p:txBody>
          <a:bodyPr wrap="square" lIns="0" tIns="0" rIns="0" bIns="0" rtlCol="0" anchor="t"/>
          <a:lstStyle/>
          <a:p>
            <a:pPr indent="0" marL="0">
              <a:lnSpc>
                <a:spcPct val="114000"/>
              </a:lnSpc>
              <a:buNone/>
            </a:pPr>
            <a:r>
              <a:rPr lang="en-US" sz="1250" i="1" dirty="0">
                <a:solidFill>
                  <a:srgbClr val="6B7280"/>
                </a:solidFill>
                <a:latin typeface="Calibri" pitchFamily="34" charset="0"/>
                <a:ea typeface="Calibri" pitchFamily="34" charset="-122"/>
                <a:cs typeface="Calibri" pitchFamily="34" charset="-120"/>
              </a:rPr>
              <a:t>What can this thing actually do?</a:t>
            </a:r>
            <a:endParaRPr lang="en-US" sz="1250" dirty="0"/>
          </a:p>
        </p:txBody>
      </p:sp>
      <p:sp>
        <p:nvSpPr>
          <p:cNvPr id="19" name="Text 17"/>
          <p:cNvSpPr/>
          <p:nvPr/>
        </p:nvSpPr>
        <p:spPr>
          <a:xfrm>
            <a:off x="8230713" y="2616835"/>
            <a:ext cx="3174598" cy="596011"/>
          </a:xfrm>
          <a:prstGeom prst="rect">
            <a:avLst/>
          </a:prstGeom>
          <a:noFill/>
          <a:ln/>
        </p:spPr>
        <p:txBody>
          <a:bodyPr wrap="square" lIns="0" tIns="0" rIns="0" bIns="0" rtlCol="0" anchor="t"/>
          <a:lstStyle/>
          <a:p>
            <a:pPr indent="0" marL="0">
              <a:lnSpc>
                <a:spcPct val="114000"/>
              </a:lnSpc>
              <a:buNone/>
            </a:pPr>
            <a:r>
              <a:rPr lang="en-US" sz="1250" b="1" dirty="0">
                <a:solidFill>
                  <a:srgbClr val="445B3D"/>
                </a:solidFill>
                <a:latin typeface="Calibri" pitchFamily="34" charset="0"/>
                <a:ea typeface="Calibri" pitchFamily="34" charset="-122"/>
                <a:cs typeface="Calibri" pitchFamily="34" charset="-120"/>
              </a:rPr>
              <a:t>The spine of the agent spec</a:t>
            </a:r>
            <a:endParaRPr lang="en-US" sz="1250" dirty="0"/>
          </a:p>
        </p:txBody>
      </p:sp>
      <p:sp>
        <p:nvSpPr>
          <p:cNvPr id="20" name="Shape 18"/>
          <p:cNvSpPr/>
          <p:nvPr/>
        </p:nvSpPr>
        <p:spPr>
          <a:xfrm>
            <a:off x="640080" y="3212846"/>
            <a:ext cx="10911535" cy="0"/>
          </a:xfrm>
          <a:prstGeom prst="line">
            <a:avLst/>
          </a:prstGeom>
          <a:noFill/>
          <a:ln w="6350">
            <a:solidFill>
              <a:srgbClr val="E5E7EB"/>
            </a:solidFill>
            <a:prstDash val="solid"/>
          </a:ln>
        </p:spPr>
      </p:sp>
      <p:sp>
        <p:nvSpPr>
          <p:cNvPr id="21" name="Text 19"/>
          <p:cNvSpPr/>
          <p:nvPr/>
        </p:nvSpPr>
        <p:spPr>
          <a:xfrm>
            <a:off x="640080" y="3295142"/>
            <a:ext cx="474415" cy="274320"/>
          </a:xfrm>
          <a:prstGeom prst="rect">
            <a:avLst/>
          </a:prstGeom>
          <a:noFill/>
          <a:ln/>
        </p:spPr>
        <p:txBody>
          <a:bodyPr wrap="square" lIns="0" tIns="0" rIns="0" bIns="0" rtlCol="0" anchor="ctr"/>
          <a:lstStyle/>
          <a:p>
            <a:pPr indent="0" marL="0">
              <a:buNone/>
            </a:pPr>
            <a:r>
              <a:rPr lang="en-US" sz="1300" b="1" dirty="0">
                <a:solidFill>
                  <a:srgbClr val="5C7A52"/>
                </a:solidFill>
                <a:latin typeface="Consolas" pitchFamily="34" charset="0"/>
                <a:ea typeface="Consolas" pitchFamily="34" charset="-122"/>
                <a:cs typeface="Consolas" pitchFamily="34" charset="-120"/>
              </a:rPr>
              <a:t>3</a:t>
            </a:r>
            <a:endParaRPr lang="en-US" sz="1300" dirty="0"/>
          </a:p>
        </p:txBody>
      </p:sp>
      <p:sp>
        <p:nvSpPr>
          <p:cNvPr id="22" name="Text 20"/>
          <p:cNvSpPr/>
          <p:nvPr/>
        </p:nvSpPr>
        <p:spPr>
          <a:xfrm>
            <a:off x="1114495" y="3322574"/>
            <a:ext cx="3269481" cy="789686"/>
          </a:xfrm>
          <a:prstGeom prst="rect">
            <a:avLst/>
          </a:prstGeom>
          <a:noFill/>
          <a:ln/>
        </p:spPr>
        <p:txBody>
          <a:bodyPr wrap="square" lIns="0" tIns="0" rIns="0" bIns="0" rtlCol="0" anchor="t"/>
          <a:lstStyle/>
          <a:p>
            <a:pPr indent="0" marL="0">
              <a:lnSpc>
                <a:spcPct val="114000"/>
              </a:lnSpc>
              <a:buNone/>
            </a:pPr>
            <a:r>
              <a:rPr lang="en-US" sz="1250" dirty="0">
                <a:solidFill>
                  <a:srgbClr val="374151"/>
                </a:solidFill>
                <a:latin typeface="Calibri" pitchFamily="34" charset="0"/>
                <a:ea typeface="Calibri" pitchFamily="34" charset="-122"/>
                <a:cs typeface="Calibri" pitchFamily="34" charset="-120"/>
              </a:rPr>
              <a:t>Carry over the three lines from Day 2</a:t>
            </a:r>
            <a:endParaRPr lang="en-US" sz="1250" dirty="0"/>
          </a:p>
        </p:txBody>
      </p:sp>
      <p:sp>
        <p:nvSpPr>
          <p:cNvPr id="23" name="Text 21"/>
          <p:cNvSpPr/>
          <p:nvPr/>
        </p:nvSpPr>
        <p:spPr>
          <a:xfrm>
            <a:off x="4530280" y="3322574"/>
            <a:ext cx="3554130" cy="789686"/>
          </a:xfrm>
          <a:prstGeom prst="rect">
            <a:avLst/>
          </a:prstGeom>
          <a:noFill/>
          <a:ln/>
        </p:spPr>
        <p:txBody>
          <a:bodyPr wrap="square" lIns="0" tIns="0" rIns="0" bIns="0" rtlCol="0" anchor="t"/>
          <a:lstStyle/>
          <a:p>
            <a:pPr indent="0" marL="0">
              <a:lnSpc>
                <a:spcPct val="114000"/>
              </a:lnSpc>
              <a:buNone/>
            </a:pPr>
            <a:r>
              <a:rPr lang="en-US" sz="1250" i="1" dirty="0">
                <a:solidFill>
                  <a:srgbClr val="6B7280"/>
                </a:solidFill>
                <a:latin typeface="Calibri" pitchFamily="34" charset="0"/>
                <a:ea typeface="Calibri" pitchFamily="34" charset="-122"/>
                <a:cs typeface="Calibri" pitchFamily="34" charset="-120"/>
              </a:rPr>
              <a:t>How much does it decide, how good, what may it touch?</a:t>
            </a:r>
            <a:endParaRPr lang="en-US" sz="1250" dirty="0"/>
          </a:p>
        </p:txBody>
      </p:sp>
      <p:sp>
        <p:nvSpPr>
          <p:cNvPr id="24" name="Text 22"/>
          <p:cNvSpPr/>
          <p:nvPr/>
        </p:nvSpPr>
        <p:spPr>
          <a:xfrm>
            <a:off x="8230713" y="3322574"/>
            <a:ext cx="3174598" cy="789686"/>
          </a:xfrm>
          <a:prstGeom prst="rect">
            <a:avLst/>
          </a:prstGeom>
          <a:noFill/>
          <a:ln/>
        </p:spPr>
        <p:txBody>
          <a:bodyPr wrap="square" lIns="0" tIns="0" rIns="0" bIns="0" rtlCol="0" anchor="t"/>
          <a:lstStyle/>
          <a:p>
            <a:pPr indent="0" marL="0">
              <a:lnSpc>
                <a:spcPct val="114000"/>
              </a:lnSpc>
              <a:buNone/>
            </a:pPr>
            <a:r>
              <a:rPr lang="en-US" sz="1250" b="1" dirty="0">
                <a:solidFill>
                  <a:srgbClr val="445B3D"/>
                </a:solidFill>
                <a:latin typeface="Calibri" pitchFamily="34" charset="0"/>
                <a:ea typeface="Calibri" pitchFamily="34" charset="-122"/>
                <a:cs typeface="Calibri" pitchFamily="34" charset="-120"/>
              </a:rPr>
              <a:t>Autonomy, acceptance, tools</a:t>
            </a:r>
            <a:endParaRPr lang="en-US" sz="1250" dirty="0"/>
          </a:p>
        </p:txBody>
      </p:sp>
      <p:sp>
        <p:nvSpPr>
          <p:cNvPr id="25" name="Shape 23"/>
          <p:cNvSpPr/>
          <p:nvPr/>
        </p:nvSpPr>
        <p:spPr>
          <a:xfrm>
            <a:off x="640080" y="4112260"/>
            <a:ext cx="10911535" cy="0"/>
          </a:xfrm>
          <a:prstGeom prst="line">
            <a:avLst/>
          </a:prstGeom>
          <a:noFill/>
          <a:ln w="6350">
            <a:solidFill>
              <a:srgbClr val="E5E7EB"/>
            </a:solidFill>
            <a:prstDash val="solid"/>
          </a:ln>
        </p:spPr>
      </p:sp>
      <p:sp>
        <p:nvSpPr>
          <p:cNvPr id="26" name="Text 24"/>
          <p:cNvSpPr/>
          <p:nvPr/>
        </p:nvSpPr>
        <p:spPr>
          <a:xfrm>
            <a:off x="640080" y="4194556"/>
            <a:ext cx="474415" cy="274320"/>
          </a:xfrm>
          <a:prstGeom prst="rect">
            <a:avLst/>
          </a:prstGeom>
          <a:noFill/>
          <a:ln/>
        </p:spPr>
        <p:txBody>
          <a:bodyPr wrap="square" lIns="0" tIns="0" rIns="0" bIns="0" rtlCol="0" anchor="ctr"/>
          <a:lstStyle/>
          <a:p>
            <a:pPr indent="0" marL="0">
              <a:buNone/>
            </a:pPr>
            <a:r>
              <a:rPr lang="en-US" sz="1300" b="1" dirty="0">
                <a:solidFill>
                  <a:srgbClr val="5C7A52"/>
                </a:solidFill>
                <a:latin typeface="Consolas" pitchFamily="34" charset="0"/>
                <a:ea typeface="Consolas" pitchFamily="34" charset="-122"/>
                <a:cs typeface="Consolas" pitchFamily="34" charset="-120"/>
              </a:rPr>
              <a:t>4</a:t>
            </a:r>
            <a:endParaRPr lang="en-US" sz="1300" dirty="0"/>
          </a:p>
        </p:txBody>
      </p:sp>
      <p:sp>
        <p:nvSpPr>
          <p:cNvPr id="27" name="Text 25"/>
          <p:cNvSpPr/>
          <p:nvPr/>
        </p:nvSpPr>
        <p:spPr>
          <a:xfrm>
            <a:off x="1114495" y="4221988"/>
            <a:ext cx="3269481" cy="596011"/>
          </a:xfrm>
          <a:prstGeom prst="rect">
            <a:avLst/>
          </a:prstGeom>
          <a:noFill/>
          <a:ln/>
        </p:spPr>
        <p:txBody>
          <a:bodyPr wrap="square" lIns="0" tIns="0" rIns="0" bIns="0" rtlCol="0" anchor="t"/>
          <a:lstStyle/>
          <a:p>
            <a:pPr indent="0" marL="0">
              <a:lnSpc>
                <a:spcPct val="114000"/>
              </a:lnSpc>
              <a:buNone/>
            </a:pPr>
            <a:r>
              <a:rPr lang="en-US" sz="1250" dirty="0">
                <a:solidFill>
                  <a:srgbClr val="374151"/>
                </a:solidFill>
                <a:latin typeface="Calibri" pitchFamily="34" charset="0"/>
                <a:ea typeface="Calibri" pitchFamily="34" charset="-122"/>
                <a:cs typeface="Calibri" pitchFamily="34" charset="-120"/>
              </a:rPr>
              <a:t>Name the data it reads and how fresh it is</a:t>
            </a:r>
            <a:endParaRPr lang="en-US" sz="1250" dirty="0"/>
          </a:p>
        </p:txBody>
      </p:sp>
      <p:sp>
        <p:nvSpPr>
          <p:cNvPr id="28" name="Text 26"/>
          <p:cNvSpPr/>
          <p:nvPr/>
        </p:nvSpPr>
        <p:spPr>
          <a:xfrm>
            <a:off x="4530280" y="4221988"/>
            <a:ext cx="3554130" cy="596011"/>
          </a:xfrm>
          <a:prstGeom prst="rect">
            <a:avLst/>
          </a:prstGeom>
          <a:noFill/>
          <a:ln/>
        </p:spPr>
        <p:txBody>
          <a:bodyPr wrap="square" lIns="0" tIns="0" rIns="0" bIns="0" rtlCol="0" anchor="t"/>
          <a:lstStyle/>
          <a:p>
            <a:pPr indent="0" marL="0">
              <a:lnSpc>
                <a:spcPct val="114000"/>
              </a:lnSpc>
              <a:buNone/>
            </a:pPr>
            <a:r>
              <a:rPr lang="en-US" sz="1250" i="1" dirty="0">
                <a:solidFill>
                  <a:srgbClr val="6B7280"/>
                </a:solidFill>
                <a:latin typeface="Calibri" pitchFamily="34" charset="0"/>
                <a:ea typeface="Calibri" pitchFamily="34" charset="-122"/>
                <a:cs typeface="Calibri" pitchFamily="34" charset="-120"/>
              </a:rPr>
              <a:t>What does it depend on, and can that go stale?</a:t>
            </a:r>
            <a:endParaRPr lang="en-US" sz="1250" dirty="0"/>
          </a:p>
        </p:txBody>
      </p:sp>
      <p:sp>
        <p:nvSpPr>
          <p:cNvPr id="29" name="Text 27"/>
          <p:cNvSpPr/>
          <p:nvPr/>
        </p:nvSpPr>
        <p:spPr>
          <a:xfrm>
            <a:off x="8230713" y="4221988"/>
            <a:ext cx="3174598" cy="596011"/>
          </a:xfrm>
          <a:prstGeom prst="rect">
            <a:avLst/>
          </a:prstGeom>
          <a:noFill/>
          <a:ln/>
        </p:spPr>
        <p:txBody>
          <a:bodyPr wrap="square" lIns="0" tIns="0" rIns="0" bIns="0" rtlCol="0" anchor="t"/>
          <a:lstStyle/>
          <a:p>
            <a:pPr indent="0" marL="0">
              <a:lnSpc>
                <a:spcPct val="114000"/>
              </a:lnSpc>
              <a:buNone/>
            </a:pPr>
            <a:r>
              <a:rPr lang="en-US" sz="1250" b="1" dirty="0">
                <a:solidFill>
                  <a:srgbClr val="445B3D"/>
                </a:solidFill>
                <a:latin typeface="Calibri" pitchFamily="34" charset="0"/>
                <a:ea typeface="Calibri" pitchFamily="34" charset="-122"/>
                <a:cs typeface="Calibri" pitchFamily="34" charset="-120"/>
              </a:rPr>
              <a:t>A data note with a freshness figure</a:t>
            </a:r>
            <a:endParaRPr lang="en-US" sz="1250" dirty="0"/>
          </a:p>
        </p:txBody>
      </p:sp>
      <p:sp>
        <p:nvSpPr>
          <p:cNvPr id="30" name="Shape 28"/>
          <p:cNvSpPr/>
          <p:nvPr/>
        </p:nvSpPr>
        <p:spPr>
          <a:xfrm>
            <a:off x="640080" y="4817999"/>
            <a:ext cx="10911535" cy="0"/>
          </a:xfrm>
          <a:prstGeom prst="line">
            <a:avLst/>
          </a:prstGeom>
          <a:noFill/>
          <a:ln w="6350">
            <a:solidFill>
              <a:srgbClr val="E5E7EB"/>
            </a:solidFill>
            <a:prstDash val="solid"/>
          </a:ln>
        </p:spPr>
      </p:sp>
      <p:sp>
        <p:nvSpPr>
          <p:cNvPr id="31" name="Text 29"/>
          <p:cNvSpPr/>
          <p:nvPr/>
        </p:nvSpPr>
        <p:spPr>
          <a:xfrm>
            <a:off x="640080" y="4900295"/>
            <a:ext cx="474415" cy="274320"/>
          </a:xfrm>
          <a:prstGeom prst="rect">
            <a:avLst/>
          </a:prstGeom>
          <a:noFill/>
          <a:ln/>
        </p:spPr>
        <p:txBody>
          <a:bodyPr wrap="square" lIns="0" tIns="0" rIns="0" bIns="0" rtlCol="0" anchor="ctr"/>
          <a:lstStyle/>
          <a:p>
            <a:pPr indent="0" marL="0">
              <a:buNone/>
            </a:pPr>
            <a:r>
              <a:rPr lang="en-US" sz="1300" b="1" dirty="0">
                <a:solidFill>
                  <a:srgbClr val="5C7A52"/>
                </a:solidFill>
                <a:latin typeface="Consolas" pitchFamily="34" charset="0"/>
                <a:ea typeface="Consolas" pitchFamily="34" charset="-122"/>
                <a:cs typeface="Consolas" pitchFamily="34" charset="-120"/>
              </a:rPr>
              <a:t>5</a:t>
            </a:r>
            <a:endParaRPr lang="en-US" sz="1300" dirty="0"/>
          </a:p>
        </p:txBody>
      </p:sp>
      <p:sp>
        <p:nvSpPr>
          <p:cNvPr id="32" name="Text 30"/>
          <p:cNvSpPr/>
          <p:nvPr/>
        </p:nvSpPr>
        <p:spPr>
          <a:xfrm>
            <a:off x="1114495" y="4927727"/>
            <a:ext cx="3269481" cy="596011"/>
          </a:xfrm>
          <a:prstGeom prst="rect">
            <a:avLst/>
          </a:prstGeom>
          <a:noFill/>
          <a:ln/>
        </p:spPr>
        <p:txBody>
          <a:bodyPr wrap="square" lIns="0" tIns="0" rIns="0" bIns="0" rtlCol="0" anchor="t"/>
          <a:lstStyle/>
          <a:p>
            <a:pPr indent="0" marL="0">
              <a:lnSpc>
                <a:spcPct val="114000"/>
              </a:lnSpc>
              <a:buNone/>
            </a:pPr>
            <a:r>
              <a:rPr lang="en-US" sz="1250" dirty="0">
                <a:solidFill>
                  <a:srgbClr val="374151"/>
                </a:solidFill>
                <a:latin typeface="Calibri" pitchFamily="34" charset="0"/>
                <a:ea typeface="Calibri" pitchFamily="34" charset="-122"/>
                <a:cs typeface="Calibri" pitchFamily="34" charset="-120"/>
              </a:rPr>
              <a:t>State what done looks like as a number</a:t>
            </a:r>
            <a:endParaRPr lang="en-US" sz="1250" dirty="0"/>
          </a:p>
        </p:txBody>
      </p:sp>
      <p:sp>
        <p:nvSpPr>
          <p:cNvPr id="33" name="Text 31"/>
          <p:cNvSpPr/>
          <p:nvPr/>
        </p:nvSpPr>
        <p:spPr>
          <a:xfrm>
            <a:off x="4530280" y="4927727"/>
            <a:ext cx="3554130" cy="596011"/>
          </a:xfrm>
          <a:prstGeom prst="rect">
            <a:avLst/>
          </a:prstGeom>
          <a:noFill/>
          <a:ln/>
        </p:spPr>
        <p:txBody>
          <a:bodyPr wrap="square" lIns="0" tIns="0" rIns="0" bIns="0" rtlCol="0" anchor="t"/>
          <a:lstStyle/>
          <a:p>
            <a:pPr indent="0" marL="0">
              <a:lnSpc>
                <a:spcPct val="114000"/>
              </a:lnSpc>
              <a:buNone/>
            </a:pPr>
            <a:r>
              <a:rPr lang="en-US" sz="1250" i="1" dirty="0">
                <a:solidFill>
                  <a:srgbClr val="6B7280"/>
                </a:solidFill>
                <a:latin typeface="Calibri" pitchFamily="34" charset="0"/>
                <a:ea typeface="Calibri" pitchFamily="34" charset="-122"/>
                <a:cs typeface="Calibri" pitchFamily="34" charset="-120"/>
              </a:rPr>
              <a:t>How would a reviewer measure ready?</a:t>
            </a:r>
            <a:endParaRPr lang="en-US" sz="1250" dirty="0"/>
          </a:p>
        </p:txBody>
      </p:sp>
      <p:sp>
        <p:nvSpPr>
          <p:cNvPr id="34" name="Text 32"/>
          <p:cNvSpPr/>
          <p:nvPr/>
        </p:nvSpPr>
        <p:spPr>
          <a:xfrm>
            <a:off x="8230713" y="4927727"/>
            <a:ext cx="3174598" cy="596011"/>
          </a:xfrm>
          <a:prstGeom prst="rect">
            <a:avLst/>
          </a:prstGeom>
          <a:noFill/>
          <a:ln/>
        </p:spPr>
        <p:txBody>
          <a:bodyPr wrap="square" lIns="0" tIns="0" rIns="0" bIns="0" rtlCol="0" anchor="t"/>
          <a:lstStyle/>
          <a:p>
            <a:pPr indent="0" marL="0">
              <a:lnSpc>
                <a:spcPct val="114000"/>
              </a:lnSpc>
              <a:buNone/>
            </a:pPr>
            <a:r>
              <a:rPr lang="en-US" sz="1250" b="1" dirty="0">
                <a:solidFill>
                  <a:srgbClr val="445B3D"/>
                </a:solidFill>
                <a:latin typeface="Calibri" pitchFamily="34" charset="0"/>
                <a:ea typeface="Calibri" pitchFamily="34" charset="-122"/>
                <a:cs typeface="Calibri" pitchFamily="34" charset="-120"/>
              </a:rPr>
              <a:t>The bar, per slice, with a sample size</a:t>
            </a:r>
            <a:endParaRPr lang="en-US" sz="1250" dirty="0"/>
          </a:p>
        </p:txBody>
      </p:sp>
      <p:sp>
        <p:nvSpPr>
          <p:cNvPr id="35" name="Shape 33"/>
          <p:cNvSpPr/>
          <p:nvPr/>
        </p:nvSpPr>
        <p:spPr>
          <a:xfrm>
            <a:off x="640080" y="5760720"/>
            <a:ext cx="10911535" cy="420624"/>
          </a:xfrm>
          <a:prstGeom prst="rect">
            <a:avLst/>
          </a:prstGeom>
          <a:solidFill>
            <a:srgbClr val="E8F0E6"/>
          </a:solidFill>
          <a:ln w="12700">
            <a:solidFill>
              <a:srgbClr val="E8F0E6"/>
            </a:solidFill>
            <a:prstDash val="solid"/>
          </a:ln>
        </p:spPr>
      </p:sp>
      <p:sp>
        <p:nvSpPr>
          <p:cNvPr id="36" name="Shape 34"/>
          <p:cNvSpPr/>
          <p:nvPr/>
        </p:nvSpPr>
        <p:spPr>
          <a:xfrm>
            <a:off x="640080" y="5760720"/>
            <a:ext cx="41148" cy="420624"/>
          </a:xfrm>
          <a:prstGeom prst="rect">
            <a:avLst/>
          </a:prstGeom>
          <a:solidFill>
            <a:srgbClr val="5C7A52"/>
          </a:solidFill>
          <a:ln w="12700">
            <a:solidFill>
              <a:srgbClr val="333333"/>
            </a:solidFill>
            <a:prstDash val="solid"/>
          </a:ln>
        </p:spPr>
      </p:sp>
      <p:sp>
        <p:nvSpPr>
          <p:cNvPr id="37" name="Text 35"/>
          <p:cNvSpPr/>
          <p:nvPr/>
        </p:nvSpPr>
        <p:spPr>
          <a:xfrm>
            <a:off x="841248" y="5861304"/>
            <a:ext cx="10527487" cy="2377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Step 2 turns a feature into an agent. A feature is what the user gets; an action is what the agent does to deliver it, and only actions can be scored.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03 · THE MANDATORY SET  ·  SUMMARY</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The five moves, on one row</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The whole mandatory set, in the order you fill it, as a strip you can photograph.</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12</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pic>
        <p:nvPicPr>
          <p:cNvPr id="7" name="Image 0" descr="preencoded.png">    </p:cNvPr>
          <p:cNvPicPr>
            <a:picLocks noChangeAspect="1"/>
          </p:cNvPicPr>
          <p:nvPr/>
        </p:nvPicPr>
        <p:blipFill>
          <a:blip r:embed="rId1"/>
          <a:stretch>
            <a:fillRect/>
          </a:stretch>
        </p:blipFill>
        <p:spPr>
          <a:xfrm>
            <a:off x="640080" y="1725131"/>
            <a:ext cx="10911535" cy="3636339"/>
          </a:xfrm>
          <a:prstGeom prst="rect">
            <a:avLst/>
          </a:prstGeom>
        </p:spPr>
      </p:pic>
      <p:sp>
        <p:nvSpPr>
          <p:cNvPr id="8" name="Shape 5"/>
          <p:cNvSpPr/>
          <p:nvPr/>
        </p:nvSpPr>
        <p:spPr>
          <a:xfrm>
            <a:off x="640080" y="5672365"/>
            <a:ext cx="10911535" cy="420624"/>
          </a:xfrm>
          <a:prstGeom prst="rect">
            <a:avLst/>
          </a:prstGeom>
          <a:solidFill>
            <a:srgbClr val="E8F0E6"/>
          </a:solidFill>
          <a:ln w="12700">
            <a:solidFill>
              <a:srgbClr val="E8F0E6"/>
            </a:solidFill>
            <a:prstDash val="solid"/>
          </a:ln>
        </p:spPr>
      </p:sp>
      <p:sp>
        <p:nvSpPr>
          <p:cNvPr id="9" name="Shape 6"/>
          <p:cNvSpPr/>
          <p:nvPr/>
        </p:nvSpPr>
        <p:spPr>
          <a:xfrm>
            <a:off x="640080" y="5672365"/>
            <a:ext cx="41148" cy="420624"/>
          </a:xfrm>
          <a:prstGeom prst="rect">
            <a:avLst/>
          </a:prstGeom>
          <a:solidFill>
            <a:srgbClr val="5C7A52"/>
          </a:solidFill>
          <a:ln w="12700">
            <a:solidFill>
              <a:srgbClr val="333333"/>
            </a:solidFill>
            <a:prstDash val="solid"/>
          </a:ln>
        </p:spPr>
      </p:sp>
      <p:sp>
        <p:nvSpPr>
          <p:cNvPr id="10" name="Text 7"/>
          <p:cNvSpPr/>
          <p:nvPr/>
        </p:nvSpPr>
        <p:spPr>
          <a:xfrm>
            <a:off x="841248" y="5772949"/>
            <a:ext cx="10527487" cy="2377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If you can complete these five for a feature, its mandatory set is done and it can leave P1.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04 · THE AGENT SPEC</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The agent spec has six fields, and no more</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The one artefact people over-think. Six fields cover it, and every field is a question.</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13</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pic>
        <p:nvPicPr>
          <p:cNvPr id="7" name="Image 0" descr="preencoded.png">    </p:cNvPr>
          <p:cNvPicPr>
            <a:picLocks noChangeAspect="1"/>
          </p:cNvPicPr>
          <p:nvPr/>
        </p:nvPicPr>
        <p:blipFill>
          <a:blip r:embed="rId1"/>
          <a:stretch>
            <a:fillRect/>
          </a:stretch>
        </p:blipFill>
        <p:spPr>
          <a:xfrm>
            <a:off x="1264815" y="1499616"/>
            <a:ext cx="9662065" cy="4087368"/>
          </a:xfrm>
          <a:prstGeom prst="rect">
            <a:avLst/>
          </a:prstGeom>
        </p:spPr>
      </p:pic>
      <p:sp>
        <p:nvSpPr>
          <p:cNvPr id="8" name="Shape 5"/>
          <p:cNvSpPr/>
          <p:nvPr/>
        </p:nvSpPr>
        <p:spPr>
          <a:xfrm>
            <a:off x="640080" y="5760720"/>
            <a:ext cx="10911535" cy="420624"/>
          </a:xfrm>
          <a:prstGeom prst="rect">
            <a:avLst/>
          </a:prstGeom>
          <a:solidFill>
            <a:srgbClr val="E8F0E6"/>
          </a:solidFill>
          <a:ln w="12700">
            <a:solidFill>
              <a:srgbClr val="E8F0E6"/>
            </a:solidFill>
            <a:prstDash val="solid"/>
          </a:ln>
        </p:spPr>
      </p:sp>
      <p:sp>
        <p:nvSpPr>
          <p:cNvPr id="9" name="Shape 6"/>
          <p:cNvSpPr/>
          <p:nvPr/>
        </p:nvSpPr>
        <p:spPr>
          <a:xfrm>
            <a:off x="640080" y="5760720"/>
            <a:ext cx="41148" cy="420624"/>
          </a:xfrm>
          <a:prstGeom prst="rect">
            <a:avLst/>
          </a:prstGeom>
          <a:solidFill>
            <a:srgbClr val="5C7A52"/>
          </a:solidFill>
          <a:ln w="12700">
            <a:solidFill>
              <a:srgbClr val="333333"/>
            </a:solidFill>
            <a:prstDash val="solid"/>
          </a:ln>
        </p:spPr>
      </p:sp>
      <p:sp>
        <p:nvSpPr>
          <p:cNvPr id="10" name="Text 7"/>
          <p:cNvSpPr/>
          <p:nvPr/>
        </p:nvSpPr>
        <p:spPr>
          <a:xfrm>
            <a:off x="841248" y="5861304"/>
            <a:ext cx="10527487" cy="2377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There is no published standard for an agent spec. These six fields are what an architect needs to start building, gathered into one shape.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04 · THE AGENT SPEC</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The same six fields, filled for the flight agent</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Every line traces back to a decision you already made on Day 2.</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14</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pic>
        <p:nvPicPr>
          <p:cNvPr id="7" name="Image 0" descr="preencoded.png">    </p:cNvPr>
          <p:cNvPicPr>
            <a:picLocks noChangeAspect="1"/>
          </p:cNvPicPr>
          <p:nvPr/>
        </p:nvPicPr>
        <p:blipFill>
          <a:blip r:embed="rId1"/>
          <a:stretch>
            <a:fillRect/>
          </a:stretch>
        </p:blipFill>
        <p:spPr>
          <a:xfrm>
            <a:off x="1264815" y="1499616"/>
            <a:ext cx="9662065" cy="4087368"/>
          </a:xfrm>
          <a:prstGeom prst="rect">
            <a:avLst/>
          </a:prstGeom>
        </p:spPr>
      </p:pic>
      <p:sp>
        <p:nvSpPr>
          <p:cNvPr id="8" name="Shape 5"/>
          <p:cNvSpPr/>
          <p:nvPr/>
        </p:nvSpPr>
        <p:spPr>
          <a:xfrm>
            <a:off x="640080" y="5760720"/>
            <a:ext cx="10911535" cy="420624"/>
          </a:xfrm>
          <a:prstGeom prst="rect">
            <a:avLst/>
          </a:prstGeom>
          <a:solidFill>
            <a:srgbClr val="E8F0E6"/>
          </a:solidFill>
          <a:ln w="12700">
            <a:solidFill>
              <a:srgbClr val="E8F0E6"/>
            </a:solidFill>
            <a:prstDash val="solid"/>
          </a:ln>
        </p:spPr>
      </p:sp>
      <p:sp>
        <p:nvSpPr>
          <p:cNvPr id="9" name="Shape 6"/>
          <p:cNvSpPr/>
          <p:nvPr/>
        </p:nvSpPr>
        <p:spPr>
          <a:xfrm>
            <a:off x="640080" y="5760720"/>
            <a:ext cx="41148" cy="420624"/>
          </a:xfrm>
          <a:prstGeom prst="rect">
            <a:avLst/>
          </a:prstGeom>
          <a:solidFill>
            <a:srgbClr val="5C7A52"/>
          </a:solidFill>
          <a:ln w="12700">
            <a:solidFill>
              <a:srgbClr val="333333"/>
            </a:solidFill>
            <a:prstDash val="solid"/>
          </a:ln>
        </p:spPr>
      </p:sp>
      <p:sp>
        <p:nvSpPr>
          <p:cNvPr id="10" name="Text 7"/>
          <p:cNvSpPr/>
          <p:nvPr/>
        </p:nvSpPr>
        <p:spPr>
          <a:xfrm>
            <a:off x="841248" y="5861304"/>
            <a:ext cx="10527487" cy="2377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The boundary field is the autonomy line. The done field is the acceptance bar. The spec is where Session 3's three lines come together.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04 · THE AGENT SPEC  ·  EVOLVED</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Drafting the spec faster, with one prompt</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For the confident half of the room, the spec is a first draft an assistant can produce and you correct.</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15</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pic>
        <p:nvPicPr>
          <p:cNvPr id="7" name="Image 0" descr="preencoded.png">    </p:cNvPr>
          <p:cNvPicPr>
            <a:picLocks noChangeAspect="1"/>
          </p:cNvPicPr>
          <p:nvPr/>
        </p:nvPicPr>
        <p:blipFill>
          <a:blip r:embed="rId1"/>
          <a:stretch>
            <a:fillRect/>
          </a:stretch>
        </p:blipFill>
        <p:spPr>
          <a:xfrm>
            <a:off x="709423" y="1499616"/>
            <a:ext cx="10772850" cy="4087368"/>
          </a:xfrm>
          <a:prstGeom prst="rect">
            <a:avLst/>
          </a:prstGeom>
        </p:spPr>
      </p:pic>
      <p:sp>
        <p:nvSpPr>
          <p:cNvPr id="8" name="Shape 5"/>
          <p:cNvSpPr/>
          <p:nvPr/>
        </p:nvSpPr>
        <p:spPr>
          <a:xfrm>
            <a:off x="640080" y="5760720"/>
            <a:ext cx="10911535" cy="420624"/>
          </a:xfrm>
          <a:prstGeom prst="rect">
            <a:avLst/>
          </a:prstGeom>
          <a:solidFill>
            <a:srgbClr val="E8F0E6"/>
          </a:solidFill>
          <a:ln w="12700">
            <a:solidFill>
              <a:srgbClr val="E8F0E6"/>
            </a:solidFill>
            <a:prstDash val="solid"/>
          </a:ln>
        </p:spPr>
      </p:sp>
      <p:sp>
        <p:nvSpPr>
          <p:cNvPr id="9" name="Shape 6"/>
          <p:cNvSpPr/>
          <p:nvPr/>
        </p:nvSpPr>
        <p:spPr>
          <a:xfrm>
            <a:off x="640080" y="5760720"/>
            <a:ext cx="41148" cy="420624"/>
          </a:xfrm>
          <a:prstGeom prst="rect">
            <a:avLst/>
          </a:prstGeom>
          <a:solidFill>
            <a:srgbClr val="5C7A52"/>
          </a:solidFill>
          <a:ln w="12700">
            <a:solidFill>
              <a:srgbClr val="333333"/>
            </a:solidFill>
            <a:prstDash val="solid"/>
          </a:ln>
        </p:spPr>
      </p:sp>
      <p:sp>
        <p:nvSpPr>
          <p:cNvPr id="10" name="Text 7"/>
          <p:cNvSpPr/>
          <p:nvPr/>
        </p:nvSpPr>
        <p:spPr>
          <a:xfrm>
            <a:off x="841248" y="5861304"/>
            <a:ext cx="10527487" cy="2377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The assistant drafts, you own the corrections. The Boundary field is where its guess is most often wrong, which is exactly the field you must own.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05 · THE CONDITIONAL SET</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Four questions decide which extras you owe</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The terracotta rows are not always owed. Each one is triggered by a yes to one question.</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16</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pic>
        <p:nvPicPr>
          <p:cNvPr id="7" name="Image 0" descr="preencoded.png">    </p:cNvPr>
          <p:cNvPicPr>
            <a:picLocks noChangeAspect="1"/>
          </p:cNvPicPr>
          <p:nvPr/>
        </p:nvPicPr>
        <p:blipFill>
          <a:blip r:embed="rId1"/>
          <a:stretch>
            <a:fillRect/>
          </a:stretch>
        </p:blipFill>
        <p:spPr>
          <a:xfrm>
            <a:off x="640080" y="1505818"/>
            <a:ext cx="10911535" cy="4074965"/>
          </a:xfrm>
          <a:prstGeom prst="rect">
            <a:avLst/>
          </a:prstGeom>
        </p:spPr>
      </p:pic>
      <p:sp>
        <p:nvSpPr>
          <p:cNvPr id="8" name="Shape 5"/>
          <p:cNvSpPr/>
          <p:nvPr/>
        </p:nvSpPr>
        <p:spPr>
          <a:xfrm>
            <a:off x="640080" y="5760720"/>
            <a:ext cx="10911535" cy="420624"/>
          </a:xfrm>
          <a:prstGeom prst="rect">
            <a:avLst/>
          </a:prstGeom>
          <a:solidFill>
            <a:srgbClr val="E8F0E6"/>
          </a:solidFill>
          <a:ln w="12700">
            <a:solidFill>
              <a:srgbClr val="E8F0E6"/>
            </a:solidFill>
            <a:prstDash val="solid"/>
          </a:ln>
        </p:spPr>
      </p:sp>
      <p:sp>
        <p:nvSpPr>
          <p:cNvPr id="9" name="Shape 6"/>
          <p:cNvSpPr/>
          <p:nvPr/>
        </p:nvSpPr>
        <p:spPr>
          <a:xfrm>
            <a:off x="640080" y="5760720"/>
            <a:ext cx="41148" cy="420624"/>
          </a:xfrm>
          <a:prstGeom prst="rect">
            <a:avLst/>
          </a:prstGeom>
          <a:solidFill>
            <a:srgbClr val="5C7A52"/>
          </a:solidFill>
          <a:ln w="12700">
            <a:solidFill>
              <a:srgbClr val="333333"/>
            </a:solidFill>
            <a:prstDash val="solid"/>
          </a:ln>
        </p:spPr>
      </p:sp>
      <p:sp>
        <p:nvSpPr>
          <p:cNvPr id="10" name="Text 7"/>
          <p:cNvSpPr/>
          <p:nvPr/>
        </p:nvSpPr>
        <p:spPr>
          <a:xfrm>
            <a:off x="841248" y="5861304"/>
            <a:ext cx="10527487" cy="2377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You do not add a conditional artefact because it looks thorough. You add it because a condition is true, and you can name the condition.</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05 · THE CONDITIONAL SET  ·  HOW TO READ IT</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Reading the rule, as four if-then checks</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A decision rule is read one row at a time. If the condition is true, you owe the artefact; if not, you skip it.</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17</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sp>
        <p:nvSpPr>
          <p:cNvPr id="7" name="Shape 5"/>
          <p:cNvSpPr/>
          <p:nvPr/>
        </p:nvSpPr>
        <p:spPr>
          <a:xfrm>
            <a:off x="640080" y="1591056"/>
            <a:ext cx="3931920" cy="548640"/>
          </a:xfrm>
          <a:prstGeom prst="rect">
            <a:avLst/>
          </a:prstGeom>
          <a:solidFill>
            <a:srgbClr val="E8F0E6"/>
          </a:solidFill>
          <a:ln w="17780">
            <a:solidFill>
              <a:srgbClr val="5C7A52"/>
            </a:solidFill>
            <a:prstDash val="solid"/>
          </a:ln>
        </p:spPr>
      </p:sp>
      <p:sp>
        <p:nvSpPr>
          <p:cNvPr id="8" name="Text 6"/>
          <p:cNvSpPr/>
          <p:nvPr/>
        </p:nvSpPr>
        <p:spPr>
          <a:xfrm>
            <a:off x="804672" y="1709928"/>
            <a:ext cx="3657600" cy="365760"/>
          </a:xfrm>
          <a:prstGeom prst="rect">
            <a:avLst/>
          </a:prstGeom>
          <a:noFill/>
          <a:ln/>
        </p:spPr>
        <p:txBody>
          <a:bodyPr wrap="square" lIns="0" tIns="0" rIns="0" bIns="0" rtlCol="0" anchor="t"/>
          <a:lstStyle/>
          <a:p>
            <a:pPr indent="0" marL="0">
              <a:buNone/>
            </a:pPr>
            <a:r>
              <a:rPr lang="en-US" sz="1350" b="1" dirty="0">
                <a:solidFill>
                  <a:srgbClr val="1F2937"/>
                </a:solidFill>
                <a:latin typeface="Calibri" pitchFamily="34" charset="0"/>
                <a:ea typeface="Calibri" pitchFamily="34" charset="-122"/>
                <a:cs typeface="Calibri" pitchFamily="34" charset="-120"/>
              </a:rPr>
              <a:t>IF the agent takes an action</a:t>
            </a:r>
            <a:endParaRPr lang="en-US" sz="1350" dirty="0"/>
          </a:p>
        </p:txBody>
      </p:sp>
      <p:sp>
        <p:nvSpPr>
          <p:cNvPr id="9" name="Text 7"/>
          <p:cNvSpPr/>
          <p:nvPr/>
        </p:nvSpPr>
        <p:spPr>
          <a:xfrm>
            <a:off x="4663440" y="1664208"/>
            <a:ext cx="365760" cy="365760"/>
          </a:xfrm>
          <a:prstGeom prst="rect">
            <a:avLst/>
          </a:prstGeom>
          <a:noFill/>
          <a:ln/>
        </p:spPr>
        <p:txBody>
          <a:bodyPr wrap="square" lIns="0" tIns="0" rIns="0" bIns="0" rtlCol="0" anchor="ctr"/>
          <a:lstStyle/>
          <a:p>
            <a:pPr indent="0" marL="0">
              <a:buNone/>
            </a:pPr>
            <a:r>
              <a:rPr lang="en-US" sz="2200" dirty="0">
                <a:solidFill>
                  <a:srgbClr val="B8763A"/>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5120640" y="1591056"/>
            <a:ext cx="3840480" cy="548640"/>
          </a:xfrm>
          <a:prstGeom prst="rect">
            <a:avLst/>
          </a:prstGeom>
          <a:solidFill>
            <a:srgbClr val="FBEACA"/>
          </a:solidFill>
          <a:ln w="17780">
            <a:solidFill>
              <a:srgbClr val="B8763A"/>
            </a:solidFill>
            <a:prstDash val="solid"/>
          </a:ln>
        </p:spPr>
      </p:sp>
      <p:sp>
        <p:nvSpPr>
          <p:cNvPr id="11" name="Text 9"/>
          <p:cNvSpPr/>
          <p:nvPr/>
        </p:nvSpPr>
        <p:spPr>
          <a:xfrm>
            <a:off x="5285232" y="1709928"/>
            <a:ext cx="3566160" cy="365760"/>
          </a:xfrm>
          <a:prstGeom prst="rect">
            <a:avLst/>
          </a:prstGeom>
          <a:noFill/>
          <a:ln/>
        </p:spPr>
        <p:txBody>
          <a:bodyPr wrap="square" lIns="0" tIns="0" rIns="0" bIns="0" rtlCol="0" anchor="t"/>
          <a:lstStyle/>
          <a:p>
            <a:pPr indent="0" marL="0">
              <a:buNone/>
            </a:pPr>
            <a:r>
              <a:rPr lang="en-US" sz="1350" b="1" dirty="0">
                <a:solidFill>
                  <a:srgbClr val="1F2937"/>
                </a:solidFill>
                <a:latin typeface="Calibri" pitchFamily="34" charset="0"/>
                <a:ea typeface="Calibri" pitchFamily="34" charset="-122"/>
                <a:cs typeface="Calibri" pitchFamily="34" charset="-120"/>
              </a:rPr>
              <a:t>THEN add the autonomy spec</a:t>
            </a:r>
            <a:endParaRPr lang="en-US" sz="1350" dirty="0"/>
          </a:p>
        </p:txBody>
      </p:sp>
      <p:sp>
        <p:nvSpPr>
          <p:cNvPr id="12" name="Text 10"/>
          <p:cNvSpPr/>
          <p:nvPr/>
        </p:nvSpPr>
        <p:spPr>
          <a:xfrm>
            <a:off x="9144000" y="1737360"/>
            <a:ext cx="2407615" cy="365760"/>
          </a:xfrm>
          <a:prstGeom prst="rect">
            <a:avLst/>
          </a:prstGeom>
          <a:noFill/>
          <a:ln/>
        </p:spPr>
        <p:txBody>
          <a:bodyPr wrap="square" lIns="0" tIns="0" rIns="0" bIns="0" rtlCol="0" anchor="t"/>
          <a:lstStyle/>
          <a:p>
            <a:pPr indent="0" marL="0">
              <a:lnSpc>
                <a:spcPct val="105000"/>
              </a:lnSpc>
              <a:buNone/>
            </a:pPr>
            <a:r>
              <a:rPr lang="en-US" sz="1150" i="1" dirty="0">
                <a:solidFill>
                  <a:srgbClr val="6B7280"/>
                </a:solidFill>
                <a:latin typeface="Calibri" pitchFamily="34" charset="0"/>
                <a:ea typeface="Calibri" pitchFamily="34" charset="-122"/>
                <a:cs typeface="Calibri" pitchFamily="34" charset="-120"/>
              </a:rPr>
              <a:t>a reviewer must see what runs without a person</a:t>
            </a:r>
            <a:endParaRPr lang="en-US" sz="1150" dirty="0"/>
          </a:p>
        </p:txBody>
      </p:sp>
      <p:sp>
        <p:nvSpPr>
          <p:cNvPr id="13" name="Shape 11"/>
          <p:cNvSpPr/>
          <p:nvPr/>
        </p:nvSpPr>
        <p:spPr>
          <a:xfrm>
            <a:off x="640080" y="2523744"/>
            <a:ext cx="3931920" cy="548640"/>
          </a:xfrm>
          <a:prstGeom prst="rect">
            <a:avLst/>
          </a:prstGeom>
          <a:solidFill>
            <a:srgbClr val="E8F0E6"/>
          </a:solidFill>
          <a:ln w="17780">
            <a:solidFill>
              <a:srgbClr val="5C7A52"/>
            </a:solidFill>
            <a:prstDash val="solid"/>
          </a:ln>
        </p:spPr>
      </p:sp>
      <p:sp>
        <p:nvSpPr>
          <p:cNvPr id="14" name="Text 12"/>
          <p:cNvSpPr/>
          <p:nvPr/>
        </p:nvSpPr>
        <p:spPr>
          <a:xfrm>
            <a:off x="804672" y="2642616"/>
            <a:ext cx="3657600" cy="365760"/>
          </a:xfrm>
          <a:prstGeom prst="rect">
            <a:avLst/>
          </a:prstGeom>
          <a:noFill/>
          <a:ln/>
        </p:spPr>
        <p:txBody>
          <a:bodyPr wrap="square" lIns="0" tIns="0" rIns="0" bIns="0" rtlCol="0" anchor="t"/>
          <a:lstStyle/>
          <a:p>
            <a:pPr indent="0" marL="0">
              <a:buNone/>
            </a:pPr>
            <a:r>
              <a:rPr lang="en-US" sz="1350" b="1" dirty="0">
                <a:solidFill>
                  <a:srgbClr val="1F2937"/>
                </a:solidFill>
                <a:latin typeface="Calibri" pitchFamily="34" charset="0"/>
                <a:ea typeface="Calibri" pitchFamily="34" charset="-122"/>
                <a:cs typeface="Calibri" pitchFamily="34" charset="-120"/>
              </a:rPr>
              <a:t>IF the output is probabilistic</a:t>
            </a:r>
            <a:endParaRPr lang="en-US" sz="1350" dirty="0"/>
          </a:p>
        </p:txBody>
      </p:sp>
      <p:sp>
        <p:nvSpPr>
          <p:cNvPr id="15" name="Text 13"/>
          <p:cNvSpPr/>
          <p:nvPr/>
        </p:nvSpPr>
        <p:spPr>
          <a:xfrm>
            <a:off x="4663440" y="2596896"/>
            <a:ext cx="365760" cy="365760"/>
          </a:xfrm>
          <a:prstGeom prst="rect">
            <a:avLst/>
          </a:prstGeom>
          <a:noFill/>
          <a:ln/>
        </p:spPr>
        <p:txBody>
          <a:bodyPr wrap="square" lIns="0" tIns="0" rIns="0" bIns="0" rtlCol="0" anchor="ctr"/>
          <a:lstStyle/>
          <a:p>
            <a:pPr indent="0" marL="0">
              <a:buNone/>
            </a:pPr>
            <a:r>
              <a:rPr lang="en-US" sz="2200" dirty="0">
                <a:solidFill>
                  <a:srgbClr val="B8763A"/>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5120640" y="2523744"/>
            <a:ext cx="3840480" cy="548640"/>
          </a:xfrm>
          <a:prstGeom prst="rect">
            <a:avLst/>
          </a:prstGeom>
          <a:solidFill>
            <a:srgbClr val="FBEACA"/>
          </a:solidFill>
          <a:ln w="17780">
            <a:solidFill>
              <a:srgbClr val="B8763A"/>
            </a:solidFill>
            <a:prstDash val="solid"/>
          </a:ln>
        </p:spPr>
      </p:sp>
      <p:sp>
        <p:nvSpPr>
          <p:cNvPr id="17" name="Text 15"/>
          <p:cNvSpPr/>
          <p:nvPr/>
        </p:nvSpPr>
        <p:spPr>
          <a:xfrm>
            <a:off x="5285232" y="2642616"/>
            <a:ext cx="3566160" cy="365760"/>
          </a:xfrm>
          <a:prstGeom prst="rect">
            <a:avLst/>
          </a:prstGeom>
          <a:noFill/>
          <a:ln/>
        </p:spPr>
        <p:txBody>
          <a:bodyPr wrap="square" lIns="0" tIns="0" rIns="0" bIns="0" rtlCol="0" anchor="t"/>
          <a:lstStyle/>
          <a:p>
            <a:pPr indent="0" marL="0">
              <a:buNone/>
            </a:pPr>
            <a:r>
              <a:rPr lang="en-US" sz="1350" b="1" dirty="0">
                <a:solidFill>
                  <a:srgbClr val="1F2937"/>
                </a:solidFill>
                <a:latin typeface="Calibri" pitchFamily="34" charset="0"/>
                <a:ea typeface="Calibri" pitchFamily="34" charset="-122"/>
                <a:cs typeface="Calibri" pitchFamily="34" charset="-120"/>
              </a:rPr>
              <a:t>THEN add the acceptance plan</a:t>
            </a:r>
            <a:endParaRPr lang="en-US" sz="1350" dirty="0"/>
          </a:p>
        </p:txBody>
      </p:sp>
      <p:sp>
        <p:nvSpPr>
          <p:cNvPr id="18" name="Text 16"/>
          <p:cNvSpPr/>
          <p:nvPr/>
        </p:nvSpPr>
        <p:spPr>
          <a:xfrm>
            <a:off x="9144000" y="2670048"/>
            <a:ext cx="2407615" cy="365760"/>
          </a:xfrm>
          <a:prstGeom prst="rect">
            <a:avLst/>
          </a:prstGeom>
          <a:noFill/>
          <a:ln/>
        </p:spPr>
        <p:txBody>
          <a:bodyPr wrap="square" lIns="0" tIns="0" rIns="0" bIns="0" rtlCol="0" anchor="t"/>
          <a:lstStyle/>
          <a:p>
            <a:pPr indent="0" marL="0">
              <a:lnSpc>
                <a:spcPct val="105000"/>
              </a:lnSpc>
              <a:buNone/>
            </a:pPr>
            <a:r>
              <a:rPr lang="en-US" sz="1150" i="1" dirty="0">
                <a:solidFill>
                  <a:srgbClr val="6B7280"/>
                </a:solidFill>
                <a:latin typeface="Calibri" pitchFamily="34" charset="0"/>
                <a:ea typeface="Calibri" pitchFamily="34" charset="-122"/>
                <a:cs typeface="Calibri" pitchFamily="34" charset="-120"/>
              </a:rPr>
              <a:t>good enough has to become a number</a:t>
            </a:r>
            <a:endParaRPr lang="en-US" sz="1150" dirty="0"/>
          </a:p>
        </p:txBody>
      </p:sp>
      <p:sp>
        <p:nvSpPr>
          <p:cNvPr id="19" name="Shape 17"/>
          <p:cNvSpPr/>
          <p:nvPr/>
        </p:nvSpPr>
        <p:spPr>
          <a:xfrm>
            <a:off x="640080" y="3456432"/>
            <a:ext cx="3931920" cy="548640"/>
          </a:xfrm>
          <a:prstGeom prst="rect">
            <a:avLst/>
          </a:prstGeom>
          <a:solidFill>
            <a:srgbClr val="E8F0E6"/>
          </a:solidFill>
          <a:ln w="17780">
            <a:solidFill>
              <a:srgbClr val="5C7A52"/>
            </a:solidFill>
            <a:prstDash val="solid"/>
          </a:ln>
        </p:spPr>
      </p:sp>
      <p:sp>
        <p:nvSpPr>
          <p:cNvPr id="20" name="Text 18"/>
          <p:cNvSpPr/>
          <p:nvPr/>
        </p:nvSpPr>
        <p:spPr>
          <a:xfrm>
            <a:off x="804672" y="3575304"/>
            <a:ext cx="3657600" cy="365760"/>
          </a:xfrm>
          <a:prstGeom prst="rect">
            <a:avLst/>
          </a:prstGeom>
          <a:noFill/>
          <a:ln/>
        </p:spPr>
        <p:txBody>
          <a:bodyPr wrap="square" lIns="0" tIns="0" rIns="0" bIns="0" rtlCol="0" anchor="t"/>
          <a:lstStyle/>
          <a:p>
            <a:pPr indent="0" marL="0">
              <a:buNone/>
            </a:pPr>
            <a:r>
              <a:rPr lang="en-US" sz="1350" b="1" dirty="0">
                <a:solidFill>
                  <a:srgbClr val="1F2937"/>
                </a:solidFill>
                <a:latin typeface="Calibri" pitchFamily="34" charset="0"/>
                <a:ea typeface="Calibri" pitchFamily="34" charset="-122"/>
                <a:cs typeface="Calibri" pitchFamily="34" charset="-120"/>
              </a:rPr>
              <a:t>IF decisions are still open</a:t>
            </a:r>
            <a:endParaRPr lang="en-US" sz="1350" dirty="0"/>
          </a:p>
        </p:txBody>
      </p:sp>
      <p:sp>
        <p:nvSpPr>
          <p:cNvPr id="21" name="Text 19"/>
          <p:cNvSpPr/>
          <p:nvPr/>
        </p:nvSpPr>
        <p:spPr>
          <a:xfrm>
            <a:off x="4663440" y="3529584"/>
            <a:ext cx="365760" cy="365760"/>
          </a:xfrm>
          <a:prstGeom prst="rect">
            <a:avLst/>
          </a:prstGeom>
          <a:noFill/>
          <a:ln/>
        </p:spPr>
        <p:txBody>
          <a:bodyPr wrap="square" lIns="0" tIns="0" rIns="0" bIns="0" rtlCol="0" anchor="ctr"/>
          <a:lstStyle/>
          <a:p>
            <a:pPr indent="0" marL="0">
              <a:buNone/>
            </a:pPr>
            <a:r>
              <a:rPr lang="en-US" sz="2200" dirty="0">
                <a:solidFill>
                  <a:srgbClr val="B8763A"/>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5120640" y="3456432"/>
            <a:ext cx="3840480" cy="548640"/>
          </a:xfrm>
          <a:prstGeom prst="rect">
            <a:avLst/>
          </a:prstGeom>
          <a:solidFill>
            <a:srgbClr val="FBEACA"/>
          </a:solidFill>
          <a:ln w="17780">
            <a:solidFill>
              <a:srgbClr val="B8763A"/>
            </a:solidFill>
            <a:prstDash val="solid"/>
          </a:ln>
        </p:spPr>
      </p:sp>
      <p:sp>
        <p:nvSpPr>
          <p:cNvPr id="23" name="Text 21"/>
          <p:cNvSpPr/>
          <p:nvPr/>
        </p:nvSpPr>
        <p:spPr>
          <a:xfrm>
            <a:off x="5285232" y="3575304"/>
            <a:ext cx="3566160" cy="365760"/>
          </a:xfrm>
          <a:prstGeom prst="rect">
            <a:avLst/>
          </a:prstGeom>
          <a:noFill/>
          <a:ln/>
        </p:spPr>
        <p:txBody>
          <a:bodyPr wrap="square" lIns="0" tIns="0" rIns="0" bIns="0" rtlCol="0" anchor="t"/>
          <a:lstStyle/>
          <a:p>
            <a:pPr indent="0" marL="0">
              <a:buNone/>
            </a:pPr>
            <a:r>
              <a:rPr lang="en-US" sz="1350" b="1" dirty="0">
                <a:solidFill>
                  <a:srgbClr val="1F2937"/>
                </a:solidFill>
                <a:latin typeface="Calibri" pitchFamily="34" charset="0"/>
                <a:ea typeface="Calibri" pitchFamily="34" charset="-122"/>
                <a:cs typeface="Calibri" pitchFamily="34" charset="-120"/>
              </a:rPr>
              <a:t>THEN add the open-decisions log</a:t>
            </a:r>
            <a:endParaRPr lang="en-US" sz="1350" dirty="0"/>
          </a:p>
        </p:txBody>
      </p:sp>
      <p:sp>
        <p:nvSpPr>
          <p:cNvPr id="24" name="Text 22"/>
          <p:cNvSpPr/>
          <p:nvPr/>
        </p:nvSpPr>
        <p:spPr>
          <a:xfrm>
            <a:off x="9144000" y="3602736"/>
            <a:ext cx="2407615" cy="365760"/>
          </a:xfrm>
          <a:prstGeom prst="rect">
            <a:avLst/>
          </a:prstGeom>
          <a:noFill/>
          <a:ln/>
        </p:spPr>
        <p:txBody>
          <a:bodyPr wrap="square" lIns="0" tIns="0" rIns="0" bIns="0" rtlCol="0" anchor="t"/>
          <a:lstStyle/>
          <a:p>
            <a:pPr indent="0" marL="0">
              <a:lnSpc>
                <a:spcPct val="105000"/>
              </a:lnSpc>
              <a:buNone/>
            </a:pPr>
            <a:r>
              <a:rPr lang="en-US" sz="1150" i="1" dirty="0">
                <a:solidFill>
                  <a:srgbClr val="6B7280"/>
                </a:solidFill>
                <a:latin typeface="Calibri" pitchFamily="34" charset="0"/>
                <a:ea typeface="Calibri" pitchFamily="34" charset="-122"/>
                <a:cs typeface="Calibri" pitchFamily="34" charset="-120"/>
              </a:rPr>
              <a:t>nothing unresolved may be silently assumed</a:t>
            </a:r>
            <a:endParaRPr lang="en-US" sz="1150" dirty="0"/>
          </a:p>
        </p:txBody>
      </p:sp>
      <p:sp>
        <p:nvSpPr>
          <p:cNvPr id="25" name="Shape 23"/>
          <p:cNvSpPr/>
          <p:nvPr/>
        </p:nvSpPr>
        <p:spPr>
          <a:xfrm>
            <a:off x="640080" y="4389120"/>
            <a:ext cx="3931920" cy="548640"/>
          </a:xfrm>
          <a:prstGeom prst="rect">
            <a:avLst/>
          </a:prstGeom>
          <a:solidFill>
            <a:srgbClr val="E8F0E6"/>
          </a:solidFill>
          <a:ln w="17780">
            <a:solidFill>
              <a:srgbClr val="5C7A52"/>
            </a:solidFill>
            <a:prstDash val="solid"/>
          </a:ln>
        </p:spPr>
      </p:sp>
      <p:sp>
        <p:nvSpPr>
          <p:cNvPr id="26" name="Text 24"/>
          <p:cNvSpPr/>
          <p:nvPr/>
        </p:nvSpPr>
        <p:spPr>
          <a:xfrm>
            <a:off x="804672" y="4507992"/>
            <a:ext cx="3657600" cy="365760"/>
          </a:xfrm>
          <a:prstGeom prst="rect">
            <a:avLst/>
          </a:prstGeom>
          <a:noFill/>
          <a:ln/>
        </p:spPr>
        <p:txBody>
          <a:bodyPr wrap="square" lIns="0" tIns="0" rIns="0" bIns="0" rtlCol="0" anchor="t"/>
          <a:lstStyle/>
          <a:p>
            <a:pPr indent="0" marL="0">
              <a:buNone/>
            </a:pPr>
            <a:r>
              <a:rPr lang="en-US" sz="1350" b="1" dirty="0">
                <a:solidFill>
                  <a:srgbClr val="1F2937"/>
                </a:solidFill>
                <a:latin typeface="Calibri" pitchFamily="34" charset="0"/>
                <a:ea typeface="Calibri" pitchFamily="34" charset="-122"/>
                <a:cs typeface="Calibri" pitchFamily="34" charset="-120"/>
              </a:rPr>
              <a:t>IF it runs with other agents</a:t>
            </a:r>
            <a:endParaRPr lang="en-US" sz="1350" dirty="0"/>
          </a:p>
        </p:txBody>
      </p:sp>
      <p:sp>
        <p:nvSpPr>
          <p:cNvPr id="27" name="Text 25"/>
          <p:cNvSpPr/>
          <p:nvPr/>
        </p:nvSpPr>
        <p:spPr>
          <a:xfrm>
            <a:off x="4663440" y="4462272"/>
            <a:ext cx="365760" cy="365760"/>
          </a:xfrm>
          <a:prstGeom prst="rect">
            <a:avLst/>
          </a:prstGeom>
          <a:noFill/>
          <a:ln/>
        </p:spPr>
        <p:txBody>
          <a:bodyPr wrap="square" lIns="0" tIns="0" rIns="0" bIns="0" rtlCol="0" anchor="ctr"/>
          <a:lstStyle/>
          <a:p>
            <a:pPr indent="0" marL="0">
              <a:buNone/>
            </a:pPr>
            <a:r>
              <a:rPr lang="en-US" sz="2200" dirty="0">
                <a:solidFill>
                  <a:srgbClr val="B8763A"/>
                </a:solidFill>
                <a:latin typeface="Calibri" pitchFamily="34" charset="0"/>
                <a:ea typeface="Calibri" pitchFamily="34" charset="-122"/>
                <a:cs typeface="Calibri" pitchFamily="34" charset="-120"/>
              </a:rPr>
              <a:t>→</a:t>
            </a:r>
            <a:endParaRPr lang="en-US" sz="2200" dirty="0"/>
          </a:p>
        </p:txBody>
      </p:sp>
      <p:sp>
        <p:nvSpPr>
          <p:cNvPr id="28" name="Shape 26"/>
          <p:cNvSpPr/>
          <p:nvPr/>
        </p:nvSpPr>
        <p:spPr>
          <a:xfrm>
            <a:off x="5120640" y="4389120"/>
            <a:ext cx="3840480" cy="548640"/>
          </a:xfrm>
          <a:prstGeom prst="rect">
            <a:avLst/>
          </a:prstGeom>
          <a:solidFill>
            <a:srgbClr val="FBEACA"/>
          </a:solidFill>
          <a:ln w="17780">
            <a:solidFill>
              <a:srgbClr val="B8763A"/>
            </a:solidFill>
            <a:prstDash val="solid"/>
          </a:ln>
        </p:spPr>
      </p:sp>
      <p:sp>
        <p:nvSpPr>
          <p:cNvPr id="29" name="Text 27"/>
          <p:cNvSpPr/>
          <p:nvPr/>
        </p:nvSpPr>
        <p:spPr>
          <a:xfrm>
            <a:off x="5285232" y="4507992"/>
            <a:ext cx="3566160" cy="365760"/>
          </a:xfrm>
          <a:prstGeom prst="rect">
            <a:avLst/>
          </a:prstGeom>
          <a:noFill/>
          <a:ln/>
        </p:spPr>
        <p:txBody>
          <a:bodyPr wrap="square" lIns="0" tIns="0" rIns="0" bIns="0" rtlCol="0" anchor="t"/>
          <a:lstStyle/>
          <a:p>
            <a:pPr indent="0" marL="0">
              <a:buNone/>
            </a:pPr>
            <a:r>
              <a:rPr lang="en-US" sz="1350" b="1" dirty="0">
                <a:solidFill>
                  <a:srgbClr val="1F2937"/>
                </a:solidFill>
                <a:latin typeface="Calibri" pitchFamily="34" charset="0"/>
                <a:ea typeface="Calibri" pitchFamily="34" charset="-122"/>
                <a:cs typeface="Calibri" pitchFamily="34" charset="-120"/>
              </a:rPr>
              <a:t>THEN add the registry entry</a:t>
            </a:r>
            <a:endParaRPr lang="en-US" sz="1350" dirty="0"/>
          </a:p>
        </p:txBody>
      </p:sp>
      <p:sp>
        <p:nvSpPr>
          <p:cNvPr id="30" name="Text 28"/>
          <p:cNvSpPr/>
          <p:nvPr/>
        </p:nvSpPr>
        <p:spPr>
          <a:xfrm>
            <a:off x="9144000" y="4535424"/>
            <a:ext cx="2407615" cy="365760"/>
          </a:xfrm>
          <a:prstGeom prst="rect">
            <a:avLst/>
          </a:prstGeom>
          <a:noFill/>
          <a:ln/>
        </p:spPr>
        <p:txBody>
          <a:bodyPr wrap="square" lIns="0" tIns="0" rIns="0" bIns="0" rtlCol="0" anchor="t"/>
          <a:lstStyle/>
          <a:p>
            <a:pPr indent="0" marL="0">
              <a:lnSpc>
                <a:spcPct val="105000"/>
              </a:lnSpc>
              <a:buNone/>
            </a:pPr>
            <a:r>
              <a:rPr lang="en-US" sz="1150" i="1" dirty="0">
                <a:solidFill>
                  <a:srgbClr val="6B7280"/>
                </a:solidFill>
                <a:latin typeface="Calibri" pitchFamily="34" charset="0"/>
                <a:ea typeface="Calibri" pitchFamily="34" charset="-122"/>
                <a:cs typeface="Calibri" pitchFamily="34" charset="-120"/>
              </a:rPr>
              <a:t>its reach must be visible to the whole system</a:t>
            </a:r>
            <a:endParaRPr lang="en-US" sz="1150" dirty="0"/>
          </a:p>
        </p:txBody>
      </p:sp>
      <p:sp>
        <p:nvSpPr>
          <p:cNvPr id="31" name="Shape 29"/>
          <p:cNvSpPr/>
          <p:nvPr/>
        </p:nvSpPr>
        <p:spPr>
          <a:xfrm>
            <a:off x="640080" y="5248656"/>
            <a:ext cx="10911535" cy="420624"/>
          </a:xfrm>
          <a:prstGeom prst="rect">
            <a:avLst/>
          </a:prstGeom>
          <a:solidFill>
            <a:srgbClr val="E8F0E6"/>
          </a:solidFill>
          <a:ln w="12700">
            <a:solidFill>
              <a:srgbClr val="E8F0E6"/>
            </a:solidFill>
            <a:prstDash val="solid"/>
          </a:ln>
        </p:spPr>
      </p:sp>
      <p:sp>
        <p:nvSpPr>
          <p:cNvPr id="32" name="Shape 30"/>
          <p:cNvSpPr/>
          <p:nvPr/>
        </p:nvSpPr>
        <p:spPr>
          <a:xfrm>
            <a:off x="640080" y="5248656"/>
            <a:ext cx="41148" cy="420624"/>
          </a:xfrm>
          <a:prstGeom prst="rect">
            <a:avLst/>
          </a:prstGeom>
          <a:solidFill>
            <a:srgbClr val="5C7A52"/>
          </a:solidFill>
          <a:ln w="12700">
            <a:solidFill>
              <a:srgbClr val="333333"/>
            </a:solidFill>
            <a:prstDash val="solid"/>
          </a:ln>
        </p:spPr>
      </p:sp>
      <p:sp>
        <p:nvSpPr>
          <p:cNvPr id="33" name="Text 31"/>
          <p:cNvSpPr/>
          <p:nvPr/>
        </p:nvSpPr>
        <p:spPr>
          <a:xfrm>
            <a:off x="841248" y="5349240"/>
            <a:ext cx="10527487" cy="2377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For the SkyWays agent the first three are true and the fourth is not, so it owes three conditional artefacts and skips the registry.</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05 · THE CONDITIONAL SET</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Does this feature owe a statistical plan?</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Apply the rule you just saw.</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18</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sp>
        <p:nvSpPr>
          <p:cNvPr id="7" name="Shape 5"/>
          <p:cNvSpPr/>
          <p:nvPr/>
        </p:nvSpPr>
        <p:spPr>
          <a:xfrm>
            <a:off x="640080" y="1682496"/>
            <a:ext cx="10911535" cy="930656"/>
          </a:xfrm>
          <a:prstGeom prst="rect">
            <a:avLst/>
          </a:prstGeom>
          <a:solidFill>
            <a:srgbClr val="FFFFFF"/>
          </a:solidFill>
          <a:ln w="15875">
            <a:solidFill>
              <a:srgbClr val="E5E7EB"/>
            </a:solidFill>
            <a:prstDash val="solid"/>
          </a:ln>
        </p:spPr>
      </p:sp>
      <p:sp>
        <p:nvSpPr>
          <p:cNvPr id="8" name="Shape 6"/>
          <p:cNvSpPr/>
          <p:nvPr/>
        </p:nvSpPr>
        <p:spPr>
          <a:xfrm>
            <a:off x="640080" y="1682496"/>
            <a:ext cx="54864" cy="930656"/>
          </a:xfrm>
          <a:prstGeom prst="rect">
            <a:avLst/>
          </a:prstGeom>
          <a:solidFill>
            <a:srgbClr val="5C7A52"/>
          </a:solidFill>
          <a:ln w="12700">
            <a:solidFill>
              <a:srgbClr val="333333"/>
            </a:solidFill>
            <a:prstDash val="solid"/>
          </a:ln>
        </p:spPr>
      </p:sp>
      <p:sp>
        <p:nvSpPr>
          <p:cNvPr id="9" name="Text 7"/>
          <p:cNvSpPr/>
          <p:nvPr/>
        </p:nvSpPr>
        <p:spPr>
          <a:xfrm>
            <a:off x="950976" y="1810512"/>
            <a:ext cx="10362895" cy="656336"/>
          </a:xfrm>
          <a:prstGeom prst="rect">
            <a:avLst/>
          </a:prstGeom>
          <a:noFill/>
          <a:ln/>
        </p:spPr>
        <p:txBody>
          <a:bodyPr wrap="square" lIns="0" tIns="0" rIns="0" bIns="0" rtlCol="0" anchor="t"/>
          <a:lstStyle/>
          <a:p>
            <a:pPr indent="0" marL="0">
              <a:lnSpc>
                <a:spcPct val="116000"/>
              </a:lnSpc>
              <a:buNone/>
            </a:pPr>
            <a:r>
              <a:rPr lang="en-US" sz="2000" dirty="0">
                <a:solidFill>
                  <a:srgbClr val="1F2937"/>
                </a:solidFill>
                <a:latin typeface="Georgia" pitchFamily="34" charset="0"/>
                <a:ea typeface="Georgia" pitchFamily="34" charset="-122"/>
                <a:cs typeface="Georgia" pitchFamily="34" charset="-120"/>
              </a:rPr>
              <a:t>An agent that only routes a ticket to the right team (no free text, fixed rules) owes a statistical acceptance plan.</a:t>
            </a:r>
            <a:endParaRPr lang="en-US" sz="2000" dirty="0"/>
          </a:p>
        </p:txBody>
      </p:sp>
      <p:sp>
        <p:nvSpPr>
          <p:cNvPr id="10" name="Shape 8"/>
          <p:cNvSpPr/>
          <p:nvPr/>
        </p:nvSpPr>
        <p:spPr>
          <a:xfrm>
            <a:off x="731520" y="3070352"/>
            <a:ext cx="2194560" cy="658368"/>
          </a:xfrm>
          <a:prstGeom prst="rect">
            <a:avLst/>
          </a:prstGeom>
          <a:solidFill>
            <a:srgbClr val="FFFFFF"/>
          </a:solidFill>
          <a:ln w="19050">
            <a:solidFill>
              <a:srgbClr val="5C7A52"/>
            </a:solidFill>
            <a:prstDash val="solid"/>
          </a:ln>
        </p:spPr>
      </p:sp>
      <p:sp>
        <p:nvSpPr>
          <p:cNvPr id="11" name="Text 9"/>
          <p:cNvSpPr/>
          <p:nvPr/>
        </p:nvSpPr>
        <p:spPr>
          <a:xfrm>
            <a:off x="896112" y="3207512"/>
            <a:ext cx="457200" cy="402336"/>
          </a:xfrm>
          <a:prstGeom prst="rect">
            <a:avLst/>
          </a:prstGeom>
          <a:noFill/>
          <a:ln/>
        </p:spPr>
        <p:txBody>
          <a:bodyPr wrap="square" lIns="0" tIns="0" rIns="0" bIns="0" rtlCol="0" anchor="ctr"/>
          <a:lstStyle/>
          <a:p>
            <a:pPr indent="0" marL="0">
              <a:buNone/>
            </a:pPr>
            <a:r>
              <a:rPr lang="en-US" sz="2200" b="1" dirty="0">
                <a:solidFill>
                  <a:srgbClr val="5C7A52"/>
                </a:solidFill>
                <a:latin typeface="Consolas" pitchFamily="34" charset="0"/>
                <a:ea typeface="Consolas" pitchFamily="34" charset="-122"/>
                <a:cs typeface="Consolas" pitchFamily="34" charset="-120"/>
              </a:rPr>
              <a:t>T</a:t>
            </a:r>
            <a:endParaRPr lang="en-US" sz="2200" dirty="0"/>
          </a:p>
        </p:txBody>
      </p:sp>
      <p:sp>
        <p:nvSpPr>
          <p:cNvPr id="12" name="Text 10"/>
          <p:cNvSpPr/>
          <p:nvPr/>
        </p:nvSpPr>
        <p:spPr>
          <a:xfrm>
            <a:off x="1444752" y="3262376"/>
            <a:ext cx="1371600" cy="329184"/>
          </a:xfrm>
          <a:prstGeom prst="rect">
            <a:avLst/>
          </a:prstGeom>
          <a:noFill/>
          <a:ln/>
        </p:spPr>
        <p:txBody>
          <a:bodyPr wrap="square" lIns="0" tIns="0" rIns="0" bIns="0" rtlCol="0" anchor="ctr"/>
          <a:lstStyle/>
          <a:p>
            <a:pPr indent="0" marL="0">
              <a:buNone/>
            </a:pPr>
            <a:r>
              <a:rPr lang="en-US" sz="1400" b="1" spc="200" kern="0" dirty="0">
                <a:solidFill>
                  <a:srgbClr val="374151"/>
                </a:solidFill>
                <a:latin typeface="Calibri" pitchFamily="34" charset="0"/>
                <a:ea typeface="Calibri" pitchFamily="34" charset="-122"/>
                <a:cs typeface="Calibri" pitchFamily="34" charset="-120"/>
              </a:rPr>
              <a:t>TRUE</a:t>
            </a:r>
            <a:endParaRPr lang="en-US" sz="1400" dirty="0"/>
          </a:p>
        </p:txBody>
      </p:sp>
      <p:sp>
        <p:nvSpPr>
          <p:cNvPr id="13" name="Shape 11"/>
          <p:cNvSpPr/>
          <p:nvPr/>
        </p:nvSpPr>
        <p:spPr>
          <a:xfrm>
            <a:off x="3383280" y="3070352"/>
            <a:ext cx="2194560" cy="658368"/>
          </a:xfrm>
          <a:prstGeom prst="rect">
            <a:avLst/>
          </a:prstGeom>
          <a:solidFill>
            <a:srgbClr val="FFFFFF"/>
          </a:solidFill>
          <a:ln w="19050">
            <a:solidFill>
              <a:srgbClr val="5C7A52"/>
            </a:solidFill>
            <a:prstDash val="solid"/>
          </a:ln>
        </p:spPr>
      </p:sp>
      <p:sp>
        <p:nvSpPr>
          <p:cNvPr id="14" name="Text 12"/>
          <p:cNvSpPr/>
          <p:nvPr/>
        </p:nvSpPr>
        <p:spPr>
          <a:xfrm>
            <a:off x="3547872" y="3207512"/>
            <a:ext cx="457200" cy="402336"/>
          </a:xfrm>
          <a:prstGeom prst="rect">
            <a:avLst/>
          </a:prstGeom>
          <a:noFill/>
          <a:ln/>
        </p:spPr>
        <p:txBody>
          <a:bodyPr wrap="square" lIns="0" tIns="0" rIns="0" bIns="0" rtlCol="0" anchor="ctr"/>
          <a:lstStyle/>
          <a:p>
            <a:pPr indent="0" marL="0">
              <a:buNone/>
            </a:pPr>
            <a:r>
              <a:rPr lang="en-US" sz="2200" b="1" dirty="0">
                <a:solidFill>
                  <a:srgbClr val="5C7A52"/>
                </a:solidFill>
                <a:latin typeface="Consolas" pitchFamily="34" charset="0"/>
                <a:ea typeface="Consolas" pitchFamily="34" charset="-122"/>
                <a:cs typeface="Consolas" pitchFamily="34" charset="-120"/>
              </a:rPr>
              <a:t>F</a:t>
            </a:r>
            <a:endParaRPr lang="en-US" sz="2200" dirty="0"/>
          </a:p>
        </p:txBody>
      </p:sp>
      <p:sp>
        <p:nvSpPr>
          <p:cNvPr id="15" name="Text 13"/>
          <p:cNvSpPr/>
          <p:nvPr/>
        </p:nvSpPr>
        <p:spPr>
          <a:xfrm>
            <a:off x="4096512" y="3262376"/>
            <a:ext cx="1371600" cy="329184"/>
          </a:xfrm>
          <a:prstGeom prst="rect">
            <a:avLst/>
          </a:prstGeom>
          <a:noFill/>
          <a:ln/>
        </p:spPr>
        <p:txBody>
          <a:bodyPr wrap="square" lIns="0" tIns="0" rIns="0" bIns="0" rtlCol="0" anchor="ctr"/>
          <a:lstStyle/>
          <a:p>
            <a:pPr indent="0" marL="0">
              <a:buNone/>
            </a:pPr>
            <a:r>
              <a:rPr lang="en-US" sz="1400" b="1" spc="200" kern="0" dirty="0">
                <a:solidFill>
                  <a:srgbClr val="374151"/>
                </a:solidFill>
                <a:latin typeface="Calibri" pitchFamily="34" charset="0"/>
                <a:ea typeface="Calibri" pitchFamily="34" charset="-122"/>
                <a:cs typeface="Calibri" pitchFamily="34" charset="-120"/>
              </a:rPr>
              <a:t>FALSE</a:t>
            </a:r>
            <a:endParaRPr lang="en-US" sz="1400" dirty="0"/>
          </a:p>
        </p:txBody>
      </p:sp>
      <p:sp>
        <p:nvSpPr>
          <p:cNvPr id="16" name="Shape 14"/>
          <p:cNvSpPr/>
          <p:nvPr/>
        </p:nvSpPr>
        <p:spPr>
          <a:xfrm>
            <a:off x="640080" y="4039616"/>
            <a:ext cx="10911535" cy="420624"/>
          </a:xfrm>
          <a:prstGeom prst="rect">
            <a:avLst/>
          </a:prstGeom>
          <a:solidFill>
            <a:srgbClr val="E8F0E6"/>
          </a:solidFill>
          <a:ln w="12700">
            <a:solidFill>
              <a:srgbClr val="E8F0E6"/>
            </a:solidFill>
            <a:prstDash val="solid"/>
          </a:ln>
        </p:spPr>
      </p:sp>
      <p:sp>
        <p:nvSpPr>
          <p:cNvPr id="17" name="Shape 15"/>
          <p:cNvSpPr/>
          <p:nvPr/>
        </p:nvSpPr>
        <p:spPr>
          <a:xfrm>
            <a:off x="640080" y="4039616"/>
            <a:ext cx="41148" cy="420624"/>
          </a:xfrm>
          <a:prstGeom prst="rect">
            <a:avLst/>
          </a:prstGeom>
          <a:solidFill>
            <a:srgbClr val="5C7A52"/>
          </a:solidFill>
          <a:ln w="12700">
            <a:solidFill>
              <a:srgbClr val="333333"/>
            </a:solidFill>
            <a:prstDash val="solid"/>
          </a:ln>
        </p:spPr>
      </p:sp>
      <p:sp>
        <p:nvSpPr>
          <p:cNvPr id="18" name="Text 16"/>
          <p:cNvSpPr/>
          <p:nvPr/>
        </p:nvSpPr>
        <p:spPr>
          <a:xfrm>
            <a:off x="841248" y="4140200"/>
            <a:ext cx="10527487" cy="2377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Type T or F.</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05 · THE CONDITIONAL SET</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Why a rule-based router owes no statistical plan</a:t>
            </a:r>
            <a:endParaRPr lang="en-US" sz="2550" dirty="0"/>
          </a:p>
        </p:txBody>
      </p:sp>
      <p:sp>
        <p:nvSpPr>
          <p:cNvPr id="4" name="Text 2"/>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19</a:t>
            </a:r>
            <a:endParaRPr lang="en-US" sz="750" dirty="0"/>
          </a:p>
        </p:txBody>
      </p:sp>
      <p:sp>
        <p:nvSpPr>
          <p:cNvPr id="5" name="Text 3"/>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sp>
        <p:nvSpPr>
          <p:cNvPr id="6" name="Shape 4"/>
          <p:cNvSpPr/>
          <p:nvPr/>
        </p:nvSpPr>
        <p:spPr>
          <a:xfrm>
            <a:off x="640080" y="1499616"/>
            <a:ext cx="10911535" cy="658876"/>
          </a:xfrm>
          <a:prstGeom prst="rect">
            <a:avLst/>
          </a:prstGeom>
          <a:solidFill>
            <a:srgbClr val="E8F0E6"/>
          </a:solidFill>
          <a:ln w="12700">
            <a:solidFill>
              <a:srgbClr val="333333"/>
            </a:solidFill>
            <a:prstDash val="solid"/>
          </a:ln>
        </p:spPr>
      </p:sp>
      <p:sp>
        <p:nvSpPr>
          <p:cNvPr id="7" name="Shape 5"/>
          <p:cNvSpPr/>
          <p:nvPr/>
        </p:nvSpPr>
        <p:spPr>
          <a:xfrm>
            <a:off x="640080" y="1499616"/>
            <a:ext cx="41148" cy="658876"/>
          </a:xfrm>
          <a:prstGeom prst="rect">
            <a:avLst/>
          </a:prstGeom>
          <a:solidFill>
            <a:srgbClr val="5C7A52"/>
          </a:solidFill>
          <a:ln w="12700">
            <a:solidFill>
              <a:srgbClr val="333333"/>
            </a:solidFill>
            <a:prstDash val="solid"/>
          </a:ln>
        </p:spPr>
      </p:sp>
      <p:sp>
        <p:nvSpPr>
          <p:cNvPr id="8" name="Text 6"/>
          <p:cNvSpPr/>
          <p:nvPr/>
        </p:nvSpPr>
        <p:spPr>
          <a:xfrm>
            <a:off x="859536" y="1618488"/>
            <a:ext cx="10500055" cy="439420"/>
          </a:xfrm>
          <a:prstGeom prst="rect">
            <a:avLst/>
          </a:prstGeom>
          <a:noFill/>
          <a:ln/>
        </p:spPr>
        <p:txBody>
          <a:bodyPr wrap="square" lIns="0" tIns="0" rIns="0" bIns="0" rtlCol="0" anchor="t"/>
          <a:lstStyle/>
          <a:p>
            <a:pPr indent="0" marL="0">
              <a:lnSpc>
                <a:spcPct val="114000"/>
              </a:lnSpc>
              <a:buNone/>
            </a:pPr>
            <a:r>
              <a:rPr lang="en-US" sz="1300" b="1" dirty="0">
                <a:solidFill>
                  <a:srgbClr val="445B3D"/>
                </a:solidFill>
                <a:latin typeface="Calibri" pitchFamily="34" charset="0"/>
                <a:ea typeface="Calibri" pitchFamily="34" charset="-122"/>
                <a:cs typeface="Calibri" pitchFamily="34" charset="-120"/>
              </a:rPr>
              <a:t>False. The statistical acceptance plan is triggered only when the output is probabilistic. A router on fixed rules gives the same answer every time, so it is tested like any rule, pass or fail, and the plan does not apply.</a:t>
            </a:r>
            <a:endParaRPr lang="en-US" sz="1300" dirty="0"/>
          </a:p>
        </p:txBody>
      </p:sp>
      <p:sp>
        <p:nvSpPr>
          <p:cNvPr id="9" name="Text 7"/>
          <p:cNvSpPr/>
          <p:nvPr/>
        </p:nvSpPr>
        <p:spPr>
          <a:xfrm>
            <a:off x="640080" y="2414524"/>
            <a:ext cx="10911535" cy="201168"/>
          </a:xfrm>
          <a:prstGeom prst="rect">
            <a:avLst/>
          </a:prstGeom>
          <a:noFill/>
          <a:ln/>
        </p:spPr>
        <p:txBody>
          <a:bodyPr wrap="square" lIns="0" tIns="0" rIns="0" bIns="0" rtlCol="0" anchor="ctr"/>
          <a:lstStyle/>
          <a:p>
            <a:pPr indent="0" marL="0">
              <a:buNone/>
            </a:pPr>
            <a:r>
              <a:rPr lang="en-US" sz="800" b="1" spc="180" kern="0" dirty="0">
                <a:solidFill>
                  <a:srgbClr val="9AA1AC"/>
                </a:solidFill>
                <a:latin typeface="Calibri" pitchFamily="34" charset="0"/>
                <a:ea typeface="Calibri" pitchFamily="34" charset="-122"/>
                <a:cs typeface="Calibri" pitchFamily="34" charset="-120"/>
              </a:rPr>
              <a:t>WHY THE OTHERS DO NOT HOLD</a:t>
            </a:r>
            <a:endParaRPr lang="en-US" sz="800" dirty="0"/>
          </a:p>
        </p:txBody>
      </p:sp>
      <p:sp>
        <p:nvSpPr>
          <p:cNvPr id="10" name="Shape 8"/>
          <p:cNvSpPr/>
          <p:nvPr/>
        </p:nvSpPr>
        <p:spPr>
          <a:xfrm>
            <a:off x="640080" y="2652268"/>
            <a:ext cx="10911535" cy="0"/>
          </a:xfrm>
          <a:prstGeom prst="line">
            <a:avLst/>
          </a:prstGeom>
          <a:noFill/>
          <a:ln w="12700">
            <a:solidFill>
              <a:srgbClr val="D8DCE2"/>
            </a:solidFill>
            <a:prstDash val="solid"/>
          </a:ln>
        </p:spPr>
      </p:sp>
      <p:sp>
        <p:nvSpPr>
          <p:cNvPr id="11" name="Text 9"/>
          <p:cNvSpPr/>
          <p:nvPr/>
        </p:nvSpPr>
        <p:spPr>
          <a:xfrm>
            <a:off x="640080" y="2798572"/>
            <a:ext cx="3863918" cy="713063"/>
          </a:xfrm>
          <a:prstGeom prst="rect">
            <a:avLst/>
          </a:prstGeom>
          <a:noFill/>
          <a:ln/>
        </p:spPr>
        <p:txBody>
          <a:bodyPr wrap="square" lIns="0" tIns="0" rIns="0" bIns="0" rtlCol="0" anchor="t"/>
          <a:lstStyle/>
          <a:p>
            <a:pPr indent="0" marL="0">
              <a:lnSpc>
                <a:spcPct val="113000"/>
              </a:lnSpc>
              <a:buNone/>
            </a:pPr>
            <a:r>
              <a:rPr lang="en-US" sz="1300" b="1" dirty="0">
                <a:solidFill>
                  <a:srgbClr val="445B3D"/>
                </a:solidFill>
                <a:latin typeface="Calibri" pitchFamily="34" charset="0"/>
                <a:ea typeface="Calibri" pitchFamily="34" charset="-122"/>
                <a:cs typeface="Calibri" pitchFamily="34" charset="-120"/>
              </a:rPr>
              <a:t>What triggers the plan</a:t>
            </a:r>
            <a:endParaRPr lang="en-US" sz="1300" dirty="0"/>
          </a:p>
        </p:txBody>
      </p:sp>
      <p:sp>
        <p:nvSpPr>
          <p:cNvPr id="12" name="Text 10"/>
          <p:cNvSpPr/>
          <p:nvPr/>
        </p:nvSpPr>
        <p:spPr>
          <a:xfrm>
            <a:off x="4650302" y="2798572"/>
            <a:ext cx="6755009" cy="713063"/>
          </a:xfrm>
          <a:prstGeom prst="rect">
            <a:avLst/>
          </a:prstGeom>
          <a:noFill/>
          <a:ln/>
        </p:spPr>
        <p:txBody>
          <a:bodyPr wrap="square" lIns="0" tIns="0" rIns="0" bIns="0" rtlCol="0" anchor="t"/>
          <a:lstStyle/>
          <a:p>
            <a:pPr indent="0" marL="0">
              <a:lnSpc>
                <a:spcPct val="113000"/>
              </a:lnSpc>
              <a:buNone/>
            </a:pPr>
            <a:r>
              <a:rPr lang="en-US" sz="1300" dirty="0">
                <a:solidFill>
                  <a:srgbClr val="374151"/>
                </a:solidFill>
                <a:latin typeface="Calibri" pitchFamily="34" charset="0"/>
                <a:ea typeface="Calibri" pitchFamily="34" charset="-122"/>
                <a:cs typeface="Calibri" pitchFamily="34" charset="-120"/>
              </a:rPr>
              <a:t>Probabilistic output, where the agent is right a share of the time. A fixed-rule router is not that.</a:t>
            </a:r>
            <a:endParaRPr lang="en-US" sz="1300" dirty="0"/>
          </a:p>
        </p:txBody>
      </p:sp>
      <p:sp>
        <p:nvSpPr>
          <p:cNvPr id="13" name="Shape 11"/>
          <p:cNvSpPr/>
          <p:nvPr/>
        </p:nvSpPr>
        <p:spPr>
          <a:xfrm>
            <a:off x="640080" y="3520779"/>
            <a:ext cx="10911535" cy="0"/>
          </a:xfrm>
          <a:prstGeom prst="line">
            <a:avLst/>
          </a:prstGeom>
          <a:noFill/>
          <a:ln w="6350">
            <a:solidFill>
              <a:srgbClr val="E5E7EB"/>
            </a:solidFill>
            <a:prstDash val="solid"/>
          </a:ln>
        </p:spPr>
      </p:sp>
      <p:sp>
        <p:nvSpPr>
          <p:cNvPr id="14" name="Text 12"/>
          <p:cNvSpPr/>
          <p:nvPr/>
        </p:nvSpPr>
        <p:spPr>
          <a:xfrm>
            <a:off x="640080" y="3603075"/>
            <a:ext cx="3863918" cy="713063"/>
          </a:xfrm>
          <a:prstGeom prst="rect">
            <a:avLst/>
          </a:prstGeom>
          <a:noFill/>
          <a:ln/>
        </p:spPr>
        <p:txBody>
          <a:bodyPr wrap="square" lIns="0" tIns="0" rIns="0" bIns="0" rtlCol="0" anchor="t"/>
          <a:lstStyle/>
          <a:p>
            <a:pPr indent="0" marL="0">
              <a:lnSpc>
                <a:spcPct val="113000"/>
              </a:lnSpc>
              <a:buNone/>
            </a:pPr>
            <a:r>
              <a:rPr lang="en-US" sz="1300" b="1" dirty="0">
                <a:solidFill>
                  <a:srgbClr val="445B3D"/>
                </a:solidFill>
                <a:latin typeface="Calibri" pitchFamily="34" charset="0"/>
                <a:ea typeface="Calibri" pitchFamily="34" charset="-122"/>
                <a:cs typeface="Calibri" pitchFamily="34" charset="-120"/>
              </a:rPr>
              <a:t>What this router owes instead</a:t>
            </a:r>
            <a:endParaRPr lang="en-US" sz="1300" dirty="0"/>
          </a:p>
        </p:txBody>
      </p:sp>
      <p:sp>
        <p:nvSpPr>
          <p:cNvPr id="15" name="Text 13"/>
          <p:cNvSpPr/>
          <p:nvPr/>
        </p:nvSpPr>
        <p:spPr>
          <a:xfrm>
            <a:off x="4650302" y="3603075"/>
            <a:ext cx="6755009" cy="713063"/>
          </a:xfrm>
          <a:prstGeom prst="rect">
            <a:avLst/>
          </a:prstGeom>
          <a:noFill/>
          <a:ln/>
        </p:spPr>
        <p:txBody>
          <a:bodyPr wrap="square" lIns="0" tIns="0" rIns="0" bIns="0" rtlCol="0" anchor="t"/>
          <a:lstStyle/>
          <a:p>
            <a:pPr indent="0" marL="0">
              <a:lnSpc>
                <a:spcPct val="113000"/>
              </a:lnSpc>
              <a:buNone/>
            </a:pPr>
            <a:r>
              <a:rPr lang="en-US" sz="1300" dirty="0">
                <a:solidFill>
                  <a:srgbClr val="374151"/>
                </a:solidFill>
                <a:latin typeface="Calibri" pitchFamily="34" charset="0"/>
                <a:ea typeface="Calibri" pitchFamily="34" charset="-122"/>
                <a:cs typeface="Calibri" pitchFamily="34" charset="-120"/>
              </a:rPr>
              <a:t>The mandatory five, and an ordinary test that the rules route correctly. Nothing conditional.</a:t>
            </a:r>
            <a:endParaRPr lang="en-US" sz="1300" dirty="0"/>
          </a:p>
        </p:txBody>
      </p:sp>
      <p:sp>
        <p:nvSpPr>
          <p:cNvPr id="16" name="Shape 14"/>
          <p:cNvSpPr/>
          <p:nvPr/>
        </p:nvSpPr>
        <p:spPr>
          <a:xfrm>
            <a:off x="640080" y="4325281"/>
            <a:ext cx="10911535" cy="0"/>
          </a:xfrm>
          <a:prstGeom prst="line">
            <a:avLst/>
          </a:prstGeom>
          <a:noFill/>
          <a:ln w="6350">
            <a:solidFill>
              <a:srgbClr val="E5E7EB"/>
            </a:solidFill>
            <a:prstDash val="solid"/>
          </a:ln>
        </p:spPr>
      </p:sp>
      <p:sp>
        <p:nvSpPr>
          <p:cNvPr id="17" name="Text 15"/>
          <p:cNvSpPr/>
          <p:nvPr/>
        </p:nvSpPr>
        <p:spPr>
          <a:xfrm>
            <a:off x="640080" y="4407577"/>
            <a:ext cx="3863918" cy="713063"/>
          </a:xfrm>
          <a:prstGeom prst="rect">
            <a:avLst/>
          </a:prstGeom>
          <a:noFill/>
          <a:ln/>
        </p:spPr>
        <p:txBody>
          <a:bodyPr wrap="square" lIns="0" tIns="0" rIns="0" bIns="0" rtlCol="0" anchor="t"/>
          <a:lstStyle/>
          <a:p>
            <a:pPr indent="0" marL="0">
              <a:lnSpc>
                <a:spcPct val="113000"/>
              </a:lnSpc>
              <a:buNone/>
            </a:pPr>
            <a:r>
              <a:rPr lang="en-US" sz="1300" b="1" dirty="0">
                <a:solidFill>
                  <a:srgbClr val="445B3D"/>
                </a:solidFill>
                <a:latin typeface="Calibri" pitchFamily="34" charset="0"/>
                <a:ea typeface="Calibri" pitchFamily="34" charset="-122"/>
                <a:cs typeface="Calibri" pitchFamily="34" charset="-120"/>
              </a:rPr>
              <a:t>The trap in the question</a:t>
            </a:r>
            <a:endParaRPr lang="en-US" sz="1300" dirty="0"/>
          </a:p>
        </p:txBody>
      </p:sp>
      <p:sp>
        <p:nvSpPr>
          <p:cNvPr id="18" name="Text 16"/>
          <p:cNvSpPr/>
          <p:nvPr/>
        </p:nvSpPr>
        <p:spPr>
          <a:xfrm>
            <a:off x="4650302" y="4407577"/>
            <a:ext cx="6755009" cy="713063"/>
          </a:xfrm>
          <a:prstGeom prst="rect">
            <a:avLst/>
          </a:prstGeom>
          <a:noFill/>
          <a:ln/>
        </p:spPr>
        <p:txBody>
          <a:bodyPr wrap="square" lIns="0" tIns="0" rIns="0" bIns="0" rtlCol="0" anchor="t"/>
          <a:lstStyle/>
          <a:p>
            <a:pPr indent="0" marL="0">
              <a:lnSpc>
                <a:spcPct val="113000"/>
              </a:lnSpc>
              <a:buNone/>
            </a:pPr>
            <a:r>
              <a:rPr lang="en-US" sz="1300" dirty="0">
                <a:solidFill>
                  <a:srgbClr val="374151"/>
                </a:solidFill>
                <a:latin typeface="Calibri" pitchFamily="34" charset="0"/>
                <a:ea typeface="Calibri" pitchFamily="34" charset="-122"/>
                <a:cs typeface="Calibri" pitchFamily="34" charset="-120"/>
              </a:rPr>
              <a:t>It calls the router an agent, and the word agent does not decide the artefact. The behaviour does.</a:t>
            </a:r>
            <a:endParaRPr lang="en-US" sz="1300" dirty="0"/>
          </a:p>
        </p:txBody>
      </p:sp>
      <p:sp>
        <p:nvSpPr>
          <p:cNvPr id="19" name="Shape 17"/>
          <p:cNvSpPr/>
          <p:nvPr/>
        </p:nvSpPr>
        <p:spPr>
          <a:xfrm>
            <a:off x="640080" y="5230368"/>
            <a:ext cx="10911535" cy="0"/>
          </a:xfrm>
          <a:prstGeom prst="line">
            <a:avLst/>
          </a:prstGeom>
          <a:noFill/>
          <a:ln w="6350">
            <a:solidFill>
              <a:srgbClr val="E5E7EB"/>
            </a:solidFill>
            <a:prstDash val="solid"/>
          </a:ln>
        </p:spPr>
      </p:sp>
      <p:sp>
        <p:nvSpPr>
          <p:cNvPr id="20" name="Text 18"/>
          <p:cNvSpPr/>
          <p:nvPr/>
        </p:nvSpPr>
        <p:spPr>
          <a:xfrm>
            <a:off x="640080" y="5358384"/>
            <a:ext cx="10911535" cy="365760"/>
          </a:xfrm>
          <a:prstGeom prst="rect">
            <a:avLst/>
          </a:prstGeom>
          <a:noFill/>
          <a:ln/>
        </p:spPr>
        <p:txBody>
          <a:bodyPr wrap="square" lIns="0" tIns="0" rIns="0" bIns="0" rtlCol="0" anchor="t"/>
          <a:lstStyle/>
          <a:p>
            <a:pPr indent="0" marL="0">
              <a:buNone/>
            </a:pPr>
            <a:r>
              <a:rPr lang="en-US" sz="800" b="1" spc="160" kern="0" dirty="0">
                <a:solidFill>
                  <a:srgbClr val="9AA1AC"/>
                </a:solidFill>
                <a:latin typeface="Calibri" pitchFamily="34" charset="0"/>
                <a:ea typeface="Calibri" pitchFamily="34" charset="-122"/>
                <a:cs typeface="Calibri" pitchFamily="34" charset="-120"/>
              </a:rPr>
              <a:t>REMEMBER IT AS  </a:t>
            </a:r>
            <a:pPr indent="0" marL="0">
              <a:buNone/>
            </a:pPr>
            <a:r>
              <a:rPr lang="en-US" sz="1250" i="1" dirty="0">
                <a:solidFill>
                  <a:srgbClr val="1F2937"/>
                </a:solidFill>
                <a:latin typeface="Calibri" pitchFamily="34" charset="0"/>
                <a:ea typeface="Calibri" pitchFamily="34" charset="-122"/>
                <a:cs typeface="Calibri" pitchFamily="34" charset="-120"/>
              </a:rPr>
              <a:t>The word agent triggers nothing. A probabilistic output triggers the plan; an action triggers the autonomy spec.</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06 · HOW ARTEFACTS EVOLVE</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One artefact, four states, P0 to P3</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The spec is not written once. It is firmed, measured, then audited, and never rewritten.</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20</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pic>
        <p:nvPicPr>
          <p:cNvPr id="7" name="Image 0" descr="preencoded.png">    </p:cNvPr>
          <p:cNvPicPr>
            <a:picLocks noChangeAspect="1"/>
          </p:cNvPicPr>
          <p:nvPr/>
        </p:nvPicPr>
        <p:blipFill>
          <a:blip r:embed="rId1"/>
          <a:stretch>
            <a:fillRect/>
          </a:stretch>
        </p:blipFill>
        <p:spPr>
          <a:xfrm>
            <a:off x="640080" y="1702230"/>
            <a:ext cx="10911535" cy="3682140"/>
          </a:xfrm>
          <a:prstGeom prst="rect">
            <a:avLst/>
          </a:prstGeom>
        </p:spPr>
      </p:pic>
      <p:sp>
        <p:nvSpPr>
          <p:cNvPr id="8" name="Shape 5"/>
          <p:cNvSpPr/>
          <p:nvPr/>
        </p:nvSpPr>
        <p:spPr>
          <a:xfrm>
            <a:off x="640080" y="5695266"/>
            <a:ext cx="10911535" cy="420624"/>
          </a:xfrm>
          <a:prstGeom prst="rect">
            <a:avLst/>
          </a:prstGeom>
          <a:solidFill>
            <a:srgbClr val="E8F0E6"/>
          </a:solidFill>
          <a:ln w="12700">
            <a:solidFill>
              <a:srgbClr val="E8F0E6"/>
            </a:solidFill>
            <a:prstDash val="solid"/>
          </a:ln>
        </p:spPr>
      </p:sp>
      <p:sp>
        <p:nvSpPr>
          <p:cNvPr id="9" name="Shape 6"/>
          <p:cNvSpPr/>
          <p:nvPr/>
        </p:nvSpPr>
        <p:spPr>
          <a:xfrm>
            <a:off x="640080" y="5695266"/>
            <a:ext cx="41148" cy="420624"/>
          </a:xfrm>
          <a:prstGeom prst="rect">
            <a:avLst/>
          </a:prstGeom>
          <a:solidFill>
            <a:srgbClr val="5C7A52"/>
          </a:solidFill>
          <a:ln w="12700">
            <a:solidFill>
              <a:srgbClr val="333333"/>
            </a:solidFill>
            <a:prstDash val="solid"/>
          </a:ln>
        </p:spPr>
      </p:sp>
      <p:sp>
        <p:nvSpPr>
          <p:cNvPr id="10" name="Text 7"/>
          <p:cNvSpPr/>
          <p:nvPr/>
        </p:nvSpPr>
        <p:spPr>
          <a:xfrm>
            <a:off x="841248" y="5795850"/>
            <a:ext cx="10527487" cy="2377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This is the living-spec idea. The artefact grows with the agent, so “done” means something different at each phase.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07 · THE P1 GATE</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The gate that lets the set through to build</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Before engineering builds, one checkpoint confirms the mandatory set is complete and signed.</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21</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pic>
        <p:nvPicPr>
          <p:cNvPr id="7" name="Image 0" descr="preencoded.png">    </p:cNvPr>
          <p:cNvPicPr>
            <a:picLocks noChangeAspect="1"/>
          </p:cNvPicPr>
          <p:nvPr/>
        </p:nvPicPr>
        <p:blipFill>
          <a:blip r:embed="rId1"/>
          <a:stretch>
            <a:fillRect/>
          </a:stretch>
        </p:blipFill>
        <p:spPr>
          <a:xfrm>
            <a:off x="953407" y="1499616"/>
            <a:ext cx="10284881" cy="4087368"/>
          </a:xfrm>
          <a:prstGeom prst="rect">
            <a:avLst/>
          </a:prstGeom>
        </p:spPr>
      </p:pic>
      <p:sp>
        <p:nvSpPr>
          <p:cNvPr id="8" name="Shape 5"/>
          <p:cNvSpPr/>
          <p:nvPr/>
        </p:nvSpPr>
        <p:spPr>
          <a:xfrm>
            <a:off x="640080" y="5760720"/>
            <a:ext cx="10911535" cy="420624"/>
          </a:xfrm>
          <a:prstGeom prst="rect">
            <a:avLst/>
          </a:prstGeom>
          <a:solidFill>
            <a:srgbClr val="E8F0E6"/>
          </a:solidFill>
          <a:ln w="12700">
            <a:solidFill>
              <a:srgbClr val="E8F0E6"/>
            </a:solidFill>
            <a:prstDash val="solid"/>
          </a:ln>
        </p:spPr>
      </p:sp>
      <p:sp>
        <p:nvSpPr>
          <p:cNvPr id="9" name="Shape 6"/>
          <p:cNvSpPr/>
          <p:nvPr/>
        </p:nvSpPr>
        <p:spPr>
          <a:xfrm>
            <a:off x="640080" y="5760720"/>
            <a:ext cx="41148" cy="420624"/>
          </a:xfrm>
          <a:prstGeom prst="rect">
            <a:avLst/>
          </a:prstGeom>
          <a:solidFill>
            <a:srgbClr val="5C7A52"/>
          </a:solidFill>
          <a:ln w="12700">
            <a:solidFill>
              <a:srgbClr val="333333"/>
            </a:solidFill>
            <a:prstDash val="solid"/>
          </a:ln>
        </p:spPr>
      </p:sp>
      <p:sp>
        <p:nvSpPr>
          <p:cNvPr id="10" name="Text 7"/>
          <p:cNvSpPr/>
          <p:nvPr/>
        </p:nvSpPr>
        <p:spPr>
          <a:xfrm>
            <a:off x="841248" y="5861304"/>
            <a:ext cx="10527487" cy="2377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The gate is not a meeting. It is four checks, and a fail names the one artefact to finish rather than sending the whole thing back.</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07 · THE P1 GATE  ·  WHO SIGNS WHAT</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A RACI matrix settles who owns each artefact</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The gate needs one accountable name per artefact. RACI is the standard way to write that down.</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22</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pic>
        <p:nvPicPr>
          <p:cNvPr id="7" name="Image 0" descr="preencoded.png">    </p:cNvPr>
          <p:cNvPicPr>
            <a:picLocks noChangeAspect="1"/>
          </p:cNvPicPr>
          <p:nvPr/>
        </p:nvPicPr>
        <p:blipFill>
          <a:blip r:embed="rId1"/>
          <a:stretch>
            <a:fillRect/>
          </a:stretch>
        </p:blipFill>
        <p:spPr>
          <a:xfrm>
            <a:off x="1039717" y="1499616"/>
            <a:ext cx="10112260" cy="3776472"/>
          </a:xfrm>
          <a:prstGeom prst="rect">
            <a:avLst/>
          </a:prstGeom>
        </p:spPr>
      </p:pic>
      <p:sp>
        <p:nvSpPr>
          <p:cNvPr id="8" name="Shape 5"/>
          <p:cNvSpPr/>
          <p:nvPr/>
        </p:nvSpPr>
        <p:spPr>
          <a:xfrm>
            <a:off x="640080" y="5449824"/>
            <a:ext cx="10911535" cy="560324"/>
          </a:xfrm>
          <a:prstGeom prst="rect">
            <a:avLst/>
          </a:prstGeom>
          <a:solidFill>
            <a:srgbClr val="E8F0E6"/>
          </a:solidFill>
          <a:ln w="12700">
            <a:solidFill>
              <a:srgbClr val="E8F0E6"/>
            </a:solidFill>
            <a:prstDash val="solid"/>
          </a:ln>
        </p:spPr>
      </p:sp>
      <p:sp>
        <p:nvSpPr>
          <p:cNvPr id="9" name="Shape 6"/>
          <p:cNvSpPr/>
          <p:nvPr/>
        </p:nvSpPr>
        <p:spPr>
          <a:xfrm>
            <a:off x="640080" y="5449824"/>
            <a:ext cx="41148" cy="560324"/>
          </a:xfrm>
          <a:prstGeom prst="rect">
            <a:avLst/>
          </a:prstGeom>
          <a:solidFill>
            <a:srgbClr val="5C7A52"/>
          </a:solidFill>
          <a:ln w="12700">
            <a:solidFill>
              <a:srgbClr val="333333"/>
            </a:solidFill>
            <a:prstDash val="solid"/>
          </a:ln>
        </p:spPr>
      </p:sp>
      <p:sp>
        <p:nvSpPr>
          <p:cNvPr id="10" name="Text 7"/>
          <p:cNvSpPr/>
          <p:nvPr/>
        </p:nvSpPr>
        <p:spPr>
          <a:xfrm>
            <a:off x="841248" y="5550408"/>
            <a:ext cx="10527487" cy="3774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You are accountable for the brief, the spec, the autonomy line and the acceptance bar. The architect is accountable for the tool contract. Everything else you are consulted on.</a:t>
            </a:r>
            <a:endParaRPr lang="en-US" sz="1100" dirty="0"/>
          </a:p>
        </p:txBody>
      </p:sp>
      <p:sp>
        <p:nvSpPr>
          <p:cNvPr id="11" name="Text 8"/>
          <p:cNvSpPr/>
          <p:nvPr/>
        </p:nvSpPr>
        <p:spPr>
          <a:xfrm>
            <a:off x="640080" y="6174740"/>
            <a:ext cx="10911535" cy="384048"/>
          </a:xfrm>
          <a:prstGeom prst="rect">
            <a:avLst/>
          </a:prstGeom>
          <a:noFill/>
          <a:ln/>
        </p:spPr>
        <p:txBody>
          <a:bodyPr wrap="square" lIns="0" tIns="0" rIns="0" bIns="0" rtlCol="0" anchor="t"/>
          <a:lstStyle/>
          <a:p>
            <a:pPr indent="0" marL="0">
              <a:lnSpc>
                <a:spcPct val="110000"/>
              </a:lnSpc>
              <a:buNone/>
            </a:pPr>
            <a:r>
              <a:rPr lang="en-US" sz="950" b="1" spc="160" kern="0" dirty="0">
                <a:solidFill>
                  <a:srgbClr val="9AA1AC"/>
                </a:solidFill>
                <a:latin typeface="Calibri" pitchFamily="34" charset="0"/>
                <a:ea typeface="Calibri" pitchFamily="34" charset="-122"/>
                <a:cs typeface="Calibri" pitchFamily="34" charset="-120"/>
              </a:rPr>
              <a:t>CONFIDENCE  ·  </a:t>
            </a:r>
            <a:pPr indent="0" marL="0">
              <a:lnSpc>
                <a:spcPct val="110000"/>
              </a:lnSpc>
              <a:buNone/>
            </a:pPr>
            <a:r>
              <a:rPr lang="en-US" sz="950" i="1" dirty="0">
                <a:solidFill>
                  <a:srgbClr val="6B7280"/>
                </a:solidFill>
                <a:latin typeface="Calibri" pitchFamily="34" charset="0"/>
                <a:ea typeface="Calibri" pitchFamily="34" charset="-122"/>
                <a:cs typeface="Calibri" pitchFamily="34" charset="-120"/>
              </a:rPr>
              <a:t>Established. RACI (responsible, accountable, consulted, informed) is a standard responsibility-assignment matrix, not this course’s invention.</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07 · THE P1 GATE</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Air Canada shipped without the acceptance check</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A real consequence of letting an artefact through a gate it should have failed.</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23</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sp>
        <p:nvSpPr>
          <p:cNvPr id="7" name="Text 5"/>
          <p:cNvSpPr/>
          <p:nvPr/>
        </p:nvSpPr>
        <p:spPr>
          <a:xfrm>
            <a:off x="640080" y="1499616"/>
            <a:ext cx="2240280" cy="457200"/>
          </a:xfrm>
          <a:prstGeom prst="rect">
            <a:avLst/>
          </a:prstGeom>
          <a:noFill/>
          <a:ln/>
        </p:spPr>
        <p:txBody>
          <a:bodyPr wrap="square" lIns="0" tIns="0" rIns="0" bIns="0" rtlCol="0" anchor="t"/>
          <a:lstStyle/>
          <a:p>
            <a:pPr indent="0" marL="0">
              <a:lnSpc>
                <a:spcPct val="110000"/>
              </a:lnSpc>
              <a:buNone/>
            </a:pPr>
            <a:r>
              <a:rPr lang="en-US" sz="800" b="1" spc="160" kern="0" dirty="0">
                <a:solidFill>
                  <a:srgbClr val="5C7A52"/>
                </a:solidFill>
                <a:latin typeface="Calibri" pitchFamily="34" charset="0"/>
                <a:ea typeface="Calibri" pitchFamily="34" charset="-122"/>
                <a:cs typeface="Calibri" pitchFamily="34" charset="-120"/>
              </a:rPr>
              <a:t>WHAT HAPPENED</a:t>
            </a:r>
            <a:endParaRPr lang="en-US" sz="800" dirty="0"/>
          </a:p>
        </p:txBody>
      </p:sp>
      <p:sp>
        <p:nvSpPr>
          <p:cNvPr id="8" name="Text 6"/>
          <p:cNvSpPr/>
          <p:nvPr/>
        </p:nvSpPr>
        <p:spPr>
          <a:xfrm>
            <a:off x="3017520" y="1463040"/>
            <a:ext cx="8534095" cy="659130"/>
          </a:xfrm>
          <a:prstGeom prst="rect">
            <a:avLst/>
          </a:prstGeom>
          <a:noFill/>
          <a:ln/>
        </p:spPr>
        <p:txBody>
          <a:bodyPr wrap="square" lIns="0" tIns="0" rIns="0" bIns="0" rtlCol="0" anchor="t"/>
          <a:lstStyle/>
          <a:p>
            <a:pPr indent="0" marL="0">
              <a:lnSpc>
                <a:spcPct val="116000"/>
              </a:lnSpc>
              <a:buNone/>
            </a:pPr>
            <a:r>
              <a:rPr lang="en-US" sz="1300" dirty="0">
                <a:solidFill>
                  <a:srgbClr val="374151"/>
                </a:solidFill>
                <a:latin typeface="Calibri" pitchFamily="34" charset="0"/>
                <a:ea typeface="Calibri" pitchFamily="34" charset="-122"/>
                <a:cs typeface="Calibri" pitchFamily="34" charset="-120"/>
              </a:rPr>
              <a:t>In November 2022 a passenger asked Air Canada's website chatbot about bereavement fares and was told he could claim within 90 days of the ticket being issued. The real policy did not allow a claim after travel, and his claim was refused.</a:t>
            </a:r>
            <a:endParaRPr lang="en-US" sz="1300" dirty="0"/>
          </a:p>
        </p:txBody>
      </p:sp>
      <p:sp>
        <p:nvSpPr>
          <p:cNvPr id="9" name="Shape 7"/>
          <p:cNvSpPr/>
          <p:nvPr/>
        </p:nvSpPr>
        <p:spPr>
          <a:xfrm>
            <a:off x="640080" y="2597658"/>
            <a:ext cx="10911535" cy="0"/>
          </a:xfrm>
          <a:prstGeom prst="line">
            <a:avLst/>
          </a:prstGeom>
          <a:noFill/>
          <a:ln w="6350">
            <a:solidFill>
              <a:srgbClr val="E5E7EB"/>
            </a:solidFill>
            <a:prstDash val="solid"/>
          </a:ln>
        </p:spPr>
      </p:sp>
      <p:sp>
        <p:nvSpPr>
          <p:cNvPr id="10" name="Text 8"/>
          <p:cNvSpPr/>
          <p:nvPr/>
        </p:nvSpPr>
        <p:spPr>
          <a:xfrm>
            <a:off x="640080" y="2762250"/>
            <a:ext cx="2240280" cy="457200"/>
          </a:xfrm>
          <a:prstGeom prst="rect">
            <a:avLst/>
          </a:prstGeom>
          <a:noFill/>
          <a:ln/>
        </p:spPr>
        <p:txBody>
          <a:bodyPr wrap="square" lIns="0" tIns="0" rIns="0" bIns="0" rtlCol="0" anchor="t"/>
          <a:lstStyle/>
          <a:p>
            <a:pPr indent="0" marL="0">
              <a:lnSpc>
                <a:spcPct val="110000"/>
              </a:lnSpc>
              <a:buNone/>
            </a:pPr>
            <a:r>
              <a:rPr lang="en-US" sz="800" b="1" spc="160" kern="0" dirty="0">
                <a:solidFill>
                  <a:srgbClr val="5C7A52"/>
                </a:solidFill>
                <a:latin typeface="Calibri" pitchFamily="34" charset="0"/>
                <a:ea typeface="Calibri" pitchFamily="34" charset="-122"/>
                <a:cs typeface="Calibri" pitchFamily="34" charset="-120"/>
              </a:rPr>
              <a:t>THE RULING</a:t>
            </a:r>
            <a:endParaRPr lang="en-US" sz="800" dirty="0"/>
          </a:p>
        </p:txBody>
      </p:sp>
      <p:sp>
        <p:nvSpPr>
          <p:cNvPr id="11" name="Text 9"/>
          <p:cNvSpPr/>
          <p:nvPr/>
        </p:nvSpPr>
        <p:spPr>
          <a:xfrm>
            <a:off x="3017520" y="2725674"/>
            <a:ext cx="8534095" cy="659130"/>
          </a:xfrm>
          <a:prstGeom prst="rect">
            <a:avLst/>
          </a:prstGeom>
          <a:noFill/>
          <a:ln/>
        </p:spPr>
        <p:txBody>
          <a:bodyPr wrap="square" lIns="0" tIns="0" rIns="0" bIns="0" rtlCol="0" anchor="t"/>
          <a:lstStyle/>
          <a:p>
            <a:pPr indent="0" marL="0">
              <a:lnSpc>
                <a:spcPct val="116000"/>
              </a:lnSpc>
              <a:buNone/>
            </a:pPr>
            <a:r>
              <a:rPr lang="en-US" sz="1300" dirty="0">
                <a:solidFill>
                  <a:srgbClr val="374151"/>
                </a:solidFill>
                <a:latin typeface="Calibri" pitchFamily="34" charset="0"/>
                <a:ea typeface="Calibri" pitchFamily="34" charset="-122"/>
                <a:cs typeface="Calibri" pitchFamily="34" charset="-120"/>
              </a:rPr>
              <a:t>In February 2024 the British Columbia Civil Resolution Tribunal found negligent misrepresentation and awarded about CA$812. The tribunal held the company responsible for everything on its website, whether it comes from a static page or a chatbot.</a:t>
            </a:r>
            <a:endParaRPr lang="en-US" sz="1300" dirty="0"/>
          </a:p>
        </p:txBody>
      </p:sp>
      <p:sp>
        <p:nvSpPr>
          <p:cNvPr id="12" name="Shape 10"/>
          <p:cNvSpPr/>
          <p:nvPr/>
        </p:nvSpPr>
        <p:spPr>
          <a:xfrm>
            <a:off x="640080" y="3860292"/>
            <a:ext cx="10911535" cy="0"/>
          </a:xfrm>
          <a:prstGeom prst="line">
            <a:avLst/>
          </a:prstGeom>
          <a:noFill/>
          <a:ln w="6350">
            <a:solidFill>
              <a:srgbClr val="E5E7EB"/>
            </a:solidFill>
            <a:prstDash val="solid"/>
          </a:ln>
        </p:spPr>
      </p:sp>
      <p:sp>
        <p:nvSpPr>
          <p:cNvPr id="13" name="Text 11"/>
          <p:cNvSpPr/>
          <p:nvPr/>
        </p:nvSpPr>
        <p:spPr>
          <a:xfrm>
            <a:off x="640080" y="4024884"/>
            <a:ext cx="2240280" cy="457200"/>
          </a:xfrm>
          <a:prstGeom prst="rect">
            <a:avLst/>
          </a:prstGeom>
          <a:noFill/>
          <a:ln/>
        </p:spPr>
        <p:txBody>
          <a:bodyPr wrap="square" lIns="0" tIns="0" rIns="0" bIns="0" rtlCol="0" anchor="t"/>
          <a:lstStyle/>
          <a:p>
            <a:pPr indent="0" marL="0">
              <a:lnSpc>
                <a:spcPct val="110000"/>
              </a:lnSpc>
              <a:buNone/>
            </a:pPr>
            <a:r>
              <a:rPr lang="en-US" sz="800" b="1" spc="160" kern="0" dirty="0">
                <a:solidFill>
                  <a:srgbClr val="5C7A52"/>
                </a:solidFill>
                <a:latin typeface="Calibri" pitchFamily="34" charset="0"/>
                <a:ea typeface="Calibri" pitchFamily="34" charset="-122"/>
                <a:cs typeface="Calibri" pitchFamily="34" charset="-120"/>
              </a:rPr>
              <a:t>THE ARTEFACT THAT WAS MISSING</a:t>
            </a:r>
            <a:endParaRPr lang="en-US" sz="800" dirty="0"/>
          </a:p>
        </p:txBody>
      </p:sp>
      <p:sp>
        <p:nvSpPr>
          <p:cNvPr id="14" name="Text 12"/>
          <p:cNvSpPr/>
          <p:nvPr/>
        </p:nvSpPr>
        <p:spPr>
          <a:xfrm>
            <a:off x="3017520" y="3988308"/>
            <a:ext cx="8534095" cy="457708"/>
          </a:xfrm>
          <a:prstGeom prst="rect">
            <a:avLst/>
          </a:prstGeom>
          <a:noFill/>
          <a:ln/>
        </p:spPr>
        <p:txBody>
          <a:bodyPr wrap="square" lIns="0" tIns="0" rIns="0" bIns="0" rtlCol="0" anchor="t"/>
          <a:lstStyle/>
          <a:p>
            <a:pPr indent="0" marL="0">
              <a:lnSpc>
                <a:spcPct val="116000"/>
              </a:lnSpc>
              <a:buNone/>
            </a:pPr>
            <a:r>
              <a:rPr lang="en-US" sz="1300" dirty="0">
                <a:solidFill>
                  <a:srgbClr val="374151"/>
                </a:solidFill>
                <a:latin typeface="Calibri" pitchFamily="34" charset="0"/>
                <a:ea typeface="Calibri" pitchFamily="34" charset="-122"/>
                <a:cs typeface="Calibri" pitchFamily="34" charset="-120"/>
              </a:rPr>
              <a:t>A statistical acceptance plan for policy answers. The chatbot stated a policy, which is a commitment, and no artefact set the bar for how often a policy answer must be right before it could ship.</a:t>
            </a:r>
            <a:endParaRPr lang="en-US" sz="1300" dirty="0"/>
          </a:p>
        </p:txBody>
      </p:sp>
      <p:sp>
        <p:nvSpPr>
          <p:cNvPr id="15" name="Shape 13"/>
          <p:cNvSpPr/>
          <p:nvPr/>
        </p:nvSpPr>
        <p:spPr>
          <a:xfrm>
            <a:off x="640080" y="4976368"/>
            <a:ext cx="10911535" cy="560324"/>
          </a:xfrm>
          <a:prstGeom prst="rect">
            <a:avLst/>
          </a:prstGeom>
          <a:solidFill>
            <a:srgbClr val="E8F0E6"/>
          </a:solidFill>
          <a:ln w="12700">
            <a:solidFill>
              <a:srgbClr val="E8F0E6"/>
            </a:solidFill>
            <a:prstDash val="solid"/>
          </a:ln>
        </p:spPr>
      </p:sp>
      <p:sp>
        <p:nvSpPr>
          <p:cNvPr id="16" name="Shape 14"/>
          <p:cNvSpPr/>
          <p:nvPr/>
        </p:nvSpPr>
        <p:spPr>
          <a:xfrm>
            <a:off x="640080" y="4976368"/>
            <a:ext cx="41148" cy="560324"/>
          </a:xfrm>
          <a:prstGeom prst="rect">
            <a:avLst/>
          </a:prstGeom>
          <a:solidFill>
            <a:srgbClr val="5C7A52"/>
          </a:solidFill>
          <a:ln w="12700">
            <a:solidFill>
              <a:srgbClr val="333333"/>
            </a:solidFill>
            <a:prstDash val="solid"/>
          </a:ln>
        </p:spPr>
      </p:sp>
      <p:sp>
        <p:nvSpPr>
          <p:cNvPr id="17" name="Text 15"/>
          <p:cNvSpPr/>
          <p:nvPr/>
        </p:nvSpPr>
        <p:spPr>
          <a:xfrm>
            <a:off x="841248" y="5076952"/>
            <a:ext cx="10527487" cy="3774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A policy answer is a conditional trigger. It is probabilistic and it is a commitment, so it owes an acceptance plan, and skipping it is a gate that should have failed.</a:t>
            </a:r>
            <a:endParaRPr lang="en-US" sz="1100" dirty="0"/>
          </a:p>
        </p:txBody>
      </p:sp>
      <p:sp>
        <p:nvSpPr>
          <p:cNvPr id="18" name="Text 16"/>
          <p:cNvSpPr/>
          <p:nvPr/>
        </p:nvSpPr>
        <p:spPr>
          <a:xfrm>
            <a:off x="640080" y="5701284"/>
            <a:ext cx="10911535" cy="384048"/>
          </a:xfrm>
          <a:prstGeom prst="rect">
            <a:avLst/>
          </a:prstGeom>
          <a:noFill/>
          <a:ln/>
        </p:spPr>
        <p:txBody>
          <a:bodyPr wrap="square" lIns="0" tIns="0" rIns="0" bIns="0" rtlCol="0" anchor="t"/>
          <a:lstStyle/>
          <a:p>
            <a:pPr indent="0" marL="0">
              <a:lnSpc>
                <a:spcPct val="110000"/>
              </a:lnSpc>
              <a:buNone/>
            </a:pPr>
            <a:r>
              <a:rPr lang="en-US" sz="950" b="1" spc="160" kern="0" dirty="0">
                <a:solidFill>
                  <a:srgbClr val="9AA1AC"/>
                </a:solidFill>
                <a:latin typeface="Calibri" pitchFamily="34" charset="0"/>
                <a:ea typeface="Calibri" pitchFamily="34" charset="-122"/>
                <a:cs typeface="Calibri" pitchFamily="34" charset="-120"/>
              </a:rPr>
              <a:t>CONFIDENCE  ·  </a:t>
            </a:r>
            <a:pPr indent="0" marL="0">
              <a:lnSpc>
                <a:spcPct val="110000"/>
              </a:lnSpc>
              <a:buNone/>
            </a:pPr>
            <a:r>
              <a:rPr lang="en-US" sz="950" i="1" dirty="0">
                <a:solidFill>
                  <a:srgbClr val="6B7280"/>
                </a:solidFill>
                <a:latin typeface="Calibri" pitchFamily="34" charset="0"/>
                <a:ea typeface="Calibri" pitchFamily="34" charset="-122"/>
                <a:cs typeface="Calibri" pitchFamily="34" charset="-120"/>
              </a:rPr>
              <a:t>Established. A published tribunal decision, not a press report, and quotable in a review.</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THE SET, DECIDED</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The flight agent's set, marked up</a:t>
            </a:r>
            <a:endParaRPr lang="en-US" sz="2550" dirty="0"/>
          </a:p>
        </p:txBody>
      </p:sp>
      <p:sp>
        <p:nvSpPr>
          <p:cNvPr id="4" name="Text 2"/>
          <p:cNvSpPr/>
          <p:nvPr/>
        </p:nvSpPr>
        <p:spPr>
          <a:xfrm>
            <a:off x="640080" y="1060704"/>
            <a:ext cx="10545775" cy="365760"/>
          </a:xfrm>
          <a:prstGeom prst="rect">
            <a:avLst/>
          </a:prstGeom>
          <a:noFill/>
          <a:ln/>
        </p:spPr>
        <p:txBody>
          <a:bodyPr wrap="square" lIns="0" tIns="0" rIns="0" bIns="0" rtlCol="0" anchor="t"/>
          <a:lstStyle/>
          <a:p>
            <a:pPr indent="0" marL="0">
              <a:lnSpc>
                <a:spcPct val="112000"/>
              </a:lnSpc>
              <a:buNone/>
            </a:pPr>
            <a:r>
              <a:rPr lang="en-US" sz="1150" i="1" dirty="0">
                <a:solidFill>
                  <a:srgbClr val="6B7280"/>
                </a:solidFill>
                <a:latin typeface="Calibri" pitchFamily="34" charset="0"/>
                <a:ea typeface="Calibri" pitchFamily="34" charset="-122"/>
                <a:cs typeface="Calibri" pitchFamily="34" charset="-120"/>
              </a:rPr>
              <a:t>For this agent: all five mandatory, three conditional triggered, both optional skipped.</a:t>
            </a:r>
            <a:endParaRPr lang="en-US" sz="1150" dirty="0"/>
          </a:p>
        </p:txBody>
      </p:sp>
      <p:sp>
        <p:nvSpPr>
          <p:cNvPr id="5" name="Text 3"/>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24</a:t>
            </a:r>
            <a:endParaRPr lang="en-US" sz="750" dirty="0"/>
          </a:p>
        </p:txBody>
      </p:sp>
      <p:sp>
        <p:nvSpPr>
          <p:cNvPr id="6" name="Text 4"/>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pic>
        <p:nvPicPr>
          <p:cNvPr id="7" name="Image 0" descr="preencoded.png">    </p:cNvPr>
          <p:cNvPicPr>
            <a:picLocks noChangeAspect="1"/>
          </p:cNvPicPr>
          <p:nvPr/>
        </p:nvPicPr>
        <p:blipFill>
          <a:blip r:embed="rId1"/>
          <a:stretch>
            <a:fillRect/>
          </a:stretch>
        </p:blipFill>
        <p:spPr>
          <a:xfrm>
            <a:off x="1384134" y="1499616"/>
            <a:ext cx="9423427" cy="4087368"/>
          </a:xfrm>
          <a:prstGeom prst="rect">
            <a:avLst/>
          </a:prstGeom>
        </p:spPr>
      </p:pic>
      <p:sp>
        <p:nvSpPr>
          <p:cNvPr id="8" name="Shape 5"/>
          <p:cNvSpPr/>
          <p:nvPr/>
        </p:nvSpPr>
        <p:spPr>
          <a:xfrm>
            <a:off x="640080" y="5760720"/>
            <a:ext cx="10911535" cy="420624"/>
          </a:xfrm>
          <a:prstGeom prst="rect">
            <a:avLst/>
          </a:prstGeom>
          <a:solidFill>
            <a:srgbClr val="E8F0E6"/>
          </a:solidFill>
          <a:ln w="12700">
            <a:solidFill>
              <a:srgbClr val="E8F0E6"/>
            </a:solidFill>
            <a:prstDash val="solid"/>
          </a:ln>
        </p:spPr>
      </p:sp>
      <p:sp>
        <p:nvSpPr>
          <p:cNvPr id="9" name="Shape 6"/>
          <p:cNvSpPr/>
          <p:nvPr/>
        </p:nvSpPr>
        <p:spPr>
          <a:xfrm>
            <a:off x="640080" y="5760720"/>
            <a:ext cx="41148" cy="420624"/>
          </a:xfrm>
          <a:prstGeom prst="rect">
            <a:avLst/>
          </a:prstGeom>
          <a:solidFill>
            <a:srgbClr val="5C7A52"/>
          </a:solidFill>
          <a:ln w="12700">
            <a:solidFill>
              <a:srgbClr val="333333"/>
            </a:solidFill>
            <a:prstDash val="solid"/>
          </a:ln>
        </p:spPr>
      </p:sp>
      <p:sp>
        <p:nvSpPr>
          <p:cNvPr id="10" name="Text 7"/>
          <p:cNvSpPr/>
          <p:nvPr/>
        </p:nvSpPr>
        <p:spPr>
          <a:xfrm>
            <a:off x="841248" y="5861304"/>
            <a:ext cx="10527487" cy="237744"/>
          </a:xfrm>
          <a:prstGeom prst="rect">
            <a:avLst/>
          </a:prstGeom>
          <a:noFill/>
          <a:ln/>
        </p:spPr>
        <p:txBody>
          <a:bodyPr wrap="square" lIns="0" tIns="0" rIns="0" bIns="0" rtlCol="0" anchor="t"/>
          <a:lstStyle/>
          <a:p>
            <a:pPr indent="0" marL="0">
              <a:lnSpc>
                <a:spcPct val="112000"/>
              </a:lnSpc>
              <a:buNone/>
            </a:pPr>
            <a:r>
              <a:rPr lang="en-US" sz="1100" dirty="0">
                <a:solidFill>
                  <a:srgbClr val="445B3D"/>
                </a:solidFill>
                <a:latin typeface="Calibri" pitchFamily="34" charset="0"/>
                <a:ea typeface="Calibri" pitchFamily="34" charset="-122"/>
                <a:cs typeface="Calibri" pitchFamily="34" charset="-120"/>
              </a:rPr>
              <a:t>Before the next session, mark this sheet for one feature of your own and draft its agent spec. Bring the spec.</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10911535" cy="201168"/>
          </a:xfrm>
          <a:prstGeom prst="rect">
            <a:avLst/>
          </a:prstGeom>
          <a:noFill/>
          <a:ln/>
        </p:spPr>
        <p:txBody>
          <a:bodyPr wrap="square" lIns="0" tIns="0" rIns="0" bIns="0" rtlCol="0" anchor="ctr"/>
          <a:lstStyle/>
          <a:p>
            <a:pPr indent="0" marL="0">
              <a:buNone/>
            </a:pPr>
            <a:r>
              <a:rPr lang="en-US" sz="800" b="1" spc="220" kern="0" dirty="0">
                <a:solidFill>
                  <a:srgbClr val="5C7A52"/>
                </a:solidFill>
                <a:latin typeface="Calibri" pitchFamily="34" charset="0"/>
                <a:ea typeface="Calibri" pitchFamily="34" charset="-122"/>
                <a:cs typeface="Calibri" pitchFamily="34" charset="-120"/>
              </a:rPr>
              <a:t>WHAT TO KEEP</a:t>
            </a:r>
            <a:endParaRPr lang="en-US" sz="800" dirty="0"/>
          </a:p>
        </p:txBody>
      </p:sp>
      <p:sp>
        <p:nvSpPr>
          <p:cNvPr id="3" name="Text 1"/>
          <p:cNvSpPr/>
          <p:nvPr/>
        </p:nvSpPr>
        <p:spPr>
          <a:xfrm>
            <a:off x="640080" y="502920"/>
            <a:ext cx="10911535" cy="502920"/>
          </a:xfrm>
          <a:prstGeom prst="rect">
            <a:avLst/>
          </a:prstGeom>
          <a:noFill/>
          <a:ln/>
        </p:spPr>
        <p:txBody>
          <a:bodyPr wrap="square" lIns="0" tIns="0" rIns="0" bIns="0" rtlCol="0" anchor="t"/>
          <a:lstStyle/>
          <a:p>
            <a:pPr indent="0" marL="0">
              <a:buNone/>
            </a:pPr>
            <a:r>
              <a:rPr lang="en-US" sz="2550" b="1" dirty="0">
                <a:solidFill>
                  <a:srgbClr val="1F2937"/>
                </a:solidFill>
                <a:latin typeface="Georgia" pitchFamily="34" charset="0"/>
                <a:ea typeface="Georgia" pitchFamily="34" charset="-122"/>
                <a:cs typeface="Georgia" pitchFamily="34" charset="-120"/>
              </a:rPr>
              <a:t>Four rules from today</a:t>
            </a:r>
            <a:endParaRPr lang="en-US" sz="2550" dirty="0"/>
          </a:p>
        </p:txBody>
      </p:sp>
      <p:sp>
        <p:nvSpPr>
          <p:cNvPr id="4" name="Text 2"/>
          <p:cNvSpPr/>
          <p:nvPr/>
        </p:nvSpPr>
        <p:spPr>
          <a:xfrm>
            <a:off x="640080" y="6492240"/>
            <a:ext cx="914400" cy="201168"/>
          </a:xfrm>
          <a:prstGeom prst="rect">
            <a:avLst/>
          </a:prstGeom>
          <a:noFill/>
          <a:ln/>
        </p:spPr>
        <p:txBody>
          <a:bodyPr wrap="square" lIns="0" tIns="0" rIns="0" bIns="0" rtlCol="0" anchor="ctr"/>
          <a:lstStyle/>
          <a:p>
            <a:pPr indent="0" marL="0">
              <a:buNone/>
            </a:pPr>
            <a:r>
              <a:rPr lang="en-US" sz="750" dirty="0">
                <a:solidFill>
                  <a:srgbClr val="9AA1AC"/>
                </a:solidFill>
                <a:latin typeface="Calibri" pitchFamily="34" charset="0"/>
                <a:ea typeface="Calibri" pitchFamily="34" charset="-122"/>
                <a:cs typeface="Calibri" pitchFamily="34" charset="-120"/>
              </a:rPr>
              <a:t>25</a:t>
            </a:r>
            <a:endParaRPr lang="en-US" sz="750" dirty="0"/>
          </a:p>
        </p:txBody>
      </p:sp>
      <p:sp>
        <p:nvSpPr>
          <p:cNvPr id="5" name="Text 3"/>
          <p:cNvSpPr/>
          <p:nvPr/>
        </p:nvSpPr>
        <p:spPr>
          <a:xfrm>
            <a:off x="6796735" y="6492240"/>
            <a:ext cx="4754880" cy="201168"/>
          </a:xfrm>
          <a:prstGeom prst="rect">
            <a:avLst/>
          </a:prstGeom>
          <a:noFill/>
          <a:ln/>
        </p:spPr>
        <p:txBody>
          <a:bodyPr wrap="square" lIns="0" tIns="0" rIns="0" bIns="0" rtlCol="0" anchor="ctr"/>
          <a:lstStyle/>
          <a:p>
            <a:pPr algn="r" indent="0" marL="0">
              <a:buNone/>
            </a:pPr>
            <a:r>
              <a:rPr lang="en-US" sz="750" dirty="0">
                <a:solidFill>
                  <a:srgbClr val="9AA1AC"/>
                </a:solidFill>
                <a:latin typeface="Calibri" pitchFamily="34" charset="0"/>
                <a:ea typeface="Calibri" pitchFamily="34" charset="-122"/>
                <a:cs typeface="Calibri" pitchFamily="34" charset="-120"/>
              </a:rPr>
              <a:t>Software  ·  Day 3  ·  The Agentic Artefact Set</a:t>
            </a:r>
            <a:endParaRPr lang="en-US" sz="750" dirty="0"/>
          </a:p>
        </p:txBody>
      </p:sp>
      <p:sp>
        <p:nvSpPr>
          <p:cNvPr id="6" name="Text 4"/>
          <p:cNvSpPr/>
          <p:nvPr/>
        </p:nvSpPr>
        <p:spPr>
          <a:xfrm>
            <a:off x="640080" y="1655064"/>
            <a:ext cx="548640" cy="384048"/>
          </a:xfrm>
          <a:prstGeom prst="rect">
            <a:avLst/>
          </a:prstGeom>
          <a:noFill/>
          <a:ln/>
        </p:spPr>
        <p:txBody>
          <a:bodyPr wrap="square" lIns="0" tIns="0" rIns="0" bIns="0" rtlCol="0" anchor="ctr"/>
          <a:lstStyle/>
          <a:p>
            <a:pPr indent="0" marL="0">
              <a:buNone/>
            </a:pPr>
            <a:r>
              <a:rPr lang="en-US" sz="2000" b="1" dirty="0">
                <a:solidFill>
                  <a:srgbClr val="5C7A52"/>
                </a:solidFill>
                <a:latin typeface="Consolas" pitchFamily="34" charset="0"/>
                <a:ea typeface="Consolas" pitchFamily="34" charset="-122"/>
                <a:cs typeface="Consolas" pitchFamily="34" charset="-120"/>
              </a:rPr>
              <a:t>1</a:t>
            </a:r>
            <a:endParaRPr lang="en-US" sz="2000" dirty="0"/>
          </a:p>
        </p:txBody>
      </p:sp>
      <p:sp>
        <p:nvSpPr>
          <p:cNvPr id="7" name="Text 5"/>
          <p:cNvSpPr/>
          <p:nvPr/>
        </p:nvSpPr>
        <p:spPr>
          <a:xfrm>
            <a:off x="1325880" y="1691640"/>
            <a:ext cx="10134295" cy="342138"/>
          </a:xfrm>
          <a:prstGeom prst="rect">
            <a:avLst/>
          </a:prstGeom>
          <a:noFill/>
          <a:ln/>
        </p:spPr>
        <p:txBody>
          <a:bodyPr wrap="square" lIns="0" tIns="0" rIns="0" bIns="0" rtlCol="0" anchor="t"/>
          <a:lstStyle/>
          <a:p>
            <a:pPr indent="0" marL="0">
              <a:lnSpc>
                <a:spcPct val="118000"/>
              </a:lnSpc>
              <a:buNone/>
            </a:pPr>
            <a:r>
              <a:rPr lang="en-US" sz="1500" dirty="0">
                <a:solidFill>
                  <a:srgbClr val="1F2937"/>
                </a:solidFill>
                <a:latin typeface="Calibri" pitchFamily="34" charset="0"/>
                <a:ea typeface="Calibri" pitchFamily="34" charset="-122"/>
                <a:cs typeface="Calibri" pitchFamily="34" charset="-120"/>
              </a:rPr>
              <a:t>You owe the mandatory five for every agent, because they are owed by what the agent is, not by what it does.</a:t>
            </a:r>
            <a:endParaRPr lang="en-US" sz="1500" dirty="0"/>
          </a:p>
        </p:txBody>
      </p:sp>
      <p:sp>
        <p:nvSpPr>
          <p:cNvPr id="8" name="Shape 6"/>
          <p:cNvSpPr/>
          <p:nvPr/>
        </p:nvSpPr>
        <p:spPr>
          <a:xfrm>
            <a:off x="640080" y="2198370"/>
            <a:ext cx="10911535" cy="0"/>
          </a:xfrm>
          <a:prstGeom prst="line">
            <a:avLst/>
          </a:prstGeom>
          <a:noFill/>
          <a:ln w="6350">
            <a:solidFill>
              <a:srgbClr val="E5E7EB"/>
            </a:solidFill>
            <a:prstDash val="solid"/>
          </a:ln>
        </p:spPr>
      </p:sp>
      <p:sp>
        <p:nvSpPr>
          <p:cNvPr id="9" name="Text 7"/>
          <p:cNvSpPr/>
          <p:nvPr/>
        </p:nvSpPr>
        <p:spPr>
          <a:xfrm>
            <a:off x="640080" y="2308098"/>
            <a:ext cx="548640" cy="384048"/>
          </a:xfrm>
          <a:prstGeom prst="rect">
            <a:avLst/>
          </a:prstGeom>
          <a:noFill/>
          <a:ln/>
        </p:spPr>
        <p:txBody>
          <a:bodyPr wrap="square" lIns="0" tIns="0" rIns="0" bIns="0" rtlCol="0" anchor="ctr"/>
          <a:lstStyle/>
          <a:p>
            <a:pPr indent="0" marL="0">
              <a:buNone/>
            </a:pPr>
            <a:r>
              <a:rPr lang="en-US" sz="2000" b="1" dirty="0">
                <a:solidFill>
                  <a:srgbClr val="5C7A52"/>
                </a:solidFill>
                <a:latin typeface="Consolas" pitchFamily="34" charset="0"/>
                <a:ea typeface="Consolas" pitchFamily="34" charset="-122"/>
                <a:cs typeface="Consolas" pitchFamily="34" charset="-120"/>
              </a:rPr>
              <a:t>2</a:t>
            </a:r>
            <a:endParaRPr lang="en-US" sz="2000" dirty="0"/>
          </a:p>
        </p:txBody>
      </p:sp>
      <p:sp>
        <p:nvSpPr>
          <p:cNvPr id="10" name="Text 8"/>
          <p:cNvSpPr/>
          <p:nvPr/>
        </p:nvSpPr>
        <p:spPr>
          <a:xfrm>
            <a:off x="1325880" y="2344674"/>
            <a:ext cx="10134295" cy="574548"/>
          </a:xfrm>
          <a:prstGeom prst="rect">
            <a:avLst/>
          </a:prstGeom>
          <a:noFill/>
          <a:ln/>
        </p:spPr>
        <p:txBody>
          <a:bodyPr wrap="square" lIns="0" tIns="0" rIns="0" bIns="0" rtlCol="0" anchor="t"/>
          <a:lstStyle/>
          <a:p>
            <a:pPr indent="0" marL="0">
              <a:lnSpc>
                <a:spcPct val="118000"/>
              </a:lnSpc>
              <a:buNone/>
            </a:pPr>
            <a:r>
              <a:rPr lang="en-US" sz="1500" dirty="0">
                <a:solidFill>
                  <a:srgbClr val="1F2937"/>
                </a:solidFill>
                <a:latin typeface="Calibri" pitchFamily="34" charset="0"/>
                <a:ea typeface="Calibri" pitchFamily="34" charset="-122"/>
                <a:cs typeface="Calibri" pitchFamily="34" charset="-120"/>
              </a:rPr>
              <a:t>You owe a conditional artefact only when you can name the condition that triggers it, never because it looks thorough.</a:t>
            </a:r>
            <a:endParaRPr lang="en-US" sz="1500" dirty="0"/>
          </a:p>
        </p:txBody>
      </p:sp>
      <p:sp>
        <p:nvSpPr>
          <p:cNvPr id="11" name="Shape 9"/>
          <p:cNvSpPr/>
          <p:nvPr/>
        </p:nvSpPr>
        <p:spPr>
          <a:xfrm>
            <a:off x="640080" y="3083814"/>
            <a:ext cx="10911535" cy="0"/>
          </a:xfrm>
          <a:prstGeom prst="line">
            <a:avLst/>
          </a:prstGeom>
          <a:noFill/>
          <a:ln w="6350">
            <a:solidFill>
              <a:srgbClr val="E5E7EB"/>
            </a:solidFill>
            <a:prstDash val="solid"/>
          </a:ln>
        </p:spPr>
      </p:sp>
      <p:sp>
        <p:nvSpPr>
          <p:cNvPr id="12" name="Text 10"/>
          <p:cNvSpPr/>
          <p:nvPr/>
        </p:nvSpPr>
        <p:spPr>
          <a:xfrm>
            <a:off x="640080" y="3193542"/>
            <a:ext cx="548640" cy="384048"/>
          </a:xfrm>
          <a:prstGeom prst="rect">
            <a:avLst/>
          </a:prstGeom>
          <a:noFill/>
          <a:ln/>
        </p:spPr>
        <p:txBody>
          <a:bodyPr wrap="square" lIns="0" tIns="0" rIns="0" bIns="0" rtlCol="0" anchor="ctr"/>
          <a:lstStyle/>
          <a:p>
            <a:pPr indent="0" marL="0">
              <a:buNone/>
            </a:pPr>
            <a:r>
              <a:rPr lang="en-US" sz="2000" b="1" dirty="0">
                <a:solidFill>
                  <a:srgbClr val="5C7A52"/>
                </a:solidFill>
                <a:latin typeface="Consolas" pitchFamily="34" charset="0"/>
                <a:ea typeface="Consolas" pitchFamily="34" charset="-122"/>
                <a:cs typeface="Consolas" pitchFamily="34" charset="-120"/>
              </a:rPr>
              <a:t>3</a:t>
            </a:r>
            <a:endParaRPr lang="en-US" sz="2000" dirty="0"/>
          </a:p>
        </p:txBody>
      </p:sp>
      <p:sp>
        <p:nvSpPr>
          <p:cNvPr id="13" name="Text 11"/>
          <p:cNvSpPr/>
          <p:nvPr/>
        </p:nvSpPr>
        <p:spPr>
          <a:xfrm>
            <a:off x="1325880" y="3230118"/>
            <a:ext cx="10134295" cy="342138"/>
          </a:xfrm>
          <a:prstGeom prst="rect">
            <a:avLst/>
          </a:prstGeom>
          <a:noFill/>
          <a:ln/>
        </p:spPr>
        <p:txBody>
          <a:bodyPr wrap="square" lIns="0" tIns="0" rIns="0" bIns="0" rtlCol="0" anchor="t"/>
          <a:lstStyle/>
          <a:p>
            <a:pPr indent="0" marL="0">
              <a:lnSpc>
                <a:spcPct val="118000"/>
              </a:lnSpc>
              <a:buNone/>
            </a:pPr>
            <a:r>
              <a:rPr lang="en-US" sz="1500" dirty="0">
                <a:solidFill>
                  <a:srgbClr val="1F2937"/>
                </a:solidFill>
                <a:latin typeface="Calibri" pitchFamily="34" charset="0"/>
                <a:ea typeface="Calibri" pitchFamily="34" charset="-122"/>
                <a:cs typeface="Calibri" pitchFamily="34" charset="-120"/>
              </a:rPr>
              <a:t>An agent spec is six fields, and its boundary field is the autonomy line you already wrote on Day 2.</a:t>
            </a:r>
            <a:endParaRPr lang="en-US" sz="1500" dirty="0"/>
          </a:p>
        </p:txBody>
      </p:sp>
      <p:sp>
        <p:nvSpPr>
          <p:cNvPr id="14" name="Shape 12"/>
          <p:cNvSpPr/>
          <p:nvPr/>
        </p:nvSpPr>
        <p:spPr>
          <a:xfrm>
            <a:off x="640080" y="3736848"/>
            <a:ext cx="10911535" cy="0"/>
          </a:xfrm>
          <a:prstGeom prst="line">
            <a:avLst/>
          </a:prstGeom>
          <a:noFill/>
          <a:ln w="6350">
            <a:solidFill>
              <a:srgbClr val="E5E7EB"/>
            </a:solidFill>
            <a:prstDash val="solid"/>
          </a:ln>
        </p:spPr>
      </p:sp>
      <p:sp>
        <p:nvSpPr>
          <p:cNvPr id="15" name="Text 13"/>
          <p:cNvSpPr/>
          <p:nvPr/>
        </p:nvSpPr>
        <p:spPr>
          <a:xfrm>
            <a:off x="640080" y="3846576"/>
            <a:ext cx="548640" cy="384048"/>
          </a:xfrm>
          <a:prstGeom prst="rect">
            <a:avLst/>
          </a:prstGeom>
          <a:noFill/>
          <a:ln/>
        </p:spPr>
        <p:txBody>
          <a:bodyPr wrap="square" lIns="0" tIns="0" rIns="0" bIns="0" rtlCol="0" anchor="ctr"/>
          <a:lstStyle/>
          <a:p>
            <a:pPr indent="0" marL="0">
              <a:buNone/>
            </a:pPr>
            <a:r>
              <a:rPr lang="en-US" sz="2000" b="1" dirty="0">
                <a:solidFill>
                  <a:srgbClr val="5C7A52"/>
                </a:solidFill>
                <a:latin typeface="Consolas" pitchFamily="34" charset="0"/>
                <a:ea typeface="Consolas" pitchFamily="34" charset="-122"/>
                <a:cs typeface="Consolas" pitchFamily="34" charset="-120"/>
              </a:rPr>
              <a:t>4</a:t>
            </a:r>
            <a:endParaRPr lang="en-US" sz="2000" dirty="0"/>
          </a:p>
        </p:txBody>
      </p:sp>
      <p:sp>
        <p:nvSpPr>
          <p:cNvPr id="16" name="Text 14"/>
          <p:cNvSpPr/>
          <p:nvPr/>
        </p:nvSpPr>
        <p:spPr>
          <a:xfrm>
            <a:off x="1325880" y="3883152"/>
            <a:ext cx="10134295" cy="342138"/>
          </a:xfrm>
          <a:prstGeom prst="rect">
            <a:avLst/>
          </a:prstGeom>
          <a:noFill/>
          <a:ln/>
        </p:spPr>
        <p:txBody>
          <a:bodyPr wrap="square" lIns="0" tIns="0" rIns="0" bIns="0" rtlCol="0" anchor="t"/>
          <a:lstStyle/>
          <a:p>
            <a:pPr indent="0" marL="0">
              <a:lnSpc>
                <a:spcPct val="118000"/>
              </a:lnSpc>
              <a:buNone/>
            </a:pPr>
            <a:r>
              <a:rPr lang="en-US" sz="1500" dirty="0">
                <a:solidFill>
                  <a:srgbClr val="1F2937"/>
                </a:solidFill>
                <a:latin typeface="Calibri" pitchFamily="34" charset="0"/>
                <a:ea typeface="Calibri" pitchFamily="34" charset="-122"/>
                <a:cs typeface="Calibri" pitchFamily="34" charset="-120"/>
              </a:rPr>
              <a:t>An artefact is firmed at P1, measured at P2 and audited at P3, and it is never rewritten, only grown.</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F2937"/>
        </a:solidFill>
      </p:bgPr>
    </p:bg>
    <p:spTree>
      <p:nvGrpSpPr>
        <p:cNvPr id="1" name=""/>
        <p:cNvGrpSpPr/>
        <p:nvPr/>
      </p:nvGrpSpPr>
      <p:grpSpPr>
        <a:xfrm>
          <a:off x="0" y="0"/>
          <a:ext cx="0" cy="0"/>
          <a:chOff x="0" y="0"/>
          <a:chExt cx="0" cy="0"/>
        </a:xfrm>
      </p:grpSpPr>
      <p:sp>
        <p:nvSpPr>
          <p:cNvPr id="2" name="Text 0"/>
          <p:cNvSpPr/>
          <p:nvPr/>
        </p:nvSpPr>
        <p:spPr>
          <a:xfrm>
            <a:off x="640080" y="658368"/>
            <a:ext cx="10911535" cy="219456"/>
          </a:xfrm>
          <a:prstGeom prst="rect">
            <a:avLst/>
          </a:prstGeom>
          <a:noFill/>
          <a:ln/>
        </p:spPr>
        <p:txBody>
          <a:bodyPr wrap="square" lIns="0" tIns="0" rIns="0" bIns="0" rtlCol="0" anchor="ctr"/>
          <a:lstStyle/>
          <a:p>
            <a:pPr indent="0" marL="0">
              <a:buNone/>
            </a:pPr>
            <a:r>
              <a:rPr lang="en-US" sz="850" b="1" spc="220" kern="0" dirty="0">
                <a:solidFill>
                  <a:srgbClr val="9CC0A0"/>
                </a:solidFill>
                <a:latin typeface="Calibri" pitchFamily="34" charset="0"/>
                <a:ea typeface="Calibri" pitchFamily="34" charset="-122"/>
                <a:cs typeface="Calibri" pitchFamily="34" charset="-120"/>
              </a:rPr>
              <a:t>STILL OPEN</a:t>
            </a:r>
            <a:endParaRPr lang="en-US" sz="850" dirty="0"/>
          </a:p>
        </p:txBody>
      </p:sp>
      <p:sp>
        <p:nvSpPr>
          <p:cNvPr id="3" name="Text 1"/>
          <p:cNvSpPr/>
          <p:nvPr/>
        </p:nvSpPr>
        <p:spPr>
          <a:xfrm>
            <a:off x="640080" y="1133856"/>
            <a:ext cx="1005840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What the set does not yet decide</a:t>
            </a:r>
            <a:endParaRPr lang="en-US" sz="3200" dirty="0"/>
          </a:p>
        </p:txBody>
      </p:sp>
      <p:sp>
        <p:nvSpPr>
          <p:cNvPr id="4" name="Text 2"/>
          <p:cNvSpPr/>
          <p:nvPr/>
        </p:nvSpPr>
        <p:spPr>
          <a:xfrm>
            <a:off x="640080" y="2377440"/>
            <a:ext cx="329184" cy="329184"/>
          </a:xfrm>
          <a:prstGeom prst="rect">
            <a:avLst/>
          </a:prstGeom>
          <a:noFill/>
          <a:ln/>
        </p:spPr>
        <p:txBody>
          <a:bodyPr wrap="square" lIns="0" tIns="0" rIns="0" bIns="0" rtlCol="0" anchor="ctr"/>
          <a:lstStyle/>
          <a:p>
            <a:pPr indent="0" marL="0">
              <a:buNone/>
            </a:pPr>
            <a:r>
              <a:rPr lang="en-US" sz="1700" b="1" dirty="0">
                <a:solidFill>
                  <a:srgbClr val="9CC0A0"/>
                </a:solidFill>
                <a:latin typeface="Georgia" pitchFamily="34" charset="0"/>
                <a:ea typeface="Georgia" pitchFamily="34" charset="-122"/>
                <a:cs typeface="Georgia" pitchFamily="34" charset="-120"/>
              </a:rPr>
              <a:t>?</a:t>
            </a:r>
            <a:endParaRPr lang="en-US" sz="1700" dirty="0"/>
          </a:p>
        </p:txBody>
      </p:sp>
      <p:sp>
        <p:nvSpPr>
          <p:cNvPr id="5" name="Text 3"/>
          <p:cNvSpPr/>
          <p:nvPr/>
        </p:nvSpPr>
        <p:spPr>
          <a:xfrm>
            <a:off x="1005840" y="2395728"/>
            <a:ext cx="9692640" cy="420624"/>
          </a:xfrm>
          <a:prstGeom prst="rect">
            <a:avLst/>
          </a:prstGeom>
          <a:noFill/>
          <a:ln/>
        </p:spPr>
        <p:txBody>
          <a:bodyPr wrap="square" lIns="0" tIns="0" rIns="0" bIns="0" rtlCol="0" anchor="ctr"/>
          <a:lstStyle/>
          <a:p>
            <a:pPr indent="0" marL="0">
              <a:lnSpc>
                <a:spcPct val="110000"/>
              </a:lnSpc>
              <a:buNone/>
            </a:pPr>
            <a:r>
              <a:rPr lang="en-US" sz="1500" dirty="0">
                <a:solidFill>
                  <a:srgbClr val="FFFFFF"/>
                </a:solidFill>
                <a:latin typeface="Calibri" pitchFamily="34" charset="0"/>
                <a:ea typeface="Calibri" pitchFamily="34" charset="-122"/>
                <a:cs typeface="Calibri" pitchFamily="34" charset="-120"/>
              </a:rPr>
              <a:t>How you show a reviewer evidence rather than a claim at the gate</a:t>
            </a:r>
            <a:endParaRPr lang="en-US" sz="1500" dirty="0"/>
          </a:p>
        </p:txBody>
      </p:sp>
      <p:sp>
        <p:nvSpPr>
          <p:cNvPr id="6" name="Text 4"/>
          <p:cNvSpPr/>
          <p:nvPr/>
        </p:nvSpPr>
        <p:spPr>
          <a:xfrm>
            <a:off x="640080" y="2980944"/>
            <a:ext cx="329184" cy="329184"/>
          </a:xfrm>
          <a:prstGeom prst="rect">
            <a:avLst/>
          </a:prstGeom>
          <a:noFill/>
          <a:ln/>
        </p:spPr>
        <p:txBody>
          <a:bodyPr wrap="square" lIns="0" tIns="0" rIns="0" bIns="0" rtlCol="0" anchor="ctr"/>
          <a:lstStyle/>
          <a:p>
            <a:pPr indent="0" marL="0">
              <a:buNone/>
            </a:pPr>
            <a:r>
              <a:rPr lang="en-US" sz="1700" b="1" dirty="0">
                <a:solidFill>
                  <a:srgbClr val="9CC0A0"/>
                </a:solidFill>
                <a:latin typeface="Georgia" pitchFamily="34" charset="0"/>
                <a:ea typeface="Georgia" pitchFamily="34" charset="-122"/>
                <a:cs typeface="Georgia" pitchFamily="34" charset="-120"/>
              </a:rPr>
              <a:t>?</a:t>
            </a:r>
            <a:endParaRPr lang="en-US" sz="1700" dirty="0"/>
          </a:p>
        </p:txBody>
      </p:sp>
      <p:sp>
        <p:nvSpPr>
          <p:cNvPr id="7" name="Text 5"/>
          <p:cNvSpPr/>
          <p:nvPr/>
        </p:nvSpPr>
        <p:spPr>
          <a:xfrm>
            <a:off x="1005840" y="2999232"/>
            <a:ext cx="9692640" cy="420624"/>
          </a:xfrm>
          <a:prstGeom prst="rect">
            <a:avLst/>
          </a:prstGeom>
          <a:noFill/>
          <a:ln/>
        </p:spPr>
        <p:txBody>
          <a:bodyPr wrap="square" lIns="0" tIns="0" rIns="0" bIns="0" rtlCol="0" anchor="ctr"/>
          <a:lstStyle/>
          <a:p>
            <a:pPr indent="0" marL="0">
              <a:lnSpc>
                <a:spcPct val="110000"/>
              </a:lnSpc>
              <a:buNone/>
            </a:pPr>
            <a:r>
              <a:rPr lang="en-US" sz="1500" dirty="0">
                <a:solidFill>
                  <a:srgbClr val="FFFFFF"/>
                </a:solidFill>
                <a:latin typeface="Calibri" pitchFamily="34" charset="0"/>
                <a:ea typeface="Calibri" pitchFamily="34" charset="-122"/>
                <a:cs typeface="Calibri" pitchFamily="34" charset="-120"/>
              </a:rPr>
              <a:t>How the set is kept current once the model version changes underneath it</a:t>
            </a:r>
            <a:endParaRPr lang="en-US" sz="1500" dirty="0"/>
          </a:p>
        </p:txBody>
      </p:sp>
      <p:sp>
        <p:nvSpPr>
          <p:cNvPr id="8" name="Text 6"/>
          <p:cNvSpPr/>
          <p:nvPr/>
        </p:nvSpPr>
        <p:spPr>
          <a:xfrm>
            <a:off x="640080" y="3584448"/>
            <a:ext cx="329184" cy="329184"/>
          </a:xfrm>
          <a:prstGeom prst="rect">
            <a:avLst/>
          </a:prstGeom>
          <a:noFill/>
          <a:ln/>
        </p:spPr>
        <p:txBody>
          <a:bodyPr wrap="square" lIns="0" tIns="0" rIns="0" bIns="0" rtlCol="0" anchor="ctr"/>
          <a:lstStyle/>
          <a:p>
            <a:pPr indent="0" marL="0">
              <a:buNone/>
            </a:pPr>
            <a:r>
              <a:rPr lang="en-US" sz="1700" b="1" dirty="0">
                <a:solidFill>
                  <a:srgbClr val="9CC0A0"/>
                </a:solidFill>
                <a:latin typeface="Georgia" pitchFamily="34" charset="0"/>
                <a:ea typeface="Georgia" pitchFamily="34" charset="-122"/>
                <a:cs typeface="Georgia" pitchFamily="34" charset="-120"/>
              </a:rPr>
              <a:t>?</a:t>
            </a:r>
            <a:endParaRPr lang="en-US" sz="1700" dirty="0"/>
          </a:p>
        </p:txBody>
      </p:sp>
      <p:sp>
        <p:nvSpPr>
          <p:cNvPr id="9" name="Text 7"/>
          <p:cNvSpPr/>
          <p:nvPr/>
        </p:nvSpPr>
        <p:spPr>
          <a:xfrm>
            <a:off x="1005840" y="3602736"/>
            <a:ext cx="9692640" cy="420624"/>
          </a:xfrm>
          <a:prstGeom prst="rect">
            <a:avLst/>
          </a:prstGeom>
          <a:noFill/>
          <a:ln/>
        </p:spPr>
        <p:txBody>
          <a:bodyPr wrap="square" lIns="0" tIns="0" rIns="0" bIns="0" rtlCol="0" anchor="ctr"/>
          <a:lstStyle/>
          <a:p>
            <a:pPr indent="0" marL="0">
              <a:lnSpc>
                <a:spcPct val="110000"/>
              </a:lnSpc>
              <a:buNone/>
            </a:pPr>
            <a:r>
              <a:rPr lang="en-US" sz="1500" dirty="0">
                <a:solidFill>
                  <a:srgbClr val="FFFFFF"/>
                </a:solidFill>
                <a:latin typeface="Calibri" pitchFamily="34" charset="0"/>
                <a:ea typeface="Calibri" pitchFamily="34" charset="-122"/>
                <a:cs typeface="Calibri" pitchFamily="34" charset="-120"/>
              </a:rPr>
              <a:t>How several agents' registry entries fit together once more than one is live</a:t>
            </a:r>
            <a:endParaRPr lang="en-US" sz="1500" dirty="0"/>
          </a:p>
        </p:txBody>
      </p:sp>
      <p:sp>
        <p:nvSpPr>
          <p:cNvPr id="10" name="Shape 8"/>
          <p:cNvSpPr/>
          <p:nvPr/>
        </p:nvSpPr>
        <p:spPr>
          <a:xfrm>
            <a:off x="640080" y="4407408"/>
            <a:ext cx="3840480" cy="0"/>
          </a:xfrm>
          <a:prstGeom prst="line">
            <a:avLst/>
          </a:prstGeom>
          <a:noFill/>
          <a:ln w="12700">
            <a:solidFill>
              <a:srgbClr val="3B4658"/>
            </a:solidFill>
            <a:prstDash val="solid"/>
          </a:ln>
        </p:spPr>
      </p:sp>
      <p:sp>
        <p:nvSpPr>
          <p:cNvPr id="11" name="Text 9"/>
          <p:cNvSpPr/>
          <p:nvPr/>
        </p:nvSpPr>
        <p:spPr>
          <a:xfrm>
            <a:off x="640080" y="4663440"/>
            <a:ext cx="10058400" cy="457200"/>
          </a:xfrm>
          <a:prstGeom prst="rect">
            <a:avLst/>
          </a:prstGeom>
          <a:noFill/>
          <a:ln/>
        </p:spPr>
        <p:txBody>
          <a:bodyPr wrap="square" lIns="0" tIns="0" rIns="0" bIns="0" rtlCol="0" anchor="ctr"/>
          <a:lstStyle/>
          <a:p>
            <a:pPr indent="0" marL="0">
              <a:buNone/>
            </a:pPr>
            <a:r>
              <a:rPr lang="en-US" sz="1350" i="1" dirty="0">
                <a:solidFill>
                  <a:srgbClr val="B7BEC8"/>
                </a:solidFill>
                <a:latin typeface="Calibri" pitchFamily="34" charset="0"/>
                <a:ea typeface="Calibri" pitchFamily="34" charset="-122"/>
                <a:cs typeface="Calibri" pitchFamily="34" charset="-120"/>
              </a:rPr>
              <a:t>Session 4 takes one feature from your own backlog through the full set, in Productboard, on screen.</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2026-08-31T11:08:30Z</dcterms:created>
  <dcterms:modified xsi:type="dcterms:W3CDTF">2026-08-31T11:08:30Z</dcterms:modified>
</cp:coreProperties>
</file>