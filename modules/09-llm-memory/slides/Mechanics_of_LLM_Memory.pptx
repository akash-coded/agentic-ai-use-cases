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1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161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61616"/>
                </a:solidFill>
                <a:latin typeface="Arial"/>
              </a:rPr>
              <a:t>Tokens re-billed climb faster than turns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history re-sent</c:v>
                </c:pt>
              </c:strCache>
            </c:strRef>
          </c:tx>
          <c:spPr>
            <a:solidFill>
              <a:srgbClr val="E600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16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10</c:v>
                </c:pt>
                <c:pt idx="4">
                  <c:v>15</c:v>
                </c:pt>
                <c:pt idx="5">
                  <c:v>21</c:v>
                </c:pt>
                <c:pt idx="6">
                  <c:v>28</c:v>
                </c:pt>
                <c:pt idx="7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16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B6B7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B6B70"/>
                    </a:solidFill>
                    <a:latin typeface="Arial"/>
                  </a:rPr>
                  <a:t>Turn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Q1 'I do not have your PNR' - statelessness, no memory between calls. Q2 (b) the re-sent text. Q3 (b) pipes each stage output into the next. Q4 messages.append(reply) after invoke. Q5 (b) multiple replicas, each own in-memory store = Instance Amnesia. Q6 FALSE - caching discounts re-reading, does not replace the notepad. Do NOT reveal now; each answer is earned by a later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Q7 the second customer is told 'peanuts' - shared session id leaks across people (WHO axis). Q8 only Postgres rows and the SQLite file survive; dict and 2-min msgs are wiped. Q9 get_session_history=Retrieve, MessagesPlaceholder=Augment, wrapper appending=Log. Q10 workspace secrets are separate from deployment secrets; add them in the Deployments pane. Q11 target answer: memory = Retrieve past turns, Augment the prompt, Invoke, Log the exchange, keyed by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A1 messages.append(reply) after the invoke. A2 'the BLR-DEL leg' - all turns were logged. A3 Augment ran before the new question was added, so every answer is one turn behind. A4 store={} then messages = store.setdefault(customer_id, [SystemMessage('Airline support.')]). A5 true: flattening loses roles, placeholder preserves them, system re-sent each call; false: roles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B1 session_id = customer_id (a real per-customer value). B2 placeholder 'chat_history' must match history_messages_key='history'; input_messages_key='question' must match the {input} slot. B3 cust-rao has 1 message, no 'Doha' - factory isolates by id. B4 dict wiped on redeploy, turn 1 gone, WHERE axis. B5 turn 2 lands on a replica that never saw turn 1, so it forgets at random = Instance Amnesia; fix: move the store out of process to a shared backend (Redis / Postgres).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R1 the app re-sends past turns as tokens each call. R2 get_session_history=Retrieve, MessagesPlaceholder=Augment, wrapper appends=Log. R3 FALSE - you still re-send; caching only skips recomputing the identical prefix. R4 in-memory dict, SQLite, Redis, Postgres, LangGraph checkpointer. R5 Instance Amnesia; fix: move the store out of process to Redis or Postgres. R6 store={} ; def get_session_history(sid): if sid not in store: store[sid]=InMemoryChatMessageHistory(); return store[sid].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777240"/>
            <a:ext cx="2286000" cy="228600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292840" y="2834640"/>
            <a:ext cx="457200" cy="457200"/>
          </a:xfrm>
          <a:prstGeom prst="ellipse">
            <a:avLst/>
          </a:prstGeom>
          <a:solidFill>
            <a:srgbClr val="FBE7F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3063240"/>
            <a:ext cx="256032" cy="25603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ACADEMY   ·   AGENTIC AI TRACK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8412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6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Mechanics of</a:t>
            </a:r>
            <a:endParaRPr lang="en-US" sz="6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Memory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by hand, watch it break, then let LangChain carry it.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651053" cy="402336"/>
          </a:xfrm>
          <a:prstGeom prst="roundRect">
            <a:avLst>
              <a:gd name="adj" fmla="val 50000"/>
            </a:avLst>
          </a:prstGeom>
          <a:solidFill>
            <a:srgbClr val="FBE7F2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20640"/>
            <a:ext cx="65105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675181" y="5120640"/>
            <a:ext cx="2521915" cy="402336"/>
          </a:xfrm>
          <a:prstGeom prst="roundRect">
            <a:avLst>
              <a:gd name="adj" fmla="val 50000"/>
            </a:avLst>
          </a:prstGeom>
          <a:solidFill>
            <a:srgbClr val="FBE7F2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75181" y="5120640"/>
            <a:ext cx="25219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InMemoryChatMessageHistory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98264" y="5120640"/>
            <a:ext cx="2521915" cy="402336"/>
          </a:xfrm>
          <a:prstGeom prst="roundRect">
            <a:avLst>
              <a:gd name="adj" fmla="val 50000"/>
            </a:avLst>
          </a:prstGeom>
          <a:solidFill>
            <a:srgbClr val="FBE7F2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4" y="5120640"/>
            <a:ext cx="25219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RunnableWithMessageHistory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21347" y="5120640"/>
            <a:ext cx="1246327" cy="402336"/>
          </a:xfrm>
          <a:prstGeom prst="roundRect">
            <a:avLst>
              <a:gd name="adj" fmla="val 50000"/>
            </a:avLst>
          </a:prstGeom>
          <a:solidFill>
            <a:srgbClr val="FBE7F2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21347" y="5120640"/>
            <a:ext cx="12463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68842" y="5120640"/>
            <a:ext cx="821131" cy="402336"/>
          </a:xfrm>
          <a:prstGeom prst="roundRect">
            <a:avLst>
              <a:gd name="adj" fmla="val 50000"/>
            </a:avLst>
          </a:prstGeom>
          <a:solidFill>
            <a:srgbClr val="FBE7F2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68842" y="5120640"/>
            <a:ext cx="8211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length 1 h 45 m   ·   Client-facing GenAI engineer scenario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the engineer in the room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GenAI engineer (Forward Deployed) at an airline client. You shipped a customer support copilot two weeks ago. The whole session is a sequence of bug reports from the Head of CX. Each one has a root cause, a named diagnosis, and a fix.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358384" cy="3566160"/>
          </a:xfrm>
          <a:prstGeom prst="roundRect">
            <a:avLst>
              <a:gd name="adj" fmla="val 2051"/>
            </a:avLst>
          </a:prstGeom>
          <a:solidFill>
            <a:srgbClr val="F5F5F8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457200" cy="45720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GenAI engineer / FDE who owns the copilot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3858768"/>
            <a:ext cx="457200" cy="45720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381304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customer: Gold tier, PNR JX48Q2, BLR to DEL leg cancelled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4791456"/>
            <a:ext cx="457200" cy="45720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4745736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CX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stakeholder who reports every bug to you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81928" y="2331720"/>
            <a:ext cx="5358384" cy="3566160"/>
          </a:xfrm>
          <a:prstGeom prst="roundRect">
            <a:avLst>
              <a:gd name="adj" fmla="val 2051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10528" y="24871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0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lenses run in parallel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10528" y="2926080"/>
          <a:ext cx="4901184" cy="914400"/>
        </p:xfrm>
        <a:graphic>
          <a:graphicData uri="http://schemas.openxmlformats.org/drawingml/2006/table">
            <a:tbl>
              <a:tblPr/>
              <a:tblGrid>
                <a:gridCol w="2450592"/>
                <a:gridCol w="245059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remember correctly?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one conversation cost?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Thread-safe and isolated?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two customers ever mixed?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Survives a restart?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p95 latency does the SLA promise?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of show: 105 minutes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766560"/>
                <a:gridCol w="9144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Cold-open quiz (problem first)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stateless wall + live demo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memory by hand, watch it break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+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A: Fix the broken 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 to LCEL + prompt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Primitives: InMemory + RunnableWithMessageHistory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IDs and isolation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B: Instance Amnesia hunt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Replit deploy: hot memory + the dictionary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depth: bloat, Replay Tax, KV cache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view + recap quiz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toolkit for the hour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BE7F2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8132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Retrieve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" y="1600200"/>
            <a:ext cx="365760" cy="3657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72968" y="1783080"/>
            <a:ext cx="256032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1481328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BE7F2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48132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Augment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57016" y="1600200"/>
            <a:ext cx="365760" cy="3657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53328" y="1783080"/>
            <a:ext cx="256032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1481328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BE7F2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48132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Invoke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37376" y="1600200"/>
            <a:ext cx="365760" cy="3657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9" name="Text 17"/>
          <p:cNvSpPr/>
          <p:nvPr/>
        </p:nvSpPr>
        <p:spPr>
          <a:xfrm>
            <a:off x="643737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933688" y="1783080"/>
            <a:ext cx="256032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89720" y="1481328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BE7F2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148132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317736" y="1600200"/>
            <a:ext cx="365760" cy="3657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24" name="Text 22"/>
          <p:cNvSpPr/>
          <p:nvPr/>
        </p:nvSpPr>
        <p:spPr>
          <a:xfrm>
            <a:off x="931773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215798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is the spine: every memory system runs these four steps in order. Miss one and the train derails in a specific, predictable way.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2651760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2852928"/>
            <a:ext cx="310896" cy="310896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28" name="Text 26"/>
          <p:cNvSpPr/>
          <p:nvPr/>
        </p:nvSpPr>
        <p:spPr>
          <a:xfrm>
            <a:off x="1188720" y="2834640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Principle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" y="3401568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model forgets at all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55848" y="2651760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57016" y="2852928"/>
            <a:ext cx="310896" cy="310896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2" name="Text 30"/>
          <p:cNvSpPr/>
          <p:nvPr/>
        </p:nvSpPr>
        <p:spPr>
          <a:xfrm>
            <a:off x="3995928" y="2834640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Model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57016" y="3401568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any memory bug: WHO / HOW / WHERE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63056" y="2651760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64224" y="2852928"/>
            <a:ext cx="310896" cy="310896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6" name="Text 34"/>
          <p:cNvSpPr/>
          <p:nvPr/>
        </p:nvSpPr>
        <p:spPr>
          <a:xfrm>
            <a:off x="6803136" y="2834640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Tax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64224" y="3401568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remembering costs, in tokens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970264" y="2651760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171432" y="2852928"/>
            <a:ext cx="310896" cy="310896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40" name="Text 38"/>
          <p:cNvSpPr/>
          <p:nvPr/>
        </p:nvSpPr>
        <p:spPr>
          <a:xfrm>
            <a:off x="9610344" y="2834640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Amnesia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171432" y="3401568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forgets in prod, not on your laptop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315968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49808" y="4517136"/>
            <a:ext cx="310896" cy="310896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44" name="Text 42"/>
          <p:cNvSpPr/>
          <p:nvPr/>
        </p:nvSpPr>
        <p:spPr>
          <a:xfrm>
            <a:off x="1188720" y="4498848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Test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49808" y="5065776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vs production, one question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355848" y="4315968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557016" y="4517136"/>
            <a:ext cx="310896" cy="310896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48" name="Text 46"/>
          <p:cNvSpPr/>
          <p:nvPr/>
        </p:nvSpPr>
        <p:spPr>
          <a:xfrm>
            <a:off x="3995928" y="4498848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Ladder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557016" y="5065776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roadmap, demo to scale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63056" y="4315968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64224" y="4517136"/>
            <a:ext cx="310896" cy="310896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52" name="Text 50"/>
          <p:cNvSpPr/>
          <p:nvPr/>
        </p:nvSpPr>
        <p:spPr>
          <a:xfrm>
            <a:off x="6803136" y="4498848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Prefix-First Prompting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364224" y="5065776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earn the caching discount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970264" y="4315968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171432" y="4517136"/>
            <a:ext cx="310896" cy="310896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56" name="Text 54"/>
          <p:cNvSpPr/>
          <p:nvPr/>
        </p:nvSpPr>
        <p:spPr>
          <a:xfrm>
            <a:off x="9610344" y="4498848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 design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9171432" y="5065776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shares a memory, on purpose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TERRITORY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map for the whole hour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26864" y="1481328"/>
            <a:ext cx="2926080" cy="603504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26864" y="148132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MEMORY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465576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2752344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660904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3118104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model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Principle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1688" y="2514600"/>
            <a:ext cx="3465576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2752344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2660904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by hand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118104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loop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derailments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74736" y="2514600"/>
            <a:ext cx="3465576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94192" y="2752344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8" name="Text 16"/>
          <p:cNvSpPr/>
          <p:nvPr/>
        </p:nvSpPr>
        <p:spPr>
          <a:xfrm>
            <a:off x="8677656" y="2660904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Refactor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30768" y="3118104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pipe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MessagesPlaceholder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33672"/>
            <a:ext cx="3465576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44714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379976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Primitives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4837176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InMemoryChatMessageHistory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RunnableWithMessageHistory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61688" y="4233672"/>
            <a:ext cx="3465576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81144" y="44714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4379976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17720" y="4837176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Model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74736" y="4233672"/>
            <a:ext cx="3465576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94192" y="44714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0" name="Text 28"/>
          <p:cNvSpPr/>
          <p:nvPr/>
        </p:nvSpPr>
        <p:spPr>
          <a:xfrm>
            <a:off x="8677656" y="4379976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30768" y="4837176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Amnesia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Tax + KV cache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2148840"/>
            <a:ext cx="2468880" cy="246888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915400" y="210312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800" dirty="0"/>
          </a:p>
        </p:txBody>
      </p:sp>
      <p:sp>
        <p:nvSpPr>
          <p:cNvPr id="4" name="Shape 2"/>
          <p:cNvSpPr/>
          <p:nvPr/>
        </p:nvSpPr>
        <p:spPr>
          <a:xfrm>
            <a:off x="11109960" y="1600200"/>
            <a:ext cx="384048" cy="384048"/>
          </a:xfrm>
          <a:prstGeom prst="ellipse">
            <a:avLst/>
          </a:prstGeom>
          <a:solidFill>
            <a:srgbClr val="FBE7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Cold-open quiz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50392" y="41605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 gut. No reveal yet. Count how many you are unsure about. That count is today's target.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·  COLD-OPEN QUIZ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the questions (1 of 2)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166420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 PREDICT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1975104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called twice in one process: it learns the PNR, then is asked for it. What does call two answer, and why?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81928" y="1517904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01384" y="166420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 CHOOSE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01384" y="1975104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copilot recalls Rao's PNR, that recall physically lives in: weights / the re-sent text / server session / a cookie?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" y="321868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 READ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" y="3529584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chain = prompt | model | StrOutputParser()  what does the pipe do?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81928" y="3072384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01384" y="321868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 SPOT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01384" y="3529584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hand-rolled loop that never appends the reply gives the bot amnesia for its own answers. Which line is missing?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626864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8096" y="477316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 PROD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" y="5084064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Flawless on your laptop, forgets ~1 call in 3 in production. Most likely cause?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81928" y="4626864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01384" y="477316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 T/F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01384" y="5084064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makes the model actually remember, so you can stop re-sending history.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·  COLD-OPEN QUIZ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the questions (2 of 2)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166420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 PREDICT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1975104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session_id='default' for everyone. Rao says he is allergic to peanuts; a different customer then asks what they are allergic to. Result?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81928" y="1517904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01384" y="166420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  MULTI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01384" y="1975104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Replit restart, which survive if history is a plain in-memory dict? 2-min-old msgs / Postgres rows / dict values / SQLite file?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" y="321868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  MATCH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" y="3529584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to a RAIL step: get_session_history, MessagesPlaceholder, the wrapper appending both turns.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81928" y="3072384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01384" y="321868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  CASE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01384" y="3529584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Run, crashes deployed reading the API key as None. Nothing changed. Cause?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626864"/>
            <a:ext cx="11091672" cy="1298448"/>
          </a:xfrm>
          <a:prstGeom prst="roundRect">
            <a:avLst>
              <a:gd name="adj" fmla="val 5634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791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40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  ·  DISCUSS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10235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has no memory of its own, what exactly are you building when you 'add memory'? One sentence.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2148840"/>
            <a:ext cx="2468880" cy="246888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915400" y="210312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800" dirty="0"/>
          </a:p>
        </p:txBody>
      </p:sp>
      <p:sp>
        <p:nvSpPr>
          <p:cNvPr id="4" name="Shape 2"/>
          <p:cNvSpPr/>
          <p:nvPr/>
        </p:nvSpPr>
        <p:spPr>
          <a:xfrm>
            <a:off x="11109960" y="1600200"/>
            <a:ext cx="384048" cy="384048"/>
          </a:xfrm>
          <a:prstGeom prst="ellipse">
            <a:avLst/>
          </a:prstGeom>
          <a:solidFill>
            <a:srgbClr val="FBE7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stateless wall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50392" y="41605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0. Demo day. Rao types three messages. On the third, the copilot asks for his PNR again.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 ·  THE CORE FACT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Goldfish Principle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6766560" cy="18288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00784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to an LLM is stateless. The model is a goldfish: it wakes up, reads only the page in front of it, answers, then forgets everything the instant it finishes.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0" y="155448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state kept between two calls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know what it said 5 seconds ago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calls in one script are as unrelated as two strangers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is a pure function: same tokens in, same distribution out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11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never inside the fish.  </a:t>
            </a:r>
            <a:pPr indent="0" marL="0">
              <a:buNone/>
            </a:pPr>
            <a:r>
              <a:rPr lang="en-US" sz="15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notepad you clip to the bowl and read aloud, in full, every single call.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Skeptic: 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“ChatGPT clearly remembers my last message.”  Correct, and it is doing exactly this: re-sending prior turns as text. The remembering lives in the plumbing, not the model.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 ·  THE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model. Different notepad.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 ·  no notepad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my PNR?”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2249424"/>
            <a:ext cx="457200" cy="0"/>
          </a:xfrm>
          <a:prstGeom prst="line">
            <a:avLst/>
          </a:prstGeom>
          <a:noFill/>
          <a:ln w="22225">
            <a:solidFill>
              <a:srgbClr val="16161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31920" y="1920240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F5F5F8"/>
          </a:solidFill>
          <a:ln w="15875">
            <a:solidFill>
              <a:srgbClr val="6B6B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9202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sees only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2249424"/>
            <a:ext cx="457200" cy="0"/>
          </a:xfrm>
          <a:prstGeom prst="line">
            <a:avLst/>
          </a:prstGeom>
          <a:noFill/>
          <a:ln w="22225">
            <a:solidFill>
              <a:srgbClr val="16161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863840" y="1920240"/>
            <a:ext cx="37490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19202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 not have your PNR”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NOTEPAD  ·  history replayed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56432"/>
            <a:ext cx="5394960" cy="822960"/>
          </a:xfrm>
          <a:prstGeom prst="roundRect">
            <a:avLst>
              <a:gd name="adj" fmla="val 7778"/>
            </a:avLst>
          </a:prstGeom>
          <a:solidFill>
            <a:srgbClr val="FBE7F2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5643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 am Rao, PNR JX48Q2 ]  +  [ Noted ]  +  [ What is my PNR? 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3867912"/>
            <a:ext cx="457200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83680" y="3456432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F5F5F8"/>
          </a:solidFill>
          <a:ln w="15875">
            <a:solidFill>
              <a:srgbClr val="6B6B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45643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61120" y="3867912"/>
            <a:ext cx="457200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09760" y="3456432"/>
            <a:ext cx="21031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345643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PNR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JX48Q2”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5F5F8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709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difference is what the Copilot chose to put in the brackets. </a:t>
            </a:r>
            <a:pPr indent="0" marL="0">
              <a:buNone/>
            </a:pPr>
            <a:r>
              <a:rPr lang="en-US" sz="14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goldfish. You either hand it the notepad, or you do not.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 ·  REFRAME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“Adding memory” decodes to four steps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  <a:gridCol w="429768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 step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words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 skip 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this user's past turns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to remember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paste them into the prompt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never sees the past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Invoke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the 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answer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the new exchange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turn forgets this turn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92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892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memory tool, from a 6-line loop to LangGraph checkpointers, is a fancier RAIL.  </a:t>
            </a:r>
            <a:pPr indent="0" marL="0">
              <a:buNone/>
            </a:pPr>
            <a:r>
              <a:rPr lang="en-US" sz="14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hour is implementation detail.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 ·  ANTICIPATED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before you take questions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73936"/>
            <a:ext cx="365760" cy="3657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7556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bigger model or higher temperature add memory?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17627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Statelessness is architectural, not a setting. A larger goldfish is still a goldfish.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200400"/>
            <a:ext cx="365760" cy="3657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1821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system prompts persist across calls?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602736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you re-send them. The system message is part of the notepad, not stored server-side.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626864"/>
            <a:ext cx="365760" cy="3657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460857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 per-key server memory?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5029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conversational memory. The API does not stitch your calls together for you.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2148840"/>
            <a:ext cx="2468880" cy="246888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915400" y="210312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800" dirty="0"/>
          </a:p>
        </p:txBody>
      </p:sp>
      <p:sp>
        <p:nvSpPr>
          <p:cNvPr id="4" name="Shape 2"/>
          <p:cNvSpPr/>
          <p:nvPr/>
        </p:nvSpPr>
        <p:spPr>
          <a:xfrm>
            <a:off x="11109960" y="1600200"/>
            <a:ext cx="384048" cy="384048"/>
          </a:xfrm>
          <a:prstGeom prst="ellipse">
            <a:avLst/>
          </a:prstGeom>
          <a:solidFill>
            <a:srgbClr val="FBE7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by hand, watch it break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50392" y="41605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1. Before reaching for any library, build the notepad yourself. Fastest way to see what every tool quietly does, and exactly where it snaps.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·  THE MANUAL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RAIL, hand-rolled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F3F3F6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36776"/>
            <a:ext cx="6126480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langchain_anthropic import ChatAnthropic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langchain_core.messages import (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HumanMessage, AIMessage, SystemMessage)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ChatAnthropic(model="claude-haiku-4-5")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[SystemMessage(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"You are a concise airline support agent.")]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ask(user_text):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messages.append(HumanMessage(user_text))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40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reply = model.invoke(messages)   # Augment+Invoke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messages.append(reply)           # Log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reply.content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0" y="1554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part is doing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2011680"/>
            <a:ext cx="384048" cy="384048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18120" y="197510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notepad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message rides in the list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0" y="2706624"/>
            <a:ext cx="384048" cy="384048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18120" y="26700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the question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model sees 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0" y="3401568"/>
            <a:ext cx="384048" cy="384048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18120" y="336499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on the full list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+ Invoke together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0" y="4096512"/>
            <a:ext cx="384048" cy="384048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818120" y="405993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the reply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next turn remembers it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0" y="4892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works. Now break it four ways, on purpose.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·  DERAILMENTS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the train leaves the track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5358384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7739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the Log of the AI turn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2395728"/>
            <a:ext cx="4901184" cy="1371600"/>
          </a:xfrm>
          <a:prstGeom prst="roundRect">
            <a:avLst>
              <a:gd name="adj" fmla="val 4000"/>
            </a:avLst>
          </a:prstGeom>
          <a:solidFill>
            <a:srgbClr val="F3F3F6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514600"/>
            <a:ext cx="45354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ask(user_text):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messages.append(HumanMessage(user_text))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reply = model.invoke(messages)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B40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messages.append(reply)  &lt;-- removed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reply.content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4901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 re-asks for info it already gave and contradicts itself.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617720"/>
            <a:ext cx="4901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sees its own answers. The L in RAIL is half-done.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81928" y="1517904"/>
            <a:ext cx="5358384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0528" y="1737360"/>
            <a:ext cx="457200" cy="45720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6" name="Text 14"/>
          <p:cNvSpPr/>
          <p:nvPr/>
        </p:nvSpPr>
        <p:spPr>
          <a:xfrm>
            <a:off x="651052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04888" y="17739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order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10528" y="2395728"/>
            <a:ext cx="4901184" cy="1371600"/>
          </a:xfrm>
          <a:prstGeom prst="roundRect">
            <a:avLst>
              <a:gd name="adj" fmla="val 4000"/>
            </a:avLst>
          </a:prstGeom>
          <a:solidFill>
            <a:srgbClr val="F3F3F6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2514600"/>
            <a:ext cx="45354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ask(user_text):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B40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reply = model.invoke(messages)   # too early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messages.append(HumanMessage(user_text))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messages.append(reply)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reply.content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10528" y="3931920"/>
            <a:ext cx="4901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one turn behind.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10528" y="4617720"/>
            <a:ext cx="4901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ran on stale history, before the new question landed. Order inside RAIL is not optional.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·  DERAILMENTS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more, and both cost you the client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5358384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7739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list for all customers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514600"/>
            <a:ext cx="20116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14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Rao: JX48Q2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66160" y="2514600"/>
            <a:ext cx="20116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514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 B: 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194560" y="3291840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F5F5F8"/>
          </a:solidFill>
          <a:ln w="15875">
            <a:solidFill>
              <a:srgbClr val="6B6B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3291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list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74520" y="3081528"/>
            <a:ext cx="0" cy="182880"/>
          </a:xfrm>
          <a:prstGeom prst="line">
            <a:avLst/>
          </a:prstGeom>
          <a:noFill/>
          <a:ln w="22225">
            <a:solidFill>
              <a:srgbClr val="16161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0" y="3081528"/>
            <a:ext cx="0" cy="182880"/>
          </a:xfrm>
          <a:prstGeom prst="line">
            <a:avLst/>
          </a:prstGeom>
          <a:noFill/>
          <a:ln w="22225">
            <a:solidFill>
              <a:srgbClr val="16161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874520" y="3264408"/>
            <a:ext cx="1325880" cy="0"/>
          </a:xfrm>
          <a:prstGeom prst="line">
            <a:avLst/>
          </a:prstGeom>
          <a:noFill/>
          <a:ln w="15875">
            <a:solidFill>
              <a:srgbClr val="6B6B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3264408"/>
            <a:ext cx="-1371600" cy="0"/>
          </a:xfrm>
          <a:prstGeom prst="line">
            <a:avLst/>
          </a:prstGeom>
          <a:noFill/>
          <a:ln w="15875">
            <a:solidFill>
              <a:srgbClr val="6B6B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4114800"/>
            <a:ext cx="32918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4114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told Rao's PNR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0" y="3877056"/>
            <a:ext cx="0" cy="219456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77240" y="4800600"/>
            <a:ext cx="4901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 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 on the notepad. A data-isolation incident.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81928" y="1517904"/>
            <a:ext cx="5358384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10528" y="1737360"/>
            <a:ext cx="457200" cy="45720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26" name="Text 24"/>
          <p:cNvSpPr/>
          <p:nvPr/>
        </p:nvSpPr>
        <p:spPr>
          <a:xfrm>
            <a:off x="651052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04888" y="17739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 history to a string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10528" y="2395728"/>
            <a:ext cx="4901184" cy="1234440"/>
          </a:xfrm>
          <a:prstGeom prst="roundRect">
            <a:avLst>
              <a:gd name="adj" fmla="val 4444"/>
            </a:avLst>
          </a:prstGeom>
          <a:solidFill>
            <a:srgbClr val="F3F3F6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2514600"/>
            <a:ext cx="453542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 = "\n".join(m.content for m in messages)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model.invoke("History:\n" + hist +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B40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"\nUser: " + user_text)  # roles lost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10528" y="3794760"/>
            <a:ext cx="4901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treats its own past replies as user commands.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10528" y="4480560"/>
            <a:ext cx="4901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were thrown away. This is exactly why MessagesPlaceholder exists: it keeps role-typed messages intact.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·  THE 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failures. Four named fixes.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learning four random APIs. You are buying back four specific failures.</a:t>
            </a:r>
            <a:endParaRPr lang="en-US" sz="13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2648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Derailment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tool that fixes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·  Forgot to Log the AI turn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RunnableWithMessageHistory logs both turns for you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·  Wrong 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RunnableWithMessageHistory owns the ordering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·  Shared list, cross-talk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session_id + a per-session store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·  Roles flattened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MessagesPlaceholder preserves role-typed 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·  ACTIVITY A  ·  9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broken loop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Pairs. On paper, no running. Answer key is in the speaker notes.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20116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 FIX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2304288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gives amnesia for its own replies. Add the one missing line.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81928" y="187452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01384" y="20116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 PREDICT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01384" y="2304288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three turns (Rao, cancel BLR-DEL, “what did I ask to cancel?”). What does call three return?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3832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 SPOT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" y="3675888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RAIL step is wrong when invoke() runs before appending the question, and what is the symptom?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81928" y="324612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01384" y="33832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 CODE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01384" y="3675888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customers leak into each other. Write two lines that give each their own list keyed by customer_id.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91672" cy="1133856"/>
          </a:xfrm>
          <a:prstGeom prst="roundRect">
            <a:avLst>
              <a:gd name="adj" fmla="val 6452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7640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40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 ·  MULTI-SELECT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0749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are true about roles: interchangeable text / flattening loses roles / placeholder preserves them / system re-sent each call?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2148840"/>
            <a:ext cx="2468880" cy="246888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915400" y="210312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800" dirty="0"/>
          </a:p>
        </p:txBody>
      </p:sp>
      <p:sp>
        <p:nvSpPr>
          <p:cNvPr id="4" name="Shape 2"/>
          <p:cNvSpPr/>
          <p:nvPr/>
        </p:nvSpPr>
        <p:spPr>
          <a:xfrm>
            <a:off x="11109960" y="1600200"/>
            <a:ext cx="384048" cy="384048"/>
          </a:xfrm>
          <a:prstGeom prst="ellipse">
            <a:avLst/>
          </a:prstGeom>
          <a:solidFill>
            <a:srgbClr val="FBE7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to LCEL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50392" y="41605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2. Your hand-rolled loop hit 40 lines with formatting, ordering, and per-user plumbing tangled. Every change risks a derailment. Let LangChain own the wiring.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·  THE WIRING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LCEL: one interface, snap-together stations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building block is a Runnable, and every Runnable speaks the same verbs. </a:t>
            </a:r>
            <a:pPr indent="0" marL="0">
              <a:buNone/>
            </a:pPr>
            <a:r>
              <a:rPr lang="en-US" sz="14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 connects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089965" cy="384048"/>
          </a:xfrm>
          <a:prstGeom prst="roundRect">
            <a:avLst>
              <a:gd name="adj" fmla="val 50000"/>
            </a:avLst>
          </a:prstGeom>
          <a:solidFill>
            <a:srgbClr val="F5F5F8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10899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invoke( 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1485" y="1965960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F5F5F8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1485" y="19659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batch([ ])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4797" y="1965960"/>
            <a:ext cx="1089965" cy="384048"/>
          </a:xfrm>
          <a:prstGeom prst="roundRect">
            <a:avLst>
              <a:gd name="adj" fmla="val 50000"/>
            </a:avLst>
          </a:prstGeom>
          <a:solidFill>
            <a:srgbClr val="F5F5F8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4797" y="1965960"/>
            <a:ext cx="10899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stream( 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47642" y="1965960"/>
            <a:ext cx="2457907" cy="384048"/>
          </a:xfrm>
          <a:prstGeom prst="roundRect">
            <a:avLst>
              <a:gd name="adj" fmla="val 50000"/>
            </a:avLst>
          </a:prstGeom>
          <a:solidFill>
            <a:srgbClr val="F5F5F8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7642" y="1965960"/>
            <a:ext cx="24579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ainvoke / abatch / astream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ASSEMBLY 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F5F5F8"/>
          </a:solidFill>
          <a:ln w="15875">
            <a:solidFill>
              <a:srgbClr val="6B6B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632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dict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32888" y="3406140"/>
            <a:ext cx="292608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843784" y="306324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9504" y="30632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28032" y="3406140"/>
            <a:ext cx="292608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38928" y="306324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48" y="30632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23176" y="3406140"/>
            <a:ext cx="292608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34072" y="306324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9792" y="30632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418320" y="3406140"/>
            <a:ext cx="292608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29216" y="306324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FBE7F2"/>
          </a:solidFill>
          <a:ln w="15875">
            <a:solidFill>
              <a:srgbClr val="B400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74936" y="30632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“Final string”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16052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3F3F6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279392"/>
            <a:ext cx="10698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ChatPromptTemplate.from_messages([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("system", "You are a concise airline support agent."),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("human", "{input}") ])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ChatAnthropic(model="claude-haiku-4-5", temperature=0)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prompt | model | StrOutputParser()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·  THE HISTORY SLOT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history in the prompt, roles intact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5943600" cy="1965960"/>
          </a:xfrm>
          <a:prstGeom prst="roundRect">
            <a:avLst>
              <a:gd name="adj" fmla="val 2791"/>
            </a:avLst>
          </a:prstGeom>
          <a:solidFill>
            <a:srgbClr val="F3F3F6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36776"/>
            <a:ext cx="557784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langchain_core.prompts import (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ChatPromptTemplate, MessagesPlaceholder)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ChatPromptTemplate.from_messages([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("system", "You are airline support."),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B40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MessagesPlaceholder("history"),  # past turns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("human", "{input}"),  # new question, last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517904"/>
          <a:ext cx="496519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3134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("system", ...)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first (caching later)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MessagesPlaceholder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Derailment 4: roles flattened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("human", "{input}")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Derailment 2: bad ordering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84048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005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0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that matters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" y="443484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 (stable)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977640" y="4754880"/>
            <a:ext cx="320040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343400" y="443484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 (grows)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498080" y="4754880"/>
            <a:ext cx="320040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863840" y="443484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0956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(volatile, last)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2960" y="51937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System, then history, then input. Correct ordering now, cache-friendly ordering in Part 8. Same ordering.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2148840"/>
            <a:ext cx="2468880" cy="246888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915400" y="210312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800" dirty="0"/>
          </a:p>
        </p:txBody>
      </p:sp>
      <p:sp>
        <p:nvSpPr>
          <p:cNvPr id="4" name="Shape 2"/>
          <p:cNvSpPr/>
          <p:nvPr/>
        </p:nvSpPr>
        <p:spPr>
          <a:xfrm>
            <a:off x="11109960" y="1600200"/>
            <a:ext cx="384048" cy="384048"/>
          </a:xfrm>
          <a:prstGeom prst="ellipse">
            <a:avLst/>
          </a:prstGeom>
          <a:solidFill>
            <a:srgbClr val="FBE7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primitives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50392" y="41605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3. The chain answers well but forgets between turns, because nobody is doing Retrieve or Log yet. Add the two primitives that own those steps.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 ·  STORAGE  (WHERE)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InMemoryChatMessageHistory: a list with manners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5943600" cy="2286000"/>
          </a:xfrm>
          <a:prstGeom prst="roundRect">
            <a:avLst>
              <a:gd name="adj" fmla="val 2400"/>
            </a:avLst>
          </a:prstGeom>
          <a:solidFill>
            <a:srgbClr val="F3F3F6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36776"/>
            <a:ext cx="55778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langchain_core.chat_history import \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InMemoryChatMessageHistory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InMemoryChatMessageHistory()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h.add_user_message("I am Rao, PNR JX48Q2.")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h.add_ai_message("Noted, Rao.")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h.messages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[HumanMessage(...), AIMessage(...)]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517904"/>
          <a:ext cx="49651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877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.messages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stored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.add_user_message()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a human 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.add_ai_message()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an AI 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.add_messages([ ])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a batch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.clear()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wipe this conversation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06908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42245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Test:  </a:t>
            </a:r>
            <a:pPr indent="0" marL="0">
              <a:buNone/>
            </a:pPr>
            <a:r>
              <a:rPr lang="en-US" sz="14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process restarts, does this survive?  </a:t>
            </a:r>
            <a:pPr indent="0" marL="0">
              <a:buNone/>
            </a:pPr>
            <a:r>
              <a:rPr lang="en-US" sz="145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pPr indent="0" marL="0">
              <a:buNone/>
            </a:pPr>
            <a:r>
              <a:rPr lang="en-US" sz="14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 it is a dev-time store. Remember that verdict for Part 7.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48920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stated plainly:  not durable (restart wipes it)   ·   not shared (a second process cannot see it)   ·   not bounded (grows until you trim or clear).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 ·  MANY CUSTOMERS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dictionary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5943600" cy="2194560"/>
          </a:xfrm>
          <a:prstGeom prst="roundRect">
            <a:avLst>
              <a:gd name="adj" fmla="val 2500"/>
            </a:avLst>
          </a:prstGeom>
          <a:solidFill>
            <a:srgbClr val="F3F3F6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36776"/>
            <a:ext cx="55778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store: dict[str, BaseChatMessageHistory] = {}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get_session_history(session_id):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session_id not in store: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store[session_id] = \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InMemoryChatMessageHistory()</a:t>
            </a:r>
            <a:endParaRPr lang="en-US" sz="1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store[session_id]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517904"/>
          <a:ext cx="49651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278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to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id maps to that customer's notepad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lookup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scanning, instant fetch each 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 in 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“hot memory”: fast, no disk or network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97764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133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0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catch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45262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dict is single-process, not thread-safe under load, has no expiry, and grows forever.  </a:t>
            </a:r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is, in one line, this same dict moved out of your process onto a shared server with expiry and eviction.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 ·  WIRING  (HOW)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RunnableWithMessageHistory automates RAIL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719072" cy="658368"/>
          </a:xfrm>
          <a:prstGeom prst="roundRect">
            <a:avLst>
              <a:gd name="adj" fmla="val 9722"/>
            </a:avLst>
          </a:prstGeom>
          <a:solidFill>
            <a:srgbClr val="F5F5F8"/>
          </a:solidFill>
          <a:ln w="15875">
            <a:solidFill>
              <a:srgbClr val="6B6B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invoke( input, session_id 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76856" y="1883664"/>
            <a:ext cx="118872" cy="0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04872" y="1554480"/>
            <a:ext cx="171907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55448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history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33088" y="1883664"/>
            <a:ext cx="118872" cy="0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61104" y="1554480"/>
            <a:ext cx="171907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6824" y="155448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prompt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883664"/>
            <a:ext cx="118872" cy="0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17336" y="1554480"/>
            <a:ext cx="171907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55448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chain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45552" y="1883664"/>
            <a:ext cx="118872" cy="0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973568" y="1554480"/>
            <a:ext cx="171907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9288" y="155448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both turns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01784" y="1883664"/>
            <a:ext cx="118872" cy="0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29800" y="1554480"/>
            <a:ext cx="1719072" cy="658368"/>
          </a:xfrm>
          <a:prstGeom prst="roundRect">
            <a:avLst>
              <a:gd name="adj" fmla="val 9722"/>
            </a:avLst>
          </a:prstGeom>
          <a:solidFill>
            <a:srgbClr val="FBE7F2"/>
          </a:solidFill>
          <a:ln w="15875">
            <a:solidFill>
              <a:srgbClr val="B400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155448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answer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606040"/>
            <a:ext cx="5943600" cy="1828800"/>
          </a:xfrm>
          <a:prstGeom prst="roundRect">
            <a:avLst>
              <a:gd name="adj" fmla="val 3000"/>
            </a:avLst>
          </a:prstGeom>
          <a:solidFill>
            <a:srgbClr val="F3F3F6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724912"/>
            <a:ext cx="55778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langchain_core.runnables.history \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 RunnableWithMessageHistory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 = RunnableWithMessageHistory(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chain, get_session_history,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input_messages_key="input",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history_messages_key="history")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606040"/>
          <a:ext cx="49651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535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right because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thing being wrapped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get_session_history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called with the id to fetch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input_messages_key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 as the human 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history_messages_key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equal the placeholder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silent failure: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history_messages_key does not match the placeholder name. History is fetched, dropped into a slot that does not exist, and the bot “forgets.” A HOW-axis bug, not a model bug.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 ·  CONTINUITY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 in, memory out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5943600" cy="2148840"/>
          </a:xfrm>
          <a:prstGeom prst="roundRect">
            <a:avLst>
              <a:gd name="adj" fmla="val 2553"/>
            </a:avLst>
          </a:prstGeom>
          <a:solidFill>
            <a:srgbClr val="F3F3F6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36776"/>
            <a:ext cx="557784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copilot.invoke(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{"input": "I am Rao, PNR JX48Q2, Gold."},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B40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config={"configurable":{"session_id":"cust-rao"}})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copilot.invoke(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{"input": "What is my PNR?"},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B40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config={"configurable":{"session_id":"cust-rao"}})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9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JX48Q2  (both calls share cust-rao)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517904"/>
          <a:ext cx="49651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27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on call two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cust-rao, gets turn 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injects it into the history slot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now sees the PNR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appends this Q and A to cust-rao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675120" y="3794760"/>
            <a:ext cx="4965192" cy="1828800"/>
          </a:xfrm>
          <a:prstGeom prst="roundRect">
            <a:avLst>
              <a:gd name="adj" fmla="val 4000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03720" y="395020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id, get a clean conversation. Same id, continuity.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03720" y="46634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trick, and it is Derailments 1, 2, and 4 gone in one wrapper.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794760"/>
            <a:ext cx="5943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Redis go?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4315968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Redis-backed history from get_session_history. The chain and the wrapper do not change. WHERE moves, HOW and WHO stay put.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 ·  ANTICIPATED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before you take questions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73936"/>
            <a:ext cx="365760" cy="3657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7556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RunnableWithMessageHistory deprecated?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17627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Current LangChain marks it deprecated, and it still runs. Use it to see the four RAIL steps as one object; ship LangGraph persistence (Part 9) for new code.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200400"/>
            <a:ext cx="365760" cy="3657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1821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chain returns a dict, not a string. Now what?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602736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output_messages_key so the wrapper knows which key to log.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626864"/>
            <a:ext cx="365760" cy="3657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460857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trim old messages?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5029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It stores everything. Trimming is Part 8, and you will want it.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2148840"/>
            <a:ext cx="2468880" cy="246888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915400" y="210312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800" dirty="0"/>
          </a:p>
        </p:txBody>
      </p:sp>
      <p:sp>
        <p:nvSpPr>
          <p:cNvPr id="4" name="Shape 2"/>
          <p:cNvSpPr/>
          <p:nvPr/>
        </p:nvSpPr>
        <p:spPr>
          <a:xfrm>
            <a:off x="11109960" y="1600200"/>
            <a:ext cx="384048" cy="384048"/>
          </a:xfrm>
          <a:prstGeom prst="ellipse">
            <a:avLst/>
          </a:prstGeom>
          <a:solidFill>
            <a:srgbClr val="FBE7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IDs and isolation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50392" y="41605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4. The Head of CX asks the question that decides your compliance story: can two customers ever see each other's chat?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 ·  THE ROUTING KEY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session id decides who shares a memory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2286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286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774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customer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468880" cy="658368"/>
          </a:xfrm>
          <a:prstGeom prst="roundRect">
            <a:avLst>
              <a:gd name="adj" fmla="val 9722"/>
            </a:avLst>
          </a:prstGeom>
          <a:solidFill>
            <a:srgbClr val="F5F5F8"/>
          </a:solidFill>
          <a:ln w="15875">
            <a:solidFill>
              <a:srgbClr val="6B6B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9202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get_session_history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80360" y="1856232"/>
            <a:ext cx="457200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80360" y="2660904"/>
            <a:ext cx="457200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46520" y="1572768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5727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Rao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3774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97880" y="1965960"/>
            <a:ext cx="502920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97880" y="2606040"/>
            <a:ext cx="502920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732520" y="1572768"/>
            <a:ext cx="2880360" cy="566928"/>
          </a:xfrm>
          <a:prstGeom prst="roundRect">
            <a:avLst>
              <a:gd name="adj" fmla="val 11290"/>
            </a:avLst>
          </a:prstGeom>
          <a:solidFill>
            <a:srgbClr val="FBE7F2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157276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sees only Rao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732520" y="2377440"/>
            <a:ext cx="2880360" cy="566928"/>
          </a:xfrm>
          <a:prstGeom prst="roundRect">
            <a:avLst>
              <a:gd name="adj" fmla="val 11290"/>
            </a:avLst>
          </a:prstGeom>
          <a:solidFill>
            <a:srgbClr val="FBE7F2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23774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sees only X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21040" y="1856232"/>
            <a:ext cx="365760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321040" y="2660904"/>
            <a:ext cx="365760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91840"/>
                <a:gridCol w="475488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choice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browser tab (UUID)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tab loses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logged-in 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their chats merge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ever-growing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+ conversation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thread per person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track thread ids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tenant / API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org shares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cross-user leakage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48640" y="53766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Skeptic:  </a:t>
            </a:r>
            <a:pPr indent="0" marL="0">
              <a:lnSpc>
                <a:spcPct val="103000"/>
              </a:lnSpc>
              <a:buNone/>
            </a:pPr>
            <a:r>
              <a:rPr lang="en-US" sz="12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guessable id (a bare email) lets customer B read Rao's history by passing Rao's id. Nothing stops it at the memory layer. Treat a session id like a password to a conversation.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 ·  ACTIVITY B  ·  11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Amnesia hunt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Pairs. Real production bugs. Find the bad line, give a one-line fix. Answer key in speaker notes.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20116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 FIX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2304288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shares one conversation. session_id='default'. Fix in one line.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81928" y="187452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01384" y="20116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 REVIEW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01384" y="2304288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is 'chat_history' but wiring says 'history'; input key is 'question' not 'input'. Name both bugs.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3832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  TRACE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" y="3675888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cust-rao and cust-x. After both calls, how many messages in cust-rao, and does it contain “Doha”?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81928" y="324612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01384" y="33832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  RESTART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01384" y="3675888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dict store, 6 turns, app redeploys, turn 7 asks “what did I say first?” Result and which axis?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91672" cy="1133856"/>
          </a:xfrm>
          <a:prstGeom prst="roundRect">
            <a:avLst>
              <a:gd name="adj" fmla="val 6452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7640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40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  ·  THE PRODUCTION ONE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0749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replicas, own dict each. Turn 1 hits A, turn 2 hits B. What does Rao experience, name it, one fix.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2148840"/>
            <a:ext cx="2468880" cy="246888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915400" y="210312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800" dirty="0"/>
          </a:p>
        </p:txBody>
      </p:sp>
      <p:sp>
        <p:nvSpPr>
          <p:cNvPr id="4" name="Shape 2"/>
          <p:cNvSpPr/>
          <p:nvPr/>
        </p:nvSpPr>
        <p:spPr>
          <a:xfrm>
            <a:off x="11109960" y="1600200"/>
            <a:ext cx="384048" cy="384048"/>
          </a:xfrm>
          <a:prstGeom prst="ellipse">
            <a:avLst/>
          </a:prstGeom>
          <a:solidFill>
            <a:srgbClr val="FBE7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Replit and Instance Amnesia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50392" y="41605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5. You deploy. It forgets customers at random, ~1 call in 3, and only in production. Your laptop never saw this.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 ·  THE DEBUGGING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3-Axis Model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memory setup is three independent choices. Almost every bug is two of them tangled.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465576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2185416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6007E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2185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40280" y="2221992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283464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
</a:t>
            </a:r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3502152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thread_id, customer id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61688" y="1965960"/>
            <a:ext cx="3465576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81144" y="2185416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6007E"/>
          </a:solidFill>
          <a:ln/>
        </p:spPr>
      </p:sp>
      <p:sp>
        <p:nvSpPr>
          <p:cNvPr id="15" name="Text 13"/>
          <p:cNvSpPr/>
          <p:nvPr/>
        </p:nvSpPr>
        <p:spPr>
          <a:xfrm>
            <a:off x="4581144" y="2185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53328" y="2221992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17720" y="283464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
</a:t>
            </a:r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RunnableWithMessageHistory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17720" y="3502152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checkpointer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74736" y="1965960"/>
            <a:ext cx="3465576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94192" y="2185416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6007E"/>
          </a:solidFill>
          <a:ln/>
        </p:spPr>
      </p:sp>
      <p:sp>
        <p:nvSpPr>
          <p:cNvPr id="21" name="Text 19"/>
          <p:cNvSpPr/>
          <p:nvPr/>
        </p:nvSpPr>
        <p:spPr>
          <a:xfrm>
            <a:off x="8394192" y="2185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66376" y="2221992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30768" y="283464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
</a:t>
            </a:r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dict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30768" y="3502152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Redis, Postgres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5262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bot forgot” is usually WHO (wrong key) or WHERE (storage wiped or not shared), almost never the model.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axes separate and bugs sort themselves.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 ·  THE DEPLOY TRAP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Replit secrets, and cold-open Q10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5943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38912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keys 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pane (lock icon), encrypted at 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os.environ["KEY"]  or  os.getenv(...)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trap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 secrets are separate from deployment secrets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75120" y="1572768"/>
            <a:ext cx="4965192" cy="1965960"/>
          </a:xfrm>
          <a:prstGeom prst="roundRect">
            <a:avLst>
              <a:gd name="adj" fmla="val 2791"/>
            </a:avLst>
          </a:prstGeom>
          <a:solidFill>
            <a:srgbClr val="F3F3F6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0" y="1691640"/>
            <a:ext cx="4599432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 = os.environ.get(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"ANTHROPIC_API_KEY")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api_key: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B40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RuntimeError("Add it in the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B40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Deployments Secrets pane.")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is_deployed = os.getenv(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"REPLIT_DEPLOYMENT") == "1"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3950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Q10, answered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437083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in the workspace, crashed deployed, because the secret was never added on the deployment side.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 in the Deployments pane, not only the workspace.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5120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number one cause of “it works locally” deployment failures on Replit.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 ·  THE PRODUCTION WALL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Amnesia, drawn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3583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190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 1  ·  restart wipes RAM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2331720"/>
            <a:ext cx="1463040" cy="822960"/>
          </a:xfrm>
          <a:prstGeom prst="roundRect">
            <a:avLst>
              <a:gd name="adj" fmla="val 7778"/>
            </a:avLst>
          </a:prstGeom>
          <a:solidFill>
            <a:srgbClr val="F5F5F8"/>
          </a:solidFill>
          <a:ln w="15875">
            <a:solidFill>
              <a:srgbClr val="6B6B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331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dict: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2743200"/>
            <a:ext cx="164592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77440" y="2331720"/>
            <a:ext cx="14630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2331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sleep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58768" y="2743200"/>
            <a:ext cx="164592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41648" y="2331720"/>
            <a:ext cx="14630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87368" y="2331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81928" y="1572768"/>
            <a:ext cx="53583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10528" y="17190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 2  ·  autoscale spreads load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46520" y="2331720"/>
            <a:ext cx="1463040" cy="822960"/>
          </a:xfrm>
          <a:prstGeom prst="roundRect">
            <a:avLst>
              <a:gd name="adj" fmla="val 7778"/>
            </a:avLst>
          </a:prstGeom>
          <a:solidFill>
            <a:srgbClr val="F5F5F8"/>
          </a:solidFill>
          <a:ln w="15875">
            <a:solidFill>
              <a:srgbClr val="6B6B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331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27848" y="2743200"/>
            <a:ext cx="164592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10728" y="2331720"/>
            <a:ext cx="14630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6448" y="2331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92056" y="2743200"/>
            <a:ext cx="164592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74936" y="233172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0656" y="2331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B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(empty)</a:t>
            </a:r>
            <a:endParaRPr lang="en-US" sz="11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Rao sees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 wipes 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“forgot everything overnight”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non-durable WHERE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Autoscale spreads 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“forgets randomly, works sometimes”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replicas, unshared WHERE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48640" y="5138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Single-instance (Reserved VM) hides the autoscale trap while running, so it looks fixed in testing and returns under real traffic. Sticky sessions is a band-aid: a redeploy still wipes that replica's RAM.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 ·  GATE AND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Restart Test and the Persistence Ladder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5358384" cy="4114800"/>
          </a:xfrm>
          <a:prstGeom prst="roundRect">
            <a:avLst>
              <a:gd name="adj" fmla="val 1778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007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0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Restart Test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process restarts right now, does the customer's history survive?</a:t>
            </a:r>
            <a:endParaRPr lang="en-US" sz="15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926080"/>
          <a:ext cx="480974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24358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22960" y="5257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one instance only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81928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Persistence Ladder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81928" y="2011680"/>
            <a:ext cx="4700016" cy="530352"/>
          </a:xfrm>
          <a:prstGeom prst="roundRect">
            <a:avLst>
              <a:gd name="adj" fmla="val 12069"/>
            </a:avLst>
          </a:prstGeom>
          <a:solidFill>
            <a:srgbClr val="F5F5F8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27648" y="2011680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64808" y="2011680"/>
            <a:ext cx="4425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0   </a:t>
            </a:r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dict</a:t>
            </a:r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notebooks, demos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01968" y="2542032"/>
            <a:ext cx="0" cy="128016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81928" y="2670048"/>
            <a:ext cx="4864608" cy="530352"/>
          </a:xfrm>
          <a:prstGeom prst="roundRect">
            <a:avLst>
              <a:gd name="adj" fmla="val 12069"/>
            </a:avLst>
          </a:prstGeom>
          <a:solidFill>
            <a:srgbClr val="F5F5F8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27648" y="2670048"/>
            <a:ext cx="4773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64808" y="2670048"/>
            <a:ext cx="4590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1   </a:t>
            </a:r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file</a:t>
            </a:r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single instance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601968" y="3200400"/>
            <a:ext cx="0" cy="128016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281928" y="3328416"/>
            <a:ext cx="5029200" cy="530352"/>
          </a:xfrm>
          <a:prstGeom prst="roundRect">
            <a:avLst>
              <a:gd name="adj" fmla="val 12069"/>
            </a:avLst>
          </a:prstGeom>
          <a:solidFill>
            <a:srgbClr val="FBE7F2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27648" y="332841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64808" y="332841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2   </a:t>
            </a:r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multi-replica, TTL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601968" y="3858768"/>
            <a:ext cx="0" cy="128016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281928" y="3986784"/>
            <a:ext cx="5193792" cy="530352"/>
          </a:xfrm>
          <a:prstGeom prst="roundRect">
            <a:avLst>
              <a:gd name="adj" fmla="val 12069"/>
            </a:avLst>
          </a:prstGeom>
          <a:solidFill>
            <a:srgbClr val="FBE7F2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27648" y="3986784"/>
            <a:ext cx="5102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64808" y="3986784"/>
            <a:ext cx="4919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3   </a:t>
            </a:r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durable, queryable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601968" y="4517136"/>
            <a:ext cx="0" cy="128016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281928" y="4645152"/>
            <a:ext cx="5358384" cy="530352"/>
          </a:xfrm>
          <a:prstGeom prst="roundRect">
            <a:avLst>
              <a:gd name="adj" fmla="val 12069"/>
            </a:avLst>
          </a:prstGeom>
          <a:solidFill>
            <a:srgbClr val="161616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27648" y="4645152"/>
            <a:ext cx="5266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464808" y="4645152"/>
            <a:ext cx="5084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4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checkpointer</a:t>
            </a:r>
            <a:pPr indent="0" marL="0">
              <a:buNone/>
            </a:pPr>
            <a:r>
              <a:rPr lang="en-US" sz="1100" dirty="0">
                <a:solidFill>
                  <a:srgbClr val="E7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resume, long-term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 ·  ANTICIPATED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before you take questions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73936"/>
            <a:ext cx="365760" cy="3657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7556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just use sticky sessions and keep the dict?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17627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masks the autoscale trap but not the restart trap. Not production-safe.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200400"/>
            <a:ext cx="365760" cy="3657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1821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Replit DB enough?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602736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survives restarts, so it clears the Restart Test. Redis or Postgres add TTL, concurrency, and scale.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626864"/>
            <a:ext cx="365760" cy="3657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460857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dict ever fine in production?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5029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replica, low traffic, memory you are happy to lose on restart. Rare for a client copilot.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2148840"/>
            <a:ext cx="2468880" cy="246888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915400" y="210312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800" dirty="0"/>
          </a:p>
        </p:txBody>
      </p:sp>
      <p:sp>
        <p:nvSpPr>
          <p:cNvPr id="4" name="Shape 2"/>
          <p:cNvSpPr/>
          <p:nvPr/>
        </p:nvSpPr>
        <p:spPr>
          <a:xfrm>
            <a:off x="11109960" y="1600200"/>
            <a:ext cx="384048" cy="384048"/>
          </a:xfrm>
          <a:prstGeom prst="ellipse">
            <a:avLst/>
          </a:prstGeom>
          <a:solidFill>
            <a:srgbClr val="FBE7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depth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50392" y="41605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6. Rao has a long conversation. It gets slower and pricier each turn, then one message fails outright. This is the KV cache question, answered properly.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 ·  THE COST OF REMEMBERING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Replay Tax: memory is quadratic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goldfish re-reads the whole notepad every call, so the notepad rides along as tokens each turn.</a:t>
            </a:r>
            <a:endParaRPr lang="en-US" sz="1300" dirty="0"/>
          </a:p>
        </p:txBody>
      </p:sp>
      <p:pic>
        <p:nvPicPr>
          <p:cNvPr id="7" name="Image 0" descr="assets/f_tok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5120640" cy="759578"/>
          </a:xfrm>
          <a:prstGeom prst="rect">
            <a:avLst/>
          </a:prstGeom>
        </p:spPr>
      </p:pic>
      <p:pic>
        <p:nvPicPr>
          <p:cNvPr id="8" name="Image 1" descr="assets/f_to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88920"/>
            <a:ext cx="5669280" cy="6715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3611880"/>
            <a:ext cx="5760720" cy="2011680"/>
          </a:xfrm>
          <a:prstGeom prst="roundRect">
            <a:avLst>
              <a:gd name="adj" fmla="val 3636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37947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full-history memory is quadratic in conversation length. That is the Replay Tax.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22960" y="455371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creeps up mid-chat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grows with length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eventually overflows the window</a:t>
            </a:r>
            <a:endParaRPr lang="en-US" sz="12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92240" y="19659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 ·  PAYING LESS TAX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not stop remembering. You stop re-sending everything.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6400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  <a:gridCol w="21945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only the last K messages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cheap, forgets old turns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a frame over recent turns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same forgetting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recap old turns via a model 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gist, costs a call, drops detail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22376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PATH  ·  do old turns matter later?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223760" y="2103120"/>
            <a:ext cx="1965960" cy="566928"/>
          </a:xfrm>
          <a:prstGeom prst="roundRect">
            <a:avLst>
              <a:gd name="adj" fmla="val 11290"/>
            </a:avLst>
          </a:prstGeom>
          <a:solidFill>
            <a:srgbClr val="F5F5F8"/>
          </a:solidFill>
          <a:ln w="15875">
            <a:solidFill>
              <a:srgbClr val="6B6B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69480" y="21031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needed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235440" y="2386584"/>
            <a:ext cx="256032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555480" y="2103120"/>
            <a:ext cx="2057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0" y="21031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to last 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23760" y="2926080"/>
            <a:ext cx="1965960" cy="566928"/>
          </a:xfrm>
          <a:prstGeom prst="roundRect">
            <a:avLst>
              <a:gd name="adj" fmla="val 11290"/>
            </a:avLst>
          </a:prstGeom>
          <a:solidFill>
            <a:srgbClr val="F5F5F8"/>
          </a:solidFill>
          <a:ln w="15875">
            <a:solidFill>
              <a:srgbClr val="6B6B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69480" y="29260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gist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235440" y="3209544"/>
            <a:ext cx="256032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9555480" y="2926080"/>
            <a:ext cx="2057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0" y="29260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old turns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23760" y="3749040"/>
            <a:ext cx="1965960" cy="566928"/>
          </a:xfrm>
          <a:prstGeom prst="roundRect">
            <a:avLst>
              <a:gd name="adj" fmla="val 11290"/>
            </a:avLst>
          </a:prstGeom>
          <a:solidFill>
            <a:srgbClr val="F5F5F8"/>
          </a:solidFill>
          <a:ln w="15875">
            <a:solidFill>
              <a:srgbClr val="6B6B7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9480" y="37490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exact facts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235440" y="4032504"/>
            <a:ext cx="256032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555480" y="3749040"/>
            <a:ext cx="2057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37490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to a store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4297680"/>
            <a:ext cx="6400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77240" y="44805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ships message trimming and summarization helpers for exactly this. Today's scope stops here so you see the mechanism clean before optimizing.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 ·  THE CACHING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 vs prompt caching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685800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cache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inference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key/value tensors for tokens already processed, so attention is not recomputed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caching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API lever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reuses those tensors across requests when the prompt prefix is identical, skipping the prefill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5204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61616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5204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does not make the model remember.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7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re-reading the same prefix cheaper. You still re-send the history; the provider just does not recompute the unchanged part.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4663440"/>
            <a:ext cx="3465576" cy="960120"/>
          </a:xfrm>
          <a:prstGeom prst="roundRect">
            <a:avLst>
              <a:gd name="adj" fmla="val 7619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77316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40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731520" y="523036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on the cached prefix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61688" y="4663440"/>
            <a:ext cx="3465576" cy="960120"/>
          </a:xfrm>
          <a:prstGeom prst="roundRect">
            <a:avLst>
              <a:gd name="adj" fmla="val 7619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44568" y="477316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40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~85%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544568" y="523036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latency on long prompts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74736" y="4663440"/>
            <a:ext cx="3465576" cy="960120"/>
          </a:xfrm>
          <a:prstGeom prst="roundRect">
            <a:avLst>
              <a:gd name="adj" fmla="val 7619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57616" y="477316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40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11.5s → 2.4s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8357616" y="523036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100K-token example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5669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Prefix-based, exact-match, not semantic. Default lifetime is minutes, with a longer option.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 ·  EARNING THE DISCOUNT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Prefix-First Prompting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only helps if the reused part sits at the front and stays byte-identical. Structure the prompt stable-first, volatile-last.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291840" cy="685800"/>
          </a:xfrm>
          <a:prstGeom prst="roundRect">
            <a:avLst>
              <a:gd name="adj" fmla="val 9333"/>
            </a:avLst>
          </a:prstGeom>
          <a:solidFill>
            <a:srgbClr val="FBE7F2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rules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(stable)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86200" y="2313432"/>
            <a:ext cx="320040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51960" y="1965960"/>
            <a:ext cx="3291840" cy="685800"/>
          </a:xfrm>
          <a:prstGeom prst="roundRect">
            <a:avLst>
              <a:gd name="adj" fmla="val 9333"/>
            </a:avLst>
          </a:prstGeom>
          <a:solidFill>
            <a:srgbClr val="FBE7F2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history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(growing prefix)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2313432"/>
            <a:ext cx="320040" cy="0"/>
          </a:xfrm>
          <a:prstGeom prst="line">
            <a:avLst/>
          </a:prstGeom>
          <a:noFill/>
          <a:ln w="22225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955280" y="1965960"/>
            <a:ext cx="3291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input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(volatile, last)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stable context first, mark it cacheable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history accumulate as the growing prefix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new input last, only the tail changes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rewrite the prefix mid-chat, one edit misses the cache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81928" y="2971800"/>
            <a:ext cx="5358384" cy="1828800"/>
          </a:xfrm>
          <a:prstGeom prst="roundRect">
            <a:avLst>
              <a:gd name="adj" fmla="val 3000"/>
            </a:avLst>
          </a:prstGeom>
          <a:solidFill>
            <a:srgbClr val="F3F3F6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3090672"/>
            <a:ext cx="49926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[{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"text",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"text": "Airline support. Policies...",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B40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"cache_control": {"type": "ephemeral"}</a:t>
            </a:r>
            <a:endParaRPr lang="en-US" sz="11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0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5F8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9834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callback:  </a:t>
            </a:r>
            <a:pPr indent="0" marL="0">
              <a:buNone/>
            </a:pPr>
            <a:r>
              <a:rPr lang="en-US" sz="130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→ history → input was never cosmetic. Correct ordering and cache-friendly ordering are the same ordering.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2148840"/>
            <a:ext cx="2468880" cy="246888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915400" y="210312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800" dirty="0"/>
          </a:p>
        </p:txBody>
      </p:sp>
      <p:sp>
        <p:nvSpPr>
          <p:cNvPr id="4" name="Shape 2"/>
          <p:cNvSpPr/>
          <p:nvPr/>
        </p:nvSpPr>
        <p:spPr>
          <a:xfrm>
            <a:off x="11109960" y="1600200"/>
            <a:ext cx="384048" cy="384048"/>
          </a:xfrm>
          <a:prstGeom prst="ellipse">
            <a:avLst/>
          </a:prstGeom>
          <a:solidFill>
            <a:srgbClr val="FBE7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view and recap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50392" y="41605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is heading, then prove you own it.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9  ·  WHAT COMES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RunnableWithMessageHistory today, LangGraph next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  <a:gridCol w="4297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RunnableWithMessageHistory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persistence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message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checkpointers + stores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chain, chat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agents,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 resume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from last checkpoint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6177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BE7F2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6177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transfers cleanly: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04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becomes thread_id, the notepad becomes a checkpoint, RAIL becomes save-checkpoint and restore-checkpoint. When you build an agent, each sub-agent uses these exact pieces. Same Goldfish underneath.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9  ·  THE WHOLE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every dot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BE7F2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916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Goldfish: stateless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33088" y="2217420"/>
            <a:ext cx="128016" cy="0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61688" y="169164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BE7F2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16916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RAIL: R · A · I · 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46136" y="2217420"/>
            <a:ext cx="128016" cy="0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74736" y="169164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BE7F2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0456" y="16916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Hand-rolled: 4 derailments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461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+ MessagesPlaceholder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33088" y="3771900"/>
            <a:ext cx="128016" cy="0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61688" y="324612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32461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 + RunnableWithMessageHistory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46136" y="3771900"/>
            <a:ext cx="128016" cy="0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74736" y="324612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0456" y="32461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session_id: isolation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8006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Replit: Instance Amnesia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33088" y="5326380"/>
            <a:ext cx="128016" cy="0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61688" y="480060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E600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48006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Test → Persistence Ladder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46136" y="5326380"/>
            <a:ext cx="128016" cy="0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174736" y="480060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161616"/>
          </a:solidFill>
          <a:ln w="15875">
            <a:solidFill>
              <a:srgbClr val="1616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0456" y="48006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Tax → caching → LangGraph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44768" y="2788920"/>
            <a:ext cx="0" cy="402336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44768" y="4343400"/>
            <a:ext cx="0" cy="402336"/>
          </a:xfrm>
          <a:prstGeom prst="line">
            <a:avLst/>
          </a:prstGeom>
          <a:noFill/>
          <a:ln w="190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 this top to bottom and you own the module.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9  ·  RECAP QUIZ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you own it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  ·   Mechanics of LLM Memory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formats. Answer key in the speaker notes.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20116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 WHY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2304288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reason the copilot remembers Rao is: weights / app re-sends past turns / server session / fine-tuning?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81928" y="187452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01384" y="20116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 MATCH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01384" y="2304288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RAIL: get_session_history, MessagesPlaceholder, wrapper appends both turns.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3832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 T/F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" y="3675888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lets you stop re-sending history because the model now remembers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81928" y="324612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01384" y="33832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  ORDER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01384" y="3675888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the ladder low to high durability: SQLite, LangGraph checkpointer, in-memory dict, Redis, Postgres.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8096" y="47548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  PROD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" y="5047488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replicas, in-memory dict each. Name the failure and the one architectural fix.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81928" y="461772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01384" y="47548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  CODE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01384" y="5047488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minimal get_session_history using InMemoryChatMessageHistory and a global dict.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640080"/>
            <a:ext cx="1737360" cy="173736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 ·  KEEP THESE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tools, one line each</a:t>
            </a:r>
            <a:endParaRPr lang="en-US" sz="31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17904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this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that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Goldfish Principle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never expect the model to remember on its 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name what any memory system is doing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3-Axis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debug by isolating WHO, HOW, 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Tax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bound cost and latency before they runaway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Amnesia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externalize storage before autoscaling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never ship a demo store as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Ladder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climb storage only as far as you need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Prefix-First Prompting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earn the caching discount, not pay full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memory = RAIL, keyed by identity, held in storage that survives your deployment, sent in an order the cache can reuse. 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B4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game.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of LLM Memory</dc:title>
  <dc:subject>PptxGenJS Presentation</dc:subject>
  <dc:creator>FDE Academy</dc:creator>
  <cp:lastModifiedBy>FDE Academy</cp:lastModifiedBy>
  <cp:revision>1</cp:revision>
  <dcterms:created xsi:type="dcterms:W3CDTF">2026-07-06T13:32:11Z</dcterms:created>
  <dcterms:modified xsi:type="dcterms:W3CDTF">2026-07-06T13:32:11Z</dcterms:modified>
</cp:coreProperties>
</file>