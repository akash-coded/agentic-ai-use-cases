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BOOTCAMP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frozen model a library card: answers that are current, grounded, and cited.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C31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120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40864" y="5372100"/>
            <a:ext cx="393192" cy="0"/>
          </a:xfrm>
          <a:prstGeom prst="line">
            <a:avLst/>
          </a:prstGeom>
          <a:noFill/>
          <a:ln w="25400">
            <a:solidFill>
              <a:srgbClr val="6FB3A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C31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5120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81144" y="5372100"/>
            <a:ext cx="393192" cy="0"/>
          </a:xfrm>
          <a:prstGeom prst="line">
            <a:avLst/>
          </a:prstGeom>
          <a:noFill/>
          <a:ln w="25400">
            <a:solidFill>
              <a:srgbClr val="6FB3A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C31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5120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21424" y="5372100"/>
            <a:ext cx="393192" cy="0"/>
          </a:xfrm>
          <a:prstGeom prst="line">
            <a:avLst/>
          </a:prstGeom>
          <a:noFill/>
          <a:ln w="25400">
            <a:solidFill>
              <a:srgbClr val="6FB3A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5120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· Titan embeddings · Claude · LangGraph · Strands · AgentCore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alone knows only what it memorised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6232" y="2231136"/>
            <a:ext cx="841248" cy="8412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76856" y="2651760"/>
            <a:ext cx="0" cy="-231343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76856" y="2651760"/>
            <a:ext cx="176662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375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at a training cutoff. It cannot know today's prices, rules, or news.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17830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2194560"/>
            <a:ext cx="768096" cy="9326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3257" y="2493020"/>
            <a:ext cx="491581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3257" y="2679558"/>
            <a:ext cx="491581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3257" y="2866095"/>
            <a:ext cx="491581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33375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to your data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36592" y="384048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saw your private PDFs, wikis, or support tickets.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93024" y="17830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18320" y="224028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048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13064" y="33375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Ungrounded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58784" y="384048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fills gaps with confident invention, and cannot show a source.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fixes all three </a:t>
            </a:r>
            <a:pPr algn="ctr" indent="0" marL="0">
              <a:buNone/>
            </a:pPr>
            <a:r>
              <a:rPr lang="en-US" sz="15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fetching real documents at question time, and answering only from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CONFUSION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or fine-tuning? They solve different problems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7236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23076" y="1783080"/>
            <a:ext cx="5317236" cy="3383280"/>
          </a:xfrm>
          <a:prstGeom prst="roundRect">
            <a:avLst>
              <a:gd name="adj" fmla="val 2162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Teaches behaviour and style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4942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Bakes knowledge in permanently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and costly to update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cite a source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 for tone, format, a skill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88836" y="205740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88836" y="2441448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Supplies current knowledge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80276" y="3063240"/>
            <a:ext cx="44942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by editing a document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and fast to change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the passages it used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 for facts that change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fine-tuning for behaviour. Pick RAG for knowledge. They also combine.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open-book exam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17236" cy="2926080"/>
          </a:xfrm>
          <a:prstGeom prst="roundRect">
            <a:avLst>
              <a:gd name="adj" fmla="val 25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BOOK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bare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memory alone. When it does not know, it guesses.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4922" y="3867912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90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8970" y="4251960"/>
            <a:ext cx="0" cy="-211226"/>
          </a:xfrm>
          <a:prstGeom prst="line">
            <a:avLst/>
          </a:prstGeom>
          <a:noFill/>
          <a:ln w="38100">
            <a:solidFill>
              <a:srgbClr val="8A90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8970" y="4251960"/>
            <a:ext cx="161300" cy="0"/>
          </a:xfrm>
          <a:prstGeom prst="line">
            <a:avLst/>
          </a:prstGeom>
          <a:noFill/>
          <a:ln w="38100">
            <a:solidFill>
              <a:srgbClr val="8A9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5196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3076" y="1920240"/>
            <a:ext cx="5317236" cy="2926080"/>
          </a:xfrm>
          <a:prstGeom prst="roundRect">
            <a:avLst>
              <a:gd name="adj" fmla="val 25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88836" y="224028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88836" y="260604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88836" y="315468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things up first, then answers from what it found, and cites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0548" y="4142232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7982" y="4639666"/>
            <a:ext cx="263347" cy="263347"/>
          </a:xfrm>
          <a:prstGeom prst="line">
            <a:avLst/>
          </a:prstGeom>
          <a:noFill/>
          <a:ln w="444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1796" y="4160520"/>
            <a:ext cx="457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94092" y="4336085"/>
            <a:ext cx="29260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94092" y="4445813"/>
            <a:ext cx="29260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94092" y="4555541"/>
            <a:ext cx="29260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3076" y="42519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up, then answer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stops the model from guessing and makes it read.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phases: build the index once, answer every question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17236" cy="3291840"/>
          </a:xfrm>
          <a:prstGeom prst="roundRect">
            <a:avLst>
              <a:gd name="adj" fmla="val 2222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TIME   ·   offline, once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28803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80360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12848" y="3200400"/>
            <a:ext cx="36576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96896" y="28803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2880360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58184" y="3200400"/>
            <a:ext cx="36576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42232" y="28803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2232" y="2880360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24728" y="2983687"/>
            <a:ext cx="868680" cy="625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5824728" y="3487522"/>
            <a:ext cx="868680" cy="24323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824728" y="3174797"/>
            <a:ext cx="868680" cy="243230"/>
          </a:xfrm>
          <a:prstGeom prst="ellipse">
            <a:avLst/>
          </a:prstGeom>
          <a:solidFill>
            <a:srgbClr val="0B5A54"/>
          </a:solidFill>
          <a:ln/>
        </p:spPr>
      </p:sp>
      <p:sp>
        <p:nvSpPr>
          <p:cNvPr id="17" name="Shape 15"/>
          <p:cNvSpPr/>
          <p:nvPr/>
        </p:nvSpPr>
        <p:spPr>
          <a:xfrm>
            <a:off x="5824728" y="2862072"/>
            <a:ext cx="868680" cy="243230"/>
          </a:xfrm>
          <a:prstGeom prst="ellipse">
            <a:avLst/>
          </a:prstGeom>
          <a:solidFill>
            <a:srgbClr val="0B5A54"/>
          </a:solidFill>
          <a:ln/>
        </p:spPr>
      </p:sp>
      <p:sp>
        <p:nvSpPr>
          <p:cNvPr id="18" name="Text 16"/>
          <p:cNvSpPr/>
          <p:nvPr/>
        </p:nvSpPr>
        <p:spPr>
          <a:xfrm>
            <a:off x="5596128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297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once, before any question.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23076" y="1828800"/>
            <a:ext cx="5317236" cy="3291840"/>
          </a:xfrm>
          <a:prstGeom prst="roundRect">
            <a:avLst>
              <a:gd name="adj" fmla="val 2222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3116" y="2084832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TIME   ·   online, every question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34556" y="2788920"/>
            <a:ext cx="9326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4556" y="2788920"/>
            <a:ext cx="9326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76388" y="3072384"/>
            <a:ext cx="210312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95844" y="2788920"/>
            <a:ext cx="9326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5844" y="2788920"/>
            <a:ext cx="9326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37676" y="3072384"/>
            <a:ext cx="210312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7132" y="2788920"/>
            <a:ext cx="9326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7132" y="2788920"/>
            <a:ext cx="9326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98964" y="3072384"/>
            <a:ext cx="210312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18420" y="2788920"/>
            <a:ext cx="9326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18420" y="2788920"/>
            <a:ext cx="9326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160252" y="3072384"/>
            <a:ext cx="210312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1379708" y="2788920"/>
            <a:ext cx="9326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79708" y="2788920"/>
            <a:ext cx="9326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8734" y="3858768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58734" y="3858768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citations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817352" y="3355848"/>
            <a:ext cx="-1835658" cy="50292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734556" y="452628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constant, per question.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96084" y="3200400"/>
            <a:ext cx="2449952" cy="-128016"/>
          </a:xfrm>
          <a:prstGeom prst="line">
            <a:avLst/>
          </a:prstGeom>
          <a:noFill/>
          <a:ln w="15875">
            <a:solidFill>
              <a:srgbClr val="8A9099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500116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serves search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these two phases up is the root of most RAG confusion.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seven-step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0006" y="2084832"/>
            <a:ext cx="402336" cy="402336"/>
          </a:xfrm>
          <a:prstGeom prst="ellipse">
            <a:avLst/>
          </a:prstGeom>
          <a:solidFill>
            <a:srgbClr val="8A9099"/>
          </a:solidFill>
          <a:ln/>
        </p:spPr>
      </p:sp>
      <p:sp>
        <p:nvSpPr>
          <p:cNvPr id="7" name="Text 5"/>
          <p:cNvSpPr/>
          <p:nvPr/>
        </p:nvSpPr>
        <p:spPr>
          <a:xfrm>
            <a:off x="1030006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source docs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1997" y="2834640"/>
            <a:ext cx="219456" cy="0"/>
          </a:xfrm>
          <a:prstGeom prst="line">
            <a:avLst/>
          </a:prstGeom>
          <a:noFill/>
          <a:ln w="2032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69741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9741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107" y="2084832"/>
            <a:ext cx="402336" cy="402336"/>
          </a:xfrm>
          <a:prstGeom prst="ellipse">
            <a:avLst/>
          </a:prstGeom>
          <a:solidFill>
            <a:srgbClr val="8A9099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107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4021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passages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53097" y="2834640"/>
            <a:ext cx="219456" cy="0"/>
          </a:xfrm>
          <a:prstGeom prst="line">
            <a:avLst/>
          </a:prstGeom>
          <a:noFill/>
          <a:ln w="2032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90841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0841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72207" y="2084832"/>
            <a:ext cx="402336" cy="402336"/>
          </a:xfrm>
          <a:prstGeom prst="ellipse">
            <a:avLst/>
          </a:prstGeom>
          <a:solidFill>
            <a:srgbClr val="8A9099"/>
          </a:solidFill>
          <a:ln/>
        </p:spPr>
      </p:sp>
      <p:sp>
        <p:nvSpPr>
          <p:cNvPr id="19" name="Text 17"/>
          <p:cNvSpPr/>
          <p:nvPr/>
        </p:nvSpPr>
        <p:spPr>
          <a:xfrm>
            <a:off x="4272207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5121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vectors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74198" y="2834640"/>
            <a:ext cx="219456" cy="0"/>
          </a:xfrm>
          <a:prstGeom prst="line">
            <a:avLst/>
          </a:prstGeom>
          <a:noFill/>
          <a:ln w="2032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11942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1942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93308" y="2084832"/>
            <a:ext cx="402336" cy="402336"/>
          </a:xfrm>
          <a:prstGeom prst="ellipse">
            <a:avLst/>
          </a:prstGeom>
          <a:solidFill>
            <a:srgbClr val="8A9099"/>
          </a:solidFill>
          <a:ln/>
        </p:spPr>
      </p:sp>
      <p:sp>
        <p:nvSpPr>
          <p:cNvPr id="25" name="Text 23"/>
          <p:cNvSpPr/>
          <p:nvPr/>
        </p:nvSpPr>
        <p:spPr>
          <a:xfrm>
            <a:off x="589330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66222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the vectors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95298" y="2834640"/>
            <a:ext cx="219456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33042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3042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14409" y="208483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7514409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87322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nearest 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6399" y="2834640"/>
            <a:ext cx="219456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54143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54143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35509" y="208483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9135509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08423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 into prompt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37499" y="2834640"/>
            <a:ext cx="219456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275243" y="2377440"/>
            <a:ext cx="1365069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75243" y="2377440"/>
            <a:ext cx="1365069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756610" y="208483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1075661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29523" y="33832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answer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141732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EDEFF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1417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 ·  built once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24482" y="1417320"/>
            <a:ext cx="2651760" cy="384048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7124482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 ·  per question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 to 4 build the index. Steps 5 to 7 answer the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Embeddings: meaning becomes geometry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7236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4617720"/>
            <a:ext cx="3945636" cy="0"/>
          </a:xfrm>
          <a:prstGeom prst="line">
            <a:avLst/>
          </a:prstGeom>
          <a:noFill/>
          <a:ln w="19050">
            <a:solidFill>
              <a:srgbClr val="E4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617720"/>
            <a:ext cx="0" cy="-2194560"/>
          </a:xfrm>
          <a:prstGeom prst="line">
            <a:avLst/>
          </a:prstGeom>
          <a:noFill/>
          <a:ln w="1905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12264" y="2432304"/>
            <a:ext cx="164592" cy="1645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policy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78024" y="2112264"/>
            <a:ext cx="164592" cy="1645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048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money-back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2584" y="3986784"/>
            <a:ext cx="164592" cy="164592"/>
          </a:xfrm>
          <a:prstGeom prst="ellipse">
            <a:avLst/>
          </a:prstGeom>
          <a:solidFill>
            <a:srgbClr val="8A9099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menu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76856" y="2432304"/>
            <a:ext cx="365760" cy="-310896"/>
          </a:xfrm>
          <a:prstGeom prst="line">
            <a:avLst/>
          </a:prstGeom>
          <a:noFill/>
          <a:ln w="19050">
            <a:solidFill>
              <a:srgbClr val="0F766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188720" y="2103120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= similar meaning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23076" y="1783080"/>
            <a:ext cx="5317236" cy="3383280"/>
          </a:xfrm>
          <a:prstGeom prst="roundRect">
            <a:avLst>
              <a:gd name="adj" fmla="val 2162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88836" y="21031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is direction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88836" y="2697480"/>
            <a:ext cx="458571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8836" y="2697480"/>
            <a:ext cx="45857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5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cos(θ) = (a · b) / (‖a‖ ‖b‖)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88836" y="3611880"/>
            <a:ext cx="4585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1: same topic     near 0: unrelated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ignores length, so a long and short passage still match on meaning.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88836" y="4526280"/>
            <a:ext cx="4585716" cy="457200"/>
          </a:xfrm>
          <a:prstGeom prst="roundRect">
            <a:avLst>
              <a:gd name="adj" fmla="val 12000"/>
            </a:avLst>
          </a:prstGeom>
          <a:solidFill>
            <a:srgbClr val="F7EAD9"/>
          </a:solidFill>
          <a:ln/>
        </p:spPr>
      </p:sp>
      <p:sp>
        <p:nvSpPr>
          <p:cNvPr id="21" name="Text 19"/>
          <p:cNvSpPr/>
          <p:nvPr/>
        </p:nvSpPr>
        <p:spPr>
          <a:xfrm>
            <a:off x="6688836" y="45262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embed docs and queries with the SAME model.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Bedrock: amazon.titan-embed-text-v2:0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Chunking: you cannot embed a whole book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1188720" cy="2651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8A9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219456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E1F0EE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194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971800"/>
            <a:ext cx="420624" cy="-342900"/>
          </a:xfrm>
          <a:prstGeom prst="line">
            <a:avLst/>
          </a:prstGeom>
          <a:noFill/>
          <a:ln w="1778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301752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E1F0EE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3429000"/>
            <a:ext cx="420624" cy="22860"/>
          </a:xfrm>
          <a:prstGeom prst="line">
            <a:avLst/>
          </a:prstGeom>
          <a:noFill/>
          <a:ln w="1778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51760" y="384048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E1F0EE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8404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3886200"/>
            <a:ext cx="420624" cy="388620"/>
          </a:xfrm>
          <a:prstGeom prst="line">
            <a:avLst/>
          </a:prstGeom>
          <a:noFill/>
          <a:ln w="1778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560320" y="4846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keeps boundary sentences whole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783080"/>
            <a:ext cx="64282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103120"/>
            <a:ext cx="2711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560320"/>
            <a:ext cx="27111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vector, many topics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gets fuzzy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drowns in noise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26196" y="2148840"/>
            <a:ext cx="0" cy="265176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46236" y="2103120"/>
            <a:ext cx="2711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46236" y="2560320"/>
            <a:ext cx="27111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split across chunks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lost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 answers nothing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~ a few hundred tokens, 10 to 20% overlap, then tune on your own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vector store: fast nearest-neighbour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2529230"/>
            <a:ext cx="1645920" cy="125089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3536899"/>
            <a:ext cx="1645920" cy="486461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911450"/>
            <a:ext cx="1645920" cy="486461"/>
          </a:xfrm>
          <a:prstGeom prst="ellipse">
            <a:avLst/>
          </a:prstGeom>
          <a:solidFill>
            <a:srgbClr val="0B5A54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2286000"/>
            <a:ext cx="1645920" cy="486461"/>
          </a:xfrm>
          <a:prstGeom prst="ellipse">
            <a:avLst/>
          </a:prstGeom>
          <a:solidFill>
            <a:srgbClr val="0B5A5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vectors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ANN: trade a sliver of accuracy for a huge speed gain.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1920240"/>
            <a:ext cx="6611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2066544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(numpy, FAISS)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450592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prototypes, small corpora, notebooks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3017520"/>
            <a:ext cx="6611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3163824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(OpenSearch, pgvector)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3547872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scale, filtering, persistence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4114800"/>
            <a:ext cx="6611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4261104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Knowledge Bases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4645152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AWS run the whole index for you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math the big stores use. Today's notebook runs it in plain numpy on Bedrock.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Retrieval: return the k nearest passages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2898648"/>
            <a:ext cx="86868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2518258"/>
            <a:ext cx="960120" cy="7242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3101645"/>
            <a:ext cx="960120" cy="28163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2739542"/>
            <a:ext cx="960120" cy="281635"/>
          </a:xfrm>
          <a:prstGeom prst="ellipse">
            <a:avLst/>
          </a:prstGeom>
          <a:solidFill>
            <a:srgbClr val="0B5A54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377440"/>
            <a:ext cx="960120" cy="281635"/>
          </a:xfrm>
          <a:prstGeom prst="ellipse">
            <a:avLst/>
          </a:prstGeom>
          <a:solidFill>
            <a:srgbClr val="0B5A54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898648"/>
            <a:ext cx="86868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783080"/>
            <a:ext cx="6217920" cy="2468880"/>
          </a:xfrm>
          <a:prstGeom prst="roundRect">
            <a:avLst>
              <a:gd name="adj" fmla="val 2963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920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results, ranked by cosine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340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and money-back policy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2615184"/>
            <a:ext cx="4754880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2615184"/>
            <a:ext cx="3946550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0" y="2596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999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and refunds FAQ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0" y="3273552"/>
            <a:ext cx="4754880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3273552"/>
            <a:ext cx="3518611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332720" y="3255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fee schedule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0" y="3931920"/>
            <a:ext cx="4754880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0" y="3931920"/>
            <a:ext cx="2900477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is the dial: too small misses context, too large adds noise. Tune it against eval.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search: meaning plus exact match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377440" y="2331720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(vector)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3429000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(BM25)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395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meaning, paraphrase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34930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exact tokens, rare codes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8036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results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697480"/>
            <a:ext cx="4343400" cy="41148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4880" y="3794760"/>
            <a:ext cx="4343400" cy="-393192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4526280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F7EAD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45262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finds “money-back” for “refund”, but keyword search is what nails the PNR </a:t>
            </a:r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JX48Q2</a:t>
            </a:r>
            <a:pPr indent="0" marL="0">
              <a:buNone/>
            </a:pPr>
            <a:r>
              <a:rPr lang="en-US" sz="13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exactly. Real systems fuse both.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 TO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 and generate: grounding the answer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2926080"/>
            <a:ext cx="73152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224028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E1F0EE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“Answer only from the context.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the ids. Say you do not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 if it is absent.”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2926080"/>
            <a:ext cx="73152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242316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372600" y="2926080"/>
            <a:ext cx="73152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49840" y="2423160"/>
            <a:ext cx="1645920" cy="1005840"/>
          </a:xfrm>
          <a:prstGeom prst="roundRect">
            <a:avLst>
              <a:gd name="adj" fmla="val 6364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0" y="2423160"/>
            <a:ext cx="16459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490618"/>
            <a:ext cx="134417" cy="153619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3097" y="4644238"/>
            <a:ext cx="230429" cy="-345643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169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from context, not memory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0233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4490618"/>
            <a:ext cx="134417" cy="153619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3577" y="4644238"/>
            <a:ext cx="230429" cy="-345643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4169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“I do not know”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9640" y="4490618"/>
            <a:ext cx="134417" cy="153619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4057" y="4644238"/>
            <a:ext cx="230429" cy="-345643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169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ids into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RAG, end to end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67612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146761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2828" y="2834640"/>
            <a:ext cx="384048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73452" y="2377440"/>
            <a:ext cx="1467612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3452" y="2377440"/>
            <a:ext cx="146761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834640"/>
            <a:ext cx="384048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98264" y="2377440"/>
            <a:ext cx="1467612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2377440"/>
            <a:ext cx="146761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02452" y="2834640"/>
            <a:ext cx="384048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23076" y="2377440"/>
            <a:ext cx="1467612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3076" y="2377440"/>
            <a:ext cx="146761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27264" y="2834640"/>
            <a:ext cx="384048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47888" y="2377440"/>
            <a:ext cx="1467612" cy="914400"/>
          </a:xfrm>
          <a:prstGeom prst="roundRect">
            <a:avLst>
              <a:gd name="adj" fmla="val 7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377440"/>
            <a:ext cx="146761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52076" y="2834640"/>
            <a:ext cx="384048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72700" y="2377440"/>
            <a:ext cx="1467612" cy="9144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72700" y="2377440"/>
            <a:ext cx="146761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06908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works, and it is the honest baseline. </a:t>
            </a:r>
            <a:pPr indent="0" marL="0">
              <a:buNone/>
            </a:pPr>
            <a:r>
              <a:rPr lang="en-US" sz="14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it, measure it, then improve only what the numbers say is broken. Every advanced trick that follows is a refinement of this one loop, never a replacement.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BREAKS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failure modes map to advanced fixes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4028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the wrong chunk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24028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question, weak match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75320" y="2459736"/>
            <a:ext cx="3044952" cy="402336"/>
          </a:xfrm>
          <a:prstGeom prst="roundRect">
            <a:avLst>
              <a:gd name="adj" fmla="val 27273"/>
            </a:avLst>
          </a:prstGeom>
          <a:solidFill>
            <a:srgbClr val="E1F0EE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459736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1868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chunk ranked 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21868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score is coarse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3438144"/>
            <a:ext cx="3044952" cy="402336"/>
          </a:xfrm>
          <a:prstGeom prst="roundRect">
            <a:avLst>
              <a:gd name="adj" fmla="val 27273"/>
            </a:avLst>
          </a:prstGeom>
          <a:solidFill>
            <a:srgbClr val="E1F0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438144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197096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ignores a middle chunk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419709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the middle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75320" y="4416552"/>
            <a:ext cx="3044952" cy="402336"/>
          </a:xfrm>
          <a:prstGeom prst="roundRect">
            <a:avLst>
              <a:gd name="adj" fmla="val 27273"/>
            </a:avLst>
          </a:prstGeom>
          <a:solidFill>
            <a:srgbClr val="E1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441655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Fewer, better chunks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17550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Confidently wrong on a gap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517550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self-check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75320" y="5394960"/>
            <a:ext cx="3044952" cy="402336"/>
          </a:xfrm>
          <a:prstGeom prst="roundRect">
            <a:avLst>
              <a:gd name="adj" fmla="val 27273"/>
            </a:avLst>
          </a:prstGeom>
          <a:solidFill>
            <a:srgbClr val="E1F0EE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5394960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 · Self-RAG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levers: match the fix to the failure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20370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 a vague question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7063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expansion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 recall, merge rephrasings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63931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94106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a good chunk ranked low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50799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filtering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80974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by tag, date, source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178308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97396" y="190195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Small-to-big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97396" y="220370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small, feed the parent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265176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97396" y="277063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compression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97396" y="307238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retrieved text to signal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97396" y="363931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97396" y="394106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vector plus keyword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7356" y="4389120"/>
            <a:ext cx="5362956" cy="749808"/>
          </a:xfrm>
          <a:prstGeom prst="roundRect">
            <a:avLst>
              <a:gd name="adj" fmla="val 9756"/>
            </a:avLst>
          </a:prstGeom>
          <a:solidFill>
            <a:srgbClr val="F7EAD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97396" y="450799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7396" y="480974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per measured failure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rewriting: fix the question before you search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852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“waived fees?”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vague, weak match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3017520"/>
            <a:ext cx="118872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1208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228600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28529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 Gold members pay waived change fees?”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explicit, keyword-rich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Reranking: a sharper second judge reorders top-k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05756" cy="3291840"/>
          </a:xfrm>
          <a:prstGeom prst="roundRect">
            <a:avLst>
              <a:gd name="adj" fmla="val 2222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ORDER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loosely related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889504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89504"/>
            <a:ext cx="3005450" cy="237744"/>
          </a:xfrm>
          <a:prstGeom prst="roundRect">
            <a:avLst>
              <a:gd name="adj" fmla="val 19231"/>
            </a:avLst>
          </a:prstGeom>
          <a:solidFill>
            <a:srgbClr val="8A909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36976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target passage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493008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493008"/>
            <a:ext cx="2754996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off-topic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96512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096512"/>
            <a:ext cx="2504542" cy="237744"/>
          </a:xfrm>
          <a:prstGeom prst="roundRect">
            <a:avLst>
              <a:gd name="adj" fmla="val 19231"/>
            </a:avLst>
          </a:prstGeom>
          <a:solidFill>
            <a:srgbClr val="8A909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43984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noise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700016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700016"/>
            <a:ext cx="2295830" cy="237744"/>
          </a:xfrm>
          <a:prstGeom prst="roundRect">
            <a:avLst>
              <a:gd name="adj" fmla="val 19231"/>
            </a:avLst>
          </a:prstGeom>
          <a:solidFill>
            <a:srgbClr val="8A9099"/>
          </a:solidFill>
          <a:ln/>
        </p:spPr>
      </p:sp>
      <p:sp>
        <p:nvSpPr>
          <p:cNvPr id="18" name="Shape 16"/>
          <p:cNvSpPr/>
          <p:nvPr/>
        </p:nvSpPr>
        <p:spPr>
          <a:xfrm>
            <a:off x="5591556" y="3429000"/>
            <a:ext cx="10058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34556" y="1783080"/>
            <a:ext cx="4905756" cy="3291840"/>
          </a:xfrm>
          <a:prstGeom prst="roundRect">
            <a:avLst>
              <a:gd name="adj" fmla="val 2222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00316" y="205740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RERANK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00316" y="2633472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target passage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00316" y="2889504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23" name="Shape 21"/>
          <p:cNvSpPr/>
          <p:nvPr/>
        </p:nvSpPr>
        <p:spPr>
          <a:xfrm>
            <a:off x="7100316" y="2889504"/>
            <a:ext cx="3923782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7100316" y="3236976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loosely related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00316" y="3493008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26" name="Shape 24"/>
          <p:cNvSpPr/>
          <p:nvPr/>
        </p:nvSpPr>
        <p:spPr>
          <a:xfrm>
            <a:off x="7100316" y="3493008"/>
            <a:ext cx="2421057" cy="237744"/>
          </a:xfrm>
          <a:prstGeom prst="roundRect">
            <a:avLst>
              <a:gd name="adj" fmla="val 19231"/>
            </a:avLst>
          </a:prstGeom>
          <a:solidFill>
            <a:srgbClr val="8A9099"/>
          </a:solidFill>
          <a:ln/>
        </p:spPr>
      </p:sp>
      <p:sp>
        <p:nvSpPr>
          <p:cNvPr id="27" name="Text 25"/>
          <p:cNvSpPr/>
          <p:nvPr/>
        </p:nvSpPr>
        <p:spPr>
          <a:xfrm>
            <a:off x="7100316" y="3840480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off-topic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00316" y="4096512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29" name="Shape 27"/>
          <p:cNvSpPr/>
          <p:nvPr/>
        </p:nvSpPr>
        <p:spPr>
          <a:xfrm>
            <a:off x="7100316" y="4096512"/>
            <a:ext cx="1669694" cy="237744"/>
          </a:xfrm>
          <a:prstGeom prst="roundRect">
            <a:avLst>
              <a:gd name="adj" fmla="val 19231"/>
            </a:avLst>
          </a:prstGeom>
          <a:solidFill>
            <a:srgbClr val="8A9099"/>
          </a:solidFill>
          <a:ln/>
        </p:spPr>
      </p:sp>
      <p:sp>
        <p:nvSpPr>
          <p:cNvPr id="30" name="Text 28"/>
          <p:cNvSpPr/>
          <p:nvPr/>
        </p:nvSpPr>
        <p:spPr>
          <a:xfrm>
            <a:off x="7100316" y="4443984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noise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00316" y="4700016"/>
            <a:ext cx="4174236" cy="237744"/>
          </a:xfrm>
          <a:prstGeom prst="roundRect">
            <a:avLst>
              <a:gd name="adj" fmla="val 19231"/>
            </a:avLst>
          </a:prstGeom>
          <a:solidFill>
            <a:srgbClr val="EDEFF2"/>
          </a:solidFill>
          <a:ln/>
        </p:spPr>
      </p:sp>
      <p:sp>
        <p:nvSpPr>
          <p:cNvPr id="32" name="Shape 30"/>
          <p:cNvSpPr/>
          <p:nvPr/>
        </p:nvSpPr>
        <p:spPr>
          <a:xfrm>
            <a:off x="7100316" y="4700016"/>
            <a:ext cx="1252271" cy="237744"/>
          </a:xfrm>
          <a:prstGeom prst="roundRect">
            <a:avLst>
              <a:gd name="adj" fmla="val 19231"/>
            </a:avLst>
          </a:prstGeom>
          <a:solidFill>
            <a:srgbClr val="8A909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similarity is coarse. A model rescores the top-k, so the truly relevant chunk rises.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Self-RAG: decide, then critique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9300" y="2194560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201930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72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question even need a lookup? If not, answer directly.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38444" y="2194560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83844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2104" y="29260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33544" y="3474720"/>
            <a:ext cx="272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each retrieved passage actually on point? Drop the rest.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6928" y="1874520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57588" y="2194560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965758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61248" y="29260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52688" y="3474720"/>
            <a:ext cx="272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answer backed by the context, and useful? If not, retry.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becomes conditional and self-checked, using reflection at each step.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as a graph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7EAD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71800"/>
            <a:ext cx="15544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9202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direct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3154680"/>
            <a:ext cx="594360" cy="-86868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3172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97180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3154680"/>
            <a:ext cx="59436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3172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97180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971800"/>
            <a:ext cx="1280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5968" y="3154680"/>
            <a:ext cx="23774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97180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0448" y="3154680"/>
            <a:ext cx="23774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2971800"/>
            <a:ext cx="1463040" cy="731520"/>
          </a:xfrm>
          <a:prstGeom prst="roundRect">
            <a:avLst>
              <a:gd name="adj" fmla="val 8750"/>
            </a:avLst>
          </a:prstGeom>
          <a:solidFill>
            <a:srgbClr val="F7EAD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97180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16368" y="3154680"/>
            <a:ext cx="23774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01200" y="297180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53728" y="3154680"/>
            <a:ext cx="32918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235440" y="2862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3703320"/>
            <a:ext cx="0" cy="50292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4206240"/>
            <a:ext cx="48920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4206240"/>
            <a:ext cx="0" cy="-484632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84048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supported  ·  rewrite and retry  (capped)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498348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question needs a lookup, and every answer is checked for grounding before it ships. A max-attempts cap stops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CRAG: grade the retrieval, then correct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0844"/>
            <a:ext cx="2011680" cy="438912"/>
          </a:xfrm>
          <a:prstGeom prst="roundRect">
            <a:avLst>
              <a:gd name="adj" fmla="val 25000"/>
            </a:avLst>
          </a:prstGeom>
          <a:solidFill>
            <a:srgbClr val="E1F0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08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docs clearly answer the query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06640" y="2400300"/>
            <a:ext cx="5486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092440" y="1920240"/>
            <a:ext cx="3273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from them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369564"/>
            <a:ext cx="2011680" cy="438912"/>
          </a:xfrm>
          <a:prstGeom prst="roundRect">
            <a:avLst>
              <a:gd name="adj" fmla="val 25000"/>
            </a:avLst>
          </a:prstGeom>
          <a:solidFill>
            <a:srgbClr val="F7EAD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695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108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coverage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0" y="3589020"/>
            <a:ext cx="5486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92440" y="3108960"/>
            <a:ext cx="3273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store docs with a fresh search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58284"/>
            <a:ext cx="2011680" cy="438912"/>
          </a:xfrm>
          <a:prstGeom prst="roundRect">
            <a:avLst>
              <a:gd name="adj" fmla="val 25000"/>
            </a:avLst>
          </a:prstGeom>
          <a:solidFill>
            <a:srgbClr val="F7EAD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582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2976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docs miss the query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06640" y="4777740"/>
            <a:ext cx="5486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092440" y="4297680"/>
            <a:ext cx="3273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Discard, fetch externally (web search)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retrieval will sometimes fail. A bad retrieval no longer silently produces a bad answer.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as a graph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3218688"/>
            <a:ext cx="64008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2834640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F7EAD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 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3218688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064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2834640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98280" y="3218688"/>
            <a:ext cx="68580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29800" y="2834640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86200" y="3630168"/>
            <a:ext cx="0" cy="713232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02336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relevant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4343400"/>
            <a:ext cx="3291840" cy="777240"/>
          </a:xfrm>
          <a:prstGeom prst="roundRect">
            <a:avLst>
              <a:gd name="adj" fmla="val 8235"/>
            </a:avLst>
          </a:prstGeom>
          <a:solidFill>
            <a:srgbClr val="F7EAD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correct: rewrite + external search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727448"/>
            <a:ext cx="18288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75320" y="4727448"/>
            <a:ext cx="0" cy="-1069848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539496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corrective source is pluggable: a web search tool (Tavily, or AgentCore Web Search), or a broadened re-retrieval.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Self-RAG vs CRAG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17520" y="1783080"/>
            <a:ext cx="4219956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7830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20356" y="1783080"/>
            <a:ext cx="4219956" cy="502920"/>
          </a:xfrm>
          <a:prstGeom prst="roundRect">
            <a:avLst>
              <a:gd name="adj" fmla="val 10909"/>
            </a:avLst>
          </a:prstGeom>
          <a:solidFill>
            <a:srgbClr val="0B5A54"/>
          </a:solidFill>
          <a:ln/>
        </p:spPr>
      </p:sp>
      <p:sp>
        <p:nvSpPr>
          <p:cNvPr id="8" name="Text 6"/>
          <p:cNvSpPr/>
          <p:nvPr/>
        </p:nvSpPr>
        <p:spPr>
          <a:xfrm>
            <a:off x="7420356" y="17830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1091672" cy="658368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23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423160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 need docs, and is my answer grounded?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57516" y="2423160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these docs good enough, and how do I fix them?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81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3081528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Conditional, may skip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57516" y="3081528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Always, then graded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11091672" cy="658368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3739896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and retry, self-reflection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57516" y="3739896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web / external source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982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4398264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questions, some need no lookup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57516" y="4398264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is patchy, freshness matters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056632"/>
            <a:ext cx="11091672" cy="658368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566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5056632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calls for reflection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57516" y="5056632"/>
            <a:ext cx="3945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retrieval for correction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017520" y="2423160"/>
            <a:ext cx="18288" cy="3291840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7365492" y="2423160"/>
            <a:ext cx="18288" cy="3291840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graphs with loops, which is why LangGraph is their home, not a straight chain.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Knowledge Bases, or do it yourself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7236" cy="3291840"/>
          </a:xfrm>
          <a:prstGeom prst="roundRect">
            <a:avLst>
              <a:gd name="adj" fmla="val 2222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Bedrock Knowledge Bases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4942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chunks, embeds, and stores for you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 →  passages only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retrieve_and_generate  →  cited answer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fast, less control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507992"/>
            <a:ext cx="4585716" cy="411480"/>
          </a:xfrm>
          <a:prstGeom prst="roundRect">
            <a:avLst>
              <a:gd name="adj" fmla="val 11111"/>
            </a:avLst>
          </a:prstGeom>
          <a:solidFill>
            <a:srgbClr val="F7EA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507992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retrievedReferences (citation is deprecated)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3076" y="1783080"/>
            <a:ext cx="531723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88836" y="205740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store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88836" y="251460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0276" y="2926080"/>
            <a:ext cx="44942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chunking, embedding, search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of the prompt and loop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for custom logic like CRAG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to ship, maximum flexibility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to ship fast. DIY when you need retrieval logic the managed path will not expose.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RAG LIVES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core, four control flows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3435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plus a chain (LCEL)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RAG, quick to assemble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57316" y="1783080"/>
            <a:ext cx="513435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23076" y="2011680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3076" y="2441448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with retrieve, grade, generate nodes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23076" y="2862072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CRAG, Self-RAG, any loop or branch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134356" cy="1554480"/>
          </a:xfrm>
          <a:prstGeom prst="roundRect">
            <a:avLst>
              <a:gd name="adj" fmla="val 4706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840480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270248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exposed as a tool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4690872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decides when to retrieve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57316" y="3611880"/>
            <a:ext cx="5134356" cy="1554480"/>
          </a:xfrm>
          <a:prstGeom prst="roundRect">
            <a:avLst>
              <a:gd name="adj" fmla="val 4706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3076" y="3840480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3076" y="4270248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deployed RAG agent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3076" y="4690872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runtime, memory, tracing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retrieval and generation core is identical. The framework only sets the control flow around it.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on AgentCore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3474720"/>
          </a:xfrm>
          <a:prstGeom prst="roundRect">
            <a:avLst>
              <a:gd name="adj" fmla="val 2105"/>
            </a:avLst>
          </a:prstGeom>
          <a:solidFill>
            <a:srgbClr val="F5F7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14630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59152" y="2331720"/>
            <a:ext cx="521208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205740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606040"/>
            <a:ext cx="0" cy="36576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30175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@entrypoint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3291840"/>
            <a:ext cx="50292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49240" y="30175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0" cy="36576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397764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E1F0E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tool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466344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63440"/>
            <a:ext cx="1965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KB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466344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663440"/>
            <a:ext cx="1965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466344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466344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(MCP)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526280"/>
            <a:ext cx="-2423160" cy="118872"/>
          </a:xfrm>
          <a:prstGeom prst="line">
            <a:avLst/>
          </a:prstGeom>
          <a:noFill/>
          <a:ln w="1778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4526280"/>
            <a:ext cx="-320040" cy="118872"/>
          </a:xfrm>
          <a:prstGeom prst="line">
            <a:avLst/>
          </a:prstGeom>
          <a:noFill/>
          <a:ln w="1778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26480" y="4526280"/>
            <a:ext cx="-4206240" cy="118872"/>
          </a:xfrm>
          <a:prstGeom prst="line">
            <a:avLst/>
          </a:prstGeom>
          <a:noFill/>
          <a:ln w="1778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63840" y="182880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178308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RAG agent answers locally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63840" y="252374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2478024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it in an AgentCore entrypoint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863840" y="321868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317296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tool at KB, store, or Gateway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863840" y="3913632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386791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configure, then launch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863840" y="4608576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12480" y="4562856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with a session id of 16+ chars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 code locally and in production. AgentCore adds hosting, memory, and tracing.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Evaluate, or fail quietly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6732" y="2562606"/>
            <a:ext cx="176022" cy="201168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22754" y="2763774"/>
            <a:ext cx="301752" cy="-452628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721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answer supported by the retrieved context?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65876" y="2562606"/>
            <a:ext cx="176022" cy="201168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41898" y="2763774"/>
            <a:ext cx="301752" cy="-452628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2104" y="29718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33544" y="3474720"/>
            <a:ext cx="2721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answer address the question asked?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6928" y="1920240"/>
            <a:ext cx="34533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85020" y="2562606"/>
            <a:ext cx="176022" cy="201168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61042" y="2763774"/>
            <a:ext cx="301752" cy="-452628"/>
          </a:xfrm>
          <a:prstGeom prst="line">
            <a:avLst/>
          </a:prstGeom>
          <a:noFill/>
          <a:ln w="4318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1248" y="29718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52688" y="3474720"/>
            <a:ext cx="2721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retrieval fetch the right passages?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cherry-picks easy cases. An eval set catches silent regressions before users do.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not to 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011680"/>
            <a:ext cx="-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828800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without an eval loop, then guess at sizes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16352"/>
            <a:ext cx="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816352"/>
            <a:ext cx="-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63347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retrieval blindly, that is the whole CRAG lesson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621024"/>
            <a:ext cx="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7008" y="3621024"/>
            <a:ext cx="-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43814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citations, an unverifiable answer is a liability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25696"/>
            <a:ext cx="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7008" y="4425696"/>
            <a:ext cx="-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242816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retrieved PII or secrets into prompts unfiltered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230368"/>
            <a:ext cx="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" y="5230368"/>
            <a:ext cx="-292608" cy="292608"/>
          </a:xfrm>
          <a:prstGeom prst="line">
            <a:avLst/>
          </a:prstGeom>
          <a:noFill/>
          <a:ln w="4064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5047488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Self-RAG or CRAG before a measured baseline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RAG do you actually need?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120640" y="1920240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0F766E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naive RAG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2624328"/>
            <a:ext cx="-5081321" cy="557784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3200400"/>
            <a:ext cx="199887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3364992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passes?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633118" cy="347472"/>
          </a:xfrm>
          <a:prstGeom prst="roundRect">
            <a:avLst>
              <a:gd name="adj" fmla="val 31579"/>
            </a:avLst>
          </a:prstGeom>
          <a:solidFill>
            <a:srgbClr val="E1F0E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60520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naive 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2624328"/>
            <a:ext cx="-2808122" cy="557784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21838" y="3200400"/>
            <a:ext cx="199887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86430" y="3364992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weak, and some Qs need no lookup?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04718" y="4160520"/>
            <a:ext cx="1633118" cy="347472"/>
          </a:xfrm>
          <a:prstGeom prst="roundRect">
            <a:avLst>
              <a:gd name="adj" fmla="val 31579"/>
            </a:avLst>
          </a:prstGeom>
          <a:solidFill>
            <a:srgbClr val="E1F0EE"/>
          </a:solidFill>
          <a:ln/>
        </p:spPr>
      </p:sp>
      <p:sp>
        <p:nvSpPr>
          <p:cNvPr id="16" name="Text 14"/>
          <p:cNvSpPr/>
          <p:nvPr/>
        </p:nvSpPr>
        <p:spPr>
          <a:xfrm>
            <a:off x="3004718" y="4160520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624328"/>
            <a:ext cx="-534924" cy="557784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3200400"/>
            <a:ext cx="199887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59629" y="3364992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patchy, need external correction?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77917" y="4160520"/>
            <a:ext cx="1633118" cy="347472"/>
          </a:xfrm>
          <a:prstGeom prst="roundRect">
            <a:avLst>
              <a:gd name="adj" fmla="val 31579"/>
            </a:avLst>
          </a:prstGeom>
          <a:solidFill>
            <a:srgbClr val="F7EAD9"/>
          </a:solidFill>
          <a:ln/>
        </p:spPr>
      </p:sp>
      <p:sp>
        <p:nvSpPr>
          <p:cNvPr id="21" name="Text 19"/>
          <p:cNvSpPr/>
          <p:nvPr/>
        </p:nvSpPr>
        <p:spPr>
          <a:xfrm>
            <a:off x="5277917" y="4160520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2624328"/>
            <a:ext cx="1738274" cy="557784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68235" y="3200400"/>
            <a:ext cx="199887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32827" y="3364992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AWS to run indexing?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51115" y="4160520"/>
            <a:ext cx="1633118" cy="347472"/>
          </a:xfrm>
          <a:prstGeom prst="roundRect">
            <a:avLst>
              <a:gd name="adj" fmla="val 31579"/>
            </a:avLst>
          </a:prstGeom>
          <a:solidFill>
            <a:srgbClr val="E1F0EE"/>
          </a:solidFill>
          <a:ln/>
        </p:spPr>
      </p:sp>
      <p:sp>
        <p:nvSpPr>
          <p:cNvPr id="26" name="Text 24"/>
          <p:cNvSpPr/>
          <p:nvPr/>
        </p:nvSpPr>
        <p:spPr>
          <a:xfrm>
            <a:off x="7551115" y="4160520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KB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2624328"/>
            <a:ext cx="4011473" cy="557784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41434" y="3200400"/>
            <a:ext cx="199887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AD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06026" y="3364992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should choose to retrieve?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824314" y="4160520"/>
            <a:ext cx="1633118" cy="347472"/>
          </a:xfrm>
          <a:prstGeom prst="roundRect">
            <a:avLst>
              <a:gd name="adj" fmla="val 31579"/>
            </a:avLst>
          </a:prstGeom>
          <a:solidFill>
            <a:srgbClr val="E1F0EE"/>
          </a:solidFill>
          <a:ln/>
        </p:spPr>
      </p:sp>
      <p:sp>
        <p:nvSpPr>
          <p:cNvPr id="31" name="Text 29"/>
          <p:cNvSpPr/>
          <p:nvPr/>
        </p:nvSpPr>
        <p:spPr>
          <a:xfrm>
            <a:off x="9824314" y="4160520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on AgentCore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6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first, always. Add a pattern only when a measured failure demands it.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0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IDEAS TO KEEP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 the library card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keeps a frozen model current, grounded, and cited.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first, measure, then refine. </a:t>
            </a:r>
            <a:pPr indent="0" marL="0">
              <a:buNone/>
            </a:pPr>
            <a:r>
              <a:rPr lang="en-US" sz="1500" dirty="0">
                <a:solidFill>
                  <a:srgbClr val="AEB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for mixed questions, CRAG for a patchy store, managed KB to ship fast, a tool to put it inside an agent.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2C31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9504" y="5120640"/>
            <a:ext cx="347472" cy="0"/>
          </a:xfrm>
          <a:prstGeom prst="line">
            <a:avLst/>
          </a:prstGeom>
          <a:noFill/>
          <a:ln w="25400">
            <a:solidFill>
              <a:srgbClr val="6FB3A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2C31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32704" y="5120640"/>
            <a:ext cx="347472" cy="0"/>
          </a:xfrm>
          <a:prstGeom prst="line">
            <a:avLst/>
          </a:prstGeom>
          <a:noFill/>
          <a:ln w="25400">
            <a:solidFill>
              <a:srgbClr val="6FB3A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2C31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75904" y="5120640"/>
            <a:ext cx="347472" cy="0"/>
          </a:xfrm>
          <a:prstGeom prst="line">
            <a:avLst/>
          </a:prstGeom>
          <a:noFill/>
          <a:ln w="25400">
            <a:solidFill>
              <a:srgbClr val="6FB3A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with LiteLLM (one wire to every model), under the Strands and AgentCore agents you built this week.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- Retrieval-Augmented Generation</dc:title>
  <dc:subject>PptxGenJS Presentation</dc:subject>
  <dc:creator>Agentic AI Bootcamp</dc:creator>
  <cp:lastModifiedBy>Agentic AI Bootcamp</cp:lastModifiedBy>
  <cp:revision>1</cp:revision>
  <dcterms:created xsi:type="dcterms:W3CDTF">2026-07-09T06:54:13Z</dcterms:created>
  <dcterms:modified xsi:type="dcterms:W3CDTF">2026-07-09T06:54:13Z</dcterms:modified>
</cp:coreProperties>
</file>