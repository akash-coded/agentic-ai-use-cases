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open the box a managed Knowledge Base hides. By the end you'll know what a vector store actually is, the two permissions that gate it, what it costs, and why our class uses exactly one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the vector store is the one piece of RAG students have taken on faith. Today is that piece,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Managed means you choose instance types and node counts. Serverless removes that, but trades it for a pricing model people get burned by, which we hit in a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Memorise this hierarchy. Collection is the billable, secured container. Index is queryable. Document is a stored record. Mixing them up is the root of most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is fixed at creation. RAG is always VECTORSEARCH. Choosing SEARCH or TIMESERIES by mistake means deleting and recreating.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math needed today. Query becomes a vector, the store returns the nearest stored vectors, those are the relevant chunks. Engine and space_type tune recall and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Titan V2 is 1024 dims, Titan V1 is 1536, Cohere is 1024. A dimension mismatch fails on the first document write. Drill that the mapping dimension must equal the embedding model's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real-world tripwire. IAM gets you to the door; the data access policy turns the key. Both failures throw 403 with different wording, so teach them to read the wording. Managed OpenSearch had one lock; Serverless split it into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row. The third is not a permission problem at all, it's the SigV4 service name, and it returns in Part 2. Flag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moving parts is why 'create a collection' has so many sub-steps. Encryption and network are set once. Data access and IAM are the two you maintain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number that surprises everyone. An empty, idle collection still bills the floor. Pooling matters: 30 student collections is not 30x the floor, but it is more baseline load and a cleanup nightmare.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traps are common re:Post complaints. Deleting a Knowledge Base does not delete the OpenSearch collection it created, and quick-create spins one up silently. Always clean up the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class KB labs use S3 Vectors. We teach OpenSearch on one shared collection so the concept lands, but we don't make 38 people each pay an idle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Pooling means many collections wouldn't 30x the bill, but it would 30x the cleanup and orphan risk. One collection, many indexes = same learning, one thing to delete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lab takes shortcuts on purpose, and name each one, so nobody copies the public-endpoint, shared-collection shape into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cleaned-up set from our IAM work. Each policy has one job. The OpenSearch session policy is attached only during the OpenSearch session and pulled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OCUs pool at the account level, the ceiling is a genuine dollar cap. Set it once, and the blast radius is bounded.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standby-replicas DISABLED keeps it at the ~2 OCU floor. Grab the collection id and endpoint from the output, you need both for the next two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script injects every group member's ARN. New students need a re-run, or they get a Lock-2 403 even though their IAM is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collection/* is safe because CreateCollection is denied, so the shared one is the only collection. With Lock 1 and Lock 2 both open, the class can work. Detaching this later cleanly revokes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lab PDF and script they already have. The payoff: when they later click 'create Knowledge Base', they know exactly what it's doing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Deleting the collection stops the meter. Recap the five anchors, then tee up Part 2: wiring the store into an agent via Agent Builder, Strands, AgentCore, and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1554480"/>
            <a:ext cx="11057839" cy="320040"/>
          </a:xfrm>
          <a:prstGeom prst="rect">
            <a:avLst/>
          </a:prstGeom>
          <a:noFill/>
          <a:ln/>
        </p:spPr>
        <p:txBody>
          <a:bodyPr wrap="square" lIns="0" tIns="0" rIns="0" bIns="0" rtlCol="0" anchor="ctr"/>
          <a:lstStyle/>
          <a:p>
            <a:pPr indent="0" marL="0">
              <a:buNone/>
            </a:pPr>
            <a:r>
              <a:rPr lang="en-US" sz="1300" b="1" spc="300" kern="0" dirty="0">
                <a:solidFill>
                  <a:srgbClr val="B45309"/>
                </a:solidFill>
                <a:latin typeface="Consolas" pitchFamily="34" charset="0"/>
                <a:ea typeface="Consolas" pitchFamily="34" charset="-122"/>
                <a:cs typeface="Consolas" pitchFamily="34" charset="-120"/>
              </a:rPr>
              <a:t>DAY 3 · AMAZON BEDROCK</a:t>
            </a:r>
            <a:endParaRPr lang="en-US" sz="1300" dirty="0"/>
          </a:p>
        </p:txBody>
      </p:sp>
      <p:sp>
        <p:nvSpPr>
          <p:cNvPr id="3" name="Text 1"/>
          <p:cNvSpPr/>
          <p:nvPr/>
        </p:nvSpPr>
        <p:spPr>
          <a:xfrm>
            <a:off x="566928" y="1965960"/>
            <a:ext cx="11057839" cy="1645920"/>
          </a:xfrm>
          <a:prstGeom prst="rect">
            <a:avLst/>
          </a:prstGeom>
          <a:noFill/>
          <a:ln/>
        </p:spPr>
        <p:txBody>
          <a:bodyPr wrap="square" lIns="0" tIns="0" rIns="0" bIns="0" rtlCol="0" anchor="ctr"/>
          <a:lstStyle/>
          <a:p>
            <a:pPr indent="0" marL="0">
              <a:lnSpc>
                <a:spcPct val="102000"/>
              </a:lnSpc>
              <a:buNone/>
            </a:pPr>
            <a:r>
              <a:rPr lang="en-US" sz="4600" b="1" dirty="0">
                <a:solidFill>
                  <a:srgbClr val="0F172A"/>
                </a:solidFill>
                <a:latin typeface="Georgia" pitchFamily="34" charset="0"/>
                <a:ea typeface="Georgia" pitchFamily="34" charset="-122"/>
                <a:cs typeface="Georgia" pitchFamily="34" charset="-120"/>
              </a:rPr>
              <a:t>OpenSearch Serverless</a:t>
            </a:r>
            <a:endParaRPr lang="en-US" sz="4600" dirty="0"/>
          </a:p>
          <a:p>
            <a:pPr indent="0" marL="0">
              <a:lnSpc>
                <a:spcPct val="102000"/>
              </a:lnSpc>
              <a:buNone/>
            </a:pPr>
            <a:r>
              <a:rPr lang="en-US" sz="4600" b="1" dirty="0">
                <a:solidFill>
                  <a:srgbClr val="0F172A"/>
                </a:solidFill>
                <a:latin typeface="Georgia" pitchFamily="34" charset="0"/>
                <a:ea typeface="Georgia" pitchFamily="34" charset="-122"/>
                <a:cs typeface="Georgia" pitchFamily="34" charset="-120"/>
              </a:rPr>
              <a:t>for Bedrock RAG</a:t>
            </a:r>
            <a:endParaRPr lang="en-US" sz="4600" dirty="0"/>
          </a:p>
        </p:txBody>
      </p:sp>
      <p:sp>
        <p:nvSpPr>
          <p:cNvPr id="4" name="Text 2"/>
          <p:cNvSpPr/>
          <p:nvPr/>
        </p:nvSpPr>
        <p:spPr>
          <a:xfrm>
            <a:off x="566928" y="3703320"/>
            <a:ext cx="11057839" cy="457200"/>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Part 1 — the engine, the two locks, and the bill</a:t>
            </a:r>
            <a:endParaRPr lang="en-US" sz="1900" dirty="0"/>
          </a:p>
        </p:txBody>
      </p:sp>
      <p:sp>
        <p:nvSpPr>
          <p:cNvPr id="5" name="Shape 3"/>
          <p:cNvSpPr/>
          <p:nvPr/>
        </p:nvSpPr>
        <p:spPr>
          <a:xfrm>
            <a:off x="8549640" y="5074920"/>
            <a:ext cx="1417320" cy="658368"/>
          </a:xfrm>
          <a:prstGeom prst="roundRect">
            <a:avLst>
              <a:gd name="adj" fmla="val 8333"/>
            </a:avLst>
          </a:prstGeom>
          <a:solidFill>
            <a:srgbClr val="FFFFFF"/>
          </a:solidFill>
          <a:ln w="12700">
            <a:solidFill>
              <a:srgbClr val="E2E8F0"/>
            </a:solidFill>
            <a:prstDash val="solid"/>
          </a:ln>
        </p:spPr>
      </p:sp>
      <p:sp>
        <p:nvSpPr>
          <p:cNvPr id="6" name="Text 4"/>
          <p:cNvSpPr/>
          <p:nvPr/>
        </p:nvSpPr>
        <p:spPr>
          <a:xfrm>
            <a:off x="8659368" y="5074920"/>
            <a:ext cx="1197864" cy="658368"/>
          </a:xfrm>
          <a:prstGeom prst="rect">
            <a:avLst/>
          </a:prstGeom>
          <a:noFill/>
          <a:ln/>
        </p:spPr>
        <p:txBody>
          <a:bodyPr wrap="square" lIns="0" tIns="0" rIns="0" bIns="0" rtlCol="0" anchor="ctr"/>
          <a:lstStyle/>
          <a:p>
            <a:pPr algn="l" indent="0" marL="0">
              <a:buNone/>
            </a:pPr>
            <a:r>
              <a:rPr lang="en-US" sz="900" spc="100" kern="0" dirty="0">
                <a:solidFill>
                  <a:srgbClr val="B45309"/>
                </a:solidFill>
                <a:latin typeface="Consolas" pitchFamily="34" charset="0"/>
                <a:ea typeface="Consolas" pitchFamily="34" charset="-122"/>
                <a:cs typeface="Consolas" pitchFamily="34" charset="-120"/>
              </a:rPr>
              <a:t>IAM GATEWAY</a:t>
            </a:r>
            <a:endParaRPr lang="en-US" sz="900" dirty="0"/>
          </a:p>
          <a:p>
            <a:pPr algn="l" indent="0" marL="0">
              <a:buNone/>
            </a:pPr>
            <a:r>
              <a:rPr lang="en-US" sz="1300" b="1" dirty="0">
                <a:solidFill>
                  <a:srgbClr val="0F172A"/>
                </a:solidFill>
                <a:latin typeface="Georgia" pitchFamily="34" charset="0"/>
                <a:ea typeface="Georgia" pitchFamily="34" charset="-122"/>
                <a:cs typeface="Georgia" pitchFamily="34" charset="-120"/>
              </a:rPr>
              <a:t>Lock 1</a:t>
            </a:r>
            <a:endParaRPr lang="en-US" sz="900" dirty="0"/>
          </a:p>
        </p:txBody>
      </p:sp>
      <p:sp>
        <p:nvSpPr>
          <p:cNvPr id="7" name="Shape 5"/>
          <p:cNvSpPr/>
          <p:nvPr/>
        </p:nvSpPr>
        <p:spPr>
          <a:xfrm>
            <a:off x="10104120" y="5074920"/>
            <a:ext cx="1481328" cy="658368"/>
          </a:xfrm>
          <a:prstGeom prst="roundRect">
            <a:avLst>
              <a:gd name="adj" fmla="val 8333"/>
            </a:avLst>
          </a:prstGeom>
          <a:solidFill>
            <a:srgbClr val="FFFFFF"/>
          </a:solidFill>
          <a:ln w="12700">
            <a:solidFill>
              <a:srgbClr val="E2E8F0"/>
            </a:solidFill>
            <a:prstDash val="solid"/>
          </a:ln>
        </p:spPr>
      </p:sp>
      <p:sp>
        <p:nvSpPr>
          <p:cNvPr id="8" name="Text 6"/>
          <p:cNvSpPr/>
          <p:nvPr/>
        </p:nvSpPr>
        <p:spPr>
          <a:xfrm>
            <a:off x="10213848" y="5074920"/>
            <a:ext cx="1261872" cy="658368"/>
          </a:xfrm>
          <a:prstGeom prst="rect">
            <a:avLst/>
          </a:prstGeom>
          <a:noFill/>
          <a:ln/>
        </p:spPr>
        <p:txBody>
          <a:bodyPr wrap="square" lIns="0" tIns="0" rIns="0" bIns="0" rtlCol="0" anchor="ctr"/>
          <a:lstStyle/>
          <a:p>
            <a:pPr algn="l" indent="0" marL="0">
              <a:buNone/>
            </a:pPr>
            <a:r>
              <a:rPr lang="en-US" sz="900" spc="100" kern="0" dirty="0">
                <a:solidFill>
                  <a:srgbClr val="B45309"/>
                </a:solidFill>
                <a:latin typeface="Consolas" pitchFamily="34" charset="0"/>
                <a:ea typeface="Consolas" pitchFamily="34" charset="-122"/>
                <a:cs typeface="Consolas" pitchFamily="34" charset="-120"/>
              </a:rPr>
              <a:t>DATA ACCESS POLICY</a:t>
            </a:r>
            <a:endParaRPr lang="en-US" sz="900" dirty="0"/>
          </a:p>
          <a:p>
            <a:pPr algn="l" indent="0" marL="0">
              <a:buNone/>
            </a:pPr>
            <a:r>
              <a:rPr lang="en-US" sz="1300" b="1" dirty="0">
                <a:solidFill>
                  <a:srgbClr val="0F172A"/>
                </a:solidFill>
                <a:latin typeface="Georgia" pitchFamily="34" charset="0"/>
                <a:ea typeface="Georgia" pitchFamily="34" charset="-122"/>
                <a:cs typeface="Georgia" pitchFamily="34" charset="-120"/>
              </a:rPr>
              <a:t>Lock 2</a:t>
            </a:r>
            <a:endParaRPr lang="en-US" sz="900" dirty="0"/>
          </a:p>
        </p:txBody>
      </p:sp>
      <p:sp>
        <p:nvSpPr>
          <p:cNvPr id="9" name="Text 7"/>
          <p:cNvSpPr/>
          <p:nvPr/>
        </p:nvSpPr>
        <p:spPr>
          <a:xfrm>
            <a:off x="566928" y="6172200"/>
            <a:ext cx="82296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Agentic AI Practitioner Bootcamp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02</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Where this sits</a:t>
            </a:r>
            <a:endParaRPr lang="en-US" sz="2900" dirty="0"/>
          </a:p>
        </p:txBody>
      </p:sp>
      <p:sp>
        <p:nvSpPr>
          <p:cNvPr id="4" name="Text 2"/>
          <p:cNvSpPr/>
          <p:nvPr/>
        </p:nvSpPr>
        <p:spPr>
          <a:xfrm>
            <a:off x="566928" y="1600200"/>
            <a:ext cx="11057839"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You already met RAG. The vector store is the part that's been a black box.</a:t>
            </a:r>
            <a:endParaRPr lang="en-US" sz="1500" dirty="0"/>
          </a:p>
        </p:txBody>
      </p:sp>
      <p:sp>
        <p:nvSpPr>
          <p:cNvPr id="5" name="Shape 3"/>
          <p:cNvSpPr/>
          <p:nvPr/>
        </p:nvSpPr>
        <p:spPr>
          <a:xfrm>
            <a:off x="566928" y="2971800"/>
            <a:ext cx="1517904" cy="713232"/>
          </a:xfrm>
          <a:prstGeom prst="roundRect">
            <a:avLst>
              <a:gd name="adj" fmla="val 10256"/>
            </a:avLst>
          </a:prstGeom>
          <a:solidFill>
            <a:srgbClr val="FFFFFF"/>
          </a:solidFill>
          <a:ln w="12700">
            <a:solidFill>
              <a:srgbClr val="E2E8F0"/>
            </a:solidFill>
            <a:prstDash val="solid"/>
          </a:ln>
        </p:spPr>
      </p:sp>
      <p:sp>
        <p:nvSpPr>
          <p:cNvPr id="6" name="Text 4"/>
          <p:cNvSpPr/>
          <p:nvPr/>
        </p:nvSpPr>
        <p:spPr>
          <a:xfrm>
            <a:off x="612648" y="2971800"/>
            <a:ext cx="1426464" cy="713232"/>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Question</a:t>
            </a:r>
            <a:endParaRPr lang="en-US" sz="1200" dirty="0"/>
          </a:p>
        </p:txBody>
      </p:sp>
      <p:sp>
        <p:nvSpPr>
          <p:cNvPr id="7" name="Shape 5"/>
          <p:cNvSpPr/>
          <p:nvPr/>
        </p:nvSpPr>
        <p:spPr>
          <a:xfrm>
            <a:off x="2121408" y="3328416"/>
            <a:ext cx="256032" cy="0"/>
          </a:xfrm>
          <a:prstGeom prst="line">
            <a:avLst/>
          </a:prstGeom>
          <a:noFill/>
          <a:ln w="19050">
            <a:solidFill>
              <a:srgbClr val="64748B"/>
            </a:solidFill>
            <a:prstDash val="solid"/>
            <a:headEnd type="none"/>
            <a:tailEnd type="triangle"/>
          </a:ln>
        </p:spPr>
      </p:sp>
      <p:sp>
        <p:nvSpPr>
          <p:cNvPr id="8" name="Shape 6"/>
          <p:cNvSpPr/>
          <p:nvPr/>
        </p:nvSpPr>
        <p:spPr>
          <a:xfrm>
            <a:off x="2414016" y="2971800"/>
            <a:ext cx="1517904" cy="713232"/>
          </a:xfrm>
          <a:prstGeom prst="roundRect">
            <a:avLst>
              <a:gd name="adj" fmla="val 10256"/>
            </a:avLst>
          </a:prstGeom>
          <a:solidFill>
            <a:srgbClr val="FFFFFF"/>
          </a:solidFill>
          <a:ln w="12700">
            <a:solidFill>
              <a:srgbClr val="E2E8F0"/>
            </a:solidFill>
            <a:prstDash val="solid"/>
          </a:ln>
        </p:spPr>
      </p:sp>
      <p:sp>
        <p:nvSpPr>
          <p:cNvPr id="9" name="Text 7"/>
          <p:cNvSpPr/>
          <p:nvPr/>
        </p:nvSpPr>
        <p:spPr>
          <a:xfrm>
            <a:off x="2459736" y="2971800"/>
            <a:ext cx="1426464" cy="713232"/>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Embed</a:t>
            </a:r>
            <a:endParaRPr lang="en-US" sz="1200" dirty="0"/>
          </a:p>
        </p:txBody>
      </p:sp>
      <p:sp>
        <p:nvSpPr>
          <p:cNvPr id="10" name="Shape 8"/>
          <p:cNvSpPr/>
          <p:nvPr/>
        </p:nvSpPr>
        <p:spPr>
          <a:xfrm>
            <a:off x="3968496" y="3328416"/>
            <a:ext cx="256032" cy="0"/>
          </a:xfrm>
          <a:prstGeom prst="line">
            <a:avLst/>
          </a:prstGeom>
          <a:noFill/>
          <a:ln w="19050">
            <a:solidFill>
              <a:srgbClr val="64748B"/>
            </a:solidFill>
            <a:prstDash val="solid"/>
            <a:headEnd type="none"/>
            <a:tailEnd type="triangle"/>
          </a:ln>
        </p:spPr>
      </p:sp>
      <p:sp>
        <p:nvSpPr>
          <p:cNvPr id="11" name="Shape 9"/>
          <p:cNvSpPr/>
          <p:nvPr/>
        </p:nvSpPr>
        <p:spPr>
          <a:xfrm>
            <a:off x="4261104" y="2971800"/>
            <a:ext cx="1517904" cy="713232"/>
          </a:xfrm>
          <a:prstGeom prst="roundRect">
            <a:avLst>
              <a:gd name="adj" fmla="val 10256"/>
            </a:avLst>
          </a:prstGeom>
          <a:solidFill>
            <a:srgbClr val="EEF0FF"/>
          </a:solidFill>
          <a:ln w="22225">
            <a:solidFill>
              <a:srgbClr val="4338CA"/>
            </a:solidFill>
            <a:prstDash val="solid"/>
          </a:ln>
        </p:spPr>
      </p:sp>
      <p:sp>
        <p:nvSpPr>
          <p:cNvPr id="12" name="Text 10"/>
          <p:cNvSpPr/>
          <p:nvPr/>
        </p:nvSpPr>
        <p:spPr>
          <a:xfrm>
            <a:off x="4306824" y="2971800"/>
            <a:ext cx="1426464" cy="713232"/>
          </a:xfrm>
          <a:prstGeom prst="rect">
            <a:avLst/>
          </a:prstGeom>
          <a:noFill/>
          <a:ln/>
        </p:spPr>
        <p:txBody>
          <a:bodyPr wrap="square" lIns="0" tIns="0" rIns="0" bIns="0" rtlCol="0" anchor="ctr"/>
          <a:lstStyle/>
          <a:p>
            <a:pPr algn="ctr" indent="0" marL="0">
              <a:buNone/>
            </a:pPr>
            <a:r>
              <a:rPr lang="en-US" sz="1200" b="1" dirty="0">
                <a:solidFill>
                  <a:srgbClr val="4338CA"/>
                </a:solidFill>
                <a:latin typeface="Calibri" pitchFamily="34" charset="0"/>
                <a:ea typeface="Calibri" pitchFamily="34" charset="-122"/>
                <a:cs typeface="Calibri" pitchFamily="34" charset="-120"/>
              </a:rPr>
              <a:t>Vector store</a:t>
            </a:r>
            <a:endParaRPr lang="en-US" sz="1200" dirty="0"/>
          </a:p>
        </p:txBody>
      </p:sp>
      <p:sp>
        <p:nvSpPr>
          <p:cNvPr id="13" name="Shape 11"/>
          <p:cNvSpPr/>
          <p:nvPr/>
        </p:nvSpPr>
        <p:spPr>
          <a:xfrm>
            <a:off x="5815584" y="3328416"/>
            <a:ext cx="256032" cy="0"/>
          </a:xfrm>
          <a:prstGeom prst="line">
            <a:avLst/>
          </a:prstGeom>
          <a:noFill/>
          <a:ln w="19050">
            <a:solidFill>
              <a:srgbClr val="64748B"/>
            </a:solidFill>
            <a:prstDash val="solid"/>
            <a:headEnd type="none"/>
            <a:tailEnd type="triangle"/>
          </a:ln>
        </p:spPr>
      </p:sp>
      <p:sp>
        <p:nvSpPr>
          <p:cNvPr id="14" name="Shape 12"/>
          <p:cNvSpPr/>
          <p:nvPr/>
        </p:nvSpPr>
        <p:spPr>
          <a:xfrm>
            <a:off x="6108192" y="2971800"/>
            <a:ext cx="1517904" cy="713232"/>
          </a:xfrm>
          <a:prstGeom prst="roundRect">
            <a:avLst>
              <a:gd name="adj" fmla="val 10256"/>
            </a:avLst>
          </a:prstGeom>
          <a:solidFill>
            <a:srgbClr val="FFFFFF"/>
          </a:solidFill>
          <a:ln w="12700">
            <a:solidFill>
              <a:srgbClr val="E2E8F0"/>
            </a:solidFill>
            <a:prstDash val="solid"/>
          </a:ln>
        </p:spPr>
      </p:sp>
      <p:sp>
        <p:nvSpPr>
          <p:cNvPr id="15" name="Text 13"/>
          <p:cNvSpPr/>
          <p:nvPr/>
        </p:nvSpPr>
        <p:spPr>
          <a:xfrm>
            <a:off x="6153912" y="2971800"/>
            <a:ext cx="1426464" cy="713232"/>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Augment</a:t>
            </a:r>
            <a:endParaRPr lang="en-US" sz="1200" dirty="0"/>
          </a:p>
        </p:txBody>
      </p:sp>
      <p:sp>
        <p:nvSpPr>
          <p:cNvPr id="16" name="Shape 14"/>
          <p:cNvSpPr/>
          <p:nvPr/>
        </p:nvSpPr>
        <p:spPr>
          <a:xfrm>
            <a:off x="7662672" y="3328416"/>
            <a:ext cx="256032" cy="0"/>
          </a:xfrm>
          <a:prstGeom prst="line">
            <a:avLst/>
          </a:prstGeom>
          <a:noFill/>
          <a:ln w="19050">
            <a:solidFill>
              <a:srgbClr val="64748B"/>
            </a:solidFill>
            <a:prstDash val="solid"/>
            <a:headEnd type="none"/>
            <a:tailEnd type="triangle"/>
          </a:ln>
        </p:spPr>
      </p:sp>
      <p:sp>
        <p:nvSpPr>
          <p:cNvPr id="17" name="Shape 15"/>
          <p:cNvSpPr/>
          <p:nvPr/>
        </p:nvSpPr>
        <p:spPr>
          <a:xfrm>
            <a:off x="7955280" y="2971800"/>
            <a:ext cx="1517904" cy="713232"/>
          </a:xfrm>
          <a:prstGeom prst="roundRect">
            <a:avLst>
              <a:gd name="adj" fmla="val 10256"/>
            </a:avLst>
          </a:prstGeom>
          <a:solidFill>
            <a:srgbClr val="FFFFFF"/>
          </a:solidFill>
          <a:ln w="12700">
            <a:solidFill>
              <a:srgbClr val="E2E8F0"/>
            </a:solidFill>
            <a:prstDash val="solid"/>
          </a:ln>
        </p:spPr>
      </p:sp>
      <p:sp>
        <p:nvSpPr>
          <p:cNvPr id="18" name="Text 16"/>
          <p:cNvSpPr/>
          <p:nvPr/>
        </p:nvSpPr>
        <p:spPr>
          <a:xfrm>
            <a:off x="8001000" y="2971800"/>
            <a:ext cx="1426464" cy="713232"/>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Model</a:t>
            </a:r>
            <a:endParaRPr lang="en-US" sz="1200" dirty="0"/>
          </a:p>
        </p:txBody>
      </p:sp>
      <p:sp>
        <p:nvSpPr>
          <p:cNvPr id="19" name="Shape 17"/>
          <p:cNvSpPr/>
          <p:nvPr/>
        </p:nvSpPr>
        <p:spPr>
          <a:xfrm>
            <a:off x="9509760" y="3328416"/>
            <a:ext cx="256032" cy="0"/>
          </a:xfrm>
          <a:prstGeom prst="line">
            <a:avLst/>
          </a:prstGeom>
          <a:noFill/>
          <a:ln w="19050">
            <a:solidFill>
              <a:srgbClr val="64748B"/>
            </a:solidFill>
            <a:prstDash val="solid"/>
            <a:headEnd type="none"/>
            <a:tailEnd type="triangle"/>
          </a:ln>
        </p:spPr>
      </p:sp>
      <p:sp>
        <p:nvSpPr>
          <p:cNvPr id="20" name="Shape 18"/>
          <p:cNvSpPr/>
          <p:nvPr/>
        </p:nvSpPr>
        <p:spPr>
          <a:xfrm>
            <a:off x="9802368" y="2971800"/>
            <a:ext cx="1517904" cy="713232"/>
          </a:xfrm>
          <a:prstGeom prst="roundRect">
            <a:avLst>
              <a:gd name="adj" fmla="val 10256"/>
            </a:avLst>
          </a:prstGeom>
          <a:solidFill>
            <a:srgbClr val="FFFFFF"/>
          </a:solidFill>
          <a:ln w="12700">
            <a:solidFill>
              <a:srgbClr val="E2E8F0"/>
            </a:solidFill>
            <a:prstDash val="solid"/>
          </a:ln>
        </p:spPr>
      </p:sp>
      <p:sp>
        <p:nvSpPr>
          <p:cNvPr id="21" name="Text 19"/>
          <p:cNvSpPr/>
          <p:nvPr/>
        </p:nvSpPr>
        <p:spPr>
          <a:xfrm>
            <a:off x="9848088" y="2971800"/>
            <a:ext cx="1426464" cy="713232"/>
          </a:xfrm>
          <a:prstGeom prst="rect">
            <a:avLst/>
          </a:prstGeom>
          <a:noFill/>
          <a:ln/>
        </p:spPr>
        <p:txBody>
          <a:bodyPr wrap="square" lIns="0" tIns="0" rIns="0" bIns="0" rtlCol="0" anchor="ctr"/>
          <a:lstStyle/>
          <a:p>
            <a:pPr algn="ctr" indent="0" marL="0">
              <a:buNone/>
            </a:pPr>
            <a:r>
              <a:rPr lang="en-US" sz="1200" dirty="0">
                <a:solidFill>
                  <a:srgbClr val="0F172A"/>
                </a:solidFill>
                <a:latin typeface="Calibri" pitchFamily="34" charset="0"/>
                <a:ea typeface="Calibri" pitchFamily="34" charset="-122"/>
                <a:cs typeface="Calibri" pitchFamily="34" charset="-120"/>
              </a:rPr>
              <a:t>Answer</a:t>
            </a:r>
            <a:endParaRPr lang="en-US" sz="1200" dirty="0"/>
          </a:p>
        </p:txBody>
      </p:sp>
      <p:sp>
        <p:nvSpPr>
          <p:cNvPr id="22" name="Text 20"/>
          <p:cNvSpPr/>
          <p:nvPr/>
        </p:nvSpPr>
        <p:spPr>
          <a:xfrm>
            <a:off x="566928" y="4160520"/>
            <a:ext cx="11057839" cy="45720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Every RAG system needs somewhere to put embeddings and search them by similarity. That place is the vector store. Today = that box.</a:t>
            </a:r>
            <a:endParaRPr lang="en-US" sz="1350" dirty="0"/>
          </a:p>
        </p:txBody>
      </p:sp>
      <p:sp>
        <p:nvSpPr>
          <p:cNvPr id="23" name="Text 21"/>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24" name="Text 22"/>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03</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What OpenSearch is</a:t>
            </a:r>
            <a:endParaRPr lang="en-US" sz="2900" dirty="0"/>
          </a:p>
        </p:txBody>
      </p:sp>
      <p:sp>
        <p:nvSpPr>
          <p:cNvPr id="4" name="Text 2"/>
          <p:cNvSpPr/>
          <p:nvPr/>
        </p:nvSpPr>
        <p:spPr>
          <a:xfrm>
            <a:off x="566928" y="1691640"/>
            <a:ext cx="5852160" cy="3657600"/>
          </a:xfrm>
          <a:prstGeom prst="rect">
            <a:avLst/>
          </a:prstGeom>
          <a:noFill/>
          <a:ln/>
        </p:spPr>
        <p:txBody>
          <a:bodyPr wrap="square" lIns="0" tIns="0" rIns="0" bIns="0" rtlCol="0" anchor="t"/>
          <a:lstStyle/>
          <a:p>
            <a:pPr marL="177800" indent="-177800">
              <a:spcAft>
                <a:spcPts val="800"/>
              </a:spcAft>
              <a:buSzPct val="100000"/>
              <a:buChar char="•"/>
            </a:pPr>
            <a:r>
              <a:rPr lang="en-US" sz="1450" b="1" dirty="0">
                <a:solidFill>
                  <a:srgbClr val="0F172A"/>
                </a:solidFill>
                <a:latin typeface="Calibri" pitchFamily="34" charset="0"/>
                <a:ea typeface="Calibri" pitchFamily="34" charset="-122"/>
                <a:cs typeface="Calibri" pitchFamily="34" charset="-120"/>
              </a:rPr>
              <a:t>OpenSearch = an open-source search + analytics engine (forked from Elasticsearch).</a:t>
            </a:r>
            <a:endParaRPr lang="en-US" sz="1450" dirty="0"/>
          </a:p>
          <a:p>
            <a:pPr marL="177800" indent="-177800">
              <a:spcAft>
                <a:spcPts val="800"/>
              </a:spcAft>
              <a:buSzPct val="100000"/>
              <a:buChar char="•"/>
            </a:pPr>
            <a:r>
              <a:rPr lang="en-US" sz="1450" dirty="0">
                <a:solidFill>
                  <a:srgbClr val="0F172A"/>
                </a:solidFill>
                <a:latin typeface="Calibri" pitchFamily="34" charset="0"/>
                <a:ea typeface="Calibri" pitchFamily="34" charset="-122"/>
                <a:cs typeface="Calibri" pitchFamily="34" charset="-120"/>
              </a:rPr>
              <a:t>Two ways to run it on AWS: managed domains, or Serverless (AOSS).</a:t>
            </a:r>
            <a:endParaRPr lang="en-US" sz="1450" dirty="0"/>
          </a:p>
          <a:p>
            <a:pPr marL="177800" indent="-177800">
              <a:spcAft>
                <a:spcPts val="800"/>
              </a:spcAft>
              <a:buSzPct val="100000"/>
              <a:buChar char="•"/>
            </a:pPr>
            <a:r>
              <a:rPr lang="en-US" sz="1450" dirty="0">
                <a:solidFill>
                  <a:srgbClr val="0F172A"/>
                </a:solidFill>
                <a:latin typeface="Calibri" pitchFamily="34" charset="0"/>
                <a:ea typeface="Calibri" pitchFamily="34" charset="-122"/>
                <a:cs typeface="Calibri" pitchFamily="34" charset="-120"/>
              </a:rPr>
              <a:t>Managed = you size and pay for instances.</a:t>
            </a:r>
            <a:endParaRPr lang="en-US" sz="1450" dirty="0"/>
          </a:p>
          <a:p>
            <a:pPr marL="177800" indent="-177800">
              <a:spcAft>
                <a:spcPts val="800"/>
              </a:spcAft>
              <a:buSzPct val="100000"/>
              <a:buChar char="•"/>
            </a:pPr>
            <a:r>
              <a:rPr lang="en-US" sz="1450" dirty="0">
                <a:solidFill>
                  <a:srgbClr val="0F172A"/>
                </a:solidFill>
                <a:latin typeface="Calibri" pitchFamily="34" charset="0"/>
                <a:ea typeface="Calibri" pitchFamily="34" charset="-122"/>
                <a:cs typeface="Calibri" pitchFamily="34" charset="-120"/>
              </a:rPr>
              <a:t>Serverless = AWS runs it, you pay for compute units. No servers to manage.</a:t>
            </a:r>
            <a:endParaRPr lang="en-US" sz="1450" dirty="0"/>
          </a:p>
          <a:p>
            <a:pPr marL="177800" indent="-177800">
              <a:spcAft>
                <a:spcPts val="800"/>
              </a:spcAft>
              <a:buSzPct val="100000"/>
              <a:buChar char="•"/>
            </a:pPr>
            <a:r>
              <a:rPr lang="en-US" sz="1450" b="1" dirty="0">
                <a:solidFill>
                  <a:srgbClr val="B45309"/>
                </a:solidFill>
                <a:latin typeface="Calibri" pitchFamily="34" charset="0"/>
                <a:ea typeface="Calibri" pitchFamily="34" charset="-122"/>
                <a:cs typeface="Calibri" pitchFamily="34" charset="-120"/>
              </a:rPr>
              <a:t>For RAG we use Serverless, vector-search flavour.</a:t>
            </a:r>
            <a:endParaRPr lang="en-US" sz="1450" dirty="0"/>
          </a:p>
        </p:txBody>
      </p:sp>
      <p:sp>
        <p:nvSpPr>
          <p:cNvPr id="5" name="Shape 3"/>
          <p:cNvSpPr/>
          <p:nvPr/>
        </p:nvSpPr>
        <p:spPr>
          <a:xfrm>
            <a:off x="6858000" y="1920240"/>
            <a:ext cx="4572000" cy="1417320"/>
          </a:xfrm>
          <a:prstGeom prst="roundRect">
            <a:avLst>
              <a:gd name="adj" fmla="val 3871"/>
            </a:avLst>
          </a:prstGeom>
          <a:solidFill>
            <a:srgbClr val="FFFFFF"/>
          </a:solidFill>
          <a:ln w="12700">
            <a:solidFill>
              <a:srgbClr val="E2E8F0"/>
            </a:solidFill>
            <a:prstDash val="solid"/>
          </a:ln>
        </p:spPr>
      </p:sp>
      <p:sp>
        <p:nvSpPr>
          <p:cNvPr id="6" name="Text 4"/>
          <p:cNvSpPr/>
          <p:nvPr/>
        </p:nvSpPr>
        <p:spPr>
          <a:xfrm>
            <a:off x="6967728" y="1920240"/>
            <a:ext cx="4352544" cy="1417320"/>
          </a:xfrm>
          <a:prstGeom prst="rect">
            <a:avLst/>
          </a:prstGeom>
          <a:noFill/>
          <a:ln/>
        </p:spPr>
        <p:txBody>
          <a:bodyPr wrap="square" lIns="0" tIns="0" rIns="0" bIns="0" rtlCol="0" anchor="ctr"/>
          <a:lstStyle/>
          <a:p>
            <a:pPr algn="l" indent="0" marL="0">
              <a:buNone/>
            </a:pPr>
            <a:r>
              <a:rPr lang="en-US" sz="900" spc="100" kern="0" dirty="0">
                <a:solidFill>
                  <a:srgbClr val="B45309"/>
                </a:solidFill>
                <a:latin typeface="Consolas" pitchFamily="34" charset="0"/>
                <a:ea typeface="Consolas" pitchFamily="34" charset="-122"/>
                <a:cs typeface="Consolas" pitchFamily="34" charset="-120"/>
              </a:rPr>
              <a:t>YOU RUN THE CLUSTER</a:t>
            </a:r>
            <a:endParaRPr lang="en-US" sz="900" dirty="0"/>
          </a:p>
          <a:p>
            <a:pPr algn="l" indent="0" marL="0">
              <a:buNone/>
            </a:pPr>
            <a:r>
              <a:rPr lang="en-US" sz="1500" b="1" dirty="0">
                <a:solidFill>
                  <a:srgbClr val="0F172A"/>
                </a:solidFill>
                <a:latin typeface="Georgia" pitchFamily="34" charset="0"/>
                <a:ea typeface="Georgia" pitchFamily="34" charset="-122"/>
                <a:cs typeface="Georgia" pitchFamily="34" charset="-120"/>
              </a:rPr>
              <a:t>Managed domains</a:t>
            </a:r>
            <a:endParaRPr lang="en-US" sz="900" dirty="0"/>
          </a:p>
          <a:p>
            <a:pPr algn="l" indent="0" marL="0">
              <a:buNone/>
            </a:pPr>
            <a:r>
              <a:rPr lang="en-US" sz="1000" dirty="0">
                <a:solidFill>
                  <a:srgbClr val="64748B"/>
                </a:solidFill>
                <a:latin typeface="Calibri" pitchFamily="34" charset="0"/>
                <a:ea typeface="Calibri" pitchFamily="34" charset="-122"/>
                <a:cs typeface="Calibri" pitchFamily="34" charset="-120"/>
              </a:rPr>
              <a:t>pick instance types + node counts</a:t>
            </a:r>
            <a:endParaRPr lang="en-US" sz="900" dirty="0"/>
          </a:p>
        </p:txBody>
      </p:sp>
      <p:sp>
        <p:nvSpPr>
          <p:cNvPr id="7" name="Shape 5"/>
          <p:cNvSpPr/>
          <p:nvPr/>
        </p:nvSpPr>
        <p:spPr>
          <a:xfrm>
            <a:off x="6858000" y="3611880"/>
            <a:ext cx="4572000" cy="1417320"/>
          </a:xfrm>
          <a:prstGeom prst="roundRect">
            <a:avLst>
              <a:gd name="adj" fmla="val 3871"/>
            </a:avLst>
          </a:prstGeom>
          <a:solidFill>
            <a:srgbClr val="FFFFFF"/>
          </a:solidFill>
          <a:ln w="19050">
            <a:solidFill>
              <a:srgbClr val="B45309"/>
            </a:solidFill>
            <a:prstDash val="solid"/>
          </a:ln>
        </p:spPr>
      </p:sp>
      <p:sp>
        <p:nvSpPr>
          <p:cNvPr id="8" name="Text 6"/>
          <p:cNvSpPr/>
          <p:nvPr/>
        </p:nvSpPr>
        <p:spPr>
          <a:xfrm>
            <a:off x="6967728" y="3611880"/>
            <a:ext cx="4352544" cy="1417320"/>
          </a:xfrm>
          <a:prstGeom prst="rect">
            <a:avLst/>
          </a:prstGeom>
          <a:noFill/>
          <a:ln/>
        </p:spPr>
        <p:txBody>
          <a:bodyPr wrap="square" lIns="0" tIns="0" rIns="0" bIns="0" rtlCol="0" anchor="ctr"/>
          <a:lstStyle/>
          <a:p>
            <a:pPr algn="l" indent="0" marL="0">
              <a:buNone/>
            </a:pPr>
            <a:r>
              <a:rPr lang="en-US" sz="900" spc="100" kern="0" dirty="0">
                <a:solidFill>
                  <a:srgbClr val="B45309"/>
                </a:solidFill>
                <a:latin typeface="Consolas" pitchFamily="34" charset="0"/>
                <a:ea typeface="Consolas" pitchFamily="34" charset="-122"/>
                <a:cs typeface="Consolas" pitchFamily="34" charset="-120"/>
              </a:rPr>
              <a:t>AWS RUNS IT</a:t>
            </a:r>
            <a:endParaRPr lang="en-US" sz="900" dirty="0"/>
          </a:p>
          <a:p>
            <a:pPr algn="l" indent="0" marL="0">
              <a:buNone/>
            </a:pPr>
            <a:r>
              <a:rPr lang="en-US" sz="1500" b="1" dirty="0">
                <a:solidFill>
                  <a:srgbClr val="0F172A"/>
                </a:solidFill>
                <a:latin typeface="Georgia" pitchFamily="34" charset="0"/>
                <a:ea typeface="Georgia" pitchFamily="34" charset="-122"/>
                <a:cs typeface="Georgia" pitchFamily="34" charset="-120"/>
              </a:rPr>
              <a:t>Serverless (AOSS)</a:t>
            </a:r>
            <a:endParaRPr lang="en-US" sz="900" dirty="0"/>
          </a:p>
          <a:p>
            <a:pPr algn="l" indent="0" marL="0">
              <a:buNone/>
            </a:pPr>
            <a:r>
              <a:rPr lang="en-US" sz="1000" dirty="0">
                <a:solidFill>
                  <a:srgbClr val="64748B"/>
                </a:solidFill>
                <a:latin typeface="Calibri" pitchFamily="34" charset="0"/>
                <a:ea typeface="Calibri" pitchFamily="34" charset="-122"/>
                <a:cs typeface="Calibri" pitchFamily="34" charset="-120"/>
              </a:rPr>
              <a:t>pay per compute unit (OCU)</a:t>
            </a:r>
            <a:endParaRPr lang="en-US" sz="900" dirty="0"/>
          </a:p>
        </p:txBody>
      </p:sp>
      <p:sp>
        <p:nvSpPr>
          <p:cNvPr id="9" name="Text 7"/>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10" name="Text 8"/>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04</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The object model (say it out loud)</a:t>
            </a:r>
            <a:endParaRPr lang="en-US" sz="2900" dirty="0"/>
          </a:p>
        </p:txBody>
      </p:sp>
      <p:sp>
        <p:nvSpPr>
          <p:cNvPr id="4" name="Shape 2"/>
          <p:cNvSpPr/>
          <p:nvPr/>
        </p:nvSpPr>
        <p:spPr>
          <a:xfrm>
            <a:off x="566928" y="1783080"/>
            <a:ext cx="6583680" cy="4023360"/>
          </a:xfrm>
          <a:prstGeom prst="roundRect">
            <a:avLst>
              <a:gd name="adj" fmla="val 1818"/>
            </a:avLst>
          </a:prstGeom>
          <a:solidFill>
            <a:srgbClr val="EEF0FF"/>
          </a:solidFill>
          <a:ln w="22225">
            <a:solidFill>
              <a:srgbClr val="4338CA"/>
            </a:solidFill>
            <a:prstDash val="solid"/>
          </a:ln>
        </p:spPr>
      </p:sp>
      <p:sp>
        <p:nvSpPr>
          <p:cNvPr id="5" name="Text 3"/>
          <p:cNvSpPr/>
          <p:nvPr/>
        </p:nvSpPr>
        <p:spPr>
          <a:xfrm>
            <a:off x="795528" y="1920240"/>
            <a:ext cx="6126480" cy="548640"/>
          </a:xfrm>
          <a:prstGeom prst="rect">
            <a:avLst/>
          </a:prstGeom>
          <a:noFill/>
          <a:ln/>
        </p:spPr>
        <p:txBody>
          <a:bodyPr wrap="square" lIns="0" tIns="0" rIns="0" bIns="0" rtlCol="0" anchor="ctr"/>
          <a:lstStyle/>
          <a:p>
            <a:pPr indent="0" marL="0">
              <a:buNone/>
            </a:pPr>
            <a:r>
              <a:rPr lang="en-US" sz="1100" b="1" spc="100" kern="0" dirty="0">
                <a:solidFill>
                  <a:srgbClr val="4338CA"/>
                </a:solidFill>
                <a:latin typeface="Consolas" pitchFamily="34" charset="0"/>
                <a:ea typeface="Consolas" pitchFamily="34" charset="-122"/>
                <a:cs typeface="Consolas" pitchFamily="34" charset="-120"/>
              </a:rPr>
              <a:t>COLLECTION</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the container — has an endpoint and a type</a:t>
            </a:r>
            <a:endParaRPr lang="en-US" sz="1100" dirty="0"/>
          </a:p>
        </p:txBody>
      </p:sp>
      <p:sp>
        <p:nvSpPr>
          <p:cNvPr id="6" name="Shape 4"/>
          <p:cNvSpPr/>
          <p:nvPr/>
        </p:nvSpPr>
        <p:spPr>
          <a:xfrm>
            <a:off x="1024128" y="2697480"/>
            <a:ext cx="5669280" cy="2880360"/>
          </a:xfrm>
          <a:prstGeom prst="roundRect">
            <a:avLst>
              <a:gd name="adj" fmla="val 2540"/>
            </a:avLst>
          </a:prstGeom>
          <a:solidFill>
            <a:srgbClr val="FFFFFF"/>
          </a:solidFill>
          <a:ln w="19050">
            <a:solidFill>
              <a:srgbClr val="1E293B"/>
            </a:solidFill>
            <a:prstDash val="solid"/>
          </a:ln>
        </p:spPr>
      </p:sp>
      <p:sp>
        <p:nvSpPr>
          <p:cNvPr id="7" name="Text 5"/>
          <p:cNvSpPr/>
          <p:nvPr/>
        </p:nvSpPr>
        <p:spPr>
          <a:xfrm>
            <a:off x="1252728" y="2834640"/>
            <a:ext cx="5212080" cy="548640"/>
          </a:xfrm>
          <a:prstGeom prst="rect">
            <a:avLst/>
          </a:prstGeom>
          <a:noFill/>
          <a:ln/>
        </p:spPr>
        <p:txBody>
          <a:bodyPr wrap="square" lIns="0" tIns="0" rIns="0" bIns="0" rtlCol="0" anchor="ctr"/>
          <a:lstStyle/>
          <a:p>
            <a:pPr indent="0" marL="0">
              <a:buNone/>
            </a:pPr>
            <a:r>
              <a:rPr lang="en-US" sz="1100" b="1" spc="100" kern="0" dirty="0">
                <a:solidFill>
                  <a:srgbClr val="1E293B"/>
                </a:solidFill>
                <a:latin typeface="Consolas" pitchFamily="34" charset="0"/>
                <a:ea typeface="Consolas" pitchFamily="34" charset="-122"/>
                <a:cs typeface="Consolas" pitchFamily="34" charset="-120"/>
              </a:rPr>
              <a:t>INDEX</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the schema — fields, the knn_vector field, similarity method</a:t>
            </a:r>
            <a:endParaRPr lang="en-US" sz="1100" dirty="0"/>
          </a:p>
        </p:txBody>
      </p:sp>
      <p:sp>
        <p:nvSpPr>
          <p:cNvPr id="8" name="Shape 6"/>
          <p:cNvSpPr/>
          <p:nvPr/>
        </p:nvSpPr>
        <p:spPr>
          <a:xfrm>
            <a:off x="1481328" y="3611880"/>
            <a:ext cx="4754880" cy="1828800"/>
          </a:xfrm>
          <a:prstGeom prst="roundRect">
            <a:avLst>
              <a:gd name="adj" fmla="val 4000"/>
            </a:avLst>
          </a:prstGeom>
          <a:solidFill>
            <a:srgbClr val="F8FAFC"/>
          </a:solidFill>
          <a:ln w="19050">
            <a:solidFill>
              <a:srgbClr val="0F766E"/>
            </a:solidFill>
            <a:prstDash val="solid"/>
          </a:ln>
        </p:spPr>
      </p:sp>
      <p:sp>
        <p:nvSpPr>
          <p:cNvPr id="9" name="Text 7"/>
          <p:cNvSpPr/>
          <p:nvPr/>
        </p:nvSpPr>
        <p:spPr>
          <a:xfrm>
            <a:off x="1709928" y="3886200"/>
            <a:ext cx="4297680" cy="1280160"/>
          </a:xfrm>
          <a:prstGeom prst="rect">
            <a:avLst/>
          </a:prstGeom>
          <a:noFill/>
          <a:ln/>
        </p:spPr>
        <p:txBody>
          <a:bodyPr wrap="square" lIns="0" tIns="0" rIns="0" bIns="0" rtlCol="0" anchor="ctr"/>
          <a:lstStyle/>
          <a:p>
            <a:pPr indent="0" marL="0">
              <a:buNone/>
            </a:pPr>
            <a:r>
              <a:rPr lang="en-US" sz="1100" b="1" spc="100" kern="0" dirty="0">
                <a:solidFill>
                  <a:srgbClr val="0F766E"/>
                </a:solidFill>
                <a:latin typeface="Consolas" pitchFamily="34" charset="0"/>
                <a:ea typeface="Consolas" pitchFamily="34" charset="-122"/>
                <a:cs typeface="Consolas" pitchFamily="34" charset="-120"/>
              </a:rPr>
              <a:t>DOCUMENT</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one record — the vector + its text + metadata</a:t>
            </a:r>
            <a:endParaRPr lang="en-US" sz="1100" dirty="0"/>
          </a:p>
          <a:p>
            <a:pPr indent="0" marL="0">
              <a:buNone/>
            </a:pPr>
            <a:r>
              <a:rPr lang="en-US" sz="1050" dirty="0">
                <a:solidFill>
                  <a:srgbClr val="0F172A"/>
                </a:solidFill>
                <a:latin typeface="Consolas" pitchFamily="34" charset="0"/>
                <a:ea typeface="Consolas" pitchFamily="34" charset="-122"/>
                <a:cs typeface="Consolas" pitchFamily="34" charset="-120"/>
              </a:rPr>
              <a:t>{ "embedding":[…], "text":"…", "source":"…" }</a:t>
            </a:r>
            <a:endParaRPr lang="en-US" sz="1100" dirty="0"/>
          </a:p>
        </p:txBody>
      </p:sp>
      <p:sp>
        <p:nvSpPr>
          <p:cNvPr id="10" name="Text 8"/>
          <p:cNvSpPr/>
          <p:nvPr/>
        </p:nvSpPr>
        <p:spPr>
          <a:xfrm>
            <a:off x="7635240" y="2194560"/>
            <a:ext cx="3931920" cy="3657600"/>
          </a:xfrm>
          <a:prstGeom prst="rect">
            <a:avLst/>
          </a:prstGeom>
          <a:noFill/>
          <a:ln/>
        </p:spPr>
        <p:txBody>
          <a:bodyPr wrap="square" lIns="0" tIns="0" rIns="0" bIns="0" rtlCol="0" anchor="t"/>
          <a:lstStyle/>
          <a:p>
            <a:pPr marL="177800" indent="-177800">
              <a:spcAft>
                <a:spcPts val="1200"/>
              </a:spcAft>
              <a:buSzPct val="100000"/>
              <a:buChar char="•"/>
            </a:pPr>
            <a:r>
              <a:rPr lang="en-US" sz="1400" b="1" dirty="0">
                <a:solidFill>
                  <a:srgbClr val="0F172A"/>
                </a:solidFill>
                <a:latin typeface="Calibri" pitchFamily="34" charset="0"/>
                <a:ea typeface="Calibri" pitchFamily="34" charset="-122"/>
                <a:cs typeface="Calibri" pitchFamily="34" charset="-120"/>
              </a:rPr>
              <a:t>Collection — what costs money, what you secure.</a:t>
            </a:r>
            <a:endParaRPr lang="en-US" sz="1400" dirty="0"/>
          </a:p>
          <a:p>
            <a:pPr marL="177800" indent="-177800">
              <a:spcAft>
                <a:spcPts val="1200"/>
              </a:spcAft>
              <a:buSzPct val="100000"/>
              <a:buChar char="•"/>
            </a:pPr>
            <a:r>
              <a:rPr lang="en-US" sz="1400" b="1" dirty="0">
                <a:solidFill>
                  <a:srgbClr val="0F172A"/>
                </a:solidFill>
                <a:latin typeface="Calibri" pitchFamily="34" charset="0"/>
                <a:ea typeface="Calibri" pitchFamily="34" charset="-122"/>
                <a:cs typeface="Calibri" pitchFamily="34" charset="-120"/>
              </a:rPr>
              <a:t>Index — what you query.</a:t>
            </a:r>
            <a:endParaRPr lang="en-US" sz="1400" dirty="0"/>
          </a:p>
          <a:p>
            <a:pPr marL="177800" indent="-177800">
              <a:spcAft>
                <a:spcPts val="1200"/>
              </a:spcAft>
              <a:buSzPct val="100000"/>
              <a:buChar char="•"/>
            </a:pPr>
            <a:r>
              <a:rPr lang="en-US" sz="1400" b="1" dirty="0">
                <a:solidFill>
                  <a:srgbClr val="0F172A"/>
                </a:solidFill>
                <a:latin typeface="Calibri" pitchFamily="34" charset="0"/>
                <a:ea typeface="Calibri" pitchFamily="34" charset="-122"/>
                <a:cs typeface="Calibri" pitchFamily="34" charset="-120"/>
              </a:rPr>
              <a:t>Document — what you store.</a:t>
            </a:r>
            <a:endParaRPr lang="en-US" sz="1400" dirty="0"/>
          </a:p>
          <a:p>
            <a:pPr marL="177800" indent="-177800">
              <a:spcAft>
                <a:spcPts val="1200"/>
              </a:spcAft>
              <a:buSzPct val="100000"/>
              <a:buChar char="•"/>
            </a:pPr>
            <a:r>
              <a:rPr lang="en-US" sz="1400" dirty="0">
                <a:solidFill>
                  <a:srgbClr val="0F172A"/>
                </a:solidFill>
                <a:latin typeface="Calibri" pitchFamily="34" charset="0"/>
                <a:ea typeface="Calibri" pitchFamily="34" charset="-122"/>
                <a:cs typeface="Calibri" pitchFamily="34" charset="-120"/>
              </a:rPr>
              <a:t>Most confusion comes from mixing these three up.</a:t>
            </a:r>
            <a:endParaRPr lang="en-US" sz="1400" dirty="0"/>
          </a:p>
        </p:txBody>
      </p:sp>
      <p:sp>
        <p:nvSpPr>
          <p:cNvPr id="11" name="Text 9"/>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12" name="Text 10"/>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05</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Collection types</a:t>
            </a:r>
            <a:endParaRPr lang="en-US" sz="2900" dirty="0"/>
          </a:p>
        </p:txBody>
      </p:sp>
      <p:sp>
        <p:nvSpPr>
          <p:cNvPr id="4" name="Shape 2"/>
          <p:cNvSpPr/>
          <p:nvPr/>
        </p:nvSpPr>
        <p:spPr>
          <a:xfrm>
            <a:off x="566928" y="2103120"/>
            <a:ext cx="3474720" cy="1371600"/>
          </a:xfrm>
          <a:prstGeom prst="roundRect">
            <a:avLst>
              <a:gd name="adj" fmla="val 4000"/>
            </a:avLst>
          </a:prstGeom>
          <a:solidFill>
            <a:srgbClr val="FFFFFF"/>
          </a:solidFill>
          <a:ln w="12700">
            <a:solidFill>
              <a:srgbClr val="E2E8F0"/>
            </a:solidFill>
            <a:prstDash val="solid"/>
          </a:ln>
        </p:spPr>
      </p:sp>
      <p:sp>
        <p:nvSpPr>
          <p:cNvPr id="5" name="Text 3"/>
          <p:cNvSpPr/>
          <p:nvPr/>
        </p:nvSpPr>
        <p:spPr>
          <a:xfrm>
            <a:off x="676656" y="2103120"/>
            <a:ext cx="3255264" cy="1371600"/>
          </a:xfrm>
          <a:prstGeom prst="rect">
            <a:avLst/>
          </a:prstGeom>
          <a:noFill/>
          <a:ln/>
        </p:spPr>
        <p:txBody>
          <a:bodyPr wrap="square" lIns="0" tIns="0" rIns="0" bIns="0" rtlCol="0" anchor="ctr"/>
          <a:lstStyle/>
          <a:p>
            <a:pPr algn="l" indent="0" marL="0">
              <a:buNone/>
            </a:pPr>
            <a:r>
              <a:rPr lang="en-US" sz="900" spc="100" kern="0" dirty="0">
                <a:solidFill>
                  <a:srgbClr val="B45309"/>
                </a:solidFill>
                <a:latin typeface="Consolas" pitchFamily="34" charset="0"/>
                <a:ea typeface="Consolas" pitchFamily="34" charset="-122"/>
                <a:cs typeface="Consolas" pitchFamily="34" charset="-120"/>
              </a:rPr>
              <a:t> </a:t>
            </a:r>
            <a:endParaRPr lang="en-US" sz="900" dirty="0"/>
          </a:p>
          <a:p>
            <a:pPr algn="l" indent="0" marL="0">
              <a:buNone/>
            </a:pPr>
            <a:r>
              <a:rPr lang="en-US" sz="1700" b="1" dirty="0">
                <a:solidFill>
                  <a:srgbClr val="0F172A"/>
                </a:solidFill>
                <a:latin typeface="Georgia" pitchFamily="34" charset="0"/>
                <a:ea typeface="Georgia" pitchFamily="34" charset="-122"/>
                <a:cs typeface="Georgia" pitchFamily="34" charset="-120"/>
              </a:rPr>
              <a:t>SEARCH</a:t>
            </a:r>
            <a:endParaRPr lang="en-US" sz="900" dirty="0"/>
          </a:p>
          <a:p>
            <a:pPr algn="l" indent="0" marL="0">
              <a:buNone/>
            </a:pPr>
            <a:r>
              <a:rPr lang="en-US" sz="1000" dirty="0">
                <a:solidFill>
                  <a:srgbClr val="64748B"/>
                </a:solidFill>
                <a:latin typeface="Calibri" pitchFamily="34" charset="0"/>
                <a:ea typeface="Calibri" pitchFamily="34" charset="-122"/>
                <a:cs typeface="Calibri" pitchFamily="34" charset="-120"/>
              </a:rPr>
              <a:t>full-text / log search</a:t>
            </a:r>
            <a:endParaRPr lang="en-US" sz="900" dirty="0"/>
          </a:p>
        </p:txBody>
      </p:sp>
      <p:sp>
        <p:nvSpPr>
          <p:cNvPr id="6" name="Shape 4"/>
          <p:cNvSpPr/>
          <p:nvPr/>
        </p:nvSpPr>
        <p:spPr>
          <a:xfrm>
            <a:off x="4279392" y="2103120"/>
            <a:ext cx="3474720" cy="1371600"/>
          </a:xfrm>
          <a:prstGeom prst="roundRect">
            <a:avLst>
              <a:gd name="adj" fmla="val 4000"/>
            </a:avLst>
          </a:prstGeom>
          <a:solidFill>
            <a:srgbClr val="FFFFFF"/>
          </a:solidFill>
          <a:ln w="12700">
            <a:solidFill>
              <a:srgbClr val="E2E8F0"/>
            </a:solidFill>
            <a:prstDash val="solid"/>
          </a:ln>
        </p:spPr>
      </p:sp>
      <p:sp>
        <p:nvSpPr>
          <p:cNvPr id="7" name="Text 5"/>
          <p:cNvSpPr/>
          <p:nvPr/>
        </p:nvSpPr>
        <p:spPr>
          <a:xfrm>
            <a:off x="4389120" y="2103120"/>
            <a:ext cx="3255264" cy="1371600"/>
          </a:xfrm>
          <a:prstGeom prst="rect">
            <a:avLst/>
          </a:prstGeom>
          <a:noFill/>
          <a:ln/>
        </p:spPr>
        <p:txBody>
          <a:bodyPr wrap="square" lIns="0" tIns="0" rIns="0" bIns="0" rtlCol="0" anchor="ctr"/>
          <a:lstStyle/>
          <a:p>
            <a:pPr algn="l" indent="0" marL="0">
              <a:buNone/>
            </a:pPr>
            <a:r>
              <a:rPr lang="en-US" sz="900" spc="100" kern="0" dirty="0">
                <a:solidFill>
                  <a:srgbClr val="B45309"/>
                </a:solidFill>
                <a:latin typeface="Consolas" pitchFamily="34" charset="0"/>
                <a:ea typeface="Consolas" pitchFamily="34" charset="-122"/>
                <a:cs typeface="Consolas" pitchFamily="34" charset="-120"/>
              </a:rPr>
              <a:t> </a:t>
            </a:r>
            <a:endParaRPr lang="en-US" sz="900" dirty="0"/>
          </a:p>
          <a:p>
            <a:pPr algn="l" indent="0" marL="0">
              <a:buNone/>
            </a:pPr>
            <a:r>
              <a:rPr lang="en-US" sz="1700" b="1" dirty="0">
                <a:solidFill>
                  <a:srgbClr val="0F172A"/>
                </a:solidFill>
                <a:latin typeface="Georgia" pitchFamily="34" charset="0"/>
                <a:ea typeface="Georgia" pitchFamily="34" charset="-122"/>
                <a:cs typeface="Georgia" pitchFamily="34" charset="-120"/>
              </a:rPr>
              <a:t>TIMESERIES</a:t>
            </a:r>
            <a:endParaRPr lang="en-US" sz="900" dirty="0"/>
          </a:p>
          <a:p>
            <a:pPr algn="l" indent="0" marL="0">
              <a:buNone/>
            </a:pPr>
            <a:r>
              <a:rPr lang="en-US" sz="1000" dirty="0">
                <a:solidFill>
                  <a:srgbClr val="64748B"/>
                </a:solidFill>
                <a:latin typeface="Calibri" pitchFamily="34" charset="0"/>
                <a:ea typeface="Calibri" pitchFamily="34" charset="-122"/>
                <a:cs typeface="Calibri" pitchFamily="34" charset="-120"/>
              </a:rPr>
              <a:t>logs + traces, time-optimised</a:t>
            </a:r>
            <a:endParaRPr lang="en-US" sz="900" dirty="0"/>
          </a:p>
        </p:txBody>
      </p:sp>
      <p:sp>
        <p:nvSpPr>
          <p:cNvPr id="8" name="Shape 6"/>
          <p:cNvSpPr/>
          <p:nvPr/>
        </p:nvSpPr>
        <p:spPr>
          <a:xfrm>
            <a:off x="7991856" y="2103120"/>
            <a:ext cx="3474720" cy="1371600"/>
          </a:xfrm>
          <a:prstGeom prst="roundRect">
            <a:avLst>
              <a:gd name="adj" fmla="val 4000"/>
            </a:avLst>
          </a:prstGeom>
          <a:solidFill>
            <a:srgbClr val="FBF1E6"/>
          </a:solidFill>
          <a:ln w="25400">
            <a:solidFill>
              <a:srgbClr val="B45309"/>
            </a:solidFill>
            <a:prstDash val="solid"/>
          </a:ln>
        </p:spPr>
      </p:sp>
      <p:sp>
        <p:nvSpPr>
          <p:cNvPr id="9" name="Text 7"/>
          <p:cNvSpPr/>
          <p:nvPr/>
        </p:nvSpPr>
        <p:spPr>
          <a:xfrm>
            <a:off x="8101584" y="2103120"/>
            <a:ext cx="3255264" cy="1371600"/>
          </a:xfrm>
          <a:prstGeom prst="rect">
            <a:avLst/>
          </a:prstGeom>
          <a:noFill/>
          <a:ln/>
        </p:spPr>
        <p:txBody>
          <a:bodyPr wrap="square" lIns="0" tIns="0" rIns="0" bIns="0" rtlCol="0" anchor="ctr"/>
          <a:lstStyle/>
          <a:p>
            <a:pPr algn="l" indent="0" marL="0">
              <a:buNone/>
            </a:pPr>
            <a:r>
              <a:rPr lang="en-US" sz="900" spc="100" kern="0" dirty="0">
                <a:solidFill>
                  <a:srgbClr val="B45309"/>
                </a:solidFill>
                <a:latin typeface="Consolas" pitchFamily="34" charset="0"/>
                <a:ea typeface="Consolas" pitchFamily="34" charset="-122"/>
                <a:cs typeface="Consolas" pitchFamily="34" charset="-120"/>
              </a:rPr>
              <a:t>USE THIS</a:t>
            </a:r>
            <a:endParaRPr lang="en-US" sz="900" dirty="0"/>
          </a:p>
          <a:p>
            <a:pPr algn="l" indent="0" marL="0">
              <a:buNone/>
            </a:pPr>
            <a:r>
              <a:rPr lang="en-US" sz="1700" b="1" dirty="0">
                <a:solidFill>
                  <a:srgbClr val="B45309"/>
                </a:solidFill>
                <a:latin typeface="Georgia" pitchFamily="34" charset="0"/>
                <a:ea typeface="Georgia" pitchFamily="34" charset="-122"/>
                <a:cs typeface="Georgia" pitchFamily="34" charset="-120"/>
              </a:rPr>
              <a:t>VECTORSEARCH</a:t>
            </a:r>
            <a:endParaRPr lang="en-US" sz="900" dirty="0"/>
          </a:p>
          <a:p>
            <a:pPr algn="l" indent="0" marL="0">
              <a:buNone/>
            </a:pPr>
            <a:r>
              <a:rPr lang="en-US" sz="1000" dirty="0">
                <a:solidFill>
                  <a:srgbClr val="64748B"/>
                </a:solidFill>
                <a:latin typeface="Calibri" pitchFamily="34" charset="0"/>
                <a:ea typeface="Calibri" pitchFamily="34" charset="-122"/>
                <a:cs typeface="Calibri" pitchFamily="34" charset="-120"/>
              </a:rPr>
              <a:t>embeddings + kNN — ours</a:t>
            </a:r>
            <a:endParaRPr lang="en-US" sz="900" dirty="0"/>
          </a:p>
        </p:txBody>
      </p:sp>
      <p:sp>
        <p:nvSpPr>
          <p:cNvPr id="10" name="Text 8"/>
          <p:cNvSpPr/>
          <p:nvPr/>
        </p:nvSpPr>
        <p:spPr>
          <a:xfrm>
            <a:off x="566928" y="3931920"/>
            <a:ext cx="11057839" cy="45720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Pick the wrong type at creation and you can't switch it. RAG = VECTORSEARCH, always.</a:t>
            </a:r>
            <a:endParaRPr lang="en-US" sz="1500" dirty="0"/>
          </a:p>
        </p:txBody>
      </p:sp>
      <p:sp>
        <p:nvSpPr>
          <p:cNvPr id="11" name="Text 9"/>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12" name="Text 10"/>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06</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Vector search in one slide</a:t>
            </a:r>
            <a:endParaRPr lang="en-US" sz="2900" dirty="0"/>
          </a:p>
        </p:txBody>
      </p:sp>
      <p:sp>
        <p:nvSpPr>
          <p:cNvPr id="4" name="Text 2"/>
          <p:cNvSpPr/>
          <p:nvPr/>
        </p:nvSpPr>
        <p:spPr>
          <a:xfrm>
            <a:off x="566928" y="1783080"/>
            <a:ext cx="6035040" cy="3657600"/>
          </a:xfrm>
          <a:prstGeom prst="rect">
            <a:avLst/>
          </a:prstGeom>
          <a:noFill/>
          <a:ln/>
        </p:spPr>
        <p:txBody>
          <a:bodyPr wrap="square" lIns="0" tIns="0" rIns="0" bIns="0" rtlCol="0" anchor="t"/>
          <a:lstStyle/>
          <a:p>
            <a:pPr marL="177800" indent="-177800">
              <a:spcAft>
                <a:spcPts val="800"/>
              </a:spcAft>
              <a:buSzPct val="100000"/>
              <a:buChar char="•"/>
            </a:pPr>
            <a:r>
              <a:rPr lang="en-US" sz="1450" dirty="0">
                <a:solidFill>
                  <a:srgbClr val="0F172A"/>
                </a:solidFill>
                <a:latin typeface="Calibri" pitchFamily="34" charset="0"/>
                <a:ea typeface="Calibri" pitchFamily="34" charset="-122"/>
                <a:cs typeface="Calibri" pitchFamily="34" charset="-120"/>
              </a:rPr>
              <a:t>Embedding = text turned into a list of numbers (a point in space).</a:t>
            </a:r>
            <a:endParaRPr lang="en-US" sz="1450" dirty="0"/>
          </a:p>
          <a:p>
            <a:pPr marL="177800" indent="-177800">
              <a:spcAft>
                <a:spcPts val="800"/>
              </a:spcAft>
              <a:buSzPct val="100000"/>
              <a:buChar char="•"/>
            </a:pPr>
            <a:r>
              <a:rPr lang="en-US" sz="1450" dirty="0">
                <a:solidFill>
                  <a:srgbClr val="0F172A"/>
                </a:solidFill>
                <a:latin typeface="Calibri" pitchFamily="34" charset="0"/>
                <a:ea typeface="Calibri" pitchFamily="34" charset="-122"/>
                <a:cs typeface="Calibri" pitchFamily="34" charset="-120"/>
              </a:rPr>
              <a:t>Similar meaning → nearby points.</a:t>
            </a:r>
            <a:endParaRPr lang="en-US" sz="1450" dirty="0"/>
          </a:p>
          <a:p>
            <a:pPr marL="177800" indent="-177800">
              <a:spcAft>
                <a:spcPts val="800"/>
              </a:spcAft>
              <a:buSzPct val="100000"/>
              <a:buChar char="•"/>
            </a:pPr>
            <a:r>
              <a:rPr lang="en-US" sz="1450" b="1" dirty="0">
                <a:solidFill>
                  <a:srgbClr val="0F172A"/>
                </a:solidFill>
                <a:latin typeface="Calibri" pitchFamily="34" charset="0"/>
                <a:ea typeface="Calibri" pitchFamily="34" charset="-122"/>
                <a:cs typeface="Calibri" pitchFamily="34" charset="-120"/>
              </a:rPr>
              <a:t>kNN = find the k nearest points to my query.</a:t>
            </a:r>
            <a:endParaRPr lang="en-US" sz="1450" dirty="0"/>
          </a:p>
          <a:p>
            <a:pPr marL="177800" indent="-177800">
              <a:spcAft>
                <a:spcPts val="800"/>
              </a:spcAft>
              <a:buSzPct val="100000"/>
              <a:buChar char="•"/>
            </a:pPr>
            <a:r>
              <a:rPr lang="en-US" sz="1450" dirty="0">
                <a:solidFill>
                  <a:srgbClr val="0F172A"/>
                </a:solidFill>
                <a:latin typeface="Calibri" pitchFamily="34" charset="0"/>
                <a:ea typeface="Calibri" pitchFamily="34" charset="-122"/>
                <a:cs typeface="Calibri" pitchFamily="34" charset="-120"/>
              </a:rPr>
              <a:t>HNSW = the graph algorithm that makes it fast.</a:t>
            </a:r>
            <a:endParaRPr lang="en-US" sz="1450" dirty="0"/>
          </a:p>
          <a:p>
            <a:pPr marL="177800" indent="-177800">
              <a:spcAft>
                <a:spcPts val="800"/>
              </a:spcAft>
              <a:buSzPct val="100000"/>
              <a:buChar char="•"/>
            </a:pPr>
            <a:r>
              <a:rPr lang="en-US" sz="1450" dirty="0">
                <a:solidFill>
                  <a:srgbClr val="0F172A"/>
                </a:solidFill>
                <a:latin typeface="Calibri" pitchFamily="34" charset="0"/>
                <a:ea typeface="Calibri" pitchFamily="34" charset="-122"/>
                <a:cs typeface="Calibri" pitchFamily="34" charset="-120"/>
              </a:rPr>
              <a:t>Engine = faiss / nmslib / lucene · Space = l2 / cosine / inner-product.</a:t>
            </a:r>
            <a:endParaRPr lang="en-US" sz="1450" dirty="0"/>
          </a:p>
        </p:txBody>
      </p:sp>
      <p:sp>
        <p:nvSpPr>
          <p:cNvPr id="5" name="Shape 3"/>
          <p:cNvSpPr/>
          <p:nvPr/>
        </p:nvSpPr>
        <p:spPr>
          <a:xfrm>
            <a:off x="7315200" y="1920240"/>
            <a:ext cx="4206240" cy="3657600"/>
          </a:xfrm>
          <a:prstGeom prst="roundRect">
            <a:avLst>
              <a:gd name="adj" fmla="val 1500"/>
            </a:avLst>
          </a:prstGeom>
          <a:solidFill>
            <a:srgbClr val="F8FAFC"/>
          </a:solidFill>
          <a:ln w="12700">
            <a:solidFill>
              <a:srgbClr val="E2E8F0"/>
            </a:solidFill>
            <a:prstDash val="solid"/>
          </a:ln>
        </p:spPr>
      </p:sp>
      <p:sp>
        <p:nvSpPr>
          <p:cNvPr id="6" name="Shape 4"/>
          <p:cNvSpPr/>
          <p:nvPr/>
        </p:nvSpPr>
        <p:spPr>
          <a:xfrm>
            <a:off x="8275320" y="2423160"/>
            <a:ext cx="1920240" cy="1920240"/>
          </a:xfrm>
          <a:prstGeom prst="oval">
            <a:avLst/>
          </a:prstGeom>
          <a:ln w="15875">
            <a:solidFill>
              <a:srgbClr val="B45309"/>
            </a:solidFill>
            <a:prstDash val="dash"/>
          </a:ln>
        </p:spPr>
      </p:sp>
      <p:sp>
        <p:nvSpPr>
          <p:cNvPr id="7" name="Shape 5"/>
          <p:cNvSpPr/>
          <p:nvPr/>
        </p:nvSpPr>
        <p:spPr>
          <a:xfrm>
            <a:off x="7891272" y="2587752"/>
            <a:ext cx="128016" cy="128016"/>
          </a:xfrm>
          <a:prstGeom prst="oval">
            <a:avLst/>
          </a:prstGeom>
          <a:solidFill>
            <a:srgbClr val="1E293B"/>
          </a:solidFill>
          <a:ln/>
        </p:spPr>
      </p:sp>
      <p:sp>
        <p:nvSpPr>
          <p:cNvPr id="8" name="Shape 6"/>
          <p:cNvSpPr/>
          <p:nvPr/>
        </p:nvSpPr>
        <p:spPr>
          <a:xfrm>
            <a:off x="8531352" y="3867912"/>
            <a:ext cx="128016" cy="128016"/>
          </a:xfrm>
          <a:prstGeom prst="oval">
            <a:avLst/>
          </a:prstGeom>
          <a:solidFill>
            <a:srgbClr val="1E293B"/>
          </a:solidFill>
          <a:ln/>
        </p:spPr>
      </p:sp>
      <p:sp>
        <p:nvSpPr>
          <p:cNvPr id="9" name="Shape 7"/>
          <p:cNvSpPr/>
          <p:nvPr/>
        </p:nvSpPr>
        <p:spPr>
          <a:xfrm>
            <a:off x="9079992" y="2770632"/>
            <a:ext cx="128016" cy="128016"/>
          </a:xfrm>
          <a:prstGeom prst="oval">
            <a:avLst/>
          </a:prstGeom>
          <a:solidFill>
            <a:srgbClr val="1E293B"/>
          </a:solidFill>
          <a:ln/>
        </p:spPr>
      </p:sp>
      <p:sp>
        <p:nvSpPr>
          <p:cNvPr id="10" name="Shape 8"/>
          <p:cNvSpPr/>
          <p:nvPr/>
        </p:nvSpPr>
        <p:spPr>
          <a:xfrm>
            <a:off x="10360152" y="2496312"/>
            <a:ext cx="128016" cy="128016"/>
          </a:xfrm>
          <a:prstGeom prst="oval">
            <a:avLst/>
          </a:prstGeom>
          <a:solidFill>
            <a:srgbClr val="1E293B"/>
          </a:solidFill>
          <a:ln/>
        </p:spPr>
      </p:sp>
      <p:sp>
        <p:nvSpPr>
          <p:cNvPr id="11" name="Shape 9"/>
          <p:cNvSpPr/>
          <p:nvPr/>
        </p:nvSpPr>
        <p:spPr>
          <a:xfrm>
            <a:off x="10817352" y="4233672"/>
            <a:ext cx="128016" cy="128016"/>
          </a:xfrm>
          <a:prstGeom prst="oval">
            <a:avLst/>
          </a:prstGeom>
          <a:solidFill>
            <a:srgbClr val="1E293B"/>
          </a:solidFill>
          <a:ln/>
        </p:spPr>
      </p:sp>
      <p:sp>
        <p:nvSpPr>
          <p:cNvPr id="12" name="Shape 10"/>
          <p:cNvSpPr/>
          <p:nvPr/>
        </p:nvSpPr>
        <p:spPr>
          <a:xfrm>
            <a:off x="8257032" y="4782312"/>
            <a:ext cx="128016" cy="128016"/>
          </a:xfrm>
          <a:prstGeom prst="oval">
            <a:avLst/>
          </a:prstGeom>
          <a:solidFill>
            <a:srgbClr val="1E293B"/>
          </a:solidFill>
          <a:ln/>
        </p:spPr>
      </p:sp>
      <p:sp>
        <p:nvSpPr>
          <p:cNvPr id="13" name="Shape 11"/>
          <p:cNvSpPr/>
          <p:nvPr/>
        </p:nvSpPr>
        <p:spPr>
          <a:xfrm>
            <a:off x="10177272" y="4873752"/>
            <a:ext cx="128016" cy="128016"/>
          </a:xfrm>
          <a:prstGeom prst="oval">
            <a:avLst/>
          </a:prstGeom>
          <a:solidFill>
            <a:srgbClr val="1E293B"/>
          </a:solidFill>
          <a:ln/>
        </p:spPr>
      </p:sp>
      <p:sp>
        <p:nvSpPr>
          <p:cNvPr id="14" name="Shape 12"/>
          <p:cNvSpPr/>
          <p:nvPr/>
        </p:nvSpPr>
        <p:spPr>
          <a:xfrm>
            <a:off x="9628632" y="3593592"/>
            <a:ext cx="128016" cy="128016"/>
          </a:xfrm>
          <a:prstGeom prst="oval">
            <a:avLst/>
          </a:prstGeom>
          <a:solidFill>
            <a:srgbClr val="1E293B"/>
          </a:solidFill>
          <a:ln/>
        </p:spPr>
      </p:sp>
      <p:sp>
        <p:nvSpPr>
          <p:cNvPr id="15" name="Shape 13"/>
          <p:cNvSpPr/>
          <p:nvPr/>
        </p:nvSpPr>
        <p:spPr>
          <a:xfrm>
            <a:off x="9144000" y="3291840"/>
            <a:ext cx="182880" cy="182880"/>
          </a:xfrm>
          <a:prstGeom prst="oval">
            <a:avLst/>
          </a:prstGeom>
          <a:solidFill>
            <a:srgbClr val="B45309"/>
          </a:solidFill>
          <a:ln/>
        </p:spPr>
      </p:sp>
      <p:sp>
        <p:nvSpPr>
          <p:cNvPr id="16" name="Text 14"/>
          <p:cNvSpPr/>
          <p:nvPr/>
        </p:nvSpPr>
        <p:spPr>
          <a:xfrm>
            <a:off x="9345168" y="3246120"/>
            <a:ext cx="1097280" cy="274320"/>
          </a:xfrm>
          <a:prstGeom prst="rect">
            <a:avLst/>
          </a:prstGeom>
          <a:noFill/>
          <a:ln/>
        </p:spPr>
        <p:txBody>
          <a:bodyPr wrap="square" lIns="0" tIns="0" rIns="0" bIns="0" rtlCol="0" anchor="ctr"/>
          <a:lstStyle/>
          <a:p>
            <a:pPr indent="0" marL="0">
              <a:buNone/>
            </a:pPr>
            <a:r>
              <a:rPr lang="en-US" sz="1000" dirty="0">
                <a:solidFill>
                  <a:srgbClr val="B45309"/>
                </a:solidFill>
                <a:latin typeface="Consolas" pitchFamily="34" charset="0"/>
                <a:ea typeface="Consolas" pitchFamily="34" charset="-122"/>
                <a:cs typeface="Consolas" pitchFamily="34" charset="-120"/>
              </a:rPr>
              <a:t>query</a:t>
            </a:r>
            <a:endParaRPr lang="en-US" sz="1000" dirty="0"/>
          </a:p>
        </p:txBody>
      </p:sp>
      <p:sp>
        <p:nvSpPr>
          <p:cNvPr id="17" name="Text 15"/>
          <p:cNvSpPr/>
          <p:nvPr/>
        </p:nvSpPr>
        <p:spPr>
          <a:xfrm>
            <a:off x="7315200" y="5248656"/>
            <a:ext cx="420624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3 nearest neighbours</a:t>
            </a:r>
            <a:endParaRPr lang="en-US" sz="1000" dirty="0"/>
          </a:p>
        </p:txBody>
      </p:sp>
      <p:sp>
        <p:nvSpPr>
          <p:cNvPr id="18" name="Text 16"/>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19" name="Text 17"/>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07</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The index mapping (must be exact)</a:t>
            </a:r>
            <a:endParaRPr lang="en-US" sz="2900" dirty="0"/>
          </a:p>
        </p:txBody>
      </p:sp>
      <p:sp>
        <p:nvSpPr>
          <p:cNvPr id="4" name="Text 2"/>
          <p:cNvSpPr/>
          <p:nvPr/>
        </p:nvSpPr>
        <p:spPr>
          <a:xfrm>
            <a:off x="566928" y="1627632"/>
            <a:ext cx="11057839" cy="365760"/>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Two things line up or nothing works: index.knn on, and dimension = what your embedding model returns.</a:t>
            </a:r>
            <a:endParaRPr lang="en-US" sz="1450" dirty="0"/>
          </a:p>
        </p:txBody>
      </p:sp>
      <p:sp>
        <p:nvSpPr>
          <p:cNvPr id="5" name="Shape 3"/>
          <p:cNvSpPr/>
          <p:nvPr/>
        </p:nvSpPr>
        <p:spPr>
          <a:xfrm>
            <a:off x="566928" y="2240280"/>
            <a:ext cx="10058400" cy="1732788"/>
          </a:xfrm>
          <a:prstGeom prst="roundRect">
            <a:avLst>
              <a:gd name="adj" fmla="val 3166"/>
            </a:avLst>
          </a:prstGeom>
          <a:solidFill>
            <a:srgbClr val="0F172A"/>
          </a:solidFill>
          <a:ln/>
          <a:effectLst>
            <a:outerShdw sx="100000" sy="100000" kx="0" ky="0" algn="bl" rotWithShape="0" blurRad="88900" dist="38100" dir="8100000">
              <a:srgbClr val="0F172A">
                <a:alpha val="10000"/>
              </a:srgbClr>
            </a:outerShdw>
          </a:effectLst>
        </p:spPr>
      </p:sp>
      <p:sp>
        <p:nvSpPr>
          <p:cNvPr id="6" name="Text 4"/>
          <p:cNvSpPr/>
          <p:nvPr/>
        </p:nvSpPr>
        <p:spPr>
          <a:xfrm>
            <a:off x="749808" y="2386584"/>
            <a:ext cx="9692640" cy="288036"/>
          </a:xfrm>
          <a:prstGeom prst="rect">
            <a:avLst/>
          </a:prstGeom>
          <a:noFill/>
          <a:ln/>
        </p:spPr>
        <p:txBody>
          <a:bodyPr wrap="square" lIns="0" tIns="0" rIns="0" bIns="0" rtlCol="0" anchor="ctr"/>
          <a:lstStyle/>
          <a:p>
            <a:pPr indent="0" marL="0">
              <a:buNone/>
            </a:pPr>
            <a:r>
              <a:rPr lang="en-US" sz="1400" dirty="0">
                <a:solidFill>
                  <a:srgbClr val="E2E8F0"/>
                </a:solidFill>
                <a:latin typeface="Consolas" pitchFamily="34" charset="0"/>
                <a:ea typeface="Consolas" pitchFamily="34" charset="-122"/>
                <a:cs typeface="Consolas" pitchFamily="34" charset="-120"/>
              </a:rPr>
              <a:t>"embedding": {</a:t>
            </a:r>
            <a:endParaRPr lang="en-US" sz="1400" dirty="0"/>
          </a:p>
        </p:txBody>
      </p:sp>
      <p:sp>
        <p:nvSpPr>
          <p:cNvPr id="7" name="Text 5"/>
          <p:cNvSpPr/>
          <p:nvPr/>
        </p:nvSpPr>
        <p:spPr>
          <a:xfrm>
            <a:off x="749808" y="2674620"/>
            <a:ext cx="9692640" cy="288036"/>
          </a:xfrm>
          <a:prstGeom prst="rect">
            <a:avLst/>
          </a:prstGeom>
          <a:noFill/>
          <a:ln/>
        </p:spPr>
        <p:txBody>
          <a:bodyPr wrap="square" lIns="0" tIns="0" rIns="0" bIns="0" rtlCol="0" anchor="ctr"/>
          <a:lstStyle/>
          <a:p>
            <a:pPr indent="0" marL="0">
              <a:buNone/>
            </a:pPr>
            <a:r>
              <a:rPr lang="en-US" sz="1400" dirty="0">
                <a:solidFill>
                  <a:srgbClr val="E2E8F0"/>
                </a:solidFill>
                <a:latin typeface="Consolas" pitchFamily="34" charset="0"/>
                <a:ea typeface="Consolas" pitchFamily="34" charset="-122"/>
                <a:cs typeface="Consolas" pitchFamily="34" charset="-120"/>
              </a:rPr>
              <a:t>  "type": "knn_vector",</a:t>
            </a:r>
            <a:endParaRPr lang="en-US" sz="1400" dirty="0"/>
          </a:p>
        </p:txBody>
      </p:sp>
      <p:sp>
        <p:nvSpPr>
          <p:cNvPr id="8" name="Shape 6"/>
          <p:cNvSpPr/>
          <p:nvPr/>
        </p:nvSpPr>
        <p:spPr>
          <a:xfrm>
            <a:off x="612648" y="2962656"/>
            <a:ext cx="9966960" cy="288036"/>
          </a:xfrm>
          <a:prstGeom prst="rect">
            <a:avLst/>
          </a:prstGeom>
          <a:solidFill>
            <a:srgbClr val="1E293B"/>
          </a:solidFill>
          <a:ln/>
        </p:spPr>
      </p:sp>
      <p:sp>
        <p:nvSpPr>
          <p:cNvPr id="9" name="Text 7"/>
          <p:cNvSpPr/>
          <p:nvPr/>
        </p:nvSpPr>
        <p:spPr>
          <a:xfrm>
            <a:off x="749808" y="2962656"/>
            <a:ext cx="9692640" cy="288036"/>
          </a:xfrm>
          <a:prstGeom prst="rect">
            <a:avLst/>
          </a:prstGeom>
          <a:noFill/>
          <a:ln/>
        </p:spPr>
        <p:txBody>
          <a:bodyPr wrap="square" lIns="0" tIns="0" rIns="0" bIns="0" rtlCol="0" anchor="ctr"/>
          <a:lstStyle/>
          <a:p>
            <a:pPr indent="0" marL="0">
              <a:buNone/>
            </a:pPr>
            <a:r>
              <a:rPr lang="en-US" sz="1400" dirty="0">
                <a:solidFill>
                  <a:srgbClr val="FBBF24"/>
                </a:solidFill>
                <a:latin typeface="Consolas" pitchFamily="34" charset="0"/>
                <a:ea typeface="Consolas" pitchFamily="34" charset="-122"/>
                <a:cs typeface="Consolas" pitchFamily="34" charset="-120"/>
              </a:rPr>
              <a:t>  "dimension": 1024,        # MUST match the model (Titan V2 = 1024)</a:t>
            </a:r>
            <a:endParaRPr lang="en-US" sz="1400" dirty="0"/>
          </a:p>
        </p:txBody>
      </p:sp>
      <p:sp>
        <p:nvSpPr>
          <p:cNvPr id="10" name="Text 8"/>
          <p:cNvSpPr/>
          <p:nvPr/>
        </p:nvSpPr>
        <p:spPr>
          <a:xfrm>
            <a:off x="749808" y="3250692"/>
            <a:ext cx="9692640" cy="288036"/>
          </a:xfrm>
          <a:prstGeom prst="rect">
            <a:avLst/>
          </a:prstGeom>
          <a:noFill/>
          <a:ln/>
        </p:spPr>
        <p:txBody>
          <a:bodyPr wrap="square" lIns="0" tIns="0" rIns="0" bIns="0" rtlCol="0" anchor="ctr"/>
          <a:lstStyle/>
          <a:p>
            <a:pPr indent="0" marL="0">
              <a:buNone/>
            </a:pPr>
            <a:r>
              <a:rPr lang="en-US" sz="1400" dirty="0">
                <a:solidFill>
                  <a:srgbClr val="E2E8F0"/>
                </a:solidFill>
                <a:latin typeface="Consolas" pitchFamily="34" charset="0"/>
                <a:ea typeface="Consolas" pitchFamily="34" charset="-122"/>
                <a:cs typeface="Consolas" pitchFamily="34" charset="-120"/>
              </a:rPr>
              <a:t>  "method": {"name":"hnsw","engine":"faiss","space_type":"l2"}</a:t>
            </a:r>
            <a:endParaRPr lang="en-US" sz="1400" dirty="0"/>
          </a:p>
        </p:txBody>
      </p:sp>
      <p:sp>
        <p:nvSpPr>
          <p:cNvPr id="11" name="Text 9"/>
          <p:cNvSpPr/>
          <p:nvPr/>
        </p:nvSpPr>
        <p:spPr>
          <a:xfrm>
            <a:off x="749808" y="3538728"/>
            <a:ext cx="9692640" cy="288036"/>
          </a:xfrm>
          <a:prstGeom prst="rect">
            <a:avLst/>
          </a:prstGeom>
          <a:noFill/>
          <a:ln/>
        </p:spPr>
        <p:txBody>
          <a:bodyPr wrap="square" lIns="0" tIns="0" rIns="0" bIns="0" rtlCol="0" anchor="ctr"/>
          <a:lstStyle/>
          <a:p>
            <a:pPr indent="0" marL="0">
              <a:buNone/>
            </a:pPr>
            <a:r>
              <a:rPr lang="en-US" sz="1400" dirty="0">
                <a:solidFill>
                  <a:srgbClr val="E2E8F0"/>
                </a:solidFill>
                <a:latin typeface="Consolas" pitchFamily="34" charset="0"/>
                <a:ea typeface="Consolas" pitchFamily="34" charset="-122"/>
                <a:cs typeface="Consolas" pitchFamily="34" charset="-120"/>
              </a:rPr>
              <a:t>}</a:t>
            </a:r>
            <a:endParaRPr lang="en-US" sz="1400" dirty="0"/>
          </a:p>
        </p:txBody>
      </p:sp>
      <p:sp>
        <p:nvSpPr>
          <p:cNvPr id="12" name="Text 10"/>
          <p:cNvSpPr/>
          <p:nvPr/>
        </p:nvSpPr>
        <p:spPr>
          <a:xfrm>
            <a:off x="566928" y="4160520"/>
            <a:ext cx="11057839"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Titan V2 = 1024 · Titan V1 = 1536 · Cohere = 1024.</a:t>
            </a:r>
            <a:endParaRPr lang="en-US" sz="1400" dirty="0"/>
          </a:p>
          <a:p>
            <a:pPr marL="177800" indent="-177800">
              <a:spcAft>
                <a:spcPts val="800"/>
              </a:spcAft>
              <a:buSzPct val="100000"/>
              <a:buChar char="•"/>
            </a:pPr>
            <a:r>
              <a:rPr lang="en-US" sz="1400" dirty="0">
                <a:solidFill>
                  <a:srgbClr val="B91C1C"/>
                </a:solidFill>
                <a:latin typeface="Calibri" pitchFamily="34" charset="0"/>
                <a:ea typeface="Calibri" pitchFamily="34" charset="-122"/>
                <a:cs typeface="Calibri" pitchFamily="34" charset="-120"/>
              </a:rPr>
              <a:t>Mismatch → a mapper_parsing / dimension error on the first write. The most common silent break.</a:t>
            </a:r>
            <a:endParaRPr lang="en-US" sz="1400" dirty="0"/>
          </a:p>
        </p:txBody>
      </p:sp>
      <p:sp>
        <p:nvSpPr>
          <p:cNvPr id="13" name="Text 11"/>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14" name="Text 12"/>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08</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The two locks (this is what you'll trip on)</a:t>
            </a:r>
            <a:endParaRPr lang="en-US" sz="2900" dirty="0"/>
          </a:p>
        </p:txBody>
      </p:sp>
      <p:sp>
        <p:nvSpPr>
          <p:cNvPr id="4" name="Shape 2"/>
          <p:cNvSpPr/>
          <p:nvPr/>
        </p:nvSpPr>
        <p:spPr>
          <a:xfrm>
            <a:off x="566928" y="1828800"/>
            <a:ext cx="5074920" cy="2606040"/>
          </a:xfrm>
          <a:prstGeom prst="roundRect">
            <a:avLst>
              <a:gd name="adj" fmla="val 2456"/>
            </a:avLst>
          </a:prstGeom>
          <a:solidFill>
            <a:srgbClr val="FFFFFF"/>
          </a:solidFill>
          <a:ln w="22225">
            <a:solidFill>
              <a:srgbClr val="4338CA"/>
            </a:solidFill>
            <a:prstDash val="solid"/>
          </a:ln>
          <a:effectLst>
            <a:outerShdw sx="100000" sy="100000" kx="0" ky="0" algn="bl" rotWithShape="0" blurRad="88900" dist="38100" dir="8100000">
              <a:srgbClr val="0F172A">
                <a:alpha val="10000"/>
              </a:srgbClr>
            </a:outerShdw>
          </a:effectLst>
        </p:spPr>
      </p:sp>
      <p:sp>
        <p:nvSpPr>
          <p:cNvPr id="5" name="Text 3"/>
          <p:cNvSpPr/>
          <p:nvPr/>
        </p:nvSpPr>
        <p:spPr>
          <a:xfrm>
            <a:off x="795528" y="1993392"/>
            <a:ext cx="4617720" cy="777240"/>
          </a:xfrm>
          <a:prstGeom prst="rect">
            <a:avLst/>
          </a:prstGeom>
          <a:noFill/>
          <a:ln/>
        </p:spPr>
        <p:txBody>
          <a:bodyPr wrap="square" lIns="0" tIns="0" rIns="0" bIns="0" rtlCol="0" anchor="ctr"/>
          <a:lstStyle/>
          <a:p>
            <a:pPr indent="0" marL="0">
              <a:buNone/>
            </a:pPr>
            <a:r>
              <a:rPr lang="en-US" sz="1000" b="1" spc="100" kern="0" dirty="0">
                <a:solidFill>
                  <a:srgbClr val="4338CA"/>
                </a:solidFill>
                <a:latin typeface="Consolas" pitchFamily="34" charset="0"/>
                <a:ea typeface="Consolas" pitchFamily="34" charset="-122"/>
                <a:cs typeface="Consolas" pitchFamily="34" charset="-120"/>
              </a:rPr>
              <a:t>LOCK 1 — IAM GATEWAY</a:t>
            </a:r>
            <a:endParaRPr lang="en-US" sz="1000" dirty="0"/>
          </a:p>
          <a:p>
            <a:pPr indent="0" marL="0">
              <a:spcAft>
                <a:spcPts val="600"/>
              </a:spcAft>
              <a:buNone/>
            </a:pPr>
            <a:r>
              <a:rPr lang="en-US" sz="1600" b="1" dirty="0">
                <a:solidFill>
                  <a:srgbClr val="0F172A"/>
                </a:solidFill>
                <a:latin typeface="Georgia" pitchFamily="34" charset="0"/>
                <a:ea typeface="Georgia" pitchFamily="34" charset="-122"/>
                <a:cs typeface="Georgia" pitchFamily="34" charset="-120"/>
              </a:rPr>
              <a:t>Can you reach the endpoint?</a:t>
            </a:r>
            <a:endParaRPr lang="en-US" sz="1000" dirty="0"/>
          </a:p>
        </p:txBody>
      </p:sp>
      <p:sp>
        <p:nvSpPr>
          <p:cNvPr id="6" name="Text 4"/>
          <p:cNvSpPr/>
          <p:nvPr/>
        </p:nvSpPr>
        <p:spPr>
          <a:xfrm>
            <a:off x="795528" y="2971800"/>
            <a:ext cx="4617720" cy="45720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Grant:  </a:t>
            </a:r>
            <a:pPr indent="0" marL="0">
              <a:buNone/>
            </a:pPr>
            <a:r>
              <a:rPr lang="en-US" sz="1150" dirty="0">
                <a:solidFill>
                  <a:srgbClr val="0F172A"/>
                </a:solidFill>
                <a:latin typeface="Consolas" pitchFamily="34" charset="0"/>
                <a:ea typeface="Consolas" pitchFamily="34" charset="-122"/>
                <a:cs typeface="Consolas" pitchFamily="34" charset="-120"/>
              </a:rPr>
              <a:t>aoss:APIAccessAll</a:t>
            </a:r>
            <a:endParaRPr lang="en-US" sz="1200" dirty="0"/>
          </a:p>
        </p:txBody>
      </p:sp>
      <p:sp>
        <p:nvSpPr>
          <p:cNvPr id="7" name="Text 5"/>
          <p:cNvSpPr/>
          <p:nvPr/>
        </p:nvSpPr>
        <p:spPr>
          <a:xfrm>
            <a:off x="795528" y="3611880"/>
            <a:ext cx="4617720" cy="640080"/>
          </a:xfrm>
          <a:prstGeom prst="rect">
            <a:avLst/>
          </a:prstGeom>
          <a:noFill/>
          <a:ln/>
        </p:spPr>
        <p:txBody>
          <a:bodyPr wrap="square" lIns="0" tIns="0" rIns="0" bIns="0" rtlCol="0" anchor="t"/>
          <a:lstStyle/>
          <a:p>
            <a:pPr indent="0" marL="0">
              <a:buNone/>
            </a:pPr>
            <a:r>
              <a:rPr lang="en-US" sz="1200" b="1" dirty="0">
                <a:solidFill>
                  <a:srgbClr val="1E293B"/>
                </a:solidFill>
                <a:latin typeface="Calibri" pitchFamily="34" charset="0"/>
                <a:ea typeface="Calibri" pitchFamily="34" charset="-122"/>
                <a:cs typeface="Calibri" pitchFamily="34" charset="-120"/>
              </a:rPr>
              <a:t>If missing:  </a:t>
            </a:r>
            <a:pPr indent="0" marL="0">
              <a:buNone/>
            </a:pPr>
            <a:r>
              <a:rPr lang="en-US" sz="1150" dirty="0">
                <a:solidFill>
                  <a:srgbClr val="B91C1C"/>
                </a:solidFill>
                <a:latin typeface="Calibri" pitchFamily="34" charset="0"/>
                <a:ea typeface="Calibri" pitchFamily="34" charset="-122"/>
                <a:cs typeface="Calibri" pitchFamily="34" charset="-120"/>
              </a:rPr>
              <a:t>403 the moment you connect</a:t>
            </a:r>
            <a:endParaRPr lang="en-US" sz="1200" dirty="0"/>
          </a:p>
        </p:txBody>
      </p:sp>
      <p:sp>
        <p:nvSpPr>
          <p:cNvPr id="8" name="Shape 6"/>
          <p:cNvSpPr/>
          <p:nvPr/>
        </p:nvSpPr>
        <p:spPr>
          <a:xfrm>
            <a:off x="6510528" y="1828800"/>
            <a:ext cx="5074920" cy="2606040"/>
          </a:xfrm>
          <a:prstGeom prst="roundRect">
            <a:avLst>
              <a:gd name="adj" fmla="val 2456"/>
            </a:avLst>
          </a:prstGeom>
          <a:solidFill>
            <a:srgbClr val="FFFFFF"/>
          </a:solidFill>
          <a:ln w="22225">
            <a:solidFill>
              <a:srgbClr val="0F766E"/>
            </a:solidFill>
            <a:prstDash val="solid"/>
          </a:ln>
          <a:effectLst>
            <a:outerShdw sx="100000" sy="100000" kx="0" ky="0" algn="bl" rotWithShape="0" blurRad="88900" dist="38100" dir="8100000">
              <a:srgbClr val="0F172A">
                <a:alpha val="10000"/>
              </a:srgbClr>
            </a:outerShdw>
          </a:effectLst>
        </p:spPr>
      </p:sp>
      <p:sp>
        <p:nvSpPr>
          <p:cNvPr id="9" name="Text 7"/>
          <p:cNvSpPr/>
          <p:nvPr/>
        </p:nvSpPr>
        <p:spPr>
          <a:xfrm>
            <a:off x="6739128" y="1993392"/>
            <a:ext cx="4617720" cy="777240"/>
          </a:xfrm>
          <a:prstGeom prst="rect">
            <a:avLst/>
          </a:prstGeom>
          <a:noFill/>
          <a:ln/>
        </p:spPr>
        <p:txBody>
          <a:bodyPr wrap="square" lIns="0" tIns="0" rIns="0" bIns="0" rtlCol="0" anchor="ctr"/>
          <a:lstStyle/>
          <a:p>
            <a:pPr indent="0" marL="0">
              <a:buNone/>
            </a:pPr>
            <a:r>
              <a:rPr lang="en-US" sz="1000" b="1" spc="100" kern="0" dirty="0">
                <a:solidFill>
                  <a:srgbClr val="0F766E"/>
                </a:solidFill>
                <a:latin typeface="Consolas" pitchFamily="34" charset="0"/>
                <a:ea typeface="Consolas" pitchFamily="34" charset="-122"/>
                <a:cs typeface="Consolas" pitchFamily="34" charset="-120"/>
              </a:rPr>
              <a:t>LOCK 2 — DATA ACCESS POLICY</a:t>
            </a:r>
            <a:endParaRPr lang="en-US" sz="1000" dirty="0"/>
          </a:p>
          <a:p>
            <a:pPr indent="0" marL="0">
              <a:spcAft>
                <a:spcPts val="600"/>
              </a:spcAft>
              <a:buNone/>
            </a:pPr>
            <a:r>
              <a:rPr lang="en-US" sz="1600" b="1" dirty="0">
                <a:solidFill>
                  <a:srgbClr val="0F172A"/>
                </a:solidFill>
                <a:latin typeface="Georgia" pitchFamily="34" charset="0"/>
                <a:ea typeface="Georgia" pitchFamily="34" charset="-122"/>
                <a:cs typeface="Georgia" pitchFamily="34" charset="-120"/>
              </a:rPr>
              <a:t>Can you do index ops?</a:t>
            </a:r>
            <a:endParaRPr lang="en-US" sz="1000" dirty="0"/>
          </a:p>
        </p:txBody>
      </p:sp>
      <p:sp>
        <p:nvSpPr>
          <p:cNvPr id="10" name="Text 8"/>
          <p:cNvSpPr/>
          <p:nvPr/>
        </p:nvSpPr>
        <p:spPr>
          <a:xfrm>
            <a:off x="6739128" y="2971800"/>
            <a:ext cx="4617720" cy="45720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Grant:  </a:t>
            </a:r>
            <a:pPr indent="0" marL="0">
              <a:buNone/>
            </a:pPr>
            <a:r>
              <a:rPr lang="en-US" sz="1150" dirty="0">
                <a:solidFill>
                  <a:srgbClr val="0F172A"/>
                </a:solidFill>
                <a:latin typeface="Consolas" pitchFamily="34" charset="0"/>
                <a:ea typeface="Consolas" pitchFamily="34" charset="-122"/>
                <a:cs typeface="Consolas" pitchFamily="34" charset="-120"/>
              </a:rPr>
              <a:t>your ARN, with index perms</a:t>
            </a:r>
            <a:endParaRPr lang="en-US" sz="1200" dirty="0"/>
          </a:p>
        </p:txBody>
      </p:sp>
      <p:sp>
        <p:nvSpPr>
          <p:cNvPr id="11" name="Text 9"/>
          <p:cNvSpPr/>
          <p:nvPr/>
        </p:nvSpPr>
        <p:spPr>
          <a:xfrm>
            <a:off x="6739128" y="3611880"/>
            <a:ext cx="4617720" cy="640080"/>
          </a:xfrm>
          <a:prstGeom prst="rect">
            <a:avLst/>
          </a:prstGeom>
          <a:noFill/>
          <a:ln/>
        </p:spPr>
        <p:txBody>
          <a:bodyPr wrap="square" lIns="0" tIns="0" rIns="0" bIns="0" rtlCol="0" anchor="t"/>
          <a:lstStyle/>
          <a:p>
            <a:pPr indent="0" marL="0">
              <a:buNone/>
            </a:pPr>
            <a:r>
              <a:rPr lang="en-US" sz="1200" b="1" dirty="0">
                <a:solidFill>
                  <a:srgbClr val="1E293B"/>
                </a:solidFill>
                <a:latin typeface="Calibri" pitchFamily="34" charset="0"/>
                <a:ea typeface="Calibri" pitchFamily="34" charset="-122"/>
                <a:cs typeface="Calibri" pitchFamily="34" charset="-120"/>
              </a:rPr>
              <a:t>If missing:  </a:t>
            </a:r>
            <a:pPr indent="0" marL="0">
              <a:buNone/>
            </a:pPr>
            <a:r>
              <a:rPr lang="en-US" sz="1150" dirty="0">
                <a:solidFill>
                  <a:srgbClr val="B91C1C"/>
                </a:solidFill>
                <a:latin typeface="Calibri" pitchFamily="34" charset="0"/>
                <a:ea typeface="Calibri" pitchFamily="34" charset="-122"/>
                <a:cs typeface="Calibri" pitchFamily="34" charset="-120"/>
              </a:rPr>
              <a:t>403 only on create / read / write</a:t>
            </a:r>
            <a:endParaRPr lang="en-US" sz="1200" dirty="0"/>
          </a:p>
        </p:txBody>
      </p:sp>
      <p:sp>
        <p:nvSpPr>
          <p:cNvPr id="12" name="Text 10"/>
          <p:cNvSpPr/>
          <p:nvPr/>
        </p:nvSpPr>
        <p:spPr>
          <a:xfrm>
            <a:off x="566928" y="4709160"/>
            <a:ext cx="11057839"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Both must open. IAM gets you to the door; the data access policy turns the key.</a:t>
            </a:r>
            <a:endParaRPr lang="en-US" sz="1500" dirty="0"/>
          </a:p>
        </p:txBody>
      </p:sp>
      <p:sp>
        <p:nvSpPr>
          <p:cNvPr id="13" name="Text 11"/>
          <p:cNvSpPr/>
          <p:nvPr/>
        </p:nvSpPr>
        <p:spPr>
          <a:xfrm>
            <a:off x="566928" y="5120640"/>
            <a:ext cx="11057839" cy="36576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Managed OpenSearch = one lock.   Serverless = two. Either missing looks identical: HTTP 403.</a:t>
            </a:r>
            <a:endParaRPr lang="en-US" sz="1350" dirty="0"/>
          </a:p>
        </p:txBody>
      </p:sp>
      <p:sp>
        <p:nvSpPr>
          <p:cNvPr id="14" name="Text 12"/>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15" name="Text 13"/>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09</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Reading the 403</a:t>
            </a:r>
            <a:endParaRPr lang="en-US" sz="2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11057839" cy="914400"/>
        </p:xfrm>
        <a:graphic>
          <a:graphicData uri="http://schemas.openxmlformats.org/drawingml/2006/table">
            <a:tbl>
              <a:tblPr/>
              <a:tblGrid>
                <a:gridCol w="4206240"/>
                <a:gridCol w="3200400"/>
                <a:gridCol w="3685032"/>
              </a:tblGrid>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You see</a:t>
                      </a:r>
                      <a:endParaRPr lang="en-US" sz="115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It's</a:t>
                      </a:r>
                      <a:endParaRPr lang="en-US" sz="115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Fix</a:t>
                      </a:r>
                      <a:endParaRPr lang="en-US" sz="115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566928">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403 naming aoss:APIAccessAll</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Lock 1 — IAM gateway</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add the IAM gateway permission</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66928">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403 'no permissions for the resource' on create / search</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Lock 2 — data access policy</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add your ARN to the policy</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566928">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403 / SignatureDoesNotMatch on every call</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wrong SigV4 service name</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use service = "aoss", not "es"</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4754880"/>
            <a:ext cx="11057839" cy="36576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The third row isn't a lock at all — it's the SigV4 service name, and it's the single most common code bug.</a:t>
            </a:r>
            <a:endParaRPr lang="en-US" sz="1350" dirty="0"/>
          </a:p>
        </p:txBody>
      </p:sp>
      <p:sp>
        <p:nvSpPr>
          <p:cNvPr id="6" name="Text 3"/>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7" name="Text 4"/>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10</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How a collection is secured (4 parts, not 1)</a:t>
            </a:r>
            <a:endParaRPr lang="en-US" sz="2900" dirty="0"/>
          </a:p>
        </p:txBody>
      </p:sp>
      <p:sp>
        <p:nvSpPr>
          <p:cNvPr id="4" name="Shape 2"/>
          <p:cNvSpPr/>
          <p:nvPr/>
        </p:nvSpPr>
        <p:spPr>
          <a:xfrm>
            <a:off x="4937760" y="3154680"/>
            <a:ext cx="2331720" cy="1097280"/>
          </a:xfrm>
          <a:prstGeom prst="roundRect">
            <a:avLst>
              <a:gd name="adj" fmla="val 5000"/>
            </a:avLst>
          </a:prstGeom>
          <a:solidFill>
            <a:srgbClr val="EEF0FF"/>
          </a:solidFill>
          <a:ln w="25400">
            <a:solidFill>
              <a:srgbClr val="4338CA"/>
            </a:solidFill>
            <a:prstDash val="solid"/>
          </a:ln>
        </p:spPr>
      </p:sp>
      <p:sp>
        <p:nvSpPr>
          <p:cNvPr id="5" name="Text 3"/>
          <p:cNvSpPr/>
          <p:nvPr/>
        </p:nvSpPr>
        <p:spPr>
          <a:xfrm>
            <a:off x="5047488" y="3154680"/>
            <a:ext cx="2112264" cy="1097280"/>
          </a:xfrm>
          <a:prstGeom prst="rect">
            <a:avLst/>
          </a:prstGeom>
          <a:noFill/>
          <a:ln/>
        </p:spPr>
        <p:txBody>
          <a:bodyPr wrap="square" lIns="0" tIns="0" rIns="0" bIns="0" rtlCol="0" anchor="ctr"/>
          <a:lstStyle/>
          <a:p>
            <a:pPr algn="ctr" indent="0" marL="0">
              <a:buNone/>
            </a:pPr>
            <a:r>
              <a:rPr lang="en-US" sz="1600" b="1" dirty="0">
                <a:solidFill>
                  <a:srgbClr val="4338CA"/>
                </a:solidFill>
                <a:latin typeface="Georgia" pitchFamily="34" charset="0"/>
                <a:ea typeface="Georgia" pitchFamily="34" charset="-122"/>
                <a:cs typeface="Georgia" pitchFamily="34" charset="-120"/>
              </a:rPr>
              <a:t>Collection</a:t>
            </a:r>
            <a:endParaRPr lang="en-US" sz="1600" dirty="0"/>
          </a:p>
        </p:txBody>
      </p:sp>
      <p:sp>
        <p:nvSpPr>
          <p:cNvPr id="6" name="Shape 4"/>
          <p:cNvSpPr/>
          <p:nvPr/>
        </p:nvSpPr>
        <p:spPr>
          <a:xfrm>
            <a:off x="1417320" y="1828800"/>
            <a:ext cx="3383280" cy="1051560"/>
          </a:xfrm>
          <a:prstGeom prst="roundRect">
            <a:avLst>
              <a:gd name="adj" fmla="val 5217"/>
            </a:avLst>
          </a:prstGeom>
          <a:solidFill>
            <a:srgbClr val="FFFFFF"/>
          </a:solidFill>
          <a:ln w="12700">
            <a:solidFill>
              <a:srgbClr val="E2E8F0"/>
            </a:solidFill>
            <a:prstDash val="solid"/>
          </a:ln>
        </p:spPr>
      </p:sp>
      <p:sp>
        <p:nvSpPr>
          <p:cNvPr id="7" name="Text 5"/>
          <p:cNvSpPr/>
          <p:nvPr/>
        </p:nvSpPr>
        <p:spPr>
          <a:xfrm>
            <a:off x="1527048" y="1828800"/>
            <a:ext cx="3163824" cy="1051560"/>
          </a:xfrm>
          <a:prstGeom prst="rect">
            <a:avLst/>
          </a:prstGeom>
          <a:noFill/>
          <a:ln/>
        </p:spPr>
        <p:txBody>
          <a:bodyPr wrap="square" lIns="0" tIns="0" rIns="0" bIns="0" rtlCol="0" anchor="ctr"/>
          <a:lstStyle/>
          <a:p>
            <a:pPr algn="l" indent="0" marL="0">
              <a:buNone/>
            </a:pPr>
            <a:r>
              <a:rPr lang="en-US" sz="1350" b="1" dirty="0">
                <a:solidFill>
                  <a:srgbClr val="0F172A"/>
                </a:solidFill>
                <a:latin typeface="Georgia" pitchFamily="34" charset="0"/>
                <a:ea typeface="Georgia" pitchFamily="34" charset="-122"/>
                <a:cs typeface="Georgia" pitchFamily="34" charset="-120"/>
              </a:rPr>
              <a:t>Encryption policy</a:t>
            </a:r>
            <a:endParaRPr lang="en-US" sz="1350" dirty="0"/>
          </a:p>
          <a:p>
            <a:pPr algn="l" indent="0" marL="0">
              <a:buNone/>
            </a:pPr>
            <a:r>
              <a:rPr lang="en-US" sz="1000" dirty="0">
                <a:solidFill>
                  <a:srgbClr val="64748B"/>
                </a:solidFill>
                <a:latin typeface="Calibri" pitchFamily="34" charset="0"/>
                <a:ea typeface="Calibri" pitchFamily="34" charset="-122"/>
                <a:cs typeface="Calibri" pitchFamily="34" charset="-120"/>
              </a:rPr>
              <a:t>KMS key (AWS-owned in lab)</a:t>
            </a:r>
            <a:endParaRPr lang="en-US" sz="1350" dirty="0"/>
          </a:p>
        </p:txBody>
      </p:sp>
      <p:sp>
        <p:nvSpPr>
          <p:cNvPr id="8" name="Shape 6"/>
          <p:cNvSpPr/>
          <p:nvPr/>
        </p:nvSpPr>
        <p:spPr>
          <a:xfrm>
            <a:off x="7360920" y="1828800"/>
            <a:ext cx="3383280" cy="1051560"/>
          </a:xfrm>
          <a:prstGeom prst="roundRect">
            <a:avLst>
              <a:gd name="adj" fmla="val 5217"/>
            </a:avLst>
          </a:prstGeom>
          <a:solidFill>
            <a:srgbClr val="FFFFFF"/>
          </a:solidFill>
          <a:ln w="12700">
            <a:solidFill>
              <a:srgbClr val="E2E8F0"/>
            </a:solidFill>
            <a:prstDash val="solid"/>
          </a:ln>
        </p:spPr>
      </p:sp>
      <p:sp>
        <p:nvSpPr>
          <p:cNvPr id="9" name="Text 7"/>
          <p:cNvSpPr/>
          <p:nvPr/>
        </p:nvSpPr>
        <p:spPr>
          <a:xfrm>
            <a:off x="7470648" y="1828800"/>
            <a:ext cx="3163824" cy="1051560"/>
          </a:xfrm>
          <a:prstGeom prst="rect">
            <a:avLst/>
          </a:prstGeom>
          <a:noFill/>
          <a:ln/>
        </p:spPr>
        <p:txBody>
          <a:bodyPr wrap="square" lIns="0" tIns="0" rIns="0" bIns="0" rtlCol="0" anchor="ctr"/>
          <a:lstStyle/>
          <a:p>
            <a:pPr algn="l" indent="0" marL="0">
              <a:buNone/>
            </a:pPr>
            <a:r>
              <a:rPr lang="en-US" sz="1350" b="1" dirty="0">
                <a:solidFill>
                  <a:srgbClr val="0F172A"/>
                </a:solidFill>
                <a:latin typeface="Georgia" pitchFamily="34" charset="0"/>
                <a:ea typeface="Georgia" pitchFamily="34" charset="-122"/>
                <a:cs typeface="Georgia" pitchFamily="34" charset="-120"/>
              </a:rPr>
              <a:t>Network policy</a:t>
            </a:r>
            <a:endParaRPr lang="en-US" sz="1350" dirty="0"/>
          </a:p>
          <a:p>
            <a:pPr algn="l" indent="0" marL="0">
              <a:buNone/>
            </a:pPr>
            <a:r>
              <a:rPr lang="en-US" sz="1000" dirty="0">
                <a:solidFill>
                  <a:srgbClr val="64748B"/>
                </a:solidFill>
                <a:latin typeface="Calibri" pitchFamily="34" charset="0"/>
                <a:ea typeface="Calibri" pitchFamily="34" charset="-122"/>
                <a:cs typeface="Calibri" pitchFamily="34" charset="-120"/>
              </a:rPr>
              <a:t>public (lab) or VPC</a:t>
            </a:r>
            <a:endParaRPr lang="en-US" sz="1350" dirty="0"/>
          </a:p>
        </p:txBody>
      </p:sp>
      <p:sp>
        <p:nvSpPr>
          <p:cNvPr id="10" name="Shape 8"/>
          <p:cNvSpPr/>
          <p:nvPr/>
        </p:nvSpPr>
        <p:spPr>
          <a:xfrm>
            <a:off x="1417320" y="4160520"/>
            <a:ext cx="3383280" cy="1051560"/>
          </a:xfrm>
          <a:prstGeom prst="roundRect">
            <a:avLst>
              <a:gd name="adj" fmla="val 5217"/>
            </a:avLst>
          </a:prstGeom>
          <a:solidFill>
            <a:srgbClr val="FFFFFF"/>
          </a:solidFill>
          <a:ln w="12700">
            <a:solidFill>
              <a:srgbClr val="E2E8F0"/>
            </a:solidFill>
            <a:prstDash val="solid"/>
          </a:ln>
        </p:spPr>
      </p:sp>
      <p:sp>
        <p:nvSpPr>
          <p:cNvPr id="11" name="Text 9"/>
          <p:cNvSpPr/>
          <p:nvPr/>
        </p:nvSpPr>
        <p:spPr>
          <a:xfrm>
            <a:off x="1527048" y="4160520"/>
            <a:ext cx="3163824" cy="1051560"/>
          </a:xfrm>
          <a:prstGeom prst="rect">
            <a:avLst/>
          </a:prstGeom>
          <a:noFill/>
          <a:ln/>
        </p:spPr>
        <p:txBody>
          <a:bodyPr wrap="square" lIns="0" tIns="0" rIns="0" bIns="0" rtlCol="0" anchor="ctr"/>
          <a:lstStyle/>
          <a:p>
            <a:pPr algn="l" indent="0" marL="0">
              <a:buNone/>
            </a:pPr>
            <a:r>
              <a:rPr lang="en-US" sz="1350" b="1" dirty="0">
                <a:solidFill>
                  <a:srgbClr val="0F172A"/>
                </a:solidFill>
                <a:latin typeface="Georgia" pitchFamily="34" charset="0"/>
                <a:ea typeface="Georgia" pitchFamily="34" charset="-122"/>
                <a:cs typeface="Georgia" pitchFamily="34" charset="-120"/>
              </a:rPr>
              <a:t>Data access policy</a:t>
            </a:r>
            <a:endParaRPr lang="en-US" sz="1350" dirty="0"/>
          </a:p>
          <a:p>
            <a:pPr algn="l" indent="0" marL="0">
              <a:buNone/>
            </a:pPr>
            <a:r>
              <a:rPr lang="en-US" sz="1000" dirty="0">
                <a:solidFill>
                  <a:srgbClr val="64748B"/>
                </a:solidFill>
                <a:latin typeface="Calibri" pitchFamily="34" charset="0"/>
                <a:ea typeface="Calibri" pitchFamily="34" charset="-122"/>
                <a:cs typeface="Calibri" pitchFamily="34" charset="-120"/>
              </a:rPr>
              <a:t>Lock 2 — who touches data</a:t>
            </a:r>
            <a:endParaRPr lang="en-US" sz="1350" dirty="0"/>
          </a:p>
        </p:txBody>
      </p:sp>
      <p:sp>
        <p:nvSpPr>
          <p:cNvPr id="12" name="Shape 10"/>
          <p:cNvSpPr/>
          <p:nvPr/>
        </p:nvSpPr>
        <p:spPr>
          <a:xfrm>
            <a:off x="7360920" y="4160520"/>
            <a:ext cx="3383280" cy="1051560"/>
          </a:xfrm>
          <a:prstGeom prst="roundRect">
            <a:avLst>
              <a:gd name="adj" fmla="val 5217"/>
            </a:avLst>
          </a:prstGeom>
          <a:solidFill>
            <a:srgbClr val="FFFFFF"/>
          </a:solidFill>
          <a:ln w="12700">
            <a:solidFill>
              <a:srgbClr val="E2E8F0"/>
            </a:solidFill>
            <a:prstDash val="solid"/>
          </a:ln>
        </p:spPr>
      </p:sp>
      <p:sp>
        <p:nvSpPr>
          <p:cNvPr id="13" name="Text 11"/>
          <p:cNvSpPr/>
          <p:nvPr/>
        </p:nvSpPr>
        <p:spPr>
          <a:xfrm>
            <a:off x="7470648" y="4160520"/>
            <a:ext cx="3163824" cy="1051560"/>
          </a:xfrm>
          <a:prstGeom prst="rect">
            <a:avLst/>
          </a:prstGeom>
          <a:noFill/>
          <a:ln/>
        </p:spPr>
        <p:txBody>
          <a:bodyPr wrap="square" lIns="0" tIns="0" rIns="0" bIns="0" rtlCol="0" anchor="ctr"/>
          <a:lstStyle/>
          <a:p>
            <a:pPr algn="l" indent="0" marL="0">
              <a:buNone/>
            </a:pPr>
            <a:r>
              <a:rPr lang="en-US" sz="1350" b="1" dirty="0">
                <a:solidFill>
                  <a:srgbClr val="0F172A"/>
                </a:solidFill>
                <a:latin typeface="Georgia" pitchFamily="34" charset="0"/>
                <a:ea typeface="Georgia" pitchFamily="34" charset="-122"/>
                <a:cs typeface="Georgia" pitchFamily="34" charset="-120"/>
              </a:rPr>
              <a:t>IAM</a:t>
            </a:r>
            <a:endParaRPr lang="en-US" sz="1350" dirty="0"/>
          </a:p>
          <a:p>
            <a:pPr algn="l" indent="0" marL="0">
              <a:buNone/>
            </a:pPr>
            <a:r>
              <a:rPr lang="en-US" sz="1000" dirty="0">
                <a:solidFill>
                  <a:srgbClr val="64748B"/>
                </a:solidFill>
                <a:latin typeface="Calibri" pitchFamily="34" charset="0"/>
                <a:ea typeface="Calibri" pitchFamily="34" charset="-122"/>
                <a:cs typeface="Calibri" pitchFamily="34" charset="-120"/>
              </a:rPr>
              <a:t>Lock 1 — on the caller</a:t>
            </a:r>
            <a:endParaRPr lang="en-US" sz="1350" dirty="0"/>
          </a:p>
        </p:txBody>
      </p:sp>
      <p:sp>
        <p:nvSpPr>
          <p:cNvPr id="14" name="Text 12"/>
          <p:cNvSpPr/>
          <p:nvPr/>
        </p:nvSpPr>
        <p:spPr>
          <a:xfrm>
            <a:off x="566928" y="5532120"/>
            <a:ext cx="11057839" cy="36576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Encryption + network are set once at creation. Data access + IAM are the two you edit as people and roles change.</a:t>
            </a:r>
            <a:endParaRPr lang="en-US" sz="1350" dirty="0"/>
          </a:p>
        </p:txBody>
      </p:sp>
      <p:sp>
        <p:nvSpPr>
          <p:cNvPr id="15" name="Text 13"/>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16" name="Text 14"/>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11</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Now the money (the slide that prevents a bad bill)</a:t>
            </a:r>
            <a:endParaRPr lang="en-US" sz="2900" dirty="0"/>
          </a:p>
        </p:txBody>
      </p:sp>
      <p:sp>
        <p:nvSpPr>
          <p:cNvPr id="4" name="Text 2"/>
          <p:cNvSpPr/>
          <p:nvPr/>
        </p:nvSpPr>
        <p:spPr>
          <a:xfrm>
            <a:off x="566928" y="1783080"/>
            <a:ext cx="6583680" cy="3657600"/>
          </a:xfrm>
          <a:prstGeom prst="rect">
            <a:avLst/>
          </a:prstGeom>
          <a:noFill/>
          <a:ln/>
        </p:spPr>
        <p:txBody>
          <a:bodyPr wrap="square" lIns="0" tIns="0" rIns="0" bIns="0" rtlCol="0" anchor="t"/>
          <a:lstStyle/>
          <a:p>
            <a:pPr marL="177800" indent="-177800">
              <a:spcAft>
                <a:spcPts val="800"/>
              </a:spcAft>
              <a:buSzPct val="100000"/>
              <a:buChar char="•"/>
            </a:pPr>
            <a:r>
              <a:rPr lang="en-US" sz="1450" b="1" dirty="0">
                <a:solidFill>
                  <a:srgbClr val="0F172A"/>
                </a:solidFill>
                <a:latin typeface="Calibri" pitchFamily="34" charset="0"/>
                <a:ea typeface="Calibri" pitchFamily="34" charset="-122"/>
                <a:cs typeface="Calibri" pitchFamily="34" charset="-120"/>
              </a:rPr>
              <a:t>Serverless bills OCUs (OpenSearch Compute Units) at $0.24 / OCU-hr.</a:t>
            </a:r>
            <a:endParaRPr lang="en-US" sz="1450" dirty="0"/>
          </a:p>
          <a:p>
            <a:pPr marL="177800" indent="-177800">
              <a:spcAft>
                <a:spcPts val="800"/>
              </a:spcAft>
              <a:buSzPct val="100000"/>
              <a:buChar char="•"/>
            </a:pPr>
            <a:r>
              <a:rPr lang="en-US" sz="1450" dirty="0">
                <a:solidFill>
                  <a:srgbClr val="0F172A"/>
                </a:solidFill>
                <a:latin typeface="Calibri" pitchFamily="34" charset="0"/>
                <a:ea typeface="Calibri" pitchFamily="34" charset="-122"/>
                <a:cs typeface="Calibri" pitchFamily="34" charset="-120"/>
              </a:rPr>
              <a:t>Floor: ~2 OCU dev / ~4 OCU redundant.</a:t>
            </a:r>
            <a:endParaRPr lang="en-US" sz="1450" dirty="0"/>
          </a:p>
          <a:p>
            <a:pPr marL="177800" indent="-177800">
              <a:spcAft>
                <a:spcPts val="800"/>
              </a:spcAft>
              <a:buSzPct val="100000"/>
              <a:buChar char="•"/>
            </a:pPr>
            <a:r>
              <a:rPr lang="en-US" sz="1450" b="1" dirty="0">
                <a:solidFill>
                  <a:srgbClr val="B91C1C"/>
                </a:solidFill>
                <a:latin typeface="Calibri" pitchFamily="34" charset="0"/>
                <a:ea typeface="Calibri" pitchFamily="34" charset="-122"/>
                <a:cs typeface="Calibri" pitchFamily="34" charset="-120"/>
              </a:rPr>
              <a:t>~$175–$700 / month, even idle.</a:t>
            </a:r>
            <a:endParaRPr lang="en-US" sz="1450" dirty="0"/>
          </a:p>
          <a:p>
            <a:pPr marL="177800" indent="-177800">
              <a:spcAft>
                <a:spcPts val="800"/>
              </a:spcAft>
              <a:buSzPct val="100000"/>
              <a:buChar char="•"/>
            </a:pPr>
            <a:r>
              <a:rPr lang="en-US" sz="1450" dirty="0">
                <a:solidFill>
                  <a:srgbClr val="0F172A"/>
                </a:solidFill>
                <a:latin typeface="Calibri" pitchFamily="34" charset="0"/>
                <a:ea typeface="Calibri" pitchFamily="34" charset="-122"/>
                <a:cs typeface="Calibri" pitchFamily="34" charset="-120"/>
              </a:rPr>
              <a:t>It does NOT scale to zero.</a:t>
            </a:r>
            <a:endParaRPr lang="en-US" sz="1450" dirty="0"/>
          </a:p>
          <a:p>
            <a:pPr marL="177800" indent="-177800">
              <a:spcAft>
                <a:spcPts val="800"/>
              </a:spcAft>
              <a:buSzPct val="100000"/>
              <a:buChar char="•"/>
            </a:pPr>
            <a:r>
              <a:rPr lang="en-US" sz="1450" dirty="0">
                <a:solidFill>
                  <a:srgbClr val="0F172A"/>
                </a:solidFill>
                <a:latin typeface="Calibri" pitchFamily="34" charset="0"/>
                <a:ea typeface="Calibri" pitchFamily="34" charset="-122"/>
                <a:cs typeface="Calibri" pitchFamily="34" charset="-120"/>
              </a:rPr>
              <a:t>OCUs are pooled per account — many collections share them, but each adds baseline load.</a:t>
            </a:r>
            <a:endParaRPr lang="en-US" sz="1450" dirty="0"/>
          </a:p>
        </p:txBody>
      </p:sp>
      <p:sp>
        <p:nvSpPr>
          <p:cNvPr id="5" name="Shape 3"/>
          <p:cNvSpPr/>
          <p:nvPr/>
        </p:nvSpPr>
        <p:spPr>
          <a:xfrm>
            <a:off x="8229600" y="1920240"/>
            <a:ext cx="1371600" cy="3566160"/>
          </a:xfrm>
          <a:prstGeom prst="roundRect">
            <a:avLst>
              <a:gd name="adj" fmla="val 3333"/>
            </a:avLst>
          </a:prstGeom>
          <a:solidFill>
            <a:srgbClr val="F8FAFC"/>
          </a:solidFill>
          <a:ln w="12700">
            <a:solidFill>
              <a:srgbClr val="E2E8F0"/>
            </a:solidFill>
            <a:prstDash val="solid"/>
          </a:ln>
        </p:spPr>
      </p:sp>
      <p:sp>
        <p:nvSpPr>
          <p:cNvPr id="6" name="Shape 4"/>
          <p:cNvSpPr/>
          <p:nvPr/>
        </p:nvSpPr>
        <p:spPr>
          <a:xfrm>
            <a:off x="8229600" y="3881628"/>
            <a:ext cx="1371600" cy="1604772"/>
          </a:xfrm>
          <a:prstGeom prst="rect">
            <a:avLst/>
          </a:prstGeom>
          <a:solidFill>
            <a:srgbClr val="FDE9C8"/>
          </a:solidFill>
          <a:ln/>
        </p:spPr>
      </p:sp>
      <p:sp>
        <p:nvSpPr>
          <p:cNvPr id="7" name="Shape 5"/>
          <p:cNvSpPr/>
          <p:nvPr/>
        </p:nvSpPr>
        <p:spPr>
          <a:xfrm>
            <a:off x="8138160" y="3881628"/>
            <a:ext cx="1554480" cy="0"/>
          </a:xfrm>
          <a:prstGeom prst="line">
            <a:avLst/>
          </a:prstGeom>
          <a:noFill/>
          <a:ln w="25400">
            <a:solidFill>
              <a:srgbClr val="B45309"/>
            </a:solidFill>
            <a:prstDash val="dash"/>
          </a:ln>
        </p:spPr>
      </p:sp>
      <p:sp>
        <p:nvSpPr>
          <p:cNvPr id="8" name="Text 6"/>
          <p:cNvSpPr/>
          <p:nvPr/>
        </p:nvSpPr>
        <p:spPr>
          <a:xfrm>
            <a:off x="9738360" y="3744468"/>
            <a:ext cx="1645920" cy="274320"/>
          </a:xfrm>
          <a:prstGeom prst="rect">
            <a:avLst/>
          </a:prstGeom>
          <a:noFill/>
          <a:ln/>
        </p:spPr>
        <p:txBody>
          <a:bodyPr wrap="square" lIns="0" tIns="0" rIns="0" bIns="0" rtlCol="0" anchor="ctr"/>
          <a:lstStyle/>
          <a:p>
            <a:pPr indent="0" marL="0">
              <a:buNone/>
            </a:pPr>
            <a:r>
              <a:rPr lang="en-US" sz="1000" dirty="0">
                <a:solidFill>
                  <a:srgbClr val="B45309"/>
                </a:solidFill>
                <a:latin typeface="Consolas" pitchFamily="34" charset="0"/>
                <a:ea typeface="Consolas" pitchFamily="34" charset="-122"/>
                <a:cs typeface="Consolas" pitchFamily="34" charset="-120"/>
              </a:rPr>
              <a:t>floor</a:t>
            </a:r>
            <a:endParaRPr lang="en-US" sz="1000" dirty="0"/>
          </a:p>
        </p:txBody>
      </p:sp>
      <p:sp>
        <p:nvSpPr>
          <p:cNvPr id="9" name="Text 7"/>
          <p:cNvSpPr/>
          <p:nvPr/>
        </p:nvSpPr>
        <p:spPr>
          <a:xfrm>
            <a:off x="7680960" y="5321808"/>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onsolas" pitchFamily="34" charset="0"/>
                <a:ea typeface="Consolas" pitchFamily="34" charset="-122"/>
                <a:cs typeface="Consolas" pitchFamily="34" charset="-120"/>
              </a:rPr>
              <a:t>$0</a:t>
            </a:r>
            <a:endParaRPr lang="en-US" sz="900" dirty="0"/>
          </a:p>
        </p:txBody>
      </p:sp>
      <p:sp>
        <p:nvSpPr>
          <p:cNvPr id="10" name="Text 8"/>
          <p:cNvSpPr/>
          <p:nvPr/>
        </p:nvSpPr>
        <p:spPr>
          <a:xfrm>
            <a:off x="7863840" y="5596128"/>
            <a:ext cx="356616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never drops to $0 while a collection exists</a:t>
            </a:r>
            <a:endParaRPr lang="en-US" sz="1100" dirty="0"/>
          </a:p>
        </p:txBody>
      </p:sp>
      <p:sp>
        <p:nvSpPr>
          <p:cNvPr id="11" name="Text 9"/>
          <p:cNvSpPr/>
          <p:nvPr/>
        </p:nvSpPr>
        <p:spPr>
          <a:xfrm>
            <a:off x="9646920" y="2148840"/>
            <a:ext cx="1965960" cy="1097280"/>
          </a:xfrm>
          <a:prstGeom prst="rect">
            <a:avLst/>
          </a:prstGeom>
          <a:noFill/>
          <a:ln/>
        </p:spPr>
        <p:txBody>
          <a:bodyPr wrap="square" lIns="0" tIns="0" rIns="0" bIns="0" rtlCol="0" anchor="t"/>
          <a:lstStyle/>
          <a:p>
            <a:pPr algn="l" indent="0" marL="0">
              <a:buNone/>
            </a:pPr>
            <a:r>
              <a:rPr lang="en-US" sz="3400" b="1" dirty="0">
                <a:solidFill>
                  <a:srgbClr val="B45309"/>
                </a:solidFill>
                <a:latin typeface="Georgia" pitchFamily="34" charset="0"/>
                <a:ea typeface="Georgia" pitchFamily="34" charset="-122"/>
                <a:cs typeface="Georgia" pitchFamily="34" charset="-120"/>
              </a:rPr>
              <a:t>$0.24</a:t>
            </a:r>
            <a:endParaRPr lang="en-US" sz="3400" dirty="0"/>
          </a:p>
          <a:p>
            <a:pPr algn="l" indent="0" marL="0">
              <a:buNone/>
            </a:pPr>
            <a:r>
              <a:rPr lang="en-US" sz="1300" dirty="0">
                <a:solidFill>
                  <a:srgbClr val="1E293B"/>
                </a:solidFill>
                <a:latin typeface="Calibri" pitchFamily="34" charset="0"/>
                <a:ea typeface="Calibri" pitchFamily="34" charset="-122"/>
                <a:cs typeface="Calibri" pitchFamily="34" charset="-120"/>
              </a:rPr>
              <a:t>per OCU-hr</a:t>
            </a:r>
            <a:endParaRPr lang="en-US" sz="3400" dirty="0"/>
          </a:p>
        </p:txBody>
      </p:sp>
      <p:sp>
        <p:nvSpPr>
          <p:cNvPr id="12" name="Text 10"/>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13" name="Text 11"/>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12</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The two cost traps</a:t>
            </a:r>
            <a:endParaRPr lang="en-US" sz="2900" dirty="0"/>
          </a:p>
        </p:txBody>
      </p:sp>
      <p:sp>
        <p:nvSpPr>
          <p:cNvPr id="4" name="Shape 2"/>
          <p:cNvSpPr/>
          <p:nvPr/>
        </p:nvSpPr>
        <p:spPr>
          <a:xfrm>
            <a:off x="566928" y="2011680"/>
            <a:ext cx="5074920" cy="2926080"/>
          </a:xfrm>
          <a:prstGeom prst="roundRect">
            <a:avLst>
              <a:gd name="adj" fmla="val 2188"/>
            </a:avLst>
          </a:prstGeom>
          <a:solidFill>
            <a:srgbClr val="FFFFFF"/>
          </a:solidFill>
          <a:ln w="19050">
            <a:solidFill>
              <a:srgbClr val="B91C1C"/>
            </a:solidFill>
            <a:prstDash val="solid"/>
          </a:ln>
          <a:effectLst>
            <a:outerShdw sx="100000" sy="100000" kx="0" ky="0" algn="bl" rotWithShape="0" blurRad="88900" dist="38100" dir="8100000">
              <a:srgbClr val="0F172A">
                <a:alpha val="10000"/>
              </a:srgbClr>
            </a:outerShdw>
          </a:effectLst>
        </p:spPr>
      </p:sp>
      <p:sp>
        <p:nvSpPr>
          <p:cNvPr id="5" name="Text 3"/>
          <p:cNvSpPr/>
          <p:nvPr/>
        </p:nvSpPr>
        <p:spPr>
          <a:xfrm>
            <a:off x="822960" y="2240280"/>
            <a:ext cx="4572000" cy="2468880"/>
          </a:xfrm>
          <a:prstGeom prst="rect">
            <a:avLst/>
          </a:prstGeom>
          <a:noFill/>
          <a:ln/>
        </p:spPr>
        <p:txBody>
          <a:bodyPr wrap="square" lIns="0" tIns="0" rIns="0" bIns="0" rtlCol="0" anchor="t"/>
          <a:lstStyle/>
          <a:p>
            <a:pPr indent="0" marL="0">
              <a:spcAft>
                <a:spcPts val="500"/>
              </a:spcAft>
              <a:buNone/>
            </a:pPr>
            <a:r>
              <a:rPr lang="en-US" sz="1050" b="1" spc="100" kern="0" dirty="0">
                <a:solidFill>
                  <a:srgbClr val="B91C1C"/>
                </a:solidFill>
                <a:latin typeface="Consolas" pitchFamily="34" charset="0"/>
                <a:ea typeface="Consolas" pitchFamily="34" charset="-122"/>
                <a:cs typeface="Consolas" pitchFamily="34" charset="-120"/>
              </a:rPr>
              <a:t>TRAP 1 — ORPHAN AFTER DELETE</a:t>
            </a:r>
            <a:endParaRPr lang="en-US" sz="1050" dirty="0"/>
          </a:p>
          <a:p>
            <a:pPr indent="0" marL="0">
              <a:spcAft>
                <a:spcPts val="800"/>
              </a:spcAft>
              <a:buNone/>
            </a:pPr>
            <a:r>
              <a:rPr lang="en-US" sz="1700" b="1" dirty="0">
                <a:solidFill>
                  <a:srgbClr val="0F172A"/>
                </a:solidFill>
                <a:latin typeface="Georgia" pitchFamily="34" charset="0"/>
                <a:ea typeface="Georgia" pitchFamily="34" charset="-122"/>
                <a:cs typeface="Georgia" pitchFamily="34" charset="-120"/>
              </a:rPr>
              <a:t>Deleting a KB ≠ deleting the collection</a:t>
            </a:r>
            <a:endParaRPr lang="en-US" sz="1050" dirty="0"/>
          </a:p>
          <a:p>
            <a:pPr indent="0" marL="0">
              <a:buNone/>
            </a:pPr>
            <a:r>
              <a:rPr lang="en-US" sz="1350" dirty="0">
                <a:solidFill>
                  <a:srgbClr val="1E293B"/>
                </a:solidFill>
                <a:latin typeface="Calibri" pitchFamily="34" charset="0"/>
                <a:ea typeface="Calibri" pitchFamily="34" charset="-122"/>
                <a:cs typeface="Calibri" pitchFamily="34" charset="-120"/>
              </a:rPr>
              <a:t>The collection keeps billing from a different console until you delete it by hand.</a:t>
            </a:r>
            <a:endParaRPr lang="en-US" sz="1050" dirty="0"/>
          </a:p>
        </p:txBody>
      </p:sp>
      <p:sp>
        <p:nvSpPr>
          <p:cNvPr id="6" name="Shape 4"/>
          <p:cNvSpPr/>
          <p:nvPr/>
        </p:nvSpPr>
        <p:spPr>
          <a:xfrm>
            <a:off x="6510528" y="2011680"/>
            <a:ext cx="5074920" cy="2926080"/>
          </a:xfrm>
          <a:prstGeom prst="roundRect">
            <a:avLst>
              <a:gd name="adj" fmla="val 2188"/>
            </a:avLst>
          </a:prstGeom>
          <a:solidFill>
            <a:srgbClr val="FFFFFF"/>
          </a:solidFill>
          <a:ln w="19050">
            <a:solidFill>
              <a:srgbClr val="B91C1C"/>
            </a:solidFill>
            <a:prstDash val="solid"/>
          </a:ln>
          <a:effectLst>
            <a:outerShdw sx="100000" sy="100000" kx="0" ky="0" algn="bl" rotWithShape="0" blurRad="88900" dist="38100" dir="8100000">
              <a:srgbClr val="0F172A">
                <a:alpha val="10000"/>
              </a:srgbClr>
            </a:outerShdw>
          </a:effectLst>
        </p:spPr>
      </p:sp>
      <p:sp>
        <p:nvSpPr>
          <p:cNvPr id="7" name="Text 5"/>
          <p:cNvSpPr/>
          <p:nvPr/>
        </p:nvSpPr>
        <p:spPr>
          <a:xfrm>
            <a:off x="6766560" y="2240280"/>
            <a:ext cx="4572000" cy="2468880"/>
          </a:xfrm>
          <a:prstGeom prst="rect">
            <a:avLst/>
          </a:prstGeom>
          <a:noFill/>
          <a:ln/>
        </p:spPr>
        <p:txBody>
          <a:bodyPr wrap="square" lIns="0" tIns="0" rIns="0" bIns="0" rtlCol="0" anchor="t"/>
          <a:lstStyle/>
          <a:p>
            <a:pPr indent="0" marL="0">
              <a:spcAft>
                <a:spcPts val="500"/>
              </a:spcAft>
              <a:buNone/>
            </a:pPr>
            <a:r>
              <a:rPr lang="en-US" sz="1050" b="1" spc="100" kern="0" dirty="0">
                <a:solidFill>
                  <a:srgbClr val="B91C1C"/>
                </a:solidFill>
                <a:latin typeface="Consolas" pitchFamily="34" charset="0"/>
                <a:ea typeface="Consolas" pitchFamily="34" charset="-122"/>
                <a:cs typeface="Consolas" pitchFamily="34" charset="-120"/>
              </a:rPr>
              <a:t>TRAP 2 — QUICK-CREATE</a:t>
            </a:r>
            <a:endParaRPr lang="en-US" sz="1050" dirty="0"/>
          </a:p>
          <a:p>
            <a:pPr indent="0" marL="0">
              <a:spcAft>
                <a:spcPts val="800"/>
              </a:spcAft>
              <a:buNone/>
            </a:pPr>
            <a:r>
              <a:rPr lang="en-US" sz="1700" b="1" dirty="0">
                <a:solidFill>
                  <a:srgbClr val="0F172A"/>
                </a:solidFill>
                <a:latin typeface="Georgia" pitchFamily="34" charset="0"/>
                <a:ea typeface="Georgia" pitchFamily="34" charset="-122"/>
                <a:cs typeface="Georgia" pitchFamily="34" charset="-120"/>
              </a:rPr>
              <a:t>The KB 'quick create' spins up a collection</a:t>
            </a:r>
            <a:endParaRPr lang="en-US" sz="1050" dirty="0"/>
          </a:p>
          <a:p>
            <a:pPr indent="0" marL="0">
              <a:buNone/>
            </a:pPr>
            <a:r>
              <a:rPr lang="en-US" sz="1350" dirty="0">
                <a:solidFill>
                  <a:srgbClr val="1E293B"/>
                </a:solidFill>
                <a:latin typeface="Calibri" pitchFamily="34" charset="0"/>
                <a:ea typeface="Calibri" pitchFamily="34" charset="-122"/>
                <a:cs typeface="Calibri" pitchFamily="34" charset="-120"/>
              </a:rPr>
              <a:t>No prompt, no cost warning. You only find it on the bill.</a:t>
            </a:r>
            <a:endParaRPr lang="en-US" sz="1050" dirty="0"/>
          </a:p>
        </p:txBody>
      </p:sp>
      <p:sp>
        <p:nvSpPr>
          <p:cNvPr id="8" name="Text 6"/>
          <p:cNvSpPr/>
          <p:nvPr/>
        </p:nvSpPr>
        <p:spPr>
          <a:xfrm>
            <a:off x="566928" y="5212080"/>
            <a:ext cx="11057839" cy="36576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Both are real re:Post horror stories. If you ever quick-create a KB, go find and kill the collection after.</a:t>
            </a:r>
            <a:endParaRPr lang="en-US" sz="1350" dirty="0"/>
          </a:p>
        </p:txBody>
      </p:sp>
      <p:sp>
        <p:nvSpPr>
          <p:cNvPr id="9" name="Text 7"/>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10" name="Text 8"/>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13</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The cheaper alternative: S3 Vectors</a:t>
            </a:r>
            <a:endParaRPr lang="en-US" sz="2900" dirty="0"/>
          </a:p>
        </p:txBody>
      </p:sp>
      <p:sp>
        <p:nvSpPr>
          <p:cNvPr id="4" name="Text 2"/>
          <p:cNvSpPr/>
          <p:nvPr/>
        </p:nvSpPr>
        <p:spPr>
          <a:xfrm>
            <a:off x="566928" y="1783080"/>
            <a:ext cx="6400800" cy="3657600"/>
          </a:xfrm>
          <a:prstGeom prst="rect">
            <a:avLst/>
          </a:prstGeom>
          <a:noFill/>
          <a:ln/>
        </p:spPr>
        <p:txBody>
          <a:bodyPr wrap="square" lIns="0" tIns="0" rIns="0" bIns="0" rtlCol="0" anchor="t"/>
          <a:lstStyle/>
          <a:p>
            <a:pPr marL="177800" indent="-177800">
              <a:spcAft>
                <a:spcPts val="800"/>
              </a:spcAft>
              <a:buSzPct val="100000"/>
              <a:buChar char="•"/>
            </a:pPr>
            <a:r>
              <a:rPr lang="en-US" sz="1450" b="1" dirty="0">
                <a:solidFill>
                  <a:srgbClr val="0F172A"/>
                </a:solidFill>
                <a:latin typeface="Calibri" pitchFamily="34" charset="0"/>
                <a:ea typeface="Calibri" pitchFamily="34" charset="-122"/>
                <a:cs typeface="Calibri" pitchFamily="34" charset="-120"/>
              </a:rPr>
              <a:t>Amazon S3 Vectors (GA Dec 2025): vector storage on S3.</a:t>
            </a:r>
            <a:endParaRPr lang="en-US" sz="1450" dirty="0"/>
          </a:p>
          <a:p>
            <a:pPr marL="177800" indent="-177800">
              <a:spcAft>
                <a:spcPts val="800"/>
              </a:spcAft>
              <a:buSzPct val="100000"/>
              <a:buChar char="•"/>
            </a:pPr>
            <a:r>
              <a:rPr lang="en-US" sz="1450" dirty="0">
                <a:solidFill>
                  <a:srgbClr val="0F172A"/>
                </a:solidFill>
                <a:latin typeface="Calibri" pitchFamily="34" charset="0"/>
                <a:ea typeface="Calibri" pitchFamily="34" charset="-122"/>
                <a:cs typeface="Calibri" pitchFamily="34" charset="-120"/>
              </a:rPr>
              <a:t>Up to ~90% cheaper. No idle floor.</a:t>
            </a:r>
            <a:endParaRPr lang="en-US" sz="1450" dirty="0"/>
          </a:p>
          <a:p>
            <a:pPr marL="177800" indent="-177800">
              <a:spcAft>
                <a:spcPts val="800"/>
              </a:spcAft>
              <a:buSzPct val="100000"/>
              <a:buChar char="•"/>
            </a:pPr>
            <a:r>
              <a:rPr lang="en-US" sz="1450" dirty="0">
                <a:solidFill>
                  <a:srgbClr val="0F172A"/>
                </a:solidFill>
                <a:latin typeface="Calibri" pitchFamily="34" charset="0"/>
                <a:ea typeface="Calibri" pitchFamily="34" charset="-122"/>
                <a:cs typeface="Calibri" pitchFamily="34" charset="-120"/>
              </a:rPr>
              <a:t>First-class Bedrock KB vector store.</a:t>
            </a:r>
            <a:endParaRPr lang="en-US" sz="1450" dirty="0"/>
          </a:p>
          <a:p>
            <a:pPr marL="177800" indent="-177800">
              <a:spcAft>
                <a:spcPts val="800"/>
              </a:spcAft>
              <a:buSzPct val="100000"/>
              <a:buChar char="•"/>
            </a:pPr>
            <a:r>
              <a:rPr lang="en-US" sz="1450" dirty="0">
                <a:solidFill>
                  <a:srgbClr val="0F172A"/>
                </a:solidFill>
                <a:latin typeface="Calibri" pitchFamily="34" charset="0"/>
                <a:ea typeface="Calibri" pitchFamily="34" charset="-122"/>
                <a:cs typeface="Calibri" pitchFamily="34" charset="-120"/>
              </a:rPr>
              <a:t>For new KBs and low-QPS workloads, this is the default.</a:t>
            </a:r>
            <a:endParaRPr lang="en-US" sz="1450" dirty="0"/>
          </a:p>
          <a:p>
            <a:pPr marL="177800" indent="-177800">
              <a:spcAft>
                <a:spcPts val="800"/>
              </a:spcAft>
              <a:buSzPct val="100000"/>
              <a:buChar char="•"/>
            </a:pPr>
            <a:r>
              <a:rPr lang="en-US" sz="1450" dirty="0">
                <a:solidFill>
                  <a:srgbClr val="0F172A"/>
                </a:solidFill>
                <a:latin typeface="Calibri" pitchFamily="34" charset="0"/>
                <a:ea typeface="Calibri" pitchFamily="34" charset="-122"/>
                <a:cs typeface="Calibri" pitchFamily="34" charset="-120"/>
              </a:rPr>
              <a:t>OpenSearch earns its place at high QPS, hybrid search, or when you already run it.</a:t>
            </a:r>
            <a:endParaRPr lang="en-US" sz="1450" dirty="0"/>
          </a:p>
        </p:txBody>
      </p:sp>
      <p:sp>
        <p:nvSpPr>
          <p:cNvPr id="5" name="Shape 3"/>
          <p:cNvSpPr/>
          <p:nvPr/>
        </p:nvSpPr>
        <p:spPr>
          <a:xfrm>
            <a:off x="7863840" y="2103120"/>
            <a:ext cx="1371600" cy="3108960"/>
          </a:xfrm>
          <a:prstGeom prst="rect">
            <a:avLst/>
          </a:prstGeom>
          <a:solidFill>
            <a:srgbClr val="FDE9C8"/>
          </a:solidFill>
          <a:ln/>
        </p:spPr>
      </p:sp>
      <p:sp>
        <p:nvSpPr>
          <p:cNvPr id="6" name="Text 4"/>
          <p:cNvSpPr/>
          <p:nvPr/>
        </p:nvSpPr>
        <p:spPr>
          <a:xfrm>
            <a:off x="7452360" y="5303520"/>
            <a:ext cx="2194560" cy="54864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OpenSearch</a:t>
            </a:r>
            <a:endParaRPr lang="en-US" sz="1100" dirty="0"/>
          </a:p>
          <a:p>
            <a:pPr algn="ctr" indent="0" marL="0">
              <a:buNone/>
            </a:pPr>
            <a:r>
              <a:rPr lang="en-US" sz="1100" dirty="0">
                <a:solidFill>
                  <a:srgbClr val="1E293B"/>
                </a:solidFill>
                <a:latin typeface="Calibri" pitchFamily="34" charset="0"/>
                <a:ea typeface="Calibri" pitchFamily="34" charset="-122"/>
                <a:cs typeface="Calibri" pitchFamily="34" charset="-120"/>
              </a:rPr>
              <a:t>~$345/mo idle</a:t>
            </a:r>
            <a:endParaRPr lang="en-US" sz="1100" dirty="0"/>
          </a:p>
        </p:txBody>
      </p:sp>
      <p:sp>
        <p:nvSpPr>
          <p:cNvPr id="7" name="Shape 5"/>
          <p:cNvSpPr/>
          <p:nvPr/>
        </p:nvSpPr>
        <p:spPr>
          <a:xfrm>
            <a:off x="10241280" y="4983480"/>
            <a:ext cx="1371600" cy="228600"/>
          </a:xfrm>
          <a:prstGeom prst="rect">
            <a:avLst/>
          </a:prstGeom>
          <a:solidFill>
            <a:srgbClr val="0F766E"/>
          </a:solidFill>
          <a:ln/>
        </p:spPr>
      </p:sp>
      <p:sp>
        <p:nvSpPr>
          <p:cNvPr id="8" name="Text 6"/>
          <p:cNvSpPr/>
          <p:nvPr/>
        </p:nvSpPr>
        <p:spPr>
          <a:xfrm>
            <a:off x="9829800" y="5303520"/>
            <a:ext cx="2194560" cy="548640"/>
          </a:xfrm>
          <a:prstGeom prst="rect">
            <a:avLst/>
          </a:prstGeom>
          <a:noFill/>
          <a:ln/>
        </p:spPr>
        <p:txBody>
          <a:bodyPr wrap="square" lIns="0" tIns="0" rIns="0" bIns="0" rtlCol="0" anchor="ctr"/>
          <a:lstStyle/>
          <a:p>
            <a:pPr algn="ctr" indent="0" marL="0">
              <a:buNone/>
            </a:pPr>
            <a:r>
              <a:rPr lang="en-US" sz="1100" b="1" dirty="0">
                <a:solidFill>
                  <a:srgbClr val="0F766E"/>
                </a:solidFill>
                <a:latin typeface="Calibri" pitchFamily="34" charset="0"/>
                <a:ea typeface="Calibri" pitchFamily="34" charset="-122"/>
                <a:cs typeface="Calibri" pitchFamily="34" charset="-120"/>
              </a:rPr>
              <a:t>S3 Vectors</a:t>
            </a:r>
            <a:endParaRPr lang="en-US" sz="1100" dirty="0"/>
          </a:p>
          <a:p>
            <a:pPr algn="ctr" indent="0" marL="0">
              <a:buNone/>
            </a:pPr>
            <a:r>
              <a:rPr lang="en-US" sz="1100" b="1" dirty="0">
                <a:solidFill>
                  <a:srgbClr val="0F766E"/>
                </a:solidFill>
                <a:latin typeface="Calibri" pitchFamily="34" charset="0"/>
                <a:ea typeface="Calibri" pitchFamily="34" charset="-122"/>
                <a:cs typeface="Calibri" pitchFamily="34" charset="-120"/>
              </a:rPr>
              <a:t>~$0 idle</a:t>
            </a:r>
            <a:endParaRPr lang="en-US" sz="1100" dirty="0"/>
          </a:p>
        </p:txBody>
      </p:sp>
      <p:sp>
        <p:nvSpPr>
          <p:cNvPr id="9" name="Text 7"/>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10" name="Text 8"/>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14</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One collection for the class (the training pattern)</a:t>
            </a:r>
            <a:endParaRPr lang="en-US" sz="2900" dirty="0"/>
          </a:p>
        </p:txBody>
      </p:sp>
      <p:sp>
        <p:nvSpPr>
          <p:cNvPr id="4" name="Text 2"/>
          <p:cNvSpPr/>
          <p:nvPr/>
        </p:nvSpPr>
        <p:spPr>
          <a:xfrm>
            <a:off x="566928" y="1737360"/>
            <a:ext cx="5852160" cy="3657600"/>
          </a:xfrm>
          <a:prstGeom prst="rect">
            <a:avLst/>
          </a:prstGeom>
          <a:noFill/>
          <a:ln/>
        </p:spPr>
        <p:txBody>
          <a:bodyPr wrap="square" lIns="0" tIns="0" rIns="0" bIns="0" rtlCol="0" anchor="t"/>
          <a:lstStyle/>
          <a:p>
            <a:pPr marL="177800" indent="-177800">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One billable resource, one cleanup, one cost ceiling.</a:t>
            </a:r>
            <a:endParaRPr lang="en-US" sz="1500" dirty="0"/>
          </a:p>
          <a:p>
            <a:pPr marL="177800" indent="-1778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Students create their own index (travelmind-&lt;name&gt;), never a collection.</a:t>
            </a:r>
            <a:endParaRPr lang="en-US" sz="1500" dirty="0"/>
          </a:p>
          <a:p>
            <a:pPr marL="177800" indent="-177800">
              <a:spcAft>
                <a:spcPts val="800"/>
              </a:spcAft>
              <a:buSzPct val="100000"/>
              <a:buChar char="•"/>
            </a:pPr>
            <a:r>
              <a:rPr lang="en-US" sz="1500" dirty="0">
                <a:solidFill>
                  <a:srgbClr val="B45309"/>
                </a:solidFill>
                <a:latin typeface="Calibri" pitchFamily="34" charset="0"/>
                <a:ea typeface="Calibri" pitchFamily="34" charset="-122"/>
                <a:cs typeface="Calibri" pitchFamily="34" charset="-120"/>
              </a:rPr>
              <a:t>aoss:CreateCollection is denied for students. The cost lever stays locked.</a:t>
            </a:r>
            <a:endParaRPr lang="en-US" sz="1500" dirty="0"/>
          </a:p>
        </p:txBody>
      </p:sp>
      <p:sp>
        <p:nvSpPr>
          <p:cNvPr id="5" name="Shape 3"/>
          <p:cNvSpPr/>
          <p:nvPr/>
        </p:nvSpPr>
        <p:spPr>
          <a:xfrm>
            <a:off x="6949440" y="2011680"/>
            <a:ext cx="4572000" cy="3383280"/>
          </a:xfrm>
          <a:prstGeom prst="roundRect">
            <a:avLst>
              <a:gd name="adj" fmla="val 2162"/>
            </a:avLst>
          </a:prstGeom>
          <a:solidFill>
            <a:srgbClr val="EEF0FF"/>
          </a:solidFill>
          <a:ln w="22225">
            <a:solidFill>
              <a:srgbClr val="4338CA"/>
            </a:solidFill>
            <a:prstDash val="solid"/>
          </a:ln>
        </p:spPr>
      </p:sp>
      <p:sp>
        <p:nvSpPr>
          <p:cNvPr id="6" name="Text 4"/>
          <p:cNvSpPr/>
          <p:nvPr/>
        </p:nvSpPr>
        <p:spPr>
          <a:xfrm>
            <a:off x="7132320" y="2121408"/>
            <a:ext cx="4206240" cy="274320"/>
          </a:xfrm>
          <a:prstGeom prst="rect">
            <a:avLst/>
          </a:prstGeom>
          <a:noFill/>
          <a:ln/>
        </p:spPr>
        <p:txBody>
          <a:bodyPr wrap="square" lIns="0" tIns="0" rIns="0" bIns="0" rtlCol="0" anchor="ctr"/>
          <a:lstStyle/>
          <a:p>
            <a:pPr indent="0" marL="0">
              <a:buNone/>
            </a:pPr>
            <a:r>
              <a:rPr lang="en-US" sz="1100" b="1" dirty="0">
                <a:solidFill>
                  <a:srgbClr val="4338CA"/>
                </a:solidFill>
                <a:latin typeface="Consolas" pitchFamily="34" charset="0"/>
                <a:ea typeface="Consolas" pitchFamily="34" charset="-122"/>
                <a:cs typeface="Consolas" pitchFamily="34" charset="-120"/>
              </a:rPr>
              <a:t>bedrock-lab-shared</a:t>
            </a:r>
            <a:endParaRPr lang="en-US" sz="1100" dirty="0"/>
          </a:p>
        </p:txBody>
      </p:sp>
      <p:sp>
        <p:nvSpPr>
          <p:cNvPr id="7" name="Shape 5"/>
          <p:cNvSpPr/>
          <p:nvPr/>
        </p:nvSpPr>
        <p:spPr>
          <a:xfrm>
            <a:off x="7223760" y="2606040"/>
            <a:ext cx="2011680" cy="438912"/>
          </a:xfrm>
          <a:prstGeom prst="roundRect">
            <a:avLst>
              <a:gd name="adj" fmla="val 16667"/>
            </a:avLst>
          </a:prstGeom>
          <a:solidFill>
            <a:srgbClr val="FFFFFF"/>
          </a:solidFill>
          <a:ln w="12700">
            <a:solidFill>
              <a:srgbClr val="E2E8F0"/>
            </a:solidFill>
            <a:prstDash val="solid"/>
          </a:ln>
        </p:spPr>
      </p:sp>
      <p:sp>
        <p:nvSpPr>
          <p:cNvPr id="8" name="Text 6"/>
          <p:cNvSpPr/>
          <p:nvPr/>
        </p:nvSpPr>
        <p:spPr>
          <a:xfrm>
            <a:off x="7269480" y="2606040"/>
            <a:ext cx="1920240" cy="43891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travelmind-asha</a:t>
            </a:r>
            <a:endParaRPr lang="en-US" sz="1000" dirty="0"/>
          </a:p>
        </p:txBody>
      </p:sp>
      <p:sp>
        <p:nvSpPr>
          <p:cNvPr id="9" name="Shape 7"/>
          <p:cNvSpPr/>
          <p:nvPr/>
        </p:nvSpPr>
        <p:spPr>
          <a:xfrm>
            <a:off x="9372600" y="2606040"/>
            <a:ext cx="2011680" cy="438912"/>
          </a:xfrm>
          <a:prstGeom prst="roundRect">
            <a:avLst>
              <a:gd name="adj" fmla="val 16667"/>
            </a:avLst>
          </a:prstGeom>
          <a:solidFill>
            <a:srgbClr val="FFFFFF"/>
          </a:solidFill>
          <a:ln w="12700">
            <a:solidFill>
              <a:srgbClr val="E2E8F0"/>
            </a:solidFill>
            <a:prstDash val="solid"/>
          </a:ln>
        </p:spPr>
      </p:sp>
      <p:sp>
        <p:nvSpPr>
          <p:cNvPr id="10" name="Text 8"/>
          <p:cNvSpPr/>
          <p:nvPr/>
        </p:nvSpPr>
        <p:spPr>
          <a:xfrm>
            <a:off x="9418320" y="2606040"/>
            <a:ext cx="1920240" cy="43891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travelmind-ravi</a:t>
            </a:r>
            <a:endParaRPr lang="en-US" sz="1000" dirty="0"/>
          </a:p>
        </p:txBody>
      </p:sp>
      <p:sp>
        <p:nvSpPr>
          <p:cNvPr id="11" name="Shape 9"/>
          <p:cNvSpPr/>
          <p:nvPr/>
        </p:nvSpPr>
        <p:spPr>
          <a:xfrm>
            <a:off x="7223760" y="3172968"/>
            <a:ext cx="2011680" cy="438912"/>
          </a:xfrm>
          <a:prstGeom prst="roundRect">
            <a:avLst>
              <a:gd name="adj" fmla="val 16667"/>
            </a:avLst>
          </a:prstGeom>
          <a:solidFill>
            <a:srgbClr val="FFFFFF"/>
          </a:solidFill>
          <a:ln w="12700">
            <a:solidFill>
              <a:srgbClr val="E2E8F0"/>
            </a:solidFill>
            <a:prstDash val="solid"/>
          </a:ln>
        </p:spPr>
      </p:sp>
      <p:sp>
        <p:nvSpPr>
          <p:cNvPr id="12" name="Text 10"/>
          <p:cNvSpPr/>
          <p:nvPr/>
        </p:nvSpPr>
        <p:spPr>
          <a:xfrm>
            <a:off x="7269480" y="3172968"/>
            <a:ext cx="1920240" cy="43891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travelmind-meera</a:t>
            </a:r>
            <a:endParaRPr lang="en-US" sz="1000" dirty="0"/>
          </a:p>
        </p:txBody>
      </p:sp>
      <p:sp>
        <p:nvSpPr>
          <p:cNvPr id="13" name="Shape 11"/>
          <p:cNvSpPr/>
          <p:nvPr/>
        </p:nvSpPr>
        <p:spPr>
          <a:xfrm>
            <a:off x="9372600" y="3172968"/>
            <a:ext cx="2011680" cy="438912"/>
          </a:xfrm>
          <a:prstGeom prst="roundRect">
            <a:avLst>
              <a:gd name="adj" fmla="val 16667"/>
            </a:avLst>
          </a:prstGeom>
          <a:solidFill>
            <a:srgbClr val="FFFFFF"/>
          </a:solidFill>
          <a:ln w="12700">
            <a:solidFill>
              <a:srgbClr val="E2E8F0"/>
            </a:solidFill>
            <a:prstDash val="solid"/>
          </a:ln>
        </p:spPr>
      </p:sp>
      <p:sp>
        <p:nvSpPr>
          <p:cNvPr id="14" name="Text 12"/>
          <p:cNvSpPr/>
          <p:nvPr/>
        </p:nvSpPr>
        <p:spPr>
          <a:xfrm>
            <a:off x="9418320" y="3172968"/>
            <a:ext cx="1920240" cy="43891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travelmind-sam</a:t>
            </a:r>
            <a:endParaRPr lang="en-US" sz="1000" dirty="0"/>
          </a:p>
        </p:txBody>
      </p:sp>
      <p:sp>
        <p:nvSpPr>
          <p:cNvPr id="15" name="Shape 13"/>
          <p:cNvSpPr/>
          <p:nvPr/>
        </p:nvSpPr>
        <p:spPr>
          <a:xfrm>
            <a:off x="7223760" y="3739896"/>
            <a:ext cx="2011680" cy="438912"/>
          </a:xfrm>
          <a:prstGeom prst="roundRect">
            <a:avLst>
              <a:gd name="adj" fmla="val 16667"/>
            </a:avLst>
          </a:prstGeom>
          <a:solidFill>
            <a:srgbClr val="FFFFFF"/>
          </a:solidFill>
          <a:ln w="12700">
            <a:solidFill>
              <a:srgbClr val="E2E8F0"/>
            </a:solidFill>
            <a:prstDash val="solid"/>
          </a:ln>
        </p:spPr>
      </p:sp>
      <p:sp>
        <p:nvSpPr>
          <p:cNvPr id="16" name="Text 14"/>
          <p:cNvSpPr/>
          <p:nvPr/>
        </p:nvSpPr>
        <p:spPr>
          <a:xfrm>
            <a:off x="7269480" y="3739896"/>
            <a:ext cx="1920240" cy="438912"/>
          </a:xfrm>
          <a:prstGeom prst="rect">
            <a:avLst/>
          </a:prstGeom>
          <a:noFill/>
          <a:ln/>
        </p:spPr>
        <p:txBody>
          <a:bodyPr wrap="square" lIns="0" tIns="0" rIns="0" bIns="0" rtlCol="0" anchor="ctr"/>
          <a:lstStyle/>
          <a:p>
            <a:pPr algn="ctr" indent="0" marL="0">
              <a:buNone/>
            </a:pPr>
            <a:r>
              <a:rPr lang="en-US" sz="1000" dirty="0">
                <a:solidFill>
                  <a:srgbClr val="0F172A"/>
                </a:solidFill>
                <a:latin typeface="Calibri" pitchFamily="34" charset="0"/>
                <a:ea typeface="Calibri" pitchFamily="34" charset="-122"/>
                <a:cs typeface="Calibri" pitchFamily="34" charset="-120"/>
              </a:rPr>
              <a:t>travelmind-…</a:t>
            </a:r>
            <a:endParaRPr lang="en-US" sz="1000" dirty="0"/>
          </a:p>
        </p:txBody>
      </p:sp>
      <p:sp>
        <p:nvSpPr>
          <p:cNvPr id="17" name="Text 15"/>
          <p:cNvSpPr/>
          <p:nvPr/>
        </p:nvSpPr>
        <p:spPr>
          <a:xfrm>
            <a:off x="7223760" y="4937760"/>
            <a:ext cx="4023360" cy="320040"/>
          </a:xfrm>
          <a:prstGeom prst="rect">
            <a:avLst/>
          </a:prstGeom>
          <a:noFill/>
          <a:ln/>
        </p:spPr>
        <p:txBody>
          <a:bodyPr wrap="square" lIns="0" tIns="0" rIns="0" bIns="0" rtlCol="0" anchor="ctr"/>
          <a:lstStyle/>
          <a:p>
            <a:pPr indent="0" marL="0">
              <a:buNone/>
            </a:pPr>
            <a:r>
              <a:rPr lang="en-US" sz="1100" b="1" dirty="0">
                <a:solidFill>
                  <a:srgbClr val="B45309"/>
                </a:solidFill>
                <a:latin typeface="Consolas" pitchFamily="34" charset="0"/>
                <a:ea typeface="Consolas" pitchFamily="34" charset="-122"/>
                <a:cs typeface="Consolas" pitchFamily="34" charset="-120"/>
              </a:rPr>
              <a:t>🔒 CreateCollection</a:t>
            </a:r>
            <a:endParaRPr lang="en-US" sz="1100" dirty="0"/>
          </a:p>
        </p:txBody>
      </p:sp>
      <p:sp>
        <p:nvSpPr>
          <p:cNvPr id="18" name="Text 16"/>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19" name="Text 17"/>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15</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Training vs real world (the honest comparison)</a:t>
            </a:r>
            <a:endParaRPr lang="en-US" sz="2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2743200"/>
                <a:gridCol w="4023360"/>
                <a:gridCol w="4325112"/>
              </a:tblGrid>
              <a:tr h="41148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Dimension</a:t>
                      </a:r>
                      <a:endParaRPr lang="en-US" sz="115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Our training account</a:t>
                      </a:r>
                      <a:endParaRPr lang="en-US" sz="115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Real production</a:t>
                      </a:r>
                      <a:endParaRPr lang="en-US" sz="115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411480">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Collections</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one shared</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per team / per environment</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1480">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Who creates them</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instructor only</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platform / IaC, not humans clicking</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11480">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Redundancy</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standby disabled (~2 OCU)</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redundant (~4 OCU) for HA</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1480">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Network</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public endpoint</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VPC / private endpoint</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11480">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Encryption</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AWS-owned key</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customer-managed KMS key</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1480">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Vector store</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S3 Vectors for KBs</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S3 Vectors low-QPS, OSS high-QPS</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11480">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Provisioning</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CloudShell, by hand</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72A"/>
                          </a:solidFill>
                          <a:latin typeface="Calibri" pitchFamily="34" charset="0"/>
                          <a:ea typeface="Calibri" pitchFamily="34" charset="-122"/>
                          <a:cs typeface="Calibri" pitchFamily="34" charset="-120"/>
                        </a:rPr>
                        <a:t>Terraform / CDK, reviewed</a:t>
                      </a:r>
                      <a:endParaRPr lang="en-US" sz="1100" dirty="0">
                        <a:latin typeface="Calibri" charset="0"/>
                        <a:ea typeface="Calibri" charset="0"/>
                        <a:cs typeface="Calibri" charset="0"/>
                      </a:endParaRPr>
                    </a:p>
                  </a:txBody>
                  <a:tcPr marL="76200" marR="76200" marT="38100" marB="381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6" name="Text 3"/>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16</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The permission set, mapped</a:t>
            </a:r>
            <a:endParaRPr lang="en-US" sz="2900" dirty="0"/>
          </a:p>
        </p:txBody>
      </p:sp>
      <p:sp>
        <p:nvSpPr>
          <p:cNvPr id="4" name="Shape 2"/>
          <p:cNvSpPr/>
          <p:nvPr/>
        </p:nvSpPr>
        <p:spPr>
          <a:xfrm>
            <a:off x="566928" y="1828800"/>
            <a:ext cx="11057839" cy="749808"/>
          </a:xfrm>
          <a:prstGeom prst="roundRect">
            <a:avLst>
              <a:gd name="adj" fmla="val 6098"/>
            </a:avLst>
          </a:prstGeom>
          <a:solidFill>
            <a:srgbClr val="F8FAFC"/>
          </a:solidFill>
          <a:ln w="12700">
            <a:solidFill>
              <a:srgbClr val="E2E8F0"/>
            </a:solidFill>
            <a:prstDash val="solid"/>
          </a:ln>
        </p:spPr>
      </p:sp>
      <p:sp>
        <p:nvSpPr>
          <p:cNvPr id="5" name="Text 3"/>
          <p:cNvSpPr/>
          <p:nvPr/>
        </p:nvSpPr>
        <p:spPr>
          <a:xfrm>
            <a:off x="749808" y="1828800"/>
            <a:ext cx="3657600" cy="749808"/>
          </a:xfrm>
          <a:prstGeom prst="rect">
            <a:avLst/>
          </a:prstGeom>
          <a:noFill/>
          <a:ln/>
        </p:spPr>
        <p:txBody>
          <a:bodyPr wrap="square" lIns="0" tIns="0" rIns="0" bIns="0" rtlCol="0" anchor="ctr"/>
          <a:lstStyle/>
          <a:p>
            <a:pPr indent="0" marL="0">
              <a:buNone/>
            </a:pPr>
            <a:r>
              <a:rPr lang="en-US" sz="1250" b="1" dirty="0">
                <a:solidFill>
                  <a:srgbClr val="0F172A"/>
                </a:solidFill>
                <a:latin typeface="Consolas" pitchFamily="34" charset="0"/>
                <a:ea typeface="Consolas" pitchFamily="34" charset="-122"/>
                <a:cs typeface="Consolas" pitchFamily="34" charset="-120"/>
              </a:rPr>
              <a:t>AmazonBedrockFullAccess</a:t>
            </a:r>
            <a:endParaRPr lang="en-US" sz="1250" dirty="0"/>
          </a:p>
        </p:txBody>
      </p:sp>
      <p:sp>
        <p:nvSpPr>
          <p:cNvPr id="6" name="Text 4"/>
          <p:cNvSpPr/>
          <p:nvPr/>
        </p:nvSpPr>
        <p:spPr>
          <a:xfrm>
            <a:off x="4498848" y="1828800"/>
            <a:ext cx="6943039" cy="74980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bedrock:* — the model / agent / KB engine</a:t>
            </a:r>
            <a:endParaRPr lang="en-US" sz="1250" dirty="0"/>
          </a:p>
        </p:txBody>
      </p:sp>
      <p:sp>
        <p:nvSpPr>
          <p:cNvPr id="7" name="Shape 5"/>
          <p:cNvSpPr/>
          <p:nvPr/>
        </p:nvSpPr>
        <p:spPr>
          <a:xfrm>
            <a:off x="566928" y="2670048"/>
            <a:ext cx="11057839" cy="749808"/>
          </a:xfrm>
          <a:prstGeom prst="roundRect">
            <a:avLst>
              <a:gd name="adj" fmla="val 6098"/>
            </a:avLst>
          </a:prstGeom>
          <a:solidFill>
            <a:srgbClr val="F8FAFC"/>
          </a:solidFill>
          <a:ln w="12700">
            <a:solidFill>
              <a:srgbClr val="E2E8F0"/>
            </a:solidFill>
            <a:prstDash val="solid"/>
          </a:ln>
        </p:spPr>
      </p:sp>
      <p:sp>
        <p:nvSpPr>
          <p:cNvPr id="8" name="Text 6"/>
          <p:cNvSpPr/>
          <p:nvPr/>
        </p:nvSpPr>
        <p:spPr>
          <a:xfrm>
            <a:off x="749808" y="2670048"/>
            <a:ext cx="3657600" cy="749808"/>
          </a:xfrm>
          <a:prstGeom prst="rect">
            <a:avLst/>
          </a:prstGeom>
          <a:noFill/>
          <a:ln/>
        </p:spPr>
        <p:txBody>
          <a:bodyPr wrap="square" lIns="0" tIns="0" rIns="0" bIns="0" rtlCol="0" anchor="ctr"/>
          <a:lstStyle/>
          <a:p>
            <a:pPr indent="0" marL="0">
              <a:buNone/>
            </a:pPr>
            <a:r>
              <a:rPr lang="en-US" sz="1250" b="1" dirty="0">
                <a:solidFill>
                  <a:srgbClr val="0F172A"/>
                </a:solidFill>
                <a:latin typeface="Consolas" pitchFamily="34" charset="0"/>
                <a:ea typeface="Consolas" pitchFamily="34" charset="-122"/>
                <a:cs typeface="Consolas" pitchFamily="34" charset="-120"/>
              </a:rPr>
              <a:t>BedrockLabBuilder</a:t>
            </a:r>
            <a:endParaRPr lang="en-US" sz="1250" dirty="0"/>
          </a:p>
        </p:txBody>
      </p:sp>
      <p:sp>
        <p:nvSpPr>
          <p:cNvPr id="9" name="Text 7"/>
          <p:cNvSpPr/>
          <p:nvPr/>
        </p:nvSpPr>
        <p:spPr>
          <a:xfrm>
            <a:off x="4498848" y="2670048"/>
            <a:ext cx="6943039" cy="74980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role create + pass, Lambda build, logs, mint keys, agent FM-policy sync</a:t>
            </a:r>
            <a:endParaRPr lang="en-US" sz="1250" dirty="0"/>
          </a:p>
        </p:txBody>
      </p:sp>
      <p:sp>
        <p:nvSpPr>
          <p:cNvPr id="10" name="Shape 8"/>
          <p:cNvSpPr/>
          <p:nvPr/>
        </p:nvSpPr>
        <p:spPr>
          <a:xfrm>
            <a:off x="566928" y="3511296"/>
            <a:ext cx="11057839" cy="749808"/>
          </a:xfrm>
          <a:prstGeom prst="roundRect">
            <a:avLst>
              <a:gd name="adj" fmla="val 6098"/>
            </a:avLst>
          </a:prstGeom>
          <a:solidFill>
            <a:srgbClr val="F8FAFC"/>
          </a:solidFill>
          <a:ln w="12700">
            <a:solidFill>
              <a:srgbClr val="E2E8F0"/>
            </a:solidFill>
            <a:prstDash val="solid"/>
          </a:ln>
        </p:spPr>
      </p:sp>
      <p:sp>
        <p:nvSpPr>
          <p:cNvPr id="11" name="Text 9"/>
          <p:cNvSpPr/>
          <p:nvPr/>
        </p:nvSpPr>
        <p:spPr>
          <a:xfrm>
            <a:off x="749808" y="3511296"/>
            <a:ext cx="3657600" cy="749808"/>
          </a:xfrm>
          <a:prstGeom prst="rect">
            <a:avLst/>
          </a:prstGeom>
          <a:noFill/>
          <a:ln/>
        </p:spPr>
        <p:txBody>
          <a:bodyPr wrap="square" lIns="0" tIns="0" rIns="0" bIns="0" rtlCol="0" anchor="ctr"/>
          <a:lstStyle/>
          <a:p>
            <a:pPr indent="0" marL="0">
              <a:buNone/>
            </a:pPr>
            <a:r>
              <a:rPr lang="en-US" sz="1250" b="1" dirty="0">
                <a:solidFill>
                  <a:srgbClr val="0F172A"/>
                </a:solidFill>
                <a:latin typeface="Consolas" pitchFamily="34" charset="0"/>
                <a:ea typeface="Consolas" pitchFamily="34" charset="-122"/>
                <a:cs typeface="Consolas" pitchFamily="34" charset="-120"/>
              </a:rPr>
              <a:t>BedrockLabDeny</a:t>
            </a:r>
            <a:endParaRPr lang="en-US" sz="1250" dirty="0"/>
          </a:p>
        </p:txBody>
      </p:sp>
      <p:sp>
        <p:nvSpPr>
          <p:cNvPr id="12" name="Text 10"/>
          <p:cNvSpPr/>
          <p:nvPr/>
        </p:nvSpPr>
        <p:spPr>
          <a:xfrm>
            <a:off x="4498848" y="3511296"/>
            <a:ext cx="6943039" cy="74980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blocks expensive models, jobs, endpoints, collection creation</a:t>
            </a:r>
            <a:endParaRPr lang="en-US" sz="1250" dirty="0"/>
          </a:p>
        </p:txBody>
      </p:sp>
      <p:sp>
        <p:nvSpPr>
          <p:cNvPr id="13" name="Shape 11"/>
          <p:cNvSpPr/>
          <p:nvPr/>
        </p:nvSpPr>
        <p:spPr>
          <a:xfrm>
            <a:off x="566928" y="4352544"/>
            <a:ext cx="11057839" cy="749808"/>
          </a:xfrm>
          <a:prstGeom prst="roundRect">
            <a:avLst>
              <a:gd name="adj" fmla="val 6098"/>
            </a:avLst>
          </a:prstGeom>
          <a:solidFill>
            <a:srgbClr val="F8FAFC"/>
          </a:solidFill>
          <a:ln w="12700">
            <a:solidFill>
              <a:srgbClr val="E2E8F0"/>
            </a:solidFill>
            <a:prstDash val="solid"/>
          </a:ln>
        </p:spPr>
      </p:sp>
      <p:sp>
        <p:nvSpPr>
          <p:cNvPr id="14" name="Text 12"/>
          <p:cNvSpPr/>
          <p:nvPr/>
        </p:nvSpPr>
        <p:spPr>
          <a:xfrm>
            <a:off x="749808" y="4352544"/>
            <a:ext cx="3657600" cy="749808"/>
          </a:xfrm>
          <a:prstGeom prst="rect">
            <a:avLst/>
          </a:prstGeom>
          <a:noFill/>
          <a:ln/>
        </p:spPr>
        <p:txBody>
          <a:bodyPr wrap="square" lIns="0" tIns="0" rIns="0" bIns="0" rtlCol="0" anchor="ctr"/>
          <a:lstStyle/>
          <a:p>
            <a:pPr indent="0" marL="0">
              <a:buNone/>
            </a:pPr>
            <a:r>
              <a:rPr lang="en-US" sz="1250" b="1" dirty="0">
                <a:solidFill>
                  <a:srgbClr val="0F172A"/>
                </a:solidFill>
                <a:latin typeface="Consolas" pitchFamily="34" charset="0"/>
                <a:ea typeface="Consolas" pitchFamily="34" charset="-122"/>
                <a:cs typeface="Consolas" pitchFamily="34" charset="-120"/>
              </a:rPr>
              <a:t>bedrock-lab-data</a:t>
            </a:r>
            <a:endParaRPr lang="en-US" sz="1250" dirty="0"/>
          </a:p>
        </p:txBody>
      </p:sp>
      <p:sp>
        <p:nvSpPr>
          <p:cNvPr id="15" name="Text 13"/>
          <p:cNvSpPr/>
          <p:nvPr/>
        </p:nvSpPr>
        <p:spPr>
          <a:xfrm>
            <a:off x="4498848" y="4352544"/>
            <a:ext cx="6943039" cy="74980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S3 (bedrock-lab-*), vector stores (s3vectors, aoss), cost deny</a:t>
            </a:r>
            <a:endParaRPr lang="en-US" sz="1250" dirty="0"/>
          </a:p>
        </p:txBody>
      </p:sp>
      <p:sp>
        <p:nvSpPr>
          <p:cNvPr id="16" name="Shape 14"/>
          <p:cNvSpPr/>
          <p:nvPr/>
        </p:nvSpPr>
        <p:spPr>
          <a:xfrm>
            <a:off x="566928" y="5193792"/>
            <a:ext cx="11057839" cy="749808"/>
          </a:xfrm>
          <a:prstGeom prst="roundRect">
            <a:avLst>
              <a:gd name="adj" fmla="val 6098"/>
            </a:avLst>
          </a:prstGeom>
          <a:solidFill>
            <a:srgbClr val="FBF1E6"/>
          </a:solidFill>
          <a:ln w="12700">
            <a:solidFill>
              <a:srgbClr val="B45309"/>
            </a:solidFill>
            <a:prstDash val="solid"/>
          </a:ln>
        </p:spPr>
      </p:sp>
      <p:sp>
        <p:nvSpPr>
          <p:cNvPr id="17" name="Text 15"/>
          <p:cNvSpPr/>
          <p:nvPr/>
        </p:nvSpPr>
        <p:spPr>
          <a:xfrm>
            <a:off x="749808" y="5193792"/>
            <a:ext cx="3657600" cy="749808"/>
          </a:xfrm>
          <a:prstGeom prst="rect">
            <a:avLst/>
          </a:prstGeom>
          <a:noFill/>
          <a:ln/>
        </p:spPr>
        <p:txBody>
          <a:bodyPr wrap="square" lIns="0" tIns="0" rIns="0" bIns="0" rtlCol="0" anchor="ctr"/>
          <a:lstStyle/>
          <a:p>
            <a:pPr indent="0" marL="0">
              <a:buNone/>
            </a:pPr>
            <a:r>
              <a:rPr lang="en-US" sz="1250" b="1" dirty="0">
                <a:solidFill>
                  <a:srgbClr val="B45309"/>
                </a:solidFill>
                <a:latin typeface="Consolas" pitchFamily="34" charset="0"/>
                <a:ea typeface="Consolas" pitchFamily="34" charset="-122"/>
                <a:cs typeface="Consolas" pitchFamily="34" charset="-120"/>
              </a:rPr>
              <a:t>BedrockLabOpenSearch</a:t>
            </a:r>
            <a:endParaRPr lang="en-US" sz="1250" dirty="0"/>
          </a:p>
        </p:txBody>
      </p:sp>
      <p:sp>
        <p:nvSpPr>
          <p:cNvPr id="18" name="Text 16"/>
          <p:cNvSpPr/>
          <p:nvPr/>
        </p:nvSpPr>
        <p:spPr>
          <a:xfrm>
            <a:off x="4498848" y="5193792"/>
            <a:ext cx="6943039" cy="749808"/>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session-only — the IAM gateway to the shared collection</a:t>
            </a:r>
            <a:endParaRPr lang="en-US" sz="1250" dirty="0"/>
          </a:p>
        </p:txBody>
      </p:sp>
      <p:sp>
        <p:nvSpPr>
          <p:cNvPr id="19" name="Text 17"/>
          <p:cNvSpPr/>
          <p:nvPr/>
        </p:nvSpPr>
        <p:spPr>
          <a:xfrm>
            <a:off x="8515807" y="5193792"/>
            <a:ext cx="2926080" cy="749808"/>
          </a:xfrm>
          <a:prstGeom prst="rect">
            <a:avLst/>
          </a:prstGeom>
          <a:noFill/>
          <a:ln/>
        </p:spPr>
        <p:txBody>
          <a:bodyPr wrap="square" lIns="0" tIns="0" rIns="0" bIns="0" rtlCol="0" anchor="ctr"/>
          <a:lstStyle/>
          <a:p>
            <a:pPr algn="r" indent="0" marL="0">
              <a:buNone/>
            </a:pPr>
            <a:r>
              <a:rPr lang="en-US" sz="950" i="1" dirty="0">
                <a:solidFill>
                  <a:srgbClr val="B45309"/>
                </a:solidFill>
                <a:latin typeface="Consolas" pitchFamily="34" charset="0"/>
                <a:ea typeface="Consolas" pitchFamily="34" charset="-122"/>
                <a:cs typeface="Consolas" pitchFamily="34" charset="-120"/>
              </a:rPr>
              <a:t>attach for session · detach after</a:t>
            </a:r>
            <a:endParaRPr lang="en-US" sz="950" dirty="0"/>
          </a:p>
        </p:txBody>
      </p:sp>
      <p:sp>
        <p:nvSpPr>
          <p:cNvPr id="20" name="Text 18"/>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21" name="Text 19"/>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17</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The cost guardrails (two hard controls)</a:t>
            </a:r>
            <a:endParaRPr lang="en-US" sz="2900" dirty="0"/>
          </a:p>
        </p:txBody>
      </p:sp>
      <p:sp>
        <p:nvSpPr>
          <p:cNvPr id="4" name="Text 2"/>
          <p:cNvSpPr/>
          <p:nvPr/>
        </p:nvSpPr>
        <p:spPr>
          <a:xfrm>
            <a:off x="566928" y="1737360"/>
            <a:ext cx="11057839" cy="3657600"/>
          </a:xfrm>
          <a:prstGeom prst="rect">
            <a:avLst/>
          </a:prstGeom>
          <a:noFill/>
          <a:ln/>
        </p:spPr>
        <p:txBody>
          <a:bodyPr wrap="square" lIns="0" tIns="0" rIns="0" bIns="0" rtlCol="0" anchor="t"/>
          <a:lstStyle/>
          <a:p>
            <a:pPr marL="177800" indent="-177800">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Account OCU ceiling — caps total OpenSearch spend account-wide.</a:t>
            </a:r>
            <a:endParaRPr lang="en-US" sz="1500" dirty="0"/>
          </a:p>
          <a:p>
            <a:pPr marL="177800" indent="-177800">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Budget alarm — emails you at 80% of a monthly cap.</a:t>
            </a:r>
            <a:endParaRPr lang="en-US" sz="1500" dirty="0"/>
          </a:p>
          <a:p>
            <a:pPr marL="177800" indent="-1778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Students cannot raise the ceiling (aoss:UpdateAccountSettings is denied).</a:t>
            </a:r>
            <a:endParaRPr lang="en-US" sz="1500" dirty="0"/>
          </a:p>
        </p:txBody>
      </p:sp>
      <p:sp>
        <p:nvSpPr>
          <p:cNvPr id="5" name="Shape 3"/>
          <p:cNvSpPr/>
          <p:nvPr/>
        </p:nvSpPr>
        <p:spPr>
          <a:xfrm>
            <a:off x="566928" y="3291840"/>
            <a:ext cx="10058400" cy="848106"/>
          </a:xfrm>
          <a:prstGeom prst="roundRect">
            <a:avLst>
              <a:gd name="adj" fmla="val 6469"/>
            </a:avLst>
          </a:prstGeom>
          <a:solidFill>
            <a:srgbClr val="0F172A"/>
          </a:solidFill>
          <a:ln/>
          <a:effectLst>
            <a:outerShdw sx="100000" sy="100000" kx="0" ky="0" algn="bl" rotWithShape="0" blurRad="88900" dist="38100" dir="8100000">
              <a:srgbClr val="0F172A">
                <a:alpha val="10000"/>
              </a:srgbClr>
            </a:outerShdw>
          </a:effectLst>
        </p:spPr>
      </p:sp>
      <p:sp>
        <p:nvSpPr>
          <p:cNvPr id="6" name="Text 4"/>
          <p:cNvSpPr/>
          <p:nvPr/>
        </p:nvSpPr>
        <p:spPr>
          <a:xfrm>
            <a:off x="749808" y="3438144"/>
            <a:ext cx="9692640" cy="277749"/>
          </a:xfrm>
          <a:prstGeom prst="rect">
            <a:avLst/>
          </a:prstGeom>
          <a:noFill/>
          <a:ln/>
        </p:spPr>
        <p:txBody>
          <a:bodyPr wrap="square" lIns="0" tIns="0" rIns="0" bIns="0" rtlCol="0" anchor="ctr"/>
          <a:lstStyle/>
          <a:p>
            <a:pPr indent="0" marL="0">
              <a:buNone/>
            </a:pPr>
            <a:r>
              <a:rPr lang="en-US" sz="1350" dirty="0">
                <a:solidFill>
                  <a:srgbClr val="E2E8F0"/>
                </a:solidFill>
                <a:latin typeface="Consolas" pitchFamily="34" charset="0"/>
                <a:ea typeface="Consolas" pitchFamily="34" charset="-122"/>
                <a:cs typeface="Consolas" pitchFamily="34" charset="-120"/>
              </a:rPr>
              <a:t>aws opensearchserverless update-account-settings \</a:t>
            </a:r>
            <a:endParaRPr lang="en-US" sz="1350" dirty="0"/>
          </a:p>
        </p:txBody>
      </p:sp>
      <p:sp>
        <p:nvSpPr>
          <p:cNvPr id="7" name="Shape 5"/>
          <p:cNvSpPr/>
          <p:nvPr/>
        </p:nvSpPr>
        <p:spPr>
          <a:xfrm>
            <a:off x="612648" y="3715893"/>
            <a:ext cx="9966960" cy="277749"/>
          </a:xfrm>
          <a:prstGeom prst="rect">
            <a:avLst/>
          </a:prstGeom>
          <a:solidFill>
            <a:srgbClr val="1E293B"/>
          </a:solidFill>
          <a:ln/>
        </p:spPr>
      </p:sp>
      <p:sp>
        <p:nvSpPr>
          <p:cNvPr id="8" name="Text 6"/>
          <p:cNvSpPr/>
          <p:nvPr/>
        </p:nvSpPr>
        <p:spPr>
          <a:xfrm>
            <a:off x="749808" y="3715893"/>
            <a:ext cx="9692640" cy="277749"/>
          </a:xfrm>
          <a:prstGeom prst="rect">
            <a:avLst/>
          </a:prstGeom>
          <a:noFill/>
          <a:ln/>
        </p:spPr>
        <p:txBody>
          <a:bodyPr wrap="square" lIns="0" tIns="0" rIns="0" bIns="0" rtlCol="0" anchor="ctr"/>
          <a:lstStyle/>
          <a:p>
            <a:pPr indent="0" marL="0">
              <a:buNone/>
            </a:pPr>
            <a:r>
              <a:rPr lang="en-US" sz="1350" dirty="0">
                <a:solidFill>
                  <a:srgbClr val="FBBF24"/>
                </a:solidFill>
                <a:latin typeface="Consolas" pitchFamily="34" charset="0"/>
                <a:ea typeface="Consolas" pitchFamily="34" charset="-122"/>
                <a:cs typeface="Consolas" pitchFamily="34" charset="-120"/>
              </a:rPr>
              <a:t>  --capacity-limits maxIndexingCapacityInOCU=2,maxSearchCapacityInOCU=2</a:t>
            </a:r>
            <a:endParaRPr lang="en-US" sz="1350" dirty="0"/>
          </a:p>
        </p:txBody>
      </p:sp>
      <p:sp>
        <p:nvSpPr>
          <p:cNvPr id="9" name="Text 7"/>
          <p:cNvSpPr/>
          <p:nvPr/>
        </p:nvSpPr>
        <p:spPr>
          <a:xfrm>
            <a:off x="566928" y="4434840"/>
            <a:ext cx="11057839" cy="54864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Because OCUs pool at the account level, this ceiling is a true dollar cap. Set it, and the worst case is bounded even if the whole class hammers the collection.</a:t>
            </a:r>
            <a:endParaRPr lang="en-US" sz="1350" dirty="0"/>
          </a:p>
        </p:txBody>
      </p:sp>
      <p:sp>
        <p:nvSpPr>
          <p:cNvPr id="10" name="Text 8"/>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11" name="Text 9"/>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18</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Admin setup 1–2 — ceiling, then collection</a:t>
            </a:r>
            <a:endParaRPr lang="en-US" sz="2900" dirty="0"/>
          </a:p>
        </p:txBody>
      </p:sp>
      <p:sp>
        <p:nvSpPr>
          <p:cNvPr id="4" name="Shape 2"/>
          <p:cNvSpPr/>
          <p:nvPr/>
        </p:nvSpPr>
        <p:spPr>
          <a:xfrm>
            <a:off x="566928" y="1737360"/>
            <a:ext cx="6766560" cy="2422017"/>
          </a:xfrm>
          <a:prstGeom prst="roundRect">
            <a:avLst>
              <a:gd name="adj" fmla="val 2265"/>
            </a:avLst>
          </a:prstGeom>
          <a:solidFill>
            <a:srgbClr val="0F172A"/>
          </a:solidFill>
          <a:ln/>
          <a:effectLst>
            <a:outerShdw sx="100000" sy="100000" kx="0" ky="0" algn="bl" rotWithShape="0" blurRad="88900" dist="38100" dir="8100000">
              <a:srgbClr val="0F172A">
                <a:alpha val="10000"/>
              </a:srgbClr>
            </a:outerShdw>
          </a:effectLst>
        </p:spPr>
      </p:sp>
      <p:sp>
        <p:nvSpPr>
          <p:cNvPr id="5" name="Text 3"/>
          <p:cNvSpPr/>
          <p:nvPr/>
        </p:nvSpPr>
        <p:spPr>
          <a:xfrm>
            <a:off x="749808" y="1883664"/>
            <a:ext cx="6400800" cy="236601"/>
          </a:xfrm>
          <a:prstGeom prst="rect">
            <a:avLst/>
          </a:prstGeom>
          <a:noFill/>
          <a:ln/>
        </p:spPr>
        <p:txBody>
          <a:bodyPr wrap="square" lIns="0" tIns="0" rIns="0" bIns="0" rtlCol="0" anchor="ctr"/>
          <a:lstStyle/>
          <a:p>
            <a:pPr indent="0" marL="0">
              <a:buNone/>
            </a:pPr>
            <a:r>
              <a:rPr lang="en-US" sz="1150" dirty="0">
                <a:solidFill>
                  <a:srgbClr val="94A3B8"/>
                </a:solidFill>
                <a:latin typeface="Consolas" pitchFamily="34" charset="0"/>
                <a:ea typeface="Consolas" pitchFamily="34" charset="-122"/>
                <a:cs typeface="Consolas" pitchFamily="34" charset="-120"/>
              </a:rPr>
              <a:t># 1. ceiling first</a:t>
            </a:r>
            <a:endParaRPr lang="en-US" sz="1150" dirty="0"/>
          </a:p>
        </p:txBody>
      </p:sp>
      <p:sp>
        <p:nvSpPr>
          <p:cNvPr id="6" name="Text 4"/>
          <p:cNvSpPr/>
          <p:nvPr/>
        </p:nvSpPr>
        <p:spPr>
          <a:xfrm>
            <a:off x="749808" y="2120265"/>
            <a:ext cx="6400800" cy="236601"/>
          </a:xfrm>
          <a:prstGeom prst="rect">
            <a:avLst/>
          </a:prstGeom>
          <a:noFill/>
          <a:ln/>
        </p:spPr>
        <p:txBody>
          <a:bodyPr wrap="square" lIns="0" tIns="0" rIns="0" bIns="0" rtlCol="0" anchor="ctr"/>
          <a:lstStyle/>
          <a:p>
            <a:pPr indent="0" marL="0">
              <a:buNone/>
            </a:pPr>
            <a:r>
              <a:rPr lang="en-US" sz="1150" dirty="0">
                <a:solidFill>
                  <a:srgbClr val="E2E8F0"/>
                </a:solidFill>
                <a:latin typeface="Consolas" pitchFamily="34" charset="0"/>
                <a:ea typeface="Consolas" pitchFamily="34" charset="-122"/>
                <a:cs typeface="Consolas" pitchFamily="34" charset="-120"/>
              </a:rPr>
              <a:t>aws opensearchserverless update-account-settings \</a:t>
            </a:r>
            <a:endParaRPr lang="en-US" sz="1150" dirty="0"/>
          </a:p>
        </p:txBody>
      </p:sp>
      <p:sp>
        <p:nvSpPr>
          <p:cNvPr id="7" name="Text 5"/>
          <p:cNvSpPr/>
          <p:nvPr/>
        </p:nvSpPr>
        <p:spPr>
          <a:xfrm>
            <a:off x="749808" y="2356866"/>
            <a:ext cx="6400800" cy="236601"/>
          </a:xfrm>
          <a:prstGeom prst="rect">
            <a:avLst/>
          </a:prstGeom>
          <a:noFill/>
          <a:ln/>
        </p:spPr>
        <p:txBody>
          <a:bodyPr wrap="square" lIns="0" tIns="0" rIns="0" bIns="0" rtlCol="0" anchor="ctr"/>
          <a:lstStyle/>
          <a:p>
            <a:pPr indent="0" marL="0">
              <a:buNone/>
            </a:pPr>
            <a:r>
              <a:rPr lang="en-US" sz="1150" dirty="0">
                <a:solidFill>
                  <a:srgbClr val="E2E8F0"/>
                </a:solidFill>
                <a:latin typeface="Consolas" pitchFamily="34" charset="0"/>
                <a:ea typeface="Consolas" pitchFamily="34" charset="-122"/>
                <a:cs typeface="Consolas" pitchFamily="34" charset="-120"/>
              </a:rPr>
              <a:t>  --capacity-limits maxIndexingCapacityInOCU=2,maxSearchCapacityInOCU=2</a:t>
            </a:r>
            <a:endParaRPr lang="en-US" sz="1150" dirty="0"/>
          </a:p>
        </p:txBody>
      </p:sp>
      <p:sp>
        <p:nvSpPr>
          <p:cNvPr id="8" name="Text 6"/>
          <p:cNvSpPr/>
          <p:nvPr/>
        </p:nvSpPr>
        <p:spPr>
          <a:xfrm>
            <a:off x="749808" y="2593467"/>
            <a:ext cx="6400800" cy="236601"/>
          </a:xfrm>
          <a:prstGeom prst="rect">
            <a:avLst/>
          </a:prstGeom>
          <a:noFill/>
          <a:ln/>
        </p:spPr>
        <p:txBody>
          <a:bodyPr wrap="square" lIns="0" tIns="0" rIns="0" bIns="0" rtlCol="0" anchor="ctr"/>
          <a:lstStyle/>
          <a:p>
            <a:pPr indent="0" marL="0">
              <a:buNone/>
            </a:pPr>
            <a:r>
              <a:rPr lang="en-US" sz="1150" dirty="0">
                <a:solidFill>
                  <a:srgbClr val="E2E8F0"/>
                </a:solidFill>
                <a:latin typeface="Consolas" pitchFamily="34" charset="0"/>
                <a:ea typeface="Consolas" pitchFamily="34" charset="-122"/>
                <a:cs typeface="Consolas" pitchFamily="34" charset="-120"/>
              </a:rPr>
              <a:t> </a:t>
            </a:r>
            <a:endParaRPr lang="en-US" sz="1150" dirty="0"/>
          </a:p>
        </p:txBody>
      </p:sp>
      <p:sp>
        <p:nvSpPr>
          <p:cNvPr id="9" name="Text 7"/>
          <p:cNvSpPr/>
          <p:nvPr/>
        </p:nvSpPr>
        <p:spPr>
          <a:xfrm>
            <a:off x="749808" y="2830068"/>
            <a:ext cx="6400800" cy="236601"/>
          </a:xfrm>
          <a:prstGeom prst="rect">
            <a:avLst/>
          </a:prstGeom>
          <a:noFill/>
          <a:ln/>
        </p:spPr>
        <p:txBody>
          <a:bodyPr wrap="square" lIns="0" tIns="0" rIns="0" bIns="0" rtlCol="0" anchor="ctr"/>
          <a:lstStyle/>
          <a:p>
            <a:pPr indent="0" marL="0">
              <a:buNone/>
            </a:pPr>
            <a:r>
              <a:rPr lang="en-US" sz="1150" dirty="0">
                <a:solidFill>
                  <a:srgbClr val="94A3B8"/>
                </a:solidFill>
                <a:latin typeface="Consolas" pitchFamily="34" charset="0"/>
                <a:ea typeface="Consolas" pitchFamily="34" charset="-122"/>
                <a:cs typeface="Consolas" pitchFamily="34" charset="-120"/>
              </a:rPr>
              <a:t># 2. encryption + network, then the collection (standby DISABLED)</a:t>
            </a:r>
            <a:endParaRPr lang="en-US" sz="1150" dirty="0"/>
          </a:p>
        </p:txBody>
      </p:sp>
      <p:sp>
        <p:nvSpPr>
          <p:cNvPr id="10" name="Text 8"/>
          <p:cNvSpPr/>
          <p:nvPr/>
        </p:nvSpPr>
        <p:spPr>
          <a:xfrm>
            <a:off x="749808" y="3066669"/>
            <a:ext cx="6400800" cy="236601"/>
          </a:xfrm>
          <a:prstGeom prst="rect">
            <a:avLst/>
          </a:prstGeom>
          <a:noFill/>
          <a:ln/>
        </p:spPr>
        <p:txBody>
          <a:bodyPr wrap="square" lIns="0" tIns="0" rIns="0" bIns="0" rtlCol="0" anchor="ctr"/>
          <a:lstStyle/>
          <a:p>
            <a:pPr indent="0" marL="0">
              <a:buNone/>
            </a:pPr>
            <a:r>
              <a:rPr lang="en-US" sz="1150" dirty="0">
                <a:solidFill>
                  <a:srgbClr val="E2E8F0"/>
                </a:solidFill>
                <a:latin typeface="Consolas" pitchFamily="34" charset="0"/>
                <a:ea typeface="Consolas" pitchFamily="34" charset="-122"/>
                <a:cs typeface="Consolas" pitchFamily="34" charset="-120"/>
              </a:rPr>
              <a:t>aws opensearchserverless create-security-policy --name shared-enc \</a:t>
            </a:r>
            <a:endParaRPr lang="en-US" sz="1150" dirty="0"/>
          </a:p>
        </p:txBody>
      </p:sp>
      <p:sp>
        <p:nvSpPr>
          <p:cNvPr id="11" name="Text 9"/>
          <p:cNvSpPr/>
          <p:nvPr/>
        </p:nvSpPr>
        <p:spPr>
          <a:xfrm>
            <a:off x="749808" y="3303270"/>
            <a:ext cx="6400800" cy="236601"/>
          </a:xfrm>
          <a:prstGeom prst="rect">
            <a:avLst/>
          </a:prstGeom>
          <a:noFill/>
          <a:ln/>
        </p:spPr>
        <p:txBody>
          <a:bodyPr wrap="square" lIns="0" tIns="0" rIns="0" bIns="0" rtlCol="0" anchor="ctr"/>
          <a:lstStyle/>
          <a:p>
            <a:pPr indent="0" marL="0">
              <a:buNone/>
            </a:pPr>
            <a:r>
              <a:rPr lang="en-US" sz="1150" dirty="0">
                <a:solidFill>
                  <a:srgbClr val="E2E8F0"/>
                </a:solidFill>
                <a:latin typeface="Consolas" pitchFamily="34" charset="0"/>
                <a:ea typeface="Consolas" pitchFamily="34" charset="-122"/>
                <a:cs typeface="Consolas" pitchFamily="34" charset="-120"/>
              </a:rPr>
              <a:t>  --type encryption --policy '...'</a:t>
            </a:r>
            <a:endParaRPr lang="en-US" sz="1150" dirty="0"/>
          </a:p>
        </p:txBody>
      </p:sp>
      <p:sp>
        <p:nvSpPr>
          <p:cNvPr id="12" name="Text 10"/>
          <p:cNvSpPr/>
          <p:nvPr/>
        </p:nvSpPr>
        <p:spPr>
          <a:xfrm>
            <a:off x="749808" y="3539871"/>
            <a:ext cx="6400800" cy="236601"/>
          </a:xfrm>
          <a:prstGeom prst="rect">
            <a:avLst/>
          </a:prstGeom>
          <a:noFill/>
          <a:ln/>
        </p:spPr>
        <p:txBody>
          <a:bodyPr wrap="square" lIns="0" tIns="0" rIns="0" bIns="0" rtlCol="0" anchor="ctr"/>
          <a:lstStyle/>
          <a:p>
            <a:pPr indent="0" marL="0">
              <a:buNone/>
            </a:pPr>
            <a:r>
              <a:rPr lang="en-US" sz="1150" dirty="0">
                <a:solidFill>
                  <a:srgbClr val="E2E8F0"/>
                </a:solidFill>
                <a:latin typeface="Consolas" pitchFamily="34" charset="0"/>
                <a:ea typeface="Consolas" pitchFamily="34" charset="-122"/>
                <a:cs typeface="Consolas" pitchFamily="34" charset="-120"/>
              </a:rPr>
              <a:t>aws opensearchserverless create-collection --name bedrock-lab-shared \</a:t>
            </a:r>
            <a:endParaRPr lang="en-US" sz="1150" dirty="0"/>
          </a:p>
        </p:txBody>
      </p:sp>
      <p:sp>
        <p:nvSpPr>
          <p:cNvPr id="13" name="Shape 11"/>
          <p:cNvSpPr/>
          <p:nvPr/>
        </p:nvSpPr>
        <p:spPr>
          <a:xfrm>
            <a:off x="612648" y="3776472"/>
            <a:ext cx="6675120" cy="236601"/>
          </a:xfrm>
          <a:prstGeom prst="rect">
            <a:avLst/>
          </a:prstGeom>
          <a:solidFill>
            <a:srgbClr val="1E293B"/>
          </a:solidFill>
          <a:ln/>
        </p:spPr>
      </p:sp>
      <p:sp>
        <p:nvSpPr>
          <p:cNvPr id="14" name="Text 12"/>
          <p:cNvSpPr/>
          <p:nvPr/>
        </p:nvSpPr>
        <p:spPr>
          <a:xfrm>
            <a:off x="749808" y="3776472"/>
            <a:ext cx="6400800" cy="236601"/>
          </a:xfrm>
          <a:prstGeom prst="rect">
            <a:avLst/>
          </a:prstGeom>
          <a:noFill/>
          <a:ln/>
        </p:spPr>
        <p:txBody>
          <a:bodyPr wrap="square" lIns="0" tIns="0" rIns="0" bIns="0" rtlCol="0" anchor="ctr"/>
          <a:lstStyle/>
          <a:p>
            <a:pPr indent="0" marL="0">
              <a:buNone/>
            </a:pPr>
            <a:r>
              <a:rPr lang="en-US" sz="1150" dirty="0">
                <a:solidFill>
                  <a:srgbClr val="FBBF24"/>
                </a:solidFill>
                <a:latin typeface="Consolas" pitchFamily="34" charset="0"/>
                <a:ea typeface="Consolas" pitchFamily="34" charset="-122"/>
                <a:cs typeface="Consolas" pitchFamily="34" charset="-120"/>
              </a:rPr>
              <a:t>  --type VECTORSEARCH --standby-replicas DISABLED</a:t>
            </a:r>
            <a:endParaRPr lang="en-US" sz="1150" dirty="0"/>
          </a:p>
        </p:txBody>
      </p:sp>
      <p:sp>
        <p:nvSpPr>
          <p:cNvPr id="15" name="Shape 13"/>
          <p:cNvSpPr/>
          <p:nvPr/>
        </p:nvSpPr>
        <p:spPr>
          <a:xfrm>
            <a:off x="7589520" y="1783080"/>
            <a:ext cx="4023360" cy="2788920"/>
          </a:xfrm>
          <a:prstGeom prst="roundRect">
            <a:avLst>
              <a:gd name="adj" fmla="val 1639"/>
            </a:avLst>
          </a:prstGeom>
          <a:solidFill>
            <a:srgbClr val="F8FAFC"/>
          </a:solidFill>
          <a:ln w="12700">
            <a:solidFill>
              <a:srgbClr val="B45309"/>
            </a:solidFill>
            <a:prstDash val="dash"/>
          </a:ln>
        </p:spPr>
      </p:sp>
      <p:sp>
        <p:nvSpPr>
          <p:cNvPr id="16" name="Text 14"/>
          <p:cNvSpPr/>
          <p:nvPr/>
        </p:nvSpPr>
        <p:spPr>
          <a:xfrm>
            <a:off x="7589520" y="2793492"/>
            <a:ext cx="4023360" cy="274320"/>
          </a:xfrm>
          <a:prstGeom prst="rect">
            <a:avLst/>
          </a:prstGeom>
          <a:noFill/>
          <a:ln/>
        </p:spPr>
        <p:txBody>
          <a:bodyPr wrap="square" lIns="0" tIns="0" rIns="0" bIns="0" rtlCol="0" anchor="ctr"/>
          <a:lstStyle/>
          <a:p>
            <a:pPr algn="ctr" indent="0" marL="0">
              <a:buNone/>
            </a:pPr>
            <a:r>
              <a:rPr lang="en-US" sz="1100" b="1" spc="200" kern="0" dirty="0">
                <a:solidFill>
                  <a:srgbClr val="B45309"/>
                </a:solidFill>
                <a:latin typeface="Consolas" pitchFamily="34" charset="0"/>
                <a:ea typeface="Consolas" pitchFamily="34" charset="-122"/>
                <a:cs typeface="Consolas" pitchFamily="34" charset="-120"/>
              </a:rPr>
              <a:t>SCREENSHOT</a:t>
            </a:r>
            <a:endParaRPr lang="en-US" sz="1100" dirty="0"/>
          </a:p>
        </p:txBody>
      </p:sp>
      <p:sp>
        <p:nvSpPr>
          <p:cNvPr id="17" name="Text 15"/>
          <p:cNvSpPr/>
          <p:nvPr/>
        </p:nvSpPr>
        <p:spPr>
          <a:xfrm>
            <a:off x="7772400" y="3104388"/>
            <a:ext cx="3657600" cy="274320"/>
          </a:xfrm>
          <a:prstGeom prst="rect">
            <a:avLst/>
          </a:prstGeom>
          <a:noFill/>
          <a:ln/>
        </p:spPr>
        <p:txBody>
          <a:bodyPr wrap="square" lIns="0" tIns="0" rIns="0" bIns="0" rtlCol="0" anchor="ctr"/>
          <a:lstStyle/>
          <a:p>
            <a:pPr algn="ctr" indent="0" marL="0">
              <a:buNone/>
            </a:pPr>
            <a:r>
              <a:rPr lang="en-US" sz="1000" dirty="0">
                <a:solidFill>
                  <a:srgbClr val="1E293B"/>
                </a:solidFill>
                <a:latin typeface="Consolas" pitchFamily="34" charset="0"/>
                <a:ea typeface="Consolas" pitchFamily="34" charset="-122"/>
                <a:cs typeface="Consolas" pitchFamily="34" charset="-120"/>
              </a:rPr>
              <a:t>OpenSearch Service → Serverless → Collections</a:t>
            </a:r>
            <a:endParaRPr lang="en-US" sz="1000" dirty="0"/>
          </a:p>
        </p:txBody>
      </p:sp>
      <p:sp>
        <p:nvSpPr>
          <p:cNvPr id="18" name="Text 16"/>
          <p:cNvSpPr/>
          <p:nvPr/>
        </p:nvSpPr>
        <p:spPr>
          <a:xfrm>
            <a:off x="7772400" y="3415284"/>
            <a:ext cx="3657600" cy="4572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capture: the bedrock-lab-shared row, status Active, with its endpoint</a:t>
            </a:r>
            <a:endParaRPr lang="en-US" sz="1000" dirty="0"/>
          </a:p>
        </p:txBody>
      </p:sp>
      <p:sp>
        <p:nvSpPr>
          <p:cNvPr id="19" name="Text 17"/>
          <p:cNvSpPr/>
          <p:nvPr/>
        </p:nvSpPr>
        <p:spPr>
          <a:xfrm>
            <a:off x="566928" y="4846320"/>
            <a:ext cx="11057839" cy="45720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standby DISABLED keeps it at the ~2 OCU floor instead of 4. Grab the collection id and endpoint from the output.</a:t>
            </a:r>
            <a:endParaRPr lang="en-US" sz="1350" dirty="0"/>
          </a:p>
        </p:txBody>
      </p:sp>
      <p:sp>
        <p:nvSpPr>
          <p:cNvPr id="20" name="Text 18"/>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21" name="Text 19"/>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19</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Admin setup 3 — data access policy (Lock 2)</a:t>
            </a:r>
            <a:endParaRPr lang="en-US" sz="2900" dirty="0"/>
          </a:p>
        </p:txBody>
      </p:sp>
      <p:sp>
        <p:nvSpPr>
          <p:cNvPr id="4" name="Text 2"/>
          <p:cNvSpPr/>
          <p:nvPr/>
        </p:nvSpPr>
        <p:spPr>
          <a:xfrm>
            <a:off x="566928" y="1627632"/>
            <a:ext cx="11057839" cy="365760"/>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Pull the student ARNs straight from the group, write them into the data access policy.</a:t>
            </a:r>
            <a:endParaRPr lang="en-US" sz="1450" dirty="0"/>
          </a:p>
        </p:txBody>
      </p:sp>
      <p:sp>
        <p:nvSpPr>
          <p:cNvPr id="5" name="Shape 3"/>
          <p:cNvSpPr/>
          <p:nvPr/>
        </p:nvSpPr>
        <p:spPr>
          <a:xfrm>
            <a:off x="566928" y="2194560"/>
            <a:ext cx="10424160" cy="2422017"/>
          </a:xfrm>
          <a:prstGeom prst="roundRect">
            <a:avLst>
              <a:gd name="adj" fmla="val 2265"/>
            </a:avLst>
          </a:prstGeom>
          <a:solidFill>
            <a:srgbClr val="0F172A"/>
          </a:solidFill>
          <a:ln/>
          <a:effectLst>
            <a:outerShdw sx="100000" sy="100000" kx="0" ky="0" algn="bl" rotWithShape="0" blurRad="88900" dist="38100" dir="8100000">
              <a:srgbClr val="0F172A">
                <a:alpha val="10000"/>
              </a:srgbClr>
            </a:outerShdw>
          </a:effectLst>
        </p:spPr>
      </p:sp>
      <p:sp>
        <p:nvSpPr>
          <p:cNvPr id="6" name="Text 4"/>
          <p:cNvSpPr/>
          <p:nvPr/>
        </p:nvSpPr>
        <p:spPr>
          <a:xfrm>
            <a:off x="749808" y="2340864"/>
            <a:ext cx="10058400" cy="236601"/>
          </a:xfrm>
          <a:prstGeom prst="rect">
            <a:avLst/>
          </a:prstGeom>
          <a:noFill/>
          <a:ln/>
        </p:spPr>
        <p:txBody>
          <a:bodyPr wrap="square" lIns="0" tIns="0" rIns="0" bIns="0" rtlCol="0" anchor="ctr"/>
          <a:lstStyle/>
          <a:p>
            <a:pPr indent="0" marL="0">
              <a:buNone/>
            </a:pPr>
            <a:r>
              <a:rPr lang="en-US" sz="1150" dirty="0">
                <a:solidFill>
                  <a:srgbClr val="E2E8F0"/>
                </a:solidFill>
                <a:latin typeface="Consolas" pitchFamily="34" charset="0"/>
                <a:ea typeface="Consolas" pitchFamily="34" charset="-122"/>
                <a:cs typeface="Consolas" pitchFamily="34" charset="-120"/>
              </a:rPr>
              <a:t>PRINCIPALS=$(aws iam get-group --group-name bedrock-lab \</a:t>
            </a:r>
            <a:endParaRPr lang="en-US" sz="1150" dirty="0"/>
          </a:p>
        </p:txBody>
      </p:sp>
      <p:sp>
        <p:nvSpPr>
          <p:cNvPr id="7" name="Text 5"/>
          <p:cNvSpPr/>
          <p:nvPr/>
        </p:nvSpPr>
        <p:spPr>
          <a:xfrm>
            <a:off x="749808" y="2577465"/>
            <a:ext cx="10058400" cy="236601"/>
          </a:xfrm>
          <a:prstGeom prst="rect">
            <a:avLst/>
          </a:prstGeom>
          <a:noFill/>
          <a:ln/>
        </p:spPr>
        <p:txBody>
          <a:bodyPr wrap="square" lIns="0" tIns="0" rIns="0" bIns="0" rtlCol="0" anchor="ctr"/>
          <a:lstStyle/>
          <a:p>
            <a:pPr indent="0" marL="0">
              <a:buNone/>
            </a:pPr>
            <a:r>
              <a:rPr lang="en-US" sz="1150" dirty="0">
                <a:solidFill>
                  <a:srgbClr val="E2E8F0"/>
                </a:solidFill>
                <a:latin typeface="Consolas" pitchFamily="34" charset="0"/>
                <a:ea typeface="Consolas" pitchFamily="34" charset="-122"/>
                <a:cs typeface="Consolas" pitchFamily="34" charset="-120"/>
              </a:rPr>
              <a:t>             --query "Users[].Arn" --output json)</a:t>
            </a:r>
            <a:endParaRPr lang="en-US" sz="1150" dirty="0"/>
          </a:p>
        </p:txBody>
      </p:sp>
      <p:sp>
        <p:nvSpPr>
          <p:cNvPr id="8" name="Text 6"/>
          <p:cNvSpPr/>
          <p:nvPr/>
        </p:nvSpPr>
        <p:spPr>
          <a:xfrm>
            <a:off x="749808" y="2814066"/>
            <a:ext cx="10058400" cy="236601"/>
          </a:xfrm>
          <a:prstGeom prst="rect">
            <a:avLst/>
          </a:prstGeom>
          <a:noFill/>
          <a:ln/>
        </p:spPr>
        <p:txBody>
          <a:bodyPr wrap="square" lIns="0" tIns="0" rIns="0" bIns="0" rtlCol="0" anchor="ctr"/>
          <a:lstStyle/>
          <a:p>
            <a:pPr indent="0" marL="0">
              <a:buNone/>
            </a:pPr>
            <a:r>
              <a:rPr lang="en-US" sz="1150" dirty="0">
                <a:solidFill>
                  <a:srgbClr val="E2E8F0"/>
                </a:solidFill>
                <a:latin typeface="Consolas" pitchFamily="34" charset="0"/>
                <a:ea typeface="Consolas" pitchFamily="34" charset="-122"/>
                <a:cs typeface="Consolas" pitchFamily="34" charset="-120"/>
              </a:rPr>
              <a:t> </a:t>
            </a:r>
            <a:endParaRPr lang="en-US" sz="1150" dirty="0"/>
          </a:p>
        </p:txBody>
      </p:sp>
      <p:sp>
        <p:nvSpPr>
          <p:cNvPr id="9" name="Text 7"/>
          <p:cNvSpPr/>
          <p:nvPr/>
        </p:nvSpPr>
        <p:spPr>
          <a:xfrm>
            <a:off x="749808" y="3050667"/>
            <a:ext cx="10058400" cy="236601"/>
          </a:xfrm>
          <a:prstGeom prst="rect">
            <a:avLst/>
          </a:prstGeom>
          <a:noFill/>
          <a:ln/>
        </p:spPr>
        <p:txBody>
          <a:bodyPr wrap="square" lIns="0" tIns="0" rIns="0" bIns="0" rtlCol="0" anchor="ctr"/>
          <a:lstStyle/>
          <a:p>
            <a:pPr indent="0" marL="0">
              <a:buNone/>
            </a:pPr>
            <a:r>
              <a:rPr lang="en-US" sz="1150" dirty="0">
                <a:solidFill>
                  <a:srgbClr val="E2E8F0"/>
                </a:solidFill>
                <a:latin typeface="Consolas" pitchFamily="34" charset="0"/>
                <a:ea typeface="Consolas" pitchFamily="34" charset="-122"/>
                <a:cs typeface="Consolas" pitchFamily="34" charset="-120"/>
              </a:rPr>
              <a:t>aws opensearchserverless create-access-policy --name shared-data --type data \</a:t>
            </a:r>
            <a:endParaRPr lang="en-US" sz="1150" dirty="0"/>
          </a:p>
        </p:txBody>
      </p:sp>
      <p:sp>
        <p:nvSpPr>
          <p:cNvPr id="10" name="Text 8"/>
          <p:cNvSpPr/>
          <p:nvPr/>
        </p:nvSpPr>
        <p:spPr>
          <a:xfrm>
            <a:off x="749808" y="3287268"/>
            <a:ext cx="10058400" cy="236601"/>
          </a:xfrm>
          <a:prstGeom prst="rect">
            <a:avLst/>
          </a:prstGeom>
          <a:noFill/>
          <a:ln/>
        </p:spPr>
        <p:txBody>
          <a:bodyPr wrap="square" lIns="0" tIns="0" rIns="0" bIns="0" rtlCol="0" anchor="ctr"/>
          <a:lstStyle/>
          <a:p>
            <a:pPr indent="0" marL="0">
              <a:buNone/>
            </a:pPr>
            <a:r>
              <a:rPr lang="en-US" sz="1150" dirty="0">
                <a:solidFill>
                  <a:srgbClr val="E2E8F0"/>
                </a:solidFill>
                <a:latin typeface="Consolas" pitchFamily="34" charset="0"/>
                <a:ea typeface="Consolas" pitchFamily="34" charset="-122"/>
                <a:cs typeface="Consolas" pitchFamily="34" charset="-120"/>
              </a:rPr>
              <a:t>  --policy "[{ \"Rules\":[{ \"ResourceType\":\"index\",</a:t>
            </a:r>
            <a:endParaRPr lang="en-US" sz="1150" dirty="0"/>
          </a:p>
        </p:txBody>
      </p:sp>
      <p:sp>
        <p:nvSpPr>
          <p:cNvPr id="11" name="Text 9"/>
          <p:cNvSpPr/>
          <p:nvPr/>
        </p:nvSpPr>
        <p:spPr>
          <a:xfrm>
            <a:off x="749808" y="3523869"/>
            <a:ext cx="10058400" cy="236601"/>
          </a:xfrm>
          <a:prstGeom prst="rect">
            <a:avLst/>
          </a:prstGeom>
          <a:noFill/>
          <a:ln/>
        </p:spPr>
        <p:txBody>
          <a:bodyPr wrap="square" lIns="0" tIns="0" rIns="0" bIns="0" rtlCol="0" anchor="ctr"/>
          <a:lstStyle/>
          <a:p>
            <a:pPr indent="0" marL="0">
              <a:buNone/>
            </a:pPr>
            <a:r>
              <a:rPr lang="en-US" sz="1150" dirty="0">
                <a:solidFill>
                  <a:srgbClr val="E2E8F0"/>
                </a:solidFill>
                <a:latin typeface="Consolas" pitchFamily="34" charset="0"/>
                <a:ea typeface="Consolas" pitchFamily="34" charset="-122"/>
                <a:cs typeface="Consolas" pitchFamily="34" charset="-120"/>
              </a:rPr>
              <a:t>     \"Resource\":[\"index/bedrock-lab-shared/*\"],</a:t>
            </a:r>
            <a:endParaRPr lang="en-US" sz="1150" dirty="0"/>
          </a:p>
        </p:txBody>
      </p:sp>
      <p:sp>
        <p:nvSpPr>
          <p:cNvPr id="12" name="Text 10"/>
          <p:cNvSpPr/>
          <p:nvPr/>
        </p:nvSpPr>
        <p:spPr>
          <a:xfrm>
            <a:off x="749808" y="3760470"/>
            <a:ext cx="10058400" cy="236601"/>
          </a:xfrm>
          <a:prstGeom prst="rect">
            <a:avLst/>
          </a:prstGeom>
          <a:noFill/>
          <a:ln/>
        </p:spPr>
        <p:txBody>
          <a:bodyPr wrap="square" lIns="0" tIns="0" rIns="0" bIns="0" rtlCol="0" anchor="ctr"/>
          <a:lstStyle/>
          <a:p>
            <a:pPr indent="0" marL="0">
              <a:buNone/>
            </a:pPr>
            <a:r>
              <a:rPr lang="en-US" sz="1150" dirty="0">
                <a:solidFill>
                  <a:srgbClr val="E2E8F0"/>
                </a:solidFill>
                <a:latin typeface="Consolas" pitchFamily="34" charset="0"/>
                <a:ea typeface="Consolas" pitchFamily="34" charset="-122"/>
                <a:cs typeface="Consolas" pitchFamily="34" charset="-120"/>
              </a:rPr>
              <a:t>     \"Permission\":[\"aoss:CreateIndex\",\"aoss:WriteDocument\",</a:t>
            </a:r>
            <a:endParaRPr lang="en-US" sz="1150" dirty="0"/>
          </a:p>
        </p:txBody>
      </p:sp>
      <p:sp>
        <p:nvSpPr>
          <p:cNvPr id="13" name="Text 11"/>
          <p:cNvSpPr/>
          <p:nvPr/>
        </p:nvSpPr>
        <p:spPr>
          <a:xfrm>
            <a:off x="749808" y="3997071"/>
            <a:ext cx="10058400" cy="236601"/>
          </a:xfrm>
          <a:prstGeom prst="rect">
            <a:avLst/>
          </a:prstGeom>
          <a:noFill/>
          <a:ln/>
        </p:spPr>
        <p:txBody>
          <a:bodyPr wrap="square" lIns="0" tIns="0" rIns="0" bIns="0" rtlCol="0" anchor="ctr"/>
          <a:lstStyle/>
          <a:p>
            <a:pPr indent="0" marL="0">
              <a:buNone/>
            </a:pPr>
            <a:r>
              <a:rPr lang="en-US" sz="1150" dirty="0">
                <a:solidFill>
                  <a:srgbClr val="E2E8F0"/>
                </a:solidFill>
                <a:latin typeface="Consolas" pitchFamily="34" charset="0"/>
                <a:ea typeface="Consolas" pitchFamily="34" charset="-122"/>
                <a:cs typeface="Consolas" pitchFamily="34" charset="-120"/>
              </a:rPr>
              <a:t>                    \"aoss:ReadDocument\",\"aoss:DescribeIndex\"]}],</a:t>
            </a:r>
            <a:endParaRPr lang="en-US" sz="1150" dirty="0"/>
          </a:p>
        </p:txBody>
      </p:sp>
      <p:sp>
        <p:nvSpPr>
          <p:cNvPr id="14" name="Shape 12"/>
          <p:cNvSpPr/>
          <p:nvPr/>
        </p:nvSpPr>
        <p:spPr>
          <a:xfrm>
            <a:off x="612648" y="4233672"/>
            <a:ext cx="10332720" cy="236601"/>
          </a:xfrm>
          <a:prstGeom prst="rect">
            <a:avLst/>
          </a:prstGeom>
          <a:solidFill>
            <a:srgbClr val="1E293B"/>
          </a:solidFill>
          <a:ln/>
        </p:spPr>
      </p:sp>
      <p:sp>
        <p:nvSpPr>
          <p:cNvPr id="15" name="Text 13"/>
          <p:cNvSpPr/>
          <p:nvPr/>
        </p:nvSpPr>
        <p:spPr>
          <a:xfrm>
            <a:off x="749808" y="4233672"/>
            <a:ext cx="10058400" cy="236601"/>
          </a:xfrm>
          <a:prstGeom prst="rect">
            <a:avLst/>
          </a:prstGeom>
          <a:noFill/>
          <a:ln/>
        </p:spPr>
        <p:txBody>
          <a:bodyPr wrap="square" lIns="0" tIns="0" rIns="0" bIns="0" rtlCol="0" anchor="ctr"/>
          <a:lstStyle/>
          <a:p>
            <a:pPr indent="0" marL="0">
              <a:buNone/>
            </a:pPr>
            <a:r>
              <a:rPr lang="en-US" sz="1150" dirty="0">
                <a:solidFill>
                  <a:srgbClr val="FBBF24"/>
                </a:solidFill>
                <a:latin typeface="Consolas" pitchFamily="34" charset="0"/>
                <a:ea typeface="Consolas" pitchFamily="34" charset="-122"/>
                <a:cs typeface="Consolas" pitchFamily="34" charset="-120"/>
              </a:rPr>
              <a:t>     \"Principal\": $PRINCIPALS }]"</a:t>
            </a:r>
            <a:endParaRPr lang="en-US" sz="1150" dirty="0"/>
          </a:p>
        </p:txBody>
      </p:sp>
      <p:sp>
        <p:nvSpPr>
          <p:cNvPr id="16" name="Text 14"/>
          <p:cNvSpPr/>
          <p:nvPr/>
        </p:nvSpPr>
        <p:spPr>
          <a:xfrm>
            <a:off x="566928" y="5074920"/>
            <a:ext cx="11057839" cy="36576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This is Lock 2 for the students. When a new student joins the group, re-run this or they hit a Lock-2 403.</a:t>
            </a:r>
            <a:endParaRPr lang="en-US" sz="1350" dirty="0"/>
          </a:p>
        </p:txBody>
      </p:sp>
      <p:sp>
        <p:nvSpPr>
          <p:cNvPr id="17" name="Text 15"/>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18" name="Text 16"/>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20</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Admin setup 4 — IAM gateway (Lock 1)</a:t>
            </a:r>
            <a:endParaRPr lang="en-US" sz="2900" dirty="0"/>
          </a:p>
        </p:txBody>
      </p:sp>
      <p:sp>
        <p:nvSpPr>
          <p:cNvPr id="4" name="Text 2"/>
          <p:cNvSpPr/>
          <p:nvPr/>
        </p:nvSpPr>
        <p:spPr>
          <a:xfrm>
            <a:off x="566928" y="1627632"/>
            <a:ext cx="11057839" cy="365760"/>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Give students the gateway permission as a session policy. Attach for the session, detach after.</a:t>
            </a:r>
            <a:endParaRPr lang="en-US" sz="1450" dirty="0"/>
          </a:p>
        </p:txBody>
      </p:sp>
      <p:sp>
        <p:nvSpPr>
          <p:cNvPr id="5" name="Shape 3"/>
          <p:cNvSpPr/>
          <p:nvPr/>
        </p:nvSpPr>
        <p:spPr>
          <a:xfrm>
            <a:off x="566928" y="2194560"/>
            <a:ext cx="10424160" cy="2020824"/>
          </a:xfrm>
          <a:prstGeom prst="roundRect">
            <a:avLst>
              <a:gd name="adj" fmla="val 2715"/>
            </a:avLst>
          </a:prstGeom>
          <a:solidFill>
            <a:srgbClr val="0F172A"/>
          </a:solidFill>
          <a:ln/>
          <a:effectLst>
            <a:outerShdw sx="100000" sy="100000" kx="0" ky="0" algn="bl" rotWithShape="0" blurRad="88900" dist="38100" dir="8100000">
              <a:srgbClr val="0F172A">
                <a:alpha val="10000"/>
              </a:srgbClr>
            </a:outerShdw>
          </a:effectLst>
        </p:spPr>
      </p:sp>
      <p:sp>
        <p:nvSpPr>
          <p:cNvPr id="6" name="Text 4"/>
          <p:cNvSpPr/>
          <p:nvPr/>
        </p:nvSpPr>
        <p:spPr>
          <a:xfrm>
            <a:off x="749808" y="2340864"/>
            <a:ext cx="10058400" cy="246888"/>
          </a:xfrm>
          <a:prstGeom prst="rect">
            <a:avLst/>
          </a:prstGeom>
          <a:noFill/>
          <a:ln/>
        </p:spPr>
        <p:txBody>
          <a:bodyPr wrap="square" lIns="0" tIns="0" rIns="0" bIns="0" rtlCol="0" anchor="ctr"/>
          <a:lstStyle/>
          <a:p>
            <a:pPr indent="0" marL="0">
              <a:buNone/>
            </a:pPr>
            <a:r>
              <a:rPr lang="en-US" sz="1200" dirty="0">
                <a:solidFill>
                  <a:srgbClr val="94A3B8"/>
                </a:solidFill>
                <a:latin typeface="Consolas" pitchFamily="34" charset="0"/>
                <a:ea typeface="Consolas" pitchFamily="34" charset="-122"/>
                <a:cs typeface="Consolas" pitchFamily="34" charset="-120"/>
              </a:rPr>
              <a:t># BedrockLabOpenSearch</a:t>
            </a:r>
            <a:endParaRPr lang="en-US" sz="1200" dirty="0"/>
          </a:p>
        </p:txBody>
      </p:sp>
      <p:sp>
        <p:nvSpPr>
          <p:cNvPr id="7" name="Text 5"/>
          <p:cNvSpPr/>
          <p:nvPr/>
        </p:nvSpPr>
        <p:spPr>
          <a:xfrm>
            <a:off x="749808" y="2587752"/>
            <a:ext cx="10058400" cy="246888"/>
          </a:xfrm>
          <a:prstGeom prst="rect">
            <a:avLst/>
          </a:prstGeom>
          <a:noFill/>
          <a:ln/>
        </p:spPr>
        <p:txBody>
          <a:bodyPr wrap="square" lIns="0" tIns="0" rIns="0" bIns="0" rtlCol="0" anchor="ctr"/>
          <a:lstStyle/>
          <a:p>
            <a:pPr indent="0" marL="0">
              <a:buNone/>
            </a:pPr>
            <a:r>
              <a:rPr lang="en-US" sz="1200" dirty="0">
                <a:solidFill>
                  <a:srgbClr val="E2E8F0"/>
                </a:solidFill>
                <a:latin typeface="Consolas" pitchFamily="34" charset="0"/>
                <a:ea typeface="Consolas" pitchFamily="34" charset="-122"/>
                <a:cs typeface="Consolas" pitchFamily="34" charset="-120"/>
              </a:rPr>
              <a:t>{ "Effect":"Allow",</a:t>
            </a:r>
            <a:endParaRPr lang="en-US" sz="1200" dirty="0"/>
          </a:p>
        </p:txBody>
      </p:sp>
      <p:sp>
        <p:nvSpPr>
          <p:cNvPr id="8" name="Text 6"/>
          <p:cNvSpPr/>
          <p:nvPr/>
        </p:nvSpPr>
        <p:spPr>
          <a:xfrm>
            <a:off x="749808" y="2834640"/>
            <a:ext cx="10058400" cy="246888"/>
          </a:xfrm>
          <a:prstGeom prst="rect">
            <a:avLst/>
          </a:prstGeom>
          <a:noFill/>
          <a:ln/>
        </p:spPr>
        <p:txBody>
          <a:bodyPr wrap="square" lIns="0" tIns="0" rIns="0" bIns="0" rtlCol="0" anchor="ctr"/>
          <a:lstStyle/>
          <a:p>
            <a:pPr indent="0" marL="0">
              <a:buNone/>
            </a:pPr>
            <a:r>
              <a:rPr lang="en-US" sz="1200" dirty="0">
                <a:solidFill>
                  <a:srgbClr val="E2E8F0"/>
                </a:solidFill>
                <a:latin typeface="Consolas" pitchFamily="34" charset="0"/>
                <a:ea typeface="Consolas" pitchFamily="34" charset="-122"/>
                <a:cs typeface="Consolas" pitchFamily="34" charset="-120"/>
              </a:rPr>
              <a:t>  "Action":["aoss:APIAccessAll","aoss:DashboardsAccessAll"],</a:t>
            </a:r>
            <a:endParaRPr lang="en-US" sz="1200" dirty="0"/>
          </a:p>
        </p:txBody>
      </p:sp>
      <p:sp>
        <p:nvSpPr>
          <p:cNvPr id="9" name="Text 7"/>
          <p:cNvSpPr/>
          <p:nvPr/>
        </p:nvSpPr>
        <p:spPr>
          <a:xfrm>
            <a:off x="749808" y="3081528"/>
            <a:ext cx="10058400" cy="246888"/>
          </a:xfrm>
          <a:prstGeom prst="rect">
            <a:avLst/>
          </a:prstGeom>
          <a:noFill/>
          <a:ln/>
        </p:spPr>
        <p:txBody>
          <a:bodyPr wrap="square" lIns="0" tIns="0" rIns="0" bIns="0" rtlCol="0" anchor="ctr"/>
          <a:lstStyle/>
          <a:p>
            <a:pPr indent="0" marL="0">
              <a:buNone/>
            </a:pPr>
            <a:r>
              <a:rPr lang="en-US" sz="1200" dirty="0">
                <a:solidFill>
                  <a:srgbClr val="E2E8F0"/>
                </a:solidFill>
                <a:latin typeface="Consolas" pitchFamily="34" charset="0"/>
                <a:ea typeface="Consolas" pitchFamily="34" charset="-122"/>
                <a:cs typeface="Consolas" pitchFamily="34" charset="-120"/>
              </a:rPr>
              <a:t>  "Resource":"arn:aws:aoss:us-east-1:123456789012:collection/*" }</a:t>
            </a:r>
            <a:endParaRPr lang="en-US" sz="1200" dirty="0"/>
          </a:p>
        </p:txBody>
      </p:sp>
      <p:sp>
        <p:nvSpPr>
          <p:cNvPr id="10" name="Text 8"/>
          <p:cNvSpPr/>
          <p:nvPr/>
        </p:nvSpPr>
        <p:spPr>
          <a:xfrm>
            <a:off x="749808" y="3328416"/>
            <a:ext cx="10058400" cy="246888"/>
          </a:xfrm>
          <a:prstGeom prst="rect">
            <a:avLst/>
          </a:prstGeom>
          <a:noFill/>
          <a:ln/>
        </p:spPr>
        <p:txBody>
          <a:bodyPr wrap="square" lIns="0" tIns="0" rIns="0" bIns="0" rtlCol="0" anchor="ctr"/>
          <a:lstStyle/>
          <a:p>
            <a:pPr indent="0" marL="0">
              <a:buNone/>
            </a:pPr>
            <a:r>
              <a:rPr lang="en-US" sz="1200" dirty="0">
                <a:solidFill>
                  <a:srgbClr val="E2E8F0"/>
                </a:solidFill>
                <a:latin typeface="Consolas" pitchFamily="34" charset="0"/>
                <a:ea typeface="Consolas" pitchFamily="34" charset="-122"/>
                <a:cs typeface="Consolas" pitchFamily="34" charset="-120"/>
              </a:rPr>
              <a:t> </a:t>
            </a:r>
            <a:endParaRPr lang="en-US" sz="1200" dirty="0"/>
          </a:p>
        </p:txBody>
      </p:sp>
      <p:sp>
        <p:nvSpPr>
          <p:cNvPr id="11" name="Text 9"/>
          <p:cNvSpPr/>
          <p:nvPr/>
        </p:nvSpPr>
        <p:spPr>
          <a:xfrm>
            <a:off x="749808" y="3575304"/>
            <a:ext cx="10058400" cy="246888"/>
          </a:xfrm>
          <a:prstGeom prst="rect">
            <a:avLst/>
          </a:prstGeom>
          <a:noFill/>
          <a:ln/>
        </p:spPr>
        <p:txBody>
          <a:bodyPr wrap="square" lIns="0" tIns="0" rIns="0" bIns="0" rtlCol="0" anchor="ctr"/>
          <a:lstStyle/>
          <a:p>
            <a:pPr indent="0" marL="0">
              <a:buNone/>
            </a:pPr>
            <a:r>
              <a:rPr lang="en-US" sz="1200" dirty="0">
                <a:solidFill>
                  <a:srgbClr val="E2E8F0"/>
                </a:solidFill>
                <a:latin typeface="Consolas" pitchFamily="34" charset="0"/>
                <a:ea typeface="Consolas" pitchFamily="34" charset="-122"/>
                <a:cs typeface="Consolas" pitchFamily="34" charset="-120"/>
              </a:rPr>
              <a:t>aws iam attach-group-policy --group-name bedrock-lab \</a:t>
            </a:r>
            <a:endParaRPr lang="en-US" sz="1200" dirty="0"/>
          </a:p>
        </p:txBody>
      </p:sp>
      <p:sp>
        <p:nvSpPr>
          <p:cNvPr id="12" name="Shape 10"/>
          <p:cNvSpPr/>
          <p:nvPr/>
        </p:nvSpPr>
        <p:spPr>
          <a:xfrm>
            <a:off x="612648" y="3822192"/>
            <a:ext cx="10332720" cy="246888"/>
          </a:xfrm>
          <a:prstGeom prst="rect">
            <a:avLst/>
          </a:prstGeom>
          <a:solidFill>
            <a:srgbClr val="1E293B"/>
          </a:solidFill>
          <a:ln/>
        </p:spPr>
      </p:sp>
      <p:sp>
        <p:nvSpPr>
          <p:cNvPr id="13" name="Text 11"/>
          <p:cNvSpPr/>
          <p:nvPr/>
        </p:nvSpPr>
        <p:spPr>
          <a:xfrm>
            <a:off x="749808" y="3822192"/>
            <a:ext cx="10058400" cy="246888"/>
          </a:xfrm>
          <a:prstGeom prst="rect">
            <a:avLst/>
          </a:prstGeom>
          <a:noFill/>
          <a:ln/>
        </p:spPr>
        <p:txBody>
          <a:bodyPr wrap="square" lIns="0" tIns="0" rIns="0" bIns="0" rtlCol="0" anchor="ctr"/>
          <a:lstStyle/>
          <a:p>
            <a:pPr indent="0" marL="0">
              <a:buNone/>
            </a:pPr>
            <a:r>
              <a:rPr lang="en-US" sz="1200" dirty="0">
                <a:solidFill>
                  <a:srgbClr val="FBBF24"/>
                </a:solidFill>
                <a:latin typeface="Consolas" pitchFamily="34" charset="0"/>
                <a:ea typeface="Consolas" pitchFamily="34" charset="-122"/>
                <a:cs typeface="Consolas" pitchFamily="34" charset="-120"/>
              </a:rPr>
              <a:t>  --policy-arn arn:aws:iam::123456789012:policy/BedrockLabOpenSearch</a:t>
            </a:r>
            <a:endParaRPr lang="en-US" sz="1200" dirty="0"/>
          </a:p>
        </p:txBody>
      </p:sp>
      <p:sp>
        <p:nvSpPr>
          <p:cNvPr id="14" name="Text 12"/>
          <p:cNvSpPr/>
          <p:nvPr/>
        </p:nvSpPr>
        <p:spPr>
          <a:xfrm>
            <a:off x="566928" y="4754880"/>
            <a:ext cx="11057839" cy="45720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collection/* is safe because CreateCollection is denied — the shared one is the only collection that exists. Lock 1 + Lock 2 now both open.</a:t>
            </a:r>
            <a:endParaRPr lang="en-US" sz="1350" dirty="0"/>
          </a:p>
        </p:txBody>
      </p:sp>
      <p:sp>
        <p:nvSpPr>
          <p:cNvPr id="15" name="Text 13"/>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16" name="Text 14"/>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21</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Student workflow — the by-hand lab</a:t>
            </a:r>
            <a:endParaRPr lang="en-US" sz="2900" dirty="0"/>
          </a:p>
        </p:txBody>
      </p:sp>
      <p:sp>
        <p:nvSpPr>
          <p:cNvPr id="4" name="Shape 2"/>
          <p:cNvSpPr/>
          <p:nvPr/>
        </p:nvSpPr>
        <p:spPr>
          <a:xfrm>
            <a:off x="566928" y="2286000"/>
            <a:ext cx="3520440" cy="1737360"/>
          </a:xfrm>
          <a:prstGeom prst="roundRect">
            <a:avLst>
              <a:gd name="adj" fmla="val 3684"/>
            </a:avLst>
          </a:prstGeom>
          <a:solidFill>
            <a:srgbClr val="FFFFFF"/>
          </a:solidFill>
          <a:ln w="19050">
            <a:solidFill>
              <a:srgbClr val="4338CA"/>
            </a:solidFill>
            <a:prstDash val="solid"/>
          </a:ln>
          <a:effectLst>
            <a:outerShdw sx="100000" sy="100000" kx="0" ky="0" algn="bl" rotWithShape="0" blurRad="88900" dist="38100" dir="8100000">
              <a:srgbClr val="0F172A">
                <a:alpha val="10000"/>
              </a:srgbClr>
            </a:outerShdw>
          </a:effectLst>
        </p:spPr>
      </p:sp>
      <p:sp>
        <p:nvSpPr>
          <p:cNvPr id="5" name="Shape 3"/>
          <p:cNvSpPr/>
          <p:nvPr/>
        </p:nvSpPr>
        <p:spPr>
          <a:xfrm>
            <a:off x="795528" y="2514600"/>
            <a:ext cx="502920" cy="502920"/>
          </a:xfrm>
          <a:prstGeom prst="oval">
            <a:avLst/>
          </a:prstGeom>
          <a:solidFill>
            <a:srgbClr val="4338CA"/>
          </a:solidFill>
          <a:ln/>
        </p:spPr>
      </p:sp>
      <p:sp>
        <p:nvSpPr>
          <p:cNvPr id="6" name="Text 4"/>
          <p:cNvSpPr/>
          <p:nvPr/>
        </p:nvSpPr>
        <p:spPr>
          <a:xfrm>
            <a:off x="795528" y="25146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7" name="Text 5"/>
          <p:cNvSpPr/>
          <p:nvPr/>
        </p:nvSpPr>
        <p:spPr>
          <a:xfrm>
            <a:off x="795528" y="3154680"/>
            <a:ext cx="3063240" cy="777240"/>
          </a:xfrm>
          <a:prstGeom prst="rect">
            <a:avLst/>
          </a:prstGeom>
          <a:noFill/>
          <a:ln/>
        </p:spPr>
        <p:txBody>
          <a:bodyPr wrap="square" lIns="0" tIns="0" rIns="0" bIns="0" rtlCol="0" anchor="t"/>
          <a:lstStyle/>
          <a:p>
            <a:pPr indent="0" marL="0">
              <a:spcAft>
                <a:spcPts val="500"/>
              </a:spcAft>
              <a:buNone/>
            </a:pPr>
            <a:r>
              <a:rPr lang="en-US" sz="1600" b="1" dirty="0">
                <a:solidFill>
                  <a:srgbClr val="0F172A"/>
                </a:solidFill>
                <a:latin typeface="Georgia" pitchFamily="34" charset="0"/>
                <a:ea typeface="Georgia" pitchFamily="34" charset="-122"/>
                <a:cs typeface="Georgia" pitchFamily="34" charset="-120"/>
              </a:rPr>
              <a:t>Create your index</a:t>
            </a:r>
            <a:endParaRPr lang="en-US" sz="1600" dirty="0"/>
          </a:p>
          <a:p>
            <a:pPr indent="0" marL="0">
              <a:buNone/>
            </a:pPr>
            <a:r>
              <a:rPr lang="en-US" sz="1250" dirty="0">
                <a:solidFill>
                  <a:srgbClr val="1E293B"/>
                </a:solidFill>
                <a:latin typeface="Calibri" pitchFamily="34" charset="0"/>
                <a:ea typeface="Calibri" pitchFamily="34" charset="-122"/>
                <a:cs typeface="Calibri" pitchFamily="34" charset="-120"/>
              </a:rPr>
              <a:t>travelmind-&lt;name&gt; with the knn_vector mapping</a:t>
            </a:r>
            <a:endParaRPr lang="en-US" sz="1600" dirty="0"/>
          </a:p>
        </p:txBody>
      </p:sp>
      <p:sp>
        <p:nvSpPr>
          <p:cNvPr id="8" name="Shape 6"/>
          <p:cNvSpPr/>
          <p:nvPr/>
        </p:nvSpPr>
        <p:spPr>
          <a:xfrm>
            <a:off x="4105656" y="3154680"/>
            <a:ext cx="146304" cy="0"/>
          </a:xfrm>
          <a:prstGeom prst="line">
            <a:avLst/>
          </a:prstGeom>
          <a:noFill/>
          <a:ln w="19050">
            <a:solidFill>
              <a:srgbClr val="64748B"/>
            </a:solidFill>
            <a:prstDash val="solid"/>
            <a:headEnd type="none"/>
            <a:tailEnd type="triangle"/>
          </a:ln>
        </p:spPr>
      </p:sp>
      <p:sp>
        <p:nvSpPr>
          <p:cNvPr id="9" name="Shape 7"/>
          <p:cNvSpPr/>
          <p:nvPr/>
        </p:nvSpPr>
        <p:spPr>
          <a:xfrm>
            <a:off x="4270248" y="2286000"/>
            <a:ext cx="3520440" cy="1737360"/>
          </a:xfrm>
          <a:prstGeom prst="roundRect">
            <a:avLst>
              <a:gd name="adj" fmla="val 3684"/>
            </a:avLst>
          </a:prstGeom>
          <a:solidFill>
            <a:srgbClr val="FFFFFF"/>
          </a:solidFill>
          <a:ln w="19050">
            <a:solidFill>
              <a:srgbClr val="B45309"/>
            </a:solidFill>
            <a:prstDash val="solid"/>
          </a:ln>
          <a:effectLst>
            <a:outerShdw sx="100000" sy="100000" kx="0" ky="0" algn="bl" rotWithShape="0" blurRad="88900" dist="38100" dir="8100000">
              <a:srgbClr val="0F172A">
                <a:alpha val="10000"/>
              </a:srgbClr>
            </a:outerShdw>
          </a:effectLst>
        </p:spPr>
      </p:sp>
      <p:sp>
        <p:nvSpPr>
          <p:cNvPr id="10" name="Shape 8"/>
          <p:cNvSpPr/>
          <p:nvPr/>
        </p:nvSpPr>
        <p:spPr>
          <a:xfrm>
            <a:off x="4498848" y="2514600"/>
            <a:ext cx="502920" cy="502920"/>
          </a:xfrm>
          <a:prstGeom prst="oval">
            <a:avLst/>
          </a:prstGeom>
          <a:solidFill>
            <a:srgbClr val="B45309"/>
          </a:solidFill>
          <a:ln/>
        </p:spPr>
      </p:sp>
      <p:sp>
        <p:nvSpPr>
          <p:cNvPr id="11" name="Text 9"/>
          <p:cNvSpPr/>
          <p:nvPr/>
        </p:nvSpPr>
        <p:spPr>
          <a:xfrm>
            <a:off x="4498848" y="25146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2" name="Text 10"/>
          <p:cNvSpPr/>
          <p:nvPr/>
        </p:nvSpPr>
        <p:spPr>
          <a:xfrm>
            <a:off x="4498848" y="3154680"/>
            <a:ext cx="3063240" cy="777240"/>
          </a:xfrm>
          <a:prstGeom prst="rect">
            <a:avLst/>
          </a:prstGeom>
          <a:noFill/>
          <a:ln/>
        </p:spPr>
        <p:txBody>
          <a:bodyPr wrap="square" lIns="0" tIns="0" rIns="0" bIns="0" rtlCol="0" anchor="t"/>
          <a:lstStyle/>
          <a:p>
            <a:pPr indent="0" marL="0">
              <a:spcAft>
                <a:spcPts val="500"/>
              </a:spcAft>
              <a:buNone/>
            </a:pPr>
            <a:r>
              <a:rPr lang="en-US" sz="1600" b="1" dirty="0">
                <a:solidFill>
                  <a:srgbClr val="0F172A"/>
                </a:solidFill>
                <a:latin typeface="Georgia" pitchFamily="34" charset="0"/>
                <a:ea typeface="Georgia" pitchFamily="34" charset="-122"/>
                <a:cs typeface="Georgia" pitchFamily="34" charset="-120"/>
              </a:rPr>
              <a:t>Embed + ingest</a:t>
            </a:r>
            <a:endParaRPr lang="en-US" sz="1600" dirty="0"/>
          </a:p>
          <a:p>
            <a:pPr indent="0" marL="0">
              <a:buNone/>
            </a:pPr>
            <a:r>
              <a:rPr lang="en-US" sz="1250" dirty="0">
                <a:solidFill>
                  <a:srgbClr val="1E293B"/>
                </a:solidFill>
                <a:latin typeface="Calibri" pitchFamily="34" charset="0"/>
                <a:ea typeface="Calibri" pitchFamily="34" charset="-122"/>
                <a:cs typeface="Calibri" pitchFamily="34" charset="-120"/>
              </a:rPr>
              <a:t>five TravelMind snippets via Titan</a:t>
            </a:r>
            <a:endParaRPr lang="en-US" sz="1600" dirty="0"/>
          </a:p>
        </p:txBody>
      </p:sp>
      <p:sp>
        <p:nvSpPr>
          <p:cNvPr id="13" name="Shape 11"/>
          <p:cNvSpPr/>
          <p:nvPr/>
        </p:nvSpPr>
        <p:spPr>
          <a:xfrm>
            <a:off x="7808976" y="3154680"/>
            <a:ext cx="146304" cy="0"/>
          </a:xfrm>
          <a:prstGeom prst="line">
            <a:avLst/>
          </a:prstGeom>
          <a:noFill/>
          <a:ln w="19050">
            <a:solidFill>
              <a:srgbClr val="64748B"/>
            </a:solidFill>
            <a:prstDash val="solid"/>
            <a:headEnd type="none"/>
            <a:tailEnd type="triangle"/>
          </a:ln>
        </p:spPr>
      </p:sp>
      <p:sp>
        <p:nvSpPr>
          <p:cNvPr id="14" name="Shape 12"/>
          <p:cNvSpPr/>
          <p:nvPr/>
        </p:nvSpPr>
        <p:spPr>
          <a:xfrm>
            <a:off x="7973568" y="2286000"/>
            <a:ext cx="3520440" cy="1737360"/>
          </a:xfrm>
          <a:prstGeom prst="roundRect">
            <a:avLst>
              <a:gd name="adj" fmla="val 3684"/>
            </a:avLst>
          </a:prstGeom>
          <a:solidFill>
            <a:srgbClr val="FFFFFF"/>
          </a:solidFill>
          <a:ln w="19050">
            <a:solidFill>
              <a:srgbClr val="0F766E"/>
            </a:solidFill>
            <a:prstDash val="solid"/>
          </a:ln>
          <a:effectLst>
            <a:outerShdw sx="100000" sy="100000" kx="0" ky="0" algn="bl" rotWithShape="0" blurRad="88900" dist="38100" dir="8100000">
              <a:srgbClr val="0F172A">
                <a:alpha val="10000"/>
              </a:srgbClr>
            </a:outerShdw>
          </a:effectLst>
        </p:spPr>
      </p:sp>
      <p:sp>
        <p:nvSpPr>
          <p:cNvPr id="15" name="Shape 13"/>
          <p:cNvSpPr/>
          <p:nvPr/>
        </p:nvSpPr>
        <p:spPr>
          <a:xfrm>
            <a:off x="8202168" y="2514600"/>
            <a:ext cx="502920" cy="502920"/>
          </a:xfrm>
          <a:prstGeom prst="oval">
            <a:avLst/>
          </a:prstGeom>
          <a:solidFill>
            <a:srgbClr val="0F766E"/>
          </a:solidFill>
          <a:ln/>
        </p:spPr>
      </p:sp>
      <p:sp>
        <p:nvSpPr>
          <p:cNvPr id="16" name="Text 14"/>
          <p:cNvSpPr/>
          <p:nvPr/>
        </p:nvSpPr>
        <p:spPr>
          <a:xfrm>
            <a:off x="8202168" y="25146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7" name="Text 15"/>
          <p:cNvSpPr/>
          <p:nvPr/>
        </p:nvSpPr>
        <p:spPr>
          <a:xfrm>
            <a:off x="8202168" y="3154680"/>
            <a:ext cx="3063240" cy="777240"/>
          </a:xfrm>
          <a:prstGeom prst="rect">
            <a:avLst/>
          </a:prstGeom>
          <a:noFill/>
          <a:ln/>
        </p:spPr>
        <p:txBody>
          <a:bodyPr wrap="square" lIns="0" tIns="0" rIns="0" bIns="0" rtlCol="0" anchor="t"/>
          <a:lstStyle/>
          <a:p>
            <a:pPr indent="0" marL="0">
              <a:spcAft>
                <a:spcPts val="500"/>
              </a:spcAft>
              <a:buNone/>
            </a:pPr>
            <a:r>
              <a:rPr lang="en-US" sz="1600" b="1" dirty="0">
                <a:solidFill>
                  <a:srgbClr val="0F172A"/>
                </a:solidFill>
                <a:latin typeface="Georgia" pitchFamily="34" charset="0"/>
                <a:ea typeface="Georgia" pitchFamily="34" charset="-122"/>
                <a:cs typeface="Georgia" pitchFamily="34" charset="-120"/>
              </a:rPr>
              <a:t>kNN query</a:t>
            </a:r>
            <a:endParaRPr lang="en-US" sz="1600" dirty="0"/>
          </a:p>
          <a:p>
            <a:pPr indent="0" marL="0">
              <a:buNone/>
            </a:pPr>
            <a:r>
              <a:rPr lang="en-US" sz="1250" dirty="0">
                <a:solidFill>
                  <a:srgbClr val="1E293B"/>
                </a:solidFill>
                <a:latin typeface="Calibri" pitchFamily="34" charset="0"/>
                <a:ea typeface="Calibri" pitchFamily="34" charset="-122"/>
                <a:cs typeface="Calibri" pitchFamily="34" charset="-120"/>
              </a:rPr>
              <a:t>read the ranked hits</a:t>
            </a:r>
            <a:endParaRPr lang="en-US" sz="1600" dirty="0"/>
          </a:p>
        </p:txBody>
      </p:sp>
      <p:sp>
        <p:nvSpPr>
          <p:cNvPr id="18" name="Text 16"/>
          <p:cNvSpPr/>
          <p:nvPr/>
        </p:nvSpPr>
        <p:spPr>
          <a:xfrm>
            <a:off x="566928" y="4526280"/>
            <a:ext cx="11057839"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Doing it by hand once is why the managed Knowledge Base later stops feeling like magic.</a:t>
            </a:r>
            <a:endParaRPr lang="en-US" sz="1400" dirty="0"/>
          </a:p>
        </p:txBody>
      </p:sp>
      <p:sp>
        <p:nvSpPr>
          <p:cNvPr id="19" name="Text 17"/>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20" name="Text 18"/>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indent="0" marL="0">
              <a:buNone/>
            </a:pPr>
            <a:r>
              <a:rPr lang="en-US" sz="1050" b="1" spc="200" kern="0" dirty="0">
                <a:solidFill>
                  <a:srgbClr val="B45309"/>
                </a:solidFill>
                <a:latin typeface="Consolas" pitchFamily="34" charset="0"/>
                <a:ea typeface="Consolas" pitchFamily="34" charset="-122"/>
                <a:cs typeface="Consolas" pitchFamily="34" charset="-120"/>
              </a:rPr>
              <a:t>PART 1 · 22</a:t>
            </a:r>
            <a:endParaRPr lang="en-US" sz="1050" dirty="0"/>
          </a:p>
        </p:txBody>
      </p:sp>
      <p:sp>
        <p:nvSpPr>
          <p:cNvPr id="3" name="Text 1"/>
          <p:cNvSpPr/>
          <p:nvPr/>
        </p:nvSpPr>
        <p:spPr>
          <a:xfrm>
            <a:off x="566928" y="658368"/>
            <a:ext cx="11057839" cy="777240"/>
          </a:xfrm>
          <a:prstGeom prst="rect">
            <a:avLst/>
          </a:prstGeom>
          <a:noFill/>
          <a:ln/>
        </p:spPr>
        <p:txBody>
          <a:bodyPr wrap="square" lIns="0" tIns="0" rIns="0" bIns="0" rtlCol="0" anchor="t"/>
          <a:lstStyle/>
          <a:p>
            <a:pPr indent="0" marL="0">
              <a:buNone/>
            </a:pPr>
            <a:r>
              <a:rPr lang="en-US" sz="2900" b="1" dirty="0">
                <a:solidFill>
                  <a:srgbClr val="0F172A"/>
                </a:solidFill>
                <a:latin typeface="Georgia" pitchFamily="34" charset="0"/>
                <a:ea typeface="Georgia" pitchFamily="34" charset="-122"/>
                <a:cs typeface="Georgia" pitchFamily="34" charset="-120"/>
              </a:rPr>
              <a:t>Off-switch + recap</a:t>
            </a:r>
            <a:endParaRPr lang="en-US" sz="2900" dirty="0"/>
          </a:p>
        </p:txBody>
      </p:sp>
      <p:sp>
        <p:nvSpPr>
          <p:cNvPr id="4" name="Shape 2"/>
          <p:cNvSpPr/>
          <p:nvPr/>
        </p:nvSpPr>
        <p:spPr>
          <a:xfrm>
            <a:off x="566928" y="1783080"/>
            <a:ext cx="10058400" cy="1094994"/>
          </a:xfrm>
          <a:prstGeom prst="roundRect">
            <a:avLst>
              <a:gd name="adj" fmla="val 5010"/>
            </a:avLst>
          </a:prstGeom>
          <a:solidFill>
            <a:srgbClr val="0F172A"/>
          </a:solidFill>
          <a:ln/>
          <a:effectLst>
            <a:outerShdw sx="100000" sy="100000" kx="0" ky="0" algn="bl" rotWithShape="0" blurRad="88900" dist="38100" dir="8100000">
              <a:srgbClr val="0F172A">
                <a:alpha val="10000"/>
              </a:srgbClr>
            </a:outerShdw>
          </a:effectLst>
        </p:spPr>
      </p:sp>
      <p:sp>
        <p:nvSpPr>
          <p:cNvPr id="5" name="Text 3"/>
          <p:cNvSpPr/>
          <p:nvPr/>
        </p:nvSpPr>
        <p:spPr>
          <a:xfrm>
            <a:off x="749808" y="1929384"/>
            <a:ext cx="9692640" cy="267462"/>
          </a:xfrm>
          <a:prstGeom prst="rect">
            <a:avLst/>
          </a:prstGeom>
          <a:noFill/>
          <a:ln/>
        </p:spPr>
        <p:txBody>
          <a:bodyPr wrap="square" lIns="0" tIns="0" rIns="0" bIns="0" rtlCol="0" anchor="ctr"/>
          <a:lstStyle/>
          <a:p>
            <a:pPr indent="0" marL="0">
              <a:buNone/>
            </a:pPr>
            <a:r>
              <a:rPr lang="en-US" sz="1300" dirty="0">
                <a:solidFill>
                  <a:srgbClr val="E2E8F0"/>
                </a:solidFill>
                <a:latin typeface="Consolas" pitchFamily="34" charset="0"/>
                <a:ea typeface="Consolas" pitchFamily="34" charset="-122"/>
                <a:cs typeface="Consolas" pitchFamily="34" charset="-120"/>
              </a:rPr>
              <a:t>aws iam detach-group-policy --group-name bedrock-lab \</a:t>
            </a:r>
            <a:endParaRPr lang="en-US" sz="1300" dirty="0"/>
          </a:p>
        </p:txBody>
      </p:sp>
      <p:sp>
        <p:nvSpPr>
          <p:cNvPr id="6" name="Text 4"/>
          <p:cNvSpPr/>
          <p:nvPr/>
        </p:nvSpPr>
        <p:spPr>
          <a:xfrm>
            <a:off x="749808" y="2196846"/>
            <a:ext cx="9692640" cy="267462"/>
          </a:xfrm>
          <a:prstGeom prst="rect">
            <a:avLst/>
          </a:prstGeom>
          <a:noFill/>
          <a:ln/>
        </p:spPr>
        <p:txBody>
          <a:bodyPr wrap="square" lIns="0" tIns="0" rIns="0" bIns="0" rtlCol="0" anchor="ctr"/>
          <a:lstStyle/>
          <a:p>
            <a:pPr indent="0" marL="0">
              <a:buNone/>
            </a:pPr>
            <a:r>
              <a:rPr lang="en-US" sz="1300" dirty="0">
                <a:solidFill>
                  <a:srgbClr val="E2E8F0"/>
                </a:solidFill>
                <a:latin typeface="Consolas" pitchFamily="34" charset="0"/>
                <a:ea typeface="Consolas" pitchFamily="34" charset="-122"/>
                <a:cs typeface="Consolas" pitchFamily="34" charset="-120"/>
              </a:rPr>
              <a:t>  --policy-arn .../BedrockLabOpenSearch</a:t>
            </a:r>
            <a:endParaRPr lang="en-US" sz="1300" dirty="0"/>
          </a:p>
        </p:txBody>
      </p:sp>
      <p:sp>
        <p:nvSpPr>
          <p:cNvPr id="7" name="Shape 5"/>
          <p:cNvSpPr/>
          <p:nvPr/>
        </p:nvSpPr>
        <p:spPr>
          <a:xfrm>
            <a:off x="612648" y="2464308"/>
            <a:ext cx="9966960" cy="267462"/>
          </a:xfrm>
          <a:prstGeom prst="rect">
            <a:avLst/>
          </a:prstGeom>
          <a:solidFill>
            <a:srgbClr val="1E293B"/>
          </a:solidFill>
          <a:ln/>
        </p:spPr>
      </p:sp>
      <p:sp>
        <p:nvSpPr>
          <p:cNvPr id="8" name="Text 6"/>
          <p:cNvSpPr/>
          <p:nvPr/>
        </p:nvSpPr>
        <p:spPr>
          <a:xfrm>
            <a:off x="749808" y="2464308"/>
            <a:ext cx="9692640" cy="267462"/>
          </a:xfrm>
          <a:prstGeom prst="rect">
            <a:avLst/>
          </a:prstGeom>
          <a:noFill/>
          <a:ln/>
        </p:spPr>
        <p:txBody>
          <a:bodyPr wrap="square" lIns="0" tIns="0" rIns="0" bIns="0" rtlCol="0" anchor="ctr"/>
          <a:lstStyle/>
          <a:p>
            <a:pPr indent="0" marL="0">
              <a:buNone/>
            </a:pPr>
            <a:r>
              <a:rPr lang="en-US" sz="1300" dirty="0">
                <a:solidFill>
                  <a:srgbClr val="FBBF24"/>
                </a:solidFill>
                <a:latin typeface="Consolas" pitchFamily="34" charset="0"/>
                <a:ea typeface="Consolas" pitchFamily="34" charset="-122"/>
                <a:cs typeface="Consolas" pitchFamily="34" charset="-120"/>
              </a:rPr>
              <a:t>aws opensearchserverless delete-collection --id &lt;shared-collection-id&gt;</a:t>
            </a:r>
            <a:endParaRPr lang="en-US" sz="1300" dirty="0"/>
          </a:p>
        </p:txBody>
      </p:sp>
      <p:sp>
        <p:nvSpPr>
          <p:cNvPr id="9" name="Text 7"/>
          <p:cNvSpPr/>
          <p:nvPr/>
        </p:nvSpPr>
        <p:spPr>
          <a:xfrm>
            <a:off x="566928" y="2971800"/>
            <a:ext cx="11057839" cy="32004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Deleting the collection is what stops the meter.</a:t>
            </a:r>
            <a:endParaRPr lang="en-US" sz="1350" dirty="0"/>
          </a:p>
        </p:txBody>
      </p:sp>
      <p:sp>
        <p:nvSpPr>
          <p:cNvPr id="10" name="Text 8"/>
          <p:cNvSpPr/>
          <p:nvPr/>
        </p:nvSpPr>
        <p:spPr>
          <a:xfrm>
            <a:off x="566928" y="3520440"/>
            <a:ext cx="11057839" cy="36576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Recap</a:t>
            </a:r>
            <a:endParaRPr lang="en-US" sz="1800" dirty="0"/>
          </a:p>
        </p:txBody>
      </p:sp>
      <p:sp>
        <p:nvSpPr>
          <p:cNvPr id="11" name="Text 9"/>
          <p:cNvSpPr/>
          <p:nvPr/>
        </p:nvSpPr>
        <p:spPr>
          <a:xfrm>
            <a:off x="566928" y="3931920"/>
            <a:ext cx="11057839"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collection ⊃ index ⊃ document.</a:t>
            </a:r>
            <a:endParaRPr lang="en-US" sz="1400" dirty="0"/>
          </a:p>
          <a:p>
            <a:pPr marL="177800" indent="-1778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Two locks: IAM gateway + data access policy. Either missing = 403.</a:t>
            </a:r>
            <a:endParaRPr lang="en-US" sz="1400" dirty="0"/>
          </a:p>
          <a:p>
            <a:pPr marL="177800" indent="-1778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OCU floor never hits zero. Use S3 Vectors for KBs.</a:t>
            </a:r>
            <a:endParaRPr lang="en-US" sz="1400" dirty="0"/>
          </a:p>
          <a:p>
            <a:pPr marL="177800" indent="-1778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One shared collection for the class, capped and cleaned up.</a:t>
            </a:r>
            <a:endParaRPr lang="en-US" sz="1400" dirty="0"/>
          </a:p>
        </p:txBody>
      </p:sp>
      <p:sp>
        <p:nvSpPr>
          <p:cNvPr id="12" name="Text 10"/>
          <p:cNvSpPr/>
          <p:nvPr/>
        </p:nvSpPr>
        <p:spPr>
          <a:xfrm>
            <a:off x="566928" y="5806440"/>
            <a:ext cx="11057839" cy="36576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Next — Part 2: how this vector store plugs into a real agent, four ways.</a:t>
            </a:r>
            <a:endParaRPr lang="en-US" sz="1400" dirty="0"/>
          </a:p>
        </p:txBody>
      </p:sp>
      <p:sp>
        <p:nvSpPr>
          <p:cNvPr id="13" name="Text 11"/>
          <p:cNvSpPr/>
          <p:nvPr/>
        </p:nvSpPr>
        <p:spPr>
          <a:xfrm>
            <a:off x="566928" y="6437376"/>
            <a:ext cx="82296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OpenSearch Serverless for Bedrock RAG · Part 1</a:t>
            </a:r>
            <a:endParaRPr lang="en-US" sz="900" dirty="0"/>
          </a:p>
        </p:txBody>
      </p:sp>
      <p:sp>
        <p:nvSpPr>
          <p:cNvPr id="14" name="Text 12"/>
          <p:cNvSpPr/>
          <p:nvPr/>
        </p:nvSpPr>
        <p:spPr>
          <a:xfrm>
            <a:off x="11076127" y="6437376"/>
            <a:ext cx="548640" cy="274320"/>
          </a:xfrm>
          <a:prstGeom prst="rect">
            <a:avLst/>
          </a:prstGeom>
          <a:noFill/>
          <a:ln/>
        </p:spPr>
        <p:txBody>
          <a:bodyPr wrap="square" lIns="0" tIns="0" rIns="0" bIns="0" rtlCol="0" anchor="ctr"/>
          <a:lstStyle/>
          <a:p>
            <a:pPr algn="r" indent="0" marL="0">
              <a:buNone/>
            </a:pPr>
            <a:r>
              <a:rPr lang="en-US" sz="900" dirty="0">
                <a:solidFill>
                  <a:srgbClr val="B45309"/>
                </a:solidFill>
                <a:latin typeface="Consolas" pitchFamily="34" charset="0"/>
                <a:ea typeface="Consolas" pitchFamily="34" charset="-122"/>
                <a:cs typeface="Consolas" pitchFamily="34" charset="-120"/>
              </a:rPr>
              <a:t>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OpenSearch Serverless for Bedrock RAG — Part 1</dc:title>
  <dc:subject>PptxGenJS Presentation</dc:subject>
  <dc:creator>Agentic AI Practitioner Bootcamp</dc:creator>
  <cp:lastModifiedBy>Agentic AI Practitioner Bootcamp</cp:lastModifiedBy>
  <cp:revision>1</cp:revision>
  <dcterms:created xsi:type="dcterms:W3CDTF">2026-06-02T10:09:41Z</dcterms:created>
  <dcterms:modified xsi:type="dcterms:W3CDTF">2026-06-02T10:09:41Z</dcterms:modified>
</cp:coreProperties>
</file>