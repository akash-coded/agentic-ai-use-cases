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57200"/>
            <a:ext cx="1097280" cy="36576"/>
          </a:xfrm>
          <a:prstGeom prst="rect">
            <a:avLst/>
          </a:prstGeom>
          <a:solidFill>
            <a:srgbClr val="B45309"/>
          </a:solidFill>
          <a:ln w="12700">
            <a:solidFill>
              <a:srgbClr val="B45309"/>
            </a:solidFill>
            <a:prstDash val="solid"/>
          </a:ln>
        </p:spPr>
      </p:sp>
      <p:sp>
        <p:nvSpPr>
          <p:cNvPr id="3" name="Text 1"/>
          <p:cNvSpPr/>
          <p:nvPr/>
        </p:nvSpPr>
        <p:spPr>
          <a:xfrm>
            <a:off x="457200" y="640080"/>
            <a:ext cx="10972800" cy="320040"/>
          </a:xfrm>
          <a:prstGeom prst="rect">
            <a:avLst/>
          </a:prstGeom>
          <a:noFill/>
          <a:ln/>
        </p:spPr>
        <p:txBody>
          <a:bodyPr wrap="square" lIns="0" tIns="0" rIns="0" bIns="0" rtlCol="0" anchor="ctr"/>
          <a:lstStyle/>
          <a:p>
            <a:pPr indent="0" marL="0">
              <a:buNone/>
            </a:pPr>
            <a:r>
              <a:rPr lang="en-US" sz="1100" b="1" spc="400" kern="0" dirty="0">
                <a:solidFill>
                  <a:srgbClr val="B45309"/>
                </a:solidFill>
                <a:latin typeface="Calibri" pitchFamily="34" charset="0"/>
                <a:ea typeface="Calibri" pitchFamily="34" charset="-122"/>
                <a:cs typeface="Calibri" pitchFamily="34" charset="-120"/>
              </a:rPr>
              <a:t>AGENTIC AI PRACTITIONER PROGRAM</a:t>
            </a:r>
            <a:endParaRPr lang="en-US" sz="1100" dirty="0"/>
          </a:p>
        </p:txBody>
      </p:sp>
      <p:sp>
        <p:nvSpPr>
          <p:cNvPr id="4" name="Text 2"/>
          <p:cNvSpPr/>
          <p:nvPr/>
        </p:nvSpPr>
        <p:spPr>
          <a:xfrm>
            <a:off x="457200" y="1371600"/>
            <a:ext cx="10972800" cy="548640"/>
          </a:xfrm>
          <a:prstGeom prst="rect">
            <a:avLst/>
          </a:prstGeom>
          <a:noFill/>
          <a:ln/>
        </p:spPr>
        <p:txBody>
          <a:bodyPr wrap="square" lIns="0" tIns="0" rIns="0" bIns="0" rtlCol="0" anchor="ctr"/>
          <a:lstStyle/>
          <a:p>
            <a:pPr indent="0" marL="0">
              <a:buNone/>
            </a:pPr>
            <a:r>
              <a:rPr lang="en-US" sz="2200" i="1" dirty="0">
                <a:solidFill>
                  <a:srgbClr val="64748B"/>
                </a:solidFill>
                <a:latin typeface="Georgia" pitchFamily="34" charset="0"/>
                <a:ea typeface="Georgia" pitchFamily="34" charset="-122"/>
                <a:cs typeface="Georgia" pitchFamily="34" charset="-120"/>
              </a:rPr>
              <a:t>Day 1</a:t>
            </a:r>
            <a:endParaRPr lang="en-US" sz="2200" dirty="0"/>
          </a:p>
        </p:txBody>
      </p:sp>
      <p:sp>
        <p:nvSpPr>
          <p:cNvPr id="5" name="Text 3"/>
          <p:cNvSpPr/>
          <p:nvPr/>
        </p:nvSpPr>
        <p:spPr>
          <a:xfrm>
            <a:off x="457200" y="2011680"/>
            <a:ext cx="10972800" cy="1828800"/>
          </a:xfrm>
          <a:prstGeom prst="rect">
            <a:avLst/>
          </a:prstGeom>
          <a:noFill/>
          <a:ln/>
        </p:spPr>
        <p:txBody>
          <a:bodyPr wrap="square" lIns="0" tIns="0" rIns="0" bIns="0" rtlCol="0" anchor="ctr"/>
          <a:lstStyle/>
          <a:p>
            <a:pPr indent="0" marL="0">
              <a:buNone/>
            </a:pPr>
            <a:r>
              <a:rPr lang="en-US" sz="5400" b="1" dirty="0">
                <a:solidFill>
                  <a:srgbClr val="0F172A"/>
                </a:solidFill>
                <a:latin typeface="Georgia" pitchFamily="34" charset="0"/>
                <a:ea typeface="Georgia" pitchFamily="34" charset="-122"/>
                <a:cs typeface="Georgia" pitchFamily="34" charset="-120"/>
              </a:rPr>
              <a:t>Agentic Foundations</a:t>
            </a:r>
            <a:endParaRPr lang="en-US" sz="5400" dirty="0"/>
          </a:p>
          <a:p>
            <a:pPr indent="0" marL="0">
              <a:buNone/>
            </a:pPr>
            <a:r>
              <a:rPr lang="en-US" sz="5400" b="1" dirty="0">
                <a:solidFill>
                  <a:srgbClr val="0F172A"/>
                </a:solidFill>
                <a:latin typeface="Georgia" pitchFamily="34" charset="0"/>
                <a:ea typeface="Georgia" pitchFamily="34" charset="-122"/>
                <a:cs typeface="Georgia" pitchFamily="34" charset="-120"/>
              </a:rPr>
              <a:t>and Thinking Frameworks</a:t>
            </a:r>
            <a:endParaRPr lang="en-US" sz="5400" dirty="0"/>
          </a:p>
        </p:txBody>
      </p:sp>
      <p:sp>
        <p:nvSpPr>
          <p:cNvPr id="6" name="Text 4"/>
          <p:cNvSpPr/>
          <p:nvPr/>
        </p:nvSpPr>
        <p:spPr>
          <a:xfrm>
            <a:off x="457200" y="4023360"/>
            <a:ext cx="10972800" cy="457200"/>
          </a:xfrm>
          <a:prstGeom prst="rect">
            <a:avLst/>
          </a:prstGeom>
          <a:noFill/>
          <a:ln/>
        </p:spPr>
        <p:txBody>
          <a:bodyPr wrap="square" lIns="0" tIns="0" rIns="0" bIns="0" rtlCol="0" anchor="ctr"/>
          <a:lstStyle/>
          <a:p>
            <a:pPr indent="0" marL="0">
              <a:buNone/>
            </a:pPr>
            <a:r>
              <a:rPr lang="en-US" sz="1800" i="1" dirty="0">
                <a:solidFill>
                  <a:srgbClr val="334155"/>
                </a:solidFill>
                <a:latin typeface="Calibri" pitchFamily="34" charset="0"/>
                <a:ea typeface="Calibri" pitchFamily="34" charset="-122"/>
                <a:cs typeface="Calibri" pitchFamily="34" charset="-120"/>
              </a:rPr>
              <a:t>Half 1   —   What an agent is, what it is made of, why most fail</a:t>
            </a:r>
            <a:endParaRPr lang="en-US" sz="1800" dirty="0"/>
          </a:p>
        </p:txBody>
      </p:sp>
      <p:sp>
        <p:nvSpPr>
          <p:cNvPr id="7" name="Shape 5"/>
          <p:cNvSpPr/>
          <p:nvPr/>
        </p:nvSpPr>
        <p:spPr>
          <a:xfrm>
            <a:off x="457200" y="4846320"/>
            <a:ext cx="11274552" cy="0"/>
          </a:xfrm>
          <a:prstGeom prst="line">
            <a:avLst/>
          </a:prstGeom>
          <a:noFill/>
          <a:ln w="6350">
            <a:solidFill>
              <a:srgbClr val="E2E8F0"/>
            </a:solidFill>
            <a:prstDash val="solid"/>
          </a:ln>
        </p:spPr>
      </p:sp>
      <p:sp>
        <p:nvSpPr>
          <p:cNvPr id="8" name="Text 6"/>
          <p:cNvSpPr/>
          <p:nvPr/>
        </p:nvSpPr>
        <p:spPr>
          <a:xfrm>
            <a:off x="457200" y="5029200"/>
            <a:ext cx="10972800" cy="274320"/>
          </a:xfrm>
          <a:prstGeom prst="rect">
            <a:avLst/>
          </a:prstGeom>
          <a:noFill/>
          <a:ln/>
        </p:spPr>
        <p:txBody>
          <a:bodyPr wrap="square" lIns="0" tIns="0" rIns="0" bIns="0" rtlCol="0" anchor="ctr"/>
          <a:lstStyle/>
          <a:p>
            <a:pPr indent="0" marL="0">
              <a:buNone/>
            </a:pPr>
            <a:r>
              <a:rPr lang="en-US" sz="1000" b="1" spc="300" kern="0" dirty="0">
                <a:solidFill>
                  <a:srgbClr val="B45309"/>
                </a:solidFill>
                <a:latin typeface="Calibri" pitchFamily="34" charset="0"/>
                <a:ea typeface="Calibri" pitchFamily="34" charset="-122"/>
                <a:cs typeface="Calibri" pitchFamily="34" charset="-120"/>
              </a:rPr>
              <a:t>TODAY'S PROMISE</a:t>
            </a:r>
            <a:endParaRPr lang="en-US" sz="1000" dirty="0"/>
          </a:p>
        </p:txBody>
      </p:sp>
      <p:sp>
        <p:nvSpPr>
          <p:cNvPr id="9" name="Text 7"/>
          <p:cNvSpPr/>
          <p:nvPr/>
        </p:nvSpPr>
        <p:spPr>
          <a:xfrm>
            <a:off x="457200" y="5349240"/>
            <a:ext cx="11274552" cy="822960"/>
          </a:xfrm>
          <a:prstGeom prst="rect">
            <a:avLst/>
          </a:prstGeom>
          <a:noFill/>
          <a:ln/>
        </p:spPr>
        <p:txBody>
          <a:bodyPr wrap="square" lIns="0" tIns="0" rIns="0" bIns="0" rtlCol="0" anchor="ctr"/>
          <a:lstStyle/>
          <a:p>
            <a:pPr indent="0" marL="0">
              <a:buNone/>
            </a:pPr>
            <a:r>
              <a:rPr lang="en-US" sz="1800" dirty="0">
                <a:solidFill>
                  <a:srgbClr val="0F172A"/>
                </a:solidFill>
                <a:latin typeface="Calibri" pitchFamily="34" charset="0"/>
                <a:ea typeface="Calibri" pitchFamily="34" charset="-122"/>
                <a:cs typeface="Calibri" pitchFamily="34" charset="-120"/>
              </a:rPr>
              <a:t>By the end of Half 1, you can </a:t>
            </a:r>
            <a:pPr indent="0" marL="0">
              <a:buNone/>
            </a:pPr>
            <a:r>
              <a:rPr lang="en-US" sz="1800" b="1" dirty="0">
                <a:solidFill>
                  <a:srgbClr val="0F172A"/>
                </a:solidFill>
                <a:latin typeface="Calibri" pitchFamily="34" charset="0"/>
                <a:ea typeface="Calibri" pitchFamily="34" charset="-122"/>
                <a:cs typeface="Calibri" pitchFamily="34" charset="-120"/>
              </a:rPr>
              <a:t>describe what an agent is</a:t>
            </a:r>
            <a:pPr indent="0" marL="0">
              <a:buNone/>
            </a:pPr>
            <a:r>
              <a:rPr lang="en-US" sz="1800" dirty="0">
                <a:solidFill>
                  <a:srgbClr val="0F172A"/>
                </a:solidFill>
                <a:latin typeface="Calibri" pitchFamily="34" charset="0"/>
                <a:ea typeface="Calibri" pitchFamily="34" charset="-122"/>
                <a:cs typeface="Calibri" pitchFamily="34" charset="-120"/>
              </a:rPr>
              <a:t>, </a:t>
            </a:r>
            <a:pPr indent="0" marL="0">
              <a:buNone/>
            </a:pPr>
            <a:r>
              <a:rPr lang="en-US" sz="1800" b="1" dirty="0">
                <a:solidFill>
                  <a:srgbClr val="0F172A"/>
                </a:solidFill>
                <a:latin typeface="Calibri" pitchFamily="34" charset="0"/>
                <a:ea typeface="Calibri" pitchFamily="34" charset="-122"/>
                <a:cs typeface="Calibri" pitchFamily="34" charset="-120"/>
              </a:rPr>
              <a:t>draw one on a whiteboard</a:t>
            </a:r>
            <a:pPr indent="0" marL="0">
              <a:buNone/>
            </a:pPr>
            <a:r>
              <a:rPr lang="en-US" sz="1800" dirty="0">
                <a:solidFill>
                  <a:srgbClr val="0F172A"/>
                </a:solidFill>
                <a:latin typeface="Calibri" pitchFamily="34" charset="0"/>
                <a:ea typeface="Calibri" pitchFamily="34" charset="-122"/>
                <a:cs typeface="Calibri" pitchFamily="34" charset="-120"/>
              </a:rPr>
              <a:t>, and </a:t>
            </a:r>
            <a:pPr indent="0" marL="0">
              <a:buNone/>
            </a:pPr>
            <a:r>
              <a:rPr lang="en-US" sz="1800" b="1" dirty="0">
                <a:solidFill>
                  <a:srgbClr val="0F172A"/>
                </a:solidFill>
                <a:latin typeface="Calibri" pitchFamily="34" charset="0"/>
                <a:ea typeface="Calibri" pitchFamily="34" charset="-122"/>
                <a:cs typeface="Calibri" pitchFamily="34" charset="-120"/>
              </a:rPr>
              <a:t>explain why most agent demos collapse in production</a:t>
            </a:r>
            <a:pPr indent="0" marL="0">
              <a:buNone/>
            </a:pPr>
            <a:r>
              <a:rPr lang="en-US" sz="1800" dirty="0">
                <a:solidFill>
                  <a:srgbClr val="0F172A"/>
                </a:solidFill>
                <a:latin typeface="Calibri" pitchFamily="34" charset="0"/>
                <a:ea typeface="Calibri" pitchFamily="34" charset="-122"/>
                <a:cs typeface="Calibri" pitchFamily="34" charset="-120"/>
              </a:rPr>
              <a:t>.</a:t>
            </a:r>
            <a:endParaRPr lang="en-US" sz="1800" dirty="0"/>
          </a:p>
        </p:txBody>
      </p:sp>
      <p:sp>
        <p:nvSpPr>
          <p:cNvPr id="10" name="Text 8"/>
          <p:cNvSpPr/>
          <p:nvPr/>
        </p:nvSpPr>
        <p:spPr>
          <a:xfrm>
            <a:off x="457200" y="6035040"/>
            <a:ext cx="11274552" cy="274320"/>
          </a:xfrm>
          <a:prstGeom prst="rect">
            <a:avLst/>
          </a:prstGeom>
          <a:noFill/>
          <a:ln/>
        </p:spPr>
        <p:txBody>
          <a:bodyPr wrap="square" lIns="0" tIns="0" rIns="0" bIns="0" rtlCol="0" anchor="ctr"/>
          <a:lstStyle/>
          <a:p>
            <a:pPr indent="0" marL="0">
              <a:buNone/>
            </a:pPr>
            <a:r>
              <a:rPr lang="en-US" sz="1000" i="1" dirty="0">
                <a:solidFill>
                  <a:srgbClr val="94A3B8"/>
                </a:solidFill>
                <a:latin typeface="Calibri" pitchFamily="34" charset="0"/>
                <a:ea typeface="Calibri" pitchFamily="34" charset="-122"/>
                <a:cs typeface="Calibri" pitchFamily="34" charset="-120"/>
              </a:rPr>
              <a:t>90 minutes   ·   No labs   ·   Whiteboard, Mermaid, discussion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4552" cy="274320"/>
          </a:xfrm>
          <a:prstGeom prst="rect">
            <a:avLst/>
          </a:prstGeom>
          <a:noFill/>
          <a:ln/>
        </p:spPr>
        <p:txBody>
          <a:bodyPr wrap="square" lIns="0" tIns="0" rIns="0" bIns="0" rtlCol="0" anchor="ctr"/>
          <a:lstStyle/>
          <a:p>
            <a:pPr indent="0" marL="0">
              <a:buNone/>
            </a:pPr>
            <a:r>
              <a:rPr lang="en-US" sz="1000" b="1" spc="400" kern="0" dirty="0">
                <a:solidFill>
                  <a:srgbClr val="B45309"/>
                </a:solidFill>
                <a:latin typeface="Calibri" pitchFamily="34" charset="0"/>
                <a:ea typeface="Calibri" pitchFamily="34" charset="-122"/>
                <a:cs typeface="Calibri" pitchFamily="34" charset="-120"/>
              </a:rPr>
              <a:t>BEFORE WE BEGIN</a:t>
            </a:r>
            <a:endParaRPr lang="en-US" sz="1000" dirty="0"/>
          </a:p>
        </p:txBody>
      </p:sp>
      <p:sp>
        <p:nvSpPr>
          <p:cNvPr id="3" name="Text 1"/>
          <p:cNvSpPr/>
          <p:nvPr/>
        </p:nvSpPr>
        <p:spPr>
          <a:xfrm>
            <a:off x="457200" y="777240"/>
            <a:ext cx="11274552"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Start Quiz — Calibration Round</a:t>
            </a:r>
            <a:endParaRPr lang="en-US" sz="2800" dirty="0"/>
          </a:p>
        </p:txBody>
      </p:sp>
      <p:sp>
        <p:nvSpPr>
          <p:cNvPr id="4" name="Text 2"/>
          <p:cNvSpPr/>
          <p:nvPr/>
        </p:nvSpPr>
        <p:spPr>
          <a:xfrm>
            <a:off x="457200" y="1554480"/>
            <a:ext cx="11274552"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Five questions, no scoring, no leaderboard. Used to surface where intuitions diverge.</a:t>
            </a:r>
            <a:endParaRPr lang="en-US" sz="1400" dirty="0"/>
          </a:p>
        </p:txBody>
      </p:sp>
      <p:sp>
        <p:nvSpPr>
          <p:cNvPr id="5" name="Shape 3"/>
          <p:cNvSpPr/>
          <p:nvPr/>
        </p:nvSpPr>
        <p:spPr>
          <a:xfrm>
            <a:off x="457200" y="2057400"/>
            <a:ext cx="11274552" cy="0"/>
          </a:xfrm>
          <a:prstGeom prst="line">
            <a:avLst/>
          </a:prstGeom>
          <a:noFill/>
          <a:ln w="6350">
            <a:solidFill>
              <a:srgbClr val="E2E8F0"/>
            </a:solidFill>
            <a:prstDash val="solid"/>
          </a:ln>
        </p:spPr>
      </p:sp>
      <p:sp>
        <p:nvSpPr>
          <p:cNvPr id="6" name="Shape 4"/>
          <p:cNvSpPr/>
          <p:nvPr/>
        </p:nvSpPr>
        <p:spPr>
          <a:xfrm>
            <a:off x="457200" y="2743200"/>
            <a:ext cx="3566160" cy="0"/>
          </a:xfrm>
          <a:prstGeom prst="line">
            <a:avLst/>
          </a:prstGeom>
          <a:noFill/>
          <a:ln w="19050">
            <a:solidFill>
              <a:srgbClr val="B45309"/>
            </a:solidFill>
            <a:prstDash val="solid"/>
          </a:ln>
        </p:spPr>
      </p:sp>
      <p:sp>
        <p:nvSpPr>
          <p:cNvPr id="7" name="Text 5"/>
          <p:cNvSpPr/>
          <p:nvPr/>
        </p:nvSpPr>
        <p:spPr>
          <a:xfrm>
            <a:off x="457200" y="2880360"/>
            <a:ext cx="3566160" cy="320040"/>
          </a:xfrm>
          <a:prstGeom prst="rect">
            <a:avLst/>
          </a:prstGeom>
          <a:noFill/>
          <a:ln/>
        </p:spPr>
        <p:txBody>
          <a:bodyPr wrap="square" lIns="0" tIns="0" rIns="0" bIns="0" rtlCol="0" anchor="ctr"/>
          <a:lstStyle/>
          <a:p>
            <a:pPr indent="0" marL="0">
              <a:buNone/>
            </a:pPr>
            <a:r>
              <a:rPr lang="en-US" sz="1100" b="1" spc="300" kern="0" dirty="0">
                <a:solidFill>
                  <a:srgbClr val="B45309"/>
                </a:solidFill>
                <a:latin typeface="Calibri" pitchFamily="34" charset="0"/>
                <a:ea typeface="Calibri" pitchFamily="34" charset="-122"/>
                <a:cs typeface="Calibri" pitchFamily="34" charset="-120"/>
              </a:rPr>
              <a:t>FORMAT</a:t>
            </a:r>
            <a:endParaRPr lang="en-US" sz="1100" dirty="0"/>
          </a:p>
        </p:txBody>
      </p:sp>
      <p:sp>
        <p:nvSpPr>
          <p:cNvPr id="8" name="Text 6"/>
          <p:cNvSpPr/>
          <p:nvPr/>
        </p:nvSpPr>
        <p:spPr>
          <a:xfrm>
            <a:off x="457200" y="3291840"/>
            <a:ext cx="3566160" cy="2286000"/>
          </a:xfrm>
          <a:prstGeom prst="rect">
            <a:avLst/>
          </a:prstGeom>
          <a:noFill/>
          <a:ln/>
        </p:spPr>
        <p:txBody>
          <a:bodyPr wrap="square" lIns="0" tIns="0" rIns="0" bIns="0" rtlCol="0" anchor="ctr"/>
          <a:lstStyle/>
          <a:p>
            <a:pPr indent="0" marL="0">
              <a:spcAft>
                <a:spcPts val="600"/>
              </a:spcAft>
              <a:buNone/>
            </a:pPr>
            <a:r>
              <a:rPr lang="en-US" sz="1400" dirty="0">
                <a:solidFill>
                  <a:srgbClr val="0F172A"/>
                </a:solidFill>
                <a:latin typeface="Calibri" pitchFamily="34" charset="0"/>
                <a:ea typeface="Calibri" pitchFamily="34" charset="-122"/>
                <a:cs typeface="Calibri" pitchFamily="34" charset="-120"/>
              </a:rPr>
              <a:t>Five multiple-choice questions. Single best answer. Roughly thirty seconds each. Raise hands or call out.</a:t>
            </a:r>
            <a:endParaRPr lang="en-US" sz="1400" dirty="0"/>
          </a:p>
        </p:txBody>
      </p:sp>
      <p:sp>
        <p:nvSpPr>
          <p:cNvPr id="9" name="Shape 7"/>
          <p:cNvSpPr/>
          <p:nvPr/>
        </p:nvSpPr>
        <p:spPr>
          <a:xfrm>
            <a:off x="4251960" y="2743200"/>
            <a:ext cx="3566160" cy="0"/>
          </a:xfrm>
          <a:prstGeom prst="line">
            <a:avLst/>
          </a:prstGeom>
          <a:noFill/>
          <a:ln w="19050">
            <a:solidFill>
              <a:srgbClr val="B45309"/>
            </a:solidFill>
            <a:prstDash val="solid"/>
          </a:ln>
        </p:spPr>
      </p:sp>
      <p:sp>
        <p:nvSpPr>
          <p:cNvPr id="10" name="Text 8"/>
          <p:cNvSpPr/>
          <p:nvPr/>
        </p:nvSpPr>
        <p:spPr>
          <a:xfrm>
            <a:off x="4251960" y="2880360"/>
            <a:ext cx="3566160" cy="320040"/>
          </a:xfrm>
          <a:prstGeom prst="rect">
            <a:avLst/>
          </a:prstGeom>
          <a:noFill/>
          <a:ln/>
        </p:spPr>
        <p:txBody>
          <a:bodyPr wrap="square" lIns="0" tIns="0" rIns="0" bIns="0" rtlCol="0" anchor="ctr"/>
          <a:lstStyle/>
          <a:p>
            <a:pPr indent="0" marL="0">
              <a:buNone/>
            </a:pPr>
            <a:r>
              <a:rPr lang="en-US" sz="1100" b="1" spc="300" kern="0" dirty="0">
                <a:solidFill>
                  <a:srgbClr val="B45309"/>
                </a:solidFill>
                <a:latin typeface="Calibri" pitchFamily="34" charset="0"/>
                <a:ea typeface="Calibri" pitchFamily="34" charset="-122"/>
                <a:cs typeface="Calibri" pitchFamily="34" charset="-120"/>
              </a:rPr>
              <a:t>PURPOSE</a:t>
            </a:r>
            <a:endParaRPr lang="en-US" sz="1100" dirty="0"/>
          </a:p>
        </p:txBody>
      </p:sp>
      <p:sp>
        <p:nvSpPr>
          <p:cNvPr id="11" name="Text 9"/>
          <p:cNvSpPr/>
          <p:nvPr/>
        </p:nvSpPr>
        <p:spPr>
          <a:xfrm>
            <a:off x="4251960" y="3291840"/>
            <a:ext cx="3566160" cy="2286000"/>
          </a:xfrm>
          <a:prstGeom prst="rect">
            <a:avLst/>
          </a:prstGeom>
          <a:noFill/>
          <a:ln/>
        </p:spPr>
        <p:txBody>
          <a:bodyPr wrap="square" lIns="0" tIns="0" rIns="0" bIns="0" rtlCol="0" anchor="ctr"/>
          <a:lstStyle/>
          <a:p>
            <a:pPr indent="0" marL="0">
              <a:spcAft>
                <a:spcPts val="600"/>
              </a:spcAft>
              <a:buNone/>
            </a:pPr>
            <a:r>
              <a:rPr lang="en-US" sz="1400" dirty="0">
                <a:solidFill>
                  <a:srgbClr val="0F172A"/>
                </a:solidFill>
                <a:latin typeface="Calibri" pitchFamily="34" charset="0"/>
                <a:ea typeface="Calibri" pitchFamily="34" charset="-122"/>
                <a:cs typeface="Calibri" pitchFamily="34" charset="-120"/>
              </a:rPr>
              <a:t>Calibrate the room. Surface contested intuitions. Seed the discussions that follow in the next ninety minutes.</a:t>
            </a:r>
            <a:endParaRPr lang="en-US" sz="1400" dirty="0"/>
          </a:p>
        </p:txBody>
      </p:sp>
      <p:sp>
        <p:nvSpPr>
          <p:cNvPr id="12" name="Shape 10"/>
          <p:cNvSpPr/>
          <p:nvPr/>
        </p:nvSpPr>
        <p:spPr>
          <a:xfrm>
            <a:off x="8046720" y="2743200"/>
            <a:ext cx="3566160" cy="0"/>
          </a:xfrm>
          <a:prstGeom prst="line">
            <a:avLst/>
          </a:prstGeom>
          <a:noFill/>
          <a:ln w="19050">
            <a:solidFill>
              <a:srgbClr val="B45309"/>
            </a:solidFill>
            <a:prstDash val="solid"/>
          </a:ln>
        </p:spPr>
      </p:sp>
      <p:sp>
        <p:nvSpPr>
          <p:cNvPr id="13" name="Text 11"/>
          <p:cNvSpPr/>
          <p:nvPr/>
        </p:nvSpPr>
        <p:spPr>
          <a:xfrm>
            <a:off x="8046720" y="2880360"/>
            <a:ext cx="3566160" cy="320040"/>
          </a:xfrm>
          <a:prstGeom prst="rect">
            <a:avLst/>
          </a:prstGeom>
          <a:noFill/>
          <a:ln/>
        </p:spPr>
        <p:txBody>
          <a:bodyPr wrap="square" lIns="0" tIns="0" rIns="0" bIns="0" rtlCol="0" anchor="ctr"/>
          <a:lstStyle/>
          <a:p>
            <a:pPr indent="0" marL="0">
              <a:buNone/>
            </a:pPr>
            <a:r>
              <a:rPr lang="en-US" sz="1100" b="1" spc="300" kern="0" dirty="0">
                <a:solidFill>
                  <a:srgbClr val="B45309"/>
                </a:solidFill>
                <a:latin typeface="Calibri" pitchFamily="34" charset="0"/>
                <a:ea typeface="Calibri" pitchFamily="34" charset="-122"/>
                <a:cs typeface="Calibri" pitchFamily="34" charset="-120"/>
              </a:rPr>
              <a:t>GROUND RULE</a:t>
            </a:r>
            <a:endParaRPr lang="en-US" sz="1100" dirty="0"/>
          </a:p>
        </p:txBody>
      </p:sp>
      <p:sp>
        <p:nvSpPr>
          <p:cNvPr id="14" name="Text 12"/>
          <p:cNvSpPr/>
          <p:nvPr/>
        </p:nvSpPr>
        <p:spPr>
          <a:xfrm>
            <a:off x="8046720" y="3291840"/>
            <a:ext cx="3566160" cy="2286000"/>
          </a:xfrm>
          <a:prstGeom prst="rect">
            <a:avLst/>
          </a:prstGeom>
          <a:noFill/>
          <a:ln/>
        </p:spPr>
        <p:txBody>
          <a:bodyPr wrap="square" lIns="0" tIns="0" rIns="0" bIns="0" rtlCol="0" anchor="ctr"/>
          <a:lstStyle/>
          <a:p>
            <a:pPr indent="0" marL="0">
              <a:spcAft>
                <a:spcPts val="600"/>
              </a:spcAft>
              <a:buNone/>
            </a:pPr>
            <a:r>
              <a:rPr lang="en-US" sz="1400" dirty="0">
                <a:solidFill>
                  <a:srgbClr val="0F172A"/>
                </a:solidFill>
                <a:latin typeface="Calibri" pitchFamily="34" charset="0"/>
                <a:ea typeface="Calibri" pitchFamily="34" charset="-122"/>
                <a:cs typeface="Calibri" pitchFamily="34" charset="-120"/>
              </a:rPr>
              <a:t>If your gut disagrees with the revealed answer, say so. The contested questions are the most useful ones.</a:t>
            </a:r>
            <a:endParaRPr lang="en-US" sz="1400" dirty="0"/>
          </a:p>
        </p:txBody>
      </p:sp>
      <p:sp>
        <p:nvSpPr>
          <p:cNvPr id="15" name="Shape 13"/>
          <p:cNvSpPr/>
          <p:nvPr/>
        </p:nvSpPr>
        <p:spPr>
          <a:xfrm>
            <a:off x="457200" y="5669280"/>
            <a:ext cx="36576" cy="640080"/>
          </a:xfrm>
          <a:prstGeom prst="line">
            <a:avLst/>
          </a:prstGeom>
          <a:noFill/>
          <a:ln w="38100">
            <a:solidFill>
              <a:srgbClr val="B45309"/>
            </a:solidFill>
            <a:prstDash val="solid"/>
          </a:ln>
        </p:spPr>
      </p:sp>
      <p:sp>
        <p:nvSpPr>
          <p:cNvPr id="16" name="Text 14"/>
          <p:cNvSpPr/>
          <p:nvPr/>
        </p:nvSpPr>
        <p:spPr>
          <a:xfrm>
            <a:off x="685800" y="5669280"/>
            <a:ext cx="10972800" cy="640080"/>
          </a:xfrm>
          <a:prstGeom prst="rect">
            <a:avLst/>
          </a:prstGeom>
          <a:noFill/>
          <a:ln/>
        </p:spPr>
        <p:txBody>
          <a:bodyPr wrap="square" lIns="0" tIns="0" rIns="0" bIns="0" rtlCol="0" anchor="ctr"/>
          <a:lstStyle/>
          <a:p>
            <a:pPr indent="0" marL="0">
              <a:buNone/>
            </a:pPr>
            <a:r>
              <a:rPr lang="en-US" sz="1800" i="1" dirty="0">
                <a:solidFill>
                  <a:srgbClr val="0F172A"/>
                </a:solidFill>
                <a:latin typeface="Georgia" pitchFamily="34" charset="0"/>
                <a:ea typeface="Georgia" pitchFamily="34" charset="-122"/>
                <a:cs typeface="Georgia" pitchFamily="34" charset="-120"/>
              </a:rPr>
              <a:t>The room with disagreement is the room that ships.</a:t>
            </a:r>
            <a:endParaRPr lang="en-US" sz="1800" dirty="0"/>
          </a:p>
        </p:txBody>
      </p:sp>
      <p:sp>
        <p:nvSpPr>
          <p:cNvPr id="17" name="Shape 15"/>
          <p:cNvSpPr/>
          <p:nvPr/>
        </p:nvSpPr>
        <p:spPr>
          <a:xfrm>
            <a:off x="457200" y="6446520"/>
            <a:ext cx="11274552" cy="0"/>
          </a:xfrm>
          <a:prstGeom prst="line">
            <a:avLst/>
          </a:prstGeom>
          <a:noFill/>
          <a:ln w="6350">
            <a:solidFill>
              <a:srgbClr val="E2E8F0"/>
            </a:solidFill>
            <a:prstDash val="solid"/>
          </a:ln>
        </p:spPr>
      </p:sp>
      <p:sp>
        <p:nvSpPr>
          <p:cNvPr id="18" name="Text 16"/>
          <p:cNvSpPr/>
          <p:nvPr/>
        </p:nvSpPr>
        <p:spPr>
          <a:xfrm>
            <a:off x="457200" y="6537960"/>
            <a:ext cx="914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02</a:t>
            </a:r>
            <a:endParaRPr lang="en-US" sz="900" dirty="0"/>
          </a:p>
        </p:txBody>
      </p:sp>
      <p:sp>
        <p:nvSpPr>
          <p:cNvPr id="19" name="Text 17"/>
          <p:cNvSpPr/>
          <p:nvPr/>
        </p:nvSpPr>
        <p:spPr>
          <a:xfrm>
            <a:off x="5943600" y="6537960"/>
            <a:ext cx="5788152" cy="228600"/>
          </a:xfrm>
          <a:prstGeom prst="rect">
            <a:avLst/>
          </a:prstGeom>
          <a:noFill/>
          <a:ln/>
        </p:spPr>
        <p:txBody>
          <a:bodyPr wrap="square" lIns="0" tIns="0" rIns="0" bIns="0" rtlCol="0" anchor="ctr"/>
          <a:lstStyle/>
          <a:p>
            <a:pPr algn="r" indent="0" marL="0">
              <a:buNone/>
            </a:pPr>
            <a:r>
              <a:rPr lang="en-US" sz="900" i="1" dirty="0">
                <a:solidFill>
                  <a:srgbClr val="94A3B8"/>
                </a:solidFill>
                <a:latin typeface="Calibri" pitchFamily="34" charset="0"/>
                <a:ea typeface="Calibri" pitchFamily="34" charset="-122"/>
                <a:cs typeface="Calibri" pitchFamily="34" charset="-120"/>
              </a:rPr>
              <a:t>Agentic Foundations · Half 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4552" cy="274320"/>
          </a:xfrm>
          <a:prstGeom prst="rect">
            <a:avLst/>
          </a:prstGeom>
          <a:noFill/>
          <a:ln/>
        </p:spPr>
        <p:txBody>
          <a:bodyPr wrap="square" lIns="0" tIns="0" rIns="0" bIns="0" rtlCol="0" anchor="ctr"/>
          <a:lstStyle/>
          <a:p>
            <a:pPr indent="0" marL="0">
              <a:buNone/>
            </a:pPr>
            <a:r>
              <a:rPr lang="en-US" sz="1000" b="1" spc="400" kern="0" dirty="0">
                <a:solidFill>
                  <a:srgbClr val="B45309"/>
                </a:solidFill>
                <a:latin typeface="Calibri" pitchFamily="34" charset="0"/>
                <a:ea typeface="Calibri" pitchFamily="34" charset="-122"/>
                <a:cs typeface="Calibri" pitchFamily="34" charset="-120"/>
              </a:rPr>
              <a:t>QUIZ · QUESTION 1 OF 5</a:t>
            </a:r>
            <a:endParaRPr lang="en-US" sz="1000" dirty="0"/>
          </a:p>
        </p:txBody>
      </p:sp>
      <p:sp>
        <p:nvSpPr>
          <p:cNvPr id="3" name="Text 1"/>
          <p:cNvSpPr/>
          <p:nvPr/>
        </p:nvSpPr>
        <p:spPr>
          <a:xfrm>
            <a:off x="457200" y="777240"/>
            <a:ext cx="11274552"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Which of these is an agent?</a:t>
            </a:r>
            <a:endParaRPr lang="en-US" sz="2800" dirty="0"/>
          </a:p>
        </p:txBody>
      </p:sp>
      <p:sp>
        <p:nvSpPr>
          <p:cNvPr id="4" name="Shape 2"/>
          <p:cNvSpPr/>
          <p:nvPr/>
        </p:nvSpPr>
        <p:spPr>
          <a:xfrm>
            <a:off x="457200" y="2057400"/>
            <a:ext cx="11274552" cy="0"/>
          </a:xfrm>
          <a:prstGeom prst="line">
            <a:avLst/>
          </a:prstGeom>
          <a:noFill/>
          <a:ln w="6350">
            <a:solidFill>
              <a:srgbClr val="E2E8F0"/>
            </a:solidFill>
            <a:prstDash val="solid"/>
          </a:ln>
        </p:spPr>
      </p:sp>
      <p:sp>
        <p:nvSpPr>
          <p:cNvPr id="5" name="Shape 3"/>
          <p:cNvSpPr/>
          <p:nvPr/>
        </p:nvSpPr>
        <p:spPr>
          <a:xfrm>
            <a:off x="457200" y="2468880"/>
            <a:ext cx="640080" cy="640080"/>
          </a:xfrm>
          <a:prstGeom prst="rect">
            <a:avLst/>
          </a:prstGeom>
          <a:solidFill>
            <a:srgbClr val="F8FAFC"/>
          </a:solidFill>
          <a:ln w="12700">
            <a:solidFill>
              <a:srgbClr val="E2E8F0"/>
            </a:solidFill>
            <a:prstDash val="solid"/>
          </a:ln>
        </p:spPr>
      </p:sp>
      <p:sp>
        <p:nvSpPr>
          <p:cNvPr id="6" name="Text 4"/>
          <p:cNvSpPr/>
          <p:nvPr/>
        </p:nvSpPr>
        <p:spPr>
          <a:xfrm>
            <a:off x="457200" y="2468880"/>
            <a:ext cx="640080" cy="640080"/>
          </a:xfrm>
          <a:prstGeom prst="rect">
            <a:avLst/>
          </a:prstGeom>
          <a:noFill/>
          <a:ln/>
        </p:spPr>
        <p:txBody>
          <a:bodyPr wrap="square" lIns="0" tIns="0" rIns="0" bIns="0" rtlCol="0" anchor="ctr"/>
          <a:lstStyle/>
          <a:p>
            <a:pPr algn="ctr" indent="0" marL="0">
              <a:buNone/>
            </a:pPr>
            <a:r>
              <a:rPr lang="en-US" sz="2200" b="1" dirty="0">
                <a:solidFill>
                  <a:srgbClr val="B45309"/>
                </a:solidFill>
                <a:latin typeface="Georgia" pitchFamily="34" charset="0"/>
                <a:ea typeface="Georgia" pitchFamily="34" charset="-122"/>
                <a:cs typeface="Georgia" pitchFamily="34" charset="-120"/>
              </a:rPr>
              <a:t>A</a:t>
            </a:r>
            <a:endParaRPr lang="en-US" sz="2200" dirty="0"/>
          </a:p>
        </p:txBody>
      </p:sp>
      <p:sp>
        <p:nvSpPr>
          <p:cNvPr id="7" name="Text 5"/>
          <p:cNvSpPr/>
          <p:nvPr/>
        </p:nvSpPr>
        <p:spPr>
          <a:xfrm>
            <a:off x="1280160" y="2560320"/>
            <a:ext cx="10424160" cy="457200"/>
          </a:xfrm>
          <a:prstGeom prst="rect">
            <a:avLst/>
          </a:prstGeom>
          <a:noFill/>
          <a:ln/>
        </p:spPr>
        <p:txBody>
          <a:bodyPr wrap="square" lIns="0" tIns="0" rIns="0" bIns="0" rtlCol="0" anchor="ctr"/>
          <a:lstStyle/>
          <a:p>
            <a:pPr indent="0" marL="0">
              <a:buNone/>
            </a:pPr>
            <a:r>
              <a:rPr lang="en-US" sz="1600" dirty="0">
                <a:solidFill>
                  <a:srgbClr val="0F172A"/>
                </a:solidFill>
                <a:latin typeface="Calibri" pitchFamily="34" charset="0"/>
                <a:ea typeface="Calibri" pitchFamily="34" charset="-122"/>
                <a:cs typeface="Calibri" pitchFamily="34" charset="-120"/>
              </a:rPr>
              <a:t>A RAG chatbot that answers questions over your policy documents</a:t>
            </a:r>
            <a:endParaRPr lang="en-US" sz="1600" dirty="0"/>
          </a:p>
        </p:txBody>
      </p:sp>
      <p:sp>
        <p:nvSpPr>
          <p:cNvPr id="8" name="Shape 6"/>
          <p:cNvSpPr/>
          <p:nvPr/>
        </p:nvSpPr>
        <p:spPr>
          <a:xfrm>
            <a:off x="457200" y="3337560"/>
            <a:ext cx="640080" cy="640080"/>
          </a:xfrm>
          <a:prstGeom prst="rect">
            <a:avLst/>
          </a:prstGeom>
          <a:solidFill>
            <a:srgbClr val="F8FAFC"/>
          </a:solidFill>
          <a:ln w="12700">
            <a:solidFill>
              <a:srgbClr val="E2E8F0"/>
            </a:solidFill>
            <a:prstDash val="solid"/>
          </a:ln>
        </p:spPr>
      </p:sp>
      <p:sp>
        <p:nvSpPr>
          <p:cNvPr id="9" name="Text 7"/>
          <p:cNvSpPr/>
          <p:nvPr/>
        </p:nvSpPr>
        <p:spPr>
          <a:xfrm>
            <a:off x="457200" y="3337560"/>
            <a:ext cx="640080" cy="640080"/>
          </a:xfrm>
          <a:prstGeom prst="rect">
            <a:avLst/>
          </a:prstGeom>
          <a:noFill/>
          <a:ln/>
        </p:spPr>
        <p:txBody>
          <a:bodyPr wrap="square" lIns="0" tIns="0" rIns="0" bIns="0" rtlCol="0" anchor="ctr"/>
          <a:lstStyle/>
          <a:p>
            <a:pPr algn="ctr" indent="0" marL="0">
              <a:buNone/>
            </a:pPr>
            <a:r>
              <a:rPr lang="en-US" sz="2200" b="1" dirty="0">
                <a:solidFill>
                  <a:srgbClr val="B45309"/>
                </a:solidFill>
                <a:latin typeface="Georgia" pitchFamily="34" charset="0"/>
                <a:ea typeface="Georgia" pitchFamily="34" charset="-122"/>
                <a:cs typeface="Georgia" pitchFamily="34" charset="-120"/>
              </a:rPr>
              <a:t>B</a:t>
            </a:r>
            <a:endParaRPr lang="en-US" sz="2200" dirty="0"/>
          </a:p>
        </p:txBody>
      </p:sp>
      <p:sp>
        <p:nvSpPr>
          <p:cNvPr id="10" name="Text 8"/>
          <p:cNvSpPr/>
          <p:nvPr/>
        </p:nvSpPr>
        <p:spPr>
          <a:xfrm>
            <a:off x="1280160" y="3429000"/>
            <a:ext cx="10424160" cy="457200"/>
          </a:xfrm>
          <a:prstGeom prst="rect">
            <a:avLst/>
          </a:prstGeom>
          <a:noFill/>
          <a:ln/>
        </p:spPr>
        <p:txBody>
          <a:bodyPr wrap="square" lIns="0" tIns="0" rIns="0" bIns="0" rtlCol="0" anchor="ctr"/>
          <a:lstStyle/>
          <a:p>
            <a:pPr indent="0" marL="0">
              <a:buNone/>
            </a:pPr>
            <a:r>
              <a:rPr lang="en-US" sz="1600" dirty="0">
                <a:solidFill>
                  <a:srgbClr val="0F172A"/>
                </a:solidFill>
                <a:latin typeface="Calibri" pitchFamily="34" charset="0"/>
                <a:ea typeface="Calibri" pitchFamily="34" charset="-122"/>
                <a:cs typeface="Calibri" pitchFamily="34" charset="-120"/>
              </a:rPr>
              <a:t>An Airflow DAG that orchestrates a nightly ETL pipeline</a:t>
            </a:r>
            <a:endParaRPr lang="en-US" sz="1600" dirty="0"/>
          </a:p>
        </p:txBody>
      </p:sp>
      <p:sp>
        <p:nvSpPr>
          <p:cNvPr id="11" name="Shape 9"/>
          <p:cNvSpPr/>
          <p:nvPr/>
        </p:nvSpPr>
        <p:spPr>
          <a:xfrm>
            <a:off x="457200" y="4206240"/>
            <a:ext cx="640080" cy="640080"/>
          </a:xfrm>
          <a:prstGeom prst="rect">
            <a:avLst/>
          </a:prstGeom>
          <a:solidFill>
            <a:srgbClr val="F8FAFC"/>
          </a:solidFill>
          <a:ln w="12700">
            <a:solidFill>
              <a:srgbClr val="E2E8F0"/>
            </a:solidFill>
            <a:prstDash val="solid"/>
          </a:ln>
        </p:spPr>
      </p:sp>
      <p:sp>
        <p:nvSpPr>
          <p:cNvPr id="12" name="Text 10"/>
          <p:cNvSpPr/>
          <p:nvPr/>
        </p:nvSpPr>
        <p:spPr>
          <a:xfrm>
            <a:off x="457200" y="4206240"/>
            <a:ext cx="640080" cy="640080"/>
          </a:xfrm>
          <a:prstGeom prst="rect">
            <a:avLst/>
          </a:prstGeom>
          <a:noFill/>
          <a:ln/>
        </p:spPr>
        <p:txBody>
          <a:bodyPr wrap="square" lIns="0" tIns="0" rIns="0" bIns="0" rtlCol="0" anchor="ctr"/>
          <a:lstStyle/>
          <a:p>
            <a:pPr algn="ctr" indent="0" marL="0">
              <a:buNone/>
            </a:pPr>
            <a:r>
              <a:rPr lang="en-US" sz="2200" b="1" dirty="0">
                <a:solidFill>
                  <a:srgbClr val="B45309"/>
                </a:solidFill>
                <a:latin typeface="Georgia" pitchFamily="34" charset="0"/>
                <a:ea typeface="Georgia" pitchFamily="34" charset="-122"/>
                <a:cs typeface="Georgia" pitchFamily="34" charset="-120"/>
              </a:rPr>
              <a:t>C</a:t>
            </a:r>
            <a:endParaRPr lang="en-US" sz="2200" dirty="0"/>
          </a:p>
        </p:txBody>
      </p:sp>
      <p:sp>
        <p:nvSpPr>
          <p:cNvPr id="13" name="Text 11"/>
          <p:cNvSpPr/>
          <p:nvPr/>
        </p:nvSpPr>
        <p:spPr>
          <a:xfrm>
            <a:off x="1280160" y="4297680"/>
            <a:ext cx="10424160" cy="457200"/>
          </a:xfrm>
          <a:prstGeom prst="rect">
            <a:avLst/>
          </a:prstGeom>
          <a:noFill/>
          <a:ln/>
        </p:spPr>
        <p:txBody>
          <a:bodyPr wrap="square" lIns="0" tIns="0" rIns="0" bIns="0" rtlCol="0" anchor="ctr"/>
          <a:lstStyle/>
          <a:p>
            <a:pPr indent="0" marL="0">
              <a:buNone/>
            </a:pPr>
            <a:r>
              <a:rPr lang="en-US" sz="1600" dirty="0">
                <a:solidFill>
                  <a:srgbClr val="0F172A"/>
                </a:solidFill>
                <a:latin typeface="Calibri" pitchFamily="34" charset="0"/>
                <a:ea typeface="Calibri" pitchFamily="34" charset="-122"/>
                <a:cs typeface="Calibri" pitchFamily="34" charset="-120"/>
              </a:rPr>
              <a:t>A system that, given a goal, picks tools, observes results, and loops until the goal is met</a:t>
            </a:r>
            <a:endParaRPr lang="en-US" sz="1600" dirty="0"/>
          </a:p>
        </p:txBody>
      </p:sp>
      <p:sp>
        <p:nvSpPr>
          <p:cNvPr id="14" name="Shape 12"/>
          <p:cNvSpPr/>
          <p:nvPr/>
        </p:nvSpPr>
        <p:spPr>
          <a:xfrm>
            <a:off x="457200" y="5074920"/>
            <a:ext cx="640080" cy="640080"/>
          </a:xfrm>
          <a:prstGeom prst="rect">
            <a:avLst/>
          </a:prstGeom>
          <a:solidFill>
            <a:srgbClr val="F8FAFC"/>
          </a:solidFill>
          <a:ln w="12700">
            <a:solidFill>
              <a:srgbClr val="E2E8F0"/>
            </a:solidFill>
            <a:prstDash val="solid"/>
          </a:ln>
        </p:spPr>
      </p:sp>
      <p:sp>
        <p:nvSpPr>
          <p:cNvPr id="15" name="Text 13"/>
          <p:cNvSpPr/>
          <p:nvPr/>
        </p:nvSpPr>
        <p:spPr>
          <a:xfrm>
            <a:off x="457200" y="5074920"/>
            <a:ext cx="640080" cy="640080"/>
          </a:xfrm>
          <a:prstGeom prst="rect">
            <a:avLst/>
          </a:prstGeom>
          <a:noFill/>
          <a:ln/>
        </p:spPr>
        <p:txBody>
          <a:bodyPr wrap="square" lIns="0" tIns="0" rIns="0" bIns="0" rtlCol="0" anchor="ctr"/>
          <a:lstStyle/>
          <a:p>
            <a:pPr algn="ctr" indent="0" marL="0">
              <a:buNone/>
            </a:pPr>
            <a:r>
              <a:rPr lang="en-US" sz="2200" b="1" dirty="0">
                <a:solidFill>
                  <a:srgbClr val="B45309"/>
                </a:solidFill>
                <a:latin typeface="Georgia" pitchFamily="34" charset="0"/>
                <a:ea typeface="Georgia" pitchFamily="34" charset="-122"/>
                <a:cs typeface="Georgia" pitchFamily="34" charset="-120"/>
              </a:rPr>
              <a:t>D</a:t>
            </a:r>
            <a:endParaRPr lang="en-US" sz="2200" dirty="0"/>
          </a:p>
        </p:txBody>
      </p:sp>
      <p:sp>
        <p:nvSpPr>
          <p:cNvPr id="16" name="Text 14"/>
          <p:cNvSpPr/>
          <p:nvPr/>
        </p:nvSpPr>
        <p:spPr>
          <a:xfrm>
            <a:off x="1280160" y="5166360"/>
            <a:ext cx="10424160" cy="457200"/>
          </a:xfrm>
          <a:prstGeom prst="rect">
            <a:avLst/>
          </a:prstGeom>
          <a:noFill/>
          <a:ln/>
        </p:spPr>
        <p:txBody>
          <a:bodyPr wrap="square" lIns="0" tIns="0" rIns="0" bIns="0" rtlCol="0" anchor="ctr"/>
          <a:lstStyle/>
          <a:p>
            <a:pPr indent="0" marL="0">
              <a:buNone/>
            </a:pPr>
            <a:r>
              <a:rPr lang="en-US" sz="1600" dirty="0">
                <a:solidFill>
                  <a:srgbClr val="0F172A"/>
                </a:solidFill>
                <a:latin typeface="Calibri" pitchFamily="34" charset="0"/>
                <a:ea typeface="Calibri" pitchFamily="34" charset="-122"/>
                <a:cs typeface="Calibri" pitchFamily="34" charset="-120"/>
              </a:rPr>
              <a:t>A web form with a Claude-powered text field embedded inside it</a:t>
            </a:r>
            <a:endParaRPr lang="en-US" sz="1600" dirty="0"/>
          </a:p>
        </p:txBody>
      </p:sp>
      <p:sp>
        <p:nvSpPr>
          <p:cNvPr id="17" name="Shape 15"/>
          <p:cNvSpPr/>
          <p:nvPr/>
        </p:nvSpPr>
        <p:spPr>
          <a:xfrm>
            <a:off x="457200" y="6446520"/>
            <a:ext cx="11274552" cy="0"/>
          </a:xfrm>
          <a:prstGeom prst="line">
            <a:avLst/>
          </a:prstGeom>
          <a:noFill/>
          <a:ln w="6350">
            <a:solidFill>
              <a:srgbClr val="E2E8F0"/>
            </a:solidFill>
            <a:prstDash val="solid"/>
          </a:ln>
        </p:spPr>
      </p:sp>
      <p:sp>
        <p:nvSpPr>
          <p:cNvPr id="18" name="Text 16"/>
          <p:cNvSpPr/>
          <p:nvPr/>
        </p:nvSpPr>
        <p:spPr>
          <a:xfrm>
            <a:off x="457200" y="6537960"/>
            <a:ext cx="914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03</a:t>
            </a:r>
            <a:endParaRPr lang="en-US" sz="900" dirty="0"/>
          </a:p>
        </p:txBody>
      </p:sp>
      <p:sp>
        <p:nvSpPr>
          <p:cNvPr id="19" name="Text 17"/>
          <p:cNvSpPr/>
          <p:nvPr/>
        </p:nvSpPr>
        <p:spPr>
          <a:xfrm>
            <a:off x="5943600" y="6537960"/>
            <a:ext cx="5788152" cy="228600"/>
          </a:xfrm>
          <a:prstGeom prst="rect">
            <a:avLst/>
          </a:prstGeom>
          <a:noFill/>
          <a:ln/>
        </p:spPr>
        <p:txBody>
          <a:bodyPr wrap="square" lIns="0" tIns="0" rIns="0" bIns="0" rtlCol="0" anchor="ctr"/>
          <a:lstStyle/>
          <a:p>
            <a:pPr algn="r" indent="0" marL="0">
              <a:buNone/>
            </a:pPr>
            <a:r>
              <a:rPr lang="en-US" sz="900" i="1" dirty="0">
                <a:solidFill>
                  <a:srgbClr val="94A3B8"/>
                </a:solidFill>
                <a:latin typeface="Calibri" pitchFamily="34" charset="0"/>
                <a:ea typeface="Calibri" pitchFamily="34" charset="-122"/>
                <a:cs typeface="Calibri" pitchFamily="34" charset="-120"/>
              </a:rPr>
              <a:t>Agentic Foundations · Half 1</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4552" cy="274320"/>
          </a:xfrm>
          <a:prstGeom prst="rect">
            <a:avLst/>
          </a:prstGeom>
          <a:noFill/>
          <a:ln/>
        </p:spPr>
        <p:txBody>
          <a:bodyPr wrap="square" lIns="0" tIns="0" rIns="0" bIns="0" rtlCol="0" anchor="ctr"/>
          <a:lstStyle/>
          <a:p>
            <a:pPr indent="0" marL="0">
              <a:buNone/>
            </a:pPr>
            <a:r>
              <a:rPr lang="en-US" sz="1000" b="1" spc="400" kern="0" dirty="0">
                <a:solidFill>
                  <a:srgbClr val="B45309"/>
                </a:solidFill>
                <a:latin typeface="Calibri" pitchFamily="34" charset="0"/>
                <a:ea typeface="Calibri" pitchFamily="34" charset="-122"/>
                <a:cs typeface="Calibri" pitchFamily="34" charset="-120"/>
              </a:rPr>
              <a:t>QUIZ · ANSWER 1 OF 5</a:t>
            </a:r>
            <a:endParaRPr lang="en-US" sz="1000" dirty="0"/>
          </a:p>
        </p:txBody>
      </p:sp>
      <p:sp>
        <p:nvSpPr>
          <p:cNvPr id="3" name="Text 1"/>
          <p:cNvSpPr/>
          <p:nvPr/>
        </p:nvSpPr>
        <p:spPr>
          <a:xfrm>
            <a:off x="457200" y="777240"/>
            <a:ext cx="11274552"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Answer: C</a:t>
            </a:r>
            <a:endParaRPr lang="en-US" sz="2800" dirty="0"/>
          </a:p>
        </p:txBody>
      </p:sp>
      <p:sp>
        <p:nvSpPr>
          <p:cNvPr id="4" name="Text 2"/>
          <p:cNvSpPr/>
          <p:nvPr/>
        </p:nvSpPr>
        <p:spPr>
          <a:xfrm>
            <a:off x="457200" y="1554480"/>
            <a:ext cx="11274552"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An agent picks its own next step and runs across multiple turns.</a:t>
            </a:r>
            <a:endParaRPr lang="en-US" sz="1400" dirty="0"/>
          </a:p>
        </p:txBody>
      </p:sp>
      <p:sp>
        <p:nvSpPr>
          <p:cNvPr id="5" name="Shape 3"/>
          <p:cNvSpPr/>
          <p:nvPr/>
        </p:nvSpPr>
        <p:spPr>
          <a:xfrm>
            <a:off x="457200" y="2057400"/>
            <a:ext cx="11274552" cy="0"/>
          </a:xfrm>
          <a:prstGeom prst="line">
            <a:avLst/>
          </a:prstGeom>
          <a:noFill/>
          <a:ln w="6350">
            <a:solidFill>
              <a:srgbClr val="E2E8F0"/>
            </a:solidFill>
            <a:prstDash val="solid"/>
          </a:ln>
        </p:spPr>
      </p:sp>
      <p:sp>
        <p:nvSpPr>
          <p:cNvPr id="6" name="Shape 4"/>
          <p:cNvSpPr/>
          <p:nvPr/>
        </p:nvSpPr>
        <p:spPr>
          <a:xfrm>
            <a:off x="457200" y="2377440"/>
            <a:ext cx="11274552" cy="1371600"/>
          </a:xfrm>
          <a:prstGeom prst="rect">
            <a:avLst/>
          </a:prstGeom>
          <a:solidFill>
            <a:srgbClr val="FEF3C7"/>
          </a:solidFill>
          <a:ln w="12700">
            <a:solidFill>
              <a:srgbClr val="FEF3C7"/>
            </a:solidFill>
            <a:prstDash val="solid"/>
          </a:ln>
        </p:spPr>
      </p:sp>
      <p:sp>
        <p:nvSpPr>
          <p:cNvPr id="7" name="Shape 5"/>
          <p:cNvSpPr/>
          <p:nvPr/>
        </p:nvSpPr>
        <p:spPr>
          <a:xfrm>
            <a:off x="457200" y="2377440"/>
            <a:ext cx="73152" cy="1371600"/>
          </a:xfrm>
          <a:prstGeom prst="rect">
            <a:avLst/>
          </a:prstGeom>
          <a:solidFill>
            <a:srgbClr val="B45309"/>
          </a:solidFill>
          <a:ln w="12700">
            <a:solidFill>
              <a:srgbClr val="B45309"/>
            </a:solidFill>
            <a:prstDash val="solid"/>
          </a:ln>
        </p:spPr>
      </p:sp>
      <p:sp>
        <p:nvSpPr>
          <p:cNvPr id="8" name="Text 6"/>
          <p:cNvSpPr/>
          <p:nvPr/>
        </p:nvSpPr>
        <p:spPr>
          <a:xfrm>
            <a:off x="777240" y="2514600"/>
            <a:ext cx="10789920" cy="457200"/>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C — A system that picks tools, observes results, and loops until the goal is met.</a:t>
            </a:r>
            <a:endParaRPr lang="en-US" sz="1800" dirty="0"/>
          </a:p>
        </p:txBody>
      </p:sp>
      <p:sp>
        <p:nvSpPr>
          <p:cNvPr id="9" name="Text 7"/>
          <p:cNvSpPr/>
          <p:nvPr/>
        </p:nvSpPr>
        <p:spPr>
          <a:xfrm>
            <a:off x="777240" y="2971800"/>
            <a:ext cx="10789920" cy="731520"/>
          </a:xfrm>
          <a:prstGeom prst="rect">
            <a:avLst/>
          </a:prstGeom>
          <a:noFill/>
          <a:ln/>
        </p:spPr>
        <p:txBody>
          <a:bodyPr wrap="square" lIns="0" tIns="0" rIns="0" bIns="0" rtlCol="0" anchor="ctr"/>
          <a:lstStyle/>
          <a:p>
            <a:pPr indent="0" marL="0">
              <a:buNone/>
            </a:pPr>
            <a:r>
              <a:rPr lang="en-US" sz="1300" i="1" dirty="0">
                <a:solidFill>
                  <a:srgbClr val="334155"/>
                </a:solidFill>
                <a:latin typeface="Calibri" pitchFamily="34" charset="0"/>
                <a:ea typeface="Calibri" pitchFamily="34" charset="-122"/>
                <a:cs typeface="Calibri" pitchFamily="34" charset="-120"/>
              </a:rPr>
              <a:t>Three signals: it chooses next steps from observation, it produces side effects via tools, and it runs over multiple turns. Take any one of these away and the system collapses to something else on this list.</a:t>
            </a:r>
            <a:endParaRPr lang="en-US" sz="1300" dirty="0"/>
          </a:p>
        </p:txBody>
      </p:sp>
      <p:sp>
        <p:nvSpPr>
          <p:cNvPr id="10" name="Text 8"/>
          <p:cNvSpPr/>
          <p:nvPr/>
        </p:nvSpPr>
        <p:spPr>
          <a:xfrm>
            <a:off x="457200" y="4023360"/>
            <a:ext cx="10972800" cy="274320"/>
          </a:xfrm>
          <a:prstGeom prst="rect">
            <a:avLst/>
          </a:prstGeom>
          <a:noFill/>
          <a:ln/>
        </p:spPr>
        <p:txBody>
          <a:bodyPr wrap="square" lIns="0" tIns="0" rIns="0" bIns="0" rtlCol="0" anchor="ctr"/>
          <a:lstStyle/>
          <a:p>
            <a:pPr indent="0" marL="0">
              <a:buNone/>
            </a:pPr>
            <a:r>
              <a:rPr lang="en-US" sz="1000" b="1" spc="300" kern="0" dirty="0">
                <a:solidFill>
                  <a:srgbClr val="B45309"/>
                </a:solidFill>
                <a:latin typeface="Calibri" pitchFamily="34" charset="0"/>
                <a:ea typeface="Calibri" pitchFamily="34" charset="-122"/>
                <a:cs typeface="Calibri" pitchFamily="34" charset="-120"/>
              </a:rPr>
              <a:t>WHY THE OTHERS ARE NOT AGENTS</a:t>
            </a:r>
            <a:endParaRPr lang="en-US" sz="1000" dirty="0"/>
          </a:p>
        </p:txBody>
      </p:sp>
      <p:sp>
        <p:nvSpPr>
          <p:cNvPr id="11" name="Text 9"/>
          <p:cNvSpPr/>
          <p:nvPr/>
        </p:nvSpPr>
        <p:spPr>
          <a:xfrm>
            <a:off x="457200" y="4434840"/>
            <a:ext cx="365760" cy="411480"/>
          </a:xfrm>
          <a:prstGeom prst="rect">
            <a:avLst/>
          </a:prstGeom>
          <a:noFill/>
          <a:ln/>
        </p:spPr>
        <p:txBody>
          <a:bodyPr wrap="square" lIns="0" tIns="0" rIns="0" bIns="0" rtlCol="0" anchor="ctr"/>
          <a:lstStyle/>
          <a:p>
            <a:pPr indent="0" marL="0">
              <a:buNone/>
            </a:pPr>
            <a:r>
              <a:rPr lang="en-US" sz="1400" b="1" dirty="0">
                <a:solidFill>
                  <a:srgbClr val="B91C1C"/>
                </a:solidFill>
                <a:latin typeface="Georgia" pitchFamily="34" charset="0"/>
                <a:ea typeface="Georgia" pitchFamily="34" charset="-122"/>
                <a:cs typeface="Georgia" pitchFamily="34" charset="-120"/>
              </a:rPr>
              <a:t>A</a:t>
            </a:r>
            <a:endParaRPr lang="en-US" sz="1400" dirty="0"/>
          </a:p>
        </p:txBody>
      </p:sp>
      <p:sp>
        <p:nvSpPr>
          <p:cNvPr id="12" name="Text 10"/>
          <p:cNvSpPr/>
          <p:nvPr/>
        </p:nvSpPr>
        <p:spPr>
          <a:xfrm>
            <a:off x="868680" y="4434840"/>
            <a:ext cx="2103120" cy="41148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RAG chatbot</a:t>
            </a:r>
            <a:endParaRPr lang="en-US" sz="1300" dirty="0"/>
          </a:p>
        </p:txBody>
      </p:sp>
      <p:sp>
        <p:nvSpPr>
          <p:cNvPr id="13" name="Text 11"/>
          <p:cNvSpPr/>
          <p:nvPr/>
        </p:nvSpPr>
        <p:spPr>
          <a:xfrm>
            <a:off x="3108960" y="4434840"/>
            <a:ext cx="8595360" cy="41148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Single-turn retrieval and generation. No tool side effects, no multi-step loop.</a:t>
            </a:r>
            <a:endParaRPr lang="en-US" sz="1300" dirty="0"/>
          </a:p>
        </p:txBody>
      </p:sp>
      <p:sp>
        <p:nvSpPr>
          <p:cNvPr id="14" name="Text 12"/>
          <p:cNvSpPr/>
          <p:nvPr/>
        </p:nvSpPr>
        <p:spPr>
          <a:xfrm>
            <a:off x="457200" y="4983480"/>
            <a:ext cx="365760" cy="411480"/>
          </a:xfrm>
          <a:prstGeom prst="rect">
            <a:avLst/>
          </a:prstGeom>
          <a:noFill/>
          <a:ln/>
        </p:spPr>
        <p:txBody>
          <a:bodyPr wrap="square" lIns="0" tIns="0" rIns="0" bIns="0" rtlCol="0" anchor="ctr"/>
          <a:lstStyle/>
          <a:p>
            <a:pPr indent="0" marL="0">
              <a:buNone/>
            </a:pPr>
            <a:r>
              <a:rPr lang="en-US" sz="1400" b="1" dirty="0">
                <a:solidFill>
                  <a:srgbClr val="B91C1C"/>
                </a:solidFill>
                <a:latin typeface="Georgia" pitchFamily="34" charset="0"/>
                <a:ea typeface="Georgia" pitchFamily="34" charset="-122"/>
                <a:cs typeface="Georgia" pitchFamily="34" charset="-120"/>
              </a:rPr>
              <a:t>B</a:t>
            </a:r>
            <a:endParaRPr lang="en-US" sz="1400" dirty="0"/>
          </a:p>
        </p:txBody>
      </p:sp>
      <p:sp>
        <p:nvSpPr>
          <p:cNvPr id="15" name="Text 13"/>
          <p:cNvSpPr/>
          <p:nvPr/>
        </p:nvSpPr>
        <p:spPr>
          <a:xfrm>
            <a:off x="868680" y="4983480"/>
            <a:ext cx="2103120" cy="41148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Airflow DAG</a:t>
            </a:r>
            <a:endParaRPr lang="en-US" sz="1300" dirty="0"/>
          </a:p>
        </p:txBody>
      </p:sp>
      <p:sp>
        <p:nvSpPr>
          <p:cNvPr id="16" name="Text 14"/>
          <p:cNvSpPr/>
          <p:nvPr/>
        </p:nvSpPr>
        <p:spPr>
          <a:xfrm>
            <a:off x="3108960" y="4983480"/>
            <a:ext cx="8595360" cy="41148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Multi-step but the path is author-decided, not LLM-decided. Workflow, not agent.</a:t>
            </a:r>
            <a:endParaRPr lang="en-US" sz="1300" dirty="0"/>
          </a:p>
        </p:txBody>
      </p:sp>
      <p:sp>
        <p:nvSpPr>
          <p:cNvPr id="17" name="Text 15"/>
          <p:cNvSpPr/>
          <p:nvPr/>
        </p:nvSpPr>
        <p:spPr>
          <a:xfrm>
            <a:off x="457200" y="5532120"/>
            <a:ext cx="365760" cy="411480"/>
          </a:xfrm>
          <a:prstGeom prst="rect">
            <a:avLst/>
          </a:prstGeom>
          <a:noFill/>
          <a:ln/>
        </p:spPr>
        <p:txBody>
          <a:bodyPr wrap="square" lIns="0" tIns="0" rIns="0" bIns="0" rtlCol="0" anchor="ctr"/>
          <a:lstStyle/>
          <a:p>
            <a:pPr indent="0" marL="0">
              <a:buNone/>
            </a:pPr>
            <a:r>
              <a:rPr lang="en-US" sz="1400" b="1" dirty="0">
                <a:solidFill>
                  <a:srgbClr val="B91C1C"/>
                </a:solidFill>
                <a:latin typeface="Georgia" pitchFamily="34" charset="0"/>
                <a:ea typeface="Georgia" pitchFamily="34" charset="-122"/>
                <a:cs typeface="Georgia" pitchFamily="34" charset="-120"/>
              </a:rPr>
              <a:t>D</a:t>
            </a:r>
            <a:endParaRPr lang="en-US" sz="1400" dirty="0"/>
          </a:p>
        </p:txBody>
      </p:sp>
      <p:sp>
        <p:nvSpPr>
          <p:cNvPr id="18" name="Text 16"/>
          <p:cNvSpPr/>
          <p:nvPr/>
        </p:nvSpPr>
        <p:spPr>
          <a:xfrm>
            <a:off x="868680" y="5532120"/>
            <a:ext cx="2103120" cy="41148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Form with Claude</a:t>
            </a:r>
            <a:endParaRPr lang="en-US" sz="1300" dirty="0"/>
          </a:p>
        </p:txBody>
      </p:sp>
      <p:sp>
        <p:nvSpPr>
          <p:cNvPr id="19" name="Text 17"/>
          <p:cNvSpPr/>
          <p:nvPr/>
        </p:nvSpPr>
        <p:spPr>
          <a:xfrm>
            <a:off x="3108960" y="5532120"/>
            <a:ext cx="8595360" cy="41148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Single LLM call inside a deterministic UI. No autonomy over next step.</a:t>
            </a:r>
            <a:endParaRPr lang="en-US" sz="1300" dirty="0"/>
          </a:p>
        </p:txBody>
      </p:sp>
      <p:sp>
        <p:nvSpPr>
          <p:cNvPr id="20" name="Shape 18"/>
          <p:cNvSpPr/>
          <p:nvPr/>
        </p:nvSpPr>
        <p:spPr>
          <a:xfrm>
            <a:off x="457200" y="6446520"/>
            <a:ext cx="11274552" cy="0"/>
          </a:xfrm>
          <a:prstGeom prst="line">
            <a:avLst/>
          </a:prstGeom>
          <a:noFill/>
          <a:ln w="6350">
            <a:solidFill>
              <a:srgbClr val="E2E8F0"/>
            </a:solidFill>
            <a:prstDash val="solid"/>
          </a:ln>
        </p:spPr>
      </p:sp>
      <p:sp>
        <p:nvSpPr>
          <p:cNvPr id="21" name="Text 19"/>
          <p:cNvSpPr/>
          <p:nvPr/>
        </p:nvSpPr>
        <p:spPr>
          <a:xfrm>
            <a:off x="457200" y="6537960"/>
            <a:ext cx="914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04</a:t>
            </a:r>
            <a:endParaRPr lang="en-US" sz="900" dirty="0"/>
          </a:p>
        </p:txBody>
      </p:sp>
      <p:sp>
        <p:nvSpPr>
          <p:cNvPr id="22" name="Text 20"/>
          <p:cNvSpPr/>
          <p:nvPr/>
        </p:nvSpPr>
        <p:spPr>
          <a:xfrm>
            <a:off x="5943600" y="6537960"/>
            <a:ext cx="5788152" cy="228600"/>
          </a:xfrm>
          <a:prstGeom prst="rect">
            <a:avLst/>
          </a:prstGeom>
          <a:noFill/>
          <a:ln/>
        </p:spPr>
        <p:txBody>
          <a:bodyPr wrap="square" lIns="0" tIns="0" rIns="0" bIns="0" rtlCol="0" anchor="ctr"/>
          <a:lstStyle/>
          <a:p>
            <a:pPr algn="r" indent="0" marL="0">
              <a:buNone/>
            </a:pPr>
            <a:r>
              <a:rPr lang="en-US" sz="900" i="1" dirty="0">
                <a:solidFill>
                  <a:srgbClr val="94A3B8"/>
                </a:solidFill>
                <a:latin typeface="Calibri" pitchFamily="34" charset="0"/>
                <a:ea typeface="Calibri" pitchFamily="34" charset="-122"/>
                <a:cs typeface="Calibri" pitchFamily="34" charset="-120"/>
              </a:rPr>
              <a:t>Agentic Foundations · Half 1</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4552" cy="274320"/>
          </a:xfrm>
          <a:prstGeom prst="rect">
            <a:avLst/>
          </a:prstGeom>
          <a:noFill/>
          <a:ln/>
        </p:spPr>
        <p:txBody>
          <a:bodyPr wrap="square" lIns="0" tIns="0" rIns="0" bIns="0" rtlCol="0" anchor="ctr"/>
          <a:lstStyle/>
          <a:p>
            <a:pPr indent="0" marL="0">
              <a:buNone/>
            </a:pPr>
            <a:r>
              <a:rPr lang="en-US" sz="1000" b="1" spc="400" kern="0" dirty="0">
                <a:solidFill>
                  <a:srgbClr val="B45309"/>
                </a:solidFill>
                <a:latin typeface="Calibri" pitchFamily="34" charset="0"/>
                <a:ea typeface="Calibri" pitchFamily="34" charset="-122"/>
                <a:cs typeface="Calibri" pitchFamily="34" charset="-120"/>
              </a:rPr>
              <a:t>QUIZ · QUESTION 2 OF 5</a:t>
            </a:r>
            <a:endParaRPr lang="en-US" sz="1000" dirty="0"/>
          </a:p>
        </p:txBody>
      </p:sp>
      <p:sp>
        <p:nvSpPr>
          <p:cNvPr id="3" name="Text 1"/>
          <p:cNvSpPr/>
          <p:nvPr/>
        </p:nvSpPr>
        <p:spPr>
          <a:xfrm>
            <a:off x="457200" y="777240"/>
            <a:ext cx="11274552"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What separates an LLM from an agent?</a:t>
            </a:r>
            <a:endParaRPr lang="en-US" sz="2800" dirty="0"/>
          </a:p>
        </p:txBody>
      </p:sp>
      <p:sp>
        <p:nvSpPr>
          <p:cNvPr id="4" name="Shape 2"/>
          <p:cNvSpPr/>
          <p:nvPr/>
        </p:nvSpPr>
        <p:spPr>
          <a:xfrm>
            <a:off x="457200" y="2057400"/>
            <a:ext cx="11274552" cy="0"/>
          </a:xfrm>
          <a:prstGeom prst="line">
            <a:avLst/>
          </a:prstGeom>
          <a:noFill/>
          <a:ln w="6350">
            <a:solidFill>
              <a:srgbClr val="E2E8F0"/>
            </a:solidFill>
            <a:prstDash val="solid"/>
          </a:ln>
        </p:spPr>
      </p:sp>
      <p:sp>
        <p:nvSpPr>
          <p:cNvPr id="5" name="Shape 3"/>
          <p:cNvSpPr/>
          <p:nvPr/>
        </p:nvSpPr>
        <p:spPr>
          <a:xfrm>
            <a:off x="457200" y="2468880"/>
            <a:ext cx="640080" cy="640080"/>
          </a:xfrm>
          <a:prstGeom prst="rect">
            <a:avLst/>
          </a:prstGeom>
          <a:solidFill>
            <a:srgbClr val="F8FAFC"/>
          </a:solidFill>
          <a:ln w="12700">
            <a:solidFill>
              <a:srgbClr val="E2E8F0"/>
            </a:solidFill>
            <a:prstDash val="solid"/>
          </a:ln>
        </p:spPr>
      </p:sp>
      <p:sp>
        <p:nvSpPr>
          <p:cNvPr id="6" name="Text 4"/>
          <p:cNvSpPr/>
          <p:nvPr/>
        </p:nvSpPr>
        <p:spPr>
          <a:xfrm>
            <a:off x="457200" y="2468880"/>
            <a:ext cx="640080" cy="640080"/>
          </a:xfrm>
          <a:prstGeom prst="rect">
            <a:avLst/>
          </a:prstGeom>
          <a:noFill/>
          <a:ln/>
        </p:spPr>
        <p:txBody>
          <a:bodyPr wrap="square" lIns="0" tIns="0" rIns="0" bIns="0" rtlCol="0" anchor="ctr"/>
          <a:lstStyle/>
          <a:p>
            <a:pPr algn="ctr" indent="0" marL="0">
              <a:buNone/>
            </a:pPr>
            <a:r>
              <a:rPr lang="en-US" sz="2200" b="1" dirty="0">
                <a:solidFill>
                  <a:srgbClr val="B45309"/>
                </a:solidFill>
                <a:latin typeface="Georgia" pitchFamily="34" charset="0"/>
                <a:ea typeface="Georgia" pitchFamily="34" charset="-122"/>
                <a:cs typeface="Georgia" pitchFamily="34" charset="-120"/>
              </a:rPr>
              <a:t>A</a:t>
            </a:r>
            <a:endParaRPr lang="en-US" sz="2200" dirty="0"/>
          </a:p>
        </p:txBody>
      </p:sp>
      <p:sp>
        <p:nvSpPr>
          <p:cNvPr id="7" name="Text 5"/>
          <p:cNvSpPr/>
          <p:nvPr/>
        </p:nvSpPr>
        <p:spPr>
          <a:xfrm>
            <a:off x="1280160" y="2560320"/>
            <a:ext cx="10424160" cy="457200"/>
          </a:xfrm>
          <a:prstGeom prst="rect">
            <a:avLst/>
          </a:prstGeom>
          <a:noFill/>
          <a:ln/>
        </p:spPr>
        <p:txBody>
          <a:bodyPr wrap="square" lIns="0" tIns="0" rIns="0" bIns="0" rtlCol="0" anchor="ctr"/>
          <a:lstStyle/>
          <a:p>
            <a:pPr indent="0" marL="0">
              <a:buNone/>
            </a:pPr>
            <a:r>
              <a:rPr lang="en-US" sz="1600" dirty="0">
                <a:solidFill>
                  <a:srgbClr val="0F172A"/>
                </a:solidFill>
                <a:latin typeface="Calibri" pitchFamily="34" charset="0"/>
                <a:ea typeface="Calibri" pitchFamily="34" charset="-122"/>
                <a:cs typeface="Calibri" pitchFamily="34" charset="-120"/>
              </a:rPr>
              <a:t>Model size and number of parameters</a:t>
            </a:r>
            <a:endParaRPr lang="en-US" sz="1600" dirty="0"/>
          </a:p>
        </p:txBody>
      </p:sp>
      <p:sp>
        <p:nvSpPr>
          <p:cNvPr id="8" name="Shape 6"/>
          <p:cNvSpPr/>
          <p:nvPr/>
        </p:nvSpPr>
        <p:spPr>
          <a:xfrm>
            <a:off x="457200" y="3337560"/>
            <a:ext cx="640080" cy="640080"/>
          </a:xfrm>
          <a:prstGeom prst="rect">
            <a:avLst/>
          </a:prstGeom>
          <a:solidFill>
            <a:srgbClr val="F8FAFC"/>
          </a:solidFill>
          <a:ln w="12700">
            <a:solidFill>
              <a:srgbClr val="E2E8F0"/>
            </a:solidFill>
            <a:prstDash val="solid"/>
          </a:ln>
        </p:spPr>
      </p:sp>
      <p:sp>
        <p:nvSpPr>
          <p:cNvPr id="9" name="Text 7"/>
          <p:cNvSpPr/>
          <p:nvPr/>
        </p:nvSpPr>
        <p:spPr>
          <a:xfrm>
            <a:off x="457200" y="3337560"/>
            <a:ext cx="640080" cy="640080"/>
          </a:xfrm>
          <a:prstGeom prst="rect">
            <a:avLst/>
          </a:prstGeom>
          <a:noFill/>
          <a:ln/>
        </p:spPr>
        <p:txBody>
          <a:bodyPr wrap="square" lIns="0" tIns="0" rIns="0" bIns="0" rtlCol="0" anchor="ctr"/>
          <a:lstStyle/>
          <a:p>
            <a:pPr algn="ctr" indent="0" marL="0">
              <a:buNone/>
            </a:pPr>
            <a:r>
              <a:rPr lang="en-US" sz="2200" b="1" dirty="0">
                <a:solidFill>
                  <a:srgbClr val="B45309"/>
                </a:solidFill>
                <a:latin typeface="Georgia" pitchFamily="34" charset="0"/>
                <a:ea typeface="Georgia" pitchFamily="34" charset="-122"/>
                <a:cs typeface="Georgia" pitchFamily="34" charset="-120"/>
              </a:rPr>
              <a:t>B</a:t>
            </a:r>
            <a:endParaRPr lang="en-US" sz="2200" dirty="0"/>
          </a:p>
        </p:txBody>
      </p:sp>
      <p:sp>
        <p:nvSpPr>
          <p:cNvPr id="10" name="Text 8"/>
          <p:cNvSpPr/>
          <p:nvPr/>
        </p:nvSpPr>
        <p:spPr>
          <a:xfrm>
            <a:off x="1280160" y="3429000"/>
            <a:ext cx="10424160" cy="457200"/>
          </a:xfrm>
          <a:prstGeom prst="rect">
            <a:avLst/>
          </a:prstGeom>
          <a:noFill/>
          <a:ln/>
        </p:spPr>
        <p:txBody>
          <a:bodyPr wrap="square" lIns="0" tIns="0" rIns="0" bIns="0" rtlCol="0" anchor="ctr"/>
          <a:lstStyle/>
          <a:p>
            <a:pPr indent="0" marL="0">
              <a:buNone/>
            </a:pPr>
            <a:r>
              <a:rPr lang="en-US" sz="1600" dirty="0">
                <a:solidFill>
                  <a:srgbClr val="0F172A"/>
                </a:solidFill>
                <a:latin typeface="Calibri" pitchFamily="34" charset="0"/>
                <a:ea typeface="Calibri" pitchFamily="34" charset="-122"/>
                <a:cs typeface="Calibri" pitchFamily="34" charset="-120"/>
              </a:rPr>
              <a:t>Context window length</a:t>
            </a:r>
            <a:endParaRPr lang="en-US" sz="1600" dirty="0"/>
          </a:p>
        </p:txBody>
      </p:sp>
      <p:sp>
        <p:nvSpPr>
          <p:cNvPr id="11" name="Shape 9"/>
          <p:cNvSpPr/>
          <p:nvPr/>
        </p:nvSpPr>
        <p:spPr>
          <a:xfrm>
            <a:off x="457200" y="4206240"/>
            <a:ext cx="640080" cy="640080"/>
          </a:xfrm>
          <a:prstGeom prst="rect">
            <a:avLst/>
          </a:prstGeom>
          <a:solidFill>
            <a:srgbClr val="F8FAFC"/>
          </a:solidFill>
          <a:ln w="12700">
            <a:solidFill>
              <a:srgbClr val="E2E8F0"/>
            </a:solidFill>
            <a:prstDash val="solid"/>
          </a:ln>
        </p:spPr>
      </p:sp>
      <p:sp>
        <p:nvSpPr>
          <p:cNvPr id="12" name="Text 10"/>
          <p:cNvSpPr/>
          <p:nvPr/>
        </p:nvSpPr>
        <p:spPr>
          <a:xfrm>
            <a:off x="457200" y="4206240"/>
            <a:ext cx="640080" cy="640080"/>
          </a:xfrm>
          <a:prstGeom prst="rect">
            <a:avLst/>
          </a:prstGeom>
          <a:noFill/>
          <a:ln/>
        </p:spPr>
        <p:txBody>
          <a:bodyPr wrap="square" lIns="0" tIns="0" rIns="0" bIns="0" rtlCol="0" anchor="ctr"/>
          <a:lstStyle/>
          <a:p>
            <a:pPr algn="ctr" indent="0" marL="0">
              <a:buNone/>
            </a:pPr>
            <a:r>
              <a:rPr lang="en-US" sz="2200" b="1" dirty="0">
                <a:solidFill>
                  <a:srgbClr val="B45309"/>
                </a:solidFill>
                <a:latin typeface="Georgia" pitchFamily="34" charset="0"/>
                <a:ea typeface="Georgia" pitchFamily="34" charset="-122"/>
                <a:cs typeface="Georgia" pitchFamily="34" charset="-120"/>
              </a:rPr>
              <a:t>C</a:t>
            </a:r>
            <a:endParaRPr lang="en-US" sz="2200" dirty="0"/>
          </a:p>
        </p:txBody>
      </p:sp>
      <p:sp>
        <p:nvSpPr>
          <p:cNvPr id="13" name="Text 11"/>
          <p:cNvSpPr/>
          <p:nvPr/>
        </p:nvSpPr>
        <p:spPr>
          <a:xfrm>
            <a:off x="1280160" y="4297680"/>
            <a:ext cx="10424160" cy="457200"/>
          </a:xfrm>
          <a:prstGeom prst="rect">
            <a:avLst/>
          </a:prstGeom>
          <a:noFill/>
          <a:ln/>
        </p:spPr>
        <p:txBody>
          <a:bodyPr wrap="square" lIns="0" tIns="0" rIns="0" bIns="0" rtlCol="0" anchor="ctr"/>
          <a:lstStyle/>
          <a:p>
            <a:pPr indent="0" marL="0">
              <a:buNone/>
            </a:pPr>
            <a:r>
              <a:rPr lang="en-US" sz="1600" dirty="0">
                <a:solidFill>
                  <a:srgbClr val="0F172A"/>
                </a:solidFill>
                <a:latin typeface="Calibri" pitchFamily="34" charset="0"/>
                <a:ea typeface="Calibri" pitchFamily="34" charset="-122"/>
                <a:cs typeface="Calibri" pitchFamily="34" charset="-120"/>
              </a:rPr>
              <a:t>Multi-step decision-making with side effects</a:t>
            </a:r>
            <a:endParaRPr lang="en-US" sz="1600" dirty="0"/>
          </a:p>
        </p:txBody>
      </p:sp>
      <p:sp>
        <p:nvSpPr>
          <p:cNvPr id="14" name="Shape 12"/>
          <p:cNvSpPr/>
          <p:nvPr/>
        </p:nvSpPr>
        <p:spPr>
          <a:xfrm>
            <a:off x="457200" y="5074920"/>
            <a:ext cx="640080" cy="640080"/>
          </a:xfrm>
          <a:prstGeom prst="rect">
            <a:avLst/>
          </a:prstGeom>
          <a:solidFill>
            <a:srgbClr val="F8FAFC"/>
          </a:solidFill>
          <a:ln w="12700">
            <a:solidFill>
              <a:srgbClr val="E2E8F0"/>
            </a:solidFill>
            <a:prstDash val="solid"/>
          </a:ln>
        </p:spPr>
      </p:sp>
      <p:sp>
        <p:nvSpPr>
          <p:cNvPr id="15" name="Text 13"/>
          <p:cNvSpPr/>
          <p:nvPr/>
        </p:nvSpPr>
        <p:spPr>
          <a:xfrm>
            <a:off x="457200" y="5074920"/>
            <a:ext cx="640080" cy="640080"/>
          </a:xfrm>
          <a:prstGeom prst="rect">
            <a:avLst/>
          </a:prstGeom>
          <a:noFill/>
          <a:ln/>
        </p:spPr>
        <p:txBody>
          <a:bodyPr wrap="square" lIns="0" tIns="0" rIns="0" bIns="0" rtlCol="0" anchor="ctr"/>
          <a:lstStyle/>
          <a:p>
            <a:pPr algn="ctr" indent="0" marL="0">
              <a:buNone/>
            </a:pPr>
            <a:r>
              <a:rPr lang="en-US" sz="2200" b="1" dirty="0">
                <a:solidFill>
                  <a:srgbClr val="B45309"/>
                </a:solidFill>
                <a:latin typeface="Georgia" pitchFamily="34" charset="0"/>
                <a:ea typeface="Georgia" pitchFamily="34" charset="-122"/>
                <a:cs typeface="Georgia" pitchFamily="34" charset="-120"/>
              </a:rPr>
              <a:t>D</a:t>
            </a:r>
            <a:endParaRPr lang="en-US" sz="2200" dirty="0"/>
          </a:p>
        </p:txBody>
      </p:sp>
      <p:sp>
        <p:nvSpPr>
          <p:cNvPr id="16" name="Text 14"/>
          <p:cNvSpPr/>
          <p:nvPr/>
        </p:nvSpPr>
        <p:spPr>
          <a:xfrm>
            <a:off x="1280160" y="5166360"/>
            <a:ext cx="10424160" cy="457200"/>
          </a:xfrm>
          <a:prstGeom prst="rect">
            <a:avLst/>
          </a:prstGeom>
          <a:noFill/>
          <a:ln/>
        </p:spPr>
        <p:txBody>
          <a:bodyPr wrap="square" lIns="0" tIns="0" rIns="0" bIns="0" rtlCol="0" anchor="ctr"/>
          <a:lstStyle/>
          <a:p>
            <a:pPr indent="0" marL="0">
              <a:buNone/>
            </a:pPr>
            <a:r>
              <a:rPr lang="en-US" sz="1600" dirty="0">
                <a:solidFill>
                  <a:srgbClr val="0F172A"/>
                </a:solidFill>
                <a:latin typeface="Calibri" pitchFamily="34" charset="0"/>
                <a:ea typeface="Calibri" pitchFamily="34" charset="-122"/>
                <a:cs typeface="Calibri" pitchFamily="34" charset="-120"/>
              </a:rPr>
              <a:t>Inference speed</a:t>
            </a:r>
            <a:endParaRPr lang="en-US" sz="1600" dirty="0"/>
          </a:p>
        </p:txBody>
      </p:sp>
      <p:sp>
        <p:nvSpPr>
          <p:cNvPr id="17" name="Shape 15"/>
          <p:cNvSpPr/>
          <p:nvPr/>
        </p:nvSpPr>
        <p:spPr>
          <a:xfrm>
            <a:off x="457200" y="6446520"/>
            <a:ext cx="11274552" cy="0"/>
          </a:xfrm>
          <a:prstGeom prst="line">
            <a:avLst/>
          </a:prstGeom>
          <a:noFill/>
          <a:ln w="6350">
            <a:solidFill>
              <a:srgbClr val="E2E8F0"/>
            </a:solidFill>
            <a:prstDash val="solid"/>
          </a:ln>
        </p:spPr>
      </p:sp>
      <p:sp>
        <p:nvSpPr>
          <p:cNvPr id="18" name="Text 16"/>
          <p:cNvSpPr/>
          <p:nvPr/>
        </p:nvSpPr>
        <p:spPr>
          <a:xfrm>
            <a:off x="457200" y="6537960"/>
            <a:ext cx="914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05</a:t>
            </a:r>
            <a:endParaRPr lang="en-US" sz="900" dirty="0"/>
          </a:p>
        </p:txBody>
      </p:sp>
      <p:sp>
        <p:nvSpPr>
          <p:cNvPr id="19" name="Text 17"/>
          <p:cNvSpPr/>
          <p:nvPr/>
        </p:nvSpPr>
        <p:spPr>
          <a:xfrm>
            <a:off x="5943600" y="6537960"/>
            <a:ext cx="5788152" cy="228600"/>
          </a:xfrm>
          <a:prstGeom prst="rect">
            <a:avLst/>
          </a:prstGeom>
          <a:noFill/>
          <a:ln/>
        </p:spPr>
        <p:txBody>
          <a:bodyPr wrap="square" lIns="0" tIns="0" rIns="0" bIns="0" rtlCol="0" anchor="ctr"/>
          <a:lstStyle/>
          <a:p>
            <a:pPr algn="r" indent="0" marL="0">
              <a:buNone/>
            </a:pPr>
            <a:r>
              <a:rPr lang="en-US" sz="900" i="1" dirty="0">
                <a:solidFill>
                  <a:srgbClr val="94A3B8"/>
                </a:solidFill>
                <a:latin typeface="Calibri" pitchFamily="34" charset="0"/>
                <a:ea typeface="Calibri" pitchFamily="34" charset="-122"/>
                <a:cs typeface="Calibri" pitchFamily="34" charset="-120"/>
              </a:rPr>
              <a:t>Agentic Foundations · Half 1</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4552" cy="274320"/>
          </a:xfrm>
          <a:prstGeom prst="rect">
            <a:avLst/>
          </a:prstGeom>
          <a:noFill/>
          <a:ln/>
        </p:spPr>
        <p:txBody>
          <a:bodyPr wrap="square" lIns="0" tIns="0" rIns="0" bIns="0" rtlCol="0" anchor="ctr"/>
          <a:lstStyle/>
          <a:p>
            <a:pPr indent="0" marL="0">
              <a:buNone/>
            </a:pPr>
            <a:r>
              <a:rPr lang="en-US" sz="1000" b="1" spc="400" kern="0" dirty="0">
                <a:solidFill>
                  <a:srgbClr val="B45309"/>
                </a:solidFill>
                <a:latin typeface="Calibri" pitchFamily="34" charset="0"/>
                <a:ea typeface="Calibri" pitchFamily="34" charset="-122"/>
                <a:cs typeface="Calibri" pitchFamily="34" charset="-120"/>
              </a:rPr>
              <a:t>QUIZ · ANSWER 2 OF 5</a:t>
            </a:r>
            <a:endParaRPr lang="en-US" sz="1000" dirty="0"/>
          </a:p>
        </p:txBody>
      </p:sp>
      <p:sp>
        <p:nvSpPr>
          <p:cNvPr id="3" name="Text 1"/>
          <p:cNvSpPr/>
          <p:nvPr/>
        </p:nvSpPr>
        <p:spPr>
          <a:xfrm>
            <a:off x="457200" y="777240"/>
            <a:ext cx="11274552"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Answer: C</a:t>
            </a:r>
            <a:endParaRPr lang="en-US" sz="2800" dirty="0"/>
          </a:p>
        </p:txBody>
      </p:sp>
      <p:sp>
        <p:nvSpPr>
          <p:cNvPr id="4" name="Text 2"/>
          <p:cNvSpPr/>
          <p:nvPr/>
        </p:nvSpPr>
        <p:spPr>
          <a:xfrm>
            <a:off x="457200" y="1554480"/>
            <a:ext cx="11274552"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Capability differences are about what the system can do, not how big the model is.</a:t>
            </a:r>
            <a:endParaRPr lang="en-US" sz="1400" dirty="0"/>
          </a:p>
        </p:txBody>
      </p:sp>
      <p:sp>
        <p:nvSpPr>
          <p:cNvPr id="5" name="Shape 3"/>
          <p:cNvSpPr/>
          <p:nvPr/>
        </p:nvSpPr>
        <p:spPr>
          <a:xfrm>
            <a:off x="457200" y="2057400"/>
            <a:ext cx="11274552" cy="0"/>
          </a:xfrm>
          <a:prstGeom prst="line">
            <a:avLst/>
          </a:prstGeom>
          <a:noFill/>
          <a:ln w="6350">
            <a:solidFill>
              <a:srgbClr val="E2E8F0"/>
            </a:solidFill>
            <a:prstDash val="solid"/>
          </a:ln>
        </p:spPr>
      </p:sp>
      <p:sp>
        <p:nvSpPr>
          <p:cNvPr id="6" name="Shape 4"/>
          <p:cNvSpPr/>
          <p:nvPr/>
        </p:nvSpPr>
        <p:spPr>
          <a:xfrm>
            <a:off x="457200" y="2377440"/>
            <a:ext cx="11274552" cy="1280160"/>
          </a:xfrm>
          <a:prstGeom prst="rect">
            <a:avLst/>
          </a:prstGeom>
          <a:solidFill>
            <a:srgbClr val="FEF3C7"/>
          </a:solidFill>
          <a:ln w="12700">
            <a:solidFill>
              <a:srgbClr val="FEF3C7"/>
            </a:solidFill>
            <a:prstDash val="solid"/>
          </a:ln>
        </p:spPr>
      </p:sp>
      <p:sp>
        <p:nvSpPr>
          <p:cNvPr id="7" name="Shape 5"/>
          <p:cNvSpPr/>
          <p:nvPr/>
        </p:nvSpPr>
        <p:spPr>
          <a:xfrm>
            <a:off x="457200" y="2377440"/>
            <a:ext cx="73152" cy="1280160"/>
          </a:xfrm>
          <a:prstGeom prst="rect">
            <a:avLst/>
          </a:prstGeom>
          <a:solidFill>
            <a:srgbClr val="B45309"/>
          </a:solidFill>
          <a:ln w="12700">
            <a:solidFill>
              <a:srgbClr val="B45309"/>
            </a:solidFill>
            <a:prstDash val="solid"/>
          </a:ln>
        </p:spPr>
      </p:sp>
      <p:sp>
        <p:nvSpPr>
          <p:cNvPr id="8" name="Text 6"/>
          <p:cNvSpPr/>
          <p:nvPr/>
        </p:nvSpPr>
        <p:spPr>
          <a:xfrm>
            <a:off x="777240" y="2514600"/>
            <a:ext cx="10789920" cy="457200"/>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C — Multi-step decision-making with side effects.</a:t>
            </a:r>
            <a:endParaRPr lang="en-US" sz="1800" dirty="0"/>
          </a:p>
        </p:txBody>
      </p:sp>
      <p:sp>
        <p:nvSpPr>
          <p:cNvPr id="9" name="Text 7"/>
          <p:cNvSpPr/>
          <p:nvPr/>
        </p:nvSpPr>
        <p:spPr>
          <a:xfrm>
            <a:off x="777240" y="3017520"/>
            <a:ext cx="10789920" cy="640080"/>
          </a:xfrm>
          <a:prstGeom prst="rect">
            <a:avLst/>
          </a:prstGeom>
          <a:noFill/>
          <a:ln/>
        </p:spPr>
        <p:txBody>
          <a:bodyPr wrap="square" lIns="0" tIns="0" rIns="0" bIns="0" rtlCol="0" anchor="ctr"/>
          <a:lstStyle/>
          <a:p>
            <a:pPr indent="0" marL="0">
              <a:buNone/>
            </a:pPr>
            <a:r>
              <a:rPr lang="en-US" sz="1300" i="1" dirty="0">
                <a:solidFill>
                  <a:srgbClr val="334155"/>
                </a:solidFill>
                <a:latin typeface="Calibri" pitchFamily="34" charset="0"/>
                <a:ea typeface="Calibri" pitchFamily="34" charset="-122"/>
                <a:cs typeface="Calibri" pitchFamily="34" charset="-120"/>
              </a:rPr>
              <a:t>A small model orchestrating tool calls is more agentic than a giant model answering one question. Capability comes from architecture, not parameter count.</a:t>
            </a:r>
            <a:endParaRPr lang="en-US" sz="1300" dirty="0"/>
          </a:p>
        </p:txBody>
      </p:sp>
      <p:sp>
        <p:nvSpPr>
          <p:cNvPr id="10" name="Shape 8"/>
          <p:cNvSpPr/>
          <p:nvPr/>
        </p:nvSpPr>
        <p:spPr>
          <a:xfrm>
            <a:off x="457200" y="4023360"/>
            <a:ext cx="5486400" cy="0"/>
          </a:xfrm>
          <a:prstGeom prst="line">
            <a:avLst/>
          </a:prstGeom>
          <a:noFill/>
          <a:ln w="19050">
            <a:solidFill>
              <a:srgbClr val="64748B"/>
            </a:solidFill>
            <a:prstDash val="solid"/>
          </a:ln>
        </p:spPr>
      </p:sp>
      <p:sp>
        <p:nvSpPr>
          <p:cNvPr id="11" name="Text 9"/>
          <p:cNvSpPr/>
          <p:nvPr/>
        </p:nvSpPr>
        <p:spPr>
          <a:xfrm>
            <a:off x="457200" y="4114800"/>
            <a:ext cx="5486400" cy="320040"/>
          </a:xfrm>
          <a:prstGeom prst="rect">
            <a:avLst/>
          </a:prstGeom>
          <a:noFill/>
          <a:ln/>
        </p:spPr>
        <p:txBody>
          <a:bodyPr wrap="square" lIns="0" tIns="0" rIns="0" bIns="0" rtlCol="0" anchor="ctr"/>
          <a:lstStyle/>
          <a:p>
            <a:pPr indent="0" marL="0">
              <a:buNone/>
            </a:pPr>
            <a:r>
              <a:rPr lang="en-US" sz="1100" b="1" spc="300" kern="0" dirty="0">
                <a:solidFill>
                  <a:srgbClr val="64748B"/>
                </a:solidFill>
                <a:latin typeface="Calibri" pitchFamily="34" charset="0"/>
                <a:ea typeface="Calibri" pitchFamily="34" charset="-122"/>
                <a:cs typeface="Calibri" pitchFamily="34" charset="-120"/>
              </a:rPr>
              <a:t>AN LLM</a:t>
            </a:r>
            <a:endParaRPr lang="en-US" sz="1100" dirty="0"/>
          </a:p>
        </p:txBody>
      </p:sp>
      <p:sp>
        <p:nvSpPr>
          <p:cNvPr id="12" name="Text 10"/>
          <p:cNvSpPr/>
          <p:nvPr/>
        </p:nvSpPr>
        <p:spPr>
          <a:xfrm>
            <a:off x="457200" y="4526280"/>
            <a:ext cx="5486400" cy="1783080"/>
          </a:xfrm>
          <a:prstGeom prst="rect">
            <a:avLst/>
          </a:prstGeom>
          <a:noFill/>
          <a:ln/>
        </p:spPr>
        <p:txBody>
          <a:bodyPr wrap="square" lIns="0" tIns="0" rIns="0" bIns="0" rtlCol="0" anchor="ctr"/>
          <a:lstStyle/>
          <a:p>
            <a:pPr marL="342900" indent="-342900">
              <a:spcAft>
                <a:spcPts val="400"/>
              </a:spcAft>
              <a:buSzPct val="100000"/>
              <a:buChar char="—"/>
            </a:pPr>
            <a:r>
              <a:rPr lang="en-US" sz="1300" dirty="0">
                <a:solidFill>
                  <a:srgbClr val="0F172A"/>
                </a:solidFill>
                <a:latin typeface="Calibri" pitchFamily="34" charset="0"/>
                <a:ea typeface="Calibri" pitchFamily="34" charset="-122"/>
                <a:cs typeface="Calibri" pitchFamily="34" charset="-120"/>
              </a:rPr>
              <a:t>Single inference per call</a:t>
            </a:r>
            <a:endParaRPr lang="en-US" sz="1300" dirty="0"/>
          </a:p>
          <a:p>
            <a:pPr marL="342900" indent="-342900">
              <a:spcAft>
                <a:spcPts val="400"/>
              </a:spcAft>
              <a:buSzPct val="100000"/>
              <a:buChar char="—"/>
            </a:pPr>
            <a:r>
              <a:rPr lang="en-US" sz="1300" dirty="0">
                <a:solidFill>
                  <a:srgbClr val="0F172A"/>
                </a:solidFill>
                <a:latin typeface="Calibri" pitchFamily="34" charset="0"/>
                <a:ea typeface="Calibri" pitchFamily="34" charset="-122"/>
                <a:cs typeface="Calibri" pitchFamily="34" charset="-120"/>
              </a:rPr>
              <a:t>Output is text or structured text</a:t>
            </a:r>
            <a:endParaRPr lang="en-US" sz="1300" dirty="0"/>
          </a:p>
          <a:p>
            <a:pPr marL="342900" indent="-342900">
              <a:spcAft>
                <a:spcPts val="400"/>
              </a:spcAft>
              <a:buSzPct val="100000"/>
              <a:buChar char="—"/>
            </a:pPr>
            <a:r>
              <a:rPr lang="en-US" sz="1300" dirty="0">
                <a:solidFill>
                  <a:srgbClr val="0F172A"/>
                </a:solidFill>
                <a:latin typeface="Calibri" pitchFamily="34" charset="0"/>
                <a:ea typeface="Calibri" pitchFamily="34" charset="-122"/>
                <a:cs typeface="Calibri" pitchFamily="34" charset="-120"/>
              </a:rPr>
              <a:t>No persistent state between calls</a:t>
            </a:r>
            <a:endParaRPr lang="en-US" sz="1300" dirty="0"/>
          </a:p>
          <a:p>
            <a:pPr marL="342900" indent="-342900">
              <a:spcAft>
                <a:spcPts val="400"/>
              </a:spcAft>
              <a:buSzPct val="100000"/>
              <a:buChar char="—"/>
            </a:pPr>
            <a:r>
              <a:rPr lang="en-US" sz="1300" dirty="0">
                <a:solidFill>
                  <a:srgbClr val="0F172A"/>
                </a:solidFill>
                <a:latin typeface="Calibri" pitchFamily="34" charset="0"/>
                <a:ea typeface="Calibri" pitchFamily="34" charset="-122"/>
                <a:cs typeface="Calibri" pitchFamily="34" charset="-120"/>
              </a:rPr>
              <a:t>Side effects only if you wrap it</a:t>
            </a:r>
            <a:endParaRPr lang="en-US" sz="1300" dirty="0"/>
          </a:p>
        </p:txBody>
      </p:sp>
      <p:sp>
        <p:nvSpPr>
          <p:cNvPr id="13" name="Shape 11"/>
          <p:cNvSpPr/>
          <p:nvPr/>
        </p:nvSpPr>
        <p:spPr>
          <a:xfrm>
            <a:off x="6126480" y="4023360"/>
            <a:ext cx="5486400" cy="0"/>
          </a:xfrm>
          <a:prstGeom prst="line">
            <a:avLst/>
          </a:prstGeom>
          <a:noFill/>
          <a:ln w="19050">
            <a:solidFill>
              <a:srgbClr val="B45309"/>
            </a:solidFill>
            <a:prstDash val="solid"/>
          </a:ln>
        </p:spPr>
      </p:sp>
      <p:sp>
        <p:nvSpPr>
          <p:cNvPr id="14" name="Text 12"/>
          <p:cNvSpPr/>
          <p:nvPr/>
        </p:nvSpPr>
        <p:spPr>
          <a:xfrm>
            <a:off x="6126480" y="4114800"/>
            <a:ext cx="5486400" cy="320040"/>
          </a:xfrm>
          <a:prstGeom prst="rect">
            <a:avLst/>
          </a:prstGeom>
          <a:noFill/>
          <a:ln/>
        </p:spPr>
        <p:txBody>
          <a:bodyPr wrap="square" lIns="0" tIns="0" rIns="0" bIns="0" rtlCol="0" anchor="ctr"/>
          <a:lstStyle/>
          <a:p>
            <a:pPr indent="0" marL="0">
              <a:buNone/>
            </a:pPr>
            <a:r>
              <a:rPr lang="en-US" sz="1100" b="1" spc="300" kern="0" dirty="0">
                <a:solidFill>
                  <a:srgbClr val="B45309"/>
                </a:solidFill>
                <a:latin typeface="Calibri" pitchFamily="34" charset="0"/>
                <a:ea typeface="Calibri" pitchFamily="34" charset="-122"/>
                <a:cs typeface="Calibri" pitchFamily="34" charset="-120"/>
              </a:rPr>
              <a:t>AN AGENT</a:t>
            </a:r>
            <a:endParaRPr lang="en-US" sz="1100" dirty="0"/>
          </a:p>
        </p:txBody>
      </p:sp>
      <p:sp>
        <p:nvSpPr>
          <p:cNvPr id="15" name="Text 13"/>
          <p:cNvSpPr/>
          <p:nvPr/>
        </p:nvSpPr>
        <p:spPr>
          <a:xfrm>
            <a:off x="6126480" y="4526280"/>
            <a:ext cx="5486400" cy="1783080"/>
          </a:xfrm>
          <a:prstGeom prst="rect">
            <a:avLst/>
          </a:prstGeom>
          <a:noFill/>
          <a:ln/>
        </p:spPr>
        <p:txBody>
          <a:bodyPr wrap="square" lIns="0" tIns="0" rIns="0" bIns="0" rtlCol="0" anchor="ctr"/>
          <a:lstStyle/>
          <a:p>
            <a:pPr marL="342900" indent="-342900">
              <a:spcAft>
                <a:spcPts val="400"/>
              </a:spcAft>
              <a:buSzPct val="100000"/>
              <a:buChar char="—"/>
            </a:pPr>
            <a:r>
              <a:rPr lang="en-US" sz="1300" dirty="0">
                <a:solidFill>
                  <a:srgbClr val="0F172A"/>
                </a:solidFill>
                <a:latin typeface="Calibri" pitchFamily="34" charset="0"/>
                <a:ea typeface="Calibri" pitchFamily="34" charset="-122"/>
                <a:cs typeface="Calibri" pitchFamily="34" charset="-120"/>
              </a:rPr>
              <a:t>Many inferences per session</a:t>
            </a:r>
            <a:endParaRPr lang="en-US" sz="1300" dirty="0"/>
          </a:p>
          <a:p>
            <a:pPr marL="342900" indent="-342900">
              <a:spcAft>
                <a:spcPts val="400"/>
              </a:spcAft>
              <a:buSzPct val="100000"/>
              <a:buChar char="—"/>
            </a:pPr>
            <a:r>
              <a:rPr lang="en-US" sz="1300" dirty="0">
                <a:solidFill>
                  <a:srgbClr val="0F172A"/>
                </a:solidFill>
                <a:latin typeface="Calibri" pitchFamily="34" charset="0"/>
                <a:ea typeface="Calibri" pitchFamily="34" charset="-122"/>
                <a:cs typeface="Calibri" pitchFamily="34" charset="-120"/>
              </a:rPr>
              <a:t>Output is a sequence of decisions and tool calls</a:t>
            </a:r>
            <a:endParaRPr lang="en-US" sz="1300" dirty="0"/>
          </a:p>
          <a:p>
            <a:pPr marL="342900" indent="-342900">
              <a:spcAft>
                <a:spcPts val="400"/>
              </a:spcAft>
              <a:buSzPct val="100000"/>
              <a:buChar char="—"/>
            </a:pPr>
            <a:r>
              <a:rPr lang="en-US" sz="1300" dirty="0">
                <a:solidFill>
                  <a:srgbClr val="0F172A"/>
                </a:solidFill>
                <a:latin typeface="Calibri" pitchFamily="34" charset="0"/>
                <a:ea typeface="Calibri" pitchFamily="34" charset="-122"/>
                <a:cs typeface="Calibri" pitchFamily="34" charset="-120"/>
              </a:rPr>
              <a:t>Maintains state across the loop</a:t>
            </a:r>
            <a:endParaRPr lang="en-US" sz="1300" dirty="0"/>
          </a:p>
          <a:p>
            <a:pPr marL="342900" indent="-342900">
              <a:spcAft>
                <a:spcPts val="400"/>
              </a:spcAft>
              <a:buSzPct val="100000"/>
              <a:buChar char="—"/>
            </a:pPr>
            <a:r>
              <a:rPr lang="en-US" sz="1300" dirty="0">
                <a:solidFill>
                  <a:srgbClr val="0F172A"/>
                </a:solidFill>
                <a:latin typeface="Calibri" pitchFamily="34" charset="0"/>
                <a:ea typeface="Calibri" pitchFamily="34" charset="-122"/>
                <a:cs typeface="Calibri" pitchFamily="34" charset="-120"/>
              </a:rPr>
              <a:t>Side effects are the whole point</a:t>
            </a:r>
            <a:endParaRPr lang="en-US" sz="1300" dirty="0"/>
          </a:p>
        </p:txBody>
      </p:sp>
      <p:sp>
        <p:nvSpPr>
          <p:cNvPr id="16" name="Shape 14"/>
          <p:cNvSpPr/>
          <p:nvPr/>
        </p:nvSpPr>
        <p:spPr>
          <a:xfrm>
            <a:off x="457200" y="6446520"/>
            <a:ext cx="11274552" cy="0"/>
          </a:xfrm>
          <a:prstGeom prst="line">
            <a:avLst/>
          </a:prstGeom>
          <a:noFill/>
          <a:ln w="6350">
            <a:solidFill>
              <a:srgbClr val="E2E8F0"/>
            </a:solidFill>
            <a:prstDash val="solid"/>
          </a:ln>
        </p:spPr>
      </p:sp>
      <p:sp>
        <p:nvSpPr>
          <p:cNvPr id="17" name="Text 15"/>
          <p:cNvSpPr/>
          <p:nvPr/>
        </p:nvSpPr>
        <p:spPr>
          <a:xfrm>
            <a:off x="457200" y="6537960"/>
            <a:ext cx="914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06</a:t>
            </a:r>
            <a:endParaRPr lang="en-US" sz="900" dirty="0"/>
          </a:p>
        </p:txBody>
      </p:sp>
      <p:sp>
        <p:nvSpPr>
          <p:cNvPr id="18" name="Text 16"/>
          <p:cNvSpPr/>
          <p:nvPr/>
        </p:nvSpPr>
        <p:spPr>
          <a:xfrm>
            <a:off x="5943600" y="6537960"/>
            <a:ext cx="5788152" cy="228600"/>
          </a:xfrm>
          <a:prstGeom prst="rect">
            <a:avLst/>
          </a:prstGeom>
          <a:noFill/>
          <a:ln/>
        </p:spPr>
        <p:txBody>
          <a:bodyPr wrap="square" lIns="0" tIns="0" rIns="0" bIns="0" rtlCol="0" anchor="ctr"/>
          <a:lstStyle/>
          <a:p>
            <a:pPr algn="r" indent="0" marL="0">
              <a:buNone/>
            </a:pPr>
            <a:r>
              <a:rPr lang="en-US" sz="900" i="1" dirty="0">
                <a:solidFill>
                  <a:srgbClr val="94A3B8"/>
                </a:solidFill>
                <a:latin typeface="Calibri" pitchFamily="34" charset="0"/>
                <a:ea typeface="Calibri" pitchFamily="34" charset="-122"/>
                <a:cs typeface="Calibri" pitchFamily="34" charset="-120"/>
              </a:rPr>
              <a:t>Agentic Foundations · Half 1</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4552" cy="274320"/>
          </a:xfrm>
          <a:prstGeom prst="rect">
            <a:avLst/>
          </a:prstGeom>
          <a:noFill/>
          <a:ln/>
        </p:spPr>
        <p:txBody>
          <a:bodyPr wrap="square" lIns="0" tIns="0" rIns="0" bIns="0" rtlCol="0" anchor="ctr"/>
          <a:lstStyle/>
          <a:p>
            <a:pPr indent="0" marL="0">
              <a:buNone/>
            </a:pPr>
            <a:r>
              <a:rPr lang="en-US" sz="1000" b="1" spc="400" kern="0" dirty="0">
                <a:solidFill>
                  <a:srgbClr val="B45309"/>
                </a:solidFill>
                <a:latin typeface="Calibri" pitchFamily="34" charset="0"/>
                <a:ea typeface="Calibri" pitchFamily="34" charset="-122"/>
                <a:cs typeface="Calibri" pitchFamily="34" charset="-120"/>
              </a:rPr>
              <a:t>QUIZ · QUESTION 3 OF 5</a:t>
            </a:r>
            <a:endParaRPr lang="en-US" sz="1000" dirty="0"/>
          </a:p>
        </p:txBody>
      </p:sp>
      <p:sp>
        <p:nvSpPr>
          <p:cNvPr id="3" name="Text 1"/>
          <p:cNvSpPr/>
          <p:nvPr/>
        </p:nvSpPr>
        <p:spPr>
          <a:xfrm>
            <a:off x="457200" y="777240"/>
            <a:ext cx="11274552"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Which production failure mode is hardest to detect?</a:t>
            </a:r>
            <a:endParaRPr lang="en-US" sz="2800" dirty="0"/>
          </a:p>
        </p:txBody>
      </p:sp>
      <p:sp>
        <p:nvSpPr>
          <p:cNvPr id="4" name="Shape 2"/>
          <p:cNvSpPr/>
          <p:nvPr/>
        </p:nvSpPr>
        <p:spPr>
          <a:xfrm>
            <a:off x="457200" y="2057400"/>
            <a:ext cx="11274552" cy="0"/>
          </a:xfrm>
          <a:prstGeom prst="line">
            <a:avLst/>
          </a:prstGeom>
          <a:noFill/>
          <a:ln w="6350">
            <a:solidFill>
              <a:srgbClr val="E2E8F0"/>
            </a:solidFill>
            <a:prstDash val="solid"/>
          </a:ln>
        </p:spPr>
      </p:sp>
      <p:sp>
        <p:nvSpPr>
          <p:cNvPr id="5" name="Shape 3"/>
          <p:cNvSpPr/>
          <p:nvPr/>
        </p:nvSpPr>
        <p:spPr>
          <a:xfrm>
            <a:off x="457200" y="2468880"/>
            <a:ext cx="640080" cy="640080"/>
          </a:xfrm>
          <a:prstGeom prst="rect">
            <a:avLst/>
          </a:prstGeom>
          <a:solidFill>
            <a:srgbClr val="F8FAFC"/>
          </a:solidFill>
          <a:ln w="12700">
            <a:solidFill>
              <a:srgbClr val="E2E8F0"/>
            </a:solidFill>
            <a:prstDash val="solid"/>
          </a:ln>
        </p:spPr>
      </p:sp>
      <p:sp>
        <p:nvSpPr>
          <p:cNvPr id="6" name="Text 4"/>
          <p:cNvSpPr/>
          <p:nvPr/>
        </p:nvSpPr>
        <p:spPr>
          <a:xfrm>
            <a:off x="457200" y="2468880"/>
            <a:ext cx="640080" cy="640080"/>
          </a:xfrm>
          <a:prstGeom prst="rect">
            <a:avLst/>
          </a:prstGeom>
          <a:noFill/>
          <a:ln/>
        </p:spPr>
        <p:txBody>
          <a:bodyPr wrap="square" lIns="0" tIns="0" rIns="0" bIns="0" rtlCol="0" anchor="ctr"/>
          <a:lstStyle/>
          <a:p>
            <a:pPr algn="ctr" indent="0" marL="0">
              <a:buNone/>
            </a:pPr>
            <a:r>
              <a:rPr lang="en-US" sz="2200" b="1" dirty="0">
                <a:solidFill>
                  <a:srgbClr val="B45309"/>
                </a:solidFill>
                <a:latin typeface="Georgia" pitchFamily="34" charset="0"/>
                <a:ea typeface="Georgia" pitchFamily="34" charset="-122"/>
                <a:cs typeface="Georgia" pitchFamily="34" charset="-120"/>
              </a:rPr>
              <a:t>A</a:t>
            </a:r>
            <a:endParaRPr lang="en-US" sz="2200" dirty="0"/>
          </a:p>
        </p:txBody>
      </p:sp>
      <p:sp>
        <p:nvSpPr>
          <p:cNvPr id="7" name="Text 5"/>
          <p:cNvSpPr/>
          <p:nvPr/>
        </p:nvSpPr>
        <p:spPr>
          <a:xfrm>
            <a:off x="1280160" y="2560320"/>
            <a:ext cx="10424160" cy="457200"/>
          </a:xfrm>
          <a:prstGeom prst="rect">
            <a:avLst/>
          </a:prstGeom>
          <a:noFill/>
          <a:ln/>
        </p:spPr>
        <p:txBody>
          <a:bodyPr wrap="square" lIns="0" tIns="0" rIns="0" bIns="0" rtlCol="0" anchor="ctr"/>
          <a:lstStyle/>
          <a:p>
            <a:pPr indent="0" marL="0">
              <a:buNone/>
            </a:pPr>
            <a:r>
              <a:rPr lang="en-US" sz="1600" dirty="0">
                <a:solidFill>
                  <a:srgbClr val="0F172A"/>
                </a:solidFill>
                <a:latin typeface="Calibri" pitchFamily="34" charset="0"/>
                <a:ea typeface="Calibri" pitchFamily="34" charset="-122"/>
                <a:cs typeface="Calibri" pitchFamily="34" charset="-120"/>
              </a:rPr>
              <a:t>A tool returns HTTP 500 and the agent stops</a:t>
            </a:r>
            <a:endParaRPr lang="en-US" sz="1600" dirty="0"/>
          </a:p>
        </p:txBody>
      </p:sp>
      <p:sp>
        <p:nvSpPr>
          <p:cNvPr id="8" name="Shape 6"/>
          <p:cNvSpPr/>
          <p:nvPr/>
        </p:nvSpPr>
        <p:spPr>
          <a:xfrm>
            <a:off x="457200" y="3337560"/>
            <a:ext cx="640080" cy="640080"/>
          </a:xfrm>
          <a:prstGeom prst="rect">
            <a:avLst/>
          </a:prstGeom>
          <a:solidFill>
            <a:srgbClr val="F8FAFC"/>
          </a:solidFill>
          <a:ln w="12700">
            <a:solidFill>
              <a:srgbClr val="E2E8F0"/>
            </a:solidFill>
            <a:prstDash val="solid"/>
          </a:ln>
        </p:spPr>
      </p:sp>
      <p:sp>
        <p:nvSpPr>
          <p:cNvPr id="9" name="Text 7"/>
          <p:cNvSpPr/>
          <p:nvPr/>
        </p:nvSpPr>
        <p:spPr>
          <a:xfrm>
            <a:off x="457200" y="3337560"/>
            <a:ext cx="640080" cy="640080"/>
          </a:xfrm>
          <a:prstGeom prst="rect">
            <a:avLst/>
          </a:prstGeom>
          <a:noFill/>
          <a:ln/>
        </p:spPr>
        <p:txBody>
          <a:bodyPr wrap="square" lIns="0" tIns="0" rIns="0" bIns="0" rtlCol="0" anchor="ctr"/>
          <a:lstStyle/>
          <a:p>
            <a:pPr algn="ctr" indent="0" marL="0">
              <a:buNone/>
            </a:pPr>
            <a:r>
              <a:rPr lang="en-US" sz="2200" b="1" dirty="0">
                <a:solidFill>
                  <a:srgbClr val="B45309"/>
                </a:solidFill>
                <a:latin typeface="Georgia" pitchFamily="34" charset="0"/>
                <a:ea typeface="Georgia" pitchFamily="34" charset="-122"/>
                <a:cs typeface="Georgia" pitchFamily="34" charset="-120"/>
              </a:rPr>
              <a:t>B</a:t>
            </a:r>
            <a:endParaRPr lang="en-US" sz="2200" dirty="0"/>
          </a:p>
        </p:txBody>
      </p:sp>
      <p:sp>
        <p:nvSpPr>
          <p:cNvPr id="10" name="Text 8"/>
          <p:cNvSpPr/>
          <p:nvPr/>
        </p:nvSpPr>
        <p:spPr>
          <a:xfrm>
            <a:off x="1280160" y="3429000"/>
            <a:ext cx="10424160" cy="457200"/>
          </a:xfrm>
          <a:prstGeom prst="rect">
            <a:avLst/>
          </a:prstGeom>
          <a:noFill/>
          <a:ln/>
        </p:spPr>
        <p:txBody>
          <a:bodyPr wrap="square" lIns="0" tIns="0" rIns="0" bIns="0" rtlCol="0" anchor="ctr"/>
          <a:lstStyle/>
          <a:p>
            <a:pPr indent="0" marL="0">
              <a:buNone/>
            </a:pPr>
            <a:r>
              <a:rPr lang="en-US" sz="1600" dirty="0">
                <a:solidFill>
                  <a:srgbClr val="0F172A"/>
                </a:solidFill>
                <a:latin typeface="Calibri" pitchFamily="34" charset="0"/>
                <a:ea typeface="Calibri" pitchFamily="34" charset="-122"/>
                <a:cs typeface="Calibri" pitchFamily="34" charset="-120"/>
              </a:rPr>
              <a:t>The agent says "done" when the tool actually failed silently</a:t>
            </a:r>
            <a:endParaRPr lang="en-US" sz="1600" dirty="0"/>
          </a:p>
        </p:txBody>
      </p:sp>
      <p:sp>
        <p:nvSpPr>
          <p:cNvPr id="11" name="Shape 9"/>
          <p:cNvSpPr/>
          <p:nvPr/>
        </p:nvSpPr>
        <p:spPr>
          <a:xfrm>
            <a:off x="457200" y="4206240"/>
            <a:ext cx="640080" cy="640080"/>
          </a:xfrm>
          <a:prstGeom prst="rect">
            <a:avLst/>
          </a:prstGeom>
          <a:solidFill>
            <a:srgbClr val="F8FAFC"/>
          </a:solidFill>
          <a:ln w="12700">
            <a:solidFill>
              <a:srgbClr val="E2E8F0"/>
            </a:solidFill>
            <a:prstDash val="solid"/>
          </a:ln>
        </p:spPr>
      </p:sp>
      <p:sp>
        <p:nvSpPr>
          <p:cNvPr id="12" name="Text 10"/>
          <p:cNvSpPr/>
          <p:nvPr/>
        </p:nvSpPr>
        <p:spPr>
          <a:xfrm>
            <a:off x="457200" y="4206240"/>
            <a:ext cx="640080" cy="640080"/>
          </a:xfrm>
          <a:prstGeom prst="rect">
            <a:avLst/>
          </a:prstGeom>
          <a:noFill/>
          <a:ln/>
        </p:spPr>
        <p:txBody>
          <a:bodyPr wrap="square" lIns="0" tIns="0" rIns="0" bIns="0" rtlCol="0" anchor="ctr"/>
          <a:lstStyle/>
          <a:p>
            <a:pPr algn="ctr" indent="0" marL="0">
              <a:buNone/>
            </a:pPr>
            <a:r>
              <a:rPr lang="en-US" sz="2200" b="1" dirty="0">
                <a:solidFill>
                  <a:srgbClr val="B45309"/>
                </a:solidFill>
                <a:latin typeface="Georgia" pitchFamily="34" charset="0"/>
                <a:ea typeface="Georgia" pitchFamily="34" charset="-122"/>
                <a:cs typeface="Georgia" pitchFamily="34" charset="-120"/>
              </a:rPr>
              <a:t>C</a:t>
            </a:r>
            <a:endParaRPr lang="en-US" sz="2200" dirty="0"/>
          </a:p>
        </p:txBody>
      </p:sp>
      <p:sp>
        <p:nvSpPr>
          <p:cNvPr id="13" name="Text 11"/>
          <p:cNvSpPr/>
          <p:nvPr/>
        </p:nvSpPr>
        <p:spPr>
          <a:xfrm>
            <a:off x="1280160" y="4297680"/>
            <a:ext cx="10424160" cy="457200"/>
          </a:xfrm>
          <a:prstGeom prst="rect">
            <a:avLst/>
          </a:prstGeom>
          <a:noFill/>
          <a:ln/>
        </p:spPr>
        <p:txBody>
          <a:bodyPr wrap="square" lIns="0" tIns="0" rIns="0" bIns="0" rtlCol="0" anchor="ctr"/>
          <a:lstStyle/>
          <a:p>
            <a:pPr indent="0" marL="0">
              <a:buNone/>
            </a:pPr>
            <a:r>
              <a:rPr lang="en-US" sz="1600" dirty="0">
                <a:solidFill>
                  <a:srgbClr val="0F172A"/>
                </a:solidFill>
                <a:latin typeface="Calibri" pitchFamily="34" charset="0"/>
                <a:ea typeface="Calibri" pitchFamily="34" charset="-122"/>
                <a:cs typeface="Calibri" pitchFamily="34" charset="-120"/>
              </a:rPr>
              <a:t>Latency spike on the model endpoint</a:t>
            </a:r>
            <a:endParaRPr lang="en-US" sz="1600" dirty="0"/>
          </a:p>
        </p:txBody>
      </p:sp>
      <p:sp>
        <p:nvSpPr>
          <p:cNvPr id="14" name="Shape 12"/>
          <p:cNvSpPr/>
          <p:nvPr/>
        </p:nvSpPr>
        <p:spPr>
          <a:xfrm>
            <a:off x="457200" y="5074920"/>
            <a:ext cx="640080" cy="640080"/>
          </a:xfrm>
          <a:prstGeom prst="rect">
            <a:avLst/>
          </a:prstGeom>
          <a:solidFill>
            <a:srgbClr val="F8FAFC"/>
          </a:solidFill>
          <a:ln w="12700">
            <a:solidFill>
              <a:srgbClr val="E2E8F0"/>
            </a:solidFill>
            <a:prstDash val="solid"/>
          </a:ln>
        </p:spPr>
      </p:sp>
      <p:sp>
        <p:nvSpPr>
          <p:cNvPr id="15" name="Text 13"/>
          <p:cNvSpPr/>
          <p:nvPr/>
        </p:nvSpPr>
        <p:spPr>
          <a:xfrm>
            <a:off x="457200" y="5074920"/>
            <a:ext cx="640080" cy="640080"/>
          </a:xfrm>
          <a:prstGeom prst="rect">
            <a:avLst/>
          </a:prstGeom>
          <a:noFill/>
          <a:ln/>
        </p:spPr>
        <p:txBody>
          <a:bodyPr wrap="square" lIns="0" tIns="0" rIns="0" bIns="0" rtlCol="0" anchor="ctr"/>
          <a:lstStyle/>
          <a:p>
            <a:pPr algn="ctr" indent="0" marL="0">
              <a:buNone/>
            </a:pPr>
            <a:r>
              <a:rPr lang="en-US" sz="2200" b="1" dirty="0">
                <a:solidFill>
                  <a:srgbClr val="B45309"/>
                </a:solidFill>
                <a:latin typeface="Georgia" pitchFamily="34" charset="0"/>
                <a:ea typeface="Georgia" pitchFamily="34" charset="-122"/>
                <a:cs typeface="Georgia" pitchFamily="34" charset="-120"/>
              </a:rPr>
              <a:t>D</a:t>
            </a:r>
            <a:endParaRPr lang="en-US" sz="2200" dirty="0"/>
          </a:p>
        </p:txBody>
      </p:sp>
      <p:sp>
        <p:nvSpPr>
          <p:cNvPr id="16" name="Text 14"/>
          <p:cNvSpPr/>
          <p:nvPr/>
        </p:nvSpPr>
        <p:spPr>
          <a:xfrm>
            <a:off x="1280160" y="5166360"/>
            <a:ext cx="10424160" cy="457200"/>
          </a:xfrm>
          <a:prstGeom prst="rect">
            <a:avLst/>
          </a:prstGeom>
          <a:noFill/>
          <a:ln/>
        </p:spPr>
        <p:txBody>
          <a:bodyPr wrap="square" lIns="0" tIns="0" rIns="0" bIns="0" rtlCol="0" anchor="ctr"/>
          <a:lstStyle/>
          <a:p>
            <a:pPr indent="0" marL="0">
              <a:buNone/>
            </a:pPr>
            <a:r>
              <a:rPr lang="en-US" sz="1600" dirty="0">
                <a:solidFill>
                  <a:srgbClr val="0F172A"/>
                </a:solidFill>
                <a:latin typeface="Calibri" pitchFamily="34" charset="0"/>
                <a:ea typeface="Calibri" pitchFamily="34" charset="-122"/>
                <a:cs typeface="Calibri" pitchFamily="34" charset="-120"/>
              </a:rPr>
              <a:t>Cost overrun on a single session</a:t>
            </a:r>
            <a:endParaRPr lang="en-US" sz="1600" dirty="0"/>
          </a:p>
        </p:txBody>
      </p:sp>
      <p:sp>
        <p:nvSpPr>
          <p:cNvPr id="17" name="Shape 15"/>
          <p:cNvSpPr/>
          <p:nvPr/>
        </p:nvSpPr>
        <p:spPr>
          <a:xfrm>
            <a:off x="457200" y="6446520"/>
            <a:ext cx="11274552" cy="0"/>
          </a:xfrm>
          <a:prstGeom prst="line">
            <a:avLst/>
          </a:prstGeom>
          <a:noFill/>
          <a:ln w="6350">
            <a:solidFill>
              <a:srgbClr val="E2E8F0"/>
            </a:solidFill>
            <a:prstDash val="solid"/>
          </a:ln>
        </p:spPr>
      </p:sp>
      <p:sp>
        <p:nvSpPr>
          <p:cNvPr id="18" name="Text 16"/>
          <p:cNvSpPr/>
          <p:nvPr/>
        </p:nvSpPr>
        <p:spPr>
          <a:xfrm>
            <a:off x="457200" y="6537960"/>
            <a:ext cx="914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07</a:t>
            </a:r>
            <a:endParaRPr lang="en-US" sz="900" dirty="0"/>
          </a:p>
        </p:txBody>
      </p:sp>
      <p:sp>
        <p:nvSpPr>
          <p:cNvPr id="19" name="Text 17"/>
          <p:cNvSpPr/>
          <p:nvPr/>
        </p:nvSpPr>
        <p:spPr>
          <a:xfrm>
            <a:off x="5943600" y="6537960"/>
            <a:ext cx="5788152" cy="228600"/>
          </a:xfrm>
          <a:prstGeom prst="rect">
            <a:avLst/>
          </a:prstGeom>
          <a:noFill/>
          <a:ln/>
        </p:spPr>
        <p:txBody>
          <a:bodyPr wrap="square" lIns="0" tIns="0" rIns="0" bIns="0" rtlCol="0" anchor="ctr"/>
          <a:lstStyle/>
          <a:p>
            <a:pPr algn="r" indent="0" marL="0">
              <a:buNone/>
            </a:pPr>
            <a:r>
              <a:rPr lang="en-US" sz="900" i="1" dirty="0">
                <a:solidFill>
                  <a:srgbClr val="94A3B8"/>
                </a:solidFill>
                <a:latin typeface="Calibri" pitchFamily="34" charset="0"/>
                <a:ea typeface="Calibri" pitchFamily="34" charset="-122"/>
                <a:cs typeface="Calibri" pitchFamily="34" charset="-120"/>
              </a:rPr>
              <a:t>Agentic Foundations · Half 1</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4552" cy="274320"/>
          </a:xfrm>
          <a:prstGeom prst="rect">
            <a:avLst/>
          </a:prstGeom>
          <a:noFill/>
          <a:ln/>
        </p:spPr>
        <p:txBody>
          <a:bodyPr wrap="square" lIns="0" tIns="0" rIns="0" bIns="0" rtlCol="0" anchor="ctr"/>
          <a:lstStyle/>
          <a:p>
            <a:pPr indent="0" marL="0">
              <a:buNone/>
            </a:pPr>
            <a:r>
              <a:rPr lang="en-US" sz="1000" b="1" spc="400" kern="0" dirty="0">
                <a:solidFill>
                  <a:srgbClr val="B45309"/>
                </a:solidFill>
                <a:latin typeface="Calibri" pitchFamily="34" charset="0"/>
                <a:ea typeface="Calibri" pitchFamily="34" charset="-122"/>
                <a:cs typeface="Calibri" pitchFamily="34" charset="-120"/>
              </a:rPr>
              <a:t>QUIZ · ANSWER 3 OF 5</a:t>
            </a:r>
            <a:endParaRPr lang="en-US" sz="1000" dirty="0"/>
          </a:p>
        </p:txBody>
      </p:sp>
      <p:sp>
        <p:nvSpPr>
          <p:cNvPr id="3" name="Text 1"/>
          <p:cNvSpPr/>
          <p:nvPr/>
        </p:nvSpPr>
        <p:spPr>
          <a:xfrm>
            <a:off x="457200" y="777240"/>
            <a:ext cx="11274552"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Answer: B</a:t>
            </a:r>
            <a:endParaRPr lang="en-US" sz="2800" dirty="0"/>
          </a:p>
        </p:txBody>
      </p:sp>
      <p:sp>
        <p:nvSpPr>
          <p:cNvPr id="4" name="Text 2"/>
          <p:cNvSpPr/>
          <p:nvPr/>
        </p:nvSpPr>
        <p:spPr>
          <a:xfrm>
            <a:off x="457200" y="1554480"/>
            <a:ext cx="11274552"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Visible failures self-report. Silent ones lie confidently.</a:t>
            </a:r>
            <a:endParaRPr lang="en-US" sz="1400" dirty="0"/>
          </a:p>
        </p:txBody>
      </p:sp>
      <p:sp>
        <p:nvSpPr>
          <p:cNvPr id="5" name="Shape 3"/>
          <p:cNvSpPr/>
          <p:nvPr/>
        </p:nvSpPr>
        <p:spPr>
          <a:xfrm>
            <a:off x="457200" y="2057400"/>
            <a:ext cx="11274552" cy="0"/>
          </a:xfrm>
          <a:prstGeom prst="line">
            <a:avLst/>
          </a:prstGeom>
          <a:noFill/>
          <a:ln w="6350">
            <a:solidFill>
              <a:srgbClr val="E2E8F0"/>
            </a:solidFill>
            <a:prstDash val="solid"/>
          </a:ln>
        </p:spPr>
      </p:sp>
      <p:sp>
        <p:nvSpPr>
          <p:cNvPr id="6" name="Shape 4"/>
          <p:cNvSpPr/>
          <p:nvPr/>
        </p:nvSpPr>
        <p:spPr>
          <a:xfrm>
            <a:off x="457200" y="2377440"/>
            <a:ext cx="11274552" cy="1280160"/>
          </a:xfrm>
          <a:prstGeom prst="rect">
            <a:avLst/>
          </a:prstGeom>
          <a:solidFill>
            <a:srgbClr val="FEF3C7"/>
          </a:solidFill>
          <a:ln w="12700">
            <a:solidFill>
              <a:srgbClr val="FEF3C7"/>
            </a:solidFill>
            <a:prstDash val="solid"/>
          </a:ln>
        </p:spPr>
      </p:sp>
      <p:sp>
        <p:nvSpPr>
          <p:cNvPr id="7" name="Shape 5"/>
          <p:cNvSpPr/>
          <p:nvPr/>
        </p:nvSpPr>
        <p:spPr>
          <a:xfrm>
            <a:off x="457200" y="2377440"/>
            <a:ext cx="73152" cy="1280160"/>
          </a:xfrm>
          <a:prstGeom prst="rect">
            <a:avLst/>
          </a:prstGeom>
          <a:solidFill>
            <a:srgbClr val="B45309"/>
          </a:solidFill>
          <a:ln w="12700">
            <a:solidFill>
              <a:srgbClr val="B45309"/>
            </a:solidFill>
            <a:prstDash val="solid"/>
          </a:ln>
        </p:spPr>
      </p:sp>
      <p:sp>
        <p:nvSpPr>
          <p:cNvPr id="8" name="Text 6"/>
          <p:cNvSpPr/>
          <p:nvPr/>
        </p:nvSpPr>
        <p:spPr>
          <a:xfrm>
            <a:off x="777240" y="2514600"/>
            <a:ext cx="10789920" cy="457200"/>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B — The agent reports success when the tool failed silently.</a:t>
            </a:r>
            <a:endParaRPr lang="en-US" sz="1800" dirty="0"/>
          </a:p>
        </p:txBody>
      </p:sp>
      <p:sp>
        <p:nvSpPr>
          <p:cNvPr id="9" name="Text 7"/>
          <p:cNvSpPr/>
          <p:nvPr/>
        </p:nvSpPr>
        <p:spPr>
          <a:xfrm>
            <a:off x="777240" y="3017520"/>
            <a:ext cx="10789920" cy="640080"/>
          </a:xfrm>
          <a:prstGeom prst="rect">
            <a:avLst/>
          </a:prstGeom>
          <a:noFill/>
          <a:ln/>
        </p:spPr>
        <p:txBody>
          <a:bodyPr wrap="square" lIns="0" tIns="0" rIns="0" bIns="0" rtlCol="0" anchor="ctr"/>
          <a:lstStyle/>
          <a:p>
            <a:pPr indent="0" marL="0">
              <a:buNone/>
            </a:pPr>
            <a:r>
              <a:rPr lang="en-US" sz="1300" i="1" dirty="0">
                <a:solidFill>
                  <a:srgbClr val="334155"/>
                </a:solidFill>
                <a:latin typeface="Calibri" pitchFamily="34" charset="0"/>
                <a:ea typeface="Calibri" pitchFamily="34" charset="-122"/>
                <a:cs typeface="Calibri" pitchFamily="34" charset="-120"/>
              </a:rPr>
              <a:t>HTTP 500 trips alarms. Latency lights up dashboards. Cost shows up on invoices. A confident hallucination of success shows up as a happy user. Until it doesn't.</a:t>
            </a:r>
            <a:endParaRPr lang="en-US" sz="1300" dirty="0"/>
          </a:p>
        </p:txBody>
      </p:sp>
      <p:sp>
        <p:nvSpPr>
          <p:cNvPr id="10" name="Text 8"/>
          <p:cNvSpPr/>
          <p:nvPr/>
        </p:nvSpPr>
        <p:spPr>
          <a:xfrm>
            <a:off x="457200" y="4023360"/>
            <a:ext cx="10972800" cy="274320"/>
          </a:xfrm>
          <a:prstGeom prst="rect">
            <a:avLst/>
          </a:prstGeom>
          <a:noFill/>
          <a:ln/>
        </p:spPr>
        <p:txBody>
          <a:bodyPr wrap="square" lIns="0" tIns="0" rIns="0" bIns="0" rtlCol="0" anchor="ctr"/>
          <a:lstStyle/>
          <a:p>
            <a:pPr indent="0" marL="0">
              <a:buNone/>
            </a:pPr>
            <a:r>
              <a:rPr lang="en-US" sz="1000" b="1" spc="300" kern="0" dirty="0">
                <a:solidFill>
                  <a:srgbClr val="B45309"/>
                </a:solidFill>
                <a:latin typeface="Calibri" pitchFamily="34" charset="0"/>
                <a:ea typeface="Calibri" pitchFamily="34" charset="-122"/>
                <a:cs typeface="Calibri" pitchFamily="34" charset="-120"/>
              </a:rPr>
              <a:t>DETECTABILITY</a:t>
            </a:r>
            <a:endParaRPr lang="en-US" sz="1000" dirty="0"/>
          </a:p>
        </p:txBody>
      </p:sp>
      <p:sp>
        <p:nvSpPr>
          <p:cNvPr id="11" name="Text 9"/>
          <p:cNvSpPr/>
          <p:nvPr/>
        </p:nvSpPr>
        <p:spPr>
          <a:xfrm>
            <a:off x="457200" y="4434840"/>
            <a:ext cx="2743200" cy="32004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A — Tool returns 500</a:t>
            </a:r>
            <a:endParaRPr lang="en-US" sz="1200" dirty="0"/>
          </a:p>
        </p:txBody>
      </p:sp>
      <p:sp>
        <p:nvSpPr>
          <p:cNvPr id="12" name="Shape 10"/>
          <p:cNvSpPr/>
          <p:nvPr/>
        </p:nvSpPr>
        <p:spPr>
          <a:xfrm>
            <a:off x="3291840" y="4526280"/>
            <a:ext cx="4572000" cy="164592"/>
          </a:xfrm>
          <a:prstGeom prst="rect">
            <a:avLst/>
          </a:prstGeom>
          <a:solidFill>
            <a:srgbClr val="F1F5F9"/>
          </a:solidFill>
          <a:ln w="12700">
            <a:solidFill>
              <a:srgbClr val="F1F5F9"/>
            </a:solidFill>
            <a:prstDash val="solid"/>
          </a:ln>
        </p:spPr>
      </p:sp>
      <p:sp>
        <p:nvSpPr>
          <p:cNvPr id="13" name="Shape 11"/>
          <p:cNvSpPr/>
          <p:nvPr/>
        </p:nvSpPr>
        <p:spPr>
          <a:xfrm>
            <a:off x="3291840" y="4526280"/>
            <a:ext cx="4343400" cy="164592"/>
          </a:xfrm>
          <a:prstGeom prst="rect">
            <a:avLst/>
          </a:prstGeom>
          <a:solidFill>
            <a:srgbClr val="B45309"/>
          </a:solidFill>
          <a:ln w="12700">
            <a:solidFill>
              <a:srgbClr val="B45309"/>
            </a:solidFill>
            <a:prstDash val="solid"/>
          </a:ln>
        </p:spPr>
      </p:sp>
      <p:sp>
        <p:nvSpPr>
          <p:cNvPr id="14" name="Text 12"/>
          <p:cNvSpPr/>
          <p:nvPr/>
        </p:nvSpPr>
        <p:spPr>
          <a:xfrm>
            <a:off x="8046720" y="4434840"/>
            <a:ext cx="3657600" cy="32004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Logged. Alarmed. Easy.</a:t>
            </a:r>
            <a:endParaRPr lang="en-US" sz="1100" dirty="0"/>
          </a:p>
        </p:txBody>
      </p:sp>
      <p:sp>
        <p:nvSpPr>
          <p:cNvPr id="15" name="Text 13"/>
          <p:cNvSpPr/>
          <p:nvPr/>
        </p:nvSpPr>
        <p:spPr>
          <a:xfrm>
            <a:off x="457200" y="4846320"/>
            <a:ext cx="2743200" cy="32004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C — Latency spike</a:t>
            </a:r>
            <a:endParaRPr lang="en-US" sz="1200" dirty="0"/>
          </a:p>
        </p:txBody>
      </p:sp>
      <p:sp>
        <p:nvSpPr>
          <p:cNvPr id="16" name="Shape 14"/>
          <p:cNvSpPr/>
          <p:nvPr/>
        </p:nvSpPr>
        <p:spPr>
          <a:xfrm>
            <a:off x="3291840" y="4937760"/>
            <a:ext cx="4572000" cy="164592"/>
          </a:xfrm>
          <a:prstGeom prst="rect">
            <a:avLst/>
          </a:prstGeom>
          <a:solidFill>
            <a:srgbClr val="F1F5F9"/>
          </a:solidFill>
          <a:ln w="12700">
            <a:solidFill>
              <a:srgbClr val="F1F5F9"/>
            </a:solidFill>
            <a:prstDash val="solid"/>
          </a:ln>
        </p:spPr>
      </p:sp>
      <p:sp>
        <p:nvSpPr>
          <p:cNvPr id="17" name="Shape 15"/>
          <p:cNvSpPr/>
          <p:nvPr/>
        </p:nvSpPr>
        <p:spPr>
          <a:xfrm>
            <a:off x="3291840" y="4937760"/>
            <a:ext cx="3886200" cy="164592"/>
          </a:xfrm>
          <a:prstGeom prst="rect">
            <a:avLst/>
          </a:prstGeom>
          <a:solidFill>
            <a:srgbClr val="B45309"/>
          </a:solidFill>
          <a:ln w="12700">
            <a:solidFill>
              <a:srgbClr val="B45309"/>
            </a:solidFill>
            <a:prstDash val="solid"/>
          </a:ln>
        </p:spPr>
      </p:sp>
      <p:sp>
        <p:nvSpPr>
          <p:cNvPr id="18" name="Text 16"/>
          <p:cNvSpPr/>
          <p:nvPr/>
        </p:nvSpPr>
        <p:spPr>
          <a:xfrm>
            <a:off x="8046720" y="4846320"/>
            <a:ext cx="3657600" cy="32004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Visible in metrics within minutes.</a:t>
            </a:r>
            <a:endParaRPr lang="en-US" sz="1100" dirty="0"/>
          </a:p>
        </p:txBody>
      </p:sp>
      <p:sp>
        <p:nvSpPr>
          <p:cNvPr id="19" name="Text 17"/>
          <p:cNvSpPr/>
          <p:nvPr/>
        </p:nvSpPr>
        <p:spPr>
          <a:xfrm>
            <a:off x="457200" y="5257800"/>
            <a:ext cx="2743200" cy="32004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D — Cost overrun</a:t>
            </a:r>
            <a:endParaRPr lang="en-US" sz="1200" dirty="0"/>
          </a:p>
        </p:txBody>
      </p:sp>
      <p:sp>
        <p:nvSpPr>
          <p:cNvPr id="20" name="Shape 18"/>
          <p:cNvSpPr/>
          <p:nvPr/>
        </p:nvSpPr>
        <p:spPr>
          <a:xfrm>
            <a:off x="3291840" y="5349240"/>
            <a:ext cx="4572000" cy="164592"/>
          </a:xfrm>
          <a:prstGeom prst="rect">
            <a:avLst/>
          </a:prstGeom>
          <a:solidFill>
            <a:srgbClr val="F1F5F9"/>
          </a:solidFill>
          <a:ln w="12700">
            <a:solidFill>
              <a:srgbClr val="F1F5F9"/>
            </a:solidFill>
            <a:prstDash val="solid"/>
          </a:ln>
        </p:spPr>
      </p:sp>
      <p:sp>
        <p:nvSpPr>
          <p:cNvPr id="21" name="Shape 19"/>
          <p:cNvSpPr/>
          <p:nvPr/>
        </p:nvSpPr>
        <p:spPr>
          <a:xfrm>
            <a:off x="3291840" y="5349240"/>
            <a:ext cx="3200400" cy="164592"/>
          </a:xfrm>
          <a:prstGeom prst="rect">
            <a:avLst/>
          </a:prstGeom>
          <a:solidFill>
            <a:srgbClr val="B45309"/>
          </a:solidFill>
          <a:ln w="12700">
            <a:solidFill>
              <a:srgbClr val="B45309"/>
            </a:solidFill>
            <a:prstDash val="solid"/>
          </a:ln>
        </p:spPr>
      </p:sp>
      <p:sp>
        <p:nvSpPr>
          <p:cNvPr id="22" name="Text 20"/>
          <p:cNvSpPr/>
          <p:nvPr/>
        </p:nvSpPr>
        <p:spPr>
          <a:xfrm>
            <a:off x="8046720" y="5257800"/>
            <a:ext cx="3657600" cy="32004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Visible at billing intervals.</a:t>
            </a:r>
            <a:endParaRPr lang="en-US" sz="1100" dirty="0"/>
          </a:p>
        </p:txBody>
      </p:sp>
      <p:sp>
        <p:nvSpPr>
          <p:cNvPr id="23" name="Text 21"/>
          <p:cNvSpPr/>
          <p:nvPr/>
        </p:nvSpPr>
        <p:spPr>
          <a:xfrm>
            <a:off x="457200" y="5669280"/>
            <a:ext cx="2743200" cy="32004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B — Silent success claim</a:t>
            </a:r>
            <a:endParaRPr lang="en-US" sz="1200" dirty="0"/>
          </a:p>
        </p:txBody>
      </p:sp>
      <p:sp>
        <p:nvSpPr>
          <p:cNvPr id="24" name="Shape 22"/>
          <p:cNvSpPr/>
          <p:nvPr/>
        </p:nvSpPr>
        <p:spPr>
          <a:xfrm>
            <a:off x="3291840" y="5760720"/>
            <a:ext cx="4572000" cy="164592"/>
          </a:xfrm>
          <a:prstGeom prst="rect">
            <a:avLst/>
          </a:prstGeom>
          <a:solidFill>
            <a:srgbClr val="F1F5F9"/>
          </a:solidFill>
          <a:ln w="12700">
            <a:solidFill>
              <a:srgbClr val="F1F5F9"/>
            </a:solidFill>
            <a:prstDash val="solid"/>
          </a:ln>
        </p:spPr>
      </p:sp>
      <p:sp>
        <p:nvSpPr>
          <p:cNvPr id="25" name="Shape 23"/>
          <p:cNvSpPr/>
          <p:nvPr/>
        </p:nvSpPr>
        <p:spPr>
          <a:xfrm>
            <a:off x="3291840" y="5760720"/>
            <a:ext cx="685800" cy="164592"/>
          </a:xfrm>
          <a:prstGeom prst="rect">
            <a:avLst/>
          </a:prstGeom>
          <a:solidFill>
            <a:srgbClr val="B91C1C"/>
          </a:solidFill>
          <a:ln w="12700">
            <a:solidFill>
              <a:srgbClr val="B45309"/>
            </a:solidFill>
            <a:prstDash val="solid"/>
          </a:ln>
        </p:spPr>
      </p:sp>
      <p:sp>
        <p:nvSpPr>
          <p:cNvPr id="26" name="Text 24"/>
          <p:cNvSpPr/>
          <p:nvPr/>
        </p:nvSpPr>
        <p:spPr>
          <a:xfrm>
            <a:off x="8046720" y="5669280"/>
            <a:ext cx="3657600" cy="32004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Invisible until the user complains, or worse, the auditor.</a:t>
            </a:r>
            <a:endParaRPr lang="en-US" sz="1100" dirty="0"/>
          </a:p>
        </p:txBody>
      </p:sp>
      <p:sp>
        <p:nvSpPr>
          <p:cNvPr id="27" name="Shape 25"/>
          <p:cNvSpPr/>
          <p:nvPr/>
        </p:nvSpPr>
        <p:spPr>
          <a:xfrm>
            <a:off x="457200" y="6446520"/>
            <a:ext cx="11274552" cy="0"/>
          </a:xfrm>
          <a:prstGeom prst="line">
            <a:avLst/>
          </a:prstGeom>
          <a:noFill/>
          <a:ln w="6350">
            <a:solidFill>
              <a:srgbClr val="E2E8F0"/>
            </a:solidFill>
            <a:prstDash val="solid"/>
          </a:ln>
        </p:spPr>
      </p:sp>
      <p:sp>
        <p:nvSpPr>
          <p:cNvPr id="28" name="Text 26"/>
          <p:cNvSpPr/>
          <p:nvPr/>
        </p:nvSpPr>
        <p:spPr>
          <a:xfrm>
            <a:off x="457200" y="6537960"/>
            <a:ext cx="914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08</a:t>
            </a:r>
            <a:endParaRPr lang="en-US" sz="900" dirty="0"/>
          </a:p>
        </p:txBody>
      </p:sp>
      <p:sp>
        <p:nvSpPr>
          <p:cNvPr id="29" name="Text 27"/>
          <p:cNvSpPr/>
          <p:nvPr/>
        </p:nvSpPr>
        <p:spPr>
          <a:xfrm>
            <a:off x="5943600" y="6537960"/>
            <a:ext cx="5788152" cy="228600"/>
          </a:xfrm>
          <a:prstGeom prst="rect">
            <a:avLst/>
          </a:prstGeom>
          <a:noFill/>
          <a:ln/>
        </p:spPr>
        <p:txBody>
          <a:bodyPr wrap="square" lIns="0" tIns="0" rIns="0" bIns="0" rtlCol="0" anchor="ctr"/>
          <a:lstStyle/>
          <a:p>
            <a:pPr algn="r" indent="0" marL="0">
              <a:buNone/>
            </a:pPr>
            <a:r>
              <a:rPr lang="en-US" sz="900" i="1" dirty="0">
                <a:solidFill>
                  <a:srgbClr val="94A3B8"/>
                </a:solidFill>
                <a:latin typeface="Calibri" pitchFamily="34" charset="0"/>
                <a:ea typeface="Calibri" pitchFamily="34" charset="-122"/>
                <a:cs typeface="Calibri" pitchFamily="34" charset="-120"/>
              </a:rPr>
              <a:t>Agentic Foundations · Half 1</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4552" cy="274320"/>
          </a:xfrm>
          <a:prstGeom prst="rect">
            <a:avLst/>
          </a:prstGeom>
          <a:noFill/>
          <a:ln/>
        </p:spPr>
        <p:txBody>
          <a:bodyPr wrap="square" lIns="0" tIns="0" rIns="0" bIns="0" rtlCol="0" anchor="ctr"/>
          <a:lstStyle/>
          <a:p>
            <a:pPr indent="0" marL="0">
              <a:buNone/>
            </a:pPr>
            <a:r>
              <a:rPr lang="en-US" sz="1000" b="1" spc="400" kern="0" dirty="0">
                <a:solidFill>
                  <a:srgbClr val="B45309"/>
                </a:solidFill>
                <a:latin typeface="Calibri" pitchFamily="34" charset="0"/>
                <a:ea typeface="Calibri" pitchFamily="34" charset="-122"/>
                <a:cs typeface="Calibri" pitchFamily="34" charset="-120"/>
              </a:rPr>
              <a:t>QUIZ · QUESTION 4 OF 5</a:t>
            </a:r>
            <a:endParaRPr lang="en-US" sz="1000" dirty="0"/>
          </a:p>
        </p:txBody>
      </p:sp>
      <p:sp>
        <p:nvSpPr>
          <p:cNvPr id="3" name="Text 1"/>
          <p:cNvSpPr/>
          <p:nvPr/>
        </p:nvSpPr>
        <p:spPr>
          <a:xfrm>
            <a:off x="457200" y="777240"/>
            <a:ext cx="11274552"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In an enterprise agent, the system prompt should be...</a:t>
            </a:r>
            <a:endParaRPr lang="en-US" sz="2800" dirty="0"/>
          </a:p>
        </p:txBody>
      </p:sp>
      <p:sp>
        <p:nvSpPr>
          <p:cNvPr id="4" name="Shape 2"/>
          <p:cNvSpPr/>
          <p:nvPr/>
        </p:nvSpPr>
        <p:spPr>
          <a:xfrm>
            <a:off x="457200" y="2057400"/>
            <a:ext cx="11274552" cy="0"/>
          </a:xfrm>
          <a:prstGeom prst="line">
            <a:avLst/>
          </a:prstGeom>
          <a:noFill/>
          <a:ln w="6350">
            <a:solidFill>
              <a:srgbClr val="E2E8F0"/>
            </a:solidFill>
            <a:prstDash val="solid"/>
          </a:ln>
        </p:spPr>
      </p:sp>
      <p:sp>
        <p:nvSpPr>
          <p:cNvPr id="5" name="Shape 3"/>
          <p:cNvSpPr/>
          <p:nvPr/>
        </p:nvSpPr>
        <p:spPr>
          <a:xfrm>
            <a:off x="457200" y="2468880"/>
            <a:ext cx="640080" cy="640080"/>
          </a:xfrm>
          <a:prstGeom prst="rect">
            <a:avLst/>
          </a:prstGeom>
          <a:solidFill>
            <a:srgbClr val="F8FAFC"/>
          </a:solidFill>
          <a:ln w="12700">
            <a:solidFill>
              <a:srgbClr val="E2E8F0"/>
            </a:solidFill>
            <a:prstDash val="solid"/>
          </a:ln>
        </p:spPr>
      </p:sp>
      <p:sp>
        <p:nvSpPr>
          <p:cNvPr id="6" name="Text 4"/>
          <p:cNvSpPr/>
          <p:nvPr/>
        </p:nvSpPr>
        <p:spPr>
          <a:xfrm>
            <a:off x="457200" y="2468880"/>
            <a:ext cx="640080" cy="640080"/>
          </a:xfrm>
          <a:prstGeom prst="rect">
            <a:avLst/>
          </a:prstGeom>
          <a:noFill/>
          <a:ln/>
        </p:spPr>
        <p:txBody>
          <a:bodyPr wrap="square" lIns="0" tIns="0" rIns="0" bIns="0" rtlCol="0" anchor="ctr"/>
          <a:lstStyle/>
          <a:p>
            <a:pPr algn="ctr" indent="0" marL="0">
              <a:buNone/>
            </a:pPr>
            <a:r>
              <a:rPr lang="en-US" sz="2200" b="1" dirty="0">
                <a:solidFill>
                  <a:srgbClr val="B45309"/>
                </a:solidFill>
                <a:latin typeface="Georgia" pitchFamily="34" charset="0"/>
                <a:ea typeface="Georgia" pitchFamily="34" charset="-122"/>
                <a:cs typeface="Georgia" pitchFamily="34" charset="-120"/>
              </a:rPr>
              <a:t>A</a:t>
            </a:r>
            <a:endParaRPr lang="en-US" sz="2200" dirty="0"/>
          </a:p>
        </p:txBody>
      </p:sp>
      <p:sp>
        <p:nvSpPr>
          <p:cNvPr id="7" name="Text 5"/>
          <p:cNvSpPr/>
          <p:nvPr/>
        </p:nvSpPr>
        <p:spPr>
          <a:xfrm>
            <a:off x="1280160" y="2560320"/>
            <a:ext cx="10424160" cy="457200"/>
          </a:xfrm>
          <a:prstGeom prst="rect">
            <a:avLst/>
          </a:prstGeom>
          <a:noFill/>
          <a:ln/>
        </p:spPr>
        <p:txBody>
          <a:bodyPr wrap="square" lIns="0" tIns="0" rIns="0" bIns="0" rtlCol="0" anchor="ctr"/>
          <a:lstStyle/>
          <a:p>
            <a:pPr indent="0" marL="0">
              <a:buNone/>
            </a:pPr>
            <a:r>
              <a:rPr lang="en-US" sz="1600" dirty="0">
                <a:solidFill>
                  <a:srgbClr val="0F172A"/>
                </a:solidFill>
                <a:latin typeface="Calibri" pitchFamily="34" charset="0"/>
                <a:ea typeface="Calibri" pitchFamily="34" charset="-122"/>
                <a:cs typeface="Calibri" pitchFamily="34" charset="-120"/>
              </a:rPr>
              <a:t>A string literal in code, edited like any other line</a:t>
            </a:r>
            <a:endParaRPr lang="en-US" sz="1600" dirty="0"/>
          </a:p>
        </p:txBody>
      </p:sp>
      <p:sp>
        <p:nvSpPr>
          <p:cNvPr id="8" name="Shape 6"/>
          <p:cNvSpPr/>
          <p:nvPr/>
        </p:nvSpPr>
        <p:spPr>
          <a:xfrm>
            <a:off x="457200" y="3337560"/>
            <a:ext cx="640080" cy="640080"/>
          </a:xfrm>
          <a:prstGeom prst="rect">
            <a:avLst/>
          </a:prstGeom>
          <a:solidFill>
            <a:srgbClr val="F8FAFC"/>
          </a:solidFill>
          <a:ln w="12700">
            <a:solidFill>
              <a:srgbClr val="E2E8F0"/>
            </a:solidFill>
            <a:prstDash val="solid"/>
          </a:ln>
        </p:spPr>
      </p:sp>
      <p:sp>
        <p:nvSpPr>
          <p:cNvPr id="9" name="Text 7"/>
          <p:cNvSpPr/>
          <p:nvPr/>
        </p:nvSpPr>
        <p:spPr>
          <a:xfrm>
            <a:off x="457200" y="3337560"/>
            <a:ext cx="640080" cy="640080"/>
          </a:xfrm>
          <a:prstGeom prst="rect">
            <a:avLst/>
          </a:prstGeom>
          <a:noFill/>
          <a:ln/>
        </p:spPr>
        <p:txBody>
          <a:bodyPr wrap="square" lIns="0" tIns="0" rIns="0" bIns="0" rtlCol="0" anchor="ctr"/>
          <a:lstStyle/>
          <a:p>
            <a:pPr algn="ctr" indent="0" marL="0">
              <a:buNone/>
            </a:pPr>
            <a:r>
              <a:rPr lang="en-US" sz="2200" b="1" dirty="0">
                <a:solidFill>
                  <a:srgbClr val="B45309"/>
                </a:solidFill>
                <a:latin typeface="Georgia" pitchFamily="34" charset="0"/>
                <a:ea typeface="Georgia" pitchFamily="34" charset="-122"/>
                <a:cs typeface="Georgia" pitchFamily="34" charset="-120"/>
              </a:rPr>
              <a:t>B</a:t>
            </a:r>
            <a:endParaRPr lang="en-US" sz="2200" dirty="0"/>
          </a:p>
        </p:txBody>
      </p:sp>
      <p:sp>
        <p:nvSpPr>
          <p:cNvPr id="10" name="Text 8"/>
          <p:cNvSpPr/>
          <p:nvPr/>
        </p:nvSpPr>
        <p:spPr>
          <a:xfrm>
            <a:off x="1280160" y="3429000"/>
            <a:ext cx="10424160" cy="457200"/>
          </a:xfrm>
          <a:prstGeom prst="rect">
            <a:avLst/>
          </a:prstGeom>
          <a:noFill/>
          <a:ln/>
        </p:spPr>
        <p:txBody>
          <a:bodyPr wrap="square" lIns="0" tIns="0" rIns="0" bIns="0" rtlCol="0" anchor="ctr"/>
          <a:lstStyle/>
          <a:p>
            <a:pPr indent="0" marL="0">
              <a:buNone/>
            </a:pPr>
            <a:r>
              <a:rPr lang="en-US" sz="1600" dirty="0">
                <a:solidFill>
                  <a:srgbClr val="0F172A"/>
                </a:solidFill>
                <a:latin typeface="Calibri" pitchFamily="34" charset="0"/>
                <a:ea typeface="Calibri" pitchFamily="34" charset="-122"/>
                <a:cs typeface="Calibri" pitchFamily="34" charset="-120"/>
              </a:rPr>
              <a:t>A versioned artefact, reviewed and tracked like a deployment</a:t>
            </a:r>
            <a:endParaRPr lang="en-US" sz="1600" dirty="0"/>
          </a:p>
        </p:txBody>
      </p:sp>
      <p:sp>
        <p:nvSpPr>
          <p:cNvPr id="11" name="Shape 9"/>
          <p:cNvSpPr/>
          <p:nvPr/>
        </p:nvSpPr>
        <p:spPr>
          <a:xfrm>
            <a:off x="457200" y="4206240"/>
            <a:ext cx="640080" cy="640080"/>
          </a:xfrm>
          <a:prstGeom prst="rect">
            <a:avLst/>
          </a:prstGeom>
          <a:solidFill>
            <a:srgbClr val="F8FAFC"/>
          </a:solidFill>
          <a:ln w="12700">
            <a:solidFill>
              <a:srgbClr val="E2E8F0"/>
            </a:solidFill>
            <a:prstDash val="solid"/>
          </a:ln>
        </p:spPr>
      </p:sp>
      <p:sp>
        <p:nvSpPr>
          <p:cNvPr id="12" name="Text 10"/>
          <p:cNvSpPr/>
          <p:nvPr/>
        </p:nvSpPr>
        <p:spPr>
          <a:xfrm>
            <a:off x="457200" y="4206240"/>
            <a:ext cx="640080" cy="640080"/>
          </a:xfrm>
          <a:prstGeom prst="rect">
            <a:avLst/>
          </a:prstGeom>
          <a:noFill/>
          <a:ln/>
        </p:spPr>
        <p:txBody>
          <a:bodyPr wrap="square" lIns="0" tIns="0" rIns="0" bIns="0" rtlCol="0" anchor="ctr"/>
          <a:lstStyle/>
          <a:p>
            <a:pPr algn="ctr" indent="0" marL="0">
              <a:buNone/>
            </a:pPr>
            <a:r>
              <a:rPr lang="en-US" sz="2200" b="1" dirty="0">
                <a:solidFill>
                  <a:srgbClr val="B45309"/>
                </a:solidFill>
                <a:latin typeface="Georgia" pitchFamily="34" charset="0"/>
                <a:ea typeface="Georgia" pitchFamily="34" charset="-122"/>
                <a:cs typeface="Georgia" pitchFamily="34" charset="-120"/>
              </a:rPr>
              <a:t>C</a:t>
            </a:r>
            <a:endParaRPr lang="en-US" sz="2200" dirty="0"/>
          </a:p>
        </p:txBody>
      </p:sp>
      <p:sp>
        <p:nvSpPr>
          <p:cNvPr id="13" name="Text 11"/>
          <p:cNvSpPr/>
          <p:nvPr/>
        </p:nvSpPr>
        <p:spPr>
          <a:xfrm>
            <a:off x="1280160" y="4297680"/>
            <a:ext cx="10424160" cy="457200"/>
          </a:xfrm>
          <a:prstGeom prst="rect">
            <a:avLst/>
          </a:prstGeom>
          <a:noFill/>
          <a:ln/>
        </p:spPr>
        <p:txBody>
          <a:bodyPr wrap="square" lIns="0" tIns="0" rIns="0" bIns="0" rtlCol="0" anchor="ctr"/>
          <a:lstStyle/>
          <a:p>
            <a:pPr indent="0" marL="0">
              <a:buNone/>
            </a:pPr>
            <a:r>
              <a:rPr lang="en-US" sz="1600" dirty="0">
                <a:solidFill>
                  <a:srgbClr val="0F172A"/>
                </a:solidFill>
                <a:latin typeface="Calibri" pitchFamily="34" charset="0"/>
                <a:ea typeface="Calibri" pitchFamily="34" charset="-122"/>
                <a:cs typeface="Calibri" pitchFamily="34" charset="-120"/>
              </a:rPr>
              <a:t>Editable by anyone with access to the runtime</a:t>
            </a:r>
            <a:endParaRPr lang="en-US" sz="1600" dirty="0"/>
          </a:p>
        </p:txBody>
      </p:sp>
      <p:sp>
        <p:nvSpPr>
          <p:cNvPr id="14" name="Shape 12"/>
          <p:cNvSpPr/>
          <p:nvPr/>
        </p:nvSpPr>
        <p:spPr>
          <a:xfrm>
            <a:off x="457200" y="5074920"/>
            <a:ext cx="640080" cy="640080"/>
          </a:xfrm>
          <a:prstGeom prst="rect">
            <a:avLst/>
          </a:prstGeom>
          <a:solidFill>
            <a:srgbClr val="F8FAFC"/>
          </a:solidFill>
          <a:ln w="12700">
            <a:solidFill>
              <a:srgbClr val="E2E8F0"/>
            </a:solidFill>
            <a:prstDash val="solid"/>
          </a:ln>
        </p:spPr>
      </p:sp>
      <p:sp>
        <p:nvSpPr>
          <p:cNvPr id="15" name="Text 13"/>
          <p:cNvSpPr/>
          <p:nvPr/>
        </p:nvSpPr>
        <p:spPr>
          <a:xfrm>
            <a:off x="457200" y="5074920"/>
            <a:ext cx="640080" cy="640080"/>
          </a:xfrm>
          <a:prstGeom prst="rect">
            <a:avLst/>
          </a:prstGeom>
          <a:noFill/>
          <a:ln/>
        </p:spPr>
        <p:txBody>
          <a:bodyPr wrap="square" lIns="0" tIns="0" rIns="0" bIns="0" rtlCol="0" anchor="ctr"/>
          <a:lstStyle/>
          <a:p>
            <a:pPr algn="ctr" indent="0" marL="0">
              <a:buNone/>
            </a:pPr>
            <a:r>
              <a:rPr lang="en-US" sz="2200" b="1" dirty="0">
                <a:solidFill>
                  <a:srgbClr val="B45309"/>
                </a:solidFill>
                <a:latin typeface="Georgia" pitchFamily="34" charset="0"/>
                <a:ea typeface="Georgia" pitchFamily="34" charset="-122"/>
                <a:cs typeface="Georgia" pitchFamily="34" charset="-120"/>
              </a:rPr>
              <a:t>D</a:t>
            </a:r>
            <a:endParaRPr lang="en-US" sz="2200" dirty="0"/>
          </a:p>
        </p:txBody>
      </p:sp>
      <p:sp>
        <p:nvSpPr>
          <p:cNvPr id="16" name="Text 14"/>
          <p:cNvSpPr/>
          <p:nvPr/>
        </p:nvSpPr>
        <p:spPr>
          <a:xfrm>
            <a:off x="1280160" y="5166360"/>
            <a:ext cx="10424160" cy="457200"/>
          </a:xfrm>
          <a:prstGeom prst="rect">
            <a:avLst/>
          </a:prstGeom>
          <a:noFill/>
          <a:ln/>
        </p:spPr>
        <p:txBody>
          <a:bodyPr wrap="square" lIns="0" tIns="0" rIns="0" bIns="0" rtlCol="0" anchor="ctr"/>
          <a:lstStyle/>
          <a:p>
            <a:pPr indent="0" marL="0">
              <a:buNone/>
            </a:pPr>
            <a:r>
              <a:rPr lang="en-US" sz="1600" dirty="0">
                <a:solidFill>
                  <a:srgbClr val="0F172A"/>
                </a:solidFill>
                <a:latin typeface="Calibri" pitchFamily="34" charset="0"/>
                <a:ea typeface="Calibri" pitchFamily="34" charset="-122"/>
                <a:cs typeface="Calibri" pitchFamily="34" charset="-120"/>
              </a:rPr>
              <a:t>Left to the framework default and forgotten</a:t>
            </a:r>
            <a:endParaRPr lang="en-US" sz="1600" dirty="0"/>
          </a:p>
        </p:txBody>
      </p:sp>
      <p:sp>
        <p:nvSpPr>
          <p:cNvPr id="17" name="Shape 15"/>
          <p:cNvSpPr/>
          <p:nvPr/>
        </p:nvSpPr>
        <p:spPr>
          <a:xfrm>
            <a:off x="457200" y="6446520"/>
            <a:ext cx="11274552" cy="0"/>
          </a:xfrm>
          <a:prstGeom prst="line">
            <a:avLst/>
          </a:prstGeom>
          <a:noFill/>
          <a:ln w="6350">
            <a:solidFill>
              <a:srgbClr val="E2E8F0"/>
            </a:solidFill>
            <a:prstDash val="solid"/>
          </a:ln>
        </p:spPr>
      </p:sp>
      <p:sp>
        <p:nvSpPr>
          <p:cNvPr id="18" name="Text 16"/>
          <p:cNvSpPr/>
          <p:nvPr/>
        </p:nvSpPr>
        <p:spPr>
          <a:xfrm>
            <a:off x="457200" y="6537960"/>
            <a:ext cx="914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09</a:t>
            </a:r>
            <a:endParaRPr lang="en-US" sz="900" dirty="0"/>
          </a:p>
        </p:txBody>
      </p:sp>
      <p:sp>
        <p:nvSpPr>
          <p:cNvPr id="19" name="Text 17"/>
          <p:cNvSpPr/>
          <p:nvPr/>
        </p:nvSpPr>
        <p:spPr>
          <a:xfrm>
            <a:off x="5943600" y="6537960"/>
            <a:ext cx="5788152" cy="228600"/>
          </a:xfrm>
          <a:prstGeom prst="rect">
            <a:avLst/>
          </a:prstGeom>
          <a:noFill/>
          <a:ln/>
        </p:spPr>
        <p:txBody>
          <a:bodyPr wrap="square" lIns="0" tIns="0" rIns="0" bIns="0" rtlCol="0" anchor="ctr"/>
          <a:lstStyle/>
          <a:p>
            <a:pPr algn="r" indent="0" marL="0">
              <a:buNone/>
            </a:pPr>
            <a:r>
              <a:rPr lang="en-US" sz="900" i="1" dirty="0">
                <a:solidFill>
                  <a:srgbClr val="94A3B8"/>
                </a:solidFill>
                <a:latin typeface="Calibri" pitchFamily="34" charset="0"/>
                <a:ea typeface="Calibri" pitchFamily="34" charset="-122"/>
                <a:cs typeface="Calibri" pitchFamily="34" charset="-120"/>
              </a:rPr>
              <a:t>Agentic Foundations · Half 1</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4552" cy="274320"/>
          </a:xfrm>
          <a:prstGeom prst="rect">
            <a:avLst/>
          </a:prstGeom>
          <a:noFill/>
          <a:ln/>
        </p:spPr>
        <p:txBody>
          <a:bodyPr wrap="square" lIns="0" tIns="0" rIns="0" bIns="0" rtlCol="0" anchor="ctr"/>
          <a:lstStyle/>
          <a:p>
            <a:pPr indent="0" marL="0">
              <a:buNone/>
            </a:pPr>
            <a:r>
              <a:rPr lang="en-US" sz="1000" b="1" spc="400" kern="0" dirty="0">
                <a:solidFill>
                  <a:srgbClr val="B45309"/>
                </a:solidFill>
                <a:latin typeface="Calibri" pitchFamily="34" charset="0"/>
                <a:ea typeface="Calibri" pitchFamily="34" charset="-122"/>
                <a:cs typeface="Calibri" pitchFamily="34" charset="-120"/>
              </a:rPr>
              <a:t>QUIZ · ANSWER 4 OF 5</a:t>
            </a:r>
            <a:endParaRPr lang="en-US" sz="1000" dirty="0"/>
          </a:p>
        </p:txBody>
      </p:sp>
      <p:sp>
        <p:nvSpPr>
          <p:cNvPr id="3" name="Text 1"/>
          <p:cNvSpPr/>
          <p:nvPr/>
        </p:nvSpPr>
        <p:spPr>
          <a:xfrm>
            <a:off x="457200" y="777240"/>
            <a:ext cx="11274552"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Answer: B</a:t>
            </a:r>
            <a:endParaRPr lang="en-US" sz="2800" dirty="0"/>
          </a:p>
        </p:txBody>
      </p:sp>
      <p:sp>
        <p:nvSpPr>
          <p:cNvPr id="4" name="Text 2"/>
          <p:cNvSpPr/>
          <p:nvPr/>
        </p:nvSpPr>
        <p:spPr>
          <a:xfrm>
            <a:off x="457200" y="1554480"/>
            <a:ext cx="11274552"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A system prompt is policy. Treat it like one.</a:t>
            </a:r>
            <a:endParaRPr lang="en-US" sz="1400" dirty="0"/>
          </a:p>
        </p:txBody>
      </p:sp>
      <p:sp>
        <p:nvSpPr>
          <p:cNvPr id="5" name="Shape 3"/>
          <p:cNvSpPr/>
          <p:nvPr/>
        </p:nvSpPr>
        <p:spPr>
          <a:xfrm>
            <a:off x="457200" y="2057400"/>
            <a:ext cx="11274552" cy="0"/>
          </a:xfrm>
          <a:prstGeom prst="line">
            <a:avLst/>
          </a:prstGeom>
          <a:noFill/>
          <a:ln w="6350">
            <a:solidFill>
              <a:srgbClr val="E2E8F0"/>
            </a:solidFill>
            <a:prstDash val="solid"/>
          </a:ln>
        </p:spPr>
      </p:sp>
      <p:sp>
        <p:nvSpPr>
          <p:cNvPr id="6" name="Shape 4"/>
          <p:cNvSpPr/>
          <p:nvPr/>
        </p:nvSpPr>
        <p:spPr>
          <a:xfrm>
            <a:off x="457200" y="2377440"/>
            <a:ext cx="11274552" cy="1280160"/>
          </a:xfrm>
          <a:prstGeom prst="rect">
            <a:avLst/>
          </a:prstGeom>
          <a:solidFill>
            <a:srgbClr val="FEF3C7"/>
          </a:solidFill>
          <a:ln w="12700">
            <a:solidFill>
              <a:srgbClr val="FEF3C7"/>
            </a:solidFill>
            <a:prstDash val="solid"/>
          </a:ln>
        </p:spPr>
      </p:sp>
      <p:sp>
        <p:nvSpPr>
          <p:cNvPr id="7" name="Shape 5"/>
          <p:cNvSpPr/>
          <p:nvPr/>
        </p:nvSpPr>
        <p:spPr>
          <a:xfrm>
            <a:off x="457200" y="2377440"/>
            <a:ext cx="73152" cy="1280160"/>
          </a:xfrm>
          <a:prstGeom prst="rect">
            <a:avLst/>
          </a:prstGeom>
          <a:solidFill>
            <a:srgbClr val="B45309"/>
          </a:solidFill>
          <a:ln w="12700">
            <a:solidFill>
              <a:srgbClr val="B45309"/>
            </a:solidFill>
            <a:prstDash val="solid"/>
          </a:ln>
        </p:spPr>
      </p:sp>
      <p:sp>
        <p:nvSpPr>
          <p:cNvPr id="8" name="Text 6"/>
          <p:cNvSpPr/>
          <p:nvPr/>
        </p:nvSpPr>
        <p:spPr>
          <a:xfrm>
            <a:off x="777240" y="2514600"/>
            <a:ext cx="10789920" cy="457200"/>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B — A versioned artefact. Reviewed, tracked, regression-tested.</a:t>
            </a:r>
            <a:endParaRPr lang="en-US" sz="1800" dirty="0"/>
          </a:p>
        </p:txBody>
      </p:sp>
      <p:sp>
        <p:nvSpPr>
          <p:cNvPr id="9" name="Text 7"/>
          <p:cNvSpPr/>
          <p:nvPr/>
        </p:nvSpPr>
        <p:spPr>
          <a:xfrm>
            <a:off x="777240" y="3017520"/>
            <a:ext cx="10789920" cy="640080"/>
          </a:xfrm>
          <a:prstGeom prst="rect">
            <a:avLst/>
          </a:prstGeom>
          <a:noFill/>
          <a:ln/>
        </p:spPr>
        <p:txBody>
          <a:bodyPr wrap="square" lIns="0" tIns="0" rIns="0" bIns="0" rtlCol="0" anchor="ctr"/>
          <a:lstStyle/>
          <a:p>
            <a:pPr indent="0" marL="0">
              <a:buNone/>
            </a:pPr>
            <a:r>
              <a:rPr lang="en-US" sz="1300" i="1" dirty="0">
                <a:solidFill>
                  <a:srgbClr val="334155"/>
                </a:solidFill>
                <a:latin typeface="Calibri" pitchFamily="34" charset="0"/>
                <a:ea typeface="Calibri" pitchFamily="34" charset="-122"/>
                <a:cs typeface="Calibri" pitchFamily="34" charset="-120"/>
              </a:rPr>
              <a:t>System prompts encode behaviour, safety boundaries, tone, and tool access. A change to that string is a change to the product. Most teams treat prompts like print statements; that is the gap.</a:t>
            </a:r>
            <a:endParaRPr lang="en-US" sz="1300" dirty="0"/>
          </a:p>
        </p:txBody>
      </p:sp>
      <p:sp>
        <p:nvSpPr>
          <p:cNvPr id="10" name="Text 8"/>
          <p:cNvSpPr/>
          <p:nvPr/>
        </p:nvSpPr>
        <p:spPr>
          <a:xfrm>
            <a:off x="457200" y="4023360"/>
            <a:ext cx="10972800" cy="274320"/>
          </a:xfrm>
          <a:prstGeom prst="rect">
            <a:avLst/>
          </a:prstGeom>
          <a:noFill/>
          <a:ln/>
        </p:spPr>
        <p:txBody>
          <a:bodyPr wrap="square" lIns="0" tIns="0" rIns="0" bIns="0" rtlCol="0" anchor="ctr"/>
          <a:lstStyle/>
          <a:p>
            <a:pPr indent="0" marL="0">
              <a:buNone/>
            </a:pPr>
            <a:r>
              <a:rPr lang="en-US" sz="1000" b="1" spc="300" kern="0" dirty="0">
                <a:solidFill>
                  <a:srgbClr val="B45309"/>
                </a:solidFill>
                <a:latin typeface="Calibri" pitchFamily="34" charset="0"/>
                <a:ea typeface="Calibri" pitchFamily="34" charset="-122"/>
                <a:cs typeface="Calibri" pitchFamily="34" charset="-120"/>
              </a:rPr>
              <a:t>WHAT VERSIONED PROMPTS UNLOCK</a:t>
            </a:r>
            <a:endParaRPr lang="en-US" sz="1000" dirty="0"/>
          </a:p>
        </p:txBody>
      </p:sp>
      <p:sp>
        <p:nvSpPr>
          <p:cNvPr id="11" name="Text 9"/>
          <p:cNvSpPr/>
          <p:nvPr/>
        </p:nvSpPr>
        <p:spPr>
          <a:xfrm>
            <a:off x="457200" y="4434840"/>
            <a:ext cx="2743200" cy="36576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Reproducibility</a:t>
            </a:r>
            <a:endParaRPr lang="en-US" sz="1300" dirty="0"/>
          </a:p>
        </p:txBody>
      </p:sp>
      <p:sp>
        <p:nvSpPr>
          <p:cNvPr id="12" name="Text 10"/>
          <p:cNvSpPr/>
          <p:nvPr/>
        </p:nvSpPr>
        <p:spPr>
          <a:xfrm>
            <a:off x="3291840" y="4434840"/>
            <a:ext cx="8412480" cy="36576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You can reproduce an incident because you know which prompt was live at T.</a:t>
            </a:r>
            <a:endParaRPr lang="en-US" sz="1300" dirty="0"/>
          </a:p>
        </p:txBody>
      </p:sp>
      <p:sp>
        <p:nvSpPr>
          <p:cNvPr id="13" name="Text 11"/>
          <p:cNvSpPr/>
          <p:nvPr/>
        </p:nvSpPr>
        <p:spPr>
          <a:xfrm>
            <a:off x="457200" y="4892040"/>
            <a:ext cx="2743200" cy="36576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Regression testing</a:t>
            </a:r>
            <a:endParaRPr lang="en-US" sz="1300" dirty="0"/>
          </a:p>
        </p:txBody>
      </p:sp>
      <p:sp>
        <p:nvSpPr>
          <p:cNvPr id="14" name="Text 12"/>
          <p:cNvSpPr/>
          <p:nvPr/>
        </p:nvSpPr>
        <p:spPr>
          <a:xfrm>
            <a:off x="3291840" y="4892040"/>
            <a:ext cx="8412480" cy="36576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QA can pin a baseline prompt and detect behaviour drift on every change.</a:t>
            </a:r>
            <a:endParaRPr lang="en-US" sz="1300" dirty="0"/>
          </a:p>
        </p:txBody>
      </p:sp>
      <p:sp>
        <p:nvSpPr>
          <p:cNvPr id="15" name="Text 13"/>
          <p:cNvSpPr/>
          <p:nvPr/>
        </p:nvSpPr>
        <p:spPr>
          <a:xfrm>
            <a:off x="457200" y="5349240"/>
            <a:ext cx="2743200" cy="36576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Audit and review</a:t>
            </a:r>
            <a:endParaRPr lang="en-US" sz="1300" dirty="0"/>
          </a:p>
        </p:txBody>
      </p:sp>
      <p:sp>
        <p:nvSpPr>
          <p:cNvPr id="16" name="Text 14"/>
          <p:cNvSpPr/>
          <p:nvPr/>
        </p:nvSpPr>
        <p:spPr>
          <a:xfrm>
            <a:off x="3291840" y="5349240"/>
            <a:ext cx="8412480" cy="36576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Compliance can review prompt changes the same way they review code changes.</a:t>
            </a:r>
            <a:endParaRPr lang="en-US" sz="1300" dirty="0"/>
          </a:p>
        </p:txBody>
      </p:sp>
      <p:sp>
        <p:nvSpPr>
          <p:cNvPr id="17" name="Text 15"/>
          <p:cNvSpPr/>
          <p:nvPr/>
        </p:nvSpPr>
        <p:spPr>
          <a:xfrm>
            <a:off x="457200" y="5806440"/>
            <a:ext cx="2743200" cy="36576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Rollback</a:t>
            </a:r>
            <a:endParaRPr lang="en-US" sz="1300" dirty="0"/>
          </a:p>
        </p:txBody>
      </p:sp>
      <p:sp>
        <p:nvSpPr>
          <p:cNvPr id="18" name="Text 16"/>
          <p:cNvSpPr/>
          <p:nvPr/>
        </p:nvSpPr>
        <p:spPr>
          <a:xfrm>
            <a:off x="3291840" y="5806440"/>
            <a:ext cx="8412480" cy="36576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A bad prompt deploy is reversible in seconds, not in panic.</a:t>
            </a:r>
            <a:endParaRPr lang="en-US" sz="1300" dirty="0"/>
          </a:p>
        </p:txBody>
      </p:sp>
      <p:sp>
        <p:nvSpPr>
          <p:cNvPr id="19" name="Shape 17"/>
          <p:cNvSpPr/>
          <p:nvPr/>
        </p:nvSpPr>
        <p:spPr>
          <a:xfrm>
            <a:off x="457200" y="6446520"/>
            <a:ext cx="11274552" cy="0"/>
          </a:xfrm>
          <a:prstGeom prst="line">
            <a:avLst/>
          </a:prstGeom>
          <a:noFill/>
          <a:ln w="6350">
            <a:solidFill>
              <a:srgbClr val="E2E8F0"/>
            </a:solidFill>
            <a:prstDash val="solid"/>
          </a:ln>
        </p:spPr>
      </p:sp>
      <p:sp>
        <p:nvSpPr>
          <p:cNvPr id="20" name="Text 18"/>
          <p:cNvSpPr/>
          <p:nvPr/>
        </p:nvSpPr>
        <p:spPr>
          <a:xfrm>
            <a:off x="457200" y="6537960"/>
            <a:ext cx="914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10</a:t>
            </a:r>
            <a:endParaRPr lang="en-US" sz="900" dirty="0"/>
          </a:p>
        </p:txBody>
      </p:sp>
      <p:sp>
        <p:nvSpPr>
          <p:cNvPr id="21" name="Text 19"/>
          <p:cNvSpPr/>
          <p:nvPr/>
        </p:nvSpPr>
        <p:spPr>
          <a:xfrm>
            <a:off x="5943600" y="6537960"/>
            <a:ext cx="5788152" cy="228600"/>
          </a:xfrm>
          <a:prstGeom prst="rect">
            <a:avLst/>
          </a:prstGeom>
          <a:noFill/>
          <a:ln/>
        </p:spPr>
        <p:txBody>
          <a:bodyPr wrap="square" lIns="0" tIns="0" rIns="0" bIns="0" rtlCol="0" anchor="ctr"/>
          <a:lstStyle/>
          <a:p>
            <a:pPr algn="r" indent="0" marL="0">
              <a:buNone/>
            </a:pPr>
            <a:r>
              <a:rPr lang="en-US" sz="900" i="1" dirty="0">
                <a:solidFill>
                  <a:srgbClr val="94A3B8"/>
                </a:solidFill>
                <a:latin typeface="Calibri" pitchFamily="34" charset="0"/>
                <a:ea typeface="Calibri" pitchFamily="34" charset="-122"/>
                <a:cs typeface="Calibri" pitchFamily="34" charset="-120"/>
              </a:rPr>
              <a:t>Agentic Foundations · Half 1</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4552" cy="274320"/>
          </a:xfrm>
          <a:prstGeom prst="rect">
            <a:avLst/>
          </a:prstGeom>
          <a:noFill/>
          <a:ln/>
        </p:spPr>
        <p:txBody>
          <a:bodyPr wrap="square" lIns="0" tIns="0" rIns="0" bIns="0" rtlCol="0" anchor="ctr"/>
          <a:lstStyle/>
          <a:p>
            <a:pPr indent="0" marL="0">
              <a:buNone/>
            </a:pPr>
            <a:r>
              <a:rPr lang="en-US" sz="1000" b="1" spc="400" kern="0" dirty="0">
                <a:solidFill>
                  <a:srgbClr val="B45309"/>
                </a:solidFill>
                <a:latin typeface="Calibri" pitchFamily="34" charset="0"/>
                <a:ea typeface="Calibri" pitchFamily="34" charset="-122"/>
                <a:cs typeface="Calibri" pitchFamily="34" charset="-120"/>
              </a:rPr>
              <a:t>QUIZ · QUESTION 5 OF 5</a:t>
            </a:r>
            <a:endParaRPr lang="en-US" sz="1000" dirty="0"/>
          </a:p>
        </p:txBody>
      </p:sp>
      <p:sp>
        <p:nvSpPr>
          <p:cNvPr id="3" name="Text 1"/>
          <p:cNvSpPr/>
          <p:nvPr/>
        </p:nvSpPr>
        <p:spPr>
          <a:xfrm>
            <a:off x="457200" y="777240"/>
            <a:ext cx="11274552"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Same question, different answer. This is...</a:t>
            </a:r>
            <a:endParaRPr lang="en-US" sz="2800" dirty="0"/>
          </a:p>
        </p:txBody>
      </p:sp>
      <p:sp>
        <p:nvSpPr>
          <p:cNvPr id="4" name="Shape 2"/>
          <p:cNvSpPr/>
          <p:nvPr/>
        </p:nvSpPr>
        <p:spPr>
          <a:xfrm>
            <a:off x="457200" y="2057400"/>
            <a:ext cx="11274552" cy="0"/>
          </a:xfrm>
          <a:prstGeom prst="line">
            <a:avLst/>
          </a:prstGeom>
          <a:noFill/>
          <a:ln w="6350">
            <a:solidFill>
              <a:srgbClr val="E2E8F0"/>
            </a:solidFill>
            <a:prstDash val="solid"/>
          </a:ln>
        </p:spPr>
      </p:sp>
      <p:sp>
        <p:nvSpPr>
          <p:cNvPr id="5" name="Shape 3"/>
          <p:cNvSpPr/>
          <p:nvPr/>
        </p:nvSpPr>
        <p:spPr>
          <a:xfrm>
            <a:off x="457200" y="2468880"/>
            <a:ext cx="640080" cy="640080"/>
          </a:xfrm>
          <a:prstGeom prst="rect">
            <a:avLst/>
          </a:prstGeom>
          <a:solidFill>
            <a:srgbClr val="F8FAFC"/>
          </a:solidFill>
          <a:ln w="12700">
            <a:solidFill>
              <a:srgbClr val="E2E8F0"/>
            </a:solidFill>
            <a:prstDash val="solid"/>
          </a:ln>
        </p:spPr>
      </p:sp>
      <p:sp>
        <p:nvSpPr>
          <p:cNvPr id="6" name="Text 4"/>
          <p:cNvSpPr/>
          <p:nvPr/>
        </p:nvSpPr>
        <p:spPr>
          <a:xfrm>
            <a:off x="457200" y="2468880"/>
            <a:ext cx="640080" cy="640080"/>
          </a:xfrm>
          <a:prstGeom prst="rect">
            <a:avLst/>
          </a:prstGeom>
          <a:noFill/>
          <a:ln/>
        </p:spPr>
        <p:txBody>
          <a:bodyPr wrap="square" lIns="0" tIns="0" rIns="0" bIns="0" rtlCol="0" anchor="ctr"/>
          <a:lstStyle/>
          <a:p>
            <a:pPr algn="ctr" indent="0" marL="0">
              <a:buNone/>
            </a:pPr>
            <a:r>
              <a:rPr lang="en-US" sz="2200" b="1" dirty="0">
                <a:solidFill>
                  <a:srgbClr val="B45309"/>
                </a:solidFill>
                <a:latin typeface="Georgia" pitchFamily="34" charset="0"/>
                <a:ea typeface="Georgia" pitchFamily="34" charset="-122"/>
                <a:cs typeface="Georgia" pitchFamily="34" charset="-120"/>
              </a:rPr>
              <a:t>A</a:t>
            </a:r>
            <a:endParaRPr lang="en-US" sz="2200" dirty="0"/>
          </a:p>
        </p:txBody>
      </p:sp>
      <p:sp>
        <p:nvSpPr>
          <p:cNvPr id="7" name="Text 5"/>
          <p:cNvSpPr/>
          <p:nvPr/>
        </p:nvSpPr>
        <p:spPr>
          <a:xfrm>
            <a:off x="1280160" y="2560320"/>
            <a:ext cx="10424160" cy="457200"/>
          </a:xfrm>
          <a:prstGeom prst="rect">
            <a:avLst/>
          </a:prstGeom>
          <a:noFill/>
          <a:ln/>
        </p:spPr>
        <p:txBody>
          <a:bodyPr wrap="square" lIns="0" tIns="0" rIns="0" bIns="0" rtlCol="0" anchor="ctr"/>
          <a:lstStyle/>
          <a:p>
            <a:pPr indent="0" marL="0">
              <a:buNone/>
            </a:pPr>
            <a:r>
              <a:rPr lang="en-US" sz="1600" dirty="0">
                <a:solidFill>
                  <a:srgbClr val="0F172A"/>
                </a:solidFill>
                <a:latin typeface="Calibri" pitchFamily="34" charset="0"/>
                <a:ea typeface="Calibri" pitchFamily="34" charset="-122"/>
                <a:cs typeface="Calibri" pitchFamily="34" charset="-120"/>
              </a:rPr>
              <a:t>A bug — needs to be fixed</a:t>
            </a:r>
            <a:endParaRPr lang="en-US" sz="1600" dirty="0"/>
          </a:p>
        </p:txBody>
      </p:sp>
      <p:sp>
        <p:nvSpPr>
          <p:cNvPr id="8" name="Shape 6"/>
          <p:cNvSpPr/>
          <p:nvPr/>
        </p:nvSpPr>
        <p:spPr>
          <a:xfrm>
            <a:off x="457200" y="3337560"/>
            <a:ext cx="640080" cy="640080"/>
          </a:xfrm>
          <a:prstGeom prst="rect">
            <a:avLst/>
          </a:prstGeom>
          <a:solidFill>
            <a:srgbClr val="F8FAFC"/>
          </a:solidFill>
          <a:ln w="12700">
            <a:solidFill>
              <a:srgbClr val="E2E8F0"/>
            </a:solidFill>
            <a:prstDash val="solid"/>
          </a:ln>
        </p:spPr>
      </p:sp>
      <p:sp>
        <p:nvSpPr>
          <p:cNvPr id="9" name="Text 7"/>
          <p:cNvSpPr/>
          <p:nvPr/>
        </p:nvSpPr>
        <p:spPr>
          <a:xfrm>
            <a:off x="457200" y="3337560"/>
            <a:ext cx="640080" cy="640080"/>
          </a:xfrm>
          <a:prstGeom prst="rect">
            <a:avLst/>
          </a:prstGeom>
          <a:noFill/>
          <a:ln/>
        </p:spPr>
        <p:txBody>
          <a:bodyPr wrap="square" lIns="0" tIns="0" rIns="0" bIns="0" rtlCol="0" anchor="ctr"/>
          <a:lstStyle/>
          <a:p>
            <a:pPr algn="ctr" indent="0" marL="0">
              <a:buNone/>
            </a:pPr>
            <a:r>
              <a:rPr lang="en-US" sz="2200" b="1" dirty="0">
                <a:solidFill>
                  <a:srgbClr val="B45309"/>
                </a:solidFill>
                <a:latin typeface="Georgia" pitchFamily="34" charset="0"/>
                <a:ea typeface="Georgia" pitchFamily="34" charset="-122"/>
                <a:cs typeface="Georgia" pitchFamily="34" charset="-120"/>
              </a:rPr>
              <a:t>B</a:t>
            </a:r>
            <a:endParaRPr lang="en-US" sz="2200" dirty="0"/>
          </a:p>
        </p:txBody>
      </p:sp>
      <p:sp>
        <p:nvSpPr>
          <p:cNvPr id="10" name="Text 8"/>
          <p:cNvSpPr/>
          <p:nvPr/>
        </p:nvSpPr>
        <p:spPr>
          <a:xfrm>
            <a:off x="1280160" y="3429000"/>
            <a:ext cx="10424160" cy="457200"/>
          </a:xfrm>
          <a:prstGeom prst="rect">
            <a:avLst/>
          </a:prstGeom>
          <a:noFill/>
          <a:ln/>
        </p:spPr>
        <p:txBody>
          <a:bodyPr wrap="square" lIns="0" tIns="0" rIns="0" bIns="0" rtlCol="0" anchor="ctr"/>
          <a:lstStyle/>
          <a:p>
            <a:pPr indent="0" marL="0">
              <a:buNone/>
            </a:pPr>
            <a:r>
              <a:rPr lang="en-US" sz="1600" dirty="0">
                <a:solidFill>
                  <a:srgbClr val="0F172A"/>
                </a:solidFill>
                <a:latin typeface="Calibri" pitchFamily="34" charset="0"/>
                <a:ea typeface="Calibri" pitchFamily="34" charset="-122"/>
                <a:cs typeface="Calibri" pitchFamily="34" charset="-120"/>
              </a:rPr>
              <a:t>Expected — agents are non-deterministic by design</a:t>
            </a:r>
            <a:endParaRPr lang="en-US" sz="1600" dirty="0"/>
          </a:p>
        </p:txBody>
      </p:sp>
      <p:sp>
        <p:nvSpPr>
          <p:cNvPr id="11" name="Shape 9"/>
          <p:cNvSpPr/>
          <p:nvPr/>
        </p:nvSpPr>
        <p:spPr>
          <a:xfrm>
            <a:off x="457200" y="4206240"/>
            <a:ext cx="640080" cy="640080"/>
          </a:xfrm>
          <a:prstGeom prst="rect">
            <a:avLst/>
          </a:prstGeom>
          <a:solidFill>
            <a:srgbClr val="F8FAFC"/>
          </a:solidFill>
          <a:ln w="12700">
            <a:solidFill>
              <a:srgbClr val="E2E8F0"/>
            </a:solidFill>
            <a:prstDash val="solid"/>
          </a:ln>
        </p:spPr>
      </p:sp>
      <p:sp>
        <p:nvSpPr>
          <p:cNvPr id="12" name="Text 10"/>
          <p:cNvSpPr/>
          <p:nvPr/>
        </p:nvSpPr>
        <p:spPr>
          <a:xfrm>
            <a:off x="457200" y="4206240"/>
            <a:ext cx="640080" cy="640080"/>
          </a:xfrm>
          <a:prstGeom prst="rect">
            <a:avLst/>
          </a:prstGeom>
          <a:noFill/>
          <a:ln/>
        </p:spPr>
        <p:txBody>
          <a:bodyPr wrap="square" lIns="0" tIns="0" rIns="0" bIns="0" rtlCol="0" anchor="ctr"/>
          <a:lstStyle/>
          <a:p>
            <a:pPr algn="ctr" indent="0" marL="0">
              <a:buNone/>
            </a:pPr>
            <a:r>
              <a:rPr lang="en-US" sz="2200" b="1" dirty="0">
                <a:solidFill>
                  <a:srgbClr val="B45309"/>
                </a:solidFill>
                <a:latin typeface="Georgia" pitchFamily="34" charset="0"/>
                <a:ea typeface="Georgia" pitchFamily="34" charset="-122"/>
                <a:cs typeface="Georgia" pitchFamily="34" charset="-120"/>
              </a:rPr>
              <a:t>C</a:t>
            </a:r>
            <a:endParaRPr lang="en-US" sz="2200" dirty="0"/>
          </a:p>
        </p:txBody>
      </p:sp>
      <p:sp>
        <p:nvSpPr>
          <p:cNvPr id="13" name="Text 11"/>
          <p:cNvSpPr/>
          <p:nvPr/>
        </p:nvSpPr>
        <p:spPr>
          <a:xfrm>
            <a:off x="1280160" y="4297680"/>
            <a:ext cx="10424160" cy="457200"/>
          </a:xfrm>
          <a:prstGeom prst="rect">
            <a:avLst/>
          </a:prstGeom>
          <a:noFill/>
          <a:ln/>
        </p:spPr>
        <p:txBody>
          <a:bodyPr wrap="square" lIns="0" tIns="0" rIns="0" bIns="0" rtlCol="0" anchor="ctr"/>
          <a:lstStyle/>
          <a:p>
            <a:pPr indent="0" marL="0">
              <a:buNone/>
            </a:pPr>
            <a:r>
              <a:rPr lang="en-US" sz="1600" dirty="0">
                <a:solidFill>
                  <a:srgbClr val="0F172A"/>
                </a:solidFill>
                <a:latin typeface="Calibri" pitchFamily="34" charset="0"/>
                <a:ea typeface="Calibri" pitchFamily="34" charset="-122"/>
                <a:cs typeface="Calibri" pitchFamily="34" charset="-120"/>
              </a:rPr>
              <a:t>Both — depends on what varied between the runs</a:t>
            </a:r>
            <a:endParaRPr lang="en-US" sz="1600" dirty="0"/>
          </a:p>
        </p:txBody>
      </p:sp>
      <p:sp>
        <p:nvSpPr>
          <p:cNvPr id="14" name="Shape 12"/>
          <p:cNvSpPr/>
          <p:nvPr/>
        </p:nvSpPr>
        <p:spPr>
          <a:xfrm>
            <a:off x="457200" y="5074920"/>
            <a:ext cx="640080" cy="640080"/>
          </a:xfrm>
          <a:prstGeom prst="rect">
            <a:avLst/>
          </a:prstGeom>
          <a:solidFill>
            <a:srgbClr val="F8FAFC"/>
          </a:solidFill>
          <a:ln w="12700">
            <a:solidFill>
              <a:srgbClr val="E2E8F0"/>
            </a:solidFill>
            <a:prstDash val="solid"/>
          </a:ln>
        </p:spPr>
      </p:sp>
      <p:sp>
        <p:nvSpPr>
          <p:cNvPr id="15" name="Text 13"/>
          <p:cNvSpPr/>
          <p:nvPr/>
        </p:nvSpPr>
        <p:spPr>
          <a:xfrm>
            <a:off x="457200" y="5074920"/>
            <a:ext cx="640080" cy="640080"/>
          </a:xfrm>
          <a:prstGeom prst="rect">
            <a:avLst/>
          </a:prstGeom>
          <a:noFill/>
          <a:ln/>
        </p:spPr>
        <p:txBody>
          <a:bodyPr wrap="square" lIns="0" tIns="0" rIns="0" bIns="0" rtlCol="0" anchor="ctr"/>
          <a:lstStyle/>
          <a:p>
            <a:pPr algn="ctr" indent="0" marL="0">
              <a:buNone/>
            </a:pPr>
            <a:r>
              <a:rPr lang="en-US" sz="2200" b="1" dirty="0">
                <a:solidFill>
                  <a:srgbClr val="B45309"/>
                </a:solidFill>
                <a:latin typeface="Georgia" pitchFamily="34" charset="0"/>
                <a:ea typeface="Georgia" pitchFamily="34" charset="-122"/>
                <a:cs typeface="Georgia" pitchFamily="34" charset="-120"/>
              </a:rPr>
              <a:t>D</a:t>
            </a:r>
            <a:endParaRPr lang="en-US" sz="2200" dirty="0"/>
          </a:p>
        </p:txBody>
      </p:sp>
      <p:sp>
        <p:nvSpPr>
          <p:cNvPr id="16" name="Text 14"/>
          <p:cNvSpPr/>
          <p:nvPr/>
        </p:nvSpPr>
        <p:spPr>
          <a:xfrm>
            <a:off x="1280160" y="5166360"/>
            <a:ext cx="10424160" cy="457200"/>
          </a:xfrm>
          <a:prstGeom prst="rect">
            <a:avLst/>
          </a:prstGeom>
          <a:noFill/>
          <a:ln/>
        </p:spPr>
        <p:txBody>
          <a:bodyPr wrap="square" lIns="0" tIns="0" rIns="0" bIns="0" rtlCol="0" anchor="ctr"/>
          <a:lstStyle/>
          <a:p>
            <a:pPr indent="0" marL="0">
              <a:buNone/>
            </a:pPr>
            <a:r>
              <a:rPr lang="en-US" sz="1600" dirty="0">
                <a:solidFill>
                  <a:srgbClr val="0F172A"/>
                </a:solidFill>
                <a:latin typeface="Calibri" pitchFamily="34" charset="0"/>
                <a:ea typeface="Calibri" pitchFamily="34" charset="-122"/>
                <a:cs typeface="Calibri" pitchFamily="34" charset="-120"/>
              </a:rPr>
              <a:t>A model issue — switch providers</a:t>
            </a:r>
            <a:endParaRPr lang="en-US" sz="1600" dirty="0"/>
          </a:p>
        </p:txBody>
      </p:sp>
      <p:sp>
        <p:nvSpPr>
          <p:cNvPr id="17" name="Shape 15"/>
          <p:cNvSpPr/>
          <p:nvPr/>
        </p:nvSpPr>
        <p:spPr>
          <a:xfrm>
            <a:off x="457200" y="6446520"/>
            <a:ext cx="11274552" cy="0"/>
          </a:xfrm>
          <a:prstGeom prst="line">
            <a:avLst/>
          </a:prstGeom>
          <a:noFill/>
          <a:ln w="6350">
            <a:solidFill>
              <a:srgbClr val="E2E8F0"/>
            </a:solidFill>
            <a:prstDash val="solid"/>
          </a:ln>
        </p:spPr>
      </p:sp>
      <p:sp>
        <p:nvSpPr>
          <p:cNvPr id="18" name="Text 16"/>
          <p:cNvSpPr/>
          <p:nvPr/>
        </p:nvSpPr>
        <p:spPr>
          <a:xfrm>
            <a:off x="457200" y="6537960"/>
            <a:ext cx="914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11</a:t>
            </a:r>
            <a:endParaRPr lang="en-US" sz="900" dirty="0"/>
          </a:p>
        </p:txBody>
      </p:sp>
      <p:sp>
        <p:nvSpPr>
          <p:cNvPr id="19" name="Text 17"/>
          <p:cNvSpPr/>
          <p:nvPr/>
        </p:nvSpPr>
        <p:spPr>
          <a:xfrm>
            <a:off x="5943600" y="6537960"/>
            <a:ext cx="5788152" cy="228600"/>
          </a:xfrm>
          <a:prstGeom prst="rect">
            <a:avLst/>
          </a:prstGeom>
          <a:noFill/>
          <a:ln/>
        </p:spPr>
        <p:txBody>
          <a:bodyPr wrap="square" lIns="0" tIns="0" rIns="0" bIns="0" rtlCol="0" anchor="ctr"/>
          <a:lstStyle/>
          <a:p>
            <a:pPr algn="r" indent="0" marL="0">
              <a:buNone/>
            </a:pPr>
            <a:r>
              <a:rPr lang="en-US" sz="900" i="1" dirty="0">
                <a:solidFill>
                  <a:srgbClr val="94A3B8"/>
                </a:solidFill>
                <a:latin typeface="Calibri" pitchFamily="34" charset="0"/>
                <a:ea typeface="Calibri" pitchFamily="34" charset="-122"/>
                <a:cs typeface="Calibri" pitchFamily="34" charset="-120"/>
              </a:rPr>
              <a:t>Agentic Foundations · Half 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4552" cy="274320"/>
          </a:xfrm>
          <a:prstGeom prst="rect">
            <a:avLst/>
          </a:prstGeom>
          <a:noFill/>
          <a:ln/>
        </p:spPr>
        <p:txBody>
          <a:bodyPr wrap="square" lIns="0" tIns="0" rIns="0" bIns="0" rtlCol="0" anchor="ctr"/>
          <a:lstStyle/>
          <a:p>
            <a:pPr indent="0" marL="0">
              <a:buNone/>
            </a:pPr>
            <a:r>
              <a:rPr lang="en-US" sz="1000" b="1" spc="400" kern="0" dirty="0">
                <a:solidFill>
                  <a:srgbClr val="B45309"/>
                </a:solidFill>
                <a:latin typeface="Calibri" pitchFamily="34" charset="0"/>
                <a:ea typeface="Calibri" pitchFamily="34" charset="-122"/>
                <a:cs typeface="Calibri" pitchFamily="34" charset="-120"/>
              </a:rPr>
              <a:t>QUIZ · ANSWER 5 OF 5</a:t>
            </a:r>
            <a:endParaRPr lang="en-US" sz="1000" dirty="0"/>
          </a:p>
        </p:txBody>
      </p:sp>
      <p:sp>
        <p:nvSpPr>
          <p:cNvPr id="3" name="Text 1"/>
          <p:cNvSpPr/>
          <p:nvPr/>
        </p:nvSpPr>
        <p:spPr>
          <a:xfrm>
            <a:off x="457200" y="777240"/>
            <a:ext cx="11274552"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Answer: C</a:t>
            </a:r>
            <a:endParaRPr lang="en-US" sz="2800" dirty="0"/>
          </a:p>
        </p:txBody>
      </p:sp>
      <p:sp>
        <p:nvSpPr>
          <p:cNvPr id="4" name="Text 2"/>
          <p:cNvSpPr/>
          <p:nvPr/>
        </p:nvSpPr>
        <p:spPr>
          <a:xfrm>
            <a:off x="457200" y="1554480"/>
            <a:ext cx="11274552"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Variance is allowed. Variance in things that should be invariant is the bug.</a:t>
            </a:r>
            <a:endParaRPr lang="en-US" sz="1400" dirty="0"/>
          </a:p>
        </p:txBody>
      </p:sp>
      <p:sp>
        <p:nvSpPr>
          <p:cNvPr id="5" name="Shape 3"/>
          <p:cNvSpPr/>
          <p:nvPr/>
        </p:nvSpPr>
        <p:spPr>
          <a:xfrm>
            <a:off x="457200" y="2057400"/>
            <a:ext cx="11274552" cy="0"/>
          </a:xfrm>
          <a:prstGeom prst="line">
            <a:avLst/>
          </a:prstGeom>
          <a:noFill/>
          <a:ln w="6350">
            <a:solidFill>
              <a:srgbClr val="E2E8F0"/>
            </a:solidFill>
            <a:prstDash val="solid"/>
          </a:ln>
        </p:spPr>
      </p:sp>
      <p:sp>
        <p:nvSpPr>
          <p:cNvPr id="6" name="Shape 4"/>
          <p:cNvSpPr/>
          <p:nvPr/>
        </p:nvSpPr>
        <p:spPr>
          <a:xfrm>
            <a:off x="457200" y="2377440"/>
            <a:ext cx="11274552" cy="1280160"/>
          </a:xfrm>
          <a:prstGeom prst="rect">
            <a:avLst/>
          </a:prstGeom>
          <a:solidFill>
            <a:srgbClr val="FEF3C7"/>
          </a:solidFill>
          <a:ln w="12700">
            <a:solidFill>
              <a:srgbClr val="FEF3C7"/>
            </a:solidFill>
            <a:prstDash val="solid"/>
          </a:ln>
        </p:spPr>
      </p:sp>
      <p:sp>
        <p:nvSpPr>
          <p:cNvPr id="7" name="Shape 5"/>
          <p:cNvSpPr/>
          <p:nvPr/>
        </p:nvSpPr>
        <p:spPr>
          <a:xfrm>
            <a:off x="457200" y="2377440"/>
            <a:ext cx="73152" cy="1280160"/>
          </a:xfrm>
          <a:prstGeom prst="rect">
            <a:avLst/>
          </a:prstGeom>
          <a:solidFill>
            <a:srgbClr val="B45309"/>
          </a:solidFill>
          <a:ln w="12700">
            <a:solidFill>
              <a:srgbClr val="B45309"/>
            </a:solidFill>
            <a:prstDash val="solid"/>
          </a:ln>
        </p:spPr>
      </p:sp>
      <p:sp>
        <p:nvSpPr>
          <p:cNvPr id="8" name="Text 6"/>
          <p:cNvSpPr/>
          <p:nvPr/>
        </p:nvSpPr>
        <p:spPr>
          <a:xfrm>
            <a:off x="777240" y="2514600"/>
            <a:ext cx="10789920" cy="457200"/>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C — Both. The interesting question is what varied.</a:t>
            </a:r>
            <a:endParaRPr lang="en-US" sz="1800" dirty="0"/>
          </a:p>
        </p:txBody>
      </p:sp>
      <p:sp>
        <p:nvSpPr>
          <p:cNvPr id="9" name="Text 7"/>
          <p:cNvSpPr/>
          <p:nvPr/>
        </p:nvSpPr>
        <p:spPr>
          <a:xfrm>
            <a:off x="777240" y="3017520"/>
            <a:ext cx="10789920" cy="640080"/>
          </a:xfrm>
          <a:prstGeom prst="rect">
            <a:avLst/>
          </a:prstGeom>
          <a:noFill/>
          <a:ln/>
        </p:spPr>
        <p:txBody>
          <a:bodyPr wrap="square" lIns="0" tIns="0" rIns="0" bIns="0" rtlCol="0" anchor="ctr"/>
          <a:lstStyle/>
          <a:p>
            <a:pPr indent="0" marL="0">
              <a:buNone/>
            </a:pPr>
            <a:r>
              <a:rPr lang="en-US" sz="1300" i="1" dirty="0">
                <a:solidFill>
                  <a:srgbClr val="334155"/>
                </a:solidFill>
                <a:latin typeface="Calibri" pitchFamily="34" charset="0"/>
                <a:ea typeface="Calibri" pitchFamily="34" charset="-122"/>
                <a:cs typeface="Calibri" pitchFamily="34" charset="-120"/>
              </a:rPr>
              <a:t>Phrasing, ordering of recommendations, tone — these can vary. Whether a refund was issued, whether PII was disclosed, whether a tool was called — these must not vary across identical inputs.</a:t>
            </a:r>
            <a:endParaRPr lang="en-US" sz="1300" dirty="0"/>
          </a:p>
        </p:txBody>
      </p:sp>
      <p:sp>
        <p:nvSpPr>
          <p:cNvPr id="10" name="Text 8"/>
          <p:cNvSpPr/>
          <p:nvPr/>
        </p:nvSpPr>
        <p:spPr>
          <a:xfrm>
            <a:off x="457200" y="4023360"/>
            <a:ext cx="10972800" cy="274320"/>
          </a:xfrm>
          <a:prstGeom prst="rect">
            <a:avLst/>
          </a:prstGeom>
          <a:noFill/>
          <a:ln/>
        </p:spPr>
        <p:txBody>
          <a:bodyPr wrap="square" lIns="0" tIns="0" rIns="0" bIns="0" rtlCol="0" anchor="ctr"/>
          <a:lstStyle/>
          <a:p>
            <a:pPr indent="0" marL="0">
              <a:buNone/>
            </a:pPr>
            <a:r>
              <a:rPr lang="en-US" sz="1000" b="1" spc="300" kern="0" dirty="0">
                <a:solidFill>
                  <a:srgbClr val="B45309"/>
                </a:solidFill>
                <a:latin typeface="Calibri" pitchFamily="34" charset="0"/>
                <a:ea typeface="Calibri" pitchFamily="34" charset="-122"/>
                <a:cs typeface="Calibri" pitchFamily="34" charset="-120"/>
              </a:rPr>
              <a:t>THE INVARIANCE TEST</a:t>
            </a:r>
            <a:endParaRPr lang="en-US" sz="1000" dirty="0"/>
          </a:p>
        </p:txBody>
      </p:sp>
      <p:sp>
        <p:nvSpPr>
          <p:cNvPr id="11" name="Text 9"/>
          <p:cNvSpPr/>
          <p:nvPr/>
        </p:nvSpPr>
        <p:spPr>
          <a:xfrm>
            <a:off x="457200" y="4343400"/>
            <a:ext cx="11274552" cy="640080"/>
          </a:xfrm>
          <a:prstGeom prst="rect">
            <a:avLst/>
          </a:prstGeom>
          <a:noFill/>
          <a:ln/>
        </p:spPr>
        <p:txBody>
          <a:bodyPr wrap="square" lIns="0" tIns="0" rIns="0" bIns="0" rtlCol="0" anchor="ctr"/>
          <a:lstStyle/>
          <a:p>
            <a:pPr indent="0" marL="0">
              <a:buNone/>
            </a:pPr>
            <a:r>
              <a:rPr lang="en-US" sz="1400" i="1" dirty="0">
                <a:solidFill>
                  <a:srgbClr val="0F172A"/>
                </a:solidFill>
                <a:latin typeface="Calibri" pitchFamily="34" charset="0"/>
                <a:ea typeface="Calibri" pitchFamily="34" charset="-122"/>
                <a:cs typeface="Calibri" pitchFamily="34" charset="-120"/>
              </a:rPr>
              <a:t>Before shipping any agent feature, list every output dimension. For each, mark it M (must be invariant) or V (variance acceptable). Test the M list with N identical-input replays. Any M that drifts is a defect.</a:t>
            </a:r>
            <a:endParaRPr lang="en-US" sz="1400" dirty="0"/>
          </a:p>
        </p:txBody>
      </p:sp>
      <p:sp>
        <p:nvSpPr>
          <p:cNvPr id="12" name="Shape 10"/>
          <p:cNvSpPr/>
          <p:nvPr/>
        </p:nvSpPr>
        <p:spPr>
          <a:xfrm>
            <a:off x="457200" y="5166360"/>
            <a:ext cx="5486400" cy="0"/>
          </a:xfrm>
          <a:prstGeom prst="line">
            <a:avLst/>
          </a:prstGeom>
          <a:noFill/>
          <a:ln w="19050">
            <a:solidFill>
              <a:srgbClr val="B91C1C"/>
            </a:solidFill>
            <a:prstDash val="solid"/>
          </a:ln>
        </p:spPr>
      </p:sp>
      <p:sp>
        <p:nvSpPr>
          <p:cNvPr id="13" name="Text 11"/>
          <p:cNvSpPr/>
          <p:nvPr/>
        </p:nvSpPr>
        <p:spPr>
          <a:xfrm>
            <a:off x="457200" y="5257800"/>
            <a:ext cx="5486400" cy="274320"/>
          </a:xfrm>
          <a:prstGeom prst="rect">
            <a:avLst/>
          </a:prstGeom>
          <a:noFill/>
          <a:ln/>
        </p:spPr>
        <p:txBody>
          <a:bodyPr wrap="square" lIns="0" tIns="0" rIns="0" bIns="0" rtlCol="0" anchor="ctr"/>
          <a:lstStyle/>
          <a:p>
            <a:pPr indent="0" marL="0">
              <a:buNone/>
            </a:pPr>
            <a:r>
              <a:rPr lang="en-US" sz="1100" b="1" spc="200" kern="0" dirty="0">
                <a:solidFill>
                  <a:srgbClr val="B91C1C"/>
                </a:solidFill>
                <a:latin typeface="Calibri" pitchFamily="34" charset="0"/>
                <a:ea typeface="Calibri" pitchFamily="34" charset="-122"/>
                <a:cs typeface="Calibri" pitchFamily="34" charset="-120"/>
              </a:rPr>
              <a:t>MUST BE INVARIANT (M)</a:t>
            </a:r>
            <a:endParaRPr lang="en-US" sz="1100" dirty="0"/>
          </a:p>
        </p:txBody>
      </p:sp>
      <p:sp>
        <p:nvSpPr>
          <p:cNvPr id="14" name="Text 12"/>
          <p:cNvSpPr/>
          <p:nvPr/>
        </p:nvSpPr>
        <p:spPr>
          <a:xfrm>
            <a:off x="457200" y="5577840"/>
            <a:ext cx="5486400" cy="868680"/>
          </a:xfrm>
          <a:prstGeom prst="rect">
            <a:avLst/>
          </a:prstGeom>
          <a:noFill/>
          <a:ln/>
        </p:spPr>
        <p:txBody>
          <a:bodyPr wrap="square" lIns="0" tIns="0" rIns="0" bIns="0" rtlCol="0" anchor="ctr"/>
          <a:lstStyle/>
          <a:p>
            <a:pPr marL="342900" indent="-342900">
              <a:buSzPct val="100000"/>
              <a:buChar char="—"/>
            </a:pPr>
            <a:r>
              <a:rPr lang="en-US" sz="1200" dirty="0">
                <a:solidFill>
                  <a:srgbClr val="0F172A"/>
                </a:solidFill>
                <a:latin typeface="Calibri" pitchFamily="34" charset="0"/>
                <a:ea typeface="Calibri" pitchFamily="34" charset="-122"/>
                <a:cs typeface="Calibri" pitchFamily="34" charset="-120"/>
              </a:rPr>
              <a:t>Whether a tool with side effects was called</a:t>
            </a:r>
            <a:endParaRPr lang="en-US" sz="1200" dirty="0"/>
          </a:p>
          <a:p>
            <a:pPr marL="342900" indent="-342900">
              <a:buSzPct val="100000"/>
              <a:buChar char="—"/>
            </a:pPr>
            <a:r>
              <a:rPr lang="en-US" sz="1200" dirty="0">
                <a:solidFill>
                  <a:srgbClr val="0F172A"/>
                </a:solidFill>
                <a:latin typeface="Calibri" pitchFamily="34" charset="0"/>
                <a:ea typeface="Calibri" pitchFamily="34" charset="-122"/>
                <a:cs typeface="Calibri" pitchFamily="34" charset="-120"/>
              </a:rPr>
              <a:t>Whether PII was disclosed</a:t>
            </a:r>
            <a:endParaRPr lang="en-US" sz="1200" dirty="0"/>
          </a:p>
          <a:p>
            <a:pPr marL="342900" indent="-342900">
              <a:buSzPct val="100000"/>
              <a:buChar char="—"/>
            </a:pPr>
            <a:r>
              <a:rPr lang="en-US" sz="1200" dirty="0">
                <a:solidFill>
                  <a:srgbClr val="0F172A"/>
                </a:solidFill>
                <a:latin typeface="Calibri" pitchFamily="34" charset="0"/>
                <a:ea typeface="Calibri" pitchFamily="34" charset="-122"/>
                <a:cs typeface="Calibri" pitchFamily="34" charset="-120"/>
              </a:rPr>
              <a:t>Whether an approval gate fired</a:t>
            </a:r>
            <a:endParaRPr lang="en-US" sz="1200" dirty="0"/>
          </a:p>
          <a:p>
            <a:pPr marL="342900" indent="-342900">
              <a:buSzPct val="100000"/>
              <a:buChar char="—"/>
            </a:pPr>
            <a:r>
              <a:rPr lang="en-US" sz="1200" dirty="0">
                <a:solidFill>
                  <a:srgbClr val="0F172A"/>
                </a:solidFill>
                <a:latin typeface="Calibri" pitchFamily="34" charset="0"/>
                <a:ea typeface="Calibri" pitchFamily="34" charset="-122"/>
                <a:cs typeface="Calibri" pitchFamily="34" charset="-120"/>
              </a:rPr>
              <a:t>Whether the answer was within policy</a:t>
            </a:r>
            <a:endParaRPr lang="en-US" sz="1200" dirty="0"/>
          </a:p>
        </p:txBody>
      </p:sp>
      <p:sp>
        <p:nvSpPr>
          <p:cNvPr id="15" name="Shape 13"/>
          <p:cNvSpPr/>
          <p:nvPr/>
        </p:nvSpPr>
        <p:spPr>
          <a:xfrm>
            <a:off x="6126480" y="5166360"/>
            <a:ext cx="5486400" cy="0"/>
          </a:xfrm>
          <a:prstGeom prst="line">
            <a:avLst/>
          </a:prstGeom>
          <a:noFill/>
          <a:ln w="19050">
            <a:solidFill>
              <a:srgbClr val="047857"/>
            </a:solidFill>
            <a:prstDash val="solid"/>
          </a:ln>
        </p:spPr>
      </p:sp>
      <p:sp>
        <p:nvSpPr>
          <p:cNvPr id="16" name="Text 14"/>
          <p:cNvSpPr/>
          <p:nvPr/>
        </p:nvSpPr>
        <p:spPr>
          <a:xfrm>
            <a:off x="6126480" y="5257800"/>
            <a:ext cx="5486400" cy="274320"/>
          </a:xfrm>
          <a:prstGeom prst="rect">
            <a:avLst/>
          </a:prstGeom>
          <a:noFill/>
          <a:ln/>
        </p:spPr>
        <p:txBody>
          <a:bodyPr wrap="square" lIns="0" tIns="0" rIns="0" bIns="0" rtlCol="0" anchor="ctr"/>
          <a:lstStyle/>
          <a:p>
            <a:pPr indent="0" marL="0">
              <a:buNone/>
            </a:pPr>
            <a:r>
              <a:rPr lang="en-US" sz="1100" b="1" spc="200" kern="0" dirty="0">
                <a:solidFill>
                  <a:srgbClr val="047857"/>
                </a:solidFill>
                <a:latin typeface="Calibri" pitchFamily="34" charset="0"/>
                <a:ea typeface="Calibri" pitchFamily="34" charset="-122"/>
                <a:cs typeface="Calibri" pitchFamily="34" charset="-120"/>
              </a:rPr>
              <a:t>VARIANCE ACCEPTABLE (V)</a:t>
            </a:r>
            <a:endParaRPr lang="en-US" sz="1100" dirty="0"/>
          </a:p>
        </p:txBody>
      </p:sp>
      <p:sp>
        <p:nvSpPr>
          <p:cNvPr id="17" name="Text 15"/>
          <p:cNvSpPr/>
          <p:nvPr/>
        </p:nvSpPr>
        <p:spPr>
          <a:xfrm>
            <a:off x="6126480" y="5577840"/>
            <a:ext cx="5486400" cy="868680"/>
          </a:xfrm>
          <a:prstGeom prst="rect">
            <a:avLst/>
          </a:prstGeom>
          <a:noFill/>
          <a:ln/>
        </p:spPr>
        <p:txBody>
          <a:bodyPr wrap="square" lIns="0" tIns="0" rIns="0" bIns="0" rtlCol="0" anchor="ctr"/>
          <a:lstStyle/>
          <a:p>
            <a:pPr marL="342900" indent="-342900">
              <a:buSzPct val="100000"/>
              <a:buChar char="—"/>
            </a:pPr>
            <a:r>
              <a:rPr lang="en-US" sz="1200" dirty="0">
                <a:solidFill>
                  <a:srgbClr val="0F172A"/>
                </a:solidFill>
                <a:latin typeface="Calibri" pitchFamily="34" charset="0"/>
                <a:ea typeface="Calibri" pitchFamily="34" charset="-122"/>
                <a:cs typeface="Calibri" pitchFamily="34" charset="-120"/>
              </a:rPr>
              <a:t>Wording of the response</a:t>
            </a:r>
            <a:endParaRPr lang="en-US" sz="1200" dirty="0"/>
          </a:p>
          <a:p>
            <a:pPr marL="342900" indent="-342900">
              <a:buSzPct val="100000"/>
              <a:buChar char="—"/>
            </a:pPr>
            <a:r>
              <a:rPr lang="en-US" sz="1200" dirty="0">
                <a:solidFill>
                  <a:srgbClr val="0F172A"/>
                </a:solidFill>
                <a:latin typeface="Calibri" pitchFamily="34" charset="0"/>
                <a:ea typeface="Calibri" pitchFamily="34" charset="-122"/>
                <a:cs typeface="Calibri" pitchFamily="34" charset="-120"/>
              </a:rPr>
              <a:t>Order of options shown to the user</a:t>
            </a:r>
            <a:endParaRPr lang="en-US" sz="1200" dirty="0"/>
          </a:p>
          <a:p>
            <a:pPr marL="342900" indent="-342900">
              <a:buSzPct val="100000"/>
              <a:buChar char="—"/>
            </a:pPr>
            <a:r>
              <a:rPr lang="en-US" sz="1200" dirty="0">
                <a:solidFill>
                  <a:srgbClr val="0F172A"/>
                </a:solidFill>
                <a:latin typeface="Calibri" pitchFamily="34" charset="0"/>
                <a:ea typeface="Calibri" pitchFamily="34" charset="-122"/>
                <a:cs typeface="Calibri" pitchFamily="34" charset="-120"/>
              </a:rPr>
              <a:t>Length and tone</a:t>
            </a:r>
            <a:endParaRPr lang="en-US" sz="1200" dirty="0"/>
          </a:p>
          <a:p>
            <a:pPr marL="342900" indent="-342900">
              <a:buSzPct val="100000"/>
              <a:buChar char="—"/>
            </a:pPr>
            <a:r>
              <a:rPr lang="en-US" sz="1200" dirty="0">
                <a:solidFill>
                  <a:srgbClr val="0F172A"/>
                </a:solidFill>
                <a:latin typeface="Calibri" pitchFamily="34" charset="0"/>
                <a:ea typeface="Calibri" pitchFamily="34" charset="-122"/>
                <a:cs typeface="Calibri" pitchFamily="34" charset="-120"/>
              </a:rPr>
              <a:t>Choice between equally valid tools</a:t>
            </a:r>
            <a:endParaRPr lang="en-US" sz="1200" dirty="0"/>
          </a:p>
        </p:txBody>
      </p:sp>
      <p:sp>
        <p:nvSpPr>
          <p:cNvPr id="18" name="Shape 16"/>
          <p:cNvSpPr/>
          <p:nvPr/>
        </p:nvSpPr>
        <p:spPr>
          <a:xfrm>
            <a:off x="457200" y="6446520"/>
            <a:ext cx="11274552" cy="0"/>
          </a:xfrm>
          <a:prstGeom prst="line">
            <a:avLst/>
          </a:prstGeom>
          <a:noFill/>
          <a:ln w="6350">
            <a:solidFill>
              <a:srgbClr val="E2E8F0"/>
            </a:solidFill>
            <a:prstDash val="solid"/>
          </a:ln>
        </p:spPr>
      </p:sp>
      <p:sp>
        <p:nvSpPr>
          <p:cNvPr id="19" name="Text 17"/>
          <p:cNvSpPr/>
          <p:nvPr/>
        </p:nvSpPr>
        <p:spPr>
          <a:xfrm>
            <a:off x="457200" y="6537960"/>
            <a:ext cx="914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12</a:t>
            </a:r>
            <a:endParaRPr lang="en-US" sz="900" dirty="0"/>
          </a:p>
        </p:txBody>
      </p:sp>
      <p:sp>
        <p:nvSpPr>
          <p:cNvPr id="20" name="Text 18"/>
          <p:cNvSpPr/>
          <p:nvPr/>
        </p:nvSpPr>
        <p:spPr>
          <a:xfrm>
            <a:off x="5943600" y="6537960"/>
            <a:ext cx="5788152" cy="228600"/>
          </a:xfrm>
          <a:prstGeom prst="rect">
            <a:avLst/>
          </a:prstGeom>
          <a:noFill/>
          <a:ln/>
        </p:spPr>
        <p:txBody>
          <a:bodyPr wrap="square" lIns="0" tIns="0" rIns="0" bIns="0" rtlCol="0" anchor="ctr"/>
          <a:lstStyle/>
          <a:p>
            <a:pPr algn="r" indent="0" marL="0">
              <a:buNone/>
            </a:pPr>
            <a:r>
              <a:rPr lang="en-US" sz="900" i="1" dirty="0">
                <a:solidFill>
                  <a:srgbClr val="94A3B8"/>
                </a:solidFill>
                <a:latin typeface="Calibri" pitchFamily="34" charset="0"/>
                <a:ea typeface="Calibri" pitchFamily="34" charset="-122"/>
                <a:cs typeface="Calibri" pitchFamily="34" charset="-120"/>
              </a:rPr>
              <a:t>Agentic Foundations · Half 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4552" cy="274320"/>
          </a:xfrm>
          <a:prstGeom prst="rect">
            <a:avLst/>
          </a:prstGeom>
          <a:noFill/>
          <a:ln/>
        </p:spPr>
        <p:txBody>
          <a:bodyPr wrap="square" lIns="0" tIns="0" rIns="0" bIns="0" rtlCol="0" anchor="ctr"/>
          <a:lstStyle/>
          <a:p>
            <a:pPr indent="0" marL="0">
              <a:buNone/>
            </a:pPr>
            <a:r>
              <a:rPr lang="en-US" sz="1000" b="1" spc="400" kern="0" dirty="0">
                <a:solidFill>
                  <a:srgbClr val="B45309"/>
                </a:solidFill>
                <a:latin typeface="Calibri" pitchFamily="34" charset="0"/>
                <a:ea typeface="Calibri" pitchFamily="34" charset="-122"/>
                <a:cs typeface="Calibri" pitchFamily="34" charset="-120"/>
              </a:rPr>
              <a:t>HALF 1 BEGINS</a:t>
            </a:r>
            <a:endParaRPr lang="en-US" sz="1000" dirty="0"/>
          </a:p>
        </p:txBody>
      </p:sp>
      <p:sp>
        <p:nvSpPr>
          <p:cNvPr id="3" name="Text 1"/>
          <p:cNvSpPr/>
          <p:nvPr/>
        </p:nvSpPr>
        <p:spPr>
          <a:xfrm>
            <a:off x="457200" y="777240"/>
            <a:ext cx="11274552"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Foundations: definition, anatomy, failure</a:t>
            </a:r>
            <a:endParaRPr lang="en-US" sz="2800" dirty="0"/>
          </a:p>
        </p:txBody>
      </p:sp>
      <p:sp>
        <p:nvSpPr>
          <p:cNvPr id="4" name="Text 2"/>
          <p:cNvSpPr/>
          <p:nvPr/>
        </p:nvSpPr>
        <p:spPr>
          <a:xfrm>
            <a:off x="457200" y="1554480"/>
            <a:ext cx="11274552"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Six concepts. One definition. One diagram. By 11:30, you can draw an agent on a whiteboard.</a:t>
            </a:r>
            <a:endParaRPr lang="en-US" sz="1400" dirty="0"/>
          </a:p>
        </p:txBody>
      </p:sp>
      <p:sp>
        <p:nvSpPr>
          <p:cNvPr id="5" name="Shape 3"/>
          <p:cNvSpPr/>
          <p:nvPr/>
        </p:nvSpPr>
        <p:spPr>
          <a:xfrm>
            <a:off x="457200" y="2057400"/>
            <a:ext cx="11274552" cy="0"/>
          </a:xfrm>
          <a:prstGeom prst="line">
            <a:avLst/>
          </a:prstGeom>
          <a:noFill/>
          <a:ln w="6350">
            <a:solidFill>
              <a:srgbClr val="E2E8F0"/>
            </a:solidFill>
            <a:prstDash val="solid"/>
          </a:ln>
        </p:spPr>
      </p:sp>
      <p:sp>
        <p:nvSpPr>
          <p:cNvPr id="6" name="Text 4"/>
          <p:cNvSpPr/>
          <p:nvPr/>
        </p:nvSpPr>
        <p:spPr>
          <a:xfrm>
            <a:off x="457200" y="2377440"/>
            <a:ext cx="640080" cy="320040"/>
          </a:xfrm>
          <a:prstGeom prst="rect">
            <a:avLst/>
          </a:prstGeom>
          <a:noFill/>
          <a:ln/>
        </p:spPr>
        <p:txBody>
          <a:bodyPr wrap="square" lIns="0" tIns="0" rIns="0" bIns="0" rtlCol="0" anchor="ctr"/>
          <a:lstStyle/>
          <a:p>
            <a:pPr indent="0" marL="0">
              <a:buNone/>
            </a:pPr>
            <a:r>
              <a:rPr lang="en-US" sz="1400" b="1" dirty="0">
                <a:solidFill>
                  <a:srgbClr val="B45309"/>
                </a:solidFill>
                <a:latin typeface="Georgia" pitchFamily="34" charset="0"/>
                <a:ea typeface="Georgia" pitchFamily="34" charset="-122"/>
                <a:cs typeface="Georgia" pitchFamily="34" charset="-120"/>
              </a:rPr>
              <a:t>01</a:t>
            </a:r>
            <a:endParaRPr lang="en-US" sz="1400" dirty="0"/>
          </a:p>
        </p:txBody>
      </p:sp>
      <p:sp>
        <p:nvSpPr>
          <p:cNvPr id="7" name="Text 5"/>
          <p:cNvSpPr/>
          <p:nvPr/>
        </p:nvSpPr>
        <p:spPr>
          <a:xfrm>
            <a:off x="1097280" y="2377440"/>
            <a:ext cx="493776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What an agent is</a:t>
            </a:r>
            <a:endParaRPr lang="en-US" sz="1600" dirty="0"/>
          </a:p>
        </p:txBody>
      </p:sp>
      <p:sp>
        <p:nvSpPr>
          <p:cNvPr id="8" name="Text 6"/>
          <p:cNvSpPr/>
          <p:nvPr/>
        </p:nvSpPr>
        <p:spPr>
          <a:xfrm>
            <a:off x="1097280" y="2788920"/>
            <a:ext cx="4937760" cy="64008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A definition that holds up under pushback</a:t>
            </a:r>
            <a:endParaRPr lang="en-US" sz="1200" dirty="0"/>
          </a:p>
        </p:txBody>
      </p:sp>
      <p:sp>
        <p:nvSpPr>
          <p:cNvPr id="9" name="Text 7"/>
          <p:cNvSpPr/>
          <p:nvPr/>
        </p:nvSpPr>
        <p:spPr>
          <a:xfrm>
            <a:off x="6217920" y="2377440"/>
            <a:ext cx="640080" cy="320040"/>
          </a:xfrm>
          <a:prstGeom prst="rect">
            <a:avLst/>
          </a:prstGeom>
          <a:noFill/>
          <a:ln/>
        </p:spPr>
        <p:txBody>
          <a:bodyPr wrap="square" lIns="0" tIns="0" rIns="0" bIns="0" rtlCol="0" anchor="ctr"/>
          <a:lstStyle/>
          <a:p>
            <a:pPr indent="0" marL="0">
              <a:buNone/>
            </a:pPr>
            <a:r>
              <a:rPr lang="en-US" sz="1400" b="1" dirty="0">
                <a:solidFill>
                  <a:srgbClr val="B45309"/>
                </a:solidFill>
                <a:latin typeface="Georgia" pitchFamily="34" charset="0"/>
                <a:ea typeface="Georgia" pitchFamily="34" charset="-122"/>
                <a:cs typeface="Georgia" pitchFamily="34" charset="-120"/>
              </a:rPr>
              <a:t>02</a:t>
            </a:r>
            <a:endParaRPr lang="en-US" sz="1400" dirty="0"/>
          </a:p>
        </p:txBody>
      </p:sp>
      <p:sp>
        <p:nvSpPr>
          <p:cNvPr id="10" name="Text 8"/>
          <p:cNvSpPr/>
          <p:nvPr/>
        </p:nvSpPr>
        <p:spPr>
          <a:xfrm>
            <a:off x="6858000" y="2377440"/>
            <a:ext cx="493776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Four-quadrant rubric</a:t>
            </a:r>
            <a:endParaRPr lang="en-US" sz="1600" dirty="0"/>
          </a:p>
        </p:txBody>
      </p:sp>
      <p:sp>
        <p:nvSpPr>
          <p:cNvPr id="11" name="Text 9"/>
          <p:cNvSpPr/>
          <p:nvPr/>
        </p:nvSpPr>
        <p:spPr>
          <a:xfrm>
            <a:off x="6858000" y="2788920"/>
            <a:ext cx="4937760" cy="64008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When to build an agent and when not to</a:t>
            </a:r>
            <a:endParaRPr lang="en-US" sz="1200" dirty="0"/>
          </a:p>
        </p:txBody>
      </p:sp>
      <p:sp>
        <p:nvSpPr>
          <p:cNvPr id="12" name="Text 10"/>
          <p:cNvSpPr/>
          <p:nvPr/>
        </p:nvSpPr>
        <p:spPr>
          <a:xfrm>
            <a:off x="457200" y="3703320"/>
            <a:ext cx="640080" cy="320040"/>
          </a:xfrm>
          <a:prstGeom prst="rect">
            <a:avLst/>
          </a:prstGeom>
          <a:noFill/>
          <a:ln/>
        </p:spPr>
        <p:txBody>
          <a:bodyPr wrap="square" lIns="0" tIns="0" rIns="0" bIns="0" rtlCol="0" anchor="ctr"/>
          <a:lstStyle/>
          <a:p>
            <a:pPr indent="0" marL="0">
              <a:buNone/>
            </a:pPr>
            <a:r>
              <a:rPr lang="en-US" sz="1400" b="1" dirty="0">
                <a:solidFill>
                  <a:srgbClr val="B45309"/>
                </a:solidFill>
                <a:latin typeface="Georgia" pitchFamily="34" charset="0"/>
                <a:ea typeface="Georgia" pitchFamily="34" charset="-122"/>
                <a:cs typeface="Georgia" pitchFamily="34" charset="-120"/>
              </a:rPr>
              <a:t>03</a:t>
            </a:r>
            <a:endParaRPr lang="en-US" sz="1400" dirty="0"/>
          </a:p>
        </p:txBody>
      </p:sp>
      <p:sp>
        <p:nvSpPr>
          <p:cNvPr id="13" name="Text 11"/>
          <p:cNvSpPr/>
          <p:nvPr/>
        </p:nvSpPr>
        <p:spPr>
          <a:xfrm>
            <a:off x="1097280" y="3703320"/>
            <a:ext cx="493776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LLM vs workflow vs agent vs multi-agent</a:t>
            </a:r>
            <a:endParaRPr lang="en-US" sz="1600" dirty="0"/>
          </a:p>
        </p:txBody>
      </p:sp>
      <p:sp>
        <p:nvSpPr>
          <p:cNvPr id="14" name="Text 12"/>
          <p:cNvSpPr/>
          <p:nvPr/>
        </p:nvSpPr>
        <p:spPr>
          <a:xfrm>
            <a:off x="1097280" y="4114800"/>
            <a:ext cx="4937760" cy="64008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Vocabulary that distinguishes the categories</a:t>
            </a:r>
            <a:endParaRPr lang="en-US" sz="1200" dirty="0"/>
          </a:p>
        </p:txBody>
      </p:sp>
      <p:sp>
        <p:nvSpPr>
          <p:cNvPr id="15" name="Text 13"/>
          <p:cNvSpPr/>
          <p:nvPr/>
        </p:nvSpPr>
        <p:spPr>
          <a:xfrm>
            <a:off x="6217920" y="3703320"/>
            <a:ext cx="640080" cy="320040"/>
          </a:xfrm>
          <a:prstGeom prst="rect">
            <a:avLst/>
          </a:prstGeom>
          <a:noFill/>
          <a:ln/>
        </p:spPr>
        <p:txBody>
          <a:bodyPr wrap="square" lIns="0" tIns="0" rIns="0" bIns="0" rtlCol="0" anchor="ctr"/>
          <a:lstStyle/>
          <a:p>
            <a:pPr indent="0" marL="0">
              <a:buNone/>
            </a:pPr>
            <a:r>
              <a:rPr lang="en-US" sz="1400" b="1" dirty="0">
                <a:solidFill>
                  <a:srgbClr val="B45309"/>
                </a:solidFill>
                <a:latin typeface="Georgia" pitchFamily="34" charset="0"/>
                <a:ea typeface="Georgia" pitchFamily="34" charset="-122"/>
                <a:cs typeface="Georgia" pitchFamily="34" charset="-120"/>
              </a:rPr>
              <a:t>04</a:t>
            </a:r>
            <a:endParaRPr lang="en-US" sz="1400" dirty="0"/>
          </a:p>
        </p:txBody>
      </p:sp>
      <p:sp>
        <p:nvSpPr>
          <p:cNvPr id="16" name="Text 14"/>
          <p:cNvSpPr/>
          <p:nvPr/>
        </p:nvSpPr>
        <p:spPr>
          <a:xfrm>
            <a:off x="6858000" y="3703320"/>
            <a:ext cx="493776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Demo-to-production gap</a:t>
            </a:r>
            <a:endParaRPr lang="en-US" sz="1600" dirty="0"/>
          </a:p>
        </p:txBody>
      </p:sp>
      <p:sp>
        <p:nvSpPr>
          <p:cNvPr id="17" name="Text 15"/>
          <p:cNvSpPr/>
          <p:nvPr/>
        </p:nvSpPr>
        <p:spPr>
          <a:xfrm>
            <a:off x="6858000" y="4114800"/>
            <a:ext cx="4937760" cy="64008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Eight dimensions where reality breaks the demo</a:t>
            </a:r>
            <a:endParaRPr lang="en-US" sz="1200" dirty="0"/>
          </a:p>
        </p:txBody>
      </p:sp>
      <p:sp>
        <p:nvSpPr>
          <p:cNvPr id="18" name="Text 16"/>
          <p:cNvSpPr/>
          <p:nvPr/>
        </p:nvSpPr>
        <p:spPr>
          <a:xfrm>
            <a:off x="457200" y="5029200"/>
            <a:ext cx="640080" cy="320040"/>
          </a:xfrm>
          <a:prstGeom prst="rect">
            <a:avLst/>
          </a:prstGeom>
          <a:noFill/>
          <a:ln/>
        </p:spPr>
        <p:txBody>
          <a:bodyPr wrap="square" lIns="0" tIns="0" rIns="0" bIns="0" rtlCol="0" anchor="ctr"/>
          <a:lstStyle/>
          <a:p>
            <a:pPr indent="0" marL="0">
              <a:buNone/>
            </a:pPr>
            <a:r>
              <a:rPr lang="en-US" sz="1400" b="1" dirty="0">
                <a:solidFill>
                  <a:srgbClr val="B45309"/>
                </a:solidFill>
                <a:latin typeface="Georgia" pitchFamily="34" charset="0"/>
                <a:ea typeface="Georgia" pitchFamily="34" charset="-122"/>
                <a:cs typeface="Georgia" pitchFamily="34" charset="-120"/>
              </a:rPr>
              <a:t>05</a:t>
            </a:r>
            <a:endParaRPr lang="en-US" sz="1400" dirty="0"/>
          </a:p>
        </p:txBody>
      </p:sp>
      <p:sp>
        <p:nvSpPr>
          <p:cNvPr id="19" name="Text 17"/>
          <p:cNvSpPr/>
          <p:nvPr/>
        </p:nvSpPr>
        <p:spPr>
          <a:xfrm>
            <a:off x="1097280" y="5029200"/>
            <a:ext cx="493776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Anatomy: six components</a:t>
            </a:r>
            <a:endParaRPr lang="en-US" sz="1600" dirty="0"/>
          </a:p>
        </p:txBody>
      </p:sp>
      <p:sp>
        <p:nvSpPr>
          <p:cNvPr id="20" name="Text 18"/>
          <p:cNvSpPr/>
          <p:nvPr/>
        </p:nvSpPr>
        <p:spPr>
          <a:xfrm>
            <a:off x="1097280" y="5440680"/>
            <a:ext cx="4937760" cy="64008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Planner, tools, memory, retriever, evaluator, UI</a:t>
            </a:r>
            <a:endParaRPr lang="en-US" sz="1200" dirty="0"/>
          </a:p>
        </p:txBody>
      </p:sp>
      <p:sp>
        <p:nvSpPr>
          <p:cNvPr id="21" name="Text 19"/>
          <p:cNvSpPr/>
          <p:nvPr/>
        </p:nvSpPr>
        <p:spPr>
          <a:xfrm>
            <a:off x="6217920" y="5029200"/>
            <a:ext cx="640080" cy="320040"/>
          </a:xfrm>
          <a:prstGeom prst="rect">
            <a:avLst/>
          </a:prstGeom>
          <a:noFill/>
          <a:ln/>
        </p:spPr>
        <p:txBody>
          <a:bodyPr wrap="square" lIns="0" tIns="0" rIns="0" bIns="0" rtlCol="0" anchor="ctr"/>
          <a:lstStyle/>
          <a:p>
            <a:pPr indent="0" marL="0">
              <a:buNone/>
            </a:pPr>
            <a:r>
              <a:rPr lang="en-US" sz="1400" b="1" dirty="0">
                <a:solidFill>
                  <a:srgbClr val="B45309"/>
                </a:solidFill>
                <a:latin typeface="Georgia" pitchFamily="34" charset="0"/>
                <a:ea typeface="Georgia" pitchFamily="34" charset="-122"/>
                <a:cs typeface="Georgia" pitchFamily="34" charset="-120"/>
              </a:rPr>
              <a:t>06</a:t>
            </a:r>
            <a:endParaRPr lang="en-US" sz="1400" dirty="0"/>
          </a:p>
        </p:txBody>
      </p:sp>
      <p:sp>
        <p:nvSpPr>
          <p:cNvPr id="22" name="Text 20"/>
          <p:cNvSpPr/>
          <p:nvPr/>
        </p:nvSpPr>
        <p:spPr>
          <a:xfrm>
            <a:off x="6858000" y="5029200"/>
            <a:ext cx="493776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Six enterprise failure patterns</a:t>
            </a:r>
            <a:endParaRPr lang="en-US" sz="1600" dirty="0"/>
          </a:p>
        </p:txBody>
      </p:sp>
      <p:sp>
        <p:nvSpPr>
          <p:cNvPr id="23" name="Text 21"/>
          <p:cNvSpPr/>
          <p:nvPr/>
        </p:nvSpPr>
        <p:spPr>
          <a:xfrm>
            <a:off x="6858000" y="5440680"/>
            <a:ext cx="4937760" cy="64008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What goes wrong, why, and what it looks like</a:t>
            </a:r>
            <a:endParaRPr lang="en-US" sz="1200" dirty="0"/>
          </a:p>
        </p:txBody>
      </p:sp>
      <p:sp>
        <p:nvSpPr>
          <p:cNvPr id="24" name="Shape 22"/>
          <p:cNvSpPr/>
          <p:nvPr/>
        </p:nvSpPr>
        <p:spPr>
          <a:xfrm>
            <a:off x="457200" y="6446520"/>
            <a:ext cx="11274552" cy="0"/>
          </a:xfrm>
          <a:prstGeom prst="line">
            <a:avLst/>
          </a:prstGeom>
          <a:noFill/>
          <a:ln w="6350">
            <a:solidFill>
              <a:srgbClr val="E2E8F0"/>
            </a:solidFill>
            <a:prstDash val="solid"/>
          </a:ln>
        </p:spPr>
      </p:sp>
      <p:sp>
        <p:nvSpPr>
          <p:cNvPr id="25" name="Text 23"/>
          <p:cNvSpPr/>
          <p:nvPr/>
        </p:nvSpPr>
        <p:spPr>
          <a:xfrm>
            <a:off x="457200" y="6537960"/>
            <a:ext cx="914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13</a:t>
            </a:r>
            <a:endParaRPr lang="en-US" sz="900" dirty="0"/>
          </a:p>
        </p:txBody>
      </p:sp>
      <p:sp>
        <p:nvSpPr>
          <p:cNvPr id="26" name="Text 24"/>
          <p:cNvSpPr/>
          <p:nvPr/>
        </p:nvSpPr>
        <p:spPr>
          <a:xfrm>
            <a:off x="5943600" y="6537960"/>
            <a:ext cx="5788152" cy="228600"/>
          </a:xfrm>
          <a:prstGeom prst="rect">
            <a:avLst/>
          </a:prstGeom>
          <a:noFill/>
          <a:ln/>
        </p:spPr>
        <p:txBody>
          <a:bodyPr wrap="square" lIns="0" tIns="0" rIns="0" bIns="0" rtlCol="0" anchor="ctr"/>
          <a:lstStyle/>
          <a:p>
            <a:pPr algn="r" indent="0" marL="0">
              <a:buNone/>
            </a:pPr>
            <a:r>
              <a:rPr lang="en-US" sz="900" i="1" dirty="0">
                <a:solidFill>
                  <a:srgbClr val="94A3B8"/>
                </a:solidFill>
                <a:latin typeface="Calibri" pitchFamily="34" charset="0"/>
                <a:ea typeface="Calibri" pitchFamily="34" charset="-122"/>
                <a:cs typeface="Calibri" pitchFamily="34" charset="-120"/>
              </a:rPr>
              <a:t>Agentic Foundations · Half 1</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4552" cy="274320"/>
          </a:xfrm>
          <a:prstGeom prst="rect">
            <a:avLst/>
          </a:prstGeom>
          <a:noFill/>
          <a:ln/>
        </p:spPr>
        <p:txBody>
          <a:bodyPr wrap="square" lIns="0" tIns="0" rIns="0" bIns="0" rtlCol="0" anchor="ctr"/>
          <a:lstStyle/>
          <a:p>
            <a:pPr indent="0" marL="0">
              <a:buNone/>
            </a:pPr>
            <a:r>
              <a:rPr lang="en-US" sz="1000" b="1" spc="400" kern="0" dirty="0">
                <a:solidFill>
                  <a:srgbClr val="B45309"/>
                </a:solidFill>
                <a:latin typeface="Calibri" pitchFamily="34" charset="0"/>
                <a:ea typeface="Calibri" pitchFamily="34" charset="-122"/>
                <a:cs typeface="Calibri" pitchFamily="34" charset="-120"/>
              </a:rPr>
              <a:t>01 · DEFINITION</a:t>
            </a:r>
            <a:endParaRPr lang="en-US" sz="1000" dirty="0"/>
          </a:p>
        </p:txBody>
      </p:sp>
      <p:sp>
        <p:nvSpPr>
          <p:cNvPr id="3" name="Text 1"/>
          <p:cNvSpPr/>
          <p:nvPr/>
        </p:nvSpPr>
        <p:spPr>
          <a:xfrm>
            <a:off x="457200" y="777240"/>
            <a:ext cx="11274552"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What an agent actually is</a:t>
            </a:r>
            <a:endParaRPr lang="en-US" sz="2800" dirty="0"/>
          </a:p>
        </p:txBody>
      </p:sp>
      <p:sp>
        <p:nvSpPr>
          <p:cNvPr id="4" name="Text 2"/>
          <p:cNvSpPr/>
          <p:nvPr/>
        </p:nvSpPr>
        <p:spPr>
          <a:xfrm>
            <a:off x="457200" y="1554480"/>
            <a:ext cx="11274552"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A working definition you can use as a knife for the rest of the program.</a:t>
            </a:r>
            <a:endParaRPr lang="en-US" sz="1400" dirty="0"/>
          </a:p>
        </p:txBody>
      </p:sp>
      <p:sp>
        <p:nvSpPr>
          <p:cNvPr id="5" name="Shape 3"/>
          <p:cNvSpPr/>
          <p:nvPr/>
        </p:nvSpPr>
        <p:spPr>
          <a:xfrm>
            <a:off x="457200" y="2057400"/>
            <a:ext cx="11274552" cy="0"/>
          </a:xfrm>
          <a:prstGeom prst="line">
            <a:avLst/>
          </a:prstGeom>
          <a:noFill/>
          <a:ln w="6350">
            <a:solidFill>
              <a:srgbClr val="E2E8F0"/>
            </a:solidFill>
            <a:prstDash val="solid"/>
          </a:ln>
        </p:spPr>
      </p:sp>
      <p:sp>
        <p:nvSpPr>
          <p:cNvPr id="6" name="Shape 4"/>
          <p:cNvSpPr/>
          <p:nvPr/>
        </p:nvSpPr>
        <p:spPr>
          <a:xfrm>
            <a:off x="457200" y="2377440"/>
            <a:ext cx="36576" cy="1463040"/>
          </a:xfrm>
          <a:prstGeom prst="line">
            <a:avLst/>
          </a:prstGeom>
          <a:noFill/>
          <a:ln w="38100">
            <a:solidFill>
              <a:srgbClr val="B45309"/>
            </a:solidFill>
            <a:prstDash val="solid"/>
          </a:ln>
        </p:spPr>
      </p:sp>
      <p:sp>
        <p:nvSpPr>
          <p:cNvPr id="7" name="Text 5"/>
          <p:cNvSpPr/>
          <p:nvPr/>
        </p:nvSpPr>
        <p:spPr>
          <a:xfrm>
            <a:off x="777240" y="2377440"/>
            <a:ext cx="10789920" cy="1463040"/>
          </a:xfrm>
          <a:prstGeom prst="rect">
            <a:avLst/>
          </a:prstGeom>
          <a:noFill/>
          <a:ln/>
        </p:spPr>
        <p:txBody>
          <a:bodyPr wrap="square" lIns="0" tIns="0" rIns="0" bIns="0" rtlCol="0" anchor="ctr"/>
          <a:lstStyle/>
          <a:p>
            <a:pPr indent="0" marL="0">
              <a:buNone/>
            </a:pPr>
            <a:r>
              <a:rPr lang="en-US" sz="2200" i="1" dirty="0">
                <a:solidFill>
                  <a:srgbClr val="0F172A"/>
                </a:solidFill>
                <a:latin typeface="Georgia" pitchFamily="34" charset="0"/>
                <a:ea typeface="Georgia" pitchFamily="34" charset="-122"/>
                <a:cs typeface="Georgia" pitchFamily="34" charset="-120"/>
              </a:rPr>
              <a:t>An agent is a system that, given a goal, plans a sequence of steps, calls tools to execute them, observes the results, and decides what to do next, until the goal is met or it gives up.</a:t>
            </a:r>
            <a:endParaRPr lang="en-US" sz="2200" dirty="0"/>
          </a:p>
        </p:txBody>
      </p:sp>
      <p:sp>
        <p:nvSpPr>
          <p:cNvPr id="8" name="Text 6"/>
          <p:cNvSpPr/>
          <p:nvPr/>
        </p:nvSpPr>
        <p:spPr>
          <a:xfrm>
            <a:off x="457200" y="4069080"/>
            <a:ext cx="10972800" cy="274320"/>
          </a:xfrm>
          <a:prstGeom prst="rect">
            <a:avLst/>
          </a:prstGeom>
          <a:noFill/>
          <a:ln/>
        </p:spPr>
        <p:txBody>
          <a:bodyPr wrap="square" lIns="0" tIns="0" rIns="0" bIns="0" rtlCol="0" anchor="ctr"/>
          <a:lstStyle/>
          <a:p>
            <a:pPr indent="0" marL="0">
              <a:buNone/>
            </a:pPr>
            <a:r>
              <a:rPr lang="en-US" sz="1000" b="1" spc="300" kern="0" dirty="0">
                <a:solidFill>
                  <a:srgbClr val="B45309"/>
                </a:solidFill>
                <a:latin typeface="Calibri" pitchFamily="34" charset="0"/>
                <a:ea typeface="Calibri" pitchFamily="34" charset="-122"/>
                <a:cs typeface="Calibri" pitchFamily="34" charset="-120"/>
              </a:rPr>
              <a:t>THREE SIGNALS THAT SEPARATE AN AGENT FROM A CHATBOT</a:t>
            </a:r>
            <a:endParaRPr lang="en-US" sz="1000" dirty="0"/>
          </a:p>
        </p:txBody>
      </p:sp>
      <p:sp>
        <p:nvSpPr>
          <p:cNvPr id="9" name="Shape 7"/>
          <p:cNvSpPr/>
          <p:nvPr/>
        </p:nvSpPr>
        <p:spPr>
          <a:xfrm>
            <a:off x="457200" y="4434840"/>
            <a:ext cx="3566160" cy="0"/>
          </a:xfrm>
          <a:prstGeom prst="line">
            <a:avLst/>
          </a:prstGeom>
          <a:noFill/>
          <a:ln w="12700">
            <a:solidFill>
              <a:srgbClr val="E2E8F0"/>
            </a:solidFill>
            <a:prstDash val="solid"/>
          </a:ln>
        </p:spPr>
      </p:sp>
      <p:sp>
        <p:nvSpPr>
          <p:cNvPr id="10" name="Text 8"/>
          <p:cNvSpPr/>
          <p:nvPr/>
        </p:nvSpPr>
        <p:spPr>
          <a:xfrm>
            <a:off x="457200" y="4526280"/>
            <a:ext cx="457200" cy="365760"/>
          </a:xfrm>
          <a:prstGeom prst="rect">
            <a:avLst/>
          </a:prstGeom>
          <a:noFill/>
          <a:ln/>
        </p:spPr>
        <p:txBody>
          <a:bodyPr wrap="square" lIns="0" tIns="0" rIns="0" bIns="0" rtlCol="0" anchor="ctr"/>
          <a:lstStyle/>
          <a:p>
            <a:pPr indent="0" marL="0">
              <a:buNone/>
            </a:pPr>
            <a:r>
              <a:rPr lang="en-US" sz="2200" b="1" dirty="0">
                <a:solidFill>
                  <a:srgbClr val="B45309"/>
                </a:solidFill>
                <a:latin typeface="Georgia" pitchFamily="34" charset="0"/>
                <a:ea typeface="Georgia" pitchFamily="34" charset="-122"/>
                <a:cs typeface="Georgia" pitchFamily="34" charset="-120"/>
              </a:rPr>
              <a:t>1</a:t>
            </a:r>
            <a:endParaRPr lang="en-US" sz="2200" dirty="0"/>
          </a:p>
        </p:txBody>
      </p:sp>
      <p:sp>
        <p:nvSpPr>
          <p:cNvPr id="11" name="Text 9"/>
          <p:cNvSpPr/>
          <p:nvPr/>
        </p:nvSpPr>
        <p:spPr>
          <a:xfrm>
            <a:off x="914400" y="4526280"/>
            <a:ext cx="3108960" cy="45720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Decides next step from observation</a:t>
            </a:r>
            <a:endParaRPr lang="en-US" sz="1300" dirty="0"/>
          </a:p>
        </p:txBody>
      </p:sp>
      <p:sp>
        <p:nvSpPr>
          <p:cNvPr id="12" name="Text 10"/>
          <p:cNvSpPr/>
          <p:nvPr/>
        </p:nvSpPr>
        <p:spPr>
          <a:xfrm>
            <a:off x="457200" y="5120640"/>
            <a:ext cx="3566160" cy="118872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Not from a fixed script. The execution graph is rewritten at runtime by the LLM.</a:t>
            </a:r>
            <a:endParaRPr lang="en-US" sz="1200" dirty="0"/>
          </a:p>
        </p:txBody>
      </p:sp>
      <p:sp>
        <p:nvSpPr>
          <p:cNvPr id="13" name="Shape 11"/>
          <p:cNvSpPr/>
          <p:nvPr/>
        </p:nvSpPr>
        <p:spPr>
          <a:xfrm>
            <a:off x="4251960" y="4434840"/>
            <a:ext cx="3566160" cy="0"/>
          </a:xfrm>
          <a:prstGeom prst="line">
            <a:avLst/>
          </a:prstGeom>
          <a:noFill/>
          <a:ln w="12700">
            <a:solidFill>
              <a:srgbClr val="E2E8F0"/>
            </a:solidFill>
            <a:prstDash val="solid"/>
          </a:ln>
        </p:spPr>
      </p:sp>
      <p:sp>
        <p:nvSpPr>
          <p:cNvPr id="14" name="Text 12"/>
          <p:cNvSpPr/>
          <p:nvPr/>
        </p:nvSpPr>
        <p:spPr>
          <a:xfrm>
            <a:off x="4251960" y="4526280"/>
            <a:ext cx="457200" cy="365760"/>
          </a:xfrm>
          <a:prstGeom prst="rect">
            <a:avLst/>
          </a:prstGeom>
          <a:noFill/>
          <a:ln/>
        </p:spPr>
        <p:txBody>
          <a:bodyPr wrap="square" lIns="0" tIns="0" rIns="0" bIns="0" rtlCol="0" anchor="ctr"/>
          <a:lstStyle/>
          <a:p>
            <a:pPr indent="0" marL="0">
              <a:buNone/>
            </a:pPr>
            <a:r>
              <a:rPr lang="en-US" sz="2200" b="1" dirty="0">
                <a:solidFill>
                  <a:srgbClr val="B45309"/>
                </a:solidFill>
                <a:latin typeface="Georgia" pitchFamily="34" charset="0"/>
                <a:ea typeface="Georgia" pitchFamily="34" charset="-122"/>
                <a:cs typeface="Georgia" pitchFamily="34" charset="-120"/>
              </a:rPr>
              <a:t>2</a:t>
            </a:r>
            <a:endParaRPr lang="en-US" sz="2200" dirty="0"/>
          </a:p>
        </p:txBody>
      </p:sp>
      <p:sp>
        <p:nvSpPr>
          <p:cNvPr id="15" name="Text 13"/>
          <p:cNvSpPr/>
          <p:nvPr/>
        </p:nvSpPr>
        <p:spPr>
          <a:xfrm>
            <a:off x="4709160" y="4526280"/>
            <a:ext cx="3108960" cy="45720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Calls tools with side effects</a:t>
            </a:r>
            <a:endParaRPr lang="en-US" sz="1300" dirty="0"/>
          </a:p>
        </p:txBody>
      </p:sp>
      <p:sp>
        <p:nvSpPr>
          <p:cNvPr id="16" name="Text 14"/>
          <p:cNvSpPr/>
          <p:nvPr/>
        </p:nvSpPr>
        <p:spPr>
          <a:xfrm>
            <a:off x="4251960" y="5120640"/>
            <a:ext cx="3566160" cy="118872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Writes to databases, hits booking APIs, sends notifications. Not just text generation.</a:t>
            </a:r>
            <a:endParaRPr lang="en-US" sz="1200" dirty="0"/>
          </a:p>
        </p:txBody>
      </p:sp>
      <p:sp>
        <p:nvSpPr>
          <p:cNvPr id="17" name="Shape 15"/>
          <p:cNvSpPr/>
          <p:nvPr/>
        </p:nvSpPr>
        <p:spPr>
          <a:xfrm>
            <a:off x="8046720" y="4434840"/>
            <a:ext cx="3566160" cy="0"/>
          </a:xfrm>
          <a:prstGeom prst="line">
            <a:avLst/>
          </a:prstGeom>
          <a:noFill/>
          <a:ln w="12700">
            <a:solidFill>
              <a:srgbClr val="E2E8F0"/>
            </a:solidFill>
            <a:prstDash val="solid"/>
          </a:ln>
        </p:spPr>
      </p:sp>
      <p:sp>
        <p:nvSpPr>
          <p:cNvPr id="18" name="Text 16"/>
          <p:cNvSpPr/>
          <p:nvPr/>
        </p:nvSpPr>
        <p:spPr>
          <a:xfrm>
            <a:off x="8046720" y="4526280"/>
            <a:ext cx="457200" cy="365760"/>
          </a:xfrm>
          <a:prstGeom prst="rect">
            <a:avLst/>
          </a:prstGeom>
          <a:noFill/>
          <a:ln/>
        </p:spPr>
        <p:txBody>
          <a:bodyPr wrap="square" lIns="0" tIns="0" rIns="0" bIns="0" rtlCol="0" anchor="ctr"/>
          <a:lstStyle/>
          <a:p>
            <a:pPr indent="0" marL="0">
              <a:buNone/>
            </a:pPr>
            <a:r>
              <a:rPr lang="en-US" sz="2200" b="1" dirty="0">
                <a:solidFill>
                  <a:srgbClr val="B45309"/>
                </a:solidFill>
                <a:latin typeface="Georgia" pitchFamily="34" charset="0"/>
                <a:ea typeface="Georgia" pitchFamily="34" charset="-122"/>
                <a:cs typeface="Georgia" pitchFamily="34" charset="-120"/>
              </a:rPr>
              <a:t>3</a:t>
            </a:r>
            <a:endParaRPr lang="en-US" sz="2200" dirty="0"/>
          </a:p>
        </p:txBody>
      </p:sp>
      <p:sp>
        <p:nvSpPr>
          <p:cNvPr id="19" name="Text 17"/>
          <p:cNvSpPr/>
          <p:nvPr/>
        </p:nvSpPr>
        <p:spPr>
          <a:xfrm>
            <a:off x="8503920" y="4526280"/>
            <a:ext cx="3108960" cy="45720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Runs across multiple turns</a:t>
            </a:r>
            <a:endParaRPr lang="en-US" sz="1300" dirty="0"/>
          </a:p>
        </p:txBody>
      </p:sp>
      <p:sp>
        <p:nvSpPr>
          <p:cNvPr id="20" name="Text 18"/>
          <p:cNvSpPr/>
          <p:nvPr/>
        </p:nvSpPr>
        <p:spPr>
          <a:xfrm>
            <a:off x="8046720" y="5120640"/>
            <a:ext cx="3566160" cy="118872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Plan, act, observe, decide, repeat. A single LLM call is not an agent, no matter how clever the prompt.</a:t>
            </a:r>
            <a:endParaRPr lang="en-US" sz="1200" dirty="0"/>
          </a:p>
        </p:txBody>
      </p:sp>
      <p:sp>
        <p:nvSpPr>
          <p:cNvPr id="21" name="Shape 19"/>
          <p:cNvSpPr/>
          <p:nvPr/>
        </p:nvSpPr>
        <p:spPr>
          <a:xfrm>
            <a:off x="457200" y="6446520"/>
            <a:ext cx="11274552" cy="0"/>
          </a:xfrm>
          <a:prstGeom prst="line">
            <a:avLst/>
          </a:prstGeom>
          <a:noFill/>
          <a:ln w="6350">
            <a:solidFill>
              <a:srgbClr val="E2E8F0"/>
            </a:solidFill>
            <a:prstDash val="solid"/>
          </a:ln>
        </p:spPr>
      </p:sp>
      <p:sp>
        <p:nvSpPr>
          <p:cNvPr id="22" name="Text 20"/>
          <p:cNvSpPr/>
          <p:nvPr/>
        </p:nvSpPr>
        <p:spPr>
          <a:xfrm>
            <a:off x="457200" y="6537960"/>
            <a:ext cx="914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14</a:t>
            </a:r>
            <a:endParaRPr lang="en-US" sz="900" dirty="0"/>
          </a:p>
        </p:txBody>
      </p:sp>
      <p:sp>
        <p:nvSpPr>
          <p:cNvPr id="23" name="Text 21"/>
          <p:cNvSpPr/>
          <p:nvPr/>
        </p:nvSpPr>
        <p:spPr>
          <a:xfrm>
            <a:off x="5943600" y="6537960"/>
            <a:ext cx="5788152" cy="228600"/>
          </a:xfrm>
          <a:prstGeom prst="rect">
            <a:avLst/>
          </a:prstGeom>
          <a:noFill/>
          <a:ln/>
        </p:spPr>
        <p:txBody>
          <a:bodyPr wrap="square" lIns="0" tIns="0" rIns="0" bIns="0" rtlCol="0" anchor="ctr"/>
          <a:lstStyle/>
          <a:p>
            <a:pPr algn="r" indent="0" marL="0">
              <a:buNone/>
            </a:pPr>
            <a:r>
              <a:rPr lang="en-US" sz="900" i="1" dirty="0">
                <a:solidFill>
                  <a:srgbClr val="94A3B8"/>
                </a:solidFill>
                <a:latin typeface="Calibri" pitchFamily="34" charset="0"/>
                <a:ea typeface="Calibri" pitchFamily="34" charset="-122"/>
                <a:cs typeface="Calibri" pitchFamily="34" charset="-120"/>
              </a:rPr>
              <a:t>Agentic Foundations · Half 1</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4552" cy="274320"/>
          </a:xfrm>
          <a:prstGeom prst="rect">
            <a:avLst/>
          </a:prstGeom>
          <a:noFill/>
          <a:ln/>
        </p:spPr>
        <p:txBody>
          <a:bodyPr wrap="square" lIns="0" tIns="0" rIns="0" bIns="0" rtlCol="0" anchor="ctr"/>
          <a:lstStyle/>
          <a:p>
            <a:pPr indent="0" marL="0">
              <a:buNone/>
            </a:pPr>
            <a:r>
              <a:rPr lang="en-US" sz="1000" b="1" spc="400" kern="0" dirty="0">
                <a:solidFill>
                  <a:srgbClr val="B45309"/>
                </a:solidFill>
                <a:latin typeface="Calibri" pitchFamily="34" charset="0"/>
                <a:ea typeface="Calibri" pitchFamily="34" charset="-122"/>
                <a:cs typeface="Calibri" pitchFamily="34" charset="-120"/>
              </a:rPr>
              <a:t>01 · DEFINITION (CONTINUED)</a:t>
            </a:r>
            <a:endParaRPr lang="en-US" sz="1000" dirty="0"/>
          </a:p>
        </p:txBody>
      </p:sp>
      <p:sp>
        <p:nvSpPr>
          <p:cNvPr id="3" name="Text 1"/>
          <p:cNvSpPr/>
          <p:nvPr/>
        </p:nvSpPr>
        <p:spPr>
          <a:xfrm>
            <a:off x="457200" y="777240"/>
            <a:ext cx="11274552"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What an agent is not</a:t>
            </a:r>
            <a:endParaRPr lang="en-US" sz="2800" dirty="0"/>
          </a:p>
        </p:txBody>
      </p:sp>
      <p:sp>
        <p:nvSpPr>
          <p:cNvPr id="4" name="Text 2"/>
          <p:cNvSpPr/>
          <p:nvPr/>
        </p:nvSpPr>
        <p:spPr>
          <a:xfrm>
            <a:off x="457200" y="1554480"/>
            <a:ext cx="11274552"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Use this list as a counter to marketing fog.</a:t>
            </a:r>
            <a:endParaRPr lang="en-US" sz="1400" dirty="0"/>
          </a:p>
        </p:txBody>
      </p:sp>
      <p:sp>
        <p:nvSpPr>
          <p:cNvPr id="5" name="Shape 3"/>
          <p:cNvSpPr/>
          <p:nvPr/>
        </p:nvSpPr>
        <p:spPr>
          <a:xfrm>
            <a:off x="457200" y="2057400"/>
            <a:ext cx="11274552" cy="0"/>
          </a:xfrm>
          <a:prstGeom prst="line">
            <a:avLst/>
          </a:prstGeom>
          <a:noFill/>
          <a:ln w="6350">
            <a:solidFill>
              <a:srgbClr val="E2E8F0"/>
            </a:solidFill>
            <a:prstDash val="solid"/>
          </a:ln>
        </p:spPr>
      </p:sp>
      <p:sp>
        <p:nvSpPr>
          <p:cNvPr id="6" name="Shape 4"/>
          <p:cNvSpPr/>
          <p:nvPr/>
        </p:nvSpPr>
        <p:spPr>
          <a:xfrm>
            <a:off x="457200" y="2468880"/>
            <a:ext cx="11274552" cy="0"/>
          </a:xfrm>
          <a:prstGeom prst="line">
            <a:avLst/>
          </a:prstGeom>
          <a:noFill/>
          <a:ln w="6350">
            <a:solidFill>
              <a:srgbClr val="E2E8F0"/>
            </a:solidFill>
            <a:prstDash val="solid"/>
          </a:ln>
        </p:spPr>
      </p:sp>
      <p:sp>
        <p:nvSpPr>
          <p:cNvPr id="7" name="Text 5"/>
          <p:cNvSpPr/>
          <p:nvPr/>
        </p:nvSpPr>
        <p:spPr>
          <a:xfrm>
            <a:off x="457200" y="2606040"/>
            <a:ext cx="365760" cy="365760"/>
          </a:xfrm>
          <a:prstGeom prst="rect">
            <a:avLst/>
          </a:prstGeom>
          <a:noFill/>
          <a:ln/>
        </p:spPr>
        <p:txBody>
          <a:bodyPr wrap="square" lIns="0" tIns="0" rIns="0" bIns="0" rtlCol="0" anchor="ctr"/>
          <a:lstStyle/>
          <a:p>
            <a:pPr indent="0" marL="0">
              <a:buNone/>
            </a:pPr>
            <a:r>
              <a:rPr lang="en-US" sz="1600" b="1" dirty="0">
                <a:solidFill>
                  <a:srgbClr val="B91C1C"/>
                </a:solidFill>
                <a:latin typeface="Calibri" pitchFamily="34" charset="0"/>
                <a:ea typeface="Calibri" pitchFamily="34" charset="-122"/>
                <a:cs typeface="Calibri" pitchFamily="34" charset="-120"/>
              </a:rPr>
              <a:t>✕</a:t>
            </a:r>
            <a:endParaRPr lang="en-US" sz="1600" dirty="0"/>
          </a:p>
        </p:txBody>
      </p:sp>
      <p:sp>
        <p:nvSpPr>
          <p:cNvPr id="8" name="Text 6"/>
          <p:cNvSpPr/>
          <p:nvPr/>
        </p:nvSpPr>
        <p:spPr>
          <a:xfrm>
            <a:off x="914400" y="2560320"/>
            <a:ext cx="3200400" cy="50292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A chatbot</a:t>
            </a:r>
            <a:endParaRPr lang="en-US" sz="1600" dirty="0"/>
          </a:p>
        </p:txBody>
      </p:sp>
      <p:sp>
        <p:nvSpPr>
          <p:cNvPr id="9" name="Text 7"/>
          <p:cNvSpPr/>
          <p:nvPr/>
        </p:nvSpPr>
        <p:spPr>
          <a:xfrm>
            <a:off x="4206240" y="2560320"/>
            <a:ext cx="7498080" cy="502920"/>
          </a:xfrm>
          <a:prstGeom prst="rect">
            <a:avLst/>
          </a:prstGeom>
          <a:noFill/>
          <a:ln/>
        </p:spPr>
        <p:txBody>
          <a:bodyPr wrap="square" lIns="0" tIns="0" rIns="0" bIns="0" rtlCol="0" anchor="ctr"/>
          <a:lstStyle/>
          <a:p>
            <a:pPr indent="0" marL="0">
              <a:buNone/>
            </a:pPr>
            <a:r>
              <a:rPr lang="en-US" sz="1300" i="1" dirty="0">
                <a:solidFill>
                  <a:srgbClr val="334155"/>
                </a:solidFill>
                <a:latin typeface="Calibri" pitchFamily="34" charset="0"/>
                <a:ea typeface="Calibri" pitchFamily="34" charset="-122"/>
                <a:cs typeface="Calibri" pitchFamily="34" charset="-120"/>
              </a:rPr>
              <a:t>Single-turn conversational response. No autonomy over next step.</a:t>
            </a:r>
            <a:endParaRPr lang="en-US" sz="1300" dirty="0"/>
          </a:p>
        </p:txBody>
      </p:sp>
      <p:sp>
        <p:nvSpPr>
          <p:cNvPr id="10" name="Shape 8"/>
          <p:cNvSpPr/>
          <p:nvPr/>
        </p:nvSpPr>
        <p:spPr>
          <a:xfrm>
            <a:off x="457200" y="3182112"/>
            <a:ext cx="11274552" cy="0"/>
          </a:xfrm>
          <a:prstGeom prst="line">
            <a:avLst/>
          </a:prstGeom>
          <a:noFill/>
          <a:ln w="6350">
            <a:solidFill>
              <a:srgbClr val="E2E8F0"/>
            </a:solidFill>
            <a:prstDash val="solid"/>
          </a:ln>
        </p:spPr>
      </p:sp>
      <p:sp>
        <p:nvSpPr>
          <p:cNvPr id="11" name="Text 9"/>
          <p:cNvSpPr/>
          <p:nvPr/>
        </p:nvSpPr>
        <p:spPr>
          <a:xfrm>
            <a:off x="457200" y="3319272"/>
            <a:ext cx="365760" cy="365760"/>
          </a:xfrm>
          <a:prstGeom prst="rect">
            <a:avLst/>
          </a:prstGeom>
          <a:noFill/>
          <a:ln/>
        </p:spPr>
        <p:txBody>
          <a:bodyPr wrap="square" lIns="0" tIns="0" rIns="0" bIns="0" rtlCol="0" anchor="ctr"/>
          <a:lstStyle/>
          <a:p>
            <a:pPr indent="0" marL="0">
              <a:buNone/>
            </a:pPr>
            <a:r>
              <a:rPr lang="en-US" sz="1600" b="1" dirty="0">
                <a:solidFill>
                  <a:srgbClr val="B91C1C"/>
                </a:solidFill>
                <a:latin typeface="Calibri" pitchFamily="34" charset="0"/>
                <a:ea typeface="Calibri" pitchFamily="34" charset="-122"/>
                <a:cs typeface="Calibri" pitchFamily="34" charset="-120"/>
              </a:rPr>
              <a:t>✕</a:t>
            </a:r>
            <a:endParaRPr lang="en-US" sz="1600" dirty="0"/>
          </a:p>
        </p:txBody>
      </p:sp>
      <p:sp>
        <p:nvSpPr>
          <p:cNvPr id="12" name="Text 10"/>
          <p:cNvSpPr/>
          <p:nvPr/>
        </p:nvSpPr>
        <p:spPr>
          <a:xfrm>
            <a:off x="914400" y="3273552"/>
            <a:ext cx="3200400" cy="50292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A RAG pipeline</a:t>
            </a:r>
            <a:endParaRPr lang="en-US" sz="1600" dirty="0"/>
          </a:p>
        </p:txBody>
      </p:sp>
      <p:sp>
        <p:nvSpPr>
          <p:cNvPr id="13" name="Text 11"/>
          <p:cNvSpPr/>
          <p:nvPr/>
        </p:nvSpPr>
        <p:spPr>
          <a:xfrm>
            <a:off x="4206240" y="3273552"/>
            <a:ext cx="7498080" cy="502920"/>
          </a:xfrm>
          <a:prstGeom prst="rect">
            <a:avLst/>
          </a:prstGeom>
          <a:noFill/>
          <a:ln/>
        </p:spPr>
        <p:txBody>
          <a:bodyPr wrap="square" lIns="0" tIns="0" rIns="0" bIns="0" rtlCol="0" anchor="ctr"/>
          <a:lstStyle/>
          <a:p>
            <a:pPr indent="0" marL="0">
              <a:buNone/>
            </a:pPr>
            <a:r>
              <a:rPr lang="en-US" sz="1300" i="1" dirty="0">
                <a:solidFill>
                  <a:srgbClr val="334155"/>
                </a:solidFill>
                <a:latin typeface="Calibri" pitchFamily="34" charset="0"/>
                <a:ea typeface="Calibri" pitchFamily="34" charset="-122"/>
                <a:cs typeface="Calibri" pitchFamily="34" charset="-120"/>
              </a:rPr>
              <a:t>Retrieve, augment, generate. Useful, but no tool side effects and no multi-step loop.</a:t>
            </a:r>
            <a:endParaRPr lang="en-US" sz="1300" dirty="0"/>
          </a:p>
        </p:txBody>
      </p:sp>
      <p:sp>
        <p:nvSpPr>
          <p:cNvPr id="14" name="Shape 12"/>
          <p:cNvSpPr/>
          <p:nvPr/>
        </p:nvSpPr>
        <p:spPr>
          <a:xfrm>
            <a:off x="457200" y="3895344"/>
            <a:ext cx="11274552" cy="0"/>
          </a:xfrm>
          <a:prstGeom prst="line">
            <a:avLst/>
          </a:prstGeom>
          <a:noFill/>
          <a:ln w="6350">
            <a:solidFill>
              <a:srgbClr val="E2E8F0"/>
            </a:solidFill>
            <a:prstDash val="solid"/>
          </a:ln>
        </p:spPr>
      </p:sp>
      <p:sp>
        <p:nvSpPr>
          <p:cNvPr id="15" name="Text 13"/>
          <p:cNvSpPr/>
          <p:nvPr/>
        </p:nvSpPr>
        <p:spPr>
          <a:xfrm>
            <a:off x="457200" y="4032504"/>
            <a:ext cx="365760" cy="365760"/>
          </a:xfrm>
          <a:prstGeom prst="rect">
            <a:avLst/>
          </a:prstGeom>
          <a:noFill/>
          <a:ln/>
        </p:spPr>
        <p:txBody>
          <a:bodyPr wrap="square" lIns="0" tIns="0" rIns="0" bIns="0" rtlCol="0" anchor="ctr"/>
          <a:lstStyle/>
          <a:p>
            <a:pPr indent="0" marL="0">
              <a:buNone/>
            </a:pPr>
            <a:r>
              <a:rPr lang="en-US" sz="1600" b="1" dirty="0">
                <a:solidFill>
                  <a:srgbClr val="B91C1C"/>
                </a:solidFill>
                <a:latin typeface="Calibri" pitchFamily="34" charset="0"/>
                <a:ea typeface="Calibri" pitchFamily="34" charset="-122"/>
                <a:cs typeface="Calibri" pitchFamily="34" charset="-120"/>
              </a:rPr>
              <a:t>✕</a:t>
            </a:r>
            <a:endParaRPr lang="en-US" sz="1600" dirty="0"/>
          </a:p>
        </p:txBody>
      </p:sp>
      <p:sp>
        <p:nvSpPr>
          <p:cNvPr id="16" name="Text 14"/>
          <p:cNvSpPr/>
          <p:nvPr/>
        </p:nvSpPr>
        <p:spPr>
          <a:xfrm>
            <a:off x="914400" y="3986784"/>
            <a:ext cx="3200400" cy="50292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An if/else over an LLM</a:t>
            </a:r>
            <a:endParaRPr lang="en-US" sz="1600" dirty="0"/>
          </a:p>
        </p:txBody>
      </p:sp>
      <p:sp>
        <p:nvSpPr>
          <p:cNvPr id="17" name="Text 15"/>
          <p:cNvSpPr/>
          <p:nvPr/>
        </p:nvSpPr>
        <p:spPr>
          <a:xfrm>
            <a:off x="4206240" y="3986784"/>
            <a:ext cx="7498080" cy="502920"/>
          </a:xfrm>
          <a:prstGeom prst="rect">
            <a:avLst/>
          </a:prstGeom>
          <a:noFill/>
          <a:ln/>
        </p:spPr>
        <p:txBody>
          <a:bodyPr wrap="square" lIns="0" tIns="0" rIns="0" bIns="0" rtlCol="0" anchor="ctr"/>
          <a:lstStyle/>
          <a:p>
            <a:pPr indent="0" marL="0">
              <a:buNone/>
            </a:pPr>
            <a:r>
              <a:rPr lang="en-US" sz="1300" i="1" dirty="0">
                <a:solidFill>
                  <a:srgbClr val="334155"/>
                </a:solidFill>
                <a:latin typeface="Calibri" pitchFamily="34" charset="0"/>
                <a:ea typeface="Calibri" pitchFamily="34" charset="-122"/>
                <a:cs typeface="Calibri" pitchFamily="34" charset="-120"/>
              </a:rPr>
              <a:t>The branching logic is author-decided. The LLM is a function, not the planner.</a:t>
            </a:r>
            <a:endParaRPr lang="en-US" sz="1300" dirty="0"/>
          </a:p>
        </p:txBody>
      </p:sp>
      <p:sp>
        <p:nvSpPr>
          <p:cNvPr id="18" name="Shape 16"/>
          <p:cNvSpPr/>
          <p:nvPr/>
        </p:nvSpPr>
        <p:spPr>
          <a:xfrm>
            <a:off x="457200" y="4608576"/>
            <a:ext cx="11274552" cy="0"/>
          </a:xfrm>
          <a:prstGeom prst="line">
            <a:avLst/>
          </a:prstGeom>
          <a:noFill/>
          <a:ln w="6350">
            <a:solidFill>
              <a:srgbClr val="E2E8F0"/>
            </a:solidFill>
            <a:prstDash val="solid"/>
          </a:ln>
        </p:spPr>
      </p:sp>
      <p:sp>
        <p:nvSpPr>
          <p:cNvPr id="19" name="Text 17"/>
          <p:cNvSpPr/>
          <p:nvPr/>
        </p:nvSpPr>
        <p:spPr>
          <a:xfrm>
            <a:off x="457200" y="4745736"/>
            <a:ext cx="365760" cy="365760"/>
          </a:xfrm>
          <a:prstGeom prst="rect">
            <a:avLst/>
          </a:prstGeom>
          <a:noFill/>
          <a:ln/>
        </p:spPr>
        <p:txBody>
          <a:bodyPr wrap="square" lIns="0" tIns="0" rIns="0" bIns="0" rtlCol="0" anchor="ctr"/>
          <a:lstStyle/>
          <a:p>
            <a:pPr indent="0" marL="0">
              <a:buNone/>
            </a:pPr>
            <a:r>
              <a:rPr lang="en-US" sz="1600" b="1" dirty="0">
                <a:solidFill>
                  <a:srgbClr val="B91C1C"/>
                </a:solidFill>
                <a:latin typeface="Calibri" pitchFamily="34" charset="0"/>
                <a:ea typeface="Calibri" pitchFamily="34" charset="-122"/>
                <a:cs typeface="Calibri" pitchFamily="34" charset="-120"/>
              </a:rPr>
              <a:t>✕</a:t>
            </a:r>
            <a:endParaRPr lang="en-US" sz="1600" dirty="0"/>
          </a:p>
        </p:txBody>
      </p:sp>
      <p:sp>
        <p:nvSpPr>
          <p:cNvPr id="20" name="Text 18"/>
          <p:cNvSpPr/>
          <p:nvPr/>
        </p:nvSpPr>
        <p:spPr>
          <a:xfrm>
            <a:off x="914400" y="4700016"/>
            <a:ext cx="3200400" cy="50292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A fancy prompt</a:t>
            </a:r>
            <a:endParaRPr lang="en-US" sz="1600" dirty="0"/>
          </a:p>
        </p:txBody>
      </p:sp>
      <p:sp>
        <p:nvSpPr>
          <p:cNvPr id="21" name="Text 19"/>
          <p:cNvSpPr/>
          <p:nvPr/>
        </p:nvSpPr>
        <p:spPr>
          <a:xfrm>
            <a:off x="4206240" y="4700016"/>
            <a:ext cx="7498080" cy="502920"/>
          </a:xfrm>
          <a:prstGeom prst="rect">
            <a:avLst/>
          </a:prstGeom>
          <a:noFill/>
          <a:ln/>
        </p:spPr>
        <p:txBody>
          <a:bodyPr wrap="square" lIns="0" tIns="0" rIns="0" bIns="0" rtlCol="0" anchor="ctr"/>
          <a:lstStyle/>
          <a:p>
            <a:pPr indent="0" marL="0">
              <a:buNone/>
            </a:pPr>
            <a:r>
              <a:rPr lang="en-US" sz="1300" i="1" dirty="0">
                <a:solidFill>
                  <a:srgbClr val="334155"/>
                </a:solidFill>
                <a:latin typeface="Calibri" pitchFamily="34" charset="0"/>
                <a:ea typeface="Calibri" pitchFamily="34" charset="-122"/>
                <a:cs typeface="Calibri" pitchFamily="34" charset="-120"/>
              </a:rPr>
              <a:t>Prompt engineering improves a single inference. It does not introduce planning, observation, or looping.</a:t>
            </a:r>
            <a:endParaRPr lang="en-US" sz="1300" dirty="0"/>
          </a:p>
        </p:txBody>
      </p:sp>
      <p:sp>
        <p:nvSpPr>
          <p:cNvPr id="22" name="Shape 20"/>
          <p:cNvSpPr/>
          <p:nvPr/>
        </p:nvSpPr>
        <p:spPr>
          <a:xfrm>
            <a:off x="457200" y="5321808"/>
            <a:ext cx="11274552" cy="0"/>
          </a:xfrm>
          <a:prstGeom prst="line">
            <a:avLst/>
          </a:prstGeom>
          <a:noFill/>
          <a:ln w="6350">
            <a:solidFill>
              <a:srgbClr val="E2E8F0"/>
            </a:solidFill>
            <a:prstDash val="solid"/>
          </a:ln>
        </p:spPr>
      </p:sp>
      <p:sp>
        <p:nvSpPr>
          <p:cNvPr id="23" name="Text 21"/>
          <p:cNvSpPr/>
          <p:nvPr/>
        </p:nvSpPr>
        <p:spPr>
          <a:xfrm>
            <a:off x="457200" y="5458968"/>
            <a:ext cx="365760" cy="365760"/>
          </a:xfrm>
          <a:prstGeom prst="rect">
            <a:avLst/>
          </a:prstGeom>
          <a:noFill/>
          <a:ln/>
        </p:spPr>
        <p:txBody>
          <a:bodyPr wrap="square" lIns="0" tIns="0" rIns="0" bIns="0" rtlCol="0" anchor="ctr"/>
          <a:lstStyle/>
          <a:p>
            <a:pPr indent="0" marL="0">
              <a:buNone/>
            </a:pPr>
            <a:r>
              <a:rPr lang="en-US" sz="1600" b="1" dirty="0">
                <a:solidFill>
                  <a:srgbClr val="B91C1C"/>
                </a:solidFill>
                <a:latin typeface="Calibri" pitchFamily="34" charset="0"/>
                <a:ea typeface="Calibri" pitchFamily="34" charset="-122"/>
                <a:cs typeface="Calibri" pitchFamily="34" charset="-120"/>
              </a:rPr>
              <a:t>✕</a:t>
            </a:r>
            <a:endParaRPr lang="en-US" sz="1600" dirty="0"/>
          </a:p>
        </p:txBody>
      </p:sp>
      <p:sp>
        <p:nvSpPr>
          <p:cNvPr id="24" name="Text 22"/>
          <p:cNvSpPr/>
          <p:nvPr/>
        </p:nvSpPr>
        <p:spPr>
          <a:xfrm>
            <a:off x="914400" y="5413248"/>
            <a:ext cx="3200400" cy="50292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A workflow with an LLM step</a:t>
            </a:r>
            <a:endParaRPr lang="en-US" sz="1600" dirty="0"/>
          </a:p>
        </p:txBody>
      </p:sp>
      <p:sp>
        <p:nvSpPr>
          <p:cNvPr id="25" name="Text 23"/>
          <p:cNvSpPr/>
          <p:nvPr/>
        </p:nvSpPr>
        <p:spPr>
          <a:xfrm>
            <a:off x="4206240" y="5413248"/>
            <a:ext cx="7498080" cy="502920"/>
          </a:xfrm>
          <a:prstGeom prst="rect">
            <a:avLst/>
          </a:prstGeom>
          <a:noFill/>
          <a:ln/>
        </p:spPr>
        <p:txBody>
          <a:bodyPr wrap="square" lIns="0" tIns="0" rIns="0" bIns="0" rtlCol="0" anchor="ctr"/>
          <a:lstStyle/>
          <a:p>
            <a:pPr indent="0" marL="0">
              <a:buNone/>
            </a:pPr>
            <a:r>
              <a:rPr lang="en-US" sz="1300" i="1" dirty="0">
                <a:solidFill>
                  <a:srgbClr val="334155"/>
                </a:solidFill>
                <a:latin typeface="Calibri" pitchFamily="34" charset="0"/>
                <a:ea typeface="Calibri" pitchFamily="34" charset="-122"/>
                <a:cs typeface="Calibri" pitchFamily="34" charset="-120"/>
              </a:rPr>
              <a:t>The orchestration is fixed. Whether a step runs is decided by the workflow engine, not the LLM.</a:t>
            </a:r>
            <a:endParaRPr lang="en-US" sz="1300" dirty="0"/>
          </a:p>
        </p:txBody>
      </p:sp>
      <p:sp>
        <p:nvSpPr>
          <p:cNvPr id="26" name="Shape 24"/>
          <p:cNvSpPr/>
          <p:nvPr/>
        </p:nvSpPr>
        <p:spPr>
          <a:xfrm>
            <a:off x="457200" y="6035040"/>
            <a:ext cx="11274552" cy="0"/>
          </a:xfrm>
          <a:prstGeom prst="line">
            <a:avLst/>
          </a:prstGeom>
          <a:noFill/>
          <a:ln w="6350">
            <a:solidFill>
              <a:srgbClr val="E2E8F0"/>
            </a:solidFill>
            <a:prstDash val="solid"/>
          </a:ln>
        </p:spPr>
      </p:sp>
      <p:sp>
        <p:nvSpPr>
          <p:cNvPr id="27" name="Text 25"/>
          <p:cNvSpPr/>
          <p:nvPr/>
        </p:nvSpPr>
        <p:spPr>
          <a:xfrm>
            <a:off x="457200" y="5897880"/>
            <a:ext cx="11274552" cy="365760"/>
          </a:xfrm>
          <a:prstGeom prst="rect">
            <a:avLst/>
          </a:prstGeom>
          <a:noFill/>
          <a:ln/>
        </p:spPr>
        <p:txBody>
          <a:bodyPr wrap="square" lIns="0" tIns="0" rIns="0" bIns="0" rtlCol="0" anchor="ctr"/>
          <a:lstStyle/>
          <a:p>
            <a:pPr indent="0" marL="0">
              <a:buNone/>
            </a:pPr>
            <a:r>
              <a:rPr lang="en-US" sz="1200" i="1" dirty="0">
                <a:solidFill>
                  <a:srgbClr val="B45309"/>
                </a:solidFill>
                <a:latin typeface="Calibri" pitchFamily="34" charset="0"/>
                <a:ea typeface="Calibri" pitchFamily="34" charset="-122"/>
                <a:cs typeface="Calibri" pitchFamily="34" charset="-120"/>
              </a:rPr>
              <a:t>Side effects are the operative word. A summariser does not write to your database. An agent does. That is why governance, observability, and rollback exist.</a:t>
            </a:r>
            <a:endParaRPr lang="en-US" sz="1200" dirty="0"/>
          </a:p>
        </p:txBody>
      </p:sp>
      <p:sp>
        <p:nvSpPr>
          <p:cNvPr id="28" name="Shape 26"/>
          <p:cNvSpPr/>
          <p:nvPr/>
        </p:nvSpPr>
        <p:spPr>
          <a:xfrm>
            <a:off x="457200" y="6446520"/>
            <a:ext cx="11274552" cy="0"/>
          </a:xfrm>
          <a:prstGeom prst="line">
            <a:avLst/>
          </a:prstGeom>
          <a:noFill/>
          <a:ln w="6350">
            <a:solidFill>
              <a:srgbClr val="E2E8F0"/>
            </a:solidFill>
            <a:prstDash val="solid"/>
          </a:ln>
        </p:spPr>
      </p:sp>
      <p:sp>
        <p:nvSpPr>
          <p:cNvPr id="29" name="Text 27"/>
          <p:cNvSpPr/>
          <p:nvPr/>
        </p:nvSpPr>
        <p:spPr>
          <a:xfrm>
            <a:off x="457200" y="6537960"/>
            <a:ext cx="914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15</a:t>
            </a:r>
            <a:endParaRPr lang="en-US" sz="900" dirty="0"/>
          </a:p>
        </p:txBody>
      </p:sp>
      <p:sp>
        <p:nvSpPr>
          <p:cNvPr id="30" name="Text 28"/>
          <p:cNvSpPr/>
          <p:nvPr/>
        </p:nvSpPr>
        <p:spPr>
          <a:xfrm>
            <a:off x="5943600" y="6537960"/>
            <a:ext cx="5788152" cy="228600"/>
          </a:xfrm>
          <a:prstGeom prst="rect">
            <a:avLst/>
          </a:prstGeom>
          <a:noFill/>
          <a:ln/>
        </p:spPr>
        <p:txBody>
          <a:bodyPr wrap="square" lIns="0" tIns="0" rIns="0" bIns="0" rtlCol="0" anchor="ctr"/>
          <a:lstStyle/>
          <a:p>
            <a:pPr algn="r" indent="0" marL="0">
              <a:buNone/>
            </a:pPr>
            <a:r>
              <a:rPr lang="en-US" sz="900" i="1" dirty="0">
                <a:solidFill>
                  <a:srgbClr val="94A3B8"/>
                </a:solidFill>
                <a:latin typeface="Calibri" pitchFamily="34" charset="0"/>
                <a:ea typeface="Calibri" pitchFamily="34" charset="-122"/>
                <a:cs typeface="Calibri" pitchFamily="34" charset="-120"/>
              </a:rPr>
              <a:t>Agentic Foundations · Half 1</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4552" cy="274320"/>
          </a:xfrm>
          <a:prstGeom prst="rect">
            <a:avLst/>
          </a:prstGeom>
          <a:noFill/>
          <a:ln/>
        </p:spPr>
        <p:txBody>
          <a:bodyPr wrap="square" lIns="0" tIns="0" rIns="0" bIns="0" rtlCol="0" anchor="ctr"/>
          <a:lstStyle/>
          <a:p>
            <a:pPr indent="0" marL="0">
              <a:buNone/>
            </a:pPr>
            <a:r>
              <a:rPr lang="en-US" sz="1000" b="1" spc="400" kern="0" dirty="0">
                <a:solidFill>
                  <a:srgbClr val="B45309"/>
                </a:solidFill>
                <a:latin typeface="Calibri" pitchFamily="34" charset="0"/>
                <a:ea typeface="Calibri" pitchFamily="34" charset="-122"/>
                <a:cs typeface="Calibri" pitchFamily="34" charset="-120"/>
              </a:rPr>
              <a:t>02 · THE FOUR-QUADRANT RUBRIC</a:t>
            </a:r>
            <a:endParaRPr lang="en-US" sz="1000" dirty="0"/>
          </a:p>
        </p:txBody>
      </p:sp>
      <p:sp>
        <p:nvSpPr>
          <p:cNvPr id="3" name="Text 1"/>
          <p:cNvSpPr/>
          <p:nvPr/>
        </p:nvSpPr>
        <p:spPr>
          <a:xfrm>
            <a:off x="457200" y="777240"/>
            <a:ext cx="11274552"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Two questions decide whether you need an agent</a:t>
            </a:r>
            <a:endParaRPr lang="en-US" sz="2800" dirty="0"/>
          </a:p>
        </p:txBody>
      </p:sp>
      <p:sp>
        <p:nvSpPr>
          <p:cNvPr id="4" name="Text 2"/>
          <p:cNvSpPr/>
          <p:nvPr/>
        </p:nvSpPr>
        <p:spPr>
          <a:xfrm>
            <a:off x="457200" y="1554480"/>
            <a:ext cx="11274552"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Combine determinism on one axis with step count on the other. Most problems land in only one quadrant.</a:t>
            </a:r>
            <a:endParaRPr lang="en-US" sz="1400" dirty="0"/>
          </a:p>
        </p:txBody>
      </p:sp>
      <p:sp>
        <p:nvSpPr>
          <p:cNvPr id="5" name="Shape 3"/>
          <p:cNvSpPr/>
          <p:nvPr/>
        </p:nvSpPr>
        <p:spPr>
          <a:xfrm>
            <a:off x="457200" y="2057400"/>
            <a:ext cx="11274552" cy="0"/>
          </a:xfrm>
          <a:prstGeom prst="line">
            <a:avLst/>
          </a:prstGeom>
          <a:noFill/>
          <a:ln w="6350">
            <a:solidFill>
              <a:srgbClr val="E2E8F0"/>
            </a:solidFill>
            <a:prstDash val="solid"/>
          </a:ln>
        </p:spPr>
      </p:sp>
      <p:sp>
        <p:nvSpPr>
          <p:cNvPr id="6" name="Shape 4"/>
          <p:cNvSpPr/>
          <p:nvPr/>
        </p:nvSpPr>
        <p:spPr>
          <a:xfrm>
            <a:off x="457200" y="2377440"/>
            <a:ext cx="36576" cy="731520"/>
          </a:xfrm>
          <a:prstGeom prst="line">
            <a:avLst/>
          </a:prstGeom>
          <a:noFill/>
          <a:ln w="38100">
            <a:solidFill>
              <a:srgbClr val="B45309"/>
            </a:solidFill>
            <a:prstDash val="solid"/>
          </a:ln>
        </p:spPr>
      </p:sp>
      <p:sp>
        <p:nvSpPr>
          <p:cNvPr id="7" name="Text 5"/>
          <p:cNvSpPr/>
          <p:nvPr/>
        </p:nvSpPr>
        <p:spPr>
          <a:xfrm>
            <a:off x="777240" y="2331720"/>
            <a:ext cx="10972800" cy="457200"/>
          </a:xfrm>
          <a:prstGeom prst="rect">
            <a:avLst/>
          </a:prstGeom>
          <a:noFill/>
          <a:ln/>
        </p:spPr>
        <p:txBody>
          <a:bodyPr wrap="square" lIns="0" tIns="0" rIns="0" bIns="0" rtlCol="0" anchor="ctr"/>
          <a:lstStyle/>
          <a:p>
            <a:pPr indent="0" marL="0">
              <a:buNone/>
            </a:pPr>
            <a:r>
              <a:rPr lang="en-US" sz="1800" i="1" dirty="0">
                <a:solidFill>
                  <a:srgbClr val="0F172A"/>
                </a:solidFill>
                <a:latin typeface="Georgia" pitchFamily="34" charset="0"/>
                <a:ea typeface="Georgia" pitchFamily="34" charset="-122"/>
                <a:cs typeface="Georgia" pitchFamily="34" charset="-120"/>
              </a:rPr>
              <a:t>Q1 — Is the next step decided by code, or by the model?</a:t>
            </a:r>
            <a:endParaRPr lang="en-US" sz="1800" dirty="0"/>
          </a:p>
        </p:txBody>
      </p:sp>
      <p:sp>
        <p:nvSpPr>
          <p:cNvPr id="8" name="Text 6"/>
          <p:cNvSpPr/>
          <p:nvPr/>
        </p:nvSpPr>
        <p:spPr>
          <a:xfrm>
            <a:off x="777240" y="2743200"/>
            <a:ext cx="10972800" cy="45720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If the path is fixed at design time, the system is deterministic. If the path is rewritten at runtime by an LLM, it is non-deterministic.</a:t>
            </a:r>
            <a:endParaRPr lang="en-US" sz="1300" dirty="0"/>
          </a:p>
        </p:txBody>
      </p:sp>
      <p:sp>
        <p:nvSpPr>
          <p:cNvPr id="9" name="Shape 7"/>
          <p:cNvSpPr/>
          <p:nvPr/>
        </p:nvSpPr>
        <p:spPr>
          <a:xfrm>
            <a:off x="457200" y="3657600"/>
            <a:ext cx="36576" cy="731520"/>
          </a:xfrm>
          <a:prstGeom prst="line">
            <a:avLst/>
          </a:prstGeom>
          <a:noFill/>
          <a:ln w="38100">
            <a:solidFill>
              <a:srgbClr val="B45309"/>
            </a:solidFill>
            <a:prstDash val="solid"/>
          </a:ln>
        </p:spPr>
      </p:sp>
      <p:sp>
        <p:nvSpPr>
          <p:cNvPr id="10" name="Text 8"/>
          <p:cNvSpPr/>
          <p:nvPr/>
        </p:nvSpPr>
        <p:spPr>
          <a:xfrm>
            <a:off x="777240" y="3611880"/>
            <a:ext cx="10972800" cy="457200"/>
          </a:xfrm>
          <a:prstGeom prst="rect">
            <a:avLst/>
          </a:prstGeom>
          <a:noFill/>
          <a:ln/>
        </p:spPr>
        <p:txBody>
          <a:bodyPr wrap="square" lIns="0" tIns="0" rIns="0" bIns="0" rtlCol="0" anchor="ctr"/>
          <a:lstStyle/>
          <a:p>
            <a:pPr indent="0" marL="0">
              <a:buNone/>
            </a:pPr>
            <a:r>
              <a:rPr lang="en-US" sz="1800" i="1" dirty="0">
                <a:solidFill>
                  <a:srgbClr val="0F172A"/>
                </a:solidFill>
                <a:latin typeface="Georgia" pitchFamily="34" charset="0"/>
                <a:ea typeface="Georgia" pitchFamily="34" charset="-122"/>
                <a:cs typeface="Georgia" pitchFamily="34" charset="-120"/>
              </a:rPr>
              <a:t>Q2 — Is one step enough, or does the system need many?</a:t>
            </a:r>
            <a:endParaRPr lang="en-US" sz="1800" dirty="0"/>
          </a:p>
        </p:txBody>
      </p:sp>
      <p:sp>
        <p:nvSpPr>
          <p:cNvPr id="11" name="Text 9"/>
          <p:cNvSpPr/>
          <p:nvPr/>
        </p:nvSpPr>
        <p:spPr>
          <a:xfrm>
            <a:off x="777240" y="4023360"/>
            <a:ext cx="10972800" cy="45720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Single step: one inference, one action. Multi-step: a plan unfolds over several actions, each potentially depending on the last.</a:t>
            </a:r>
            <a:endParaRPr lang="en-US" sz="1300" dirty="0"/>
          </a:p>
        </p:txBody>
      </p:sp>
      <p:sp>
        <p:nvSpPr>
          <p:cNvPr id="12" name="Shape 10"/>
          <p:cNvSpPr/>
          <p:nvPr/>
        </p:nvSpPr>
        <p:spPr>
          <a:xfrm>
            <a:off x="457200" y="5212080"/>
            <a:ext cx="11274552" cy="914400"/>
          </a:xfrm>
          <a:prstGeom prst="rect">
            <a:avLst/>
          </a:prstGeom>
          <a:solidFill>
            <a:srgbClr val="F8FAFC"/>
          </a:solidFill>
          <a:ln w="12700">
            <a:solidFill>
              <a:srgbClr val="E2E8F0"/>
            </a:solidFill>
            <a:prstDash val="solid"/>
          </a:ln>
        </p:spPr>
      </p:sp>
      <p:sp>
        <p:nvSpPr>
          <p:cNvPr id="13" name="Text 11"/>
          <p:cNvSpPr/>
          <p:nvPr/>
        </p:nvSpPr>
        <p:spPr>
          <a:xfrm>
            <a:off x="777240" y="5303520"/>
            <a:ext cx="10789920" cy="731520"/>
          </a:xfrm>
          <a:prstGeom prst="rect">
            <a:avLst/>
          </a:prstGeom>
          <a:noFill/>
          <a:ln/>
        </p:spPr>
        <p:txBody>
          <a:bodyPr wrap="square" lIns="0" tIns="0" rIns="0" bIns="0" rtlCol="0" anchor="ctr"/>
          <a:lstStyle/>
          <a:p>
            <a:pPr indent="0" marL="0">
              <a:buNone/>
            </a:pPr>
            <a:r>
              <a:rPr lang="en-US" sz="1600" i="1" dirty="0">
                <a:solidFill>
                  <a:srgbClr val="0F172A"/>
                </a:solidFill>
                <a:latin typeface="Calibri" pitchFamily="34" charset="0"/>
                <a:ea typeface="Calibri" pitchFamily="34" charset="-122"/>
                <a:cs typeface="Calibri" pitchFamily="34" charset="-120"/>
              </a:rPr>
              <a:t>Next slide: where each quadrant lands, and the one quadrant where agents live.</a:t>
            </a:r>
            <a:endParaRPr lang="en-US" sz="1600" dirty="0"/>
          </a:p>
        </p:txBody>
      </p:sp>
      <p:sp>
        <p:nvSpPr>
          <p:cNvPr id="14" name="Shape 12"/>
          <p:cNvSpPr/>
          <p:nvPr/>
        </p:nvSpPr>
        <p:spPr>
          <a:xfrm>
            <a:off x="457200" y="6446520"/>
            <a:ext cx="11274552" cy="0"/>
          </a:xfrm>
          <a:prstGeom prst="line">
            <a:avLst/>
          </a:prstGeom>
          <a:noFill/>
          <a:ln w="6350">
            <a:solidFill>
              <a:srgbClr val="E2E8F0"/>
            </a:solidFill>
            <a:prstDash val="solid"/>
          </a:ln>
        </p:spPr>
      </p:sp>
      <p:sp>
        <p:nvSpPr>
          <p:cNvPr id="15" name="Text 13"/>
          <p:cNvSpPr/>
          <p:nvPr/>
        </p:nvSpPr>
        <p:spPr>
          <a:xfrm>
            <a:off x="457200" y="6537960"/>
            <a:ext cx="914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16</a:t>
            </a:r>
            <a:endParaRPr lang="en-US" sz="900" dirty="0"/>
          </a:p>
        </p:txBody>
      </p:sp>
      <p:sp>
        <p:nvSpPr>
          <p:cNvPr id="16" name="Text 14"/>
          <p:cNvSpPr/>
          <p:nvPr/>
        </p:nvSpPr>
        <p:spPr>
          <a:xfrm>
            <a:off x="5943600" y="6537960"/>
            <a:ext cx="5788152" cy="228600"/>
          </a:xfrm>
          <a:prstGeom prst="rect">
            <a:avLst/>
          </a:prstGeom>
          <a:noFill/>
          <a:ln/>
        </p:spPr>
        <p:txBody>
          <a:bodyPr wrap="square" lIns="0" tIns="0" rIns="0" bIns="0" rtlCol="0" anchor="ctr"/>
          <a:lstStyle/>
          <a:p>
            <a:pPr algn="r" indent="0" marL="0">
              <a:buNone/>
            </a:pPr>
            <a:r>
              <a:rPr lang="en-US" sz="900" i="1" dirty="0">
                <a:solidFill>
                  <a:srgbClr val="94A3B8"/>
                </a:solidFill>
                <a:latin typeface="Calibri" pitchFamily="34" charset="0"/>
                <a:ea typeface="Calibri" pitchFamily="34" charset="-122"/>
                <a:cs typeface="Calibri" pitchFamily="34" charset="-120"/>
              </a:rPr>
              <a:t>Agentic Foundations · Half 1</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4552" cy="274320"/>
          </a:xfrm>
          <a:prstGeom prst="rect">
            <a:avLst/>
          </a:prstGeom>
          <a:noFill/>
          <a:ln/>
        </p:spPr>
        <p:txBody>
          <a:bodyPr wrap="square" lIns="0" tIns="0" rIns="0" bIns="0" rtlCol="0" anchor="ctr"/>
          <a:lstStyle/>
          <a:p>
            <a:pPr indent="0" marL="0">
              <a:buNone/>
            </a:pPr>
            <a:r>
              <a:rPr lang="en-US" sz="1000" b="1" spc="400" kern="0" dirty="0">
                <a:solidFill>
                  <a:srgbClr val="B45309"/>
                </a:solidFill>
                <a:latin typeface="Calibri" pitchFamily="34" charset="0"/>
                <a:ea typeface="Calibri" pitchFamily="34" charset="-122"/>
                <a:cs typeface="Calibri" pitchFamily="34" charset="-120"/>
              </a:rPr>
              <a:t>02 · THE FOUR-QUADRANT RUBRIC</a:t>
            </a:r>
            <a:endParaRPr lang="en-US" sz="1000" dirty="0"/>
          </a:p>
        </p:txBody>
      </p:sp>
      <p:sp>
        <p:nvSpPr>
          <p:cNvPr id="3" name="Text 1"/>
          <p:cNvSpPr/>
          <p:nvPr/>
        </p:nvSpPr>
        <p:spPr>
          <a:xfrm>
            <a:off x="457200" y="777240"/>
            <a:ext cx="11274552"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The map</a:t>
            </a:r>
            <a:endParaRPr lang="en-US" sz="2800" dirty="0"/>
          </a:p>
        </p:txBody>
      </p:sp>
      <p:sp>
        <p:nvSpPr>
          <p:cNvPr id="4" name="Text 2"/>
          <p:cNvSpPr/>
          <p:nvPr/>
        </p:nvSpPr>
        <p:spPr>
          <a:xfrm>
            <a:off x="457200" y="1554480"/>
            <a:ext cx="11274552"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Agents live in exactly one quadrant. Most enterprise problems do not.</a:t>
            </a:r>
            <a:endParaRPr lang="en-US" sz="1400" dirty="0"/>
          </a:p>
        </p:txBody>
      </p:sp>
      <p:sp>
        <p:nvSpPr>
          <p:cNvPr id="5" name="Shape 3"/>
          <p:cNvSpPr/>
          <p:nvPr/>
        </p:nvSpPr>
        <p:spPr>
          <a:xfrm>
            <a:off x="457200" y="2057400"/>
            <a:ext cx="11274552" cy="0"/>
          </a:xfrm>
          <a:prstGeom prst="line">
            <a:avLst/>
          </a:prstGeom>
          <a:noFill/>
          <a:ln w="6350">
            <a:solidFill>
              <a:srgbClr val="E2E8F0"/>
            </a:solidFill>
            <a:prstDash val="solid"/>
          </a:ln>
        </p:spPr>
      </p:sp>
      <p:sp>
        <p:nvSpPr>
          <p:cNvPr id="6" name="Shape 4"/>
          <p:cNvSpPr/>
          <p:nvPr/>
        </p:nvSpPr>
        <p:spPr>
          <a:xfrm>
            <a:off x="2194560" y="2468880"/>
            <a:ext cx="7772400" cy="3657600"/>
          </a:xfrm>
          <a:prstGeom prst="rect">
            <a:avLst/>
          </a:prstGeom>
          <a:solidFill>
            <a:srgbClr val="FFFFFF"/>
          </a:solidFill>
          <a:ln w="12700">
            <a:solidFill>
              <a:srgbClr val="0F172A"/>
            </a:solidFill>
            <a:prstDash val="solid"/>
          </a:ln>
        </p:spPr>
      </p:sp>
      <p:sp>
        <p:nvSpPr>
          <p:cNvPr id="7" name="Shape 5"/>
          <p:cNvSpPr/>
          <p:nvPr/>
        </p:nvSpPr>
        <p:spPr>
          <a:xfrm>
            <a:off x="6080760" y="2468880"/>
            <a:ext cx="0" cy="3657600"/>
          </a:xfrm>
          <a:prstGeom prst="line">
            <a:avLst/>
          </a:prstGeom>
          <a:noFill/>
          <a:ln w="12700">
            <a:solidFill>
              <a:srgbClr val="0F172A"/>
            </a:solidFill>
            <a:prstDash val="solid"/>
          </a:ln>
        </p:spPr>
      </p:sp>
      <p:sp>
        <p:nvSpPr>
          <p:cNvPr id="8" name="Shape 6"/>
          <p:cNvSpPr/>
          <p:nvPr/>
        </p:nvSpPr>
        <p:spPr>
          <a:xfrm>
            <a:off x="2194560" y="4297680"/>
            <a:ext cx="7772400" cy="0"/>
          </a:xfrm>
          <a:prstGeom prst="line">
            <a:avLst/>
          </a:prstGeom>
          <a:noFill/>
          <a:ln w="12700">
            <a:solidFill>
              <a:srgbClr val="0F172A"/>
            </a:solidFill>
            <a:prstDash val="solid"/>
          </a:ln>
        </p:spPr>
      </p:sp>
      <p:sp>
        <p:nvSpPr>
          <p:cNvPr id="9" name="Text 7"/>
          <p:cNvSpPr/>
          <p:nvPr/>
        </p:nvSpPr>
        <p:spPr>
          <a:xfrm>
            <a:off x="2194560" y="2103120"/>
            <a:ext cx="3886200" cy="274320"/>
          </a:xfrm>
          <a:prstGeom prst="rect">
            <a:avLst/>
          </a:prstGeom>
          <a:noFill/>
          <a:ln/>
        </p:spPr>
        <p:txBody>
          <a:bodyPr wrap="square" lIns="0" tIns="0" rIns="0" bIns="0" rtlCol="0" anchor="ctr"/>
          <a:lstStyle/>
          <a:p>
            <a:pPr algn="ctr" indent="0" marL="0">
              <a:buNone/>
            </a:pPr>
            <a:r>
              <a:rPr lang="en-US" sz="1000" b="1" spc="300" kern="0" dirty="0">
                <a:solidFill>
                  <a:srgbClr val="64748B"/>
                </a:solidFill>
                <a:latin typeface="Calibri" pitchFamily="34" charset="0"/>
                <a:ea typeface="Calibri" pitchFamily="34" charset="-122"/>
                <a:cs typeface="Calibri" pitchFamily="34" charset="-120"/>
              </a:rPr>
              <a:t>SINGLE STEP</a:t>
            </a:r>
            <a:endParaRPr lang="en-US" sz="1000" dirty="0"/>
          </a:p>
        </p:txBody>
      </p:sp>
      <p:sp>
        <p:nvSpPr>
          <p:cNvPr id="10" name="Text 8"/>
          <p:cNvSpPr/>
          <p:nvPr/>
        </p:nvSpPr>
        <p:spPr>
          <a:xfrm>
            <a:off x="6080760" y="2103120"/>
            <a:ext cx="3886200" cy="274320"/>
          </a:xfrm>
          <a:prstGeom prst="rect">
            <a:avLst/>
          </a:prstGeom>
          <a:noFill/>
          <a:ln/>
        </p:spPr>
        <p:txBody>
          <a:bodyPr wrap="square" lIns="0" tIns="0" rIns="0" bIns="0" rtlCol="0" anchor="ctr"/>
          <a:lstStyle/>
          <a:p>
            <a:pPr algn="ctr" indent="0" marL="0">
              <a:buNone/>
            </a:pPr>
            <a:r>
              <a:rPr lang="en-US" sz="1000" b="1" spc="300" kern="0" dirty="0">
                <a:solidFill>
                  <a:srgbClr val="64748B"/>
                </a:solidFill>
                <a:latin typeface="Calibri" pitchFamily="34" charset="0"/>
                <a:ea typeface="Calibri" pitchFamily="34" charset="-122"/>
                <a:cs typeface="Calibri" pitchFamily="34" charset="-120"/>
              </a:rPr>
              <a:t>MULTI STEP</a:t>
            </a:r>
            <a:endParaRPr lang="en-US" sz="1000" dirty="0"/>
          </a:p>
        </p:txBody>
      </p:sp>
      <p:sp>
        <p:nvSpPr>
          <p:cNvPr id="11" name="Text 9"/>
          <p:cNvSpPr/>
          <p:nvPr/>
        </p:nvSpPr>
        <p:spPr>
          <a:xfrm>
            <a:off x="457200" y="3108960"/>
            <a:ext cx="1554480" cy="274320"/>
          </a:xfrm>
          <a:prstGeom prst="rect">
            <a:avLst/>
          </a:prstGeom>
          <a:noFill/>
          <a:ln/>
        </p:spPr>
        <p:txBody>
          <a:bodyPr wrap="square" lIns="0" tIns="0" rIns="0" bIns="0" rtlCol="0" anchor="ctr"/>
          <a:lstStyle/>
          <a:p>
            <a:pPr algn="r" indent="0" marL="0">
              <a:buNone/>
            </a:pPr>
            <a:r>
              <a:rPr lang="en-US" sz="1000" b="1" spc="200" kern="0" dirty="0">
                <a:solidFill>
                  <a:srgbClr val="64748B"/>
                </a:solidFill>
                <a:latin typeface="Calibri" pitchFamily="34" charset="0"/>
                <a:ea typeface="Calibri" pitchFamily="34" charset="-122"/>
                <a:cs typeface="Calibri" pitchFamily="34" charset="-120"/>
              </a:rPr>
              <a:t>DETERMINISTIC</a:t>
            </a:r>
            <a:endParaRPr lang="en-US" sz="1000" dirty="0"/>
          </a:p>
        </p:txBody>
      </p:sp>
      <p:sp>
        <p:nvSpPr>
          <p:cNvPr id="12" name="Text 10"/>
          <p:cNvSpPr/>
          <p:nvPr/>
        </p:nvSpPr>
        <p:spPr>
          <a:xfrm>
            <a:off x="274320" y="4937760"/>
            <a:ext cx="1737360" cy="274320"/>
          </a:xfrm>
          <a:prstGeom prst="rect">
            <a:avLst/>
          </a:prstGeom>
          <a:noFill/>
          <a:ln/>
        </p:spPr>
        <p:txBody>
          <a:bodyPr wrap="square" lIns="0" tIns="0" rIns="0" bIns="0" rtlCol="0" anchor="ctr"/>
          <a:lstStyle/>
          <a:p>
            <a:pPr algn="r" indent="0" marL="0">
              <a:buNone/>
            </a:pPr>
            <a:r>
              <a:rPr lang="en-US" sz="1000" b="1" spc="200" kern="0" dirty="0">
                <a:solidFill>
                  <a:srgbClr val="64748B"/>
                </a:solidFill>
                <a:latin typeface="Calibri" pitchFamily="34" charset="0"/>
                <a:ea typeface="Calibri" pitchFamily="34" charset="-122"/>
                <a:cs typeface="Calibri" pitchFamily="34" charset="-120"/>
              </a:rPr>
              <a:t>NON-DETERMINISTIC</a:t>
            </a:r>
            <a:endParaRPr lang="en-US" sz="1000" dirty="0"/>
          </a:p>
        </p:txBody>
      </p:sp>
      <p:sp>
        <p:nvSpPr>
          <p:cNvPr id="13" name="Text 11"/>
          <p:cNvSpPr/>
          <p:nvPr/>
        </p:nvSpPr>
        <p:spPr>
          <a:xfrm>
            <a:off x="2468880" y="2697480"/>
            <a:ext cx="3337560" cy="36576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Deterministic, single step</a:t>
            </a:r>
            <a:endParaRPr lang="en-US" sz="1400" dirty="0"/>
          </a:p>
        </p:txBody>
      </p:sp>
      <p:sp>
        <p:nvSpPr>
          <p:cNvPr id="14" name="Text 12"/>
          <p:cNvSpPr/>
          <p:nvPr/>
        </p:nvSpPr>
        <p:spPr>
          <a:xfrm>
            <a:off x="2468880" y="3108960"/>
            <a:ext cx="3337560" cy="64008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Cron job · Zapier rule · BPM step · Webhook handler</a:t>
            </a:r>
            <a:endParaRPr lang="en-US" sz="1100" dirty="0"/>
          </a:p>
        </p:txBody>
      </p:sp>
      <p:sp>
        <p:nvSpPr>
          <p:cNvPr id="15" name="Text 13"/>
          <p:cNvSpPr/>
          <p:nvPr/>
        </p:nvSpPr>
        <p:spPr>
          <a:xfrm>
            <a:off x="2468880" y="3657600"/>
            <a:ext cx="3337560" cy="41148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Use traditional automation. No LLM needed.</a:t>
            </a:r>
            <a:endParaRPr lang="en-US" sz="1100" dirty="0"/>
          </a:p>
        </p:txBody>
      </p:sp>
      <p:sp>
        <p:nvSpPr>
          <p:cNvPr id="16" name="Text 14"/>
          <p:cNvSpPr/>
          <p:nvPr/>
        </p:nvSpPr>
        <p:spPr>
          <a:xfrm>
            <a:off x="6355080" y="2697480"/>
            <a:ext cx="3337560" cy="36576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Deterministic, multi-step</a:t>
            </a:r>
            <a:endParaRPr lang="en-US" sz="1400" dirty="0"/>
          </a:p>
        </p:txBody>
      </p:sp>
      <p:sp>
        <p:nvSpPr>
          <p:cNvPr id="17" name="Text 15"/>
          <p:cNvSpPr/>
          <p:nvPr/>
        </p:nvSpPr>
        <p:spPr>
          <a:xfrm>
            <a:off x="6355080" y="3108960"/>
            <a:ext cx="3337560" cy="64008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Airflow DAG · Step Functions · Camunda · n8n</a:t>
            </a:r>
            <a:endParaRPr lang="en-US" sz="1100" dirty="0"/>
          </a:p>
        </p:txBody>
      </p:sp>
      <p:sp>
        <p:nvSpPr>
          <p:cNvPr id="18" name="Text 16"/>
          <p:cNvSpPr/>
          <p:nvPr/>
        </p:nvSpPr>
        <p:spPr>
          <a:xfrm>
            <a:off x="6355080" y="3657600"/>
            <a:ext cx="3337560" cy="41148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Workflow. Path is author-decided. No agent.</a:t>
            </a:r>
            <a:endParaRPr lang="en-US" sz="1100" dirty="0"/>
          </a:p>
        </p:txBody>
      </p:sp>
      <p:sp>
        <p:nvSpPr>
          <p:cNvPr id="19" name="Text 17"/>
          <p:cNvSpPr/>
          <p:nvPr/>
        </p:nvSpPr>
        <p:spPr>
          <a:xfrm>
            <a:off x="2468880" y="4526280"/>
            <a:ext cx="3337560" cy="36576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Non-deterministic, single step</a:t>
            </a:r>
            <a:endParaRPr lang="en-US" sz="1400" dirty="0"/>
          </a:p>
        </p:txBody>
      </p:sp>
      <p:sp>
        <p:nvSpPr>
          <p:cNvPr id="20" name="Text 18"/>
          <p:cNvSpPr/>
          <p:nvPr/>
        </p:nvSpPr>
        <p:spPr>
          <a:xfrm>
            <a:off x="2468880" y="4937760"/>
            <a:ext cx="3337560" cy="64008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LLM call · Copilot suggestion · One-shot RAG · Classification</a:t>
            </a:r>
            <a:endParaRPr lang="en-US" sz="1100" dirty="0"/>
          </a:p>
        </p:txBody>
      </p:sp>
      <p:sp>
        <p:nvSpPr>
          <p:cNvPr id="21" name="Text 19"/>
          <p:cNvSpPr/>
          <p:nvPr/>
        </p:nvSpPr>
        <p:spPr>
          <a:xfrm>
            <a:off x="2468880" y="5486400"/>
            <a:ext cx="3337560" cy="41148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An LLM call inside an app. Useful, not an agent.</a:t>
            </a:r>
            <a:endParaRPr lang="en-US" sz="1100" dirty="0"/>
          </a:p>
        </p:txBody>
      </p:sp>
      <p:sp>
        <p:nvSpPr>
          <p:cNvPr id="22" name="Shape 20"/>
          <p:cNvSpPr/>
          <p:nvPr/>
        </p:nvSpPr>
        <p:spPr>
          <a:xfrm>
            <a:off x="6217920" y="4434840"/>
            <a:ext cx="3611880" cy="1554480"/>
          </a:xfrm>
          <a:prstGeom prst="rect">
            <a:avLst/>
          </a:prstGeom>
          <a:solidFill>
            <a:srgbClr val="FEF3C7"/>
          </a:solidFill>
          <a:ln w="19050">
            <a:solidFill>
              <a:srgbClr val="B45309"/>
            </a:solidFill>
            <a:prstDash val="solid"/>
          </a:ln>
        </p:spPr>
      </p:sp>
      <p:sp>
        <p:nvSpPr>
          <p:cNvPr id="23" name="Text 21"/>
          <p:cNvSpPr/>
          <p:nvPr/>
        </p:nvSpPr>
        <p:spPr>
          <a:xfrm>
            <a:off x="6355080" y="4526280"/>
            <a:ext cx="3337560" cy="365760"/>
          </a:xfrm>
          <a:prstGeom prst="rect">
            <a:avLst/>
          </a:prstGeom>
          <a:noFill/>
          <a:ln/>
        </p:spPr>
        <p:txBody>
          <a:bodyPr wrap="square" lIns="0" tIns="0" rIns="0" bIns="0" rtlCol="0" anchor="ctr"/>
          <a:lstStyle/>
          <a:p>
            <a:pPr indent="0" marL="0">
              <a:buNone/>
            </a:pPr>
            <a:r>
              <a:rPr lang="en-US" sz="1400" b="1" dirty="0">
                <a:solidFill>
                  <a:srgbClr val="B45309"/>
                </a:solidFill>
                <a:latin typeface="Calibri" pitchFamily="34" charset="0"/>
                <a:ea typeface="Calibri" pitchFamily="34" charset="-122"/>
                <a:cs typeface="Calibri" pitchFamily="34" charset="-120"/>
              </a:rPr>
              <a:t>AGENT</a:t>
            </a:r>
            <a:endParaRPr lang="en-US" sz="1400" dirty="0"/>
          </a:p>
        </p:txBody>
      </p:sp>
      <p:sp>
        <p:nvSpPr>
          <p:cNvPr id="24" name="Text 22"/>
          <p:cNvSpPr/>
          <p:nvPr/>
        </p:nvSpPr>
        <p:spPr>
          <a:xfrm>
            <a:off x="6355080" y="4937760"/>
            <a:ext cx="3337560" cy="64008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ReAct loop · Multi-step planner · Orchestrator with tools</a:t>
            </a:r>
            <a:endParaRPr lang="en-US" sz="1100" dirty="0"/>
          </a:p>
        </p:txBody>
      </p:sp>
      <p:sp>
        <p:nvSpPr>
          <p:cNvPr id="25" name="Text 23"/>
          <p:cNvSpPr/>
          <p:nvPr/>
        </p:nvSpPr>
        <p:spPr>
          <a:xfrm>
            <a:off x="6355080" y="5486400"/>
            <a:ext cx="3337560" cy="411480"/>
          </a:xfrm>
          <a:prstGeom prst="rect">
            <a:avLst/>
          </a:prstGeom>
          <a:noFill/>
          <a:ln/>
        </p:spPr>
        <p:txBody>
          <a:bodyPr wrap="square" lIns="0" tIns="0" rIns="0" bIns="0" rtlCol="0" anchor="ctr"/>
          <a:lstStyle/>
          <a:p>
            <a:pPr indent="0" marL="0">
              <a:buNone/>
            </a:pPr>
            <a:r>
              <a:rPr lang="en-US" sz="1100" i="1" dirty="0">
                <a:solidFill>
                  <a:srgbClr val="B45309"/>
                </a:solidFill>
                <a:latin typeface="Calibri" pitchFamily="34" charset="0"/>
                <a:ea typeface="Calibri" pitchFamily="34" charset="-122"/>
                <a:cs typeface="Calibri" pitchFamily="34" charset="-120"/>
              </a:rPr>
              <a:t>Picks next step, runs many steps. Only quadrant for agents.</a:t>
            </a:r>
            <a:endParaRPr lang="en-US" sz="1100" dirty="0"/>
          </a:p>
        </p:txBody>
      </p:sp>
      <p:sp>
        <p:nvSpPr>
          <p:cNvPr id="26" name="Text 24"/>
          <p:cNvSpPr/>
          <p:nvPr/>
        </p:nvSpPr>
        <p:spPr>
          <a:xfrm>
            <a:off x="10149840" y="2468880"/>
            <a:ext cx="1737360" cy="640080"/>
          </a:xfrm>
          <a:prstGeom prst="rect">
            <a:avLst/>
          </a:prstGeom>
          <a:noFill/>
          <a:ln/>
        </p:spPr>
        <p:txBody>
          <a:bodyPr wrap="square" lIns="0" tIns="0" rIns="0" bIns="0" rtlCol="0" anchor="ctr"/>
          <a:lstStyle/>
          <a:p>
            <a:pPr indent="0" marL="0">
              <a:buNone/>
            </a:pPr>
            <a:r>
              <a:rPr lang="en-US" sz="1100" b="1" spc="200" kern="0" dirty="0">
                <a:solidFill>
                  <a:srgbClr val="B91C1C"/>
                </a:solidFill>
                <a:latin typeface="Calibri" pitchFamily="34" charset="0"/>
                <a:ea typeface="Calibri" pitchFamily="34" charset="-122"/>
                <a:cs typeface="Calibri" pitchFamily="34" charset="-120"/>
              </a:rPr>
              <a:t>THE EXPENSIVE</a:t>
            </a:r>
            <a:endParaRPr lang="en-US" sz="1100" dirty="0"/>
          </a:p>
          <a:p>
            <a:pPr indent="0" marL="0">
              <a:buNone/>
            </a:pPr>
            <a:r>
              <a:rPr lang="en-US" sz="1100" b="1" spc="200" kern="0" dirty="0">
                <a:solidFill>
                  <a:srgbClr val="B91C1C"/>
                </a:solidFill>
                <a:latin typeface="Calibri" pitchFamily="34" charset="0"/>
                <a:ea typeface="Calibri" pitchFamily="34" charset="-122"/>
                <a:cs typeface="Calibri" pitchFamily="34" charset="-120"/>
              </a:rPr>
              <a:t>MISTAKE</a:t>
            </a:r>
            <a:endParaRPr lang="en-US" sz="1100" dirty="0"/>
          </a:p>
        </p:txBody>
      </p:sp>
      <p:sp>
        <p:nvSpPr>
          <p:cNvPr id="27" name="Text 25"/>
          <p:cNvSpPr/>
          <p:nvPr/>
        </p:nvSpPr>
        <p:spPr>
          <a:xfrm>
            <a:off x="10149840" y="3246120"/>
            <a:ext cx="1737360" cy="274320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Building an agent for a problem that was actually a workflow. Eight times the cost, half the reliability, and you debug a probabilistic system instead of a deterministic one.</a:t>
            </a:r>
            <a:endParaRPr lang="en-US" sz="1100" dirty="0"/>
          </a:p>
        </p:txBody>
      </p:sp>
      <p:sp>
        <p:nvSpPr>
          <p:cNvPr id="28" name="Shape 26"/>
          <p:cNvSpPr/>
          <p:nvPr/>
        </p:nvSpPr>
        <p:spPr>
          <a:xfrm>
            <a:off x="457200" y="6446520"/>
            <a:ext cx="11274552" cy="0"/>
          </a:xfrm>
          <a:prstGeom prst="line">
            <a:avLst/>
          </a:prstGeom>
          <a:noFill/>
          <a:ln w="6350">
            <a:solidFill>
              <a:srgbClr val="E2E8F0"/>
            </a:solidFill>
            <a:prstDash val="solid"/>
          </a:ln>
        </p:spPr>
      </p:sp>
      <p:sp>
        <p:nvSpPr>
          <p:cNvPr id="29" name="Text 27"/>
          <p:cNvSpPr/>
          <p:nvPr/>
        </p:nvSpPr>
        <p:spPr>
          <a:xfrm>
            <a:off x="457200" y="6537960"/>
            <a:ext cx="914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17</a:t>
            </a:r>
            <a:endParaRPr lang="en-US" sz="900" dirty="0"/>
          </a:p>
        </p:txBody>
      </p:sp>
      <p:sp>
        <p:nvSpPr>
          <p:cNvPr id="30" name="Text 28"/>
          <p:cNvSpPr/>
          <p:nvPr/>
        </p:nvSpPr>
        <p:spPr>
          <a:xfrm>
            <a:off x="5943600" y="6537960"/>
            <a:ext cx="5788152" cy="228600"/>
          </a:xfrm>
          <a:prstGeom prst="rect">
            <a:avLst/>
          </a:prstGeom>
          <a:noFill/>
          <a:ln/>
        </p:spPr>
        <p:txBody>
          <a:bodyPr wrap="square" lIns="0" tIns="0" rIns="0" bIns="0" rtlCol="0" anchor="ctr"/>
          <a:lstStyle/>
          <a:p>
            <a:pPr algn="r" indent="0" marL="0">
              <a:buNone/>
            </a:pPr>
            <a:r>
              <a:rPr lang="en-US" sz="900" i="1" dirty="0">
                <a:solidFill>
                  <a:srgbClr val="94A3B8"/>
                </a:solidFill>
                <a:latin typeface="Calibri" pitchFamily="34" charset="0"/>
                <a:ea typeface="Calibri" pitchFamily="34" charset="-122"/>
                <a:cs typeface="Calibri" pitchFamily="34" charset="-120"/>
              </a:rPr>
              <a:t>Agentic Foundations · Half 1</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4552" cy="274320"/>
          </a:xfrm>
          <a:prstGeom prst="rect">
            <a:avLst/>
          </a:prstGeom>
          <a:noFill/>
          <a:ln/>
        </p:spPr>
        <p:txBody>
          <a:bodyPr wrap="square" lIns="0" tIns="0" rIns="0" bIns="0" rtlCol="0" anchor="ctr"/>
          <a:lstStyle/>
          <a:p>
            <a:pPr indent="0" marL="0">
              <a:buNone/>
            </a:pPr>
            <a:r>
              <a:rPr lang="en-US" sz="1000" b="1" spc="400" kern="0" dirty="0">
                <a:solidFill>
                  <a:srgbClr val="B45309"/>
                </a:solidFill>
                <a:latin typeface="Calibri" pitchFamily="34" charset="0"/>
                <a:ea typeface="Calibri" pitchFamily="34" charset="-122"/>
                <a:cs typeface="Calibri" pitchFamily="34" charset="-120"/>
              </a:rPr>
              <a:t>02 · APPLIED</a:t>
            </a:r>
            <a:endParaRPr lang="en-US" sz="1000" dirty="0"/>
          </a:p>
        </p:txBody>
      </p:sp>
      <p:sp>
        <p:nvSpPr>
          <p:cNvPr id="3" name="Text 1"/>
          <p:cNvSpPr/>
          <p:nvPr/>
        </p:nvSpPr>
        <p:spPr>
          <a:xfrm>
            <a:off x="457200" y="777240"/>
            <a:ext cx="11274552"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Framework — the four-question filter</a:t>
            </a:r>
            <a:endParaRPr lang="en-US" sz="2800" dirty="0"/>
          </a:p>
        </p:txBody>
      </p:sp>
      <p:sp>
        <p:nvSpPr>
          <p:cNvPr id="4" name="Text 2"/>
          <p:cNvSpPr/>
          <p:nvPr/>
        </p:nvSpPr>
        <p:spPr>
          <a:xfrm>
            <a:off x="457200" y="1554480"/>
            <a:ext cx="11274552"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Run any candidate problem through these four gates before committing to an agent.</a:t>
            </a:r>
            <a:endParaRPr lang="en-US" sz="1400" dirty="0"/>
          </a:p>
        </p:txBody>
      </p:sp>
      <p:sp>
        <p:nvSpPr>
          <p:cNvPr id="5" name="Shape 3"/>
          <p:cNvSpPr/>
          <p:nvPr/>
        </p:nvSpPr>
        <p:spPr>
          <a:xfrm>
            <a:off x="457200" y="2057400"/>
            <a:ext cx="11274552" cy="0"/>
          </a:xfrm>
          <a:prstGeom prst="line">
            <a:avLst/>
          </a:prstGeom>
          <a:noFill/>
          <a:ln w="6350">
            <a:solidFill>
              <a:srgbClr val="E2E8F0"/>
            </a:solidFill>
            <a:prstDash val="solid"/>
          </a:ln>
        </p:spPr>
      </p:sp>
      <p:sp>
        <p:nvSpPr>
          <p:cNvPr id="6" name="Shape 4"/>
          <p:cNvSpPr/>
          <p:nvPr/>
        </p:nvSpPr>
        <p:spPr>
          <a:xfrm>
            <a:off x="457200" y="2377440"/>
            <a:ext cx="5486400" cy="777240"/>
          </a:xfrm>
          <a:prstGeom prst="rect">
            <a:avLst/>
          </a:prstGeom>
          <a:solidFill>
            <a:srgbClr val="F8FAFC"/>
          </a:solidFill>
          <a:ln w="12700">
            <a:solidFill>
              <a:srgbClr val="E2E8F0"/>
            </a:solidFill>
            <a:prstDash val="solid"/>
          </a:ln>
        </p:spPr>
      </p:sp>
      <p:sp>
        <p:nvSpPr>
          <p:cNvPr id="7" name="Text 5"/>
          <p:cNvSpPr/>
          <p:nvPr/>
        </p:nvSpPr>
        <p:spPr>
          <a:xfrm>
            <a:off x="594360" y="2468880"/>
            <a:ext cx="548640" cy="594360"/>
          </a:xfrm>
          <a:prstGeom prst="rect">
            <a:avLst/>
          </a:prstGeom>
          <a:noFill/>
          <a:ln/>
        </p:spPr>
        <p:txBody>
          <a:bodyPr wrap="square" lIns="0" tIns="0" rIns="0" bIns="0" rtlCol="0" anchor="ctr"/>
          <a:lstStyle/>
          <a:p>
            <a:pPr indent="0" marL="0">
              <a:buNone/>
            </a:pPr>
            <a:r>
              <a:rPr lang="en-US" sz="1600" b="1" dirty="0">
                <a:solidFill>
                  <a:srgbClr val="B45309"/>
                </a:solidFill>
                <a:latin typeface="Georgia" pitchFamily="34" charset="0"/>
                <a:ea typeface="Georgia" pitchFamily="34" charset="-122"/>
                <a:cs typeface="Georgia" pitchFamily="34" charset="-120"/>
              </a:rPr>
              <a:t>Q1</a:t>
            </a:r>
            <a:endParaRPr lang="en-US" sz="1600" dirty="0"/>
          </a:p>
        </p:txBody>
      </p:sp>
      <p:sp>
        <p:nvSpPr>
          <p:cNvPr id="8" name="Text 6"/>
          <p:cNvSpPr/>
          <p:nvPr/>
        </p:nvSpPr>
        <p:spPr>
          <a:xfrm>
            <a:off x="1143000" y="2514600"/>
            <a:ext cx="4754880" cy="548640"/>
          </a:xfrm>
          <a:prstGeom prst="rect">
            <a:avLst/>
          </a:prstGeom>
          <a:noFill/>
          <a:ln/>
        </p:spPr>
        <p:txBody>
          <a:bodyPr wrap="square" lIns="0" tIns="0" rIns="0" bIns="0" rtlCol="0" anchor="ctr"/>
          <a:lstStyle/>
          <a:p>
            <a:pPr indent="0" marL="0">
              <a:buNone/>
            </a:pPr>
            <a:r>
              <a:rPr lang="en-US" sz="1400" dirty="0">
                <a:solidFill>
                  <a:srgbClr val="0F172A"/>
                </a:solidFill>
                <a:latin typeface="Calibri" pitchFamily="34" charset="0"/>
                <a:ea typeface="Calibri" pitchFamily="34" charset="-122"/>
                <a:cs typeface="Calibri" pitchFamily="34" charset="-120"/>
              </a:rPr>
              <a:t>Is the next step decided by code?</a:t>
            </a:r>
            <a:endParaRPr lang="en-US" sz="1400" dirty="0"/>
          </a:p>
        </p:txBody>
      </p:sp>
      <p:sp>
        <p:nvSpPr>
          <p:cNvPr id="9" name="Text 7"/>
          <p:cNvSpPr/>
          <p:nvPr/>
        </p:nvSpPr>
        <p:spPr>
          <a:xfrm>
            <a:off x="6126480" y="2423160"/>
            <a:ext cx="548640" cy="274320"/>
          </a:xfrm>
          <a:prstGeom prst="rect">
            <a:avLst/>
          </a:prstGeom>
          <a:noFill/>
          <a:ln/>
        </p:spPr>
        <p:txBody>
          <a:bodyPr wrap="square" lIns="0" tIns="0" rIns="0" bIns="0" rtlCol="0" anchor="ctr"/>
          <a:lstStyle/>
          <a:p>
            <a:pPr indent="0" marL="0">
              <a:buNone/>
            </a:pPr>
            <a:r>
              <a:rPr lang="en-US" sz="900" b="1" spc="200" kern="0" dirty="0">
                <a:solidFill>
                  <a:srgbClr val="047857"/>
                </a:solidFill>
                <a:latin typeface="Calibri" pitchFamily="34" charset="0"/>
                <a:ea typeface="Calibri" pitchFamily="34" charset="-122"/>
                <a:cs typeface="Calibri" pitchFamily="34" charset="-120"/>
              </a:rPr>
              <a:t>YES</a:t>
            </a:r>
            <a:endParaRPr lang="en-US" sz="900" dirty="0"/>
          </a:p>
        </p:txBody>
      </p:sp>
      <p:sp>
        <p:nvSpPr>
          <p:cNvPr id="10" name="Text 8"/>
          <p:cNvSpPr/>
          <p:nvPr/>
        </p:nvSpPr>
        <p:spPr>
          <a:xfrm>
            <a:off x="6675120" y="2377440"/>
            <a:ext cx="5029200" cy="41148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STOP — build a workflow.</a:t>
            </a:r>
            <a:endParaRPr lang="en-US" sz="1200" dirty="0"/>
          </a:p>
        </p:txBody>
      </p:sp>
      <p:sp>
        <p:nvSpPr>
          <p:cNvPr id="11" name="Text 9"/>
          <p:cNvSpPr/>
          <p:nvPr/>
        </p:nvSpPr>
        <p:spPr>
          <a:xfrm>
            <a:off x="6126480" y="2834640"/>
            <a:ext cx="548640" cy="274320"/>
          </a:xfrm>
          <a:prstGeom prst="rect">
            <a:avLst/>
          </a:prstGeom>
          <a:noFill/>
          <a:ln/>
        </p:spPr>
        <p:txBody>
          <a:bodyPr wrap="square" lIns="0" tIns="0" rIns="0" bIns="0" rtlCol="0" anchor="ctr"/>
          <a:lstStyle/>
          <a:p>
            <a:pPr indent="0" marL="0">
              <a:buNone/>
            </a:pPr>
            <a:r>
              <a:rPr lang="en-US" sz="900" b="1" spc="200" kern="0" dirty="0">
                <a:solidFill>
                  <a:srgbClr val="B91C1C"/>
                </a:solidFill>
                <a:latin typeface="Calibri" pitchFamily="34" charset="0"/>
                <a:ea typeface="Calibri" pitchFamily="34" charset="-122"/>
                <a:cs typeface="Calibri" pitchFamily="34" charset="-120"/>
              </a:rPr>
              <a:t>NO</a:t>
            </a:r>
            <a:endParaRPr lang="en-US" sz="900" dirty="0"/>
          </a:p>
        </p:txBody>
      </p:sp>
      <p:sp>
        <p:nvSpPr>
          <p:cNvPr id="12" name="Text 10"/>
          <p:cNvSpPr/>
          <p:nvPr/>
        </p:nvSpPr>
        <p:spPr>
          <a:xfrm>
            <a:off x="6675120" y="2788920"/>
            <a:ext cx="5029200" cy="41148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Continue ↓</a:t>
            </a:r>
            <a:endParaRPr lang="en-US" sz="1200" dirty="0"/>
          </a:p>
        </p:txBody>
      </p:sp>
      <p:sp>
        <p:nvSpPr>
          <p:cNvPr id="13" name="Shape 11"/>
          <p:cNvSpPr/>
          <p:nvPr/>
        </p:nvSpPr>
        <p:spPr>
          <a:xfrm>
            <a:off x="457200" y="3337560"/>
            <a:ext cx="5486400" cy="777240"/>
          </a:xfrm>
          <a:prstGeom prst="rect">
            <a:avLst/>
          </a:prstGeom>
          <a:solidFill>
            <a:srgbClr val="F8FAFC"/>
          </a:solidFill>
          <a:ln w="12700">
            <a:solidFill>
              <a:srgbClr val="E2E8F0"/>
            </a:solidFill>
            <a:prstDash val="solid"/>
          </a:ln>
        </p:spPr>
      </p:sp>
      <p:sp>
        <p:nvSpPr>
          <p:cNvPr id="14" name="Text 12"/>
          <p:cNvSpPr/>
          <p:nvPr/>
        </p:nvSpPr>
        <p:spPr>
          <a:xfrm>
            <a:off x="594360" y="3429000"/>
            <a:ext cx="548640" cy="594360"/>
          </a:xfrm>
          <a:prstGeom prst="rect">
            <a:avLst/>
          </a:prstGeom>
          <a:noFill/>
          <a:ln/>
        </p:spPr>
        <p:txBody>
          <a:bodyPr wrap="square" lIns="0" tIns="0" rIns="0" bIns="0" rtlCol="0" anchor="ctr"/>
          <a:lstStyle/>
          <a:p>
            <a:pPr indent="0" marL="0">
              <a:buNone/>
            </a:pPr>
            <a:r>
              <a:rPr lang="en-US" sz="1600" b="1" dirty="0">
                <a:solidFill>
                  <a:srgbClr val="B45309"/>
                </a:solidFill>
                <a:latin typeface="Georgia" pitchFamily="34" charset="0"/>
                <a:ea typeface="Georgia" pitchFamily="34" charset="-122"/>
                <a:cs typeface="Georgia" pitchFamily="34" charset="-120"/>
              </a:rPr>
              <a:t>Q2</a:t>
            </a:r>
            <a:endParaRPr lang="en-US" sz="1600" dirty="0"/>
          </a:p>
        </p:txBody>
      </p:sp>
      <p:sp>
        <p:nvSpPr>
          <p:cNvPr id="15" name="Text 13"/>
          <p:cNvSpPr/>
          <p:nvPr/>
        </p:nvSpPr>
        <p:spPr>
          <a:xfrm>
            <a:off x="1143000" y="3474720"/>
            <a:ext cx="4754880" cy="548640"/>
          </a:xfrm>
          <a:prstGeom prst="rect">
            <a:avLst/>
          </a:prstGeom>
          <a:noFill/>
          <a:ln/>
        </p:spPr>
        <p:txBody>
          <a:bodyPr wrap="square" lIns="0" tIns="0" rIns="0" bIns="0" rtlCol="0" anchor="ctr"/>
          <a:lstStyle/>
          <a:p>
            <a:pPr indent="0" marL="0">
              <a:buNone/>
            </a:pPr>
            <a:r>
              <a:rPr lang="en-US" sz="1400" dirty="0">
                <a:solidFill>
                  <a:srgbClr val="0F172A"/>
                </a:solidFill>
                <a:latin typeface="Calibri" pitchFamily="34" charset="0"/>
                <a:ea typeface="Calibri" pitchFamily="34" charset="-122"/>
                <a:cs typeface="Calibri" pitchFamily="34" charset="-120"/>
              </a:rPr>
              <a:t>Does it require more than one step?</a:t>
            </a:r>
            <a:endParaRPr lang="en-US" sz="1400" dirty="0"/>
          </a:p>
        </p:txBody>
      </p:sp>
      <p:sp>
        <p:nvSpPr>
          <p:cNvPr id="16" name="Text 14"/>
          <p:cNvSpPr/>
          <p:nvPr/>
        </p:nvSpPr>
        <p:spPr>
          <a:xfrm>
            <a:off x="6126480" y="3383280"/>
            <a:ext cx="548640" cy="274320"/>
          </a:xfrm>
          <a:prstGeom prst="rect">
            <a:avLst/>
          </a:prstGeom>
          <a:noFill/>
          <a:ln/>
        </p:spPr>
        <p:txBody>
          <a:bodyPr wrap="square" lIns="0" tIns="0" rIns="0" bIns="0" rtlCol="0" anchor="ctr"/>
          <a:lstStyle/>
          <a:p>
            <a:pPr indent="0" marL="0">
              <a:buNone/>
            </a:pPr>
            <a:r>
              <a:rPr lang="en-US" sz="900" b="1" spc="200" kern="0" dirty="0">
                <a:solidFill>
                  <a:srgbClr val="047857"/>
                </a:solidFill>
                <a:latin typeface="Calibri" pitchFamily="34" charset="0"/>
                <a:ea typeface="Calibri" pitchFamily="34" charset="-122"/>
                <a:cs typeface="Calibri" pitchFamily="34" charset="-120"/>
              </a:rPr>
              <a:t>YES</a:t>
            </a:r>
            <a:endParaRPr lang="en-US" sz="900" dirty="0"/>
          </a:p>
        </p:txBody>
      </p:sp>
      <p:sp>
        <p:nvSpPr>
          <p:cNvPr id="17" name="Text 15"/>
          <p:cNvSpPr/>
          <p:nvPr/>
        </p:nvSpPr>
        <p:spPr>
          <a:xfrm>
            <a:off x="6675120" y="3337560"/>
            <a:ext cx="5029200" cy="41148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Continue ↓</a:t>
            </a:r>
            <a:endParaRPr lang="en-US" sz="1200" dirty="0"/>
          </a:p>
        </p:txBody>
      </p:sp>
      <p:sp>
        <p:nvSpPr>
          <p:cNvPr id="18" name="Text 16"/>
          <p:cNvSpPr/>
          <p:nvPr/>
        </p:nvSpPr>
        <p:spPr>
          <a:xfrm>
            <a:off x="6126480" y="3794760"/>
            <a:ext cx="548640" cy="274320"/>
          </a:xfrm>
          <a:prstGeom prst="rect">
            <a:avLst/>
          </a:prstGeom>
          <a:noFill/>
          <a:ln/>
        </p:spPr>
        <p:txBody>
          <a:bodyPr wrap="square" lIns="0" tIns="0" rIns="0" bIns="0" rtlCol="0" anchor="ctr"/>
          <a:lstStyle/>
          <a:p>
            <a:pPr indent="0" marL="0">
              <a:buNone/>
            </a:pPr>
            <a:r>
              <a:rPr lang="en-US" sz="900" b="1" spc="200" kern="0" dirty="0">
                <a:solidFill>
                  <a:srgbClr val="B91C1C"/>
                </a:solidFill>
                <a:latin typeface="Calibri" pitchFamily="34" charset="0"/>
                <a:ea typeface="Calibri" pitchFamily="34" charset="-122"/>
                <a:cs typeface="Calibri" pitchFamily="34" charset="-120"/>
              </a:rPr>
              <a:t>NO</a:t>
            </a:r>
            <a:endParaRPr lang="en-US" sz="900" dirty="0"/>
          </a:p>
        </p:txBody>
      </p:sp>
      <p:sp>
        <p:nvSpPr>
          <p:cNvPr id="19" name="Text 17"/>
          <p:cNvSpPr/>
          <p:nvPr/>
        </p:nvSpPr>
        <p:spPr>
          <a:xfrm>
            <a:off x="6675120" y="3749040"/>
            <a:ext cx="5029200" cy="41148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STOP — a single LLM call is enough.</a:t>
            </a:r>
            <a:endParaRPr lang="en-US" sz="1200" dirty="0"/>
          </a:p>
        </p:txBody>
      </p:sp>
      <p:sp>
        <p:nvSpPr>
          <p:cNvPr id="20" name="Shape 18"/>
          <p:cNvSpPr/>
          <p:nvPr/>
        </p:nvSpPr>
        <p:spPr>
          <a:xfrm>
            <a:off x="457200" y="4297680"/>
            <a:ext cx="5486400" cy="777240"/>
          </a:xfrm>
          <a:prstGeom prst="rect">
            <a:avLst/>
          </a:prstGeom>
          <a:solidFill>
            <a:srgbClr val="F8FAFC"/>
          </a:solidFill>
          <a:ln w="12700">
            <a:solidFill>
              <a:srgbClr val="E2E8F0"/>
            </a:solidFill>
            <a:prstDash val="solid"/>
          </a:ln>
        </p:spPr>
      </p:sp>
      <p:sp>
        <p:nvSpPr>
          <p:cNvPr id="21" name="Text 19"/>
          <p:cNvSpPr/>
          <p:nvPr/>
        </p:nvSpPr>
        <p:spPr>
          <a:xfrm>
            <a:off x="594360" y="4389120"/>
            <a:ext cx="548640" cy="594360"/>
          </a:xfrm>
          <a:prstGeom prst="rect">
            <a:avLst/>
          </a:prstGeom>
          <a:noFill/>
          <a:ln/>
        </p:spPr>
        <p:txBody>
          <a:bodyPr wrap="square" lIns="0" tIns="0" rIns="0" bIns="0" rtlCol="0" anchor="ctr"/>
          <a:lstStyle/>
          <a:p>
            <a:pPr indent="0" marL="0">
              <a:buNone/>
            </a:pPr>
            <a:r>
              <a:rPr lang="en-US" sz="1600" b="1" dirty="0">
                <a:solidFill>
                  <a:srgbClr val="B45309"/>
                </a:solidFill>
                <a:latin typeface="Georgia" pitchFamily="34" charset="0"/>
                <a:ea typeface="Georgia" pitchFamily="34" charset="-122"/>
                <a:cs typeface="Georgia" pitchFamily="34" charset="-120"/>
              </a:rPr>
              <a:t>Q3</a:t>
            </a:r>
            <a:endParaRPr lang="en-US" sz="1600" dirty="0"/>
          </a:p>
        </p:txBody>
      </p:sp>
      <p:sp>
        <p:nvSpPr>
          <p:cNvPr id="22" name="Text 20"/>
          <p:cNvSpPr/>
          <p:nvPr/>
        </p:nvSpPr>
        <p:spPr>
          <a:xfrm>
            <a:off x="1143000" y="4434840"/>
            <a:ext cx="4754880" cy="548640"/>
          </a:xfrm>
          <a:prstGeom prst="rect">
            <a:avLst/>
          </a:prstGeom>
          <a:noFill/>
          <a:ln/>
        </p:spPr>
        <p:txBody>
          <a:bodyPr wrap="square" lIns="0" tIns="0" rIns="0" bIns="0" rtlCol="0" anchor="ctr"/>
          <a:lstStyle/>
          <a:p>
            <a:pPr indent="0" marL="0">
              <a:buNone/>
            </a:pPr>
            <a:r>
              <a:rPr lang="en-US" sz="1400" dirty="0">
                <a:solidFill>
                  <a:srgbClr val="0F172A"/>
                </a:solidFill>
                <a:latin typeface="Calibri" pitchFamily="34" charset="0"/>
                <a:ea typeface="Calibri" pitchFamily="34" charset="-122"/>
                <a:cs typeface="Calibri" pitchFamily="34" charset="-120"/>
              </a:rPr>
              <a:t>Are tool side effects required?</a:t>
            </a:r>
            <a:endParaRPr lang="en-US" sz="1400" dirty="0"/>
          </a:p>
        </p:txBody>
      </p:sp>
      <p:sp>
        <p:nvSpPr>
          <p:cNvPr id="23" name="Text 21"/>
          <p:cNvSpPr/>
          <p:nvPr/>
        </p:nvSpPr>
        <p:spPr>
          <a:xfrm>
            <a:off x="6126480" y="4343400"/>
            <a:ext cx="548640" cy="274320"/>
          </a:xfrm>
          <a:prstGeom prst="rect">
            <a:avLst/>
          </a:prstGeom>
          <a:noFill/>
          <a:ln/>
        </p:spPr>
        <p:txBody>
          <a:bodyPr wrap="square" lIns="0" tIns="0" rIns="0" bIns="0" rtlCol="0" anchor="ctr"/>
          <a:lstStyle/>
          <a:p>
            <a:pPr indent="0" marL="0">
              <a:buNone/>
            </a:pPr>
            <a:r>
              <a:rPr lang="en-US" sz="900" b="1" spc="200" kern="0" dirty="0">
                <a:solidFill>
                  <a:srgbClr val="047857"/>
                </a:solidFill>
                <a:latin typeface="Calibri" pitchFamily="34" charset="0"/>
                <a:ea typeface="Calibri" pitchFamily="34" charset="-122"/>
                <a:cs typeface="Calibri" pitchFamily="34" charset="-120"/>
              </a:rPr>
              <a:t>YES</a:t>
            </a:r>
            <a:endParaRPr lang="en-US" sz="900" dirty="0"/>
          </a:p>
        </p:txBody>
      </p:sp>
      <p:sp>
        <p:nvSpPr>
          <p:cNvPr id="24" name="Text 22"/>
          <p:cNvSpPr/>
          <p:nvPr/>
        </p:nvSpPr>
        <p:spPr>
          <a:xfrm>
            <a:off x="6675120" y="4297680"/>
            <a:ext cx="5029200" cy="41148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Continue ↓</a:t>
            </a:r>
            <a:endParaRPr lang="en-US" sz="1200" dirty="0"/>
          </a:p>
        </p:txBody>
      </p:sp>
      <p:sp>
        <p:nvSpPr>
          <p:cNvPr id="25" name="Text 23"/>
          <p:cNvSpPr/>
          <p:nvPr/>
        </p:nvSpPr>
        <p:spPr>
          <a:xfrm>
            <a:off x="6126480" y="4754880"/>
            <a:ext cx="548640" cy="274320"/>
          </a:xfrm>
          <a:prstGeom prst="rect">
            <a:avLst/>
          </a:prstGeom>
          <a:noFill/>
          <a:ln/>
        </p:spPr>
        <p:txBody>
          <a:bodyPr wrap="square" lIns="0" tIns="0" rIns="0" bIns="0" rtlCol="0" anchor="ctr"/>
          <a:lstStyle/>
          <a:p>
            <a:pPr indent="0" marL="0">
              <a:buNone/>
            </a:pPr>
            <a:r>
              <a:rPr lang="en-US" sz="900" b="1" spc="200" kern="0" dirty="0">
                <a:solidFill>
                  <a:srgbClr val="B91C1C"/>
                </a:solidFill>
                <a:latin typeface="Calibri" pitchFamily="34" charset="0"/>
                <a:ea typeface="Calibri" pitchFamily="34" charset="-122"/>
                <a:cs typeface="Calibri" pitchFamily="34" charset="-120"/>
              </a:rPr>
              <a:t>NO</a:t>
            </a:r>
            <a:endParaRPr lang="en-US" sz="900" dirty="0"/>
          </a:p>
        </p:txBody>
      </p:sp>
      <p:sp>
        <p:nvSpPr>
          <p:cNvPr id="26" name="Text 24"/>
          <p:cNvSpPr/>
          <p:nvPr/>
        </p:nvSpPr>
        <p:spPr>
          <a:xfrm>
            <a:off x="6675120" y="4709160"/>
            <a:ext cx="5029200" cy="41148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STOP — generation alone is the right shape.</a:t>
            </a:r>
            <a:endParaRPr lang="en-US" sz="1200" dirty="0"/>
          </a:p>
        </p:txBody>
      </p:sp>
      <p:sp>
        <p:nvSpPr>
          <p:cNvPr id="27" name="Shape 25"/>
          <p:cNvSpPr/>
          <p:nvPr/>
        </p:nvSpPr>
        <p:spPr>
          <a:xfrm>
            <a:off x="457200" y="5257800"/>
            <a:ext cx="5486400" cy="777240"/>
          </a:xfrm>
          <a:prstGeom prst="rect">
            <a:avLst/>
          </a:prstGeom>
          <a:solidFill>
            <a:srgbClr val="F8FAFC"/>
          </a:solidFill>
          <a:ln w="12700">
            <a:solidFill>
              <a:srgbClr val="E2E8F0"/>
            </a:solidFill>
            <a:prstDash val="solid"/>
          </a:ln>
        </p:spPr>
      </p:sp>
      <p:sp>
        <p:nvSpPr>
          <p:cNvPr id="28" name="Text 26"/>
          <p:cNvSpPr/>
          <p:nvPr/>
        </p:nvSpPr>
        <p:spPr>
          <a:xfrm>
            <a:off x="594360" y="5349240"/>
            <a:ext cx="548640" cy="594360"/>
          </a:xfrm>
          <a:prstGeom prst="rect">
            <a:avLst/>
          </a:prstGeom>
          <a:noFill/>
          <a:ln/>
        </p:spPr>
        <p:txBody>
          <a:bodyPr wrap="square" lIns="0" tIns="0" rIns="0" bIns="0" rtlCol="0" anchor="ctr"/>
          <a:lstStyle/>
          <a:p>
            <a:pPr indent="0" marL="0">
              <a:buNone/>
            </a:pPr>
            <a:r>
              <a:rPr lang="en-US" sz="1600" b="1" dirty="0">
                <a:solidFill>
                  <a:srgbClr val="B45309"/>
                </a:solidFill>
                <a:latin typeface="Georgia" pitchFamily="34" charset="0"/>
                <a:ea typeface="Georgia" pitchFamily="34" charset="-122"/>
                <a:cs typeface="Georgia" pitchFamily="34" charset="-120"/>
              </a:rPr>
              <a:t>Q4</a:t>
            </a:r>
            <a:endParaRPr lang="en-US" sz="1600" dirty="0"/>
          </a:p>
        </p:txBody>
      </p:sp>
      <p:sp>
        <p:nvSpPr>
          <p:cNvPr id="29" name="Text 27"/>
          <p:cNvSpPr/>
          <p:nvPr/>
        </p:nvSpPr>
        <p:spPr>
          <a:xfrm>
            <a:off x="1143000" y="5394960"/>
            <a:ext cx="4754880" cy="548640"/>
          </a:xfrm>
          <a:prstGeom prst="rect">
            <a:avLst/>
          </a:prstGeom>
          <a:noFill/>
          <a:ln/>
        </p:spPr>
        <p:txBody>
          <a:bodyPr wrap="square" lIns="0" tIns="0" rIns="0" bIns="0" rtlCol="0" anchor="ctr"/>
          <a:lstStyle/>
          <a:p>
            <a:pPr indent="0" marL="0">
              <a:buNone/>
            </a:pPr>
            <a:r>
              <a:rPr lang="en-US" sz="1400" dirty="0">
                <a:solidFill>
                  <a:srgbClr val="0F172A"/>
                </a:solidFill>
                <a:latin typeface="Calibri" pitchFamily="34" charset="0"/>
                <a:ea typeface="Calibri" pitchFamily="34" charset="-122"/>
                <a:cs typeface="Calibri" pitchFamily="34" charset="-120"/>
              </a:rPr>
              <a:t>Is variable behaviour acceptable on outputs that are V, not M?</a:t>
            </a:r>
            <a:endParaRPr lang="en-US" sz="1400" dirty="0"/>
          </a:p>
        </p:txBody>
      </p:sp>
      <p:sp>
        <p:nvSpPr>
          <p:cNvPr id="30" name="Text 28"/>
          <p:cNvSpPr/>
          <p:nvPr/>
        </p:nvSpPr>
        <p:spPr>
          <a:xfrm>
            <a:off x="6126480" y="5303520"/>
            <a:ext cx="548640" cy="274320"/>
          </a:xfrm>
          <a:prstGeom prst="rect">
            <a:avLst/>
          </a:prstGeom>
          <a:noFill/>
          <a:ln/>
        </p:spPr>
        <p:txBody>
          <a:bodyPr wrap="square" lIns="0" tIns="0" rIns="0" bIns="0" rtlCol="0" anchor="ctr"/>
          <a:lstStyle/>
          <a:p>
            <a:pPr indent="0" marL="0">
              <a:buNone/>
            </a:pPr>
            <a:r>
              <a:rPr lang="en-US" sz="900" b="1" spc="200" kern="0" dirty="0">
                <a:solidFill>
                  <a:srgbClr val="047857"/>
                </a:solidFill>
                <a:latin typeface="Calibri" pitchFamily="34" charset="0"/>
                <a:ea typeface="Calibri" pitchFamily="34" charset="-122"/>
                <a:cs typeface="Calibri" pitchFamily="34" charset="-120"/>
              </a:rPr>
              <a:t>YES</a:t>
            </a:r>
            <a:endParaRPr lang="en-US" sz="900" dirty="0"/>
          </a:p>
        </p:txBody>
      </p:sp>
      <p:sp>
        <p:nvSpPr>
          <p:cNvPr id="31" name="Text 29"/>
          <p:cNvSpPr/>
          <p:nvPr/>
        </p:nvSpPr>
        <p:spPr>
          <a:xfrm>
            <a:off x="6675120" y="5257800"/>
            <a:ext cx="5029200" cy="41148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AGENT.</a:t>
            </a:r>
            <a:endParaRPr lang="en-US" sz="1200" dirty="0"/>
          </a:p>
        </p:txBody>
      </p:sp>
      <p:sp>
        <p:nvSpPr>
          <p:cNvPr id="32" name="Text 30"/>
          <p:cNvSpPr/>
          <p:nvPr/>
        </p:nvSpPr>
        <p:spPr>
          <a:xfrm>
            <a:off x="6126480" y="5715000"/>
            <a:ext cx="548640" cy="274320"/>
          </a:xfrm>
          <a:prstGeom prst="rect">
            <a:avLst/>
          </a:prstGeom>
          <a:noFill/>
          <a:ln/>
        </p:spPr>
        <p:txBody>
          <a:bodyPr wrap="square" lIns="0" tIns="0" rIns="0" bIns="0" rtlCol="0" anchor="ctr"/>
          <a:lstStyle/>
          <a:p>
            <a:pPr indent="0" marL="0">
              <a:buNone/>
            </a:pPr>
            <a:r>
              <a:rPr lang="en-US" sz="900" b="1" spc="200" kern="0" dirty="0">
                <a:solidFill>
                  <a:srgbClr val="B91C1C"/>
                </a:solidFill>
                <a:latin typeface="Calibri" pitchFamily="34" charset="0"/>
                <a:ea typeface="Calibri" pitchFamily="34" charset="-122"/>
                <a:cs typeface="Calibri" pitchFamily="34" charset="-120"/>
              </a:rPr>
              <a:t>NO</a:t>
            </a:r>
            <a:endParaRPr lang="en-US" sz="900" dirty="0"/>
          </a:p>
        </p:txBody>
      </p:sp>
      <p:sp>
        <p:nvSpPr>
          <p:cNvPr id="33" name="Text 31"/>
          <p:cNvSpPr/>
          <p:nvPr/>
        </p:nvSpPr>
        <p:spPr>
          <a:xfrm>
            <a:off x="6675120" y="5669280"/>
            <a:ext cx="5029200" cy="41148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STOP — the problem needs determinism. Build a workflow.</a:t>
            </a:r>
            <a:endParaRPr lang="en-US" sz="1200" dirty="0"/>
          </a:p>
        </p:txBody>
      </p:sp>
      <p:sp>
        <p:nvSpPr>
          <p:cNvPr id="34" name="Shape 32"/>
          <p:cNvSpPr/>
          <p:nvPr/>
        </p:nvSpPr>
        <p:spPr>
          <a:xfrm>
            <a:off x="457200" y="6446520"/>
            <a:ext cx="11274552" cy="0"/>
          </a:xfrm>
          <a:prstGeom prst="line">
            <a:avLst/>
          </a:prstGeom>
          <a:noFill/>
          <a:ln w="6350">
            <a:solidFill>
              <a:srgbClr val="E2E8F0"/>
            </a:solidFill>
            <a:prstDash val="solid"/>
          </a:ln>
        </p:spPr>
      </p:sp>
      <p:sp>
        <p:nvSpPr>
          <p:cNvPr id="35" name="Text 33"/>
          <p:cNvSpPr/>
          <p:nvPr/>
        </p:nvSpPr>
        <p:spPr>
          <a:xfrm>
            <a:off x="457200" y="6537960"/>
            <a:ext cx="914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18</a:t>
            </a:r>
            <a:endParaRPr lang="en-US" sz="900" dirty="0"/>
          </a:p>
        </p:txBody>
      </p:sp>
      <p:sp>
        <p:nvSpPr>
          <p:cNvPr id="36" name="Text 34"/>
          <p:cNvSpPr/>
          <p:nvPr/>
        </p:nvSpPr>
        <p:spPr>
          <a:xfrm>
            <a:off x="5943600" y="6537960"/>
            <a:ext cx="5788152" cy="228600"/>
          </a:xfrm>
          <a:prstGeom prst="rect">
            <a:avLst/>
          </a:prstGeom>
          <a:noFill/>
          <a:ln/>
        </p:spPr>
        <p:txBody>
          <a:bodyPr wrap="square" lIns="0" tIns="0" rIns="0" bIns="0" rtlCol="0" anchor="ctr"/>
          <a:lstStyle/>
          <a:p>
            <a:pPr algn="r" indent="0" marL="0">
              <a:buNone/>
            </a:pPr>
            <a:r>
              <a:rPr lang="en-US" sz="900" i="1" dirty="0">
                <a:solidFill>
                  <a:srgbClr val="94A3B8"/>
                </a:solidFill>
                <a:latin typeface="Calibri" pitchFamily="34" charset="0"/>
                <a:ea typeface="Calibri" pitchFamily="34" charset="-122"/>
                <a:cs typeface="Calibri" pitchFamily="34" charset="-120"/>
              </a:rPr>
              <a:t>Agentic Foundations · Half 1</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4552" cy="274320"/>
          </a:xfrm>
          <a:prstGeom prst="rect">
            <a:avLst/>
          </a:prstGeom>
          <a:noFill/>
          <a:ln/>
        </p:spPr>
        <p:txBody>
          <a:bodyPr wrap="square" lIns="0" tIns="0" rIns="0" bIns="0" rtlCol="0" anchor="ctr"/>
          <a:lstStyle/>
          <a:p>
            <a:pPr indent="0" marL="0">
              <a:buNone/>
            </a:pPr>
            <a:r>
              <a:rPr lang="en-US" sz="1000" b="1" spc="400" kern="0" dirty="0">
                <a:solidFill>
                  <a:srgbClr val="B45309"/>
                </a:solidFill>
                <a:latin typeface="Calibri" pitchFamily="34" charset="0"/>
                <a:ea typeface="Calibri" pitchFamily="34" charset="-122"/>
                <a:cs typeface="Calibri" pitchFamily="34" charset="-120"/>
              </a:rPr>
              <a:t>03 · VOCABULARY</a:t>
            </a:r>
            <a:endParaRPr lang="en-US" sz="1000" dirty="0"/>
          </a:p>
        </p:txBody>
      </p:sp>
      <p:sp>
        <p:nvSpPr>
          <p:cNvPr id="3" name="Text 1"/>
          <p:cNvSpPr/>
          <p:nvPr/>
        </p:nvSpPr>
        <p:spPr>
          <a:xfrm>
            <a:off x="457200" y="777240"/>
            <a:ext cx="11274552"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Four categories, four use cases</a:t>
            </a:r>
            <a:endParaRPr lang="en-US" sz="2800" dirty="0"/>
          </a:p>
        </p:txBody>
      </p:sp>
      <p:sp>
        <p:nvSpPr>
          <p:cNvPr id="4" name="Text 2"/>
          <p:cNvSpPr/>
          <p:nvPr/>
        </p:nvSpPr>
        <p:spPr>
          <a:xfrm>
            <a:off x="457200" y="1554480"/>
            <a:ext cx="11274552"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Promotion is not always upward. Many problems get demoted from agent to workflow once understood. That is a win.</a:t>
            </a:r>
            <a:endParaRPr lang="en-US" sz="1400" dirty="0"/>
          </a:p>
        </p:txBody>
      </p:sp>
      <p:sp>
        <p:nvSpPr>
          <p:cNvPr id="5" name="Shape 3"/>
          <p:cNvSpPr/>
          <p:nvPr/>
        </p:nvSpPr>
        <p:spPr>
          <a:xfrm>
            <a:off x="457200" y="2057400"/>
            <a:ext cx="11274552" cy="0"/>
          </a:xfrm>
          <a:prstGeom prst="line">
            <a:avLst/>
          </a:prstGeom>
          <a:noFill/>
          <a:ln w="6350">
            <a:solidFill>
              <a:srgbClr val="E2E8F0"/>
            </a:solidFill>
            <a:prstDash val="solid"/>
          </a:ln>
        </p:spPr>
      </p:sp>
      <p:sp>
        <p:nvSpPr>
          <p:cNvPr id="6" name="Shape 4"/>
          <p:cNvSpPr/>
          <p:nvPr/>
        </p:nvSpPr>
        <p:spPr>
          <a:xfrm>
            <a:off x="457200" y="2468880"/>
            <a:ext cx="2743200" cy="0"/>
          </a:xfrm>
          <a:prstGeom prst="line">
            <a:avLst/>
          </a:prstGeom>
          <a:noFill/>
          <a:ln w="19050">
            <a:solidFill>
              <a:srgbClr val="64748B"/>
            </a:solidFill>
            <a:prstDash val="solid"/>
          </a:ln>
        </p:spPr>
      </p:sp>
      <p:sp>
        <p:nvSpPr>
          <p:cNvPr id="7" name="Text 5"/>
          <p:cNvSpPr/>
          <p:nvPr/>
        </p:nvSpPr>
        <p:spPr>
          <a:xfrm>
            <a:off x="457200" y="2560320"/>
            <a:ext cx="2743200" cy="365760"/>
          </a:xfrm>
          <a:prstGeom prst="rect">
            <a:avLst/>
          </a:prstGeom>
          <a:noFill/>
          <a:ln/>
        </p:spPr>
        <p:txBody>
          <a:bodyPr wrap="square" lIns="0" tIns="0" rIns="0" bIns="0" rtlCol="0" anchor="ctr"/>
          <a:lstStyle/>
          <a:p>
            <a:pPr indent="0" marL="0">
              <a:buNone/>
            </a:pPr>
            <a:r>
              <a:rPr lang="en-US" sz="1300" b="1" spc="200" kern="0" dirty="0">
                <a:solidFill>
                  <a:srgbClr val="0F172A"/>
                </a:solidFill>
                <a:latin typeface="Calibri" pitchFamily="34" charset="0"/>
                <a:ea typeface="Calibri" pitchFamily="34" charset="-122"/>
                <a:cs typeface="Calibri" pitchFamily="34" charset="-120"/>
              </a:rPr>
              <a:t>LLM CALL</a:t>
            </a:r>
            <a:endParaRPr lang="en-US" sz="1300" dirty="0"/>
          </a:p>
        </p:txBody>
      </p:sp>
      <p:sp>
        <p:nvSpPr>
          <p:cNvPr id="8" name="Text 6"/>
          <p:cNvSpPr/>
          <p:nvPr/>
        </p:nvSpPr>
        <p:spPr>
          <a:xfrm>
            <a:off x="457200" y="3108960"/>
            <a:ext cx="2743200" cy="228600"/>
          </a:xfrm>
          <a:prstGeom prst="rect">
            <a:avLst/>
          </a:prstGeom>
          <a:noFill/>
          <a:ln/>
        </p:spPr>
        <p:txBody>
          <a:bodyPr wrap="square" lIns="0" tIns="0" rIns="0" bIns="0" rtlCol="0" anchor="ctr"/>
          <a:lstStyle/>
          <a:p>
            <a:pPr indent="0" marL="0">
              <a:buNone/>
            </a:pPr>
            <a:r>
              <a:rPr lang="en-US" sz="900" b="1" spc="200" kern="0" dirty="0">
                <a:solidFill>
                  <a:srgbClr val="64748B"/>
                </a:solidFill>
                <a:latin typeface="Calibri" pitchFamily="34" charset="0"/>
                <a:ea typeface="Calibri" pitchFamily="34" charset="-122"/>
                <a:cs typeface="Calibri" pitchFamily="34" charset="-120"/>
              </a:rPr>
              <a:t>DECISION-MAKING</a:t>
            </a:r>
            <a:endParaRPr lang="en-US" sz="900" dirty="0"/>
          </a:p>
        </p:txBody>
      </p:sp>
      <p:sp>
        <p:nvSpPr>
          <p:cNvPr id="9" name="Text 7"/>
          <p:cNvSpPr/>
          <p:nvPr/>
        </p:nvSpPr>
        <p:spPr>
          <a:xfrm>
            <a:off x="457200" y="3337560"/>
            <a:ext cx="2743200" cy="50292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None</a:t>
            </a:r>
            <a:endParaRPr lang="en-US" sz="1200" dirty="0"/>
          </a:p>
        </p:txBody>
      </p:sp>
      <p:sp>
        <p:nvSpPr>
          <p:cNvPr id="10" name="Text 8"/>
          <p:cNvSpPr/>
          <p:nvPr/>
        </p:nvSpPr>
        <p:spPr>
          <a:xfrm>
            <a:off x="457200" y="3886200"/>
            <a:ext cx="2743200" cy="228600"/>
          </a:xfrm>
          <a:prstGeom prst="rect">
            <a:avLst/>
          </a:prstGeom>
          <a:noFill/>
          <a:ln/>
        </p:spPr>
        <p:txBody>
          <a:bodyPr wrap="square" lIns="0" tIns="0" rIns="0" bIns="0" rtlCol="0" anchor="ctr"/>
          <a:lstStyle/>
          <a:p>
            <a:pPr indent="0" marL="0">
              <a:buNone/>
            </a:pPr>
            <a:r>
              <a:rPr lang="en-US" sz="900" b="1" spc="200" kern="0" dirty="0">
                <a:solidFill>
                  <a:srgbClr val="64748B"/>
                </a:solidFill>
                <a:latin typeface="Calibri" pitchFamily="34" charset="0"/>
                <a:ea typeface="Calibri" pitchFamily="34" charset="-122"/>
                <a:cs typeface="Calibri" pitchFamily="34" charset="-120"/>
              </a:rPr>
              <a:t>STATE</a:t>
            </a:r>
            <a:endParaRPr lang="en-US" sz="900" dirty="0"/>
          </a:p>
        </p:txBody>
      </p:sp>
      <p:sp>
        <p:nvSpPr>
          <p:cNvPr id="11" name="Text 9"/>
          <p:cNvSpPr/>
          <p:nvPr/>
        </p:nvSpPr>
        <p:spPr>
          <a:xfrm>
            <a:off x="457200" y="4114800"/>
            <a:ext cx="2743200" cy="50292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None</a:t>
            </a:r>
            <a:endParaRPr lang="en-US" sz="1200" dirty="0"/>
          </a:p>
        </p:txBody>
      </p:sp>
      <p:sp>
        <p:nvSpPr>
          <p:cNvPr id="12" name="Text 10"/>
          <p:cNvSpPr/>
          <p:nvPr/>
        </p:nvSpPr>
        <p:spPr>
          <a:xfrm>
            <a:off x="457200" y="4663440"/>
            <a:ext cx="2743200" cy="228600"/>
          </a:xfrm>
          <a:prstGeom prst="rect">
            <a:avLst/>
          </a:prstGeom>
          <a:noFill/>
          <a:ln/>
        </p:spPr>
        <p:txBody>
          <a:bodyPr wrap="square" lIns="0" tIns="0" rIns="0" bIns="0" rtlCol="0" anchor="ctr"/>
          <a:lstStyle/>
          <a:p>
            <a:pPr indent="0" marL="0">
              <a:buNone/>
            </a:pPr>
            <a:r>
              <a:rPr lang="en-US" sz="900" b="1" spc="200" kern="0" dirty="0">
                <a:solidFill>
                  <a:srgbClr val="64748B"/>
                </a:solidFill>
                <a:latin typeface="Calibri" pitchFamily="34" charset="0"/>
                <a:ea typeface="Calibri" pitchFamily="34" charset="-122"/>
                <a:cs typeface="Calibri" pitchFamily="34" charset="-120"/>
              </a:rPr>
              <a:t>SIDE EFFECTS</a:t>
            </a:r>
            <a:endParaRPr lang="en-US" sz="900" dirty="0"/>
          </a:p>
        </p:txBody>
      </p:sp>
      <p:sp>
        <p:nvSpPr>
          <p:cNvPr id="13" name="Text 11"/>
          <p:cNvSpPr/>
          <p:nvPr/>
        </p:nvSpPr>
        <p:spPr>
          <a:xfrm>
            <a:off x="457200" y="4892040"/>
            <a:ext cx="2743200" cy="50292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None</a:t>
            </a:r>
            <a:endParaRPr lang="en-US" sz="1200" dirty="0"/>
          </a:p>
        </p:txBody>
      </p:sp>
      <p:sp>
        <p:nvSpPr>
          <p:cNvPr id="14" name="Text 12"/>
          <p:cNvSpPr/>
          <p:nvPr/>
        </p:nvSpPr>
        <p:spPr>
          <a:xfrm>
            <a:off x="457200" y="5440680"/>
            <a:ext cx="2743200" cy="228600"/>
          </a:xfrm>
          <a:prstGeom prst="rect">
            <a:avLst/>
          </a:prstGeom>
          <a:noFill/>
          <a:ln/>
        </p:spPr>
        <p:txBody>
          <a:bodyPr wrap="square" lIns="0" tIns="0" rIns="0" bIns="0" rtlCol="0" anchor="ctr"/>
          <a:lstStyle/>
          <a:p>
            <a:pPr indent="0" marL="0">
              <a:buNone/>
            </a:pPr>
            <a:r>
              <a:rPr lang="en-US" sz="900" b="1" spc="200" kern="0" dirty="0">
                <a:solidFill>
                  <a:srgbClr val="64748B"/>
                </a:solidFill>
                <a:latin typeface="Calibri" pitchFamily="34" charset="0"/>
                <a:ea typeface="Calibri" pitchFamily="34" charset="-122"/>
                <a:cs typeface="Calibri" pitchFamily="34" charset="-120"/>
              </a:rPr>
              <a:t>EXAMPLE</a:t>
            </a:r>
            <a:endParaRPr lang="en-US" sz="900" dirty="0"/>
          </a:p>
        </p:txBody>
      </p:sp>
      <p:sp>
        <p:nvSpPr>
          <p:cNvPr id="15" name="Text 13"/>
          <p:cNvSpPr/>
          <p:nvPr/>
        </p:nvSpPr>
        <p:spPr>
          <a:xfrm>
            <a:off x="457200" y="5669280"/>
            <a:ext cx="2743200" cy="50292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Summarise this email</a:t>
            </a:r>
            <a:endParaRPr lang="en-US" sz="1200" dirty="0"/>
          </a:p>
        </p:txBody>
      </p:sp>
      <p:sp>
        <p:nvSpPr>
          <p:cNvPr id="16" name="Shape 14"/>
          <p:cNvSpPr/>
          <p:nvPr/>
        </p:nvSpPr>
        <p:spPr>
          <a:xfrm>
            <a:off x="3319272" y="2468880"/>
            <a:ext cx="2743200" cy="0"/>
          </a:xfrm>
          <a:prstGeom prst="line">
            <a:avLst/>
          </a:prstGeom>
          <a:noFill/>
          <a:ln w="19050">
            <a:solidFill>
              <a:srgbClr val="64748B"/>
            </a:solidFill>
            <a:prstDash val="solid"/>
          </a:ln>
        </p:spPr>
      </p:sp>
      <p:sp>
        <p:nvSpPr>
          <p:cNvPr id="17" name="Text 15"/>
          <p:cNvSpPr/>
          <p:nvPr/>
        </p:nvSpPr>
        <p:spPr>
          <a:xfrm>
            <a:off x="3319272" y="2560320"/>
            <a:ext cx="2743200" cy="365760"/>
          </a:xfrm>
          <a:prstGeom prst="rect">
            <a:avLst/>
          </a:prstGeom>
          <a:noFill/>
          <a:ln/>
        </p:spPr>
        <p:txBody>
          <a:bodyPr wrap="square" lIns="0" tIns="0" rIns="0" bIns="0" rtlCol="0" anchor="ctr"/>
          <a:lstStyle/>
          <a:p>
            <a:pPr indent="0" marL="0">
              <a:buNone/>
            </a:pPr>
            <a:r>
              <a:rPr lang="en-US" sz="1300" b="1" spc="200" kern="0" dirty="0">
                <a:solidFill>
                  <a:srgbClr val="0F172A"/>
                </a:solidFill>
                <a:latin typeface="Calibri" pitchFamily="34" charset="0"/>
                <a:ea typeface="Calibri" pitchFamily="34" charset="-122"/>
                <a:cs typeface="Calibri" pitchFamily="34" charset="-120"/>
              </a:rPr>
              <a:t>WORKFLOW</a:t>
            </a:r>
            <a:endParaRPr lang="en-US" sz="1300" dirty="0"/>
          </a:p>
        </p:txBody>
      </p:sp>
      <p:sp>
        <p:nvSpPr>
          <p:cNvPr id="18" name="Text 16"/>
          <p:cNvSpPr/>
          <p:nvPr/>
        </p:nvSpPr>
        <p:spPr>
          <a:xfrm>
            <a:off x="3319272" y="3108960"/>
            <a:ext cx="2743200" cy="228600"/>
          </a:xfrm>
          <a:prstGeom prst="rect">
            <a:avLst/>
          </a:prstGeom>
          <a:noFill/>
          <a:ln/>
        </p:spPr>
        <p:txBody>
          <a:bodyPr wrap="square" lIns="0" tIns="0" rIns="0" bIns="0" rtlCol="0" anchor="ctr"/>
          <a:lstStyle/>
          <a:p>
            <a:pPr indent="0" marL="0">
              <a:buNone/>
            </a:pPr>
            <a:r>
              <a:rPr lang="en-US" sz="900" b="1" spc="200" kern="0" dirty="0">
                <a:solidFill>
                  <a:srgbClr val="64748B"/>
                </a:solidFill>
                <a:latin typeface="Calibri" pitchFamily="34" charset="0"/>
                <a:ea typeface="Calibri" pitchFamily="34" charset="-122"/>
                <a:cs typeface="Calibri" pitchFamily="34" charset="-120"/>
              </a:rPr>
              <a:t>DECISION-MAKING</a:t>
            </a:r>
            <a:endParaRPr lang="en-US" sz="900" dirty="0"/>
          </a:p>
        </p:txBody>
      </p:sp>
      <p:sp>
        <p:nvSpPr>
          <p:cNvPr id="19" name="Text 17"/>
          <p:cNvSpPr/>
          <p:nvPr/>
        </p:nvSpPr>
        <p:spPr>
          <a:xfrm>
            <a:off x="3319272" y="3337560"/>
            <a:ext cx="2743200" cy="50292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Author-decided at design time</a:t>
            </a:r>
            <a:endParaRPr lang="en-US" sz="1200" dirty="0"/>
          </a:p>
        </p:txBody>
      </p:sp>
      <p:sp>
        <p:nvSpPr>
          <p:cNvPr id="20" name="Text 18"/>
          <p:cNvSpPr/>
          <p:nvPr/>
        </p:nvSpPr>
        <p:spPr>
          <a:xfrm>
            <a:off x="3319272" y="3886200"/>
            <a:ext cx="2743200" cy="228600"/>
          </a:xfrm>
          <a:prstGeom prst="rect">
            <a:avLst/>
          </a:prstGeom>
          <a:noFill/>
          <a:ln/>
        </p:spPr>
        <p:txBody>
          <a:bodyPr wrap="square" lIns="0" tIns="0" rIns="0" bIns="0" rtlCol="0" anchor="ctr"/>
          <a:lstStyle/>
          <a:p>
            <a:pPr indent="0" marL="0">
              <a:buNone/>
            </a:pPr>
            <a:r>
              <a:rPr lang="en-US" sz="900" b="1" spc="200" kern="0" dirty="0">
                <a:solidFill>
                  <a:srgbClr val="64748B"/>
                </a:solidFill>
                <a:latin typeface="Calibri" pitchFamily="34" charset="0"/>
                <a:ea typeface="Calibri" pitchFamily="34" charset="-122"/>
                <a:cs typeface="Calibri" pitchFamily="34" charset="-120"/>
              </a:rPr>
              <a:t>STATE</a:t>
            </a:r>
            <a:endParaRPr lang="en-US" sz="900" dirty="0"/>
          </a:p>
        </p:txBody>
      </p:sp>
      <p:sp>
        <p:nvSpPr>
          <p:cNvPr id="21" name="Text 19"/>
          <p:cNvSpPr/>
          <p:nvPr/>
        </p:nvSpPr>
        <p:spPr>
          <a:xfrm>
            <a:off x="3319272" y="4114800"/>
            <a:ext cx="2743200" cy="50292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Explicit, in workflow engine</a:t>
            </a:r>
            <a:endParaRPr lang="en-US" sz="1200" dirty="0"/>
          </a:p>
        </p:txBody>
      </p:sp>
      <p:sp>
        <p:nvSpPr>
          <p:cNvPr id="22" name="Text 20"/>
          <p:cNvSpPr/>
          <p:nvPr/>
        </p:nvSpPr>
        <p:spPr>
          <a:xfrm>
            <a:off x="3319272" y="4663440"/>
            <a:ext cx="2743200" cy="228600"/>
          </a:xfrm>
          <a:prstGeom prst="rect">
            <a:avLst/>
          </a:prstGeom>
          <a:noFill/>
          <a:ln/>
        </p:spPr>
        <p:txBody>
          <a:bodyPr wrap="square" lIns="0" tIns="0" rIns="0" bIns="0" rtlCol="0" anchor="ctr"/>
          <a:lstStyle/>
          <a:p>
            <a:pPr indent="0" marL="0">
              <a:buNone/>
            </a:pPr>
            <a:r>
              <a:rPr lang="en-US" sz="900" b="1" spc="200" kern="0" dirty="0">
                <a:solidFill>
                  <a:srgbClr val="64748B"/>
                </a:solidFill>
                <a:latin typeface="Calibri" pitchFamily="34" charset="0"/>
                <a:ea typeface="Calibri" pitchFamily="34" charset="-122"/>
                <a:cs typeface="Calibri" pitchFamily="34" charset="-120"/>
              </a:rPr>
              <a:t>SIDE EFFECTS</a:t>
            </a:r>
            <a:endParaRPr lang="en-US" sz="900" dirty="0"/>
          </a:p>
        </p:txBody>
      </p:sp>
      <p:sp>
        <p:nvSpPr>
          <p:cNvPr id="23" name="Text 21"/>
          <p:cNvSpPr/>
          <p:nvPr/>
        </p:nvSpPr>
        <p:spPr>
          <a:xfrm>
            <a:off x="3319272" y="4892040"/>
            <a:ext cx="2743200" cy="50292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Yes, at fixed steps</a:t>
            </a:r>
            <a:endParaRPr lang="en-US" sz="1200" dirty="0"/>
          </a:p>
        </p:txBody>
      </p:sp>
      <p:sp>
        <p:nvSpPr>
          <p:cNvPr id="24" name="Text 22"/>
          <p:cNvSpPr/>
          <p:nvPr/>
        </p:nvSpPr>
        <p:spPr>
          <a:xfrm>
            <a:off x="3319272" y="5440680"/>
            <a:ext cx="2743200" cy="228600"/>
          </a:xfrm>
          <a:prstGeom prst="rect">
            <a:avLst/>
          </a:prstGeom>
          <a:noFill/>
          <a:ln/>
        </p:spPr>
        <p:txBody>
          <a:bodyPr wrap="square" lIns="0" tIns="0" rIns="0" bIns="0" rtlCol="0" anchor="ctr"/>
          <a:lstStyle/>
          <a:p>
            <a:pPr indent="0" marL="0">
              <a:buNone/>
            </a:pPr>
            <a:r>
              <a:rPr lang="en-US" sz="900" b="1" spc="200" kern="0" dirty="0">
                <a:solidFill>
                  <a:srgbClr val="64748B"/>
                </a:solidFill>
                <a:latin typeface="Calibri" pitchFamily="34" charset="0"/>
                <a:ea typeface="Calibri" pitchFamily="34" charset="-122"/>
                <a:cs typeface="Calibri" pitchFamily="34" charset="-120"/>
              </a:rPr>
              <a:t>EXAMPLE</a:t>
            </a:r>
            <a:endParaRPr lang="en-US" sz="900" dirty="0"/>
          </a:p>
        </p:txBody>
      </p:sp>
      <p:sp>
        <p:nvSpPr>
          <p:cNvPr id="25" name="Text 23"/>
          <p:cNvSpPr/>
          <p:nvPr/>
        </p:nvSpPr>
        <p:spPr>
          <a:xfrm>
            <a:off x="3319272" y="5669280"/>
            <a:ext cx="2743200" cy="50292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Nightly ETL job</a:t>
            </a:r>
            <a:endParaRPr lang="en-US" sz="1200" dirty="0"/>
          </a:p>
        </p:txBody>
      </p:sp>
      <p:sp>
        <p:nvSpPr>
          <p:cNvPr id="26" name="Shape 24"/>
          <p:cNvSpPr/>
          <p:nvPr/>
        </p:nvSpPr>
        <p:spPr>
          <a:xfrm>
            <a:off x="6181344" y="2468880"/>
            <a:ext cx="2743200" cy="0"/>
          </a:xfrm>
          <a:prstGeom prst="line">
            <a:avLst/>
          </a:prstGeom>
          <a:noFill/>
          <a:ln w="19050">
            <a:solidFill>
              <a:srgbClr val="B45309"/>
            </a:solidFill>
            <a:prstDash val="solid"/>
          </a:ln>
        </p:spPr>
      </p:sp>
      <p:sp>
        <p:nvSpPr>
          <p:cNvPr id="27" name="Text 25"/>
          <p:cNvSpPr/>
          <p:nvPr/>
        </p:nvSpPr>
        <p:spPr>
          <a:xfrm>
            <a:off x="6181344" y="2560320"/>
            <a:ext cx="2743200" cy="365760"/>
          </a:xfrm>
          <a:prstGeom prst="rect">
            <a:avLst/>
          </a:prstGeom>
          <a:noFill/>
          <a:ln/>
        </p:spPr>
        <p:txBody>
          <a:bodyPr wrap="square" lIns="0" tIns="0" rIns="0" bIns="0" rtlCol="0" anchor="ctr"/>
          <a:lstStyle/>
          <a:p>
            <a:pPr indent="0" marL="0">
              <a:buNone/>
            </a:pPr>
            <a:r>
              <a:rPr lang="en-US" sz="1300" b="1" spc="200" kern="0" dirty="0">
                <a:solidFill>
                  <a:srgbClr val="B45309"/>
                </a:solidFill>
                <a:latin typeface="Calibri" pitchFamily="34" charset="0"/>
                <a:ea typeface="Calibri" pitchFamily="34" charset="-122"/>
                <a:cs typeface="Calibri" pitchFamily="34" charset="-120"/>
              </a:rPr>
              <a:t>AGENT</a:t>
            </a:r>
            <a:endParaRPr lang="en-US" sz="1300" dirty="0"/>
          </a:p>
        </p:txBody>
      </p:sp>
      <p:sp>
        <p:nvSpPr>
          <p:cNvPr id="28" name="Text 26"/>
          <p:cNvSpPr/>
          <p:nvPr/>
        </p:nvSpPr>
        <p:spPr>
          <a:xfrm>
            <a:off x="6181344" y="3108960"/>
            <a:ext cx="2743200" cy="228600"/>
          </a:xfrm>
          <a:prstGeom prst="rect">
            <a:avLst/>
          </a:prstGeom>
          <a:noFill/>
          <a:ln/>
        </p:spPr>
        <p:txBody>
          <a:bodyPr wrap="square" lIns="0" tIns="0" rIns="0" bIns="0" rtlCol="0" anchor="ctr"/>
          <a:lstStyle/>
          <a:p>
            <a:pPr indent="0" marL="0">
              <a:buNone/>
            </a:pPr>
            <a:r>
              <a:rPr lang="en-US" sz="900" b="1" spc="200" kern="0" dirty="0">
                <a:solidFill>
                  <a:srgbClr val="64748B"/>
                </a:solidFill>
                <a:latin typeface="Calibri" pitchFamily="34" charset="0"/>
                <a:ea typeface="Calibri" pitchFamily="34" charset="-122"/>
                <a:cs typeface="Calibri" pitchFamily="34" charset="-120"/>
              </a:rPr>
              <a:t>DECISION-MAKING</a:t>
            </a:r>
            <a:endParaRPr lang="en-US" sz="900" dirty="0"/>
          </a:p>
        </p:txBody>
      </p:sp>
      <p:sp>
        <p:nvSpPr>
          <p:cNvPr id="29" name="Text 27"/>
          <p:cNvSpPr/>
          <p:nvPr/>
        </p:nvSpPr>
        <p:spPr>
          <a:xfrm>
            <a:off x="6181344" y="3337560"/>
            <a:ext cx="2743200" cy="50292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LLM-decided per step</a:t>
            </a:r>
            <a:endParaRPr lang="en-US" sz="1200" dirty="0"/>
          </a:p>
        </p:txBody>
      </p:sp>
      <p:sp>
        <p:nvSpPr>
          <p:cNvPr id="30" name="Text 28"/>
          <p:cNvSpPr/>
          <p:nvPr/>
        </p:nvSpPr>
        <p:spPr>
          <a:xfrm>
            <a:off x="6181344" y="3886200"/>
            <a:ext cx="2743200" cy="228600"/>
          </a:xfrm>
          <a:prstGeom prst="rect">
            <a:avLst/>
          </a:prstGeom>
          <a:noFill/>
          <a:ln/>
        </p:spPr>
        <p:txBody>
          <a:bodyPr wrap="square" lIns="0" tIns="0" rIns="0" bIns="0" rtlCol="0" anchor="ctr"/>
          <a:lstStyle/>
          <a:p>
            <a:pPr indent="0" marL="0">
              <a:buNone/>
            </a:pPr>
            <a:r>
              <a:rPr lang="en-US" sz="900" b="1" spc="200" kern="0" dirty="0">
                <a:solidFill>
                  <a:srgbClr val="64748B"/>
                </a:solidFill>
                <a:latin typeface="Calibri" pitchFamily="34" charset="0"/>
                <a:ea typeface="Calibri" pitchFamily="34" charset="-122"/>
                <a:cs typeface="Calibri" pitchFamily="34" charset="-120"/>
              </a:rPr>
              <a:t>STATE</a:t>
            </a:r>
            <a:endParaRPr lang="en-US" sz="900" dirty="0"/>
          </a:p>
        </p:txBody>
      </p:sp>
      <p:sp>
        <p:nvSpPr>
          <p:cNvPr id="31" name="Text 29"/>
          <p:cNvSpPr/>
          <p:nvPr/>
        </p:nvSpPr>
        <p:spPr>
          <a:xfrm>
            <a:off x="6181344" y="4114800"/>
            <a:ext cx="2743200" cy="50292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Required, agent-managed</a:t>
            </a:r>
            <a:endParaRPr lang="en-US" sz="1200" dirty="0"/>
          </a:p>
        </p:txBody>
      </p:sp>
      <p:sp>
        <p:nvSpPr>
          <p:cNvPr id="32" name="Text 30"/>
          <p:cNvSpPr/>
          <p:nvPr/>
        </p:nvSpPr>
        <p:spPr>
          <a:xfrm>
            <a:off x="6181344" y="4663440"/>
            <a:ext cx="2743200" cy="228600"/>
          </a:xfrm>
          <a:prstGeom prst="rect">
            <a:avLst/>
          </a:prstGeom>
          <a:noFill/>
          <a:ln/>
        </p:spPr>
        <p:txBody>
          <a:bodyPr wrap="square" lIns="0" tIns="0" rIns="0" bIns="0" rtlCol="0" anchor="ctr"/>
          <a:lstStyle/>
          <a:p>
            <a:pPr indent="0" marL="0">
              <a:buNone/>
            </a:pPr>
            <a:r>
              <a:rPr lang="en-US" sz="900" b="1" spc="200" kern="0" dirty="0">
                <a:solidFill>
                  <a:srgbClr val="64748B"/>
                </a:solidFill>
                <a:latin typeface="Calibri" pitchFamily="34" charset="0"/>
                <a:ea typeface="Calibri" pitchFamily="34" charset="-122"/>
                <a:cs typeface="Calibri" pitchFamily="34" charset="-120"/>
              </a:rPr>
              <a:t>SIDE EFFECTS</a:t>
            </a:r>
            <a:endParaRPr lang="en-US" sz="900" dirty="0"/>
          </a:p>
        </p:txBody>
      </p:sp>
      <p:sp>
        <p:nvSpPr>
          <p:cNvPr id="33" name="Text 31"/>
          <p:cNvSpPr/>
          <p:nvPr/>
        </p:nvSpPr>
        <p:spPr>
          <a:xfrm>
            <a:off x="6181344" y="4892040"/>
            <a:ext cx="2743200" cy="50292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Yes, model chooses when</a:t>
            </a:r>
            <a:endParaRPr lang="en-US" sz="1200" dirty="0"/>
          </a:p>
        </p:txBody>
      </p:sp>
      <p:sp>
        <p:nvSpPr>
          <p:cNvPr id="34" name="Text 32"/>
          <p:cNvSpPr/>
          <p:nvPr/>
        </p:nvSpPr>
        <p:spPr>
          <a:xfrm>
            <a:off x="6181344" y="5440680"/>
            <a:ext cx="2743200" cy="228600"/>
          </a:xfrm>
          <a:prstGeom prst="rect">
            <a:avLst/>
          </a:prstGeom>
          <a:noFill/>
          <a:ln/>
        </p:spPr>
        <p:txBody>
          <a:bodyPr wrap="square" lIns="0" tIns="0" rIns="0" bIns="0" rtlCol="0" anchor="ctr"/>
          <a:lstStyle/>
          <a:p>
            <a:pPr indent="0" marL="0">
              <a:buNone/>
            </a:pPr>
            <a:r>
              <a:rPr lang="en-US" sz="900" b="1" spc="200" kern="0" dirty="0">
                <a:solidFill>
                  <a:srgbClr val="64748B"/>
                </a:solidFill>
                <a:latin typeface="Calibri" pitchFamily="34" charset="0"/>
                <a:ea typeface="Calibri" pitchFamily="34" charset="-122"/>
                <a:cs typeface="Calibri" pitchFamily="34" charset="-120"/>
              </a:rPr>
              <a:t>EXAMPLE</a:t>
            </a:r>
            <a:endParaRPr lang="en-US" sz="900" dirty="0"/>
          </a:p>
        </p:txBody>
      </p:sp>
      <p:sp>
        <p:nvSpPr>
          <p:cNvPr id="35" name="Text 33"/>
          <p:cNvSpPr/>
          <p:nvPr/>
        </p:nvSpPr>
        <p:spPr>
          <a:xfrm>
            <a:off x="6181344" y="5669280"/>
            <a:ext cx="2743200" cy="50292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Trip planner that books</a:t>
            </a:r>
            <a:endParaRPr lang="en-US" sz="1200" dirty="0"/>
          </a:p>
        </p:txBody>
      </p:sp>
      <p:sp>
        <p:nvSpPr>
          <p:cNvPr id="36" name="Shape 34"/>
          <p:cNvSpPr/>
          <p:nvPr/>
        </p:nvSpPr>
        <p:spPr>
          <a:xfrm>
            <a:off x="9043416" y="2468880"/>
            <a:ext cx="2743200" cy="0"/>
          </a:xfrm>
          <a:prstGeom prst="line">
            <a:avLst/>
          </a:prstGeom>
          <a:noFill/>
          <a:ln w="19050">
            <a:solidFill>
              <a:srgbClr val="64748B"/>
            </a:solidFill>
            <a:prstDash val="solid"/>
          </a:ln>
        </p:spPr>
      </p:sp>
      <p:sp>
        <p:nvSpPr>
          <p:cNvPr id="37" name="Text 35"/>
          <p:cNvSpPr/>
          <p:nvPr/>
        </p:nvSpPr>
        <p:spPr>
          <a:xfrm>
            <a:off x="9043416" y="2560320"/>
            <a:ext cx="2743200" cy="365760"/>
          </a:xfrm>
          <a:prstGeom prst="rect">
            <a:avLst/>
          </a:prstGeom>
          <a:noFill/>
          <a:ln/>
        </p:spPr>
        <p:txBody>
          <a:bodyPr wrap="square" lIns="0" tIns="0" rIns="0" bIns="0" rtlCol="0" anchor="ctr"/>
          <a:lstStyle/>
          <a:p>
            <a:pPr indent="0" marL="0">
              <a:buNone/>
            </a:pPr>
            <a:r>
              <a:rPr lang="en-US" sz="1300" b="1" spc="200" kern="0" dirty="0">
                <a:solidFill>
                  <a:srgbClr val="0F172A"/>
                </a:solidFill>
                <a:latin typeface="Calibri" pitchFamily="34" charset="0"/>
                <a:ea typeface="Calibri" pitchFamily="34" charset="-122"/>
                <a:cs typeface="Calibri" pitchFamily="34" charset="-120"/>
              </a:rPr>
              <a:t>MULTI-AGENT</a:t>
            </a:r>
            <a:endParaRPr lang="en-US" sz="1300" dirty="0"/>
          </a:p>
        </p:txBody>
      </p:sp>
      <p:sp>
        <p:nvSpPr>
          <p:cNvPr id="38" name="Text 36"/>
          <p:cNvSpPr/>
          <p:nvPr/>
        </p:nvSpPr>
        <p:spPr>
          <a:xfrm>
            <a:off x="9043416" y="3108960"/>
            <a:ext cx="2743200" cy="228600"/>
          </a:xfrm>
          <a:prstGeom prst="rect">
            <a:avLst/>
          </a:prstGeom>
          <a:noFill/>
          <a:ln/>
        </p:spPr>
        <p:txBody>
          <a:bodyPr wrap="square" lIns="0" tIns="0" rIns="0" bIns="0" rtlCol="0" anchor="ctr"/>
          <a:lstStyle/>
          <a:p>
            <a:pPr indent="0" marL="0">
              <a:buNone/>
            </a:pPr>
            <a:r>
              <a:rPr lang="en-US" sz="900" b="1" spc="200" kern="0" dirty="0">
                <a:solidFill>
                  <a:srgbClr val="64748B"/>
                </a:solidFill>
                <a:latin typeface="Calibri" pitchFamily="34" charset="0"/>
                <a:ea typeface="Calibri" pitchFamily="34" charset="-122"/>
                <a:cs typeface="Calibri" pitchFamily="34" charset="-120"/>
              </a:rPr>
              <a:t>DECISION-MAKING</a:t>
            </a:r>
            <a:endParaRPr lang="en-US" sz="900" dirty="0"/>
          </a:p>
        </p:txBody>
      </p:sp>
      <p:sp>
        <p:nvSpPr>
          <p:cNvPr id="39" name="Text 37"/>
          <p:cNvSpPr/>
          <p:nvPr/>
        </p:nvSpPr>
        <p:spPr>
          <a:xfrm>
            <a:off x="9043416" y="3337560"/>
            <a:ext cx="2743200" cy="50292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LLM-decided across agents</a:t>
            </a:r>
            <a:endParaRPr lang="en-US" sz="1200" dirty="0"/>
          </a:p>
        </p:txBody>
      </p:sp>
      <p:sp>
        <p:nvSpPr>
          <p:cNvPr id="40" name="Text 38"/>
          <p:cNvSpPr/>
          <p:nvPr/>
        </p:nvSpPr>
        <p:spPr>
          <a:xfrm>
            <a:off x="9043416" y="3886200"/>
            <a:ext cx="2743200" cy="228600"/>
          </a:xfrm>
          <a:prstGeom prst="rect">
            <a:avLst/>
          </a:prstGeom>
          <a:noFill/>
          <a:ln/>
        </p:spPr>
        <p:txBody>
          <a:bodyPr wrap="square" lIns="0" tIns="0" rIns="0" bIns="0" rtlCol="0" anchor="ctr"/>
          <a:lstStyle/>
          <a:p>
            <a:pPr indent="0" marL="0">
              <a:buNone/>
            </a:pPr>
            <a:r>
              <a:rPr lang="en-US" sz="900" b="1" spc="200" kern="0" dirty="0">
                <a:solidFill>
                  <a:srgbClr val="64748B"/>
                </a:solidFill>
                <a:latin typeface="Calibri" pitchFamily="34" charset="0"/>
                <a:ea typeface="Calibri" pitchFamily="34" charset="-122"/>
                <a:cs typeface="Calibri" pitchFamily="34" charset="-120"/>
              </a:rPr>
              <a:t>STATE</a:t>
            </a:r>
            <a:endParaRPr lang="en-US" sz="900" dirty="0"/>
          </a:p>
        </p:txBody>
      </p:sp>
      <p:sp>
        <p:nvSpPr>
          <p:cNvPr id="41" name="Text 39"/>
          <p:cNvSpPr/>
          <p:nvPr/>
        </p:nvSpPr>
        <p:spPr>
          <a:xfrm>
            <a:off x="9043416" y="4114800"/>
            <a:ext cx="2743200" cy="50292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Distributed, coordinated</a:t>
            </a:r>
            <a:endParaRPr lang="en-US" sz="1200" dirty="0"/>
          </a:p>
        </p:txBody>
      </p:sp>
      <p:sp>
        <p:nvSpPr>
          <p:cNvPr id="42" name="Text 40"/>
          <p:cNvSpPr/>
          <p:nvPr/>
        </p:nvSpPr>
        <p:spPr>
          <a:xfrm>
            <a:off x="9043416" y="4663440"/>
            <a:ext cx="2743200" cy="228600"/>
          </a:xfrm>
          <a:prstGeom prst="rect">
            <a:avLst/>
          </a:prstGeom>
          <a:noFill/>
          <a:ln/>
        </p:spPr>
        <p:txBody>
          <a:bodyPr wrap="square" lIns="0" tIns="0" rIns="0" bIns="0" rtlCol="0" anchor="ctr"/>
          <a:lstStyle/>
          <a:p>
            <a:pPr indent="0" marL="0">
              <a:buNone/>
            </a:pPr>
            <a:r>
              <a:rPr lang="en-US" sz="900" b="1" spc="200" kern="0" dirty="0">
                <a:solidFill>
                  <a:srgbClr val="64748B"/>
                </a:solidFill>
                <a:latin typeface="Calibri" pitchFamily="34" charset="0"/>
                <a:ea typeface="Calibri" pitchFamily="34" charset="-122"/>
                <a:cs typeface="Calibri" pitchFamily="34" charset="-120"/>
              </a:rPr>
              <a:t>SIDE EFFECTS</a:t>
            </a:r>
            <a:endParaRPr lang="en-US" sz="900" dirty="0"/>
          </a:p>
        </p:txBody>
      </p:sp>
      <p:sp>
        <p:nvSpPr>
          <p:cNvPr id="43" name="Text 41"/>
          <p:cNvSpPr/>
          <p:nvPr/>
        </p:nvSpPr>
        <p:spPr>
          <a:xfrm>
            <a:off x="9043416" y="4892040"/>
            <a:ext cx="2743200" cy="50292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Yes, across many tools</a:t>
            </a:r>
            <a:endParaRPr lang="en-US" sz="1200" dirty="0"/>
          </a:p>
        </p:txBody>
      </p:sp>
      <p:sp>
        <p:nvSpPr>
          <p:cNvPr id="44" name="Text 42"/>
          <p:cNvSpPr/>
          <p:nvPr/>
        </p:nvSpPr>
        <p:spPr>
          <a:xfrm>
            <a:off x="9043416" y="5440680"/>
            <a:ext cx="2743200" cy="228600"/>
          </a:xfrm>
          <a:prstGeom prst="rect">
            <a:avLst/>
          </a:prstGeom>
          <a:noFill/>
          <a:ln/>
        </p:spPr>
        <p:txBody>
          <a:bodyPr wrap="square" lIns="0" tIns="0" rIns="0" bIns="0" rtlCol="0" anchor="ctr"/>
          <a:lstStyle/>
          <a:p>
            <a:pPr indent="0" marL="0">
              <a:buNone/>
            </a:pPr>
            <a:r>
              <a:rPr lang="en-US" sz="900" b="1" spc="200" kern="0" dirty="0">
                <a:solidFill>
                  <a:srgbClr val="64748B"/>
                </a:solidFill>
                <a:latin typeface="Calibri" pitchFamily="34" charset="0"/>
                <a:ea typeface="Calibri" pitchFamily="34" charset="-122"/>
                <a:cs typeface="Calibri" pitchFamily="34" charset="-120"/>
              </a:rPr>
              <a:t>EXAMPLE</a:t>
            </a:r>
            <a:endParaRPr lang="en-US" sz="900" dirty="0"/>
          </a:p>
        </p:txBody>
      </p:sp>
      <p:sp>
        <p:nvSpPr>
          <p:cNvPr id="45" name="Text 43"/>
          <p:cNvSpPr/>
          <p:nvPr/>
        </p:nvSpPr>
        <p:spPr>
          <a:xfrm>
            <a:off x="9043416" y="5669280"/>
            <a:ext cx="2743200" cy="50292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Orchestrator delegating</a:t>
            </a:r>
            <a:endParaRPr lang="en-US" sz="1200" dirty="0"/>
          </a:p>
        </p:txBody>
      </p:sp>
      <p:sp>
        <p:nvSpPr>
          <p:cNvPr id="46" name="Shape 44"/>
          <p:cNvSpPr/>
          <p:nvPr/>
        </p:nvSpPr>
        <p:spPr>
          <a:xfrm>
            <a:off x="457200" y="6446520"/>
            <a:ext cx="11274552" cy="0"/>
          </a:xfrm>
          <a:prstGeom prst="line">
            <a:avLst/>
          </a:prstGeom>
          <a:noFill/>
          <a:ln w="6350">
            <a:solidFill>
              <a:srgbClr val="E2E8F0"/>
            </a:solidFill>
            <a:prstDash val="solid"/>
          </a:ln>
        </p:spPr>
      </p:sp>
      <p:sp>
        <p:nvSpPr>
          <p:cNvPr id="47" name="Text 45"/>
          <p:cNvSpPr/>
          <p:nvPr/>
        </p:nvSpPr>
        <p:spPr>
          <a:xfrm>
            <a:off x="457200" y="6537960"/>
            <a:ext cx="914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19</a:t>
            </a:r>
            <a:endParaRPr lang="en-US" sz="900" dirty="0"/>
          </a:p>
        </p:txBody>
      </p:sp>
      <p:sp>
        <p:nvSpPr>
          <p:cNvPr id="48" name="Text 46"/>
          <p:cNvSpPr/>
          <p:nvPr/>
        </p:nvSpPr>
        <p:spPr>
          <a:xfrm>
            <a:off x="5943600" y="6537960"/>
            <a:ext cx="5788152" cy="228600"/>
          </a:xfrm>
          <a:prstGeom prst="rect">
            <a:avLst/>
          </a:prstGeom>
          <a:noFill/>
          <a:ln/>
        </p:spPr>
        <p:txBody>
          <a:bodyPr wrap="square" lIns="0" tIns="0" rIns="0" bIns="0" rtlCol="0" anchor="ctr"/>
          <a:lstStyle/>
          <a:p>
            <a:pPr algn="r" indent="0" marL="0">
              <a:buNone/>
            </a:pPr>
            <a:r>
              <a:rPr lang="en-US" sz="900" i="1" dirty="0">
                <a:solidFill>
                  <a:srgbClr val="94A3B8"/>
                </a:solidFill>
                <a:latin typeface="Calibri" pitchFamily="34" charset="0"/>
                <a:ea typeface="Calibri" pitchFamily="34" charset="-122"/>
                <a:cs typeface="Calibri" pitchFamily="34" charset="-120"/>
              </a:rPr>
              <a:t>Agentic Foundations · Half 1</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4552" cy="274320"/>
          </a:xfrm>
          <a:prstGeom prst="rect">
            <a:avLst/>
          </a:prstGeom>
          <a:noFill/>
          <a:ln/>
        </p:spPr>
        <p:txBody>
          <a:bodyPr wrap="square" lIns="0" tIns="0" rIns="0" bIns="0" rtlCol="0" anchor="ctr"/>
          <a:lstStyle/>
          <a:p>
            <a:pPr indent="0" marL="0">
              <a:buNone/>
            </a:pPr>
            <a:r>
              <a:rPr lang="en-US" sz="1000" b="1" spc="400" kern="0" dirty="0">
                <a:solidFill>
                  <a:srgbClr val="B45309"/>
                </a:solidFill>
                <a:latin typeface="Calibri" pitchFamily="34" charset="0"/>
                <a:ea typeface="Calibri" pitchFamily="34" charset="-122"/>
                <a:cs typeface="Calibri" pitchFamily="34" charset="-120"/>
              </a:rPr>
              <a:t>04 · THE GAP</a:t>
            </a:r>
            <a:endParaRPr lang="en-US" sz="1000" dirty="0"/>
          </a:p>
        </p:txBody>
      </p:sp>
      <p:sp>
        <p:nvSpPr>
          <p:cNvPr id="3" name="Text 1"/>
          <p:cNvSpPr/>
          <p:nvPr/>
        </p:nvSpPr>
        <p:spPr>
          <a:xfrm>
            <a:off x="457200" y="777240"/>
            <a:ext cx="11274552"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Why most demos do not survive production</a:t>
            </a:r>
            <a:endParaRPr lang="en-US" sz="2800" dirty="0"/>
          </a:p>
        </p:txBody>
      </p:sp>
      <p:sp>
        <p:nvSpPr>
          <p:cNvPr id="4" name="Text 2"/>
          <p:cNvSpPr/>
          <p:nvPr/>
        </p:nvSpPr>
        <p:spPr>
          <a:xfrm>
            <a:off x="457200" y="1554480"/>
            <a:ext cx="11274552"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Eight dimensions where the comfortable path of the demo meets the awkward shape of reality.</a:t>
            </a:r>
            <a:endParaRPr lang="en-US" sz="1400" dirty="0"/>
          </a:p>
        </p:txBody>
      </p:sp>
      <p:sp>
        <p:nvSpPr>
          <p:cNvPr id="5" name="Shape 3"/>
          <p:cNvSpPr/>
          <p:nvPr/>
        </p:nvSpPr>
        <p:spPr>
          <a:xfrm>
            <a:off x="457200" y="2057400"/>
            <a:ext cx="11274552" cy="0"/>
          </a:xfrm>
          <a:prstGeom prst="line">
            <a:avLst/>
          </a:prstGeom>
          <a:noFill/>
          <a:ln w="6350">
            <a:solidFill>
              <a:srgbClr val="E2E8F0"/>
            </a:solidFill>
            <a:prstDash val="solid"/>
          </a:ln>
        </p:spPr>
      </p:sp>
      <p:sp>
        <p:nvSpPr>
          <p:cNvPr id="6" name="Shape 4"/>
          <p:cNvSpPr/>
          <p:nvPr/>
        </p:nvSpPr>
        <p:spPr>
          <a:xfrm>
            <a:off x="457200" y="2423160"/>
            <a:ext cx="11274552" cy="0"/>
          </a:xfrm>
          <a:prstGeom prst="line">
            <a:avLst/>
          </a:prstGeom>
          <a:noFill/>
          <a:ln w="12700">
            <a:solidFill>
              <a:srgbClr val="0F172A"/>
            </a:solidFill>
            <a:prstDash val="solid"/>
          </a:ln>
        </p:spPr>
      </p:sp>
      <p:sp>
        <p:nvSpPr>
          <p:cNvPr id="7" name="Text 5"/>
          <p:cNvSpPr/>
          <p:nvPr/>
        </p:nvSpPr>
        <p:spPr>
          <a:xfrm>
            <a:off x="502920" y="2514600"/>
            <a:ext cx="2286000" cy="274320"/>
          </a:xfrm>
          <a:prstGeom prst="rect">
            <a:avLst/>
          </a:prstGeom>
          <a:noFill/>
          <a:ln/>
        </p:spPr>
        <p:txBody>
          <a:bodyPr wrap="square" lIns="0" tIns="0" rIns="0" bIns="0" rtlCol="0" anchor="ctr"/>
          <a:lstStyle/>
          <a:p>
            <a:pPr indent="0" marL="0">
              <a:buNone/>
            </a:pPr>
            <a:r>
              <a:rPr lang="en-US" sz="1000" b="1" spc="200" kern="0" dirty="0">
                <a:solidFill>
                  <a:srgbClr val="64748B"/>
                </a:solidFill>
                <a:latin typeface="Calibri" pitchFamily="34" charset="0"/>
                <a:ea typeface="Calibri" pitchFamily="34" charset="-122"/>
                <a:cs typeface="Calibri" pitchFamily="34" charset="-120"/>
              </a:rPr>
              <a:t>DIMENSION</a:t>
            </a:r>
            <a:endParaRPr lang="en-US" sz="1000" dirty="0"/>
          </a:p>
        </p:txBody>
      </p:sp>
      <p:sp>
        <p:nvSpPr>
          <p:cNvPr id="8" name="Text 6"/>
          <p:cNvSpPr/>
          <p:nvPr/>
        </p:nvSpPr>
        <p:spPr>
          <a:xfrm>
            <a:off x="2926080" y="2514600"/>
            <a:ext cx="4114800" cy="274320"/>
          </a:xfrm>
          <a:prstGeom prst="rect">
            <a:avLst/>
          </a:prstGeom>
          <a:noFill/>
          <a:ln/>
        </p:spPr>
        <p:txBody>
          <a:bodyPr wrap="square" lIns="0" tIns="0" rIns="0" bIns="0" rtlCol="0" anchor="ctr"/>
          <a:lstStyle/>
          <a:p>
            <a:pPr indent="0" marL="0">
              <a:buNone/>
            </a:pPr>
            <a:r>
              <a:rPr lang="en-US" sz="1000" b="1" spc="200" kern="0" dirty="0">
                <a:solidFill>
                  <a:srgbClr val="64748B"/>
                </a:solidFill>
                <a:latin typeface="Calibri" pitchFamily="34" charset="0"/>
                <a:ea typeface="Calibri" pitchFamily="34" charset="-122"/>
                <a:cs typeface="Calibri" pitchFamily="34" charset="-120"/>
              </a:rPr>
              <a:t>DEMO</a:t>
            </a:r>
            <a:endParaRPr lang="en-US" sz="1000" dirty="0"/>
          </a:p>
        </p:txBody>
      </p:sp>
      <p:sp>
        <p:nvSpPr>
          <p:cNvPr id="9" name="Text 7"/>
          <p:cNvSpPr/>
          <p:nvPr/>
        </p:nvSpPr>
        <p:spPr>
          <a:xfrm>
            <a:off x="7315200" y="2514600"/>
            <a:ext cx="45720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PRODUCTION</a:t>
            </a:r>
            <a:endParaRPr lang="en-US" sz="1000" dirty="0"/>
          </a:p>
        </p:txBody>
      </p:sp>
      <p:sp>
        <p:nvSpPr>
          <p:cNvPr id="10" name="Shape 8"/>
          <p:cNvSpPr/>
          <p:nvPr/>
        </p:nvSpPr>
        <p:spPr>
          <a:xfrm>
            <a:off x="457200" y="2834640"/>
            <a:ext cx="11274552" cy="0"/>
          </a:xfrm>
          <a:prstGeom prst="line">
            <a:avLst/>
          </a:prstGeom>
          <a:noFill/>
          <a:ln w="6350">
            <a:solidFill>
              <a:srgbClr val="E2E8F0"/>
            </a:solidFill>
            <a:prstDash val="solid"/>
          </a:ln>
        </p:spPr>
      </p:sp>
      <p:sp>
        <p:nvSpPr>
          <p:cNvPr id="11" name="Text 9"/>
          <p:cNvSpPr/>
          <p:nvPr/>
        </p:nvSpPr>
        <p:spPr>
          <a:xfrm>
            <a:off x="502920" y="2926080"/>
            <a:ext cx="2286000" cy="36576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User load</a:t>
            </a:r>
            <a:endParaRPr lang="en-US" sz="1200" dirty="0"/>
          </a:p>
        </p:txBody>
      </p:sp>
      <p:sp>
        <p:nvSpPr>
          <p:cNvPr id="12" name="Text 10"/>
          <p:cNvSpPr/>
          <p:nvPr/>
        </p:nvSpPr>
        <p:spPr>
          <a:xfrm>
            <a:off x="2926080" y="2926080"/>
            <a:ext cx="4206240" cy="36576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Single user, undivided attention</a:t>
            </a:r>
            <a:endParaRPr lang="en-US" sz="1200" dirty="0"/>
          </a:p>
        </p:txBody>
      </p:sp>
      <p:sp>
        <p:nvSpPr>
          <p:cNvPr id="13" name="Text 11"/>
          <p:cNvSpPr/>
          <p:nvPr/>
        </p:nvSpPr>
        <p:spPr>
          <a:xfrm>
            <a:off x="7315200" y="2926080"/>
            <a:ext cx="4572000" cy="36576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Concurrent users, shared rate limits</a:t>
            </a:r>
            <a:endParaRPr lang="en-US" sz="1200" dirty="0"/>
          </a:p>
        </p:txBody>
      </p:sp>
      <p:sp>
        <p:nvSpPr>
          <p:cNvPr id="14" name="Shape 12"/>
          <p:cNvSpPr/>
          <p:nvPr/>
        </p:nvSpPr>
        <p:spPr>
          <a:xfrm>
            <a:off x="457200" y="3291840"/>
            <a:ext cx="11274552" cy="0"/>
          </a:xfrm>
          <a:prstGeom prst="line">
            <a:avLst/>
          </a:prstGeom>
          <a:noFill/>
          <a:ln w="6350">
            <a:solidFill>
              <a:srgbClr val="E2E8F0"/>
            </a:solidFill>
            <a:prstDash val="solid"/>
          </a:ln>
        </p:spPr>
      </p:sp>
      <p:sp>
        <p:nvSpPr>
          <p:cNvPr id="15" name="Text 13"/>
          <p:cNvSpPr/>
          <p:nvPr/>
        </p:nvSpPr>
        <p:spPr>
          <a:xfrm>
            <a:off x="502920" y="3310128"/>
            <a:ext cx="2286000" cy="36576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Context</a:t>
            </a:r>
            <a:endParaRPr lang="en-US" sz="1200" dirty="0"/>
          </a:p>
        </p:txBody>
      </p:sp>
      <p:sp>
        <p:nvSpPr>
          <p:cNvPr id="16" name="Text 14"/>
          <p:cNvSpPr/>
          <p:nvPr/>
        </p:nvSpPr>
        <p:spPr>
          <a:xfrm>
            <a:off x="2926080" y="3310128"/>
            <a:ext cx="4206240" cy="36576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Short, curated prompt</a:t>
            </a:r>
            <a:endParaRPr lang="en-US" sz="1200" dirty="0"/>
          </a:p>
        </p:txBody>
      </p:sp>
      <p:sp>
        <p:nvSpPr>
          <p:cNvPr id="17" name="Text 15"/>
          <p:cNvSpPr/>
          <p:nvPr/>
        </p:nvSpPr>
        <p:spPr>
          <a:xfrm>
            <a:off x="7315200" y="3310128"/>
            <a:ext cx="4572000" cy="36576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Long history, retrieved docs, edge cases</a:t>
            </a:r>
            <a:endParaRPr lang="en-US" sz="1200" dirty="0"/>
          </a:p>
        </p:txBody>
      </p:sp>
      <p:sp>
        <p:nvSpPr>
          <p:cNvPr id="18" name="Shape 16"/>
          <p:cNvSpPr/>
          <p:nvPr/>
        </p:nvSpPr>
        <p:spPr>
          <a:xfrm>
            <a:off x="457200" y="3675888"/>
            <a:ext cx="11274552" cy="0"/>
          </a:xfrm>
          <a:prstGeom prst="line">
            <a:avLst/>
          </a:prstGeom>
          <a:noFill/>
          <a:ln w="6350">
            <a:solidFill>
              <a:srgbClr val="E2E8F0"/>
            </a:solidFill>
            <a:prstDash val="solid"/>
          </a:ln>
        </p:spPr>
      </p:sp>
      <p:sp>
        <p:nvSpPr>
          <p:cNvPr id="19" name="Text 17"/>
          <p:cNvSpPr/>
          <p:nvPr/>
        </p:nvSpPr>
        <p:spPr>
          <a:xfrm>
            <a:off x="502920" y="3694176"/>
            <a:ext cx="2286000" cy="36576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Path</a:t>
            </a:r>
            <a:endParaRPr lang="en-US" sz="1200" dirty="0"/>
          </a:p>
        </p:txBody>
      </p:sp>
      <p:sp>
        <p:nvSpPr>
          <p:cNvPr id="20" name="Text 18"/>
          <p:cNvSpPr/>
          <p:nvPr/>
        </p:nvSpPr>
        <p:spPr>
          <a:xfrm>
            <a:off x="2926080" y="3694176"/>
            <a:ext cx="4206240" cy="36576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Happy path only</a:t>
            </a:r>
            <a:endParaRPr lang="en-US" sz="1200" dirty="0"/>
          </a:p>
        </p:txBody>
      </p:sp>
      <p:sp>
        <p:nvSpPr>
          <p:cNvPr id="21" name="Text 19"/>
          <p:cNvSpPr/>
          <p:nvPr/>
        </p:nvSpPr>
        <p:spPr>
          <a:xfrm>
            <a:off x="7315200" y="3694176"/>
            <a:ext cx="4572000" cy="36576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Malformed inputs, partial outages, retries</a:t>
            </a:r>
            <a:endParaRPr lang="en-US" sz="1200" dirty="0"/>
          </a:p>
        </p:txBody>
      </p:sp>
      <p:sp>
        <p:nvSpPr>
          <p:cNvPr id="22" name="Shape 20"/>
          <p:cNvSpPr/>
          <p:nvPr/>
        </p:nvSpPr>
        <p:spPr>
          <a:xfrm>
            <a:off x="457200" y="4059936"/>
            <a:ext cx="11274552" cy="0"/>
          </a:xfrm>
          <a:prstGeom prst="line">
            <a:avLst/>
          </a:prstGeom>
          <a:noFill/>
          <a:ln w="6350">
            <a:solidFill>
              <a:srgbClr val="E2E8F0"/>
            </a:solidFill>
            <a:prstDash val="solid"/>
          </a:ln>
        </p:spPr>
      </p:sp>
      <p:sp>
        <p:nvSpPr>
          <p:cNvPr id="23" name="Text 21"/>
          <p:cNvSpPr/>
          <p:nvPr/>
        </p:nvSpPr>
        <p:spPr>
          <a:xfrm>
            <a:off x="502920" y="4078224"/>
            <a:ext cx="2286000" cy="36576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Latency</a:t>
            </a:r>
            <a:endParaRPr lang="en-US" sz="1200" dirty="0"/>
          </a:p>
        </p:txBody>
      </p:sp>
      <p:sp>
        <p:nvSpPr>
          <p:cNvPr id="24" name="Text 22"/>
          <p:cNvSpPr/>
          <p:nvPr/>
        </p:nvSpPr>
        <p:spPr>
          <a:xfrm>
            <a:off x="2926080" y="4078224"/>
            <a:ext cx="4206240" cy="36576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Not measured</a:t>
            </a:r>
            <a:endParaRPr lang="en-US" sz="1200" dirty="0"/>
          </a:p>
        </p:txBody>
      </p:sp>
      <p:sp>
        <p:nvSpPr>
          <p:cNvPr id="25" name="Text 23"/>
          <p:cNvSpPr/>
          <p:nvPr/>
        </p:nvSpPr>
        <p:spPr>
          <a:xfrm>
            <a:off x="7315200" y="4078224"/>
            <a:ext cx="4572000" cy="36576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SLA-bound, with end-user expectations</a:t>
            </a:r>
            <a:endParaRPr lang="en-US" sz="1200" dirty="0"/>
          </a:p>
        </p:txBody>
      </p:sp>
      <p:sp>
        <p:nvSpPr>
          <p:cNvPr id="26" name="Shape 24"/>
          <p:cNvSpPr/>
          <p:nvPr/>
        </p:nvSpPr>
        <p:spPr>
          <a:xfrm>
            <a:off x="457200" y="4443984"/>
            <a:ext cx="11274552" cy="0"/>
          </a:xfrm>
          <a:prstGeom prst="line">
            <a:avLst/>
          </a:prstGeom>
          <a:noFill/>
          <a:ln w="6350">
            <a:solidFill>
              <a:srgbClr val="E2E8F0"/>
            </a:solidFill>
            <a:prstDash val="solid"/>
          </a:ln>
        </p:spPr>
      </p:sp>
      <p:sp>
        <p:nvSpPr>
          <p:cNvPr id="27" name="Text 25"/>
          <p:cNvSpPr/>
          <p:nvPr/>
        </p:nvSpPr>
        <p:spPr>
          <a:xfrm>
            <a:off x="502920" y="4462272"/>
            <a:ext cx="2286000" cy="36576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Cost</a:t>
            </a:r>
            <a:endParaRPr lang="en-US" sz="1200" dirty="0"/>
          </a:p>
        </p:txBody>
      </p:sp>
      <p:sp>
        <p:nvSpPr>
          <p:cNvPr id="28" name="Text 26"/>
          <p:cNvSpPr/>
          <p:nvPr/>
        </p:nvSpPr>
        <p:spPr>
          <a:xfrm>
            <a:off x="2926080" y="4462272"/>
            <a:ext cx="4206240" cy="36576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Not measured</a:t>
            </a:r>
            <a:endParaRPr lang="en-US" sz="1200" dirty="0"/>
          </a:p>
        </p:txBody>
      </p:sp>
      <p:sp>
        <p:nvSpPr>
          <p:cNvPr id="29" name="Text 27"/>
          <p:cNvSpPr/>
          <p:nvPr/>
        </p:nvSpPr>
        <p:spPr>
          <a:xfrm>
            <a:off x="7315200" y="4462272"/>
            <a:ext cx="4572000" cy="36576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Token spend per session, watched closely</a:t>
            </a:r>
            <a:endParaRPr lang="en-US" sz="1200" dirty="0"/>
          </a:p>
        </p:txBody>
      </p:sp>
      <p:sp>
        <p:nvSpPr>
          <p:cNvPr id="30" name="Shape 28"/>
          <p:cNvSpPr/>
          <p:nvPr/>
        </p:nvSpPr>
        <p:spPr>
          <a:xfrm>
            <a:off x="457200" y="4828032"/>
            <a:ext cx="11274552" cy="0"/>
          </a:xfrm>
          <a:prstGeom prst="line">
            <a:avLst/>
          </a:prstGeom>
          <a:noFill/>
          <a:ln w="6350">
            <a:solidFill>
              <a:srgbClr val="E2E8F0"/>
            </a:solidFill>
            <a:prstDash val="solid"/>
          </a:ln>
        </p:spPr>
      </p:sp>
      <p:sp>
        <p:nvSpPr>
          <p:cNvPr id="31" name="Text 29"/>
          <p:cNvSpPr/>
          <p:nvPr/>
        </p:nvSpPr>
        <p:spPr>
          <a:xfrm>
            <a:off x="502920" y="4846320"/>
            <a:ext cx="2286000" cy="36576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Governance</a:t>
            </a:r>
            <a:endParaRPr lang="en-US" sz="1200" dirty="0"/>
          </a:p>
        </p:txBody>
      </p:sp>
      <p:sp>
        <p:nvSpPr>
          <p:cNvPr id="32" name="Text 30"/>
          <p:cNvSpPr/>
          <p:nvPr/>
        </p:nvSpPr>
        <p:spPr>
          <a:xfrm>
            <a:off x="2926080" y="4846320"/>
            <a:ext cx="4206240" cy="36576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None</a:t>
            </a:r>
            <a:endParaRPr lang="en-US" sz="1200" dirty="0"/>
          </a:p>
        </p:txBody>
      </p:sp>
      <p:sp>
        <p:nvSpPr>
          <p:cNvPr id="33" name="Text 31"/>
          <p:cNvSpPr/>
          <p:nvPr/>
        </p:nvSpPr>
        <p:spPr>
          <a:xfrm>
            <a:off x="7315200" y="4846320"/>
            <a:ext cx="4572000" cy="36576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Audit, compliance, regulator-ready logs</a:t>
            </a:r>
            <a:endParaRPr lang="en-US" sz="1200" dirty="0"/>
          </a:p>
        </p:txBody>
      </p:sp>
      <p:sp>
        <p:nvSpPr>
          <p:cNvPr id="34" name="Shape 32"/>
          <p:cNvSpPr/>
          <p:nvPr/>
        </p:nvSpPr>
        <p:spPr>
          <a:xfrm>
            <a:off x="457200" y="5212080"/>
            <a:ext cx="11274552" cy="0"/>
          </a:xfrm>
          <a:prstGeom prst="line">
            <a:avLst/>
          </a:prstGeom>
          <a:noFill/>
          <a:ln w="6350">
            <a:solidFill>
              <a:srgbClr val="E2E8F0"/>
            </a:solidFill>
            <a:prstDash val="solid"/>
          </a:ln>
        </p:spPr>
      </p:sp>
      <p:sp>
        <p:nvSpPr>
          <p:cNvPr id="35" name="Text 33"/>
          <p:cNvSpPr/>
          <p:nvPr/>
        </p:nvSpPr>
        <p:spPr>
          <a:xfrm>
            <a:off x="502920" y="5230368"/>
            <a:ext cx="2286000" cy="36576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Recovery</a:t>
            </a:r>
            <a:endParaRPr lang="en-US" sz="1200" dirty="0"/>
          </a:p>
        </p:txBody>
      </p:sp>
      <p:sp>
        <p:nvSpPr>
          <p:cNvPr id="36" name="Text 34"/>
          <p:cNvSpPr/>
          <p:nvPr/>
        </p:nvSpPr>
        <p:spPr>
          <a:xfrm>
            <a:off x="2926080" y="5230368"/>
            <a:ext cx="4206240" cy="36576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Re-run if it breaks</a:t>
            </a:r>
            <a:endParaRPr lang="en-US" sz="1200" dirty="0"/>
          </a:p>
        </p:txBody>
      </p:sp>
      <p:sp>
        <p:nvSpPr>
          <p:cNvPr id="37" name="Text 35"/>
          <p:cNvSpPr/>
          <p:nvPr/>
        </p:nvSpPr>
        <p:spPr>
          <a:xfrm>
            <a:off x="7315200" y="5230368"/>
            <a:ext cx="4572000" cy="36576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Idempotency, retries, rollback</a:t>
            </a:r>
            <a:endParaRPr lang="en-US" sz="1200" dirty="0"/>
          </a:p>
        </p:txBody>
      </p:sp>
      <p:sp>
        <p:nvSpPr>
          <p:cNvPr id="38" name="Shape 36"/>
          <p:cNvSpPr/>
          <p:nvPr/>
        </p:nvSpPr>
        <p:spPr>
          <a:xfrm>
            <a:off x="457200" y="5596128"/>
            <a:ext cx="11274552" cy="0"/>
          </a:xfrm>
          <a:prstGeom prst="line">
            <a:avLst/>
          </a:prstGeom>
          <a:noFill/>
          <a:ln w="6350">
            <a:solidFill>
              <a:srgbClr val="E2E8F0"/>
            </a:solidFill>
            <a:prstDash val="solid"/>
          </a:ln>
        </p:spPr>
      </p:sp>
      <p:sp>
        <p:nvSpPr>
          <p:cNvPr id="39" name="Text 37"/>
          <p:cNvSpPr/>
          <p:nvPr/>
        </p:nvSpPr>
        <p:spPr>
          <a:xfrm>
            <a:off x="502920" y="5614416"/>
            <a:ext cx="2286000" cy="36576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Observability</a:t>
            </a:r>
            <a:endParaRPr lang="en-US" sz="1200" dirty="0"/>
          </a:p>
        </p:txBody>
      </p:sp>
      <p:sp>
        <p:nvSpPr>
          <p:cNvPr id="40" name="Text 38"/>
          <p:cNvSpPr/>
          <p:nvPr/>
        </p:nvSpPr>
        <p:spPr>
          <a:xfrm>
            <a:off x="2926080" y="5614416"/>
            <a:ext cx="4206240" cy="36576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Console output</a:t>
            </a:r>
            <a:endParaRPr lang="en-US" sz="1200" dirty="0"/>
          </a:p>
        </p:txBody>
      </p:sp>
      <p:sp>
        <p:nvSpPr>
          <p:cNvPr id="41" name="Text 39"/>
          <p:cNvSpPr/>
          <p:nvPr/>
        </p:nvSpPr>
        <p:spPr>
          <a:xfrm>
            <a:off x="7315200" y="5614416"/>
            <a:ext cx="4572000" cy="36576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Traces, metrics, structured logs, alerts</a:t>
            </a:r>
            <a:endParaRPr lang="en-US" sz="1200" dirty="0"/>
          </a:p>
        </p:txBody>
      </p:sp>
      <p:sp>
        <p:nvSpPr>
          <p:cNvPr id="42" name="Shape 40"/>
          <p:cNvSpPr/>
          <p:nvPr/>
        </p:nvSpPr>
        <p:spPr>
          <a:xfrm>
            <a:off x="457200" y="5980176"/>
            <a:ext cx="11274552" cy="0"/>
          </a:xfrm>
          <a:prstGeom prst="line">
            <a:avLst/>
          </a:prstGeom>
          <a:noFill/>
          <a:ln w="6350">
            <a:solidFill>
              <a:srgbClr val="E2E8F0"/>
            </a:solidFill>
            <a:prstDash val="solid"/>
          </a:ln>
        </p:spPr>
      </p:sp>
      <p:sp>
        <p:nvSpPr>
          <p:cNvPr id="43" name="Text 41"/>
          <p:cNvSpPr/>
          <p:nvPr/>
        </p:nvSpPr>
        <p:spPr>
          <a:xfrm>
            <a:off x="457200" y="6035040"/>
            <a:ext cx="11274552" cy="274320"/>
          </a:xfrm>
          <a:prstGeom prst="rect">
            <a:avLst/>
          </a:prstGeom>
          <a:noFill/>
          <a:ln/>
        </p:spPr>
        <p:txBody>
          <a:bodyPr wrap="square" lIns="0" tIns="0" rIns="0" bIns="0" rtlCol="0" anchor="ctr"/>
          <a:lstStyle/>
          <a:p>
            <a:pPr indent="0" marL="0">
              <a:buNone/>
            </a:pPr>
            <a:r>
              <a:rPr lang="en-US" sz="1000" i="1" dirty="0">
                <a:solidFill>
                  <a:srgbClr val="94A3B8"/>
                </a:solidFill>
                <a:latin typeface="Calibri" pitchFamily="34" charset="0"/>
                <a:ea typeface="Calibri" pitchFamily="34" charset="-122"/>
                <a:cs typeface="Calibri" pitchFamily="34" charset="-120"/>
              </a:rPr>
              <a:t>Every row here becomes a topic later in the program. Today plants the seed; the rest waters it.</a:t>
            </a:r>
            <a:endParaRPr lang="en-US" sz="1000" dirty="0"/>
          </a:p>
        </p:txBody>
      </p:sp>
      <p:sp>
        <p:nvSpPr>
          <p:cNvPr id="44" name="Shape 42"/>
          <p:cNvSpPr/>
          <p:nvPr/>
        </p:nvSpPr>
        <p:spPr>
          <a:xfrm>
            <a:off x="457200" y="6446520"/>
            <a:ext cx="11274552" cy="0"/>
          </a:xfrm>
          <a:prstGeom prst="line">
            <a:avLst/>
          </a:prstGeom>
          <a:noFill/>
          <a:ln w="6350">
            <a:solidFill>
              <a:srgbClr val="E2E8F0"/>
            </a:solidFill>
            <a:prstDash val="solid"/>
          </a:ln>
        </p:spPr>
      </p:sp>
      <p:sp>
        <p:nvSpPr>
          <p:cNvPr id="45" name="Text 43"/>
          <p:cNvSpPr/>
          <p:nvPr/>
        </p:nvSpPr>
        <p:spPr>
          <a:xfrm>
            <a:off x="457200" y="6537960"/>
            <a:ext cx="914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20</a:t>
            </a:r>
            <a:endParaRPr lang="en-US" sz="900" dirty="0"/>
          </a:p>
        </p:txBody>
      </p:sp>
      <p:sp>
        <p:nvSpPr>
          <p:cNvPr id="46" name="Text 44"/>
          <p:cNvSpPr/>
          <p:nvPr/>
        </p:nvSpPr>
        <p:spPr>
          <a:xfrm>
            <a:off x="5943600" y="6537960"/>
            <a:ext cx="5788152" cy="228600"/>
          </a:xfrm>
          <a:prstGeom prst="rect">
            <a:avLst/>
          </a:prstGeom>
          <a:noFill/>
          <a:ln/>
        </p:spPr>
        <p:txBody>
          <a:bodyPr wrap="square" lIns="0" tIns="0" rIns="0" bIns="0" rtlCol="0" anchor="ctr"/>
          <a:lstStyle/>
          <a:p>
            <a:pPr algn="r" indent="0" marL="0">
              <a:buNone/>
            </a:pPr>
            <a:r>
              <a:rPr lang="en-US" sz="900" i="1" dirty="0">
                <a:solidFill>
                  <a:srgbClr val="94A3B8"/>
                </a:solidFill>
                <a:latin typeface="Calibri" pitchFamily="34" charset="0"/>
                <a:ea typeface="Calibri" pitchFamily="34" charset="-122"/>
                <a:cs typeface="Calibri" pitchFamily="34" charset="-120"/>
              </a:rPr>
              <a:t>Agentic Foundations · Half 1</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4552" cy="274320"/>
          </a:xfrm>
          <a:prstGeom prst="rect">
            <a:avLst/>
          </a:prstGeom>
          <a:noFill/>
          <a:ln/>
        </p:spPr>
        <p:txBody>
          <a:bodyPr wrap="square" lIns="0" tIns="0" rIns="0" bIns="0" rtlCol="0" anchor="ctr"/>
          <a:lstStyle/>
          <a:p>
            <a:pPr indent="0" marL="0">
              <a:buNone/>
            </a:pPr>
            <a:r>
              <a:rPr lang="en-US" sz="1000" b="1" spc="400" kern="0" dirty="0">
                <a:solidFill>
                  <a:srgbClr val="B45309"/>
                </a:solidFill>
                <a:latin typeface="Calibri" pitchFamily="34" charset="0"/>
                <a:ea typeface="Calibri" pitchFamily="34" charset="-122"/>
                <a:cs typeface="Calibri" pitchFamily="34" charset="-120"/>
              </a:rPr>
              <a:t>CASE STUDY · DEMO VS PRODUCTION</a:t>
            </a:r>
            <a:endParaRPr lang="en-US" sz="1000" dirty="0"/>
          </a:p>
        </p:txBody>
      </p:sp>
      <p:sp>
        <p:nvSpPr>
          <p:cNvPr id="3" name="Text 1"/>
          <p:cNvSpPr/>
          <p:nvPr/>
        </p:nvSpPr>
        <p:spPr>
          <a:xfrm>
            <a:off x="457200" y="777240"/>
            <a:ext cx="11274552"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Refund-handling agent</a:t>
            </a:r>
            <a:endParaRPr lang="en-US" sz="2800" dirty="0"/>
          </a:p>
        </p:txBody>
      </p:sp>
      <p:sp>
        <p:nvSpPr>
          <p:cNvPr id="4" name="Text 2"/>
          <p:cNvSpPr/>
          <p:nvPr/>
        </p:nvSpPr>
        <p:spPr>
          <a:xfrm>
            <a:off x="457200" y="1554480"/>
            <a:ext cx="11274552"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A demo that wowed a steering committee. Four weeks later, a payments incident. Walk through the same five turns under both conditions.</a:t>
            </a:r>
            <a:endParaRPr lang="en-US" sz="1400" dirty="0"/>
          </a:p>
        </p:txBody>
      </p:sp>
      <p:sp>
        <p:nvSpPr>
          <p:cNvPr id="5" name="Shape 3"/>
          <p:cNvSpPr/>
          <p:nvPr/>
        </p:nvSpPr>
        <p:spPr>
          <a:xfrm>
            <a:off x="457200" y="2057400"/>
            <a:ext cx="11274552" cy="0"/>
          </a:xfrm>
          <a:prstGeom prst="line">
            <a:avLst/>
          </a:prstGeom>
          <a:noFill/>
          <a:ln w="6350">
            <a:solidFill>
              <a:srgbClr val="E2E8F0"/>
            </a:solidFill>
            <a:prstDash val="solid"/>
          </a:ln>
        </p:spPr>
      </p:sp>
      <p:sp>
        <p:nvSpPr>
          <p:cNvPr id="6" name="Text 4"/>
          <p:cNvSpPr/>
          <p:nvPr/>
        </p:nvSpPr>
        <p:spPr>
          <a:xfrm>
            <a:off x="457200" y="2331720"/>
            <a:ext cx="10972800" cy="274320"/>
          </a:xfrm>
          <a:prstGeom prst="rect">
            <a:avLst/>
          </a:prstGeom>
          <a:noFill/>
          <a:ln/>
        </p:spPr>
        <p:txBody>
          <a:bodyPr wrap="square" lIns="0" tIns="0" rIns="0" bIns="0" rtlCol="0" anchor="ctr"/>
          <a:lstStyle/>
          <a:p>
            <a:pPr indent="0" marL="0">
              <a:buNone/>
            </a:pPr>
            <a:r>
              <a:rPr lang="en-US" sz="1000" b="1" spc="300" kern="0" dirty="0">
                <a:solidFill>
                  <a:srgbClr val="B45309"/>
                </a:solidFill>
                <a:latin typeface="Calibri" pitchFamily="34" charset="0"/>
                <a:ea typeface="Calibri" pitchFamily="34" charset="-122"/>
                <a:cs typeface="Calibri" pitchFamily="34" charset="-120"/>
              </a:rPr>
              <a:t>THE SETUP</a:t>
            </a:r>
            <a:endParaRPr lang="en-US" sz="1000" dirty="0"/>
          </a:p>
        </p:txBody>
      </p:sp>
      <p:sp>
        <p:nvSpPr>
          <p:cNvPr id="7" name="Text 5"/>
          <p:cNvSpPr/>
          <p:nvPr/>
        </p:nvSpPr>
        <p:spPr>
          <a:xfrm>
            <a:off x="457200" y="2651760"/>
            <a:ext cx="11274552" cy="914400"/>
          </a:xfrm>
          <a:prstGeom prst="rect">
            <a:avLst/>
          </a:prstGeom>
          <a:noFill/>
          <a:ln/>
        </p:spPr>
        <p:txBody>
          <a:bodyPr wrap="square" lIns="0" tIns="0" rIns="0" bIns="0" rtlCol="0" anchor="ctr"/>
          <a:lstStyle/>
          <a:p>
            <a:pPr indent="0" marL="0">
              <a:buNone/>
            </a:pPr>
            <a:r>
              <a:rPr lang="en-US" sz="1400" dirty="0">
                <a:solidFill>
                  <a:srgbClr val="0F172A"/>
                </a:solidFill>
                <a:latin typeface="Calibri" pitchFamily="34" charset="0"/>
                <a:ea typeface="Calibri" pitchFamily="34" charset="-122"/>
                <a:cs typeface="Calibri" pitchFamily="34" charset="-120"/>
              </a:rPr>
              <a:t>A retail bank prototypes an agent to handle refund requests end-to-end. The demo: customer says "I was charged twice for the same coffee." Agent looks up the transaction, identifies the duplicate, issues a refund, sends a confirmation. Beautiful in the boardroom.</a:t>
            </a:r>
            <a:endParaRPr lang="en-US" sz="1400" dirty="0"/>
          </a:p>
        </p:txBody>
      </p:sp>
      <p:sp>
        <p:nvSpPr>
          <p:cNvPr id="8" name="Text 6"/>
          <p:cNvSpPr/>
          <p:nvPr/>
        </p:nvSpPr>
        <p:spPr>
          <a:xfrm>
            <a:off x="457200" y="3749040"/>
            <a:ext cx="10972800" cy="274320"/>
          </a:xfrm>
          <a:prstGeom prst="rect">
            <a:avLst/>
          </a:prstGeom>
          <a:noFill/>
          <a:ln/>
        </p:spPr>
        <p:txBody>
          <a:bodyPr wrap="square" lIns="0" tIns="0" rIns="0" bIns="0" rtlCol="0" anchor="ctr"/>
          <a:lstStyle/>
          <a:p>
            <a:pPr indent="0" marL="0">
              <a:buNone/>
            </a:pPr>
            <a:r>
              <a:rPr lang="en-US" sz="1000" b="1" spc="300" kern="0" dirty="0">
                <a:solidFill>
                  <a:srgbClr val="047857"/>
                </a:solidFill>
                <a:latin typeface="Calibri" pitchFamily="34" charset="0"/>
                <a:ea typeface="Calibri" pitchFamily="34" charset="-122"/>
                <a:cs typeface="Calibri" pitchFamily="34" charset="-120"/>
              </a:rPr>
              <a:t>WHAT THE DEMO SHOWS</a:t>
            </a:r>
            <a:endParaRPr lang="en-US" sz="1000" dirty="0"/>
          </a:p>
        </p:txBody>
      </p:sp>
      <p:sp>
        <p:nvSpPr>
          <p:cNvPr id="9" name="Text 7"/>
          <p:cNvSpPr/>
          <p:nvPr/>
        </p:nvSpPr>
        <p:spPr>
          <a:xfrm>
            <a:off x="457200" y="4069080"/>
            <a:ext cx="11274552" cy="1463040"/>
          </a:xfrm>
          <a:prstGeom prst="rect">
            <a:avLst/>
          </a:prstGeom>
          <a:noFill/>
          <a:ln/>
        </p:spPr>
        <p:txBody>
          <a:bodyPr wrap="square" lIns="0" tIns="0" rIns="0" bIns="0" rtlCol="0" anchor="ctr"/>
          <a:lstStyle/>
          <a:p>
            <a:pPr marL="342900" indent="-342900">
              <a:spcAft>
                <a:spcPts val="400"/>
              </a:spcAft>
              <a:buSzPct val="100000"/>
              <a:buChar char="—"/>
            </a:pPr>
            <a:r>
              <a:rPr lang="en-US" sz="1300" dirty="0">
                <a:solidFill>
                  <a:srgbClr val="334155"/>
                </a:solidFill>
                <a:latin typeface="Calibri" pitchFamily="34" charset="0"/>
                <a:ea typeface="Calibri" pitchFamily="34" charset="-122"/>
                <a:cs typeface="Calibri" pitchFamily="34" charset="-120"/>
              </a:rPr>
              <a:t>One customer. One transaction. One agent invocation.</a:t>
            </a:r>
            <a:endParaRPr lang="en-US" sz="1300" dirty="0"/>
          </a:p>
          <a:p>
            <a:pPr marL="342900" indent="-342900">
              <a:spcAft>
                <a:spcPts val="400"/>
              </a:spcAft>
              <a:buSzPct val="100000"/>
              <a:buChar char="—"/>
            </a:pPr>
            <a:r>
              <a:rPr lang="en-US" sz="1300" dirty="0">
                <a:solidFill>
                  <a:srgbClr val="334155"/>
                </a:solidFill>
                <a:latin typeface="Calibri" pitchFamily="34" charset="0"/>
                <a:ea typeface="Calibri" pitchFamily="34" charset="-122"/>
                <a:cs typeface="Calibri" pitchFamily="34" charset="-120"/>
              </a:rPr>
              <a:t>Clean transcript: lookup, decision, refund, notification — four tool calls, all return 200 OK.</a:t>
            </a:r>
            <a:endParaRPr lang="en-US" sz="1300" dirty="0"/>
          </a:p>
          <a:p>
            <a:pPr marL="342900" indent="-342900">
              <a:spcAft>
                <a:spcPts val="400"/>
              </a:spcAft>
              <a:buSzPct val="100000"/>
              <a:buChar char="—"/>
            </a:pPr>
            <a:r>
              <a:rPr lang="en-US" sz="1300" dirty="0">
                <a:solidFill>
                  <a:srgbClr val="334155"/>
                </a:solidFill>
                <a:latin typeface="Calibri" pitchFamily="34" charset="0"/>
                <a:ea typeface="Calibri" pitchFamily="34" charset="-122"/>
                <a:cs typeface="Calibri" pitchFamily="34" charset="-120"/>
              </a:rPr>
              <a:t>End-to-end in twelve seconds. Steering committee impressed.</a:t>
            </a:r>
            <a:endParaRPr lang="en-US" sz="1300" dirty="0"/>
          </a:p>
          <a:p>
            <a:pPr marL="342900" indent="-342900">
              <a:spcAft>
                <a:spcPts val="400"/>
              </a:spcAft>
              <a:buSzPct val="100000"/>
              <a:buChar char="—"/>
            </a:pPr>
            <a:r>
              <a:rPr lang="en-US" sz="1300" dirty="0">
                <a:solidFill>
                  <a:srgbClr val="334155"/>
                </a:solidFill>
                <a:latin typeface="Calibri" pitchFamily="34" charset="0"/>
                <a:ea typeface="Calibri" pitchFamily="34" charset="-122"/>
                <a:cs typeface="Calibri" pitchFamily="34" charset="-120"/>
              </a:rPr>
              <a:t>Zero failure scenarios exercised. Nobody asked.</a:t>
            </a:r>
            <a:endParaRPr lang="en-US" sz="1300" dirty="0"/>
          </a:p>
        </p:txBody>
      </p:sp>
      <p:sp>
        <p:nvSpPr>
          <p:cNvPr id="10" name="Text 8"/>
          <p:cNvSpPr/>
          <p:nvPr/>
        </p:nvSpPr>
        <p:spPr>
          <a:xfrm>
            <a:off x="457200" y="5897880"/>
            <a:ext cx="11274552" cy="365760"/>
          </a:xfrm>
          <a:prstGeom prst="rect">
            <a:avLst/>
          </a:prstGeom>
          <a:noFill/>
          <a:ln/>
        </p:spPr>
        <p:txBody>
          <a:bodyPr wrap="square" lIns="0" tIns="0" rIns="0" bIns="0" rtlCol="0" anchor="ctr"/>
          <a:lstStyle/>
          <a:p>
            <a:pPr indent="0" marL="0">
              <a:buNone/>
            </a:pPr>
            <a:r>
              <a:rPr lang="en-US" sz="1200" i="1" dirty="0">
                <a:solidFill>
                  <a:srgbClr val="B45309"/>
                </a:solidFill>
                <a:latin typeface="Calibri" pitchFamily="34" charset="0"/>
                <a:ea typeface="Calibri" pitchFamily="34" charset="-122"/>
                <a:cs typeface="Calibri" pitchFamily="34" charset="-120"/>
              </a:rPr>
              <a:t>Next slide: same agent, production traffic. What broke and why.</a:t>
            </a:r>
            <a:endParaRPr lang="en-US" sz="1200" dirty="0"/>
          </a:p>
        </p:txBody>
      </p:sp>
      <p:sp>
        <p:nvSpPr>
          <p:cNvPr id="11" name="Shape 9"/>
          <p:cNvSpPr/>
          <p:nvPr/>
        </p:nvSpPr>
        <p:spPr>
          <a:xfrm>
            <a:off x="457200" y="6446520"/>
            <a:ext cx="11274552" cy="0"/>
          </a:xfrm>
          <a:prstGeom prst="line">
            <a:avLst/>
          </a:prstGeom>
          <a:noFill/>
          <a:ln w="6350">
            <a:solidFill>
              <a:srgbClr val="E2E8F0"/>
            </a:solidFill>
            <a:prstDash val="solid"/>
          </a:ln>
        </p:spPr>
      </p:sp>
      <p:sp>
        <p:nvSpPr>
          <p:cNvPr id="12" name="Text 10"/>
          <p:cNvSpPr/>
          <p:nvPr/>
        </p:nvSpPr>
        <p:spPr>
          <a:xfrm>
            <a:off x="457200" y="6537960"/>
            <a:ext cx="914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21</a:t>
            </a:r>
            <a:endParaRPr lang="en-US" sz="900" dirty="0"/>
          </a:p>
        </p:txBody>
      </p:sp>
      <p:sp>
        <p:nvSpPr>
          <p:cNvPr id="13" name="Text 11"/>
          <p:cNvSpPr/>
          <p:nvPr/>
        </p:nvSpPr>
        <p:spPr>
          <a:xfrm>
            <a:off x="5943600" y="6537960"/>
            <a:ext cx="5788152" cy="228600"/>
          </a:xfrm>
          <a:prstGeom prst="rect">
            <a:avLst/>
          </a:prstGeom>
          <a:noFill/>
          <a:ln/>
        </p:spPr>
        <p:txBody>
          <a:bodyPr wrap="square" lIns="0" tIns="0" rIns="0" bIns="0" rtlCol="0" anchor="ctr"/>
          <a:lstStyle/>
          <a:p>
            <a:pPr algn="r" indent="0" marL="0">
              <a:buNone/>
            </a:pPr>
            <a:r>
              <a:rPr lang="en-US" sz="900" i="1" dirty="0">
                <a:solidFill>
                  <a:srgbClr val="94A3B8"/>
                </a:solidFill>
                <a:latin typeface="Calibri" pitchFamily="34" charset="0"/>
                <a:ea typeface="Calibri" pitchFamily="34" charset="-122"/>
                <a:cs typeface="Calibri" pitchFamily="34" charset="-120"/>
              </a:rPr>
              <a:t>Agentic Foundations · Half 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4552" cy="274320"/>
          </a:xfrm>
          <a:prstGeom prst="rect">
            <a:avLst/>
          </a:prstGeom>
          <a:noFill/>
          <a:ln/>
        </p:spPr>
        <p:txBody>
          <a:bodyPr wrap="square" lIns="0" tIns="0" rIns="0" bIns="0" rtlCol="0" anchor="ctr"/>
          <a:lstStyle/>
          <a:p>
            <a:pPr indent="0" marL="0">
              <a:buNone/>
            </a:pPr>
            <a:r>
              <a:rPr lang="en-US" sz="1000" b="1" spc="400" kern="0" dirty="0">
                <a:solidFill>
                  <a:srgbClr val="B45309"/>
                </a:solidFill>
                <a:latin typeface="Calibri" pitchFamily="34" charset="0"/>
                <a:ea typeface="Calibri" pitchFamily="34" charset="-122"/>
                <a:cs typeface="Calibri" pitchFamily="34" charset="-120"/>
              </a:rPr>
              <a:t>CASE STUDY · BREAKDOWN</a:t>
            </a:r>
            <a:endParaRPr lang="en-US" sz="1000" dirty="0"/>
          </a:p>
        </p:txBody>
      </p:sp>
      <p:sp>
        <p:nvSpPr>
          <p:cNvPr id="3" name="Text 1"/>
          <p:cNvSpPr/>
          <p:nvPr/>
        </p:nvSpPr>
        <p:spPr>
          <a:xfrm>
            <a:off x="457200" y="777240"/>
            <a:ext cx="11274552"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What broke, in order</a:t>
            </a:r>
            <a:endParaRPr lang="en-US" sz="2800" dirty="0"/>
          </a:p>
        </p:txBody>
      </p:sp>
      <p:sp>
        <p:nvSpPr>
          <p:cNvPr id="4" name="Text 2"/>
          <p:cNvSpPr/>
          <p:nvPr/>
        </p:nvSpPr>
        <p:spPr>
          <a:xfrm>
            <a:off x="457200" y="1554480"/>
            <a:ext cx="11274552"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Five failure modes, each mapped to a demo-vs-production dimension you saw two slides ago.</a:t>
            </a:r>
            <a:endParaRPr lang="en-US" sz="1400" dirty="0"/>
          </a:p>
        </p:txBody>
      </p:sp>
      <p:sp>
        <p:nvSpPr>
          <p:cNvPr id="5" name="Shape 3"/>
          <p:cNvSpPr/>
          <p:nvPr/>
        </p:nvSpPr>
        <p:spPr>
          <a:xfrm>
            <a:off x="457200" y="2057400"/>
            <a:ext cx="11274552" cy="0"/>
          </a:xfrm>
          <a:prstGeom prst="line">
            <a:avLst/>
          </a:prstGeom>
          <a:noFill/>
          <a:ln w="6350">
            <a:solidFill>
              <a:srgbClr val="E2E8F0"/>
            </a:solidFill>
            <a:prstDash val="solid"/>
          </a:ln>
        </p:spPr>
      </p:sp>
      <p:sp>
        <p:nvSpPr>
          <p:cNvPr id="6" name="Shape 4"/>
          <p:cNvSpPr/>
          <p:nvPr/>
        </p:nvSpPr>
        <p:spPr>
          <a:xfrm>
            <a:off x="457200" y="2468880"/>
            <a:ext cx="11274552" cy="0"/>
          </a:xfrm>
          <a:prstGeom prst="line">
            <a:avLst/>
          </a:prstGeom>
          <a:noFill/>
          <a:ln w="6350">
            <a:solidFill>
              <a:srgbClr val="E2E8F0"/>
            </a:solidFill>
            <a:prstDash val="solid"/>
          </a:ln>
        </p:spPr>
      </p:sp>
      <p:sp>
        <p:nvSpPr>
          <p:cNvPr id="7" name="Text 5"/>
          <p:cNvSpPr/>
          <p:nvPr/>
        </p:nvSpPr>
        <p:spPr>
          <a:xfrm>
            <a:off x="457200" y="2606040"/>
            <a:ext cx="457200" cy="457200"/>
          </a:xfrm>
          <a:prstGeom prst="rect">
            <a:avLst/>
          </a:prstGeom>
          <a:noFill/>
          <a:ln/>
        </p:spPr>
        <p:txBody>
          <a:bodyPr wrap="square" lIns="0" tIns="0" rIns="0" bIns="0" rtlCol="0" anchor="ctr"/>
          <a:lstStyle/>
          <a:p>
            <a:pPr indent="0" marL="0">
              <a:buNone/>
            </a:pPr>
            <a:r>
              <a:rPr lang="en-US" sz="2200" b="1" dirty="0">
                <a:solidFill>
                  <a:srgbClr val="B45309"/>
                </a:solidFill>
                <a:latin typeface="Georgia" pitchFamily="34" charset="0"/>
                <a:ea typeface="Georgia" pitchFamily="34" charset="-122"/>
                <a:cs typeface="Georgia" pitchFamily="34" charset="-120"/>
              </a:rPr>
              <a:t>1</a:t>
            </a:r>
            <a:endParaRPr lang="en-US" sz="2200" dirty="0"/>
          </a:p>
        </p:txBody>
      </p:sp>
      <p:sp>
        <p:nvSpPr>
          <p:cNvPr id="8" name="Text 6"/>
          <p:cNvSpPr/>
          <p:nvPr/>
        </p:nvSpPr>
        <p:spPr>
          <a:xfrm>
            <a:off x="1005840" y="2560320"/>
            <a:ext cx="4114800" cy="36576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Ambiguous duplicate</a:t>
            </a:r>
            <a:endParaRPr lang="en-US" sz="1400" dirty="0"/>
          </a:p>
        </p:txBody>
      </p:sp>
      <p:sp>
        <p:nvSpPr>
          <p:cNvPr id="9" name="Text 7"/>
          <p:cNvSpPr/>
          <p:nvPr/>
        </p:nvSpPr>
        <p:spPr>
          <a:xfrm>
            <a:off x="1005840" y="2926080"/>
            <a:ext cx="4114800" cy="274320"/>
          </a:xfrm>
          <a:prstGeom prst="rect">
            <a:avLst/>
          </a:prstGeom>
          <a:noFill/>
          <a:ln/>
        </p:spPr>
        <p:txBody>
          <a:bodyPr wrap="square" lIns="0" tIns="0" rIns="0" bIns="0" rtlCol="0" anchor="ctr"/>
          <a:lstStyle/>
          <a:p>
            <a:pPr indent="0" marL="0">
              <a:buNone/>
            </a:pPr>
            <a:r>
              <a:rPr lang="en-US" sz="900" b="1" spc="200" kern="0" dirty="0">
                <a:solidFill>
                  <a:srgbClr val="B45309"/>
                </a:solidFill>
                <a:latin typeface="Calibri" pitchFamily="34" charset="0"/>
                <a:ea typeface="Calibri" pitchFamily="34" charset="-122"/>
                <a:cs typeface="Calibri" pitchFamily="34" charset="-120"/>
              </a:rPr>
              <a:t>Context · Path</a:t>
            </a:r>
            <a:endParaRPr lang="en-US" sz="900" dirty="0"/>
          </a:p>
        </p:txBody>
      </p:sp>
      <p:sp>
        <p:nvSpPr>
          <p:cNvPr id="10" name="Text 8"/>
          <p:cNvSpPr/>
          <p:nvPr/>
        </p:nvSpPr>
        <p:spPr>
          <a:xfrm>
            <a:off x="5303520" y="2560320"/>
            <a:ext cx="6400800" cy="64008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Two charges, same merchant, same amount, three minutes apart. Agent treats them as a duplicate. They were two espressos.</a:t>
            </a:r>
            <a:endParaRPr lang="en-US" sz="1200" dirty="0"/>
          </a:p>
        </p:txBody>
      </p:sp>
      <p:sp>
        <p:nvSpPr>
          <p:cNvPr id="11" name="Shape 9"/>
          <p:cNvSpPr/>
          <p:nvPr/>
        </p:nvSpPr>
        <p:spPr>
          <a:xfrm>
            <a:off x="457200" y="3163824"/>
            <a:ext cx="11274552" cy="0"/>
          </a:xfrm>
          <a:prstGeom prst="line">
            <a:avLst/>
          </a:prstGeom>
          <a:noFill/>
          <a:ln w="6350">
            <a:solidFill>
              <a:srgbClr val="E2E8F0"/>
            </a:solidFill>
            <a:prstDash val="solid"/>
          </a:ln>
        </p:spPr>
      </p:sp>
      <p:sp>
        <p:nvSpPr>
          <p:cNvPr id="12" name="Text 10"/>
          <p:cNvSpPr/>
          <p:nvPr/>
        </p:nvSpPr>
        <p:spPr>
          <a:xfrm>
            <a:off x="457200" y="3300984"/>
            <a:ext cx="457200" cy="457200"/>
          </a:xfrm>
          <a:prstGeom prst="rect">
            <a:avLst/>
          </a:prstGeom>
          <a:noFill/>
          <a:ln/>
        </p:spPr>
        <p:txBody>
          <a:bodyPr wrap="square" lIns="0" tIns="0" rIns="0" bIns="0" rtlCol="0" anchor="ctr"/>
          <a:lstStyle/>
          <a:p>
            <a:pPr indent="0" marL="0">
              <a:buNone/>
            </a:pPr>
            <a:r>
              <a:rPr lang="en-US" sz="2200" b="1" dirty="0">
                <a:solidFill>
                  <a:srgbClr val="B45309"/>
                </a:solidFill>
                <a:latin typeface="Georgia" pitchFamily="34" charset="0"/>
                <a:ea typeface="Georgia" pitchFamily="34" charset="-122"/>
                <a:cs typeface="Georgia" pitchFamily="34" charset="-120"/>
              </a:rPr>
              <a:t>2</a:t>
            </a:r>
            <a:endParaRPr lang="en-US" sz="2200" dirty="0"/>
          </a:p>
        </p:txBody>
      </p:sp>
      <p:sp>
        <p:nvSpPr>
          <p:cNvPr id="13" name="Text 11"/>
          <p:cNvSpPr/>
          <p:nvPr/>
        </p:nvSpPr>
        <p:spPr>
          <a:xfrm>
            <a:off x="1005840" y="3255264"/>
            <a:ext cx="4114800" cy="36576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Concurrent refund</a:t>
            </a:r>
            <a:endParaRPr lang="en-US" sz="1400" dirty="0"/>
          </a:p>
        </p:txBody>
      </p:sp>
      <p:sp>
        <p:nvSpPr>
          <p:cNvPr id="14" name="Text 12"/>
          <p:cNvSpPr/>
          <p:nvPr/>
        </p:nvSpPr>
        <p:spPr>
          <a:xfrm>
            <a:off x="1005840" y="3621024"/>
            <a:ext cx="4114800" cy="274320"/>
          </a:xfrm>
          <a:prstGeom prst="rect">
            <a:avLst/>
          </a:prstGeom>
          <a:noFill/>
          <a:ln/>
        </p:spPr>
        <p:txBody>
          <a:bodyPr wrap="square" lIns="0" tIns="0" rIns="0" bIns="0" rtlCol="0" anchor="ctr"/>
          <a:lstStyle/>
          <a:p>
            <a:pPr indent="0" marL="0">
              <a:buNone/>
            </a:pPr>
            <a:r>
              <a:rPr lang="en-US" sz="900" b="1" spc="200" kern="0" dirty="0">
                <a:solidFill>
                  <a:srgbClr val="B45309"/>
                </a:solidFill>
                <a:latin typeface="Calibri" pitchFamily="34" charset="0"/>
                <a:ea typeface="Calibri" pitchFamily="34" charset="-122"/>
                <a:cs typeface="Calibri" pitchFamily="34" charset="-120"/>
              </a:rPr>
              <a:t>User load · Recovery</a:t>
            </a:r>
            <a:endParaRPr lang="en-US" sz="900" dirty="0"/>
          </a:p>
        </p:txBody>
      </p:sp>
      <p:sp>
        <p:nvSpPr>
          <p:cNvPr id="15" name="Text 13"/>
          <p:cNvSpPr/>
          <p:nvPr/>
        </p:nvSpPr>
        <p:spPr>
          <a:xfrm>
            <a:off x="5303520" y="3255264"/>
            <a:ext cx="6400800" cy="64008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Customer raises a chargeback through their card network at the same time. Agent issues a refund. Customer is now refunded twice.</a:t>
            </a:r>
            <a:endParaRPr lang="en-US" sz="1200" dirty="0"/>
          </a:p>
        </p:txBody>
      </p:sp>
      <p:sp>
        <p:nvSpPr>
          <p:cNvPr id="16" name="Shape 14"/>
          <p:cNvSpPr/>
          <p:nvPr/>
        </p:nvSpPr>
        <p:spPr>
          <a:xfrm>
            <a:off x="457200" y="3858768"/>
            <a:ext cx="11274552" cy="0"/>
          </a:xfrm>
          <a:prstGeom prst="line">
            <a:avLst/>
          </a:prstGeom>
          <a:noFill/>
          <a:ln w="6350">
            <a:solidFill>
              <a:srgbClr val="E2E8F0"/>
            </a:solidFill>
            <a:prstDash val="solid"/>
          </a:ln>
        </p:spPr>
      </p:sp>
      <p:sp>
        <p:nvSpPr>
          <p:cNvPr id="17" name="Text 15"/>
          <p:cNvSpPr/>
          <p:nvPr/>
        </p:nvSpPr>
        <p:spPr>
          <a:xfrm>
            <a:off x="457200" y="3995928"/>
            <a:ext cx="457200" cy="457200"/>
          </a:xfrm>
          <a:prstGeom prst="rect">
            <a:avLst/>
          </a:prstGeom>
          <a:noFill/>
          <a:ln/>
        </p:spPr>
        <p:txBody>
          <a:bodyPr wrap="square" lIns="0" tIns="0" rIns="0" bIns="0" rtlCol="0" anchor="ctr"/>
          <a:lstStyle/>
          <a:p>
            <a:pPr indent="0" marL="0">
              <a:buNone/>
            </a:pPr>
            <a:r>
              <a:rPr lang="en-US" sz="2200" b="1" dirty="0">
                <a:solidFill>
                  <a:srgbClr val="B45309"/>
                </a:solidFill>
                <a:latin typeface="Georgia" pitchFamily="34" charset="0"/>
                <a:ea typeface="Georgia" pitchFamily="34" charset="-122"/>
                <a:cs typeface="Georgia" pitchFamily="34" charset="-120"/>
              </a:rPr>
              <a:t>3</a:t>
            </a:r>
            <a:endParaRPr lang="en-US" sz="2200" dirty="0"/>
          </a:p>
        </p:txBody>
      </p:sp>
      <p:sp>
        <p:nvSpPr>
          <p:cNvPr id="18" name="Text 16"/>
          <p:cNvSpPr/>
          <p:nvPr/>
        </p:nvSpPr>
        <p:spPr>
          <a:xfrm>
            <a:off x="1005840" y="3950208"/>
            <a:ext cx="4114800" cy="36576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Silent payments timeout</a:t>
            </a:r>
            <a:endParaRPr lang="en-US" sz="1400" dirty="0"/>
          </a:p>
        </p:txBody>
      </p:sp>
      <p:sp>
        <p:nvSpPr>
          <p:cNvPr id="19" name="Text 17"/>
          <p:cNvSpPr/>
          <p:nvPr/>
        </p:nvSpPr>
        <p:spPr>
          <a:xfrm>
            <a:off x="1005840" y="4315968"/>
            <a:ext cx="4114800" cy="274320"/>
          </a:xfrm>
          <a:prstGeom prst="rect">
            <a:avLst/>
          </a:prstGeom>
          <a:noFill/>
          <a:ln/>
        </p:spPr>
        <p:txBody>
          <a:bodyPr wrap="square" lIns="0" tIns="0" rIns="0" bIns="0" rtlCol="0" anchor="ctr"/>
          <a:lstStyle/>
          <a:p>
            <a:pPr indent="0" marL="0">
              <a:buNone/>
            </a:pPr>
            <a:r>
              <a:rPr lang="en-US" sz="900" b="1" spc="200" kern="0" dirty="0">
                <a:solidFill>
                  <a:srgbClr val="B45309"/>
                </a:solidFill>
                <a:latin typeface="Calibri" pitchFamily="34" charset="0"/>
                <a:ea typeface="Calibri" pitchFamily="34" charset="-122"/>
                <a:cs typeface="Calibri" pitchFamily="34" charset="-120"/>
              </a:rPr>
              <a:t>Recovery · Observability</a:t>
            </a:r>
            <a:endParaRPr lang="en-US" sz="900" dirty="0"/>
          </a:p>
        </p:txBody>
      </p:sp>
      <p:sp>
        <p:nvSpPr>
          <p:cNvPr id="20" name="Text 18"/>
          <p:cNvSpPr/>
          <p:nvPr/>
        </p:nvSpPr>
        <p:spPr>
          <a:xfrm>
            <a:off x="5303520" y="3950208"/>
            <a:ext cx="6400800" cy="64008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Refund API returns a 504 after partial processing. Agent retries. Some refunds are issued twice. Some are not issued at all.</a:t>
            </a:r>
            <a:endParaRPr lang="en-US" sz="1200" dirty="0"/>
          </a:p>
        </p:txBody>
      </p:sp>
      <p:sp>
        <p:nvSpPr>
          <p:cNvPr id="21" name="Shape 19"/>
          <p:cNvSpPr/>
          <p:nvPr/>
        </p:nvSpPr>
        <p:spPr>
          <a:xfrm>
            <a:off x="457200" y="4553712"/>
            <a:ext cx="11274552" cy="0"/>
          </a:xfrm>
          <a:prstGeom prst="line">
            <a:avLst/>
          </a:prstGeom>
          <a:noFill/>
          <a:ln w="6350">
            <a:solidFill>
              <a:srgbClr val="E2E8F0"/>
            </a:solidFill>
            <a:prstDash val="solid"/>
          </a:ln>
        </p:spPr>
      </p:sp>
      <p:sp>
        <p:nvSpPr>
          <p:cNvPr id="22" name="Text 20"/>
          <p:cNvSpPr/>
          <p:nvPr/>
        </p:nvSpPr>
        <p:spPr>
          <a:xfrm>
            <a:off x="457200" y="4690872"/>
            <a:ext cx="457200" cy="457200"/>
          </a:xfrm>
          <a:prstGeom prst="rect">
            <a:avLst/>
          </a:prstGeom>
          <a:noFill/>
          <a:ln/>
        </p:spPr>
        <p:txBody>
          <a:bodyPr wrap="square" lIns="0" tIns="0" rIns="0" bIns="0" rtlCol="0" anchor="ctr"/>
          <a:lstStyle/>
          <a:p>
            <a:pPr indent="0" marL="0">
              <a:buNone/>
            </a:pPr>
            <a:r>
              <a:rPr lang="en-US" sz="2200" b="1" dirty="0">
                <a:solidFill>
                  <a:srgbClr val="B45309"/>
                </a:solidFill>
                <a:latin typeface="Georgia" pitchFamily="34" charset="0"/>
                <a:ea typeface="Georgia" pitchFamily="34" charset="-122"/>
                <a:cs typeface="Georgia" pitchFamily="34" charset="-120"/>
              </a:rPr>
              <a:t>4</a:t>
            </a:r>
            <a:endParaRPr lang="en-US" sz="2200" dirty="0"/>
          </a:p>
        </p:txBody>
      </p:sp>
      <p:sp>
        <p:nvSpPr>
          <p:cNvPr id="23" name="Text 21"/>
          <p:cNvSpPr/>
          <p:nvPr/>
        </p:nvSpPr>
        <p:spPr>
          <a:xfrm>
            <a:off x="1005840" y="4645152"/>
            <a:ext cx="4114800" cy="36576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Confident report</a:t>
            </a:r>
            <a:endParaRPr lang="en-US" sz="1400" dirty="0"/>
          </a:p>
        </p:txBody>
      </p:sp>
      <p:sp>
        <p:nvSpPr>
          <p:cNvPr id="24" name="Text 22"/>
          <p:cNvSpPr/>
          <p:nvPr/>
        </p:nvSpPr>
        <p:spPr>
          <a:xfrm>
            <a:off x="1005840" y="5010912"/>
            <a:ext cx="4114800" cy="274320"/>
          </a:xfrm>
          <a:prstGeom prst="rect">
            <a:avLst/>
          </a:prstGeom>
          <a:noFill/>
          <a:ln/>
        </p:spPr>
        <p:txBody>
          <a:bodyPr wrap="square" lIns="0" tIns="0" rIns="0" bIns="0" rtlCol="0" anchor="ctr"/>
          <a:lstStyle/>
          <a:p>
            <a:pPr indent="0" marL="0">
              <a:buNone/>
            </a:pPr>
            <a:r>
              <a:rPr lang="en-US" sz="900" b="1" spc="200" kern="0" dirty="0">
                <a:solidFill>
                  <a:srgbClr val="B45309"/>
                </a:solidFill>
                <a:latin typeface="Calibri" pitchFamily="34" charset="0"/>
                <a:ea typeface="Calibri" pitchFamily="34" charset="-122"/>
                <a:cs typeface="Calibri" pitchFamily="34" charset="-120"/>
              </a:rPr>
              <a:t>Observability</a:t>
            </a:r>
            <a:endParaRPr lang="en-US" sz="900" dirty="0"/>
          </a:p>
        </p:txBody>
      </p:sp>
      <p:sp>
        <p:nvSpPr>
          <p:cNvPr id="25" name="Text 23"/>
          <p:cNvSpPr/>
          <p:nvPr/>
        </p:nvSpPr>
        <p:spPr>
          <a:xfrm>
            <a:off x="5303520" y="4645152"/>
            <a:ext cx="6400800" cy="64008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Agent tells customer "refund processed" before checking the actual ledger entry. Customer believes it. Finance does not.</a:t>
            </a:r>
            <a:endParaRPr lang="en-US" sz="1200" dirty="0"/>
          </a:p>
        </p:txBody>
      </p:sp>
      <p:sp>
        <p:nvSpPr>
          <p:cNvPr id="26" name="Shape 24"/>
          <p:cNvSpPr/>
          <p:nvPr/>
        </p:nvSpPr>
        <p:spPr>
          <a:xfrm>
            <a:off x="457200" y="5248656"/>
            <a:ext cx="11274552" cy="0"/>
          </a:xfrm>
          <a:prstGeom prst="line">
            <a:avLst/>
          </a:prstGeom>
          <a:noFill/>
          <a:ln w="6350">
            <a:solidFill>
              <a:srgbClr val="E2E8F0"/>
            </a:solidFill>
            <a:prstDash val="solid"/>
          </a:ln>
        </p:spPr>
      </p:sp>
      <p:sp>
        <p:nvSpPr>
          <p:cNvPr id="27" name="Text 25"/>
          <p:cNvSpPr/>
          <p:nvPr/>
        </p:nvSpPr>
        <p:spPr>
          <a:xfrm>
            <a:off x="457200" y="5385816"/>
            <a:ext cx="457200" cy="457200"/>
          </a:xfrm>
          <a:prstGeom prst="rect">
            <a:avLst/>
          </a:prstGeom>
          <a:noFill/>
          <a:ln/>
        </p:spPr>
        <p:txBody>
          <a:bodyPr wrap="square" lIns="0" tIns="0" rIns="0" bIns="0" rtlCol="0" anchor="ctr"/>
          <a:lstStyle/>
          <a:p>
            <a:pPr indent="0" marL="0">
              <a:buNone/>
            </a:pPr>
            <a:r>
              <a:rPr lang="en-US" sz="2200" b="1" dirty="0">
                <a:solidFill>
                  <a:srgbClr val="B45309"/>
                </a:solidFill>
                <a:latin typeface="Georgia" pitchFamily="34" charset="0"/>
                <a:ea typeface="Georgia" pitchFamily="34" charset="-122"/>
                <a:cs typeface="Georgia" pitchFamily="34" charset="-120"/>
              </a:rPr>
              <a:t>5</a:t>
            </a:r>
            <a:endParaRPr lang="en-US" sz="2200" dirty="0"/>
          </a:p>
        </p:txBody>
      </p:sp>
      <p:sp>
        <p:nvSpPr>
          <p:cNvPr id="28" name="Text 26"/>
          <p:cNvSpPr/>
          <p:nvPr/>
        </p:nvSpPr>
        <p:spPr>
          <a:xfrm>
            <a:off x="1005840" y="5340096"/>
            <a:ext cx="4114800" cy="36576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No audit trail</a:t>
            </a:r>
            <a:endParaRPr lang="en-US" sz="1400" dirty="0"/>
          </a:p>
        </p:txBody>
      </p:sp>
      <p:sp>
        <p:nvSpPr>
          <p:cNvPr id="29" name="Text 27"/>
          <p:cNvSpPr/>
          <p:nvPr/>
        </p:nvSpPr>
        <p:spPr>
          <a:xfrm>
            <a:off x="1005840" y="5705856"/>
            <a:ext cx="4114800" cy="274320"/>
          </a:xfrm>
          <a:prstGeom prst="rect">
            <a:avLst/>
          </a:prstGeom>
          <a:noFill/>
          <a:ln/>
        </p:spPr>
        <p:txBody>
          <a:bodyPr wrap="square" lIns="0" tIns="0" rIns="0" bIns="0" rtlCol="0" anchor="ctr"/>
          <a:lstStyle/>
          <a:p>
            <a:pPr indent="0" marL="0">
              <a:buNone/>
            </a:pPr>
            <a:r>
              <a:rPr lang="en-US" sz="900" b="1" spc="200" kern="0" dirty="0">
                <a:solidFill>
                  <a:srgbClr val="B45309"/>
                </a:solidFill>
                <a:latin typeface="Calibri" pitchFamily="34" charset="0"/>
                <a:ea typeface="Calibri" pitchFamily="34" charset="-122"/>
                <a:cs typeface="Calibri" pitchFamily="34" charset="-120"/>
              </a:rPr>
              <a:t>Governance</a:t>
            </a:r>
            <a:endParaRPr lang="en-US" sz="900" dirty="0"/>
          </a:p>
        </p:txBody>
      </p:sp>
      <p:sp>
        <p:nvSpPr>
          <p:cNvPr id="30" name="Text 28"/>
          <p:cNvSpPr/>
          <p:nvPr/>
        </p:nvSpPr>
        <p:spPr>
          <a:xfrm>
            <a:off x="5303520" y="5340096"/>
            <a:ext cx="6400800" cy="64008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Investigation requires reconstructing the agent's decision path from chat logs alone. There is no trace, no decision log, no reproducibility.</a:t>
            </a:r>
            <a:endParaRPr lang="en-US" sz="1200" dirty="0"/>
          </a:p>
        </p:txBody>
      </p:sp>
      <p:sp>
        <p:nvSpPr>
          <p:cNvPr id="31" name="Shape 29"/>
          <p:cNvSpPr/>
          <p:nvPr/>
        </p:nvSpPr>
        <p:spPr>
          <a:xfrm>
            <a:off x="457200" y="5943600"/>
            <a:ext cx="11274552" cy="0"/>
          </a:xfrm>
          <a:prstGeom prst="line">
            <a:avLst/>
          </a:prstGeom>
          <a:noFill/>
          <a:ln w="6350">
            <a:solidFill>
              <a:srgbClr val="E2E8F0"/>
            </a:solidFill>
            <a:prstDash val="solid"/>
          </a:ln>
        </p:spPr>
      </p:sp>
      <p:sp>
        <p:nvSpPr>
          <p:cNvPr id="32" name="Text 30"/>
          <p:cNvSpPr/>
          <p:nvPr/>
        </p:nvSpPr>
        <p:spPr>
          <a:xfrm>
            <a:off x="457200" y="6035040"/>
            <a:ext cx="11274552" cy="274320"/>
          </a:xfrm>
          <a:prstGeom prst="rect">
            <a:avLst/>
          </a:prstGeom>
          <a:noFill/>
          <a:ln/>
        </p:spPr>
        <p:txBody>
          <a:bodyPr wrap="square" lIns="0" tIns="0" rIns="0" bIns="0" rtlCol="0" anchor="ctr"/>
          <a:lstStyle/>
          <a:p>
            <a:pPr indent="0" marL="0">
              <a:buNone/>
            </a:pPr>
            <a:r>
              <a:rPr lang="en-US" sz="1000" i="1" dirty="0">
                <a:solidFill>
                  <a:srgbClr val="B45309"/>
                </a:solidFill>
                <a:latin typeface="Calibri" pitchFamily="34" charset="0"/>
                <a:ea typeface="Calibri" pitchFamily="34" charset="-122"/>
                <a:cs typeface="Calibri" pitchFamily="34" charset="-120"/>
              </a:rPr>
              <a:t>None of these are model bugs. All of them are architecture, governance, and observability gaps.</a:t>
            </a:r>
            <a:endParaRPr lang="en-US" sz="1000" dirty="0"/>
          </a:p>
        </p:txBody>
      </p:sp>
      <p:sp>
        <p:nvSpPr>
          <p:cNvPr id="33" name="Shape 31"/>
          <p:cNvSpPr/>
          <p:nvPr/>
        </p:nvSpPr>
        <p:spPr>
          <a:xfrm>
            <a:off x="457200" y="6446520"/>
            <a:ext cx="11274552" cy="0"/>
          </a:xfrm>
          <a:prstGeom prst="line">
            <a:avLst/>
          </a:prstGeom>
          <a:noFill/>
          <a:ln w="6350">
            <a:solidFill>
              <a:srgbClr val="E2E8F0"/>
            </a:solidFill>
            <a:prstDash val="solid"/>
          </a:ln>
        </p:spPr>
      </p:sp>
      <p:sp>
        <p:nvSpPr>
          <p:cNvPr id="34" name="Text 32"/>
          <p:cNvSpPr/>
          <p:nvPr/>
        </p:nvSpPr>
        <p:spPr>
          <a:xfrm>
            <a:off x="457200" y="6537960"/>
            <a:ext cx="914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22</a:t>
            </a:r>
            <a:endParaRPr lang="en-US" sz="900" dirty="0"/>
          </a:p>
        </p:txBody>
      </p:sp>
      <p:sp>
        <p:nvSpPr>
          <p:cNvPr id="35" name="Text 33"/>
          <p:cNvSpPr/>
          <p:nvPr/>
        </p:nvSpPr>
        <p:spPr>
          <a:xfrm>
            <a:off x="5943600" y="6537960"/>
            <a:ext cx="5788152" cy="228600"/>
          </a:xfrm>
          <a:prstGeom prst="rect">
            <a:avLst/>
          </a:prstGeom>
          <a:noFill/>
          <a:ln/>
        </p:spPr>
        <p:txBody>
          <a:bodyPr wrap="square" lIns="0" tIns="0" rIns="0" bIns="0" rtlCol="0" anchor="ctr"/>
          <a:lstStyle/>
          <a:p>
            <a:pPr algn="r" indent="0" marL="0">
              <a:buNone/>
            </a:pPr>
            <a:r>
              <a:rPr lang="en-US" sz="900" i="1" dirty="0">
                <a:solidFill>
                  <a:srgbClr val="94A3B8"/>
                </a:solidFill>
                <a:latin typeface="Calibri" pitchFamily="34" charset="0"/>
                <a:ea typeface="Calibri" pitchFamily="34" charset="-122"/>
                <a:cs typeface="Calibri" pitchFamily="34" charset="-120"/>
              </a:rPr>
              <a:t>Agentic Foundations · Half 1</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4552" cy="274320"/>
          </a:xfrm>
          <a:prstGeom prst="rect">
            <a:avLst/>
          </a:prstGeom>
          <a:noFill/>
          <a:ln/>
        </p:spPr>
        <p:txBody>
          <a:bodyPr wrap="square" lIns="0" tIns="0" rIns="0" bIns="0" rtlCol="0" anchor="ctr"/>
          <a:lstStyle/>
          <a:p>
            <a:pPr indent="0" marL="0">
              <a:buNone/>
            </a:pPr>
            <a:r>
              <a:rPr lang="en-US" sz="1000" b="1" spc="400" kern="0" dirty="0">
                <a:solidFill>
                  <a:srgbClr val="B45309"/>
                </a:solidFill>
                <a:latin typeface="Calibri" pitchFamily="34" charset="0"/>
                <a:ea typeface="Calibri" pitchFamily="34" charset="-122"/>
                <a:cs typeface="Calibri" pitchFamily="34" charset="-120"/>
              </a:rPr>
              <a:t>05 · ANATOMY OF AN AGENT</a:t>
            </a:r>
            <a:endParaRPr lang="en-US" sz="1000" dirty="0"/>
          </a:p>
        </p:txBody>
      </p:sp>
      <p:sp>
        <p:nvSpPr>
          <p:cNvPr id="3" name="Text 1"/>
          <p:cNvSpPr/>
          <p:nvPr/>
        </p:nvSpPr>
        <p:spPr>
          <a:xfrm>
            <a:off x="457200" y="777240"/>
            <a:ext cx="11274552"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Six components, no more, no less</a:t>
            </a:r>
            <a:endParaRPr lang="en-US" sz="2800" dirty="0"/>
          </a:p>
        </p:txBody>
      </p:sp>
      <p:sp>
        <p:nvSpPr>
          <p:cNvPr id="4" name="Text 2"/>
          <p:cNvSpPr/>
          <p:nvPr/>
        </p:nvSpPr>
        <p:spPr>
          <a:xfrm>
            <a:off x="457200" y="1554480"/>
            <a:ext cx="11274552"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Every agent in this program will have these six. Memorise them; we redraw this for any case in the next nine days.</a:t>
            </a:r>
            <a:endParaRPr lang="en-US" sz="1400" dirty="0"/>
          </a:p>
        </p:txBody>
      </p:sp>
      <p:sp>
        <p:nvSpPr>
          <p:cNvPr id="5" name="Shape 3"/>
          <p:cNvSpPr/>
          <p:nvPr/>
        </p:nvSpPr>
        <p:spPr>
          <a:xfrm>
            <a:off x="457200" y="2057400"/>
            <a:ext cx="11274552" cy="0"/>
          </a:xfrm>
          <a:prstGeom prst="line">
            <a:avLst/>
          </a:prstGeom>
          <a:noFill/>
          <a:ln w="6350">
            <a:solidFill>
              <a:srgbClr val="E2E8F0"/>
            </a:solidFill>
            <a:prstDash val="solid"/>
          </a:ln>
        </p:spPr>
      </p:sp>
      <p:sp>
        <p:nvSpPr>
          <p:cNvPr id="6" name="Shape 4"/>
          <p:cNvSpPr/>
          <p:nvPr/>
        </p:nvSpPr>
        <p:spPr>
          <a:xfrm>
            <a:off x="457200" y="2468880"/>
            <a:ext cx="3566160" cy="0"/>
          </a:xfrm>
          <a:prstGeom prst="line">
            <a:avLst/>
          </a:prstGeom>
          <a:noFill/>
          <a:ln w="19050">
            <a:solidFill>
              <a:srgbClr val="B45309"/>
            </a:solidFill>
            <a:prstDash val="solid"/>
          </a:ln>
        </p:spPr>
      </p:sp>
      <p:sp>
        <p:nvSpPr>
          <p:cNvPr id="7" name="Text 5"/>
          <p:cNvSpPr/>
          <p:nvPr/>
        </p:nvSpPr>
        <p:spPr>
          <a:xfrm>
            <a:off x="457200" y="2578608"/>
            <a:ext cx="640080" cy="320040"/>
          </a:xfrm>
          <a:prstGeom prst="rect">
            <a:avLst/>
          </a:prstGeom>
          <a:noFill/>
          <a:ln/>
        </p:spPr>
        <p:txBody>
          <a:bodyPr wrap="square" lIns="0" tIns="0" rIns="0" bIns="0" rtlCol="0" anchor="ctr"/>
          <a:lstStyle/>
          <a:p>
            <a:pPr indent="0" marL="0">
              <a:buNone/>
            </a:pPr>
            <a:r>
              <a:rPr lang="en-US" sz="1300" b="1" dirty="0">
                <a:solidFill>
                  <a:srgbClr val="B45309"/>
                </a:solidFill>
                <a:latin typeface="Georgia" pitchFamily="34" charset="0"/>
                <a:ea typeface="Georgia" pitchFamily="34" charset="-122"/>
                <a:cs typeface="Georgia" pitchFamily="34" charset="-120"/>
              </a:rPr>
              <a:t>01</a:t>
            </a:r>
            <a:endParaRPr lang="en-US" sz="1300" dirty="0"/>
          </a:p>
        </p:txBody>
      </p:sp>
      <p:sp>
        <p:nvSpPr>
          <p:cNvPr id="8" name="Text 6"/>
          <p:cNvSpPr/>
          <p:nvPr/>
        </p:nvSpPr>
        <p:spPr>
          <a:xfrm>
            <a:off x="1097280" y="2542032"/>
            <a:ext cx="292608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Planner</a:t>
            </a:r>
            <a:endParaRPr lang="en-US" sz="1600" dirty="0"/>
          </a:p>
        </p:txBody>
      </p:sp>
      <p:sp>
        <p:nvSpPr>
          <p:cNvPr id="9" name="Text 7"/>
          <p:cNvSpPr/>
          <p:nvPr/>
        </p:nvSpPr>
        <p:spPr>
          <a:xfrm>
            <a:off x="457200" y="2971800"/>
            <a:ext cx="3566160" cy="109728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The LLM with a system prompt. Decides the next step. Replace it and you replace the brain.</a:t>
            </a:r>
            <a:endParaRPr lang="en-US" sz="1200" dirty="0"/>
          </a:p>
        </p:txBody>
      </p:sp>
      <p:sp>
        <p:nvSpPr>
          <p:cNvPr id="10" name="Shape 8"/>
          <p:cNvSpPr/>
          <p:nvPr/>
        </p:nvSpPr>
        <p:spPr>
          <a:xfrm>
            <a:off x="4251960" y="2468880"/>
            <a:ext cx="3566160" cy="0"/>
          </a:xfrm>
          <a:prstGeom prst="line">
            <a:avLst/>
          </a:prstGeom>
          <a:noFill/>
          <a:ln w="19050">
            <a:solidFill>
              <a:srgbClr val="B45309"/>
            </a:solidFill>
            <a:prstDash val="solid"/>
          </a:ln>
        </p:spPr>
      </p:sp>
      <p:sp>
        <p:nvSpPr>
          <p:cNvPr id="11" name="Text 9"/>
          <p:cNvSpPr/>
          <p:nvPr/>
        </p:nvSpPr>
        <p:spPr>
          <a:xfrm>
            <a:off x="4251960" y="2578608"/>
            <a:ext cx="640080" cy="320040"/>
          </a:xfrm>
          <a:prstGeom prst="rect">
            <a:avLst/>
          </a:prstGeom>
          <a:noFill/>
          <a:ln/>
        </p:spPr>
        <p:txBody>
          <a:bodyPr wrap="square" lIns="0" tIns="0" rIns="0" bIns="0" rtlCol="0" anchor="ctr"/>
          <a:lstStyle/>
          <a:p>
            <a:pPr indent="0" marL="0">
              <a:buNone/>
            </a:pPr>
            <a:r>
              <a:rPr lang="en-US" sz="1300" b="1" dirty="0">
                <a:solidFill>
                  <a:srgbClr val="B45309"/>
                </a:solidFill>
                <a:latin typeface="Georgia" pitchFamily="34" charset="0"/>
                <a:ea typeface="Georgia" pitchFamily="34" charset="-122"/>
                <a:cs typeface="Georgia" pitchFamily="34" charset="-120"/>
              </a:rPr>
              <a:t>02</a:t>
            </a:r>
            <a:endParaRPr lang="en-US" sz="1300" dirty="0"/>
          </a:p>
        </p:txBody>
      </p:sp>
      <p:sp>
        <p:nvSpPr>
          <p:cNvPr id="12" name="Text 10"/>
          <p:cNvSpPr/>
          <p:nvPr/>
        </p:nvSpPr>
        <p:spPr>
          <a:xfrm>
            <a:off x="4892040" y="2542032"/>
            <a:ext cx="292608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Tool layer</a:t>
            </a:r>
            <a:endParaRPr lang="en-US" sz="1600" dirty="0"/>
          </a:p>
        </p:txBody>
      </p:sp>
      <p:sp>
        <p:nvSpPr>
          <p:cNvPr id="13" name="Text 11"/>
          <p:cNvSpPr/>
          <p:nvPr/>
        </p:nvSpPr>
        <p:spPr>
          <a:xfrm>
            <a:off x="4251960" y="2971800"/>
            <a:ext cx="3566160" cy="109728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Schema-bound functions the agent can call. The hands. If a tool is not in the registry with a contract, it does not exist.</a:t>
            </a:r>
            <a:endParaRPr lang="en-US" sz="1200" dirty="0"/>
          </a:p>
        </p:txBody>
      </p:sp>
      <p:sp>
        <p:nvSpPr>
          <p:cNvPr id="14" name="Shape 12"/>
          <p:cNvSpPr/>
          <p:nvPr/>
        </p:nvSpPr>
        <p:spPr>
          <a:xfrm>
            <a:off x="8046720" y="2468880"/>
            <a:ext cx="3566160" cy="0"/>
          </a:xfrm>
          <a:prstGeom prst="line">
            <a:avLst/>
          </a:prstGeom>
          <a:noFill/>
          <a:ln w="19050">
            <a:solidFill>
              <a:srgbClr val="B45309"/>
            </a:solidFill>
            <a:prstDash val="solid"/>
          </a:ln>
        </p:spPr>
      </p:sp>
      <p:sp>
        <p:nvSpPr>
          <p:cNvPr id="15" name="Text 13"/>
          <p:cNvSpPr/>
          <p:nvPr/>
        </p:nvSpPr>
        <p:spPr>
          <a:xfrm>
            <a:off x="8046720" y="2578608"/>
            <a:ext cx="640080" cy="320040"/>
          </a:xfrm>
          <a:prstGeom prst="rect">
            <a:avLst/>
          </a:prstGeom>
          <a:noFill/>
          <a:ln/>
        </p:spPr>
        <p:txBody>
          <a:bodyPr wrap="square" lIns="0" tIns="0" rIns="0" bIns="0" rtlCol="0" anchor="ctr"/>
          <a:lstStyle/>
          <a:p>
            <a:pPr indent="0" marL="0">
              <a:buNone/>
            </a:pPr>
            <a:r>
              <a:rPr lang="en-US" sz="1300" b="1" dirty="0">
                <a:solidFill>
                  <a:srgbClr val="B45309"/>
                </a:solidFill>
                <a:latin typeface="Georgia" pitchFamily="34" charset="0"/>
                <a:ea typeface="Georgia" pitchFamily="34" charset="-122"/>
                <a:cs typeface="Georgia" pitchFamily="34" charset="-120"/>
              </a:rPr>
              <a:t>03</a:t>
            </a:r>
            <a:endParaRPr lang="en-US" sz="1300" dirty="0"/>
          </a:p>
        </p:txBody>
      </p:sp>
      <p:sp>
        <p:nvSpPr>
          <p:cNvPr id="16" name="Text 14"/>
          <p:cNvSpPr/>
          <p:nvPr/>
        </p:nvSpPr>
        <p:spPr>
          <a:xfrm>
            <a:off x="8686800" y="2542032"/>
            <a:ext cx="292608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Memory</a:t>
            </a:r>
            <a:endParaRPr lang="en-US" sz="1600" dirty="0"/>
          </a:p>
        </p:txBody>
      </p:sp>
      <p:sp>
        <p:nvSpPr>
          <p:cNvPr id="17" name="Text 15"/>
          <p:cNvSpPr/>
          <p:nvPr/>
        </p:nvSpPr>
        <p:spPr>
          <a:xfrm>
            <a:off x="8046720" y="2971800"/>
            <a:ext cx="3566160" cy="109728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Short-term, long-term, episodic, behavioural, operational. What the agent carries across turns and sessions.</a:t>
            </a:r>
            <a:endParaRPr lang="en-US" sz="1200" dirty="0"/>
          </a:p>
        </p:txBody>
      </p:sp>
      <p:sp>
        <p:nvSpPr>
          <p:cNvPr id="18" name="Shape 16"/>
          <p:cNvSpPr/>
          <p:nvPr/>
        </p:nvSpPr>
        <p:spPr>
          <a:xfrm>
            <a:off x="457200" y="4160520"/>
            <a:ext cx="3566160" cy="0"/>
          </a:xfrm>
          <a:prstGeom prst="line">
            <a:avLst/>
          </a:prstGeom>
          <a:noFill/>
          <a:ln w="19050">
            <a:solidFill>
              <a:srgbClr val="B45309"/>
            </a:solidFill>
            <a:prstDash val="solid"/>
          </a:ln>
        </p:spPr>
      </p:sp>
      <p:sp>
        <p:nvSpPr>
          <p:cNvPr id="19" name="Text 17"/>
          <p:cNvSpPr/>
          <p:nvPr/>
        </p:nvSpPr>
        <p:spPr>
          <a:xfrm>
            <a:off x="457200" y="4270248"/>
            <a:ext cx="640080" cy="320040"/>
          </a:xfrm>
          <a:prstGeom prst="rect">
            <a:avLst/>
          </a:prstGeom>
          <a:noFill/>
          <a:ln/>
        </p:spPr>
        <p:txBody>
          <a:bodyPr wrap="square" lIns="0" tIns="0" rIns="0" bIns="0" rtlCol="0" anchor="ctr"/>
          <a:lstStyle/>
          <a:p>
            <a:pPr indent="0" marL="0">
              <a:buNone/>
            </a:pPr>
            <a:r>
              <a:rPr lang="en-US" sz="1300" b="1" dirty="0">
                <a:solidFill>
                  <a:srgbClr val="B45309"/>
                </a:solidFill>
                <a:latin typeface="Georgia" pitchFamily="34" charset="0"/>
                <a:ea typeface="Georgia" pitchFamily="34" charset="-122"/>
                <a:cs typeface="Georgia" pitchFamily="34" charset="-120"/>
              </a:rPr>
              <a:t>04</a:t>
            </a:r>
            <a:endParaRPr lang="en-US" sz="1300" dirty="0"/>
          </a:p>
        </p:txBody>
      </p:sp>
      <p:sp>
        <p:nvSpPr>
          <p:cNvPr id="20" name="Text 18"/>
          <p:cNvSpPr/>
          <p:nvPr/>
        </p:nvSpPr>
        <p:spPr>
          <a:xfrm>
            <a:off x="1097280" y="4233672"/>
            <a:ext cx="292608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Retriever</a:t>
            </a:r>
            <a:endParaRPr lang="en-US" sz="1600" dirty="0"/>
          </a:p>
        </p:txBody>
      </p:sp>
      <p:sp>
        <p:nvSpPr>
          <p:cNvPr id="21" name="Text 19"/>
          <p:cNvSpPr/>
          <p:nvPr/>
        </p:nvSpPr>
        <p:spPr>
          <a:xfrm>
            <a:off x="457200" y="4663440"/>
            <a:ext cx="3566160" cy="109728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Vector store and knowledge base. Pulls grounding facts. Optional — not every agent needs one.</a:t>
            </a:r>
            <a:endParaRPr lang="en-US" sz="1200" dirty="0"/>
          </a:p>
        </p:txBody>
      </p:sp>
      <p:sp>
        <p:nvSpPr>
          <p:cNvPr id="22" name="Shape 20"/>
          <p:cNvSpPr/>
          <p:nvPr/>
        </p:nvSpPr>
        <p:spPr>
          <a:xfrm>
            <a:off x="4251960" y="4160520"/>
            <a:ext cx="3566160" cy="0"/>
          </a:xfrm>
          <a:prstGeom prst="line">
            <a:avLst/>
          </a:prstGeom>
          <a:noFill/>
          <a:ln w="19050">
            <a:solidFill>
              <a:srgbClr val="B45309"/>
            </a:solidFill>
            <a:prstDash val="solid"/>
          </a:ln>
        </p:spPr>
      </p:sp>
      <p:sp>
        <p:nvSpPr>
          <p:cNvPr id="23" name="Text 21"/>
          <p:cNvSpPr/>
          <p:nvPr/>
        </p:nvSpPr>
        <p:spPr>
          <a:xfrm>
            <a:off x="4251960" y="4270248"/>
            <a:ext cx="640080" cy="320040"/>
          </a:xfrm>
          <a:prstGeom prst="rect">
            <a:avLst/>
          </a:prstGeom>
          <a:noFill/>
          <a:ln/>
        </p:spPr>
        <p:txBody>
          <a:bodyPr wrap="square" lIns="0" tIns="0" rIns="0" bIns="0" rtlCol="0" anchor="ctr"/>
          <a:lstStyle/>
          <a:p>
            <a:pPr indent="0" marL="0">
              <a:buNone/>
            </a:pPr>
            <a:r>
              <a:rPr lang="en-US" sz="1300" b="1" dirty="0">
                <a:solidFill>
                  <a:srgbClr val="B45309"/>
                </a:solidFill>
                <a:latin typeface="Georgia" pitchFamily="34" charset="0"/>
                <a:ea typeface="Georgia" pitchFamily="34" charset="-122"/>
                <a:cs typeface="Georgia" pitchFamily="34" charset="-120"/>
              </a:rPr>
              <a:t>05</a:t>
            </a:r>
            <a:endParaRPr lang="en-US" sz="1300" dirty="0"/>
          </a:p>
        </p:txBody>
      </p:sp>
      <p:sp>
        <p:nvSpPr>
          <p:cNvPr id="24" name="Text 22"/>
          <p:cNvSpPr/>
          <p:nvPr/>
        </p:nvSpPr>
        <p:spPr>
          <a:xfrm>
            <a:off x="4892040" y="4233672"/>
            <a:ext cx="292608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Evaluator</a:t>
            </a:r>
            <a:endParaRPr lang="en-US" sz="1600" dirty="0"/>
          </a:p>
        </p:txBody>
      </p:sp>
      <p:sp>
        <p:nvSpPr>
          <p:cNvPr id="25" name="Text 23"/>
          <p:cNvSpPr/>
          <p:nvPr/>
        </p:nvSpPr>
        <p:spPr>
          <a:xfrm>
            <a:off x="4251960" y="4663440"/>
            <a:ext cx="3566160" cy="109728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Guardrails, schema check, hallucination check, policy enforcement. Fires before output ships.</a:t>
            </a:r>
            <a:endParaRPr lang="en-US" sz="1200" dirty="0"/>
          </a:p>
        </p:txBody>
      </p:sp>
      <p:sp>
        <p:nvSpPr>
          <p:cNvPr id="26" name="Shape 24"/>
          <p:cNvSpPr/>
          <p:nvPr/>
        </p:nvSpPr>
        <p:spPr>
          <a:xfrm>
            <a:off x="8046720" y="4160520"/>
            <a:ext cx="3566160" cy="0"/>
          </a:xfrm>
          <a:prstGeom prst="line">
            <a:avLst/>
          </a:prstGeom>
          <a:noFill/>
          <a:ln w="19050">
            <a:solidFill>
              <a:srgbClr val="B45309"/>
            </a:solidFill>
            <a:prstDash val="solid"/>
          </a:ln>
        </p:spPr>
      </p:sp>
      <p:sp>
        <p:nvSpPr>
          <p:cNvPr id="27" name="Text 25"/>
          <p:cNvSpPr/>
          <p:nvPr/>
        </p:nvSpPr>
        <p:spPr>
          <a:xfrm>
            <a:off x="8046720" y="4270248"/>
            <a:ext cx="640080" cy="320040"/>
          </a:xfrm>
          <a:prstGeom prst="rect">
            <a:avLst/>
          </a:prstGeom>
          <a:noFill/>
          <a:ln/>
        </p:spPr>
        <p:txBody>
          <a:bodyPr wrap="square" lIns="0" tIns="0" rIns="0" bIns="0" rtlCol="0" anchor="ctr"/>
          <a:lstStyle/>
          <a:p>
            <a:pPr indent="0" marL="0">
              <a:buNone/>
            </a:pPr>
            <a:r>
              <a:rPr lang="en-US" sz="1300" b="1" dirty="0">
                <a:solidFill>
                  <a:srgbClr val="B45309"/>
                </a:solidFill>
                <a:latin typeface="Georgia" pitchFamily="34" charset="0"/>
                <a:ea typeface="Georgia" pitchFamily="34" charset="-122"/>
                <a:cs typeface="Georgia" pitchFamily="34" charset="-120"/>
              </a:rPr>
              <a:t>06</a:t>
            </a:r>
            <a:endParaRPr lang="en-US" sz="1300" dirty="0"/>
          </a:p>
        </p:txBody>
      </p:sp>
      <p:sp>
        <p:nvSpPr>
          <p:cNvPr id="28" name="Text 26"/>
          <p:cNvSpPr/>
          <p:nvPr/>
        </p:nvSpPr>
        <p:spPr>
          <a:xfrm>
            <a:off x="8686800" y="4233672"/>
            <a:ext cx="292608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Surface</a:t>
            </a:r>
            <a:endParaRPr lang="en-US" sz="1600" dirty="0"/>
          </a:p>
        </p:txBody>
      </p:sp>
      <p:sp>
        <p:nvSpPr>
          <p:cNvPr id="29" name="Text 27"/>
          <p:cNvSpPr/>
          <p:nvPr/>
        </p:nvSpPr>
        <p:spPr>
          <a:xfrm>
            <a:off x="8046720" y="4663440"/>
            <a:ext cx="3566160" cy="109728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How the user sees the work. Chat is the weakest surface; cards and approval panels expose the agent's decisions.</a:t>
            </a:r>
            <a:endParaRPr lang="en-US" sz="1200" dirty="0"/>
          </a:p>
        </p:txBody>
      </p:sp>
      <p:sp>
        <p:nvSpPr>
          <p:cNvPr id="30" name="Text 28"/>
          <p:cNvSpPr/>
          <p:nvPr/>
        </p:nvSpPr>
        <p:spPr>
          <a:xfrm>
            <a:off x="457200" y="6035040"/>
            <a:ext cx="11274552" cy="274320"/>
          </a:xfrm>
          <a:prstGeom prst="rect">
            <a:avLst/>
          </a:prstGeom>
          <a:noFill/>
          <a:ln/>
        </p:spPr>
        <p:txBody>
          <a:bodyPr wrap="square" lIns="0" tIns="0" rIns="0" bIns="0" rtlCol="0" anchor="ctr"/>
          <a:lstStyle/>
          <a:p>
            <a:pPr indent="0" marL="0">
              <a:buNone/>
            </a:pPr>
            <a:r>
              <a:rPr lang="en-US" sz="1000" i="1" dirty="0">
                <a:solidFill>
                  <a:srgbClr val="B45309"/>
                </a:solidFill>
                <a:latin typeface="Calibri" pitchFamily="34" charset="0"/>
                <a:ea typeface="Calibri" pitchFamily="34" charset="-122"/>
                <a:cs typeface="Calibri" pitchFamily="34" charset="-120"/>
              </a:rPr>
              <a:t>Next slide: how they connect. Diagram reveal.</a:t>
            </a:r>
            <a:endParaRPr lang="en-US" sz="1000" dirty="0"/>
          </a:p>
        </p:txBody>
      </p:sp>
      <p:sp>
        <p:nvSpPr>
          <p:cNvPr id="31" name="Shape 29"/>
          <p:cNvSpPr/>
          <p:nvPr/>
        </p:nvSpPr>
        <p:spPr>
          <a:xfrm>
            <a:off x="457200" y="6446520"/>
            <a:ext cx="11274552" cy="0"/>
          </a:xfrm>
          <a:prstGeom prst="line">
            <a:avLst/>
          </a:prstGeom>
          <a:noFill/>
          <a:ln w="6350">
            <a:solidFill>
              <a:srgbClr val="E2E8F0"/>
            </a:solidFill>
            <a:prstDash val="solid"/>
          </a:ln>
        </p:spPr>
      </p:sp>
      <p:sp>
        <p:nvSpPr>
          <p:cNvPr id="32" name="Text 30"/>
          <p:cNvSpPr/>
          <p:nvPr/>
        </p:nvSpPr>
        <p:spPr>
          <a:xfrm>
            <a:off x="457200" y="6537960"/>
            <a:ext cx="914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23</a:t>
            </a:r>
            <a:endParaRPr lang="en-US" sz="900" dirty="0"/>
          </a:p>
        </p:txBody>
      </p:sp>
      <p:sp>
        <p:nvSpPr>
          <p:cNvPr id="33" name="Text 31"/>
          <p:cNvSpPr/>
          <p:nvPr/>
        </p:nvSpPr>
        <p:spPr>
          <a:xfrm>
            <a:off x="5943600" y="6537960"/>
            <a:ext cx="5788152" cy="228600"/>
          </a:xfrm>
          <a:prstGeom prst="rect">
            <a:avLst/>
          </a:prstGeom>
          <a:noFill/>
          <a:ln/>
        </p:spPr>
        <p:txBody>
          <a:bodyPr wrap="square" lIns="0" tIns="0" rIns="0" bIns="0" rtlCol="0" anchor="ctr"/>
          <a:lstStyle/>
          <a:p>
            <a:pPr algn="r" indent="0" marL="0">
              <a:buNone/>
            </a:pPr>
            <a:r>
              <a:rPr lang="en-US" sz="900" i="1" dirty="0">
                <a:solidFill>
                  <a:srgbClr val="94A3B8"/>
                </a:solidFill>
                <a:latin typeface="Calibri" pitchFamily="34" charset="0"/>
                <a:ea typeface="Calibri" pitchFamily="34" charset="-122"/>
                <a:cs typeface="Calibri" pitchFamily="34" charset="-120"/>
              </a:rPr>
              <a:t>Agentic Foundations · Half 1</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4552" cy="274320"/>
          </a:xfrm>
          <a:prstGeom prst="rect">
            <a:avLst/>
          </a:prstGeom>
          <a:noFill/>
          <a:ln/>
        </p:spPr>
        <p:txBody>
          <a:bodyPr wrap="square" lIns="0" tIns="0" rIns="0" bIns="0" rtlCol="0" anchor="ctr"/>
          <a:lstStyle/>
          <a:p>
            <a:pPr indent="0" marL="0">
              <a:buNone/>
            </a:pPr>
            <a:r>
              <a:rPr lang="en-US" sz="1000" b="1" spc="400" kern="0" dirty="0">
                <a:solidFill>
                  <a:srgbClr val="B45309"/>
                </a:solidFill>
                <a:latin typeface="Calibri" pitchFamily="34" charset="0"/>
                <a:ea typeface="Calibri" pitchFamily="34" charset="-122"/>
                <a:cs typeface="Calibri" pitchFamily="34" charset="-120"/>
              </a:rPr>
              <a:t>05 · ANATOMY (DIAGRAM)</a:t>
            </a:r>
            <a:endParaRPr lang="en-US" sz="1000" dirty="0"/>
          </a:p>
        </p:txBody>
      </p:sp>
      <p:sp>
        <p:nvSpPr>
          <p:cNvPr id="3" name="Text 1"/>
          <p:cNvSpPr/>
          <p:nvPr/>
        </p:nvSpPr>
        <p:spPr>
          <a:xfrm>
            <a:off x="457200" y="777240"/>
            <a:ext cx="11274552"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How the six components connect</a:t>
            </a:r>
            <a:endParaRPr lang="en-US" sz="2800" dirty="0"/>
          </a:p>
        </p:txBody>
      </p:sp>
      <p:sp>
        <p:nvSpPr>
          <p:cNvPr id="4" name="Text 2"/>
          <p:cNvSpPr/>
          <p:nvPr/>
        </p:nvSpPr>
        <p:spPr>
          <a:xfrm>
            <a:off x="457200" y="1554480"/>
            <a:ext cx="11274552"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Read top to bottom. The planner is the centre; everything else either feeds it or gates what it produces.</a:t>
            </a:r>
            <a:endParaRPr lang="en-US" sz="1400" dirty="0"/>
          </a:p>
        </p:txBody>
      </p:sp>
      <p:sp>
        <p:nvSpPr>
          <p:cNvPr id="5" name="Shape 3"/>
          <p:cNvSpPr/>
          <p:nvPr/>
        </p:nvSpPr>
        <p:spPr>
          <a:xfrm>
            <a:off x="457200" y="2057400"/>
            <a:ext cx="11274552" cy="0"/>
          </a:xfrm>
          <a:prstGeom prst="line">
            <a:avLst/>
          </a:prstGeom>
          <a:noFill/>
          <a:ln w="6350">
            <a:solidFill>
              <a:srgbClr val="E2E8F0"/>
            </a:solidFill>
            <a:prstDash val="solid"/>
          </a:ln>
        </p:spPr>
      </p:sp>
      <p:sp>
        <p:nvSpPr>
          <p:cNvPr id="6" name="Shape 4"/>
          <p:cNvSpPr/>
          <p:nvPr/>
        </p:nvSpPr>
        <p:spPr>
          <a:xfrm>
            <a:off x="4937760" y="2377440"/>
            <a:ext cx="2286000" cy="640080"/>
          </a:xfrm>
          <a:prstGeom prst="rect">
            <a:avLst/>
          </a:prstGeom>
          <a:solidFill>
            <a:srgbClr val="F8FAFC"/>
          </a:solidFill>
          <a:ln w="12700">
            <a:solidFill>
              <a:srgbClr val="E2E8F0"/>
            </a:solidFill>
            <a:prstDash val="solid"/>
          </a:ln>
        </p:spPr>
      </p:sp>
      <p:sp>
        <p:nvSpPr>
          <p:cNvPr id="7" name="Text 5"/>
          <p:cNvSpPr/>
          <p:nvPr/>
        </p:nvSpPr>
        <p:spPr>
          <a:xfrm>
            <a:off x="4937760" y="2468880"/>
            <a:ext cx="2286000" cy="320040"/>
          </a:xfrm>
          <a:prstGeom prst="rect">
            <a:avLst/>
          </a:prstGeom>
          <a:noFill/>
          <a:ln/>
        </p:spPr>
        <p:txBody>
          <a:bodyPr wrap="square" lIns="0" tIns="0" rIns="0" bIns="0" rtlCol="0" anchor="ctr"/>
          <a:lstStyle/>
          <a:p>
            <a:pPr algn="ctr" indent="0" marL="0">
              <a:buNone/>
            </a:pPr>
            <a:r>
              <a:rPr lang="en-US" sz="1300" b="1" dirty="0">
                <a:solidFill>
                  <a:srgbClr val="0F172A"/>
                </a:solidFill>
                <a:latin typeface="Calibri" pitchFamily="34" charset="0"/>
                <a:ea typeface="Calibri" pitchFamily="34" charset="-122"/>
                <a:cs typeface="Calibri" pitchFamily="34" charset="-120"/>
              </a:rPr>
              <a:t>USER GOAL</a:t>
            </a:r>
            <a:endParaRPr lang="en-US" sz="1300" dirty="0"/>
          </a:p>
        </p:txBody>
      </p:sp>
      <p:sp>
        <p:nvSpPr>
          <p:cNvPr id="8" name="Shape 6"/>
          <p:cNvSpPr/>
          <p:nvPr/>
        </p:nvSpPr>
        <p:spPr>
          <a:xfrm>
            <a:off x="4572000" y="3383280"/>
            <a:ext cx="3017520" cy="822960"/>
          </a:xfrm>
          <a:prstGeom prst="rect">
            <a:avLst/>
          </a:prstGeom>
          <a:solidFill>
            <a:srgbClr val="FEF3C7"/>
          </a:solidFill>
          <a:ln w="19050">
            <a:solidFill>
              <a:srgbClr val="B45309"/>
            </a:solidFill>
            <a:prstDash val="solid"/>
          </a:ln>
        </p:spPr>
      </p:sp>
      <p:sp>
        <p:nvSpPr>
          <p:cNvPr id="9" name="Text 7"/>
          <p:cNvSpPr/>
          <p:nvPr/>
        </p:nvSpPr>
        <p:spPr>
          <a:xfrm>
            <a:off x="4572000" y="3474720"/>
            <a:ext cx="3017520" cy="320040"/>
          </a:xfrm>
          <a:prstGeom prst="rect">
            <a:avLst/>
          </a:prstGeom>
          <a:noFill/>
          <a:ln/>
        </p:spPr>
        <p:txBody>
          <a:bodyPr wrap="square" lIns="0" tIns="0" rIns="0" bIns="0" rtlCol="0" anchor="ctr"/>
          <a:lstStyle/>
          <a:p>
            <a:pPr algn="ctr" indent="0" marL="0">
              <a:buNone/>
            </a:pPr>
            <a:r>
              <a:rPr lang="en-US" sz="1300" b="1" dirty="0">
                <a:solidFill>
                  <a:srgbClr val="B45309"/>
                </a:solidFill>
                <a:latin typeface="Calibri" pitchFamily="34" charset="0"/>
                <a:ea typeface="Calibri" pitchFamily="34" charset="-122"/>
                <a:cs typeface="Calibri" pitchFamily="34" charset="-120"/>
              </a:rPr>
              <a:t>PLANNER</a:t>
            </a:r>
            <a:endParaRPr lang="en-US" sz="1300" dirty="0"/>
          </a:p>
        </p:txBody>
      </p:sp>
      <p:sp>
        <p:nvSpPr>
          <p:cNvPr id="10" name="Text 8"/>
          <p:cNvSpPr/>
          <p:nvPr/>
        </p:nvSpPr>
        <p:spPr>
          <a:xfrm>
            <a:off x="4572000" y="3794760"/>
            <a:ext cx="3017520" cy="365760"/>
          </a:xfrm>
          <a:prstGeom prst="rect">
            <a:avLst/>
          </a:prstGeom>
          <a:noFill/>
          <a:ln/>
        </p:spPr>
        <p:txBody>
          <a:bodyPr wrap="square" lIns="0" tIns="0" rIns="0" bIns="0" rtlCol="0" anchor="ctr"/>
          <a:lstStyle/>
          <a:p>
            <a:pPr algn="ctr" indent="0" marL="0">
              <a:buNone/>
            </a:pPr>
            <a:r>
              <a:rPr lang="en-US" sz="1000" i="1" dirty="0">
                <a:solidFill>
                  <a:srgbClr val="64748B"/>
                </a:solidFill>
                <a:latin typeface="Calibri" pitchFamily="34" charset="0"/>
                <a:ea typeface="Calibri" pitchFamily="34" charset="-122"/>
                <a:cs typeface="Calibri" pitchFamily="34" charset="-120"/>
              </a:rPr>
              <a:t>LLM + system prompt</a:t>
            </a:r>
            <a:endParaRPr lang="en-US" sz="1000" dirty="0"/>
          </a:p>
        </p:txBody>
      </p:sp>
      <p:sp>
        <p:nvSpPr>
          <p:cNvPr id="11" name="Shape 9"/>
          <p:cNvSpPr/>
          <p:nvPr/>
        </p:nvSpPr>
        <p:spPr>
          <a:xfrm>
            <a:off x="731520" y="3383280"/>
            <a:ext cx="2286000" cy="822960"/>
          </a:xfrm>
          <a:prstGeom prst="rect">
            <a:avLst/>
          </a:prstGeom>
          <a:solidFill>
            <a:srgbClr val="F8FAFC"/>
          </a:solidFill>
          <a:ln w="12700">
            <a:solidFill>
              <a:srgbClr val="E2E8F0"/>
            </a:solidFill>
            <a:prstDash val="solid"/>
          </a:ln>
        </p:spPr>
      </p:sp>
      <p:sp>
        <p:nvSpPr>
          <p:cNvPr id="12" name="Text 10"/>
          <p:cNvSpPr/>
          <p:nvPr/>
        </p:nvSpPr>
        <p:spPr>
          <a:xfrm>
            <a:off x="731520" y="3474720"/>
            <a:ext cx="2286000" cy="320040"/>
          </a:xfrm>
          <a:prstGeom prst="rect">
            <a:avLst/>
          </a:prstGeom>
          <a:noFill/>
          <a:ln/>
        </p:spPr>
        <p:txBody>
          <a:bodyPr wrap="square" lIns="0" tIns="0" rIns="0" bIns="0" rtlCol="0" anchor="ctr"/>
          <a:lstStyle/>
          <a:p>
            <a:pPr algn="ctr" indent="0" marL="0">
              <a:buNone/>
            </a:pPr>
            <a:r>
              <a:rPr lang="en-US" sz="1300" b="1" dirty="0">
                <a:solidFill>
                  <a:srgbClr val="0F172A"/>
                </a:solidFill>
                <a:latin typeface="Calibri" pitchFamily="34" charset="0"/>
                <a:ea typeface="Calibri" pitchFamily="34" charset="-122"/>
                <a:cs typeface="Calibri" pitchFamily="34" charset="-120"/>
              </a:rPr>
              <a:t>MEMORY</a:t>
            </a:r>
            <a:endParaRPr lang="en-US" sz="1300" dirty="0"/>
          </a:p>
        </p:txBody>
      </p:sp>
      <p:sp>
        <p:nvSpPr>
          <p:cNvPr id="13" name="Text 11"/>
          <p:cNvSpPr/>
          <p:nvPr/>
        </p:nvSpPr>
        <p:spPr>
          <a:xfrm>
            <a:off x="731520" y="3794760"/>
            <a:ext cx="2286000" cy="365760"/>
          </a:xfrm>
          <a:prstGeom prst="rect">
            <a:avLst/>
          </a:prstGeom>
          <a:noFill/>
          <a:ln/>
        </p:spPr>
        <p:txBody>
          <a:bodyPr wrap="square" lIns="0" tIns="0" rIns="0" bIns="0" rtlCol="0" anchor="ctr"/>
          <a:lstStyle/>
          <a:p>
            <a:pPr algn="ctr" indent="0" marL="0">
              <a:buNone/>
            </a:pPr>
            <a:r>
              <a:rPr lang="en-US" sz="1000" i="1" dirty="0">
                <a:solidFill>
                  <a:srgbClr val="64748B"/>
                </a:solidFill>
                <a:latin typeface="Calibri" pitchFamily="34" charset="0"/>
                <a:ea typeface="Calibri" pitchFamily="34" charset="-122"/>
                <a:cs typeface="Calibri" pitchFamily="34" charset="-120"/>
              </a:rPr>
              <a:t>session · long-term · ops</a:t>
            </a:r>
            <a:endParaRPr lang="en-US" sz="1000" dirty="0"/>
          </a:p>
        </p:txBody>
      </p:sp>
      <p:sp>
        <p:nvSpPr>
          <p:cNvPr id="14" name="Shape 12"/>
          <p:cNvSpPr/>
          <p:nvPr/>
        </p:nvSpPr>
        <p:spPr>
          <a:xfrm>
            <a:off x="9144000" y="3383280"/>
            <a:ext cx="2377440" cy="822960"/>
          </a:xfrm>
          <a:prstGeom prst="rect">
            <a:avLst/>
          </a:prstGeom>
          <a:solidFill>
            <a:srgbClr val="F8FAFC"/>
          </a:solidFill>
          <a:ln w="12700">
            <a:solidFill>
              <a:srgbClr val="E2E8F0"/>
            </a:solidFill>
            <a:prstDash val="solid"/>
          </a:ln>
        </p:spPr>
      </p:sp>
      <p:sp>
        <p:nvSpPr>
          <p:cNvPr id="15" name="Text 13"/>
          <p:cNvSpPr/>
          <p:nvPr/>
        </p:nvSpPr>
        <p:spPr>
          <a:xfrm>
            <a:off x="9144000" y="3474720"/>
            <a:ext cx="2377440" cy="320040"/>
          </a:xfrm>
          <a:prstGeom prst="rect">
            <a:avLst/>
          </a:prstGeom>
          <a:noFill/>
          <a:ln/>
        </p:spPr>
        <p:txBody>
          <a:bodyPr wrap="square" lIns="0" tIns="0" rIns="0" bIns="0" rtlCol="0" anchor="ctr"/>
          <a:lstStyle/>
          <a:p>
            <a:pPr algn="ctr" indent="0" marL="0">
              <a:buNone/>
            </a:pPr>
            <a:r>
              <a:rPr lang="en-US" sz="1300" b="1" dirty="0">
                <a:solidFill>
                  <a:srgbClr val="0F172A"/>
                </a:solidFill>
                <a:latin typeface="Calibri" pitchFamily="34" charset="0"/>
                <a:ea typeface="Calibri" pitchFamily="34" charset="-122"/>
                <a:cs typeface="Calibri" pitchFamily="34" charset="-120"/>
              </a:rPr>
              <a:t>RETRIEVER</a:t>
            </a:r>
            <a:endParaRPr lang="en-US" sz="1300" dirty="0"/>
          </a:p>
        </p:txBody>
      </p:sp>
      <p:sp>
        <p:nvSpPr>
          <p:cNvPr id="16" name="Text 14"/>
          <p:cNvSpPr/>
          <p:nvPr/>
        </p:nvSpPr>
        <p:spPr>
          <a:xfrm>
            <a:off x="9144000" y="3794760"/>
            <a:ext cx="2377440" cy="365760"/>
          </a:xfrm>
          <a:prstGeom prst="rect">
            <a:avLst/>
          </a:prstGeom>
          <a:noFill/>
          <a:ln/>
        </p:spPr>
        <p:txBody>
          <a:bodyPr wrap="square" lIns="0" tIns="0" rIns="0" bIns="0" rtlCol="0" anchor="ctr"/>
          <a:lstStyle/>
          <a:p>
            <a:pPr algn="ctr" indent="0" marL="0">
              <a:buNone/>
            </a:pPr>
            <a:r>
              <a:rPr lang="en-US" sz="1000" i="1" dirty="0">
                <a:solidFill>
                  <a:srgbClr val="64748B"/>
                </a:solidFill>
                <a:latin typeface="Calibri" pitchFamily="34" charset="0"/>
                <a:ea typeface="Calibri" pitchFamily="34" charset="-122"/>
                <a:cs typeface="Calibri" pitchFamily="34" charset="-120"/>
              </a:rPr>
              <a:t>vector store · KB</a:t>
            </a:r>
            <a:endParaRPr lang="en-US" sz="1000" dirty="0"/>
          </a:p>
        </p:txBody>
      </p:sp>
      <p:sp>
        <p:nvSpPr>
          <p:cNvPr id="17" name="Shape 15"/>
          <p:cNvSpPr/>
          <p:nvPr/>
        </p:nvSpPr>
        <p:spPr>
          <a:xfrm>
            <a:off x="4572000" y="4572000"/>
            <a:ext cx="3017520" cy="731520"/>
          </a:xfrm>
          <a:prstGeom prst="rect">
            <a:avLst/>
          </a:prstGeom>
          <a:solidFill>
            <a:srgbClr val="F8FAFC"/>
          </a:solidFill>
          <a:ln w="12700">
            <a:solidFill>
              <a:srgbClr val="E2E8F0"/>
            </a:solidFill>
            <a:prstDash val="solid"/>
          </a:ln>
        </p:spPr>
      </p:sp>
      <p:sp>
        <p:nvSpPr>
          <p:cNvPr id="18" name="Text 16"/>
          <p:cNvSpPr/>
          <p:nvPr/>
        </p:nvSpPr>
        <p:spPr>
          <a:xfrm>
            <a:off x="4572000" y="4663440"/>
            <a:ext cx="3017520" cy="320040"/>
          </a:xfrm>
          <a:prstGeom prst="rect">
            <a:avLst/>
          </a:prstGeom>
          <a:noFill/>
          <a:ln/>
        </p:spPr>
        <p:txBody>
          <a:bodyPr wrap="square" lIns="0" tIns="0" rIns="0" bIns="0" rtlCol="0" anchor="ctr"/>
          <a:lstStyle/>
          <a:p>
            <a:pPr algn="ctr" indent="0" marL="0">
              <a:buNone/>
            </a:pPr>
            <a:r>
              <a:rPr lang="en-US" sz="1300" b="1" dirty="0">
                <a:solidFill>
                  <a:srgbClr val="0F172A"/>
                </a:solidFill>
                <a:latin typeface="Calibri" pitchFamily="34" charset="0"/>
                <a:ea typeface="Calibri" pitchFamily="34" charset="-122"/>
                <a:cs typeface="Calibri" pitchFamily="34" charset="-120"/>
              </a:rPr>
              <a:t>TOOL LAYER</a:t>
            </a:r>
            <a:endParaRPr lang="en-US" sz="1300" dirty="0"/>
          </a:p>
        </p:txBody>
      </p:sp>
      <p:sp>
        <p:nvSpPr>
          <p:cNvPr id="19" name="Text 17"/>
          <p:cNvSpPr/>
          <p:nvPr/>
        </p:nvSpPr>
        <p:spPr>
          <a:xfrm>
            <a:off x="4572000" y="4983480"/>
            <a:ext cx="3017520" cy="274320"/>
          </a:xfrm>
          <a:prstGeom prst="rect">
            <a:avLst/>
          </a:prstGeom>
          <a:noFill/>
          <a:ln/>
        </p:spPr>
        <p:txBody>
          <a:bodyPr wrap="square" lIns="0" tIns="0" rIns="0" bIns="0" rtlCol="0" anchor="ctr"/>
          <a:lstStyle/>
          <a:p>
            <a:pPr algn="ctr" indent="0" marL="0">
              <a:buNone/>
            </a:pPr>
            <a:r>
              <a:rPr lang="en-US" sz="1000" i="1" dirty="0">
                <a:solidFill>
                  <a:srgbClr val="64748B"/>
                </a:solidFill>
                <a:latin typeface="Calibri" pitchFamily="34" charset="0"/>
                <a:ea typeface="Calibri" pitchFamily="34" charset="-122"/>
                <a:cs typeface="Calibri" pitchFamily="34" charset="-120"/>
              </a:rPr>
              <a:t>schema-bound functions</a:t>
            </a:r>
            <a:endParaRPr lang="en-US" sz="1000" dirty="0"/>
          </a:p>
        </p:txBody>
      </p:sp>
      <p:sp>
        <p:nvSpPr>
          <p:cNvPr id="20" name="Shape 18"/>
          <p:cNvSpPr/>
          <p:nvPr/>
        </p:nvSpPr>
        <p:spPr>
          <a:xfrm>
            <a:off x="4572000" y="5577840"/>
            <a:ext cx="3017520" cy="640080"/>
          </a:xfrm>
          <a:prstGeom prst="rect">
            <a:avLst/>
          </a:prstGeom>
          <a:solidFill>
            <a:srgbClr val="F8FAFC"/>
          </a:solidFill>
          <a:ln w="12700">
            <a:solidFill>
              <a:srgbClr val="E2E8F0"/>
            </a:solidFill>
            <a:prstDash val="solid"/>
          </a:ln>
        </p:spPr>
      </p:sp>
      <p:sp>
        <p:nvSpPr>
          <p:cNvPr id="21" name="Text 19"/>
          <p:cNvSpPr/>
          <p:nvPr/>
        </p:nvSpPr>
        <p:spPr>
          <a:xfrm>
            <a:off x="4572000" y="5669280"/>
            <a:ext cx="3017520" cy="320040"/>
          </a:xfrm>
          <a:prstGeom prst="rect">
            <a:avLst/>
          </a:prstGeom>
          <a:noFill/>
          <a:ln/>
        </p:spPr>
        <p:txBody>
          <a:bodyPr wrap="square" lIns="0" tIns="0" rIns="0" bIns="0" rtlCol="0" anchor="ctr"/>
          <a:lstStyle/>
          <a:p>
            <a:pPr algn="ctr" indent="0" marL="0">
              <a:buNone/>
            </a:pPr>
            <a:r>
              <a:rPr lang="en-US" sz="1300" b="1" dirty="0">
                <a:solidFill>
                  <a:srgbClr val="0F172A"/>
                </a:solidFill>
                <a:latin typeface="Calibri" pitchFamily="34" charset="0"/>
                <a:ea typeface="Calibri" pitchFamily="34" charset="-122"/>
                <a:cs typeface="Calibri" pitchFamily="34" charset="-120"/>
              </a:rPr>
              <a:t>EVALUATOR</a:t>
            </a:r>
            <a:endParaRPr lang="en-US" sz="1300" dirty="0"/>
          </a:p>
        </p:txBody>
      </p:sp>
      <p:sp>
        <p:nvSpPr>
          <p:cNvPr id="22" name="Text 20"/>
          <p:cNvSpPr/>
          <p:nvPr/>
        </p:nvSpPr>
        <p:spPr>
          <a:xfrm>
            <a:off x="4572000" y="5989320"/>
            <a:ext cx="3017520" cy="182880"/>
          </a:xfrm>
          <a:prstGeom prst="rect">
            <a:avLst/>
          </a:prstGeom>
          <a:noFill/>
          <a:ln/>
        </p:spPr>
        <p:txBody>
          <a:bodyPr wrap="square" lIns="0" tIns="0" rIns="0" bIns="0" rtlCol="0" anchor="ctr"/>
          <a:lstStyle/>
          <a:p>
            <a:pPr algn="ctr" indent="0" marL="0">
              <a:buNone/>
            </a:pPr>
            <a:r>
              <a:rPr lang="en-US" sz="1000" i="1" dirty="0">
                <a:solidFill>
                  <a:srgbClr val="64748B"/>
                </a:solidFill>
                <a:latin typeface="Calibri" pitchFamily="34" charset="0"/>
                <a:ea typeface="Calibri" pitchFamily="34" charset="-122"/>
                <a:cs typeface="Calibri" pitchFamily="34" charset="-120"/>
              </a:rPr>
              <a:t>guardrails · schema · policy</a:t>
            </a:r>
            <a:endParaRPr lang="en-US" sz="1000" dirty="0"/>
          </a:p>
        </p:txBody>
      </p:sp>
      <p:sp>
        <p:nvSpPr>
          <p:cNvPr id="23" name="Shape 21"/>
          <p:cNvSpPr/>
          <p:nvPr/>
        </p:nvSpPr>
        <p:spPr>
          <a:xfrm>
            <a:off x="9144000" y="5577840"/>
            <a:ext cx="2377440" cy="640080"/>
          </a:xfrm>
          <a:prstGeom prst="rect">
            <a:avLst/>
          </a:prstGeom>
          <a:solidFill>
            <a:srgbClr val="F8FAFC"/>
          </a:solidFill>
          <a:ln w="12700">
            <a:solidFill>
              <a:srgbClr val="E2E8F0"/>
            </a:solidFill>
            <a:prstDash val="solid"/>
          </a:ln>
        </p:spPr>
      </p:sp>
      <p:sp>
        <p:nvSpPr>
          <p:cNvPr id="24" name="Text 22"/>
          <p:cNvSpPr/>
          <p:nvPr/>
        </p:nvSpPr>
        <p:spPr>
          <a:xfrm>
            <a:off x="9144000" y="5669280"/>
            <a:ext cx="2377440" cy="320040"/>
          </a:xfrm>
          <a:prstGeom prst="rect">
            <a:avLst/>
          </a:prstGeom>
          <a:noFill/>
          <a:ln/>
        </p:spPr>
        <p:txBody>
          <a:bodyPr wrap="square" lIns="0" tIns="0" rIns="0" bIns="0" rtlCol="0" anchor="ctr"/>
          <a:lstStyle/>
          <a:p>
            <a:pPr algn="ctr" indent="0" marL="0">
              <a:buNone/>
            </a:pPr>
            <a:r>
              <a:rPr lang="en-US" sz="1300" b="1" dirty="0">
                <a:solidFill>
                  <a:srgbClr val="0F172A"/>
                </a:solidFill>
                <a:latin typeface="Calibri" pitchFamily="34" charset="0"/>
                <a:ea typeface="Calibri" pitchFamily="34" charset="-122"/>
                <a:cs typeface="Calibri" pitchFamily="34" charset="-120"/>
              </a:rPr>
              <a:t>SURFACE</a:t>
            </a:r>
            <a:endParaRPr lang="en-US" sz="1300" dirty="0"/>
          </a:p>
        </p:txBody>
      </p:sp>
      <p:sp>
        <p:nvSpPr>
          <p:cNvPr id="25" name="Text 23"/>
          <p:cNvSpPr/>
          <p:nvPr/>
        </p:nvSpPr>
        <p:spPr>
          <a:xfrm>
            <a:off x="9144000" y="5989320"/>
            <a:ext cx="2377440" cy="182880"/>
          </a:xfrm>
          <a:prstGeom prst="rect">
            <a:avLst/>
          </a:prstGeom>
          <a:noFill/>
          <a:ln/>
        </p:spPr>
        <p:txBody>
          <a:bodyPr wrap="square" lIns="0" tIns="0" rIns="0" bIns="0" rtlCol="0" anchor="ctr"/>
          <a:lstStyle/>
          <a:p>
            <a:pPr algn="ctr" indent="0" marL="0">
              <a:buNone/>
            </a:pPr>
            <a:r>
              <a:rPr lang="en-US" sz="1000" i="1" dirty="0">
                <a:solidFill>
                  <a:srgbClr val="64748B"/>
                </a:solidFill>
                <a:latin typeface="Calibri" pitchFamily="34" charset="0"/>
                <a:ea typeface="Calibri" pitchFamily="34" charset="-122"/>
                <a:cs typeface="Calibri" pitchFamily="34" charset="-120"/>
              </a:rPr>
              <a:t>chat · cards · approval UI</a:t>
            </a:r>
            <a:endParaRPr lang="en-US" sz="1000" dirty="0"/>
          </a:p>
        </p:txBody>
      </p:sp>
      <p:sp>
        <p:nvSpPr>
          <p:cNvPr id="26" name="Shape 24"/>
          <p:cNvSpPr/>
          <p:nvPr/>
        </p:nvSpPr>
        <p:spPr>
          <a:xfrm>
            <a:off x="6080760" y="3017520"/>
            <a:ext cx="0" cy="365760"/>
          </a:xfrm>
          <a:prstGeom prst="line">
            <a:avLst/>
          </a:prstGeom>
          <a:noFill/>
          <a:ln w="12700">
            <a:solidFill>
              <a:srgbClr val="64748B"/>
            </a:solidFill>
            <a:prstDash val="solid"/>
            <a:tailEnd type="triangle"/>
          </a:ln>
        </p:spPr>
      </p:sp>
      <p:sp>
        <p:nvSpPr>
          <p:cNvPr id="27" name="Shape 25"/>
          <p:cNvSpPr/>
          <p:nvPr/>
        </p:nvSpPr>
        <p:spPr>
          <a:xfrm>
            <a:off x="3017520" y="3794760"/>
            <a:ext cx="1554480" cy="0"/>
          </a:xfrm>
          <a:prstGeom prst="line">
            <a:avLst/>
          </a:prstGeom>
          <a:noFill/>
          <a:ln w="12700">
            <a:solidFill>
              <a:srgbClr val="64748B"/>
            </a:solidFill>
            <a:prstDash val="solid"/>
            <a:tailEnd type="triangle"/>
          </a:ln>
        </p:spPr>
      </p:sp>
      <p:sp>
        <p:nvSpPr>
          <p:cNvPr id="28" name="Shape 26"/>
          <p:cNvSpPr/>
          <p:nvPr/>
        </p:nvSpPr>
        <p:spPr>
          <a:xfrm>
            <a:off x="4572000" y="3703320"/>
            <a:ext cx="-1554480" cy="0"/>
          </a:xfrm>
          <a:prstGeom prst="line">
            <a:avLst/>
          </a:prstGeom>
          <a:noFill/>
          <a:ln w="12700">
            <a:solidFill>
              <a:srgbClr val="64748B"/>
            </a:solidFill>
            <a:prstDash val="solid"/>
            <a:tailEnd type="triangle"/>
          </a:ln>
        </p:spPr>
      </p:sp>
      <p:sp>
        <p:nvSpPr>
          <p:cNvPr id="29" name="Shape 27"/>
          <p:cNvSpPr/>
          <p:nvPr/>
        </p:nvSpPr>
        <p:spPr>
          <a:xfrm>
            <a:off x="9144000" y="3794760"/>
            <a:ext cx="-1554480" cy="0"/>
          </a:xfrm>
          <a:prstGeom prst="line">
            <a:avLst/>
          </a:prstGeom>
          <a:noFill/>
          <a:ln w="12700">
            <a:solidFill>
              <a:srgbClr val="64748B"/>
            </a:solidFill>
            <a:prstDash val="solid"/>
            <a:tailEnd type="triangle"/>
          </a:ln>
        </p:spPr>
      </p:sp>
      <p:sp>
        <p:nvSpPr>
          <p:cNvPr id="30" name="Shape 28"/>
          <p:cNvSpPr/>
          <p:nvPr/>
        </p:nvSpPr>
        <p:spPr>
          <a:xfrm>
            <a:off x="7589520" y="3703320"/>
            <a:ext cx="1554480" cy="0"/>
          </a:xfrm>
          <a:prstGeom prst="line">
            <a:avLst/>
          </a:prstGeom>
          <a:noFill/>
          <a:ln w="12700">
            <a:solidFill>
              <a:srgbClr val="64748B"/>
            </a:solidFill>
            <a:prstDash val="solid"/>
            <a:tailEnd type="triangle"/>
          </a:ln>
        </p:spPr>
      </p:sp>
      <p:sp>
        <p:nvSpPr>
          <p:cNvPr id="31" name="Shape 29"/>
          <p:cNvSpPr/>
          <p:nvPr/>
        </p:nvSpPr>
        <p:spPr>
          <a:xfrm>
            <a:off x="6080760" y="4206240"/>
            <a:ext cx="0" cy="365760"/>
          </a:xfrm>
          <a:prstGeom prst="line">
            <a:avLst/>
          </a:prstGeom>
          <a:noFill/>
          <a:ln w="12700">
            <a:solidFill>
              <a:srgbClr val="64748B"/>
            </a:solidFill>
            <a:prstDash val="solid"/>
            <a:tailEnd type="triangle"/>
          </a:ln>
        </p:spPr>
      </p:sp>
      <p:sp>
        <p:nvSpPr>
          <p:cNvPr id="32" name="Shape 30"/>
          <p:cNvSpPr/>
          <p:nvPr/>
        </p:nvSpPr>
        <p:spPr>
          <a:xfrm>
            <a:off x="5943600" y="4572000"/>
            <a:ext cx="0" cy="-365760"/>
          </a:xfrm>
          <a:prstGeom prst="line">
            <a:avLst/>
          </a:prstGeom>
          <a:noFill/>
          <a:ln w="12700">
            <a:solidFill>
              <a:srgbClr val="64748B"/>
            </a:solidFill>
            <a:prstDash val="solid"/>
            <a:tailEnd type="triangle"/>
          </a:ln>
        </p:spPr>
      </p:sp>
      <p:sp>
        <p:nvSpPr>
          <p:cNvPr id="33" name="Shape 31"/>
          <p:cNvSpPr/>
          <p:nvPr/>
        </p:nvSpPr>
        <p:spPr>
          <a:xfrm>
            <a:off x="6080760" y="5303520"/>
            <a:ext cx="0" cy="274320"/>
          </a:xfrm>
          <a:prstGeom prst="line">
            <a:avLst/>
          </a:prstGeom>
          <a:noFill/>
          <a:ln w="12700">
            <a:solidFill>
              <a:srgbClr val="64748B"/>
            </a:solidFill>
            <a:prstDash val="solid"/>
            <a:tailEnd type="triangle"/>
          </a:ln>
        </p:spPr>
      </p:sp>
      <p:sp>
        <p:nvSpPr>
          <p:cNvPr id="34" name="Shape 32"/>
          <p:cNvSpPr/>
          <p:nvPr/>
        </p:nvSpPr>
        <p:spPr>
          <a:xfrm>
            <a:off x="7589520" y="5897880"/>
            <a:ext cx="1554480" cy="0"/>
          </a:xfrm>
          <a:prstGeom prst="line">
            <a:avLst/>
          </a:prstGeom>
          <a:noFill/>
          <a:ln w="12700">
            <a:solidFill>
              <a:srgbClr val="64748B"/>
            </a:solidFill>
            <a:prstDash val="solid"/>
            <a:tailEnd type="triangle"/>
          </a:ln>
        </p:spPr>
      </p:sp>
      <p:sp>
        <p:nvSpPr>
          <p:cNvPr id="35" name="Text 33"/>
          <p:cNvSpPr/>
          <p:nvPr/>
        </p:nvSpPr>
        <p:spPr>
          <a:xfrm>
            <a:off x="731520" y="5577840"/>
            <a:ext cx="3200400" cy="274320"/>
          </a:xfrm>
          <a:prstGeom prst="rect">
            <a:avLst/>
          </a:prstGeom>
          <a:noFill/>
          <a:ln/>
        </p:spPr>
        <p:txBody>
          <a:bodyPr wrap="square" lIns="0" tIns="0" rIns="0" bIns="0" rtlCol="0" anchor="ctr"/>
          <a:lstStyle/>
          <a:p>
            <a:pPr indent="0" marL="0">
              <a:buNone/>
            </a:pPr>
            <a:r>
              <a:rPr lang="en-US" sz="900" b="1" spc="200" kern="0" dirty="0">
                <a:solidFill>
                  <a:srgbClr val="64748B"/>
                </a:solidFill>
                <a:latin typeface="Calibri" pitchFamily="34" charset="0"/>
                <a:ea typeface="Calibri" pitchFamily="34" charset="-122"/>
                <a:cs typeface="Calibri" pitchFamily="34" charset="-120"/>
              </a:rPr>
              <a:t>LEGEND</a:t>
            </a:r>
            <a:endParaRPr lang="en-US" sz="900" dirty="0"/>
          </a:p>
        </p:txBody>
      </p:sp>
      <p:sp>
        <p:nvSpPr>
          <p:cNvPr id="36" name="Text 34"/>
          <p:cNvSpPr/>
          <p:nvPr/>
        </p:nvSpPr>
        <p:spPr>
          <a:xfrm>
            <a:off x="731520" y="5852160"/>
            <a:ext cx="3383280" cy="54864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Arrows show data and control flow. The planner-tool loop is the core agentic cycle: plan, act, observe, decide.</a:t>
            </a:r>
            <a:endParaRPr lang="en-US" sz="1100" dirty="0"/>
          </a:p>
        </p:txBody>
      </p:sp>
      <p:sp>
        <p:nvSpPr>
          <p:cNvPr id="37" name="Shape 35"/>
          <p:cNvSpPr/>
          <p:nvPr/>
        </p:nvSpPr>
        <p:spPr>
          <a:xfrm>
            <a:off x="457200" y="6446520"/>
            <a:ext cx="11274552" cy="0"/>
          </a:xfrm>
          <a:prstGeom prst="line">
            <a:avLst/>
          </a:prstGeom>
          <a:noFill/>
          <a:ln w="6350">
            <a:solidFill>
              <a:srgbClr val="E2E8F0"/>
            </a:solidFill>
            <a:prstDash val="solid"/>
          </a:ln>
        </p:spPr>
      </p:sp>
      <p:sp>
        <p:nvSpPr>
          <p:cNvPr id="38" name="Text 36"/>
          <p:cNvSpPr/>
          <p:nvPr/>
        </p:nvSpPr>
        <p:spPr>
          <a:xfrm>
            <a:off x="457200" y="6537960"/>
            <a:ext cx="914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24</a:t>
            </a:r>
            <a:endParaRPr lang="en-US" sz="900" dirty="0"/>
          </a:p>
        </p:txBody>
      </p:sp>
      <p:sp>
        <p:nvSpPr>
          <p:cNvPr id="39" name="Text 37"/>
          <p:cNvSpPr/>
          <p:nvPr/>
        </p:nvSpPr>
        <p:spPr>
          <a:xfrm>
            <a:off x="5943600" y="6537960"/>
            <a:ext cx="5788152" cy="228600"/>
          </a:xfrm>
          <a:prstGeom prst="rect">
            <a:avLst/>
          </a:prstGeom>
          <a:noFill/>
          <a:ln/>
        </p:spPr>
        <p:txBody>
          <a:bodyPr wrap="square" lIns="0" tIns="0" rIns="0" bIns="0" rtlCol="0" anchor="ctr"/>
          <a:lstStyle/>
          <a:p>
            <a:pPr algn="r" indent="0" marL="0">
              <a:buNone/>
            </a:pPr>
            <a:r>
              <a:rPr lang="en-US" sz="900" i="1" dirty="0">
                <a:solidFill>
                  <a:srgbClr val="94A3B8"/>
                </a:solidFill>
                <a:latin typeface="Calibri" pitchFamily="34" charset="0"/>
                <a:ea typeface="Calibri" pitchFamily="34" charset="-122"/>
                <a:cs typeface="Calibri" pitchFamily="34" charset="-120"/>
              </a:rPr>
              <a:t>Agentic Foundations · Half 1</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4552" cy="274320"/>
          </a:xfrm>
          <a:prstGeom prst="rect">
            <a:avLst/>
          </a:prstGeom>
          <a:noFill/>
          <a:ln/>
        </p:spPr>
        <p:txBody>
          <a:bodyPr wrap="square" lIns="0" tIns="0" rIns="0" bIns="0" rtlCol="0" anchor="ctr"/>
          <a:lstStyle/>
          <a:p>
            <a:pPr indent="0" marL="0">
              <a:buNone/>
            </a:pPr>
            <a:r>
              <a:rPr lang="en-US" sz="1000" b="1" spc="400" kern="0" dirty="0">
                <a:solidFill>
                  <a:srgbClr val="B45309"/>
                </a:solidFill>
                <a:latin typeface="Calibri" pitchFamily="34" charset="0"/>
                <a:ea typeface="Calibri" pitchFamily="34" charset="-122"/>
                <a:cs typeface="Calibri" pitchFamily="34" charset="-120"/>
              </a:rPr>
              <a:t>05 · ANATOMY (CONTINUED)</a:t>
            </a:r>
            <a:endParaRPr lang="en-US" sz="1000" dirty="0"/>
          </a:p>
        </p:txBody>
      </p:sp>
      <p:sp>
        <p:nvSpPr>
          <p:cNvPr id="3" name="Text 1"/>
          <p:cNvSpPr/>
          <p:nvPr/>
        </p:nvSpPr>
        <p:spPr>
          <a:xfrm>
            <a:off x="457200" y="777240"/>
            <a:ext cx="11274552"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An agent is a distributed system with a moving brain</a:t>
            </a:r>
            <a:endParaRPr lang="en-US" sz="2800" dirty="0"/>
          </a:p>
        </p:txBody>
      </p:sp>
      <p:sp>
        <p:nvSpPr>
          <p:cNvPr id="4" name="Text 2"/>
          <p:cNvSpPr/>
          <p:nvPr/>
        </p:nvSpPr>
        <p:spPr>
          <a:xfrm>
            <a:off x="457200" y="1554480"/>
            <a:ext cx="11274552"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Everything you know about microservices applies. Plus three new failure dimensions on top.</a:t>
            </a:r>
            <a:endParaRPr lang="en-US" sz="1400" dirty="0"/>
          </a:p>
        </p:txBody>
      </p:sp>
      <p:sp>
        <p:nvSpPr>
          <p:cNvPr id="5" name="Shape 3"/>
          <p:cNvSpPr/>
          <p:nvPr/>
        </p:nvSpPr>
        <p:spPr>
          <a:xfrm>
            <a:off x="457200" y="2057400"/>
            <a:ext cx="11274552" cy="0"/>
          </a:xfrm>
          <a:prstGeom prst="line">
            <a:avLst/>
          </a:prstGeom>
          <a:noFill/>
          <a:ln w="6350">
            <a:solidFill>
              <a:srgbClr val="E2E8F0"/>
            </a:solidFill>
            <a:prstDash val="solid"/>
          </a:ln>
        </p:spPr>
      </p:sp>
      <p:sp>
        <p:nvSpPr>
          <p:cNvPr id="6" name="Text 4"/>
          <p:cNvSpPr/>
          <p:nvPr/>
        </p:nvSpPr>
        <p:spPr>
          <a:xfrm>
            <a:off x="457200" y="2423160"/>
            <a:ext cx="5486400" cy="274320"/>
          </a:xfrm>
          <a:prstGeom prst="rect">
            <a:avLst/>
          </a:prstGeom>
          <a:noFill/>
          <a:ln/>
        </p:spPr>
        <p:txBody>
          <a:bodyPr wrap="square" lIns="0" tIns="0" rIns="0" bIns="0" rtlCol="0" anchor="ctr"/>
          <a:lstStyle/>
          <a:p>
            <a:pPr indent="0" marL="0">
              <a:buNone/>
            </a:pPr>
            <a:r>
              <a:rPr lang="en-US" sz="1000" b="1" spc="300" kern="0" dirty="0">
                <a:solidFill>
                  <a:srgbClr val="64748B"/>
                </a:solidFill>
                <a:latin typeface="Calibri" pitchFamily="34" charset="0"/>
                <a:ea typeface="Calibri" pitchFamily="34" charset="-122"/>
                <a:cs typeface="Calibri" pitchFamily="34" charset="-120"/>
              </a:rPr>
              <a:t>INHERITED FROM DISTRIBUTED SYSTEMS</a:t>
            </a:r>
            <a:endParaRPr lang="en-US" sz="1000" dirty="0"/>
          </a:p>
        </p:txBody>
      </p:sp>
      <p:sp>
        <p:nvSpPr>
          <p:cNvPr id="7" name="Text 5"/>
          <p:cNvSpPr/>
          <p:nvPr/>
        </p:nvSpPr>
        <p:spPr>
          <a:xfrm>
            <a:off x="457200" y="2743200"/>
            <a:ext cx="5486400" cy="3291840"/>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0F172A"/>
                </a:solidFill>
                <a:latin typeface="Calibri" pitchFamily="34" charset="0"/>
                <a:ea typeface="Calibri" pitchFamily="34" charset="-122"/>
                <a:cs typeface="Calibri" pitchFamily="34" charset="-120"/>
              </a:rPr>
              <a:t>Orchestration across services</a:t>
            </a:r>
            <a:endParaRPr lang="en-US" sz="1400" dirty="0"/>
          </a:p>
          <a:p>
            <a:pPr marL="342900" indent="-342900">
              <a:spcAft>
                <a:spcPts val="800"/>
              </a:spcAft>
              <a:buSzPct val="100000"/>
              <a:buChar char="—"/>
            </a:pPr>
            <a:r>
              <a:rPr lang="en-US" sz="1400" dirty="0">
                <a:solidFill>
                  <a:srgbClr val="0F172A"/>
                </a:solidFill>
                <a:latin typeface="Calibri" pitchFamily="34" charset="0"/>
                <a:ea typeface="Calibri" pitchFamily="34" charset="-122"/>
                <a:cs typeface="Calibri" pitchFamily="34" charset="-120"/>
              </a:rPr>
              <a:t>Retries and backoff on failure</a:t>
            </a:r>
            <a:endParaRPr lang="en-US" sz="1400" dirty="0"/>
          </a:p>
          <a:p>
            <a:pPr marL="342900" indent="-342900">
              <a:spcAft>
                <a:spcPts val="800"/>
              </a:spcAft>
              <a:buSzPct val="100000"/>
              <a:buChar char="—"/>
            </a:pPr>
            <a:r>
              <a:rPr lang="en-US" sz="1400" dirty="0">
                <a:solidFill>
                  <a:srgbClr val="0F172A"/>
                </a:solidFill>
                <a:latin typeface="Calibri" pitchFamily="34" charset="0"/>
                <a:ea typeface="Calibri" pitchFamily="34" charset="-122"/>
                <a:cs typeface="Calibri" pitchFamily="34" charset="-120"/>
              </a:rPr>
              <a:t>Partial-failure semantics</a:t>
            </a:r>
            <a:endParaRPr lang="en-US" sz="1400" dirty="0"/>
          </a:p>
          <a:p>
            <a:pPr marL="342900" indent="-342900">
              <a:spcAft>
                <a:spcPts val="800"/>
              </a:spcAft>
              <a:buSzPct val="100000"/>
              <a:buChar char="—"/>
            </a:pPr>
            <a:r>
              <a:rPr lang="en-US" sz="1400" dirty="0">
                <a:solidFill>
                  <a:srgbClr val="0F172A"/>
                </a:solidFill>
                <a:latin typeface="Calibri" pitchFamily="34" charset="0"/>
                <a:ea typeface="Calibri" pitchFamily="34" charset="-122"/>
                <a:cs typeface="Calibri" pitchFamily="34" charset="-120"/>
              </a:rPr>
              <a:t>Idempotency on writes</a:t>
            </a:r>
            <a:endParaRPr lang="en-US" sz="1400" dirty="0"/>
          </a:p>
          <a:p>
            <a:pPr marL="342900" indent="-342900">
              <a:spcAft>
                <a:spcPts val="800"/>
              </a:spcAft>
              <a:buSzPct val="100000"/>
              <a:buChar char="—"/>
            </a:pPr>
            <a:r>
              <a:rPr lang="en-US" sz="1400" dirty="0">
                <a:solidFill>
                  <a:srgbClr val="0F172A"/>
                </a:solidFill>
                <a:latin typeface="Calibri" pitchFamily="34" charset="0"/>
                <a:ea typeface="Calibri" pitchFamily="34" charset="-122"/>
                <a:cs typeface="Calibri" pitchFamily="34" charset="-120"/>
              </a:rPr>
              <a:t>Observability with traces and metrics</a:t>
            </a:r>
            <a:endParaRPr lang="en-US" sz="1400" dirty="0"/>
          </a:p>
          <a:p>
            <a:pPr marL="342900" indent="-342900">
              <a:spcAft>
                <a:spcPts val="800"/>
              </a:spcAft>
              <a:buSzPct val="100000"/>
              <a:buChar char="—"/>
            </a:pPr>
            <a:r>
              <a:rPr lang="en-US" sz="1400" dirty="0">
                <a:solidFill>
                  <a:srgbClr val="0F172A"/>
                </a:solidFill>
                <a:latin typeface="Calibri" pitchFamily="34" charset="0"/>
                <a:ea typeface="Calibri" pitchFamily="34" charset="-122"/>
                <a:cs typeface="Calibri" pitchFamily="34" charset="-120"/>
              </a:rPr>
              <a:t>Versioning of contracts</a:t>
            </a:r>
            <a:endParaRPr lang="en-US" sz="1400" dirty="0"/>
          </a:p>
          <a:p>
            <a:pPr marL="342900" indent="-342900">
              <a:spcAft>
                <a:spcPts val="800"/>
              </a:spcAft>
              <a:buSzPct val="100000"/>
              <a:buChar char="—"/>
            </a:pPr>
            <a:r>
              <a:rPr lang="en-US" sz="1400" dirty="0">
                <a:solidFill>
                  <a:srgbClr val="0F172A"/>
                </a:solidFill>
                <a:latin typeface="Calibri" pitchFamily="34" charset="0"/>
                <a:ea typeface="Calibri" pitchFamily="34" charset="-122"/>
                <a:cs typeface="Calibri" pitchFamily="34" charset="-120"/>
              </a:rPr>
              <a:t>State management across calls</a:t>
            </a:r>
            <a:endParaRPr lang="en-US" sz="1400" dirty="0"/>
          </a:p>
        </p:txBody>
      </p:sp>
      <p:sp>
        <p:nvSpPr>
          <p:cNvPr id="8" name="Text 6"/>
          <p:cNvSpPr/>
          <p:nvPr/>
        </p:nvSpPr>
        <p:spPr>
          <a:xfrm>
            <a:off x="6217920" y="2423160"/>
            <a:ext cx="5486400" cy="274320"/>
          </a:xfrm>
          <a:prstGeom prst="rect">
            <a:avLst/>
          </a:prstGeom>
          <a:noFill/>
          <a:ln/>
        </p:spPr>
        <p:txBody>
          <a:bodyPr wrap="square" lIns="0" tIns="0" rIns="0" bIns="0" rtlCol="0" anchor="ctr"/>
          <a:lstStyle/>
          <a:p>
            <a:pPr indent="0" marL="0">
              <a:buNone/>
            </a:pPr>
            <a:r>
              <a:rPr lang="en-US" sz="1000" b="1" spc="300" kern="0" dirty="0">
                <a:solidFill>
                  <a:srgbClr val="B45309"/>
                </a:solidFill>
                <a:latin typeface="Calibri" pitchFamily="34" charset="0"/>
                <a:ea typeface="Calibri" pitchFamily="34" charset="-122"/>
                <a:cs typeface="Calibri" pitchFamily="34" charset="-120"/>
              </a:rPr>
              <a:t>NEW WITH AGENTS</a:t>
            </a:r>
            <a:endParaRPr lang="en-US" sz="1000" dirty="0"/>
          </a:p>
        </p:txBody>
      </p:sp>
      <p:sp>
        <p:nvSpPr>
          <p:cNvPr id="9" name="Text 7"/>
          <p:cNvSpPr/>
          <p:nvPr/>
        </p:nvSpPr>
        <p:spPr>
          <a:xfrm>
            <a:off x="6217920" y="2743200"/>
            <a:ext cx="5486400" cy="3291840"/>
          </a:xfrm>
          <a:prstGeom prst="rect">
            <a:avLst/>
          </a:prstGeom>
          <a:noFill/>
          <a:ln/>
        </p:spPr>
        <p:txBody>
          <a:bodyPr wrap="square" lIns="0" tIns="0" rIns="0" bIns="0" rtlCol="0" anchor="ctr"/>
          <a:lstStyle/>
          <a:p>
            <a:pPr marL="342900" indent="-342900">
              <a:spcAft>
                <a:spcPts val="1200"/>
              </a:spcAft>
              <a:buSzPct val="100000"/>
              <a:buChar char="—"/>
            </a:pPr>
            <a:r>
              <a:rPr lang="en-US" sz="1400" dirty="0">
                <a:solidFill>
                  <a:srgbClr val="0F172A"/>
                </a:solidFill>
                <a:latin typeface="Calibri" pitchFamily="34" charset="0"/>
                <a:ea typeface="Calibri" pitchFamily="34" charset="-122"/>
                <a:cs typeface="Calibri" pitchFamily="34" charset="-120"/>
              </a:rPr>
              <a:t>The execution graph is rewritten at runtime by the model</a:t>
            </a:r>
            <a:endParaRPr lang="en-US" sz="1400" dirty="0"/>
          </a:p>
          <a:p>
            <a:pPr marL="342900" indent="-342900">
              <a:spcAft>
                <a:spcPts val="1200"/>
              </a:spcAft>
              <a:buSzPct val="100000"/>
              <a:buChar char="—"/>
            </a:pPr>
            <a:r>
              <a:rPr lang="en-US" sz="1400" dirty="0">
                <a:solidFill>
                  <a:srgbClr val="0F172A"/>
                </a:solidFill>
                <a:latin typeface="Calibri" pitchFamily="34" charset="0"/>
                <a:ea typeface="Calibri" pitchFamily="34" charset="-122"/>
                <a:cs typeface="Calibri" pitchFamily="34" charset="-120"/>
              </a:rPr>
              <a:t>Behaviour can drift without code changes (new model, new prompt)</a:t>
            </a:r>
            <a:endParaRPr lang="en-US" sz="1400" dirty="0"/>
          </a:p>
          <a:p>
            <a:pPr marL="342900" indent="-342900">
              <a:spcAft>
                <a:spcPts val="1200"/>
              </a:spcAft>
              <a:buSzPct val="100000"/>
              <a:buChar char="—"/>
            </a:pPr>
            <a:r>
              <a:rPr lang="en-US" sz="1400" dirty="0">
                <a:solidFill>
                  <a:srgbClr val="0F172A"/>
                </a:solidFill>
                <a:latin typeface="Calibri" pitchFamily="34" charset="0"/>
                <a:ea typeface="Calibri" pitchFamily="34" charset="-122"/>
                <a:cs typeface="Calibri" pitchFamily="34" charset="-120"/>
              </a:rPr>
              <a:t>Cost becomes a first-class runtime variable, not a deployment-time constant</a:t>
            </a:r>
            <a:endParaRPr lang="en-US" sz="1400" dirty="0"/>
          </a:p>
        </p:txBody>
      </p:sp>
      <p:sp>
        <p:nvSpPr>
          <p:cNvPr id="10" name="Text 8"/>
          <p:cNvSpPr/>
          <p:nvPr/>
        </p:nvSpPr>
        <p:spPr>
          <a:xfrm>
            <a:off x="457200" y="6035040"/>
            <a:ext cx="11274552" cy="274320"/>
          </a:xfrm>
          <a:prstGeom prst="rect">
            <a:avLst/>
          </a:prstGeom>
          <a:noFill/>
          <a:ln/>
        </p:spPr>
        <p:txBody>
          <a:bodyPr wrap="square" lIns="0" tIns="0" rIns="0" bIns="0" rtlCol="0" anchor="ctr"/>
          <a:lstStyle/>
          <a:p>
            <a:pPr indent="0" marL="0">
              <a:buNone/>
            </a:pPr>
            <a:r>
              <a:rPr lang="en-US" sz="1300" i="1" dirty="0">
                <a:solidFill>
                  <a:srgbClr val="B45309"/>
                </a:solidFill>
                <a:latin typeface="Calibri" pitchFamily="34" charset="0"/>
                <a:ea typeface="Calibri" pitchFamily="34" charset="-122"/>
                <a:cs typeface="Calibri" pitchFamily="34" charset="-120"/>
              </a:rPr>
              <a:t>Every sin of microservices applies, doubled. Plus the model itself is a moving part.</a:t>
            </a:r>
            <a:endParaRPr lang="en-US" sz="1300" dirty="0"/>
          </a:p>
        </p:txBody>
      </p:sp>
      <p:sp>
        <p:nvSpPr>
          <p:cNvPr id="11" name="Shape 9"/>
          <p:cNvSpPr/>
          <p:nvPr/>
        </p:nvSpPr>
        <p:spPr>
          <a:xfrm>
            <a:off x="457200" y="6446520"/>
            <a:ext cx="11274552" cy="0"/>
          </a:xfrm>
          <a:prstGeom prst="line">
            <a:avLst/>
          </a:prstGeom>
          <a:noFill/>
          <a:ln w="6350">
            <a:solidFill>
              <a:srgbClr val="E2E8F0"/>
            </a:solidFill>
            <a:prstDash val="solid"/>
          </a:ln>
        </p:spPr>
      </p:sp>
      <p:sp>
        <p:nvSpPr>
          <p:cNvPr id="12" name="Text 10"/>
          <p:cNvSpPr/>
          <p:nvPr/>
        </p:nvSpPr>
        <p:spPr>
          <a:xfrm>
            <a:off x="457200" y="6537960"/>
            <a:ext cx="914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25</a:t>
            </a:r>
            <a:endParaRPr lang="en-US" sz="900" dirty="0"/>
          </a:p>
        </p:txBody>
      </p:sp>
      <p:sp>
        <p:nvSpPr>
          <p:cNvPr id="13" name="Text 11"/>
          <p:cNvSpPr/>
          <p:nvPr/>
        </p:nvSpPr>
        <p:spPr>
          <a:xfrm>
            <a:off x="5943600" y="6537960"/>
            <a:ext cx="5788152" cy="228600"/>
          </a:xfrm>
          <a:prstGeom prst="rect">
            <a:avLst/>
          </a:prstGeom>
          <a:noFill/>
          <a:ln/>
        </p:spPr>
        <p:txBody>
          <a:bodyPr wrap="square" lIns="0" tIns="0" rIns="0" bIns="0" rtlCol="0" anchor="ctr"/>
          <a:lstStyle/>
          <a:p>
            <a:pPr algn="r" indent="0" marL="0">
              <a:buNone/>
            </a:pPr>
            <a:r>
              <a:rPr lang="en-US" sz="900" i="1" dirty="0">
                <a:solidFill>
                  <a:srgbClr val="94A3B8"/>
                </a:solidFill>
                <a:latin typeface="Calibri" pitchFamily="34" charset="0"/>
                <a:ea typeface="Calibri" pitchFamily="34" charset="-122"/>
                <a:cs typeface="Calibri" pitchFamily="34" charset="-120"/>
              </a:rPr>
              <a:t>Agentic Foundations · Half 1</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4552" cy="274320"/>
          </a:xfrm>
          <a:prstGeom prst="rect">
            <a:avLst/>
          </a:prstGeom>
          <a:noFill/>
          <a:ln/>
        </p:spPr>
        <p:txBody>
          <a:bodyPr wrap="square" lIns="0" tIns="0" rIns="0" bIns="0" rtlCol="0" anchor="ctr"/>
          <a:lstStyle/>
          <a:p>
            <a:pPr indent="0" marL="0">
              <a:buNone/>
            </a:pPr>
            <a:r>
              <a:rPr lang="en-US" sz="1000" b="1" spc="400" kern="0" dirty="0">
                <a:solidFill>
                  <a:srgbClr val="B45309"/>
                </a:solidFill>
                <a:latin typeface="Calibri" pitchFamily="34" charset="0"/>
                <a:ea typeface="Calibri" pitchFamily="34" charset="-122"/>
                <a:cs typeface="Calibri" pitchFamily="34" charset="-120"/>
              </a:rPr>
              <a:t>06 · FAILURE PATTERNS</a:t>
            </a:r>
            <a:endParaRPr lang="en-US" sz="1000" dirty="0"/>
          </a:p>
        </p:txBody>
      </p:sp>
      <p:sp>
        <p:nvSpPr>
          <p:cNvPr id="3" name="Text 1"/>
          <p:cNvSpPr/>
          <p:nvPr/>
        </p:nvSpPr>
        <p:spPr>
          <a:xfrm>
            <a:off x="457200" y="777240"/>
            <a:ext cx="11274552"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Six ways enterprise agents fail</a:t>
            </a:r>
            <a:endParaRPr lang="en-US" sz="2800" dirty="0"/>
          </a:p>
        </p:txBody>
      </p:sp>
      <p:sp>
        <p:nvSpPr>
          <p:cNvPr id="4" name="Text 2"/>
          <p:cNvSpPr/>
          <p:nvPr/>
        </p:nvSpPr>
        <p:spPr>
          <a:xfrm>
            <a:off x="457200" y="1554480"/>
            <a:ext cx="11274552"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Memorise these. Every one is a real production incident, and every one will get a defence later in the program.</a:t>
            </a:r>
            <a:endParaRPr lang="en-US" sz="1400" dirty="0"/>
          </a:p>
        </p:txBody>
      </p:sp>
      <p:sp>
        <p:nvSpPr>
          <p:cNvPr id="5" name="Shape 3"/>
          <p:cNvSpPr/>
          <p:nvPr/>
        </p:nvSpPr>
        <p:spPr>
          <a:xfrm>
            <a:off x="457200" y="2057400"/>
            <a:ext cx="11274552" cy="0"/>
          </a:xfrm>
          <a:prstGeom prst="line">
            <a:avLst/>
          </a:prstGeom>
          <a:noFill/>
          <a:ln w="6350">
            <a:solidFill>
              <a:srgbClr val="E2E8F0"/>
            </a:solidFill>
            <a:prstDash val="solid"/>
          </a:ln>
        </p:spPr>
      </p:sp>
      <p:sp>
        <p:nvSpPr>
          <p:cNvPr id="6" name="Shape 4"/>
          <p:cNvSpPr/>
          <p:nvPr/>
        </p:nvSpPr>
        <p:spPr>
          <a:xfrm>
            <a:off x="457200" y="2423160"/>
            <a:ext cx="11274552" cy="0"/>
          </a:xfrm>
          <a:prstGeom prst="line">
            <a:avLst/>
          </a:prstGeom>
          <a:noFill/>
          <a:ln w="12700">
            <a:solidFill>
              <a:srgbClr val="0F172A"/>
            </a:solidFill>
            <a:prstDash val="solid"/>
          </a:ln>
        </p:spPr>
      </p:sp>
      <p:sp>
        <p:nvSpPr>
          <p:cNvPr id="7" name="Text 5"/>
          <p:cNvSpPr/>
          <p:nvPr/>
        </p:nvSpPr>
        <p:spPr>
          <a:xfrm>
            <a:off x="502920" y="2514600"/>
            <a:ext cx="3200400" cy="274320"/>
          </a:xfrm>
          <a:prstGeom prst="rect">
            <a:avLst/>
          </a:prstGeom>
          <a:noFill/>
          <a:ln/>
        </p:spPr>
        <p:txBody>
          <a:bodyPr wrap="square" lIns="0" tIns="0" rIns="0" bIns="0" rtlCol="0" anchor="ctr"/>
          <a:lstStyle/>
          <a:p>
            <a:pPr indent="0" marL="0">
              <a:buNone/>
            </a:pPr>
            <a:r>
              <a:rPr lang="en-US" sz="1000" b="1" spc="200" kern="0" dirty="0">
                <a:solidFill>
                  <a:srgbClr val="64748B"/>
                </a:solidFill>
                <a:latin typeface="Calibri" pitchFamily="34" charset="0"/>
                <a:ea typeface="Calibri" pitchFamily="34" charset="-122"/>
                <a:cs typeface="Calibri" pitchFamily="34" charset="-120"/>
              </a:rPr>
              <a:t>PATTERN</a:t>
            </a:r>
            <a:endParaRPr lang="en-US" sz="1000" dirty="0"/>
          </a:p>
        </p:txBody>
      </p:sp>
      <p:sp>
        <p:nvSpPr>
          <p:cNvPr id="8" name="Text 6"/>
          <p:cNvSpPr/>
          <p:nvPr/>
        </p:nvSpPr>
        <p:spPr>
          <a:xfrm>
            <a:off x="3840480" y="2514600"/>
            <a:ext cx="4114800" cy="274320"/>
          </a:xfrm>
          <a:prstGeom prst="rect">
            <a:avLst/>
          </a:prstGeom>
          <a:noFill/>
          <a:ln/>
        </p:spPr>
        <p:txBody>
          <a:bodyPr wrap="square" lIns="0" tIns="0" rIns="0" bIns="0" rtlCol="0" anchor="ctr"/>
          <a:lstStyle/>
          <a:p>
            <a:pPr indent="0" marL="0">
              <a:buNone/>
            </a:pPr>
            <a:r>
              <a:rPr lang="en-US" sz="1000" b="1" spc="200" kern="0" dirty="0">
                <a:solidFill>
                  <a:srgbClr val="64748B"/>
                </a:solidFill>
                <a:latin typeface="Calibri" pitchFamily="34" charset="0"/>
                <a:ea typeface="Calibri" pitchFamily="34" charset="-122"/>
                <a:cs typeface="Calibri" pitchFamily="34" charset="-120"/>
              </a:rPr>
              <a:t>SYMPTOM</a:t>
            </a:r>
            <a:endParaRPr lang="en-US" sz="1000" dirty="0"/>
          </a:p>
        </p:txBody>
      </p:sp>
      <p:sp>
        <p:nvSpPr>
          <p:cNvPr id="9" name="Text 7"/>
          <p:cNvSpPr/>
          <p:nvPr/>
        </p:nvSpPr>
        <p:spPr>
          <a:xfrm>
            <a:off x="8138160" y="2514600"/>
            <a:ext cx="3657600" cy="274320"/>
          </a:xfrm>
          <a:prstGeom prst="rect">
            <a:avLst/>
          </a:prstGeom>
          <a:noFill/>
          <a:ln/>
        </p:spPr>
        <p:txBody>
          <a:bodyPr wrap="square" lIns="0" tIns="0" rIns="0" bIns="0" rtlCol="0" anchor="ctr"/>
          <a:lstStyle/>
          <a:p>
            <a:pPr indent="0" marL="0">
              <a:buNone/>
            </a:pPr>
            <a:r>
              <a:rPr lang="en-US" sz="1000" b="1" spc="200" kern="0" dirty="0">
                <a:solidFill>
                  <a:srgbClr val="64748B"/>
                </a:solidFill>
                <a:latin typeface="Calibri" pitchFamily="34" charset="0"/>
                <a:ea typeface="Calibri" pitchFamily="34" charset="-122"/>
                <a:cs typeface="Calibri" pitchFamily="34" charset="-120"/>
              </a:rPr>
              <a:t>ROOT CAUSE</a:t>
            </a:r>
            <a:endParaRPr lang="en-US" sz="1000" dirty="0"/>
          </a:p>
        </p:txBody>
      </p:sp>
      <p:sp>
        <p:nvSpPr>
          <p:cNvPr id="10" name="Shape 8"/>
          <p:cNvSpPr/>
          <p:nvPr/>
        </p:nvSpPr>
        <p:spPr>
          <a:xfrm>
            <a:off x="457200" y="2834640"/>
            <a:ext cx="11274552" cy="0"/>
          </a:xfrm>
          <a:prstGeom prst="line">
            <a:avLst/>
          </a:prstGeom>
          <a:noFill/>
          <a:ln w="6350">
            <a:solidFill>
              <a:srgbClr val="E2E8F0"/>
            </a:solidFill>
            <a:prstDash val="solid"/>
          </a:ln>
        </p:spPr>
      </p:sp>
      <p:sp>
        <p:nvSpPr>
          <p:cNvPr id="11" name="Text 9"/>
          <p:cNvSpPr/>
          <p:nvPr/>
        </p:nvSpPr>
        <p:spPr>
          <a:xfrm>
            <a:off x="502920" y="2926080"/>
            <a:ext cx="365760" cy="457200"/>
          </a:xfrm>
          <a:prstGeom prst="rect">
            <a:avLst/>
          </a:prstGeom>
          <a:noFill/>
          <a:ln/>
        </p:spPr>
        <p:txBody>
          <a:bodyPr wrap="square" lIns="0" tIns="0" rIns="0" bIns="0" rtlCol="0" anchor="ctr"/>
          <a:lstStyle/>
          <a:p>
            <a:pPr indent="0" marL="0">
              <a:buNone/>
            </a:pPr>
            <a:r>
              <a:rPr lang="en-US" sz="1600" b="1" dirty="0">
                <a:solidFill>
                  <a:srgbClr val="B45309"/>
                </a:solidFill>
                <a:latin typeface="Georgia" pitchFamily="34" charset="0"/>
                <a:ea typeface="Georgia" pitchFamily="34" charset="-122"/>
                <a:cs typeface="Georgia" pitchFamily="34" charset="-120"/>
              </a:rPr>
              <a:t>1</a:t>
            </a:r>
            <a:endParaRPr lang="en-US" sz="1600" dirty="0"/>
          </a:p>
        </p:txBody>
      </p:sp>
      <p:sp>
        <p:nvSpPr>
          <p:cNvPr id="12" name="Text 10"/>
          <p:cNvSpPr/>
          <p:nvPr/>
        </p:nvSpPr>
        <p:spPr>
          <a:xfrm>
            <a:off x="914400" y="2926080"/>
            <a:ext cx="2743200" cy="45720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Looping</a:t>
            </a:r>
            <a:endParaRPr lang="en-US" sz="1300" dirty="0"/>
          </a:p>
        </p:txBody>
      </p:sp>
      <p:sp>
        <p:nvSpPr>
          <p:cNvPr id="13" name="Text 11"/>
          <p:cNvSpPr/>
          <p:nvPr/>
        </p:nvSpPr>
        <p:spPr>
          <a:xfrm>
            <a:off x="3840480" y="2926080"/>
            <a:ext cx="4114800" cy="45720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Same tool called 40 times</a:t>
            </a:r>
            <a:endParaRPr lang="en-US" sz="1200" dirty="0"/>
          </a:p>
        </p:txBody>
      </p:sp>
      <p:sp>
        <p:nvSpPr>
          <p:cNvPr id="14" name="Text 12"/>
          <p:cNvSpPr/>
          <p:nvPr/>
        </p:nvSpPr>
        <p:spPr>
          <a:xfrm>
            <a:off x="8138160" y="2926080"/>
            <a:ext cx="3657600" cy="45720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No iteration cap, no terminal state</a:t>
            </a:r>
            <a:endParaRPr lang="en-US" sz="1200" dirty="0"/>
          </a:p>
        </p:txBody>
      </p:sp>
      <p:sp>
        <p:nvSpPr>
          <p:cNvPr id="15" name="Shape 13"/>
          <p:cNvSpPr/>
          <p:nvPr/>
        </p:nvSpPr>
        <p:spPr>
          <a:xfrm>
            <a:off x="457200" y="3383280"/>
            <a:ext cx="11274552" cy="0"/>
          </a:xfrm>
          <a:prstGeom prst="line">
            <a:avLst/>
          </a:prstGeom>
          <a:noFill/>
          <a:ln w="6350">
            <a:solidFill>
              <a:srgbClr val="E2E8F0"/>
            </a:solidFill>
            <a:prstDash val="solid"/>
          </a:ln>
        </p:spPr>
      </p:sp>
      <p:sp>
        <p:nvSpPr>
          <p:cNvPr id="16" name="Text 14"/>
          <p:cNvSpPr/>
          <p:nvPr/>
        </p:nvSpPr>
        <p:spPr>
          <a:xfrm>
            <a:off x="502920" y="3429000"/>
            <a:ext cx="365760" cy="457200"/>
          </a:xfrm>
          <a:prstGeom prst="rect">
            <a:avLst/>
          </a:prstGeom>
          <a:noFill/>
          <a:ln/>
        </p:spPr>
        <p:txBody>
          <a:bodyPr wrap="square" lIns="0" tIns="0" rIns="0" bIns="0" rtlCol="0" anchor="ctr"/>
          <a:lstStyle/>
          <a:p>
            <a:pPr indent="0" marL="0">
              <a:buNone/>
            </a:pPr>
            <a:r>
              <a:rPr lang="en-US" sz="1600" b="1" dirty="0">
                <a:solidFill>
                  <a:srgbClr val="B45309"/>
                </a:solidFill>
                <a:latin typeface="Georgia" pitchFamily="34" charset="0"/>
                <a:ea typeface="Georgia" pitchFamily="34" charset="-122"/>
                <a:cs typeface="Georgia" pitchFamily="34" charset="-120"/>
              </a:rPr>
              <a:t>2</a:t>
            </a:r>
            <a:endParaRPr lang="en-US" sz="1600" dirty="0"/>
          </a:p>
        </p:txBody>
      </p:sp>
      <p:sp>
        <p:nvSpPr>
          <p:cNvPr id="17" name="Text 15"/>
          <p:cNvSpPr/>
          <p:nvPr/>
        </p:nvSpPr>
        <p:spPr>
          <a:xfrm>
            <a:off x="914400" y="3429000"/>
            <a:ext cx="2743200" cy="45720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Silent tool failure</a:t>
            </a:r>
            <a:endParaRPr lang="en-US" sz="1300" dirty="0"/>
          </a:p>
        </p:txBody>
      </p:sp>
      <p:sp>
        <p:nvSpPr>
          <p:cNvPr id="18" name="Text 16"/>
          <p:cNvSpPr/>
          <p:nvPr/>
        </p:nvSpPr>
        <p:spPr>
          <a:xfrm>
            <a:off x="3840480" y="3429000"/>
            <a:ext cx="4114800" cy="45720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Tool returned error, agent says "done"</a:t>
            </a:r>
            <a:endParaRPr lang="en-US" sz="1200" dirty="0"/>
          </a:p>
        </p:txBody>
      </p:sp>
      <p:sp>
        <p:nvSpPr>
          <p:cNvPr id="19" name="Text 17"/>
          <p:cNvSpPr/>
          <p:nvPr/>
        </p:nvSpPr>
        <p:spPr>
          <a:xfrm>
            <a:off x="8138160" y="3429000"/>
            <a:ext cx="3657600" cy="45720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Over-broad try/except, no result validation</a:t>
            </a:r>
            <a:endParaRPr lang="en-US" sz="1200" dirty="0"/>
          </a:p>
        </p:txBody>
      </p:sp>
      <p:sp>
        <p:nvSpPr>
          <p:cNvPr id="20" name="Shape 18"/>
          <p:cNvSpPr/>
          <p:nvPr/>
        </p:nvSpPr>
        <p:spPr>
          <a:xfrm>
            <a:off x="457200" y="3886200"/>
            <a:ext cx="11274552" cy="0"/>
          </a:xfrm>
          <a:prstGeom prst="line">
            <a:avLst/>
          </a:prstGeom>
          <a:noFill/>
          <a:ln w="6350">
            <a:solidFill>
              <a:srgbClr val="E2E8F0"/>
            </a:solidFill>
            <a:prstDash val="solid"/>
          </a:ln>
        </p:spPr>
      </p:sp>
      <p:sp>
        <p:nvSpPr>
          <p:cNvPr id="21" name="Text 19"/>
          <p:cNvSpPr/>
          <p:nvPr/>
        </p:nvSpPr>
        <p:spPr>
          <a:xfrm>
            <a:off x="502920" y="3931920"/>
            <a:ext cx="365760" cy="457200"/>
          </a:xfrm>
          <a:prstGeom prst="rect">
            <a:avLst/>
          </a:prstGeom>
          <a:noFill/>
          <a:ln/>
        </p:spPr>
        <p:txBody>
          <a:bodyPr wrap="square" lIns="0" tIns="0" rIns="0" bIns="0" rtlCol="0" anchor="ctr"/>
          <a:lstStyle/>
          <a:p>
            <a:pPr indent="0" marL="0">
              <a:buNone/>
            </a:pPr>
            <a:r>
              <a:rPr lang="en-US" sz="1600" b="1" dirty="0">
                <a:solidFill>
                  <a:srgbClr val="B45309"/>
                </a:solidFill>
                <a:latin typeface="Georgia" pitchFamily="34" charset="0"/>
                <a:ea typeface="Georgia" pitchFamily="34" charset="-122"/>
                <a:cs typeface="Georgia" pitchFamily="34" charset="-120"/>
              </a:rPr>
              <a:t>3</a:t>
            </a:r>
            <a:endParaRPr lang="en-US" sz="1600" dirty="0"/>
          </a:p>
        </p:txBody>
      </p:sp>
      <p:sp>
        <p:nvSpPr>
          <p:cNvPr id="22" name="Text 20"/>
          <p:cNvSpPr/>
          <p:nvPr/>
        </p:nvSpPr>
        <p:spPr>
          <a:xfrm>
            <a:off x="914400" y="3931920"/>
            <a:ext cx="2743200" cy="45720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Hallucinated tool or step</a:t>
            </a:r>
            <a:endParaRPr lang="en-US" sz="1300" dirty="0"/>
          </a:p>
        </p:txBody>
      </p:sp>
      <p:sp>
        <p:nvSpPr>
          <p:cNvPr id="23" name="Text 21"/>
          <p:cNvSpPr/>
          <p:nvPr/>
        </p:nvSpPr>
        <p:spPr>
          <a:xfrm>
            <a:off x="3840480" y="3931920"/>
            <a:ext cx="4114800" cy="45720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Agent claims it called a tool that never ran</a:t>
            </a:r>
            <a:endParaRPr lang="en-US" sz="1200" dirty="0"/>
          </a:p>
        </p:txBody>
      </p:sp>
      <p:sp>
        <p:nvSpPr>
          <p:cNvPr id="24" name="Text 22"/>
          <p:cNvSpPr/>
          <p:nvPr/>
        </p:nvSpPr>
        <p:spPr>
          <a:xfrm>
            <a:off x="8138160" y="3931920"/>
            <a:ext cx="3657600" cy="45720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No tool allowlist, loose schemas</a:t>
            </a:r>
            <a:endParaRPr lang="en-US" sz="1200" dirty="0"/>
          </a:p>
        </p:txBody>
      </p:sp>
      <p:sp>
        <p:nvSpPr>
          <p:cNvPr id="25" name="Shape 23"/>
          <p:cNvSpPr/>
          <p:nvPr/>
        </p:nvSpPr>
        <p:spPr>
          <a:xfrm>
            <a:off x="457200" y="4389120"/>
            <a:ext cx="11274552" cy="0"/>
          </a:xfrm>
          <a:prstGeom prst="line">
            <a:avLst/>
          </a:prstGeom>
          <a:noFill/>
          <a:ln w="6350">
            <a:solidFill>
              <a:srgbClr val="E2E8F0"/>
            </a:solidFill>
            <a:prstDash val="solid"/>
          </a:ln>
        </p:spPr>
      </p:sp>
      <p:sp>
        <p:nvSpPr>
          <p:cNvPr id="26" name="Text 24"/>
          <p:cNvSpPr/>
          <p:nvPr/>
        </p:nvSpPr>
        <p:spPr>
          <a:xfrm>
            <a:off x="502920" y="4434840"/>
            <a:ext cx="365760" cy="457200"/>
          </a:xfrm>
          <a:prstGeom prst="rect">
            <a:avLst/>
          </a:prstGeom>
          <a:noFill/>
          <a:ln/>
        </p:spPr>
        <p:txBody>
          <a:bodyPr wrap="square" lIns="0" tIns="0" rIns="0" bIns="0" rtlCol="0" anchor="ctr"/>
          <a:lstStyle/>
          <a:p>
            <a:pPr indent="0" marL="0">
              <a:buNone/>
            </a:pPr>
            <a:r>
              <a:rPr lang="en-US" sz="1600" b="1" dirty="0">
                <a:solidFill>
                  <a:srgbClr val="B45309"/>
                </a:solidFill>
                <a:latin typeface="Georgia" pitchFamily="34" charset="0"/>
                <a:ea typeface="Georgia" pitchFamily="34" charset="-122"/>
                <a:cs typeface="Georgia" pitchFamily="34" charset="-120"/>
              </a:rPr>
              <a:t>4</a:t>
            </a:r>
            <a:endParaRPr lang="en-US" sz="1600" dirty="0"/>
          </a:p>
        </p:txBody>
      </p:sp>
      <p:sp>
        <p:nvSpPr>
          <p:cNvPr id="27" name="Text 25"/>
          <p:cNvSpPr/>
          <p:nvPr/>
        </p:nvSpPr>
        <p:spPr>
          <a:xfrm>
            <a:off x="914400" y="4434840"/>
            <a:ext cx="2743200" cy="45720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Context poisoning</a:t>
            </a:r>
            <a:endParaRPr lang="en-US" sz="1300" dirty="0"/>
          </a:p>
        </p:txBody>
      </p:sp>
      <p:sp>
        <p:nvSpPr>
          <p:cNvPr id="28" name="Text 26"/>
          <p:cNvSpPr/>
          <p:nvPr/>
        </p:nvSpPr>
        <p:spPr>
          <a:xfrm>
            <a:off x="3840480" y="4434840"/>
            <a:ext cx="4114800" cy="45720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Old session leaks into a new user</a:t>
            </a:r>
            <a:endParaRPr lang="en-US" sz="1200" dirty="0"/>
          </a:p>
        </p:txBody>
      </p:sp>
      <p:sp>
        <p:nvSpPr>
          <p:cNvPr id="29" name="Text 27"/>
          <p:cNvSpPr/>
          <p:nvPr/>
        </p:nvSpPr>
        <p:spPr>
          <a:xfrm>
            <a:off x="8138160" y="4434840"/>
            <a:ext cx="3657600" cy="45720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No memory isolation, no TTL</a:t>
            </a:r>
            <a:endParaRPr lang="en-US" sz="1200" dirty="0"/>
          </a:p>
        </p:txBody>
      </p:sp>
      <p:sp>
        <p:nvSpPr>
          <p:cNvPr id="30" name="Shape 28"/>
          <p:cNvSpPr/>
          <p:nvPr/>
        </p:nvSpPr>
        <p:spPr>
          <a:xfrm>
            <a:off x="457200" y="4892040"/>
            <a:ext cx="11274552" cy="0"/>
          </a:xfrm>
          <a:prstGeom prst="line">
            <a:avLst/>
          </a:prstGeom>
          <a:noFill/>
          <a:ln w="6350">
            <a:solidFill>
              <a:srgbClr val="E2E8F0"/>
            </a:solidFill>
            <a:prstDash val="solid"/>
          </a:ln>
        </p:spPr>
      </p:sp>
      <p:sp>
        <p:nvSpPr>
          <p:cNvPr id="31" name="Text 29"/>
          <p:cNvSpPr/>
          <p:nvPr/>
        </p:nvSpPr>
        <p:spPr>
          <a:xfrm>
            <a:off x="502920" y="4937760"/>
            <a:ext cx="365760" cy="457200"/>
          </a:xfrm>
          <a:prstGeom prst="rect">
            <a:avLst/>
          </a:prstGeom>
          <a:noFill/>
          <a:ln/>
        </p:spPr>
        <p:txBody>
          <a:bodyPr wrap="square" lIns="0" tIns="0" rIns="0" bIns="0" rtlCol="0" anchor="ctr"/>
          <a:lstStyle/>
          <a:p>
            <a:pPr indent="0" marL="0">
              <a:buNone/>
            </a:pPr>
            <a:r>
              <a:rPr lang="en-US" sz="1600" b="1" dirty="0">
                <a:solidFill>
                  <a:srgbClr val="B45309"/>
                </a:solidFill>
                <a:latin typeface="Georgia" pitchFamily="34" charset="0"/>
                <a:ea typeface="Georgia" pitchFamily="34" charset="-122"/>
                <a:cs typeface="Georgia" pitchFamily="34" charset="-120"/>
              </a:rPr>
              <a:t>5</a:t>
            </a:r>
            <a:endParaRPr lang="en-US" sz="1600" dirty="0"/>
          </a:p>
        </p:txBody>
      </p:sp>
      <p:sp>
        <p:nvSpPr>
          <p:cNvPr id="32" name="Text 30"/>
          <p:cNvSpPr/>
          <p:nvPr/>
        </p:nvSpPr>
        <p:spPr>
          <a:xfrm>
            <a:off x="914400" y="4937760"/>
            <a:ext cx="2743200" cy="45720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State drift</a:t>
            </a:r>
            <a:endParaRPr lang="en-US" sz="1300" dirty="0"/>
          </a:p>
        </p:txBody>
      </p:sp>
      <p:sp>
        <p:nvSpPr>
          <p:cNvPr id="33" name="Text 31"/>
          <p:cNvSpPr/>
          <p:nvPr/>
        </p:nvSpPr>
        <p:spPr>
          <a:xfrm>
            <a:off x="3840480" y="4937760"/>
            <a:ext cx="4114800" cy="45720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Multi-step workflow loses track</a:t>
            </a:r>
            <a:endParaRPr lang="en-US" sz="1200" dirty="0"/>
          </a:p>
        </p:txBody>
      </p:sp>
      <p:sp>
        <p:nvSpPr>
          <p:cNvPr id="34" name="Text 32"/>
          <p:cNvSpPr/>
          <p:nvPr/>
        </p:nvSpPr>
        <p:spPr>
          <a:xfrm>
            <a:off x="8138160" y="4937760"/>
            <a:ext cx="3657600" cy="45720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No explicit state schema</a:t>
            </a:r>
            <a:endParaRPr lang="en-US" sz="1200" dirty="0"/>
          </a:p>
        </p:txBody>
      </p:sp>
      <p:sp>
        <p:nvSpPr>
          <p:cNvPr id="35" name="Shape 33"/>
          <p:cNvSpPr/>
          <p:nvPr/>
        </p:nvSpPr>
        <p:spPr>
          <a:xfrm>
            <a:off x="457200" y="5394960"/>
            <a:ext cx="11274552" cy="0"/>
          </a:xfrm>
          <a:prstGeom prst="line">
            <a:avLst/>
          </a:prstGeom>
          <a:noFill/>
          <a:ln w="6350">
            <a:solidFill>
              <a:srgbClr val="E2E8F0"/>
            </a:solidFill>
            <a:prstDash val="solid"/>
          </a:ln>
        </p:spPr>
      </p:sp>
      <p:sp>
        <p:nvSpPr>
          <p:cNvPr id="36" name="Text 34"/>
          <p:cNvSpPr/>
          <p:nvPr/>
        </p:nvSpPr>
        <p:spPr>
          <a:xfrm>
            <a:off x="502920" y="5440680"/>
            <a:ext cx="365760" cy="457200"/>
          </a:xfrm>
          <a:prstGeom prst="rect">
            <a:avLst/>
          </a:prstGeom>
          <a:noFill/>
          <a:ln/>
        </p:spPr>
        <p:txBody>
          <a:bodyPr wrap="square" lIns="0" tIns="0" rIns="0" bIns="0" rtlCol="0" anchor="ctr"/>
          <a:lstStyle/>
          <a:p>
            <a:pPr indent="0" marL="0">
              <a:buNone/>
            </a:pPr>
            <a:r>
              <a:rPr lang="en-US" sz="1600" b="1" dirty="0">
                <a:solidFill>
                  <a:srgbClr val="B45309"/>
                </a:solidFill>
                <a:latin typeface="Georgia" pitchFamily="34" charset="0"/>
                <a:ea typeface="Georgia" pitchFamily="34" charset="-122"/>
                <a:cs typeface="Georgia" pitchFamily="34" charset="-120"/>
              </a:rPr>
              <a:t>6</a:t>
            </a:r>
            <a:endParaRPr lang="en-US" sz="1600" dirty="0"/>
          </a:p>
        </p:txBody>
      </p:sp>
      <p:sp>
        <p:nvSpPr>
          <p:cNvPr id="37" name="Text 35"/>
          <p:cNvSpPr/>
          <p:nvPr/>
        </p:nvSpPr>
        <p:spPr>
          <a:xfrm>
            <a:off x="914400" y="5440680"/>
            <a:ext cx="2743200" cy="45720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Unsafe autonomy</a:t>
            </a:r>
            <a:endParaRPr lang="en-US" sz="1300" dirty="0"/>
          </a:p>
        </p:txBody>
      </p:sp>
      <p:sp>
        <p:nvSpPr>
          <p:cNvPr id="38" name="Text 36"/>
          <p:cNvSpPr/>
          <p:nvPr/>
        </p:nvSpPr>
        <p:spPr>
          <a:xfrm>
            <a:off x="3840480" y="5440680"/>
            <a:ext cx="4114800" cy="45720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Irreversible action without approval</a:t>
            </a:r>
            <a:endParaRPr lang="en-US" sz="1200" dirty="0"/>
          </a:p>
        </p:txBody>
      </p:sp>
      <p:sp>
        <p:nvSpPr>
          <p:cNvPr id="39" name="Text 37"/>
          <p:cNvSpPr/>
          <p:nvPr/>
        </p:nvSpPr>
        <p:spPr>
          <a:xfrm>
            <a:off x="8138160" y="5440680"/>
            <a:ext cx="3657600" cy="45720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No human-in-the-loop gate before write</a:t>
            </a:r>
            <a:endParaRPr lang="en-US" sz="1200" dirty="0"/>
          </a:p>
        </p:txBody>
      </p:sp>
      <p:sp>
        <p:nvSpPr>
          <p:cNvPr id="40" name="Shape 38"/>
          <p:cNvSpPr/>
          <p:nvPr/>
        </p:nvSpPr>
        <p:spPr>
          <a:xfrm>
            <a:off x="457200" y="5897880"/>
            <a:ext cx="11274552" cy="0"/>
          </a:xfrm>
          <a:prstGeom prst="line">
            <a:avLst/>
          </a:prstGeom>
          <a:noFill/>
          <a:ln w="6350">
            <a:solidFill>
              <a:srgbClr val="E2E8F0"/>
            </a:solidFill>
            <a:prstDash val="solid"/>
          </a:ln>
        </p:spPr>
      </p:sp>
      <p:sp>
        <p:nvSpPr>
          <p:cNvPr id="41" name="Text 39"/>
          <p:cNvSpPr/>
          <p:nvPr/>
        </p:nvSpPr>
        <p:spPr>
          <a:xfrm>
            <a:off x="457200" y="6035040"/>
            <a:ext cx="11274552" cy="274320"/>
          </a:xfrm>
          <a:prstGeom prst="rect">
            <a:avLst/>
          </a:prstGeom>
          <a:noFill/>
          <a:ln/>
        </p:spPr>
        <p:txBody>
          <a:bodyPr wrap="square" lIns="0" tIns="0" rIns="0" bIns="0" rtlCol="0" anchor="ctr"/>
          <a:lstStyle/>
          <a:p>
            <a:pPr indent="0" marL="0">
              <a:buNone/>
            </a:pPr>
            <a:r>
              <a:rPr lang="en-US" sz="1000" i="1" dirty="0">
                <a:solidFill>
                  <a:srgbClr val="94A3B8"/>
                </a:solidFill>
                <a:latin typeface="Calibri" pitchFamily="34" charset="0"/>
                <a:ea typeface="Calibri" pitchFamily="34" charset="-122"/>
                <a:cs typeface="Calibri" pitchFamily="34" charset="-120"/>
              </a:rPr>
              <a:t>Five of these will be injected into a live trace on a later day. You will diagnose them from logs.</a:t>
            </a:r>
            <a:endParaRPr lang="en-US" sz="1000" dirty="0"/>
          </a:p>
        </p:txBody>
      </p:sp>
      <p:sp>
        <p:nvSpPr>
          <p:cNvPr id="42" name="Shape 40"/>
          <p:cNvSpPr/>
          <p:nvPr/>
        </p:nvSpPr>
        <p:spPr>
          <a:xfrm>
            <a:off x="457200" y="6446520"/>
            <a:ext cx="11274552" cy="0"/>
          </a:xfrm>
          <a:prstGeom prst="line">
            <a:avLst/>
          </a:prstGeom>
          <a:noFill/>
          <a:ln w="6350">
            <a:solidFill>
              <a:srgbClr val="E2E8F0"/>
            </a:solidFill>
            <a:prstDash val="solid"/>
          </a:ln>
        </p:spPr>
      </p:sp>
      <p:sp>
        <p:nvSpPr>
          <p:cNvPr id="43" name="Text 41"/>
          <p:cNvSpPr/>
          <p:nvPr/>
        </p:nvSpPr>
        <p:spPr>
          <a:xfrm>
            <a:off x="457200" y="6537960"/>
            <a:ext cx="914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26</a:t>
            </a:r>
            <a:endParaRPr lang="en-US" sz="900" dirty="0"/>
          </a:p>
        </p:txBody>
      </p:sp>
      <p:sp>
        <p:nvSpPr>
          <p:cNvPr id="44" name="Text 42"/>
          <p:cNvSpPr/>
          <p:nvPr/>
        </p:nvSpPr>
        <p:spPr>
          <a:xfrm>
            <a:off x="5943600" y="6537960"/>
            <a:ext cx="5788152" cy="228600"/>
          </a:xfrm>
          <a:prstGeom prst="rect">
            <a:avLst/>
          </a:prstGeom>
          <a:noFill/>
          <a:ln/>
        </p:spPr>
        <p:txBody>
          <a:bodyPr wrap="square" lIns="0" tIns="0" rIns="0" bIns="0" rtlCol="0" anchor="ctr"/>
          <a:lstStyle/>
          <a:p>
            <a:pPr algn="r" indent="0" marL="0">
              <a:buNone/>
            </a:pPr>
            <a:r>
              <a:rPr lang="en-US" sz="900" i="1" dirty="0">
                <a:solidFill>
                  <a:srgbClr val="94A3B8"/>
                </a:solidFill>
                <a:latin typeface="Calibri" pitchFamily="34" charset="0"/>
                <a:ea typeface="Calibri" pitchFamily="34" charset="-122"/>
                <a:cs typeface="Calibri" pitchFamily="34" charset="-120"/>
              </a:rPr>
              <a:t>Agentic Foundations · Half 1</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4552" cy="274320"/>
          </a:xfrm>
          <a:prstGeom prst="rect">
            <a:avLst/>
          </a:prstGeom>
          <a:noFill/>
          <a:ln/>
        </p:spPr>
        <p:txBody>
          <a:bodyPr wrap="square" lIns="0" tIns="0" rIns="0" bIns="0" rtlCol="0" anchor="ctr"/>
          <a:lstStyle/>
          <a:p>
            <a:pPr indent="0" marL="0">
              <a:buNone/>
            </a:pPr>
            <a:r>
              <a:rPr lang="en-US" sz="1000" b="1" spc="400" kern="0" dirty="0">
                <a:solidFill>
                  <a:srgbClr val="B45309"/>
                </a:solidFill>
                <a:latin typeface="Calibri" pitchFamily="34" charset="0"/>
                <a:ea typeface="Calibri" pitchFamily="34" charset="-122"/>
                <a:cs typeface="Calibri" pitchFamily="34" charset="-120"/>
              </a:rPr>
              <a:t>CASE STUDY · APPLIED</a:t>
            </a:r>
            <a:endParaRPr lang="en-US" sz="1000" dirty="0"/>
          </a:p>
        </p:txBody>
      </p:sp>
      <p:sp>
        <p:nvSpPr>
          <p:cNvPr id="3" name="Text 1"/>
          <p:cNvSpPr/>
          <p:nvPr/>
        </p:nvSpPr>
        <p:spPr>
          <a:xfrm>
            <a:off x="457200" y="777240"/>
            <a:ext cx="11274552"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Onboarding agent — six patterns in one workflow</a:t>
            </a:r>
            <a:endParaRPr lang="en-US" sz="2800" dirty="0"/>
          </a:p>
        </p:txBody>
      </p:sp>
      <p:sp>
        <p:nvSpPr>
          <p:cNvPr id="4" name="Text 2"/>
          <p:cNvSpPr/>
          <p:nvPr/>
        </p:nvSpPr>
        <p:spPr>
          <a:xfrm>
            <a:off x="457200" y="1554480"/>
            <a:ext cx="11274552"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A single use case touches every failure pattern. Walk it once; you will spot them in your own systems tomorrow.</a:t>
            </a:r>
            <a:endParaRPr lang="en-US" sz="1400" dirty="0"/>
          </a:p>
        </p:txBody>
      </p:sp>
      <p:sp>
        <p:nvSpPr>
          <p:cNvPr id="5" name="Shape 3"/>
          <p:cNvSpPr/>
          <p:nvPr/>
        </p:nvSpPr>
        <p:spPr>
          <a:xfrm>
            <a:off x="457200" y="2057400"/>
            <a:ext cx="11274552" cy="0"/>
          </a:xfrm>
          <a:prstGeom prst="line">
            <a:avLst/>
          </a:prstGeom>
          <a:noFill/>
          <a:ln w="6350">
            <a:solidFill>
              <a:srgbClr val="E2E8F0"/>
            </a:solidFill>
            <a:prstDash val="solid"/>
          </a:ln>
        </p:spPr>
      </p:sp>
      <p:sp>
        <p:nvSpPr>
          <p:cNvPr id="6" name="Text 4"/>
          <p:cNvSpPr/>
          <p:nvPr/>
        </p:nvSpPr>
        <p:spPr>
          <a:xfrm>
            <a:off x="457200" y="2331720"/>
            <a:ext cx="10972800" cy="274320"/>
          </a:xfrm>
          <a:prstGeom prst="rect">
            <a:avLst/>
          </a:prstGeom>
          <a:noFill/>
          <a:ln/>
        </p:spPr>
        <p:txBody>
          <a:bodyPr wrap="square" lIns="0" tIns="0" rIns="0" bIns="0" rtlCol="0" anchor="ctr"/>
          <a:lstStyle/>
          <a:p>
            <a:pPr indent="0" marL="0">
              <a:buNone/>
            </a:pPr>
            <a:r>
              <a:rPr lang="en-US" sz="1000" b="1" spc="300" kern="0" dirty="0">
                <a:solidFill>
                  <a:srgbClr val="B45309"/>
                </a:solidFill>
                <a:latin typeface="Calibri" pitchFamily="34" charset="0"/>
                <a:ea typeface="Calibri" pitchFamily="34" charset="-122"/>
                <a:cs typeface="Calibri" pitchFamily="34" charset="-120"/>
              </a:rPr>
              <a:t>THE WORKFLOW</a:t>
            </a:r>
            <a:endParaRPr lang="en-US" sz="1000" dirty="0"/>
          </a:p>
        </p:txBody>
      </p:sp>
      <p:sp>
        <p:nvSpPr>
          <p:cNvPr id="7" name="Text 5"/>
          <p:cNvSpPr/>
          <p:nvPr/>
        </p:nvSpPr>
        <p:spPr>
          <a:xfrm>
            <a:off x="457200" y="2651760"/>
            <a:ext cx="11274552" cy="640080"/>
          </a:xfrm>
          <a:prstGeom prst="rect">
            <a:avLst/>
          </a:prstGeom>
          <a:noFill/>
          <a:ln/>
        </p:spPr>
        <p:txBody>
          <a:bodyPr wrap="square" lIns="0" tIns="0" rIns="0" bIns="0" rtlCol="0" anchor="ctr"/>
          <a:lstStyle/>
          <a:p>
            <a:pPr indent="0" marL="0">
              <a:buNone/>
            </a:pPr>
            <a:r>
              <a:rPr lang="en-US" sz="1300" dirty="0">
                <a:solidFill>
                  <a:srgbClr val="0F172A"/>
                </a:solidFill>
                <a:latin typeface="Calibri" pitchFamily="34" charset="0"/>
                <a:ea typeface="Calibri" pitchFamily="34" charset="-122"/>
                <a:cs typeface="Calibri" pitchFamily="34" charset="-120"/>
              </a:rPr>
              <a:t>An agent onboards a new corporate client. Steps: validate documents, run KYC checks, provision a tenant, set up billing, send a welcome packet. Five tool calls. Across thousands of clients.</a:t>
            </a:r>
            <a:endParaRPr lang="en-US" sz="1300" dirty="0"/>
          </a:p>
        </p:txBody>
      </p:sp>
      <p:sp>
        <p:nvSpPr>
          <p:cNvPr id="8" name="Text 6"/>
          <p:cNvSpPr/>
          <p:nvPr/>
        </p:nvSpPr>
        <p:spPr>
          <a:xfrm>
            <a:off x="457200" y="3291840"/>
            <a:ext cx="365760" cy="365760"/>
          </a:xfrm>
          <a:prstGeom prst="rect">
            <a:avLst/>
          </a:prstGeom>
          <a:noFill/>
          <a:ln/>
        </p:spPr>
        <p:txBody>
          <a:bodyPr wrap="square" lIns="0" tIns="0" rIns="0" bIns="0" rtlCol="0" anchor="ctr"/>
          <a:lstStyle/>
          <a:p>
            <a:pPr indent="0" marL="0">
              <a:buNone/>
            </a:pPr>
            <a:r>
              <a:rPr lang="en-US" sz="1300" b="1" dirty="0">
                <a:solidFill>
                  <a:srgbClr val="B45309"/>
                </a:solidFill>
                <a:latin typeface="Georgia" pitchFamily="34" charset="0"/>
                <a:ea typeface="Georgia" pitchFamily="34" charset="-122"/>
                <a:cs typeface="Georgia" pitchFamily="34" charset="-120"/>
              </a:rPr>
              <a:t>1.</a:t>
            </a:r>
            <a:endParaRPr lang="en-US" sz="1300" dirty="0"/>
          </a:p>
        </p:txBody>
      </p:sp>
      <p:sp>
        <p:nvSpPr>
          <p:cNvPr id="9" name="Text 7"/>
          <p:cNvSpPr/>
          <p:nvPr/>
        </p:nvSpPr>
        <p:spPr>
          <a:xfrm>
            <a:off x="868680" y="3291840"/>
            <a:ext cx="2468880" cy="36576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Looping</a:t>
            </a:r>
            <a:endParaRPr lang="en-US" sz="1300" dirty="0"/>
          </a:p>
        </p:txBody>
      </p:sp>
      <p:sp>
        <p:nvSpPr>
          <p:cNvPr id="10" name="Text 8"/>
          <p:cNvSpPr/>
          <p:nvPr/>
        </p:nvSpPr>
        <p:spPr>
          <a:xfrm>
            <a:off x="3383280" y="3291840"/>
            <a:ext cx="8321040" cy="36576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Document upload returns malformed metadata. Agent re-validates 60 times before the run is killed.</a:t>
            </a:r>
            <a:endParaRPr lang="en-US" sz="1200" dirty="0"/>
          </a:p>
        </p:txBody>
      </p:sp>
      <p:sp>
        <p:nvSpPr>
          <p:cNvPr id="11" name="Text 9"/>
          <p:cNvSpPr/>
          <p:nvPr/>
        </p:nvSpPr>
        <p:spPr>
          <a:xfrm>
            <a:off x="457200" y="3749040"/>
            <a:ext cx="365760" cy="365760"/>
          </a:xfrm>
          <a:prstGeom prst="rect">
            <a:avLst/>
          </a:prstGeom>
          <a:noFill/>
          <a:ln/>
        </p:spPr>
        <p:txBody>
          <a:bodyPr wrap="square" lIns="0" tIns="0" rIns="0" bIns="0" rtlCol="0" anchor="ctr"/>
          <a:lstStyle/>
          <a:p>
            <a:pPr indent="0" marL="0">
              <a:buNone/>
            </a:pPr>
            <a:r>
              <a:rPr lang="en-US" sz="1300" b="1" dirty="0">
                <a:solidFill>
                  <a:srgbClr val="B45309"/>
                </a:solidFill>
                <a:latin typeface="Georgia" pitchFamily="34" charset="0"/>
                <a:ea typeface="Georgia" pitchFamily="34" charset="-122"/>
                <a:cs typeface="Georgia" pitchFamily="34" charset="-120"/>
              </a:rPr>
              <a:t>2.</a:t>
            </a:r>
            <a:endParaRPr lang="en-US" sz="1300" dirty="0"/>
          </a:p>
        </p:txBody>
      </p:sp>
      <p:sp>
        <p:nvSpPr>
          <p:cNvPr id="12" name="Text 10"/>
          <p:cNvSpPr/>
          <p:nvPr/>
        </p:nvSpPr>
        <p:spPr>
          <a:xfrm>
            <a:off x="868680" y="3749040"/>
            <a:ext cx="2468880" cy="36576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Silent tool failure</a:t>
            </a:r>
            <a:endParaRPr lang="en-US" sz="1300" dirty="0"/>
          </a:p>
        </p:txBody>
      </p:sp>
      <p:sp>
        <p:nvSpPr>
          <p:cNvPr id="13" name="Text 11"/>
          <p:cNvSpPr/>
          <p:nvPr/>
        </p:nvSpPr>
        <p:spPr>
          <a:xfrm>
            <a:off x="3383280" y="3749040"/>
            <a:ext cx="8321040" cy="36576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KYC API returns success body but a 500 status. Agent reports "verified" — the user is not.</a:t>
            </a:r>
            <a:endParaRPr lang="en-US" sz="1200" dirty="0"/>
          </a:p>
        </p:txBody>
      </p:sp>
      <p:sp>
        <p:nvSpPr>
          <p:cNvPr id="14" name="Text 12"/>
          <p:cNvSpPr/>
          <p:nvPr/>
        </p:nvSpPr>
        <p:spPr>
          <a:xfrm>
            <a:off x="457200" y="4206240"/>
            <a:ext cx="365760" cy="365760"/>
          </a:xfrm>
          <a:prstGeom prst="rect">
            <a:avLst/>
          </a:prstGeom>
          <a:noFill/>
          <a:ln/>
        </p:spPr>
        <p:txBody>
          <a:bodyPr wrap="square" lIns="0" tIns="0" rIns="0" bIns="0" rtlCol="0" anchor="ctr"/>
          <a:lstStyle/>
          <a:p>
            <a:pPr indent="0" marL="0">
              <a:buNone/>
            </a:pPr>
            <a:r>
              <a:rPr lang="en-US" sz="1300" b="1" dirty="0">
                <a:solidFill>
                  <a:srgbClr val="B45309"/>
                </a:solidFill>
                <a:latin typeface="Georgia" pitchFamily="34" charset="0"/>
                <a:ea typeface="Georgia" pitchFamily="34" charset="-122"/>
                <a:cs typeface="Georgia" pitchFamily="34" charset="-120"/>
              </a:rPr>
              <a:t>3.</a:t>
            </a:r>
            <a:endParaRPr lang="en-US" sz="1300" dirty="0"/>
          </a:p>
        </p:txBody>
      </p:sp>
      <p:sp>
        <p:nvSpPr>
          <p:cNvPr id="15" name="Text 13"/>
          <p:cNvSpPr/>
          <p:nvPr/>
        </p:nvSpPr>
        <p:spPr>
          <a:xfrm>
            <a:off x="868680" y="4206240"/>
            <a:ext cx="2468880" cy="36576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Hallucinated step</a:t>
            </a:r>
            <a:endParaRPr lang="en-US" sz="1300" dirty="0"/>
          </a:p>
        </p:txBody>
      </p:sp>
      <p:sp>
        <p:nvSpPr>
          <p:cNvPr id="16" name="Text 14"/>
          <p:cNvSpPr/>
          <p:nvPr/>
        </p:nvSpPr>
        <p:spPr>
          <a:xfrm>
            <a:off x="3383280" y="4206240"/>
            <a:ext cx="8321040" cy="36576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Agent says it provisioned the tenant. The provisioning tool was never registered for this region.</a:t>
            </a:r>
            <a:endParaRPr lang="en-US" sz="1200" dirty="0"/>
          </a:p>
        </p:txBody>
      </p:sp>
      <p:sp>
        <p:nvSpPr>
          <p:cNvPr id="17" name="Text 15"/>
          <p:cNvSpPr/>
          <p:nvPr/>
        </p:nvSpPr>
        <p:spPr>
          <a:xfrm>
            <a:off x="457200" y="4663440"/>
            <a:ext cx="365760" cy="365760"/>
          </a:xfrm>
          <a:prstGeom prst="rect">
            <a:avLst/>
          </a:prstGeom>
          <a:noFill/>
          <a:ln/>
        </p:spPr>
        <p:txBody>
          <a:bodyPr wrap="square" lIns="0" tIns="0" rIns="0" bIns="0" rtlCol="0" anchor="ctr"/>
          <a:lstStyle/>
          <a:p>
            <a:pPr indent="0" marL="0">
              <a:buNone/>
            </a:pPr>
            <a:r>
              <a:rPr lang="en-US" sz="1300" b="1" dirty="0">
                <a:solidFill>
                  <a:srgbClr val="B45309"/>
                </a:solidFill>
                <a:latin typeface="Georgia" pitchFamily="34" charset="0"/>
                <a:ea typeface="Georgia" pitchFamily="34" charset="-122"/>
                <a:cs typeface="Georgia" pitchFamily="34" charset="-120"/>
              </a:rPr>
              <a:t>4.</a:t>
            </a:r>
            <a:endParaRPr lang="en-US" sz="1300" dirty="0"/>
          </a:p>
        </p:txBody>
      </p:sp>
      <p:sp>
        <p:nvSpPr>
          <p:cNvPr id="18" name="Text 16"/>
          <p:cNvSpPr/>
          <p:nvPr/>
        </p:nvSpPr>
        <p:spPr>
          <a:xfrm>
            <a:off x="868680" y="4663440"/>
            <a:ext cx="2468880" cy="36576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Context poisoning</a:t>
            </a:r>
            <a:endParaRPr lang="en-US" sz="1300" dirty="0"/>
          </a:p>
        </p:txBody>
      </p:sp>
      <p:sp>
        <p:nvSpPr>
          <p:cNvPr id="19" name="Text 17"/>
          <p:cNvSpPr/>
          <p:nvPr/>
        </p:nvSpPr>
        <p:spPr>
          <a:xfrm>
            <a:off x="3383280" y="4663440"/>
            <a:ext cx="8321040" cy="36576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Yesterday's client preferences ("defer billing 30 days") leak into today's onboarding.</a:t>
            </a:r>
            <a:endParaRPr lang="en-US" sz="1200" dirty="0"/>
          </a:p>
        </p:txBody>
      </p:sp>
      <p:sp>
        <p:nvSpPr>
          <p:cNvPr id="20" name="Text 18"/>
          <p:cNvSpPr/>
          <p:nvPr/>
        </p:nvSpPr>
        <p:spPr>
          <a:xfrm>
            <a:off x="457200" y="5120640"/>
            <a:ext cx="365760" cy="365760"/>
          </a:xfrm>
          <a:prstGeom prst="rect">
            <a:avLst/>
          </a:prstGeom>
          <a:noFill/>
          <a:ln/>
        </p:spPr>
        <p:txBody>
          <a:bodyPr wrap="square" lIns="0" tIns="0" rIns="0" bIns="0" rtlCol="0" anchor="ctr"/>
          <a:lstStyle/>
          <a:p>
            <a:pPr indent="0" marL="0">
              <a:buNone/>
            </a:pPr>
            <a:r>
              <a:rPr lang="en-US" sz="1300" b="1" dirty="0">
                <a:solidFill>
                  <a:srgbClr val="B45309"/>
                </a:solidFill>
                <a:latin typeface="Georgia" pitchFamily="34" charset="0"/>
                <a:ea typeface="Georgia" pitchFamily="34" charset="-122"/>
                <a:cs typeface="Georgia" pitchFamily="34" charset="-120"/>
              </a:rPr>
              <a:t>5.</a:t>
            </a:r>
            <a:endParaRPr lang="en-US" sz="1300" dirty="0"/>
          </a:p>
        </p:txBody>
      </p:sp>
      <p:sp>
        <p:nvSpPr>
          <p:cNvPr id="21" name="Text 19"/>
          <p:cNvSpPr/>
          <p:nvPr/>
        </p:nvSpPr>
        <p:spPr>
          <a:xfrm>
            <a:off x="868680" y="5120640"/>
            <a:ext cx="2468880" cy="36576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State drift</a:t>
            </a:r>
            <a:endParaRPr lang="en-US" sz="1300" dirty="0"/>
          </a:p>
        </p:txBody>
      </p:sp>
      <p:sp>
        <p:nvSpPr>
          <p:cNvPr id="22" name="Text 20"/>
          <p:cNvSpPr/>
          <p:nvPr/>
        </p:nvSpPr>
        <p:spPr>
          <a:xfrm>
            <a:off x="3383280" y="5120640"/>
            <a:ext cx="8321040" cy="36576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Billing setup partially succeeded. Agent thinks it's complete; finance team gets a half-configured tenant.</a:t>
            </a:r>
            <a:endParaRPr lang="en-US" sz="1200" dirty="0"/>
          </a:p>
        </p:txBody>
      </p:sp>
      <p:sp>
        <p:nvSpPr>
          <p:cNvPr id="23" name="Text 21"/>
          <p:cNvSpPr/>
          <p:nvPr/>
        </p:nvSpPr>
        <p:spPr>
          <a:xfrm>
            <a:off x="457200" y="5577840"/>
            <a:ext cx="365760" cy="365760"/>
          </a:xfrm>
          <a:prstGeom prst="rect">
            <a:avLst/>
          </a:prstGeom>
          <a:noFill/>
          <a:ln/>
        </p:spPr>
        <p:txBody>
          <a:bodyPr wrap="square" lIns="0" tIns="0" rIns="0" bIns="0" rtlCol="0" anchor="ctr"/>
          <a:lstStyle/>
          <a:p>
            <a:pPr indent="0" marL="0">
              <a:buNone/>
            </a:pPr>
            <a:r>
              <a:rPr lang="en-US" sz="1300" b="1" dirty="0">
                <a:solidFill>
                  <a:srgbClr val="B45309"/>
                </a:solidFill>
                <a:latin typeface="Georgia" pitchFamily="34" charset="0"/>
                <a:ea typeface="Georgia" pitchFamily="34" charset="-122"/>
                <a:cs typeface="Georgia" pitchFamily="34" charset="-120"/>
              </a:rPr>
              <a:t>6.</a:t>
            </a:r>
            <a:endParaRPr lang="en-US" sz="1300" dirty="0"/>
          </a:p>
        </p:txBody>
      </p:sp>
      <p:sp>
        <p:nvSpPr>
          <p:cNvPr id="24" name="Text 22"/>
          <p:cNvSpPr/>
          <p:nvPr/>
        </p:nvSpPr>
        <p:spPr>
          <a:xfrm>
            <a:off x="868680" y="5577840"/>
            <a:ext cx="2468880" cy="36576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Unsafe autonomy</a:t>
            </a:r>
            <a:endParaRPr lang="en-US" sz="1300" dirty="0"/>
          </a:p>
        </p:txBody>
      </p:sp>
      <p:sp>
        <p:nvSpPr>
          <p:cNvPr id="25" name="Text 23"/>
          <p:cNvSpPr/>
          <p:nvPr/>
        </p:nvSpPr>
        <p:spPr>
          <a:xfrm>
            <a:off x="3383280" y="5577840"/>
            <a:ext cx="8321040" cy="36576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Agent emails a welcome packet containing a draft contract before legal review.</a:t>
            </a:r>
            <a:endParaRPr lang="en-US" sz="1200" dirty="0"/>
          </a:p>
        </p:txBody>
      </p:sp>
      <p:sp>
        <p:nvSpPr>
          <p:cNvPr id="26" name="Text 24"/>
          <p:cNvSpPr/>
          <p:nvPr/>
        </p:nvSpPr>
        <p:spPr>
          <a:xfrm>
            <a:off x="457200" y="6035040"/>
            <a:ext cx="11274552" cy="274320"/>
          </a:xfrm>
          <a:prstGeom prst="rect">
            <a:avLst/>
          </a:prstGeom>
          <a:noFill/>
          <a:ln/>
        </p:spPr>
        <p:txBody>
          <a:bodyPr wrap="square" lIns="0" tIns="0" rIns="0" bIns="0" rtlCol="0" anchor="ctr"/>
          <a:lstStyle/>
          <a:p>
            <a:pPr indent="0" marL="0">
              <a:buNone/>
            </a:pPr>
            <a:r>
              <a:rPr lang="en-US" sz="1000" i="1" dirty="0">
                <a:solidFill>
                  <a:srgbClr val="B45309"/>
                </a:solidFill>
                <a:latin typeface="Calibri" pitchFamily="34" charset="0"/>
                <a:ea typeface="Calibri" pitchFamily="34" charset="-122"/>
                <a:cs typeface="Calibri" pitchFamily="34" charset="-120"/>
              </a:rPr>
              <a:t>None visible in the demo. All visible in the trace, if you are looking.</a:t>
            </a:r>
            <a:endParaRPr lang="en-US" sz="1000" dirty="0"/>
          </a:p>
        </p:txBody>
      </p:sp>
      <p:sp>
        <p:nvSpPr>
          <p:cNvPr id="27" name="Shape 25"/>
          <p:cNvSpPr/>
          <p:nvPr/>
        </p:nvSpPr>
        <p:spPr>
          <a:xfrm>
            <a:off x="457200" y="6446520"/>
            <a:ext cx="11274552" cy="0"/>
          </a:xfrm>
          <a:prstGeom prst="line">
            <a:avLst/>
          </a:prstGeom>
          <a:noFill/>
          <a:ln w="6350">
            <a:solidFill>
              <a:srgbClr val="E2E8F0"/>
            </a:solidFill>
            <a:prstDash val="solid"/>
          </a:ln>
        </p:spPr>
      </p:sp>
      <p:sp>
        <p:nvSpPr>
          <p:cNvPr id="28" name="Text 26"/>
          <p:cNvSpPr/>
          <p:nvPr/>
        </p:nvSpPr>
        <p:spPr>
          <a:xfrm>
            <a:off x="457200" y="6537960"/>
            <a:ext cx="914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27</a:t>
            </a:r>
            <a:endParaRPr lang="en-US" sz="900" dirty="0"/>
          </a:p>
        </p:txBody>
      </p:sp>
      <p:sp>
        <p:nvSpPr>
          <p:cNvPr id="29" name="Text 27"/>
          <p:cNvSpPr/>
          <p:nvPr/>
        </p:nvSpPr>
        <p:spPr>
          <a:xfrm>
            <a:off x="5943600" y="6537960"/>
            <a:ext cx="5788152" cy="228600"/>
          </a:xfrm>
          <a:prstGeom prst="rect">
            <a:avLst/>
          </a:prstGeom>
          <a:noFill/>
          <a:ln/>
        </p:spPr>
        <p:txBody>
          <a:bodyPr wrap="square" lIns="0" tIns="0" rIns="0" bIns="0" rtlCol="0" anchor="ctr"/>
          <a:lstStyle/>
          <a:p>
            <a:pPr algn="r" indent="0" marL="0">
              <a:buNone/>
            </a:pPr>
            <a:r>
              <a:rPr lang="en-US" sz="900" i="1" dirty="0">
                <a:solidFill>
                  <a:srgbClr val="94A3B8"/>
                </a:solidFill>
                <a:latin typeface="Calibri" pitchFamily="34" charset="0"/>
                <a:ea typeface="Calibri" pitchFamily="34" charset="-122"/>
                <a:cs typeface="Calibri" pitchFamily="34" charset="-120"/>
              </a:rPr>
              <a:t>Agentic Foundations · Half 1</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4552" cy="274320"/>
          </a:xfrm>
          <a:prstGeom prst="rect">
            <a:avLst/>
          </a:prstGeom>
          <a:noFill/>
          <a:ln/>
        </p:spPr>
        <p:txBody>
          <a:bodyPr wrap="square" lIns="0" tIns="0" rIns="0" bIns="0" rtlCol="0" anchor="ctr"/>
          <a:lstStyle/>
          <a:p>
            <a:pPr indent="0" marL="0">
              <a:buNone/>
            </a:pPr>
            <a:r>
              <a:rPr lang="en-US" sz="1000" b="1" spc="400" kern="0" dirty="0">
                <a:solidFill>
                  <a:srgbClr val="B45309"/>
                </a:solidFill>
                <a:latin typeface="Calibri" pitchFamily="34" charset="0"/>
                <a:ea typeface="Calibri" pitchFamily="34" charset="-122"/>
                <a:cs typeface="Calibri" pitchFamily="34" charset="-120"/>
              </a:rPr>
              <a:t>FRAMEWORK</a:t>
            </a:r>
            <a:endParaRPr lang="en-US" sz="1000" dirty="0"/>
          </a:p>
        </p:txBody>
      </p:sp>
      <p:sp>
        <p:nvSpPr>
          <p:cNvPr id="3" name="Text 1"/>
          <p:cNvSpPr/>
          <p:nvPr/>
        </p:nvSpPr>
        <p:spPr>
          <a:xfrm>
            <a:off x="457200" y="777240"/>
            <a:ext cx="11274552"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The 6×3 readiness check</a:t>
            </a:r>
            <a:endParaRPr lang="en-US" sz="2800" dirty="0"/>
          </a:p>
        </p:txBody>
      </p:sp>
      <p:sp>
        <p:nvSpPr>
          <p:cNvPr id="4" name="Text 2"/>
          <p:cNvSpPr/>
          <p:nvPr/>
        </p:nvSpPr>
        <p:spPr>
          <a:xfrm>
            <a:off x="457200" y="1554480"/>
            <a:ext cx="11274552"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For every failure pattern, three questions. Eighteen yes/no answers. Anything less than 18 is technical debt waiting to surface.</a:t>
            </a:r>
            <a:endParaRPr lang="en-US" sz="1400" dirty="0"/>
          </a:p>
        </p:txBody>
      </p:sp>
      <p:sp>
        <p:nvSpPr>
          <p:cNvPr id="5" name="Shape 3"/>
          <p:cNvSpPr/>
          <p:nvPr/>
        </p:nvSpPr>
        <p:spPr>
          <a:xfrm>
            <a:off x="457200" y="2057400"/>
            <a:ext cx="11274552" cy="0"/>
          </a:xfrm>
          <a:prstGeom prst="line">
            <a:avLst/>
          </a:prstGeom>
          <a:noFill/>
          <a:ln w="6350">
            <a:solidFill>
              <a:srgbClr val="E2E8F0"/>
            </a:solidFill>
            <a:prstDash val="solid"/>
          </a:ln>
        </p:spPr>
      </p:sp>
      <p:sp>
        <p:nvSpPr>
          <p:cNvPr id="6" name="Shape 4"/>
          <p:cNvSpPr/>
          <p:nvPr/>
        </p:nvSpPr>
        <p:spPr>
          <a:xfrm>
            <a:off x="457200" y="2423160"/>
            <a:ext cx="11274552" cy="0"/>
          </a:xfrm>
          <a:prstGeom prst="line">
            <a:avLst/>
          </a:prstGeom>
          <a:noFill/>
          <a:ln w="12700">
            <a:solidFill>
              <a:srgbClr val="0F172A"/>
            </a:solidFill>
            <a:prstDash val="solid"/>
          </a:ln>
        </p:spPr>
      </p:sp>
      <p:sp>
        <p:nvSpPr>
          <p:cNvPr id="7" name="Text 5"/>
          <p:cNvSpPr/>
          <p:nvPr/>
        </p:nvSpPr>
        <p:spPr>
          <a:xfrm>
            <a:off x="502920" y="2514600"/>
            <a:ext cx="2743200" cy="274320"/>
          </a:xfrm>
          <a:prstGeom prst="rect">
            <a:avLst/>
          </a:prstGeom>
          <a:noFill/>
          <a:ln/>
        </p:spPr>
        <p:txBody>
          <a:bodyPr wrap="square" lIns="0" tIns="0" rIns="0" bIns="0" rtlCol="0" anchor="ctr"/>
          <a:lstStyle/>
          <a:p>
            <a:pPr indent="0" marL="0">
              <a:buNone/>
            </a:pPr>
            <a:r>
              <a:rPr lang="en-US" sz="900" b="1" spc="200" kern="0" dirty="0">
                <a:solidFill>
                  <a:srgbClr val="64748B"/>
                </a:solidFill>
                <a:latin typeface="Calibri" pitchFamily="34" charset="0"/>
                <a:ea typeface="Calibri" pitchFamily="34" charset="-122"/>
                <a:cs typeface="Calibri" pitchFamily="34" charset="-120"/>
              </a:rPr>
              <a:t>FAILURE PATTERN</a:t>
            </a:r>
            <a:endParaRPr lang="en-US" sz="900" dirty="0"/>
          </a:p>
        </p:txBody>
      </p:sp>
      <p:sp>
        <p:nvSpPr>
          <p:cNvPr id="8" name="Text 6"/>
          <p:cNvSpPr/>
          <p:nvPr/>
        </p:nvSpPr>
        <p:spPr>
          <a:xfrm>
            <a:off x="3383280" y="2514600"/>
            <a:ext cx="2743200" cy="274320"/>
          </a:xfrm>
          <a:prstGeom prst="rect">
            <a:avLst/>
          </a:prstGeom>
          <a:noFill/>
          <a:ln/>
        </p:spPr>
        <p:txBody>
          <a:bodyPr wrap="square" lIns="0" tIns="0" rIns="0" bIns="0" rtlCol="0" anchor="ctr"/>
          <a:lstStyle/>
          <a:p>
            <a:pPr indent="0" marL="0">
              <a:buNone/>
            </a:pPr>
            <a:r>
              <a:rPr lang="en-US" sz="900" b="1" spc="200" kern="0" dirty="0">
                <a:solidFill>
                  <a:srgbClr val="64748B"/>
                </a:solidFill>
                <a:latin typeface="Calibri" pitchFamily="34" charset="0"/>
                <a:ea typeface="Calibri" pitchFamily="34" charset="-122"/>
                <a:cs typeface="Calibri" pitchFamily="34" charset="-120"/>
              </a:rPr>
              <a:t>CHECK 1</a:t>
            </a:r>
            <a:endParaRPr lang="en-US" sz="900" dirty="0"/>
          </a:p>
        </p:txBody>
      </p:sp>
      <p:sp>
        <p:nvSpPr>
          <p:cNvPr id="9" name="Text 7"/>
          <p:cNvSpPr/>
          <p:nvPr/>
        </p:nvSpPr>
        <p:spPr>
          <a:xfrm>
            <a:off x="6263640" y="2514600"/>
            <a:ext cx="2743200" cy="274320"/>
          </a:xfrm>
          <a:prstGeom prst="rect">
            <a:avLst/>
          </a:prstGeom>
          <a:noFill/>
          <a:ln/>
        </p:spPr>
        <p:txBody>
          <a:bodyPr wrap="square" lIns="0" tIns="0" rIns="0" bIns="0" rtlCol="0" anchor="ctr"/>
          <a:lstStyle/>
          <a:p>
            <a:pPr indent="0" marL="0">
              <a:buNone/>
            </a:pPr>
            <a:r>
              <a:rPr lang="en-US" sz="900" b="1" spc="200" kern="0" dirty="0">
                <a:solidFill>
                  <a:srgbClr val="64748B"/>
                </a:solidFill>
                <a:latin typeface="Calibri" pitchFamily="34" charset="0"/>
                <a:ea typeface="Calibri" pitchFamily="34" charset="-122"/>
                <a:cs typeface="Calibri" pitchFamily="34" charset="-120"/>
              </a:rPr>
              <a:t>CHECK 2</a:t>
            </a:r>
            <a:endParaRPr lang="en-US" sz="900" dirty="0"/>
          </a:p>
        </p:txBody>
      </p:sp>
      <p:sp>
        <p:nvSpPr>
          <p:cNvPr id="10" name="Text 8"/>
          <p:cNvSpPr/>
          <p:nvPr/>
        </p:nvSpPr>
        <p:spPr>
          <a:xfrm>
            <a:off x="9144000" y="2514600"/>
            <a:ext cx="2743200" cy="274320"/>
          </a:xfrm>
          <a:prstGeom prst="rect">
            <a:avLst/>
          </a:prstGeom>
          <a:noFill/>
          <a:ln/>
        </p:spPr>
        <p:txBody>
          <a:bodyPr wrap="square" lIns="0" tIns="0" rIns="0" bIns="0" rtlCol="0" anchor="ctr"/>
          <a:lstStyle/>
          <a:p>
            <a:pPr indent="0" marL="0">
              <a:buNone/>
            </a:pPr>
            <a:r>
              <a:rPr lang="en-US" sz="900" b="1" spc="200" kern="0" dirty="0">
                <a:solidFill>
                  <a:srgbClr val="64748B"/>
                </a:solidFill>
                <a:latin typeface="Calibri" pitchFamily="34" charset="0"/>
                <a:ea typeface="Calibri" pitchFamily="34" charset="-122"/>
                <a:cs typeface="Calibri" pitchFamily="34" charset="-120"/>
              </a:rPr>
              <a:t>CHECK 3</a:t>
            </a:r>
            <a:endParaRPr lang="en-US" sz="900" dirty="0"/>
          </a:p>
        </p:txBody>
      </p:sp>
      <p:sp>
        <p:nvSpPr>
          <p:cNvPr id="11" name="Shape 9"/>
          <p:cNvSpPr/>
          <p:nvPr/>
        </p:nvSpPr>
        <p:spPr>
          <a:xfrm>
            <a:off x="457200" y="2834640"/>
            <a:ext cx="11274552" cy="0"/>
          </a:xfrm>
          <a:prstGeom prst="line">
            <a:avLst/>
          </a:prstGeom>
          <a:noFill/>
          <a:ln w="6350">
            <a:solidFill>
              <a:srgbClr val="E2E8F0"/>
            </a:solidFill>
            <a:prstDash val="solid"/>
          </a:ln>
        </p:spPr>
      </p:sp>
      <p:sp>
        <p:nvSpPr>
          <p:cNvPr id="12" name="Text 10"/>
          <p:cNvSpPr/>
          <p:nvPr/>
        </p:nvSpPr>
        <p:spPr>
          <a:xfrm>
            <a:off x="502920" y="2926080"/>
            <a:ext cx="2743200" cy="45720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Looping</a:t>
            </a:r>
            <a:endParaRPr lang="en-US" sz="1200" dirty="0"/>
          </a:p>
        </p:txBody>
      </p:sp>
      <p:sp>
        <p:nvSpPr>
          <p:cNvPr id="13" name="Text 11"/>
          <p:cNvSpPr/>
          <p:nvPr/>
        </p:nvSpPr>
        <p:spPr>
          <a:xfrm>
            <a:off x="3383280" y="2926080"/>
            <a:ext cx="2743200" cy="45720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Iteration cap defined?</a:t>
            </a:r>
            <a:endParaRPr lang="en-US" sz="1100" dirty="0"/>
          </a:p>
        </p:txBody>
      </p:sp>
      <p:sp>
        <p:nvSpPr>
          <p:cNvPr id="14" name="Text 12"/>
          <p:cNvSpPr/>
          <p:nvPr/>
        </p:nvSpPr>
        <p:spPr>
          <a:xfrm>
            <a:off x="6263640" y="2926080"/>
            <a:ext cx="2743200" cy="45720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Terminal state explicit?</a:t>
            </a:r>
            <a:endParaRPr lang="en-US" sz="1100" dirty="0"/>
          </a:p>
        </p:txBody>
      </p:sp>
      <p:sp>
        <p:nvSpPr>
          <p:cNvPr id="15" name="Text 13"/>
          <p:cNvSpPr/>
          <p:nvPr/>
        </p:nvSpPr>
        <p:spPr>
          <a:xfrm>
            <a:off x="9144000" y="2926080"/>
            <a:ext cx="2743200" cy="45720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Loop trace logged?</a:t>
            </a:r>
            <a:endParaRPr lang="en-US" sz="1100" dirty="0"/>
          </a:p>
        </p:txBody>
      </p:sp>
      <p:sp>
        <p:nvSpPr>
          <p:cNvPr id="16" name="Shape 14"/>
          <p:cNvSpPr/>
          <p:nvPr/>
        </p:nvSpPr>
        <p:spPr>
          <a:xfrm>
            <a:off x="457200" y="3383280"/>
            <a:ext cx="11274552" cy="0"/>
          </a:xfrm>
          <a:prstGeom prst="line">
            <a:avLst/>
          </a:prstGeom>
          <a:noFill/>
          <a:ln w="6350">
            <a:solidFill>
              <a:srgbClr val="E2E8F0"/>
            </a:solidFill>
            <a:prstDash val="solid"/>
          </a:ln>
        </p:spPr>
      </p:sp>
      <p:sp>
        <p:nvSpPr>
          <p:cNvPr id="17" name="Text 15"/>
          <p:cNvSpPr/>
          <p:nvPr/>
        </p:nvSpPr>
        <p:spPr>
          <a:xfrm>
            <a:off x="502920" y="3429000"/>
            <a:ext cx="2743200" cy="45720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Silent failure</a:t>
            </a:r>
            <a:endParaRPr lang="en-US" sz="1200" dirty="0"/>
          </a:p>
        </p:txBody>
      </p:sp>
      <p:sp>
        <p:nvSpPr>
          <p:cNvPr id="18" name="Text 16"/>
          <p:cNvSpPr/>
          <p:nvPr/>
        </p:nvSpPr>
        <p:spPr>
          <a:xfrm>
            <a:off x="3383280" y="3429000"/>
            <a:ext cx="2743200" cy="45720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Tool result validated?</a:t>
            </a:r>
            <a:endParaRPr lang="en-US" sz="1100" dirty="0"/>
          </a:p>
        </p:txBody>
      </p:sp>
      <p:sp>
        <p:nvSpPr>
          <p:cNvPr id="19" name="Text 17"/>
          <p:cNvSpPr/>
          <p:nvPr/>
        </p:nvSpPr>
        <p:spPr>
          <a:xfrm>
            <a:off x="6263640" y="3429000"/>
            <a:ext cx="2743200" cy="45720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Error path tested?</a:t>
            </a:r>
            <a:endParaRPr lang="en-US" sz="1100" dirty="0"/>
          </a:p>
        </p:txBody>
      </p:sp>
      <p:sp>
        <p:nvSpPr>
          <p:cNvPr id="20" name="Text 18"/>
          <p:cNvSpPr/>
          <p:nvPr/>
        </p:nvSpPr>
        <p:spPr>
          <a:xfrm>
            <a:off x="9144000" y="3429000"/>
            <a:ext cx="2743200" cy="45720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Mismatch alarms set?</a:t>
            </a:r>
            <a:endParaRPr lang="en-US" sz="1100" dirty="0"/>
          </a:p>
        </p:txBody>
      </p:sp>
      <p:sp>
        <p:nvSpPr>
          <p:cNvPr id="21" name="Shape 19"/>
          <p:cNvSpPr/>
          <p:nvPr/>
        </p:nvSpPr>
        <p:spPr>
          <a:xfrm>
            <a:off x="457200" y="3886200"/>
            <a:ext cx="11274552" cy="0"/>
          </a:xfrm>
          <a:prstGeom prst="line">
            <a:avLst/>
          </a:prstGeom>
          <a:noFill/>
          <a:ln w="6350">
            <a:solidFill>
              <a:srgbClr val="E2E8F0"/>
            </a:solidFill>
            <a:prstDash val="solid"/>
          </a:ln>
        </p:spPr>
      </p:sp>
      <p:sp>
        <p:nvSpPr>
          <p:cNvPr id="22" name="Text 20"/>
          <p:cNvSpPr/>
          <p:nvPr/>
        </p:nvSpPr>
        <p:spPr>
          <a:xfrm>
            <a:off x="502920" y="3931920"/>
            <a:ext cx="2743200" cy="45720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Hallucinated step</a:t>
            </a:r>
            <a:endParaRPr lang="en-US" sz="1200" dirty="0"/>
          </a:p>
        </p:txBody>
      </p:sp>
      <p:sp>
        <p:nvSpPr>
          <p:cNvPr id="23" name="Text 21"/>
          <p:cNvSpPr/>
          <p:nvPr/>
        </p:nvSpPr>
        <p:spPr>
          <a:xfrm>
            <a:off x="3383280" y="3931920"/>
            <a:ext cx="2743200" cy="45720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Tool allowlist enforced?</a:t>
            </a:r>
            <a:endParaRPr lang="en-US" sz="1100" dirty="0"/>
          </a:p>
        </p:txBody>
      </p:sp>
      <p:sp>
        <p:nvSpPr>
          <p:cNvPr id="24" name="Text 22"/>
          <p:cNvSpPr/>
          <p:nvPr/>
        </p:nvSpPr>
        <p:spPr>
          <a:xfrm>
            <a:off x="6263640" y="3931920"/>
            <a:ext cx="2743200" cy="45720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Schema strict-mode?</a:t>
            </a:r>
            <a:endParaRPr lang="en-US" sz="1100" dirty="0"/>
          </a:p>
        </p:txBody>
      </p:sp>
      <p:sp>
        <p:nvSpPr>
          <p:cNvPr id="25" name="Text 23"/>
          <p:cNvSpPr/>
          <p:nvPr/>
        </p:nvSpPr>
        <p:spPr>
          <a:xfrm>
            <a:off x="9144000" y="3931920"/>
            <a:ext cx="2743200" cy="45720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Trace verified post-run?</a:t>
            </a:r>
            <a:endParaRPr lang="en-US" sz="1100" dirty="0"/>
          </a:p>
        </p:txBody>
      </p:sp>
      <p:sp>
        <p:nvSpPr>
          <p:cNvPr id="26" name="Shape 24"/>
          <p:cNvSpPr/>
          <p:nvPr/>
        </p:nvSpPr>
        <p:spPr>
          <a:xfrm>
            <a:off x="457200" y="4389120"/>
            <a:ext cx="11274552" cy="0"/>
          </a:xfrm>
          <a:prstGeom prst="line">
            <a:avLst/>
          </a:prstGeom>
          <a:noFill/>
          <a:ln w="6350">
            <a:solidFill>
              <a:srgbClr val="E2E8F0"/>
            </a:solidFill>
            <a:prstDash val="solid"/>
          </a:ln>
        </p:spPr>
      </p:sp>
      <p:sp>
        <p:nvSpPr>
          <p:cNvPr id="27" name="Text 25"/>
          <p:cNvSpPr/>
          <p:nvPr/>
        </p:nvSpPr>
        <p:spPr>
          <a:xfrm>
            <a:off x="502920" y="4434840"/>
            <a:ext cx="2743200" cy="45720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Context poisoning</a:t>
            </a:r>
            <a:endParaRPr lang="en-US" sz="1200" dirty="0"/>
          </a:p>
        </p:txBody>
      </p:sp>
      <p:sp>
        <p:nvSpPr>
          <p:cNvPr id="28" name="Text 26"/>
          <p:cNvSpPr/>
          <p:nvPr/>
        </p:nvSpPr>
        <p:spPr>
          <a:xfrm>
            <a:off x="3383280" y="4434840"/>
            <a:ext cx="2743200" cy="45720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Memory partition by user?</a:t>
            </a:r>
            <a:endParaRPr lang="en-US" sz="1100" dirty="0"/>
          </a:p>
        </p:txBody>
      </p:sp>
      <p:sp>
        <p:nvSpPr>
          <p:cNvPr id="29" name="Text 27"/>
          <p:cNvSpPr/>
          <p:nvPr/>
        </p:nvSpPr>
        <p:spPr>
          <a:xfrm>
            <a:off x="6263640" y="4434840"/>
            <a:ext cx="2743200" cy="45720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TTL set on session memory?</a:t>
            </a:r>
            <a:endParaRPr lang="en-US" sz="1100" dirty="0"/>
          </a:p>
        </p:txBody>
      </p:sp>
      <p:sp>
        <p:nvSpPr>
          <p:cNvPr id="30" name="Text 28"/>
          <p:cNvSpPr/>
          <p:nvPr/>
        </p:nvSpPr>
        <p:spPr>
          <a:xfrm>
            <a:off x="9144000" y="4434840"/>
            <a:ext cx="2743200" cy="45720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Cross-session test exists?</a:t>
            </a:r>
            <a:endParaRPr lang="en-US" sz="1100" dirty="0"/>
          </a:p>
        </p:txBody>
      </p:sp>
      <p:sp>
        <p:nvSpPr>
          <p:cNvPr id="31" name="Shape 29"/>
          <p:cNvSpPr/>
          <p:nvPr/>
        </p:nvSpPr>
        <p:spPr>
          <a:xfrm>
            <a:off x="457200" y="4892040"/>
            <a:ext cx="11274552" cy="0"/>
          </a:xfrm>
          <a:prstGeom prst="line">
            <a:avLst/>
          </a:prstGeom>
          <a:noFill/>
          <a:ln w="6350">
            <a:solidFill>
              <a:srgbClr val="E2E8F0"/>
            </a:solidFill>
            <a:prstDash val="solid"/>
          </a:ln>
        </p:spPr>
      </p:sp>
      <p:sp>
        <p:nvSpPr>
          <p:cNvPr id="32" name="Text 30"/>
          <p:cNvSpPr/>
          <p:nvPr/>
        </p:nvSpPr>
        <p:spPr>
          <a:xfrm>
            <a:off x="502920" y="4937760"/>
            <a:ext cx="2743200" cy="45720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State drift</a:t>
            </a:r>
            <a:endParaRPr lang="en-US" sz="1200" dirty="0"/>
          </a:p>
        </p:txBody>
      </p:sp>
      <p:sp>
        <p:nvSpPr>
          <p:cNvPr id="33" name="Text 31"/>
          <p:cNvSpPr/>
          <p:nvPr/>
        </p:nvSpPr>
        <p:spPr>
          <a:xfrm>
            <a:off x="3383280" y="4937760"/>
            <a:ext cx="2743200" cy="45720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State schema versioned?</a:t>
            </a:r>
            <a:endParaRPr lang="en-US" sz="1100" dirty="0"/>
          </a:p>
        </p:txBody>
      </p:sp>
      <p:sp>
        <p:nvSpPr>
          <p:cNvPr id="34" name="Text 32"/>
          <p:cNvSpPr/>
          <p:nvPr/>
        </p:nvSpPr>
        <p:spPr>
          <a:xfrm>
            <a:off x="6263640" y="4937760"/>
            <a:ext cx="2743200" cy="45720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Step idempotent?</a:t>
            </a:r>
            <a:endParaRPr lang="en-US" sz="1100" dirty="0"/>
          </a:p>
        </p:txBody>
      </p:sp>
      <p:sp>
        <p:nvSpPr>
          <p:cNvPr id="35" name="Text 33"/>
          <p:cNvSpPr/>
          <p:nvPr/>
        </p:nvSpPr>
        <p:spPr>
          <a:xfrm>
            <a:off x="9144000" y="4937760"/>
            <a:ext cx="2743200" cy="45720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Resume-from-checkpoint tested?</a:t>
            </a:r>
            <a:endParaRPr lang="en-US" sz="1100" dirty="0"/>
          </a:p>
        </p:txBody>
      </p:sp>
      <p:sp>
        <p:nvSpPr>
          <p:cNvPr id="36" name="Shape 34"/>
          <p:cNvSpPr/>
          <p:nvPr/>
        </p:nvSpPr>
        <p:spPr>
          <a:xfrm>
            <a:off x="457200" y="5394960"/>
            <a:ext cx="11274552" cy="0"/>
          </a:xfrm>
          <a:prstGeom prst="line">
            <a:avLst/>
          </a:prstGeom>
          <a:noFill/>
          <a:ln w="6350">
            <a:solidFill>
              <a:srgbClr val="E2E8F0"/>
            </a:solidFill>
            <a:prstDash val="solid"/>
          </a:ln>
        </p:spPr>
      </p:sp>
      <p:sp>
        <p:nvSpPr>
          <p:cNvPr id="37" name="Text 35"/>
          <p:cNvSpPr/>
          <p:nvPr/>
        </p:nvSpPr>
        <p:spPr>
          <a:xfrm>
            <a:off x="502920" y="5440680"/>
            <a:ext cx="2743200" cy="45720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Unsafe autonomy</a:t>
            </a:r>
            <a:endParaRPr lang="en-US" sz="1200" dirty="0"/>
          </a:p>
        </p:txBody>
      </p:sp>
      <p:sp>
        <p:nvSpPr>
          <p:cNvPr id="38" name="Text 36"/>
          <p:cNvSpPr/>
          <p:nvPr/>
        </p:nvSpPr>
        <p:spPr>
          <a:xfrm>
            <a:off x="3383280" y="5440680"/>
            <a:ext cx="2743200" cy="45720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Approval gate before write?</a:t>
            </a:r>
            <a:endParaRPr lang="en-US" sz="1100" dirty="0"/>
          </a:p>
        </p:txBody>
      </p:sp>
      <p:sp>
        <p:nvSpPr>
          <p:cNvPr id="39" name="Text 37"/>
          <p:cNvSpPr/>
          <p:nvPr/>
        </p:nvSpPr>
        <p:spPr>
          <a:xfrm>
            <a:off x="6263640" y="5440680"/>
            <a:ext cx="2743200" cy="45720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Reversibility documented?</a:t>
            </a:r>
            <a:endParaRPr lang="en-US" sz="1100" dirty="0"/>
          </a:p>
        </p:txBody>
      </p:sp>
      <p:sp>
        <p:nvSpPr>
          <p:cNvPr id="40" name="Text 38"/>
          <p:cNvSpPr/>
          <p:nvPr/>
        </p:nvSpPr>
        <p:spPr>
          <a:xfrm>
            <a:off x="9144000" y="5440680"/>
            <a:ext cx="2743200" cy="45720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Override audit logged?</a:t>
            </a:r>
            <a:endParaRPr lang="en-US" sz="1100" dirty="0"/>
          </a:p>
        </p:txBody>
      </p:sp>
      <p:sp>
        <p:nvSpPr>
          <p:cNvPr id="41" name="Shape 39"/>
          <p:cNvSpPr/>
          <p:nvPr/>
        </p:nvSpPr>
        <p:spPr>
          <a:xfrm>
            <a:off x="457200" y="5897880"/>
            <a:ext cx="11274552" cy="0"/>
          </a:xfrm>
          <a:prstGeom prst="line">
            <a:avLst/>
          </a:prstGeom>
          <a:noFill/>
          <a:ln w="6350">
            <a:solidFill>
              <a:srgbClr val="E2E8F0"/>
            </a:solidFill>
            <a:prstDash val="solid"/>
          </a:ln>
        </p:spPr>
      </p:sp>
      <p:sp>
        <p:nvSpPr>
          <p:cNvPr id="42" name="Text 40"/>
          <p:cNvSpPr/>
          <p:nvPr/>
        </p:nvSpPr>
        <p:spPr>
          <a:xfrm>
            <a:off x="457200" y="6035040"/>
            <a:ext cx="11274552" cy="274320"/>
          </a:xfrm>
          <a:prstGeom prst="rect">
            <a:avLst/>
          </a:prstGeom>
          <a:noFill/>
          <a:ln/>
        </p:spPr>
        <p:txBody>
          <a:bodyPr wrap="square" lIns="0" tIns="0" rIns="0" bIns="0" rtlCol="0" anchor="ctr"/>
          <a:lstStyle/>
          <a:p>
            <a:pPr indent="0" marL="0">
              <a:buNone/>
            </a:pPr>
            <a:r>
              <a:rPr lang="en-US" sz="1000" i="1" dirty="0">
                <a:solidFill>
                  <a:srgbClr val="B45309"/>
                </a:solidFill>
                <a:latin typeface="Calibri" pitchFamily="34" charset="0"/>
                <a:ea typeface="Calibri" pitchFamily="34" charset="-122"/>
                <a:cs typeface="Calibri" pitchFamily="34" charset="-120"/>
              </a:rPr>
              <a:t>Score: count of YES out of 18. Below 14 is not production-ready.</a:t>
            </a:r>
            <a:endParaRPr lang="en-US" sz="1000" dirty="0"/>
          </a:p>
        </p:txBody>
      </p:sp>
      <p:sp>
        <p:nvSpPr>
          <p:cNvPr id="43" name="Shape 41"/>
          <p:cNvSpPr/>
          <p:nvPr/>
        </p:nvSpPr>
        <p:spPr>
          <a:xfrm>
            <a:off x="457200" y="6446520"/>
            <a:ext cx="11274552" cy="0"/>
          </a:xfrm>
          <a:prstGeom prst="line">
            <a:avLst/>
          </a:prstGeom>
          <a:noFill/>
          <a:ln w="6350">
            <a:solidFill>
              <a:srgbClr val="E2E8F0"/>
            </a:solidFill>
            <a:prstDash val="solid"/>
          </a:ln>
        </p:spPr>
      </p:sp>
      <p:sp>
        <p:nvSpPr>
          <p:cNvPr id="44" name="Text 42"/>
          <p:cNvSpPr/>
          <p:nvPr/>
        </p:nvSpPr>
        <p:spPr>
          <a:xfrm>
            <a:off x="457200" y="6537960"/>
            <a:ext cx="914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28</a:t>
            </a:r>
            <a:endParaRPr lang="en-US" sz="900" dirty="0"/>
          </a:p>
        </p:txBody>
      </p:sp>
      <p:sp>
        <p:nvSpPr>
          <p:cNvPr id="45" name="Text 43"/>
          <p:cNvSpPr/>
          <p:nvPr/>
        </p:nvSpPr>
        <p:spPr>
          <a:xfrm>
            <a:off x="5943600" y="6537960"/>
            <a:ext cx="5788152" cy="228600"/>
          </a:xfrm>
          <a:prstGeom prst="rect">
            <a:avLst/>
          </a:prstGeom>
          <a:noFill/>
          <a:ln/>
        </p:spPr>
        <p:txBody>
          <a:bodyPr wrap="square" lIns="0" tIns="0" rIns="0" bIns="0" rtlCol="0" anchor="ctr"/>
          <a:lstStyle/>
          <a:p>
            <a:pPr algn="r" indent="0" marL="0">
              <a:buNone/>
            </a:pPr>
            <a:r>
              <a:rPr lang="en-US" sz="900" i="1" dirty="0">
                <a:solidFill>
                  <a:srgbClr val="94A3B8"/>
                </a:solidFill>
                <a:latin typeface="Calibri" pitchFamily="34" charset="0"/>
                <a:ea typeface="Calibri" pitchFamily="34" charset="-122"/>
                <a:cs typeface="Calibri" pitchFamily="34" charset="-120"/>
              </a:rPr>
              <a:t>Agentic Foundations · Half 1</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4552" cy="274320"/>
          </a:xfrm>
          <a:prstGeom prst="rect">
            <a:avLst/>
          </a:prstGeom>
          <a:noFill/>
          <a:ln/>
        </p:spPr>
        <p:txBody>
          <a:bodyPr wrap="square" lIns="0" tIns="0" rIns="0" bIns="0" rtlCol="0" anchor="ctr"/>
          <a:lstStyle/>
          <a:p>
            <a:pPr indent="0" marL="0">
              <a:buNone/>
            </a:pPr>
            <a:r>
              <a:rPr lang="en-US" sz="1000" b="1" spc="400" kern="0" dirty="0">
                <a:solidFill>
                  <a:srgbClr val="B45309"/>
                </a:solidFill>
                <a:latin typeface="Calibri" pitchFamily="34" charset="0"/>
                <a:ea typeface="Calibri" pitchFamily="34" charset="-122"/>
                <a:cs typeface="Calibri" pitchFamily="34" charset="-120"/>
              </a:rPr>
              <a:t>ACTIVITY · 5 MIN</a:t>
            </a:r>
            <a:endParaRPr lang="en-US" sz="1000" dirty="0"/>
          </a:p>
        </p:txBody>
      </p:sp>
      <p:sp>
        <p:nvSpPr>
          <p:cNvPr id="3" name="Text 1"/>
          <p:cNvSpPr/>
          <p:nvPr/>
        </p:nvSpPr>
        <p:spPr>
          <a:xfrm>
            <a:off x="457200" y="777240"/>
            <a:ext cx="11274552"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Is it an agent?</a:t>
            </a:r>
            <a:endParaRPr lang="en-US" sz="2800" dirty="0"/>
          </a:p>
        </p:txBody>
      </p:sp>
      <p:sp>
        <p:nvSpPr>
          <p:cNvPr id="4" name="Text 2"/>
          <p:cNvSpPr/>
          <p:nvPr/>
        </p:nvSpPr>
        <p:spPr>
          <a:xfrm>
            <a:off x="457200" y="1554480"/>
            <a:ext cx="11274552"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Six scenarios. Vote on each: agent, workflow, LLM call, or not AI. Reveal next slide.</a:t>
            </a:r>
            <a:endParaRPr lang="en-US" sz="1400" dirty="0"/>
          </a:p>
        </p:txBody>
      </p:sp>
      <p:sp>
        <p:nvSpPr>
          <p:cNvPr id="5" name="Shape 3"/>
          <p:cNvSpPr/>
          <p:nvPr/>
        </p:nvSpPr>
        <p:spPr>
          <a:xfrm>
            <a:off x="457200" y="2057400"/>
            <a:ext cx="11274552" cy="0"/>
          </a:xfrm>
          <a:prstGeom prst="line">
            <a:avLst/>
          </a:prstGeom>
          <a:noFill/>
          <a:ln w="6350">
            <a:solidFill>
              <a:srgbClr val="E2E8F0"/>
            </a:solidFill>
            <a:prstDash val="solid"/>
          </a:ln>
        </p:spPr>
      </p:sp>
      <p:sp>
        <p:nvSpPr>
          <p:cNvPr id="6" name="Shape 4"/>
          <p:cNvSpPr/>
          <p:nvPr/>
        </p:nvSpPr>
        <p:spPr>
          <a:xfrm>
            <a:off x="457200" y="2468880"/>
            <a:ext cx="5486400" cy="0"/>
          </a:xfrm>
          <a:prstGeom prst="line">
            <a:avLst/>
          </a:prstGeom>
          <a:noFill/>
          <a:ln w="12700">
            <a:solidFill>
              <a:srgbClr val="E2E8F0"/>
            </a:solidFill>
            <a:prstDash val="solid"/>
          </a:ln>
        </p:spPr>
      </p:sp>
      <p:sp>
        <p:nvSpPr>
          <p:cNvPr id="7" name="Text 5"/>
          <p:cNvSpPr/>
          <p:nvPr/>
        </p:nvSpPr>
        <p:spPr>
          <a:xfrm>
            <a:off x="457200" y="2560320"/>
            <a:ext cx="548640" cy="365760"/>
          </a:xfrm>
          <a:prstGeom prst="rect">
            <a:avLst/>
          </a:prstGeom>
          <a:noFill/>
          <a:ln/>
        </p:spPr>
        <p:txBody>
          <a:bodyPr wrap="square" lIns="0" tIns="0" rIns="0" bIns="0" rtlCol="0" anchor="ctr"/>
          <a:lstStyle/>
          <a:p>
            <a:pPr indent="0" marL="0">
              <a:buNone/>
            </a:pPr>
            <a:r>
              <a:rPr lang="en-US" sz="1800" b="1" dirty="0">
                <a:solidFill>
                  <a:srgbClr val="B45309"/>
                </a:solidFill>
                <a:latin typeface="Georgia" pitchFamily="34" charset="0"/>
                <a:ea typeface="Georgia" pitchFamily="34" charset="-122"/>
                <a:cs typeface="Georgia" pitchFamily="34" charset="-120"/>
              </a:rPr>
              <a:t>1</a:t>
            </a:r>
            <a:endParaRPr lang="en-US" sz="1800" dirty="0"/>
          </a:p>
        </p:txBody>
      </p:sp>
      <p:sp>
        <p:nvSpPr>
          <p:cNvPr id="8" name="Text 6"/>
          <p:cNvSpPr/>
          <p:nvPr/>
        </p:nvSpPr>
        <p:spPr>
          <a:xfrm>
            <a:off x="1005840" y="2560320"/>
            <a:ext cx="4937760" cy="109728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A function triggered by a queue that calls a model to summarise a ticket and posts the summary back.</a:t>
            </a:r>
            <a:endParaRPr lang="en-US" sz="1200" dirty="0"/>
          </a:p>
        </p:txBody>
      </p:sp>
      <p:sp>
        <p:nvSpPr>
          <p:cNvPr id="9" name="Shape 7"/>
          <p:cNvSpPr/>
          <p:nvPr/>
        </p:nvSpPr>
        <p:spPr>
          <a:xfrm>
            <a:off x="6217920" y="2468880"/>
            <a:ext cx="5486400" cy="0"/>
          </a:xfrm>
          <a:prstGeom prst="line">
            <a:avLst/>
          </a:prstGeom>
          <a:noFill/>
          <a:ln w="12700">
            <a:solidFill>
              <a:srgbClr val="E2E8F0"/>
            </a:solidFill>
            <a:prstDash val="solid"/>
          </a:ln>
        </p:spPr>
      </p:sp>
      <p:sp>
        <p:nvSpPr>
          <p:cNvPr id="10" name="Text 8"/>
          <p:cNvSpPr/>
          <p:nvPr/>
        </p:nvSpPr>
        <p:spPr>
          <a:xfrm>
            <a:off x="6217920" y="2560320"/>
            <a:ext cx="548640" cy="365760"/>
          </a:xfrm>
          <a:prstGeom prst="rect">
            <a:avLst/>
          </a:prstGeom>
          <a:noFill/>
          <a:ln/>
        </p:spPr>
        <p:txBody>
          <a:bodyPr wrap="square" lIns="0" tIns="0" rIns="0" bIns="0" rtlCol="0" anchor="ctr"/>
          <a:lstStyle/>
          <a:p>
            <a:pPr indent="0" marL="0">
              <a:buNone/>
            </a:pPr>
            <a:r>
              <a:rPr lang="en-US" sz="1800" b="1" dirty="0">
                <a:solidFill>
                  <a:srgbClr val="B45309"/>
                </a:solidFill>
                <a:latin typeface="Georgia" pitchFamily="34" charset="0"/>
                <a:ea typeface="Georgia" pitchFamily="34" charset="-122"/>
                <a:cs typeface="Georgia" pitchFamily="34" charset="-120"/>
              </a:rPr>
              <a:t>2</a:t>
            </a:r>
            <a:endParaRPr lang="en-US" sz="1800" dirty="0"/>
          </a:p>
        </p:txBody>
      </p:sp>
      <p:sp>
        <p:nvSpPr>
          <p:cNvPr id="11" name="Text 9"/>
          <p:cNvSpPr/>
          <p:nvPr/>
        </p:nvSpPr>
        <p:spPr>
          <a:xfrm>
            <a:off x="6766560" y="2560320"/>
            <a:ext cx="4937760" cy="109728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A system that, given "plan my trip," searches flights, books a hotel, retries on failure, and asks the user before charging the card.</a:t>
            </a:r>
            <a:endParaRPr lang="en-US" sz="1200" dirty="0"/>
          </a:p>
        </p:txBody>
      </p:sp>
      <p:sp>
        <p:nvSpPr>
          <p:cNvPr id="12" name="Shape 10"/>
          <p:cNvSpPr/>
          <p:nvPr/>
        </p:nvSpPr>
        <p:spPr>
          <a:xfrm>
            <a:off x="457200" y="3749040"/>
            <a:ext cx="5486400" cy="0"/>
          </a:xfrm>
          <a:prstGeom prst="line">
            <a:avLst/>
          </a:prstGeom>
          <a:noFill/>
          <a:ln w="12700">
            <a:solidFill>
              <a:srgbClr val="E2E8F0"/>
            </a:solidFill>
            <a:prstDash val="solid"/>
          </a:ln>
        </p:spPr>
      </p:sp>
      <p:sp>
        <p:nvSpPr>
          <p:cNvPr id="13" name="Text 11"/>
          <p:cNvSpPr/>
          <p:nvPr/>
        </p:nvSpPr>
        <p:spPr>
          <a:xfrm>
            <a:off x="457200" y="3840480"/>
            <a:ext cx="548640" cy="365760"/>
          </a:xfrm>
          <a:prstGeom prst="rect">
            <a:avLst/>
          </a:prstGeom>
          <a:noFill/>
          <a:ln/>
        </p:spPr>
        <p:txBody>
          <a:bodyPr wrap="square" lIns="0" tIns="0" rIns="0" bIns="0" rtlCol="0" anchor="ctr"/>
          <a:lstStyle/>
          <a:p>
            <a:pPr indent="0" marL="0">
              <a:buNone/>
            </a:pPr>
            <a:r>
              <a:rPr lang="en-US" sz="1800" b="1" dirty="0">
                <a:solidFill>
                  <a:srgbClr val="B45309"/>
                </a:solidFill>
                <a:latin typeface="Georgia" pitchFamily="34" charset="0"/>
                <a:ea typeface="Georgia" pitchFamily="34" charset="-122"/>
                <a:cs typeface="Georgia" pitchFamily="34" charset="-120"/>
              </a:rPr>
              <a:t>3</a:t>
            </a:r>
            <a:endParaRPr lang="en-US" sz="1800" dirty="0"/>
          </a:p>
        </p:txBody>
      </p:sp>
      <p:sp>
        <p:nvSpPr>
          <p:cNvPr id="14" name="Text 12"/>
          <p:cNvSpPr/>
          <p:nvPr/>
        </p:nvSpPr>
        <p:spPr>
          <a:xfrm>
            <a:off x="1005840" y="3840480"/>
            <a:ext cx="4937760" cy="109728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A low-code automation flow with a model-powered step in the middle that classifies an incoming email.</a:t>
            </a:r>
            <a:endParaRPr lang="en-US" sz="1200" dirty="0"/>
          </a:p>
        </p:txBody>
      </p:sp>
      <p:sp>
        <p:nvSpPr>
          <p:cNvPr id="15" name="Shape 13"/>
          <p:cNvSpPr/>
          <p:nvPr/>
        </p:nvSpPr>
        <p:spPr>
          <a:xfrm>
            <a:off x="6217920" y="3749040"/>
            <a:ext cx="5486400" cy="0"/>
          </a:xfrm>
          <a:prstGeom prst="line">
            <a:avLst/>
          </a:prstGeom>
          <a:noFill/>
          <a:ln w="12700">
            <a:solidFill>
              <a:srgbClr val="E2E8F0"/>
            </a:solidFill>
            <a:prstDash val="solid"/>
          </a:ln>
        </p:spPr>
      </p:sp>
      <p:sp>
        <p:nvSpPr>
          <p:cNvPr id="16" name="Text 14"/>
          <p:cNvSpPr/>
          <p:nvPr/>
        </p:nvSpPr>
        <p:spPr>
          <a:xfrm>
            <a:off x="6217920" y="3840480"/>
            <a:ext cx="548640" cy="365760"/>
          </a:xfrm>
          <a:prstGeom prst="rect">
            <a:avLst/>
          </a:prstGeom>
          <a:noFill/>
          <a:ln/>
        </p:spPr>
        <p:txBody>
          <a:bodyPr wrap="square" lIns="0" tIns="0" rIns="0" bIns="0" rtlCol="0" anchor="ctr"/>
          <a:lstStyle/>
          <a:p>
            <a:pPr indent="0" marL="0">
              <a:buNone/>
            </a:pPr>
            <a:r>
              <a:rPr lang="en-US" sz="1800" b="1" dirty="0">
                <a:solidFill>
                  <a:srgbClr val="B45309"/>
                </a:solidFill>
                <a:latin typeface="Georgia" pitchFamily="34" charset="0"/>
                <a:ea typeface="Georgia" pitchFamily="34" charset="-122"/>
                <a:cs typeface="Georgia" pitchFamily="34" charset="-120"/>
              </a:rPr>
              <a:t>4</a:t>
            </a:r>
            <a:endParaRPr lang="en-US" sz="1800" dirty="0"/>
          </a:p>
        </p:txBody>
      </p:sp>
      <p:sp>
        <p:nvSpPr>
          <p:cNvPr id="17" name="Text 15"/>
          <p:cNvSpPr/>
          <p:nvPr/>
        </p:nvSpPr>
        <p:spPr>
          <a:xfrm>
            <a:off x="6766560" y="3840480"/>
            <a:ext cx="4937760" cy="109728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A support bot that classifies user intent and routes to one of five hand-written response templates.</a:t>
            </a:r>
            <a:endParaRPr lang="en-US" sz="1200" dirty="0"/>
          </a:p>
        </p:txBody>
      </p:sp>
      <p:sp>
        <p:nvSpPr>
          <p:cNvPr id="18" name="Shape 16"/>
          <p:cNvSpPr/>
          <p:nvPr/>
        </p:nvSpPr>
        <p:spPr>
          <a:xfrm>
            <a:off x="457200" y="5029200"/>
            <a:ext cx="5486400" cy="0"/>
          </a:xfrm>
          <a:prstGeom prst="line">
            <a:avLst/>
          </a:prstGeom>
          <a:noFill/>
          <a:ln w="12700">
            <a:solidFill>
              <a:srgbClr val="E2E8F0"/>
            </a:solidFill>
            <a:prstDash val="solid"/>
          </a:ln>
        </p:spPr>
      </p:sp>
      <p:sp>
        <p:nvSpPr>
          <p:cNvPr id="19" name="Text 17"/>
          <p:cNvSpPr/>
          <p:nvPr/>
        </p:nvSpPr>
        <p:spPr>
          <a:xfrm>
            <a:off x="457200" y="5120640"/>
            <a:ext cx="548640" cy="365760"/>
          </a:xfrm>
          <a:prstGeom prst="rect">
            <a:avLst/>
          </a:prstGeom>
          <a:noFill/>
          <a:ln/>
        </p:spPr>
        <p:txBody>
          <a:bodyPr wrap="square" lIns="0" tIns="0" rIns="0" bIns="0" rtlCol="0" anchor="ctr"/>
          <a:lstStyle/>
          <a:p>
            <a:pPr indent="0" marL="0">
              <a:buNone/>
            </a:pPr>
            <a:r>
              <a:rPr lang="en-US" sz="1800" b="1" dirty="0">
                <a:solidFill>
                  <a:srgbClr val="B45309"/>
                </a:solidFill>
                <a:latin typeface="Georgia" pitchFamily="34" charset="0"/>
                <a:ea typeface="Georgia" pitchFamily="34" charset="-122"/>
                <a:cs typeface="Georgia" pitchFamily="34" charset="-120"/>
              </a:rPr>
              <a:t>5</a:t>
            </a:r>
            <a:endParaRPr lang="en-US" sz="1800" dirty="0"/>
          </a:p>
        </p:txBody>
      </p:sp>
      <p:sp>
        <p:nvSpPr>
          <p:cNvPr id="20" name="Text 18"/>
          <p:cNvSpPr/>
          <p:nvPr/>
        </p:nvSpPr>
        <p:spPr>
          <a:xfrm>
            <a:off x="1005840" y="5120640"/>
            <a:ext cx="4937760" cy="109728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A system that takes a user complaint, decides which of twelve tools to use, observes the result, picks the next tool, and loops up to eight times.</a:t>
            </a:r>
            <a:endParaRPr lang="en-US" sz="1200" dirty="0"/>
          </a:p>
        </p:txBody>
      </p:sp>
      <p:sp>
        <p:nvSpPr>
          <p:cNvPr id="21" name="Shape 19"/>
          <p:cNvSpPr/>
          <p:nvPr/>
        </p:nvSpPr>
        <p:spPr>
          <a:xfrm>
            <a:off x="6217920" y="5029200"/>
            <a:ext cx="5486400" cy="0"/>
          </a:xfrm>
          <a:prstGeom prst="line">
            <a:avLst/>
          </a:prstGeom>
          <a:noFill/>
          <a:ln w="12700">
            <a:solidFill>
              <a:srgbClr val="E2E8F0"/>
            </a:solidFill>
            <a:prstDash val="solid"/>
          </a:ln>
        </p:spPr>
      </p:sp>
      <p:sp>
        <p:nvSpPr>
          <p:cNvPr id="22" name="Text 20"/>
          <p:cNvSpPr/>
          <p:nvPr/>
        </p:nvSpPr>
        <p:spPr>
          <a:xfrm>
            <a:off x="6217920" y="5120640"/>
            <a:ext cx="548640" cy="365760"/>
          </a:xfrm>
          <a:prstGeom prst="rect">
            <a:avLst/>
          </a:prstGeom>
          <a:noFill/>
          <a:ln/>
        </p:spPr>
        <p:txBody>
          <a:bodyPr wrap="square" lIns="0" tIns="0" rIns="0" bIns="0" rtlCol="0" anchor="ctr"/>
          <a:lstStyle/>
          <a:p>
            <a:pPr indent="0" marL="0">
              <a:buNone/>
            </a:pPr>
            <a:r>
              <a:rPr lang="en-US" sz="1800" b="1" dirty="0">
                <a:solidFill>
                  <a:srgbClr val="B45309"/>
                </a:solidFill>
                <a:latin typeface="Georgia" pitchFamily="34" charset="0"/>
                <a:ea typeface="Georgia" pitchFamily="34" charset="-122"/>
                <a:cs typeface="Georgia" pitchFamily="34" charset="-120"/>
              </a:rPr>
              <a:t>6</a:t>
            </a:r>
            <a:endParaRPr lang="en-US" sz="1800" dirty="0"/>
          </a:p>
        </p:txBody>
      </p:sp>
      <p:sp>
        <p:nvSpPr>
          <p:cNvPr id="23" name="Text 21"/>
          <p:cNvSpPr/>
          <p:nvPr/>
        </p:nvSpPr>
        <p:spPr>
          <a:xfrm>
            <a:off x="6766560" y="5120640"/>
            <a:ext cx="4937760" cy="109728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A nightly job that runs at 2 AM, calls a model to write a summary of yesterday's tickets, and emails it to the manager.</a:t>
            </a:r>
            <a:endParaRPr lang="en-US" sz="1200" dirty="0"/>
          </a:p>
        </p:txBody>
      </p:sp>
      <p:sp>
        <p:nvSpPr>
          <p:cNvPr id="24" name="Shape 22"/>
          <p:cNvSpPr/>
          <p:nvPr/>
        </p:nvSpPr>
        <p:spPr>
          <a:xfrm>
            <a:off x="457200" y="6446520"/>
            <a:ext cx="11274552" cy="0"/>
          </a:xfrm>
          <a:prstGeom prst="line">
            <a:avLst/>
          </a:prstGeom>
          <a:noFill/>
          <a:ln w="6350">
            <a:solidFill>
              <a:srgbClr val="E2E8F0"/>
            </a:solidFill>
            <a:prstDash val="solid"/>
          </a:ln>
        </p:spPr>
      </p:sp>
      <p:sp>
        <p:nvSpPr>
          <p:cNvPr id="25" name="Text 23"/>
          <p:cNvSpPr/>
          <p:nvPr/>
        </p:nvSpPr>
        <p:spPr>
          <a:xfrm>
            <a:off x="457200" y="6537960"/>
            <a:ext cx="914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29</a:t>
            </a:r>
            <a:endParaRPr lang="en-US" sz="900" dirty="0"/>
          </a:p>
        </p:txBody>
      </p:sp>
      <p:sp>
        <p:nvSpPr>
          <p:cNvPr id="26" name="Text 24"/>
          <p:cNvSpPr/>
          <p:nvPr/>
        </p:nvSpPr>
        <p:spPr>
          <a:xfrm>
            <a:off x="5943600" y="6537960"/>
            <a:ext cx="5788152" cy="228600"/>
          </a:xfrm>
          <a:prstGeom prst="rect">
            <a:avLst/>
          </a:prstGeom>
          <a:noFill/>
          <a:ln/>
        </p:spPr>
        <p:txBody>
          <a:bodyPr wrap="square" lIns="0" tIns="0" rIns="0" bIns="0" rtlCol="0" anchor="ctr"/>
          <a:lstStyle/>
          <a:p>
            <a:pPr algn="r" indent="0" marL="0">
              <a:buNone/>
            </a:pPr>
            <a:r>
              <a:rPr lang="en-US" sz="900" i="1" dirty="0">
                <a:solidFill>
                  <a:srgbClr val="94A3B8"/>
                </a:solidFill>
                <a:latin typeface="Calibri" pitchFamily="34" charset="0"/>
                <a:ea typeface="Calibri" pitchFamily="34" charset="-122"/>
                <a:cs typeface="Calibri" pitchFamily="34" charset="-120"/>
              </a:rPr>
              <a:t>Agentic Foundations · Half 1</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4552" cy="274320"/>
          </a:xfrm>
          <a:prstGeom prst="rect">
            <a:avLst/>
          </a:prstGeom>
          <a:noFill/>
          <a:ln/>
        </p:spPr>
        <p:txBody>
          <a:bodyPr wrap="square" lIns="0" tIns="0" rIns="0" bIns="0" rtlCol="0" anchor="ctr"/>
          <a:lstStyle/>
          <a:p>
            <a:pPr indent="0" marL="0">
              <a:buNone/>
            </a:pPr>
            <a:r>
              <a:rPr lang="en-US" sz="1000" b="1" spc="400" kern="0" dirty="0">
                <a:solidFill>
                  <a:srgbClr val="B45309"/>
                </a:solidFill>
                <a:latin typeface="Calibri" pitchFamily="34" charset="0"/>
                <a:ea typeface="Calibri" pitchFamily="34" charset="-122"/>
                <a:cs typeface="Calibri" pitchFamily="34" charset="-120"/>
              </a:rPr>
              <a:t>ACTIVITY · REVEAL</a:t>
            </a:r>
            <a:endParaRPr lang="en-US" sz="1000" dirty="0"/>
          </a:p>
        </p:txBody>
      </p:sp>
      <p:sp>
        <p:nvSpPr>
          <p:cNvPr id="3" name="Text 1"/>
          <p:cNvSpPr/>
          <p:nvPr/>
        </p:nvSpPr>
        <p:spPr>
          <a:xfrm>
            <a:off x="457200" y="777240"/>
            <a:ext cx="11274552"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Answers — and why</a:t>
            </a:r>
            <a:endParaRPr lang="en-US" sz="2800" dirty="0"/>
          </a:p>
        </p:txBody>
      </p:sp>
      <p:sp>
        <p:nvSpPr>
          <p:cNvPr id="4" name="Text 2"/>
          <p:cNvSpPr/>
          <p:nvPr/>
        </p:nvSpPr>
        <p:spPr>
          <a:xfrm>
            <a:off x="457200" y="1554480"/>
            <a:ext cx="11274552"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The same person calling scenarios 1 and 5 "agents" is the same person who will give you a six-month architecture you cannot ship.</a:t>
            </a:r>
            <a:endParaRPr lang="en-US" sz="1400" dirty="0"/>
          </a:p>
        </p:txBody>
      </p:sp>
      <p:sp>
        <p:nvSpPr>
          <p:cNvPr id="5" name="Shape 3"/>
          <p:cNvSpPr/>
          <p:nvPr/>
        </p:nvSpPr>
        <p:spPr>
          <a:xfrm>
            <a:off x="457200" y="2057400"/>
            <a:ext cx="11274552" cy="0"/>
          </a:xfrm>
          <a:prstGeom prst="line">
            <a:avLst/>
          </a:prstGeom>
          <a:noFill/>
          <a:ln w="6350">
            <a:solidFill>
              <a:srgbClr val="E2E8F0"/>
            </a:solidFill>
            <a:prstDash val="solid"/>
          </a:ln>
        </p:spPr>
      </p:sp>
      <p:sp>
        <p:nvSpPr>
          <p:cNvPr id="6" name="Shape 4"/>
          <p:cNvSpPr/>
          <p:nvPr/>
        </p:nvSpPr>
        <p:spPr>
          <a:xfrm>
            <a:off x="457200" y="2468880"/>
            <a:ext cx="5486400" cy="0"/>
          </a:xfrm>
          <a:prstGeom prst="line">
            <a:avLst/>
          </a:prstGeom>
          <a:noFill/>
          <a:ln w="19050">
            <a:solidFill>
              <a:srgbClr val="64748B"/>
            </a:solidFill>
            <a:prstDash val="solid"/>
          </a:ln>
        </p:spPr>
      </p:sp>
      <p:sp>
        <p:nvSpPr>
          <p:cNvPr id="7" name="Text 5"/>
          <p:cNvSpPr/>
          <p:nvPr/>
        </p:nvSpPr>
        <p:spPr>
          <a:xfrm>
            <a:off x="457200" y="2560320"/>
            <a:ext cx="548640" cy="365760"/>
          </a:xfrm>
          <a:prstGeom prst="rect">
            <a:avLst/>
          </a:prstGeom>
          <a:noFill/>
          <a:ln/>
        </p:spPr>
        <p:txBody>
          <a:bodyPr wrap="square" lIns="0" tIns="0" rIns="0" bIns="0" rtlCol="0" anchor="ctr"/>
          <a:lstStyle/>
          <a:p>
            <a:pPr indent="0" marL="0">
              <a:buNone/>
            </a:pPr>
            <a:r>
              <a:rPr lang="en-US" sz="1800" b="1" dirty="0">
                <a:solidFill>
                  <a:srgbClr val="64748B"/>
                </a:solidFill>
                <a:latin typeface="Georgia" pitchFamily="34" charset="0"/>
                <a:ea typeface="Georgia" pitchFamily="34" charset="-122"/>
                <a:cs typeface="Georgia" pitchFamily="34" charset="-120"/>
              </a:rPr>
              <a:t>1</a:t>
            </a:r>
            <a:endParaRPr lang="en-US" sz="1800" dirty="0"/>
          </a:p>
        </p:txBody>
      </p:sp>
      <p:sp>
        <p:nvSpPr>
          <p:cNvPr id="8" name="Text 6"/>
          <p:cNvSpPr/>
          <p:nvPr/>
        </p:nvSpPr>
        <p:spPr>
          <a:xfrm>
            <a:off x="1005840" y="2560320"/>
            <a:ext cx="4937760" cy="365760"/>
          </a:xfrm>
          <a:prstGeom prst="rect">
            <a:avLst/>
          </a:prstGeom>
          <a:noFill/>
          <a:ln/>
        </p:spPr>
        <p:txBody>
          <a:bodyPr wrap="square" lIns="0" tIns="0" rIns="0" bIns="0" rtlCol="0" anchor="ctr"/>
          <a:lstStyle/>
          <a:p>
            <a:pPr indent="0" marL="0">
              <a:buNone/>
            </a:pPr>
            <a:r>
              <a:rPr lang="en-US" sz="1400" b="1" spc="200" kern="0" dirty="0">
                <a:solidFill>
                  <a:srgbClr val="64748B"/>
                </a:solidFill>
                <a:latin typeface="Calibri" pitchFamily="34" charset="0"/>
                <a:ea typeface="Calibri" pitchFamily="34" charset="-122"/>
                <a:cs typeface="Calibri" pitchFamily="34" charset="-120"/>
              </a:rPr>
              <a:t>LLM CALL</a:t>
            </a:r>
            <a:endParaRPr lang="en-US" sz="1400" dirty="0"/>
          </a:p>
        </p:txBody>
      </p:sp>
      <p:sp>
        <p:nvSpPr>
          <p:cNvPr id="9" name="Text 7"/>
          <p:cNvSpPr/>
          <p:nvPr/>
        </p:nvSpPr>
        <p:spPr>
          <a:xfrm>
            <a:off x="1005840" y="2971800"/>
            <a:ext cx="4937760" cy="73152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Single inference, no autonomy over next step.</a:t>
            </a:r>
            <a:endParaRPr lang="en-US" sz="1100" dirty="0"/>
          </a:p>
        </p:txBody>
      </p:sp>
      <p:sp>
        <p:nvSpPr>
          <p:cNvPr id="10" name="Shape 8"/>
          <p:cNvSpPr/>
          <p:nvPr/>
        </p:nvSpPr>
        <p:spPr>
          <a:xfrm>
            <a:off x="6217920" y="2468880"/>
            <a:ext cx="5486400" cy="0"/>
          </a:xfrm>
          <a:prstGeom prst="line">
            <a:avLst/>
          </a:prstGeom>
          <a:noFill/>
          <a:ln w="19050">
            <a:solidFill>
              <a:srgbClr val="B45309"/>
            </a:solidFill>
            <a:prstDash val="solid"/>
          </a:ln>
        </p:spPr>
      </p:sp>
      <p:sp>
        <p:nvSpPr>
          <p:cNvPr id="11" name="Text 9"/>
          <p:cNvSpPr/>
          <p:nvPr/>
        </p:nvSpPr>
        <p:spPr>
          <a:xfrm>
            <a:off x="6217920" y="2560320"/>
            <a:ext cx="548640" cy="365760"/>
          </a:xfrm>
          <a:prstGeom prst="rect">
            <a:avLst/>
          </a:prstGeom>
          <a:noFill/>
          <a:ln/>
        </p:spPr>
        <p:txBody>
          <a:bodyPr wrap="square" lIns="0" tIns="0" rIns="0" bIns="0" rtlCol="0" anchor="ctr"/>
          <a:lstStyle/>
          <a:p>
            <a:pPr indent="0" marL="0">
              <a:buNone/>
            </a:pPr>
            <a:r>
              <a:rPr lang="en-US" sz="1800" b="1" dirty="0">
                <a:solidFill>
                  <a:srgbClr val="B45309"/>
                </a:solidFill>
                <a:latin typeface="Georgia" pitchFamily="34" charset="0"/>
                <a:ea typeface="Georgia" pitchFamily="34" charset="-122"/>
                <a:cs typeface="Georgia" pitchFamily="34" charset="-120"/>
              </a:rPr>
              <a:t>2</a:t>
            </a:r>
            <a:endParaRPr lang="en-US" sz="1800" dirty="0"/>
          </a:p>
        </p:txBody>
      </p:sp>
      <p:sp>
        <p:nvSpPr>
          <p:cNvPr id="12" name="Text 10"/>
          <p:cNvSpPr/>
          <p:nvPr/>
        </p:nvSpPr>
        <p:spPr>
          <a:xfrm>
            <a:off x="6766560" y="2560320"/>
            <a:ext cx="4937760" cy="365760"/>
          </a:xfrm>
          <a:prstGeom prst="rect">
            <a:avLst/>
          </a:prstGeom>
          <a:noFill/>
          <a:ln/>
        </p:spPr>
        <p:txBody>
          <a:bodyPr wrap="square" lIns="0" tIns="0" rIns="0" bIns="0" rtlCol="0" anchor="ctr"/>
          <a:lstStyle/>
          <a:p>
            <a:pPr indent="0" marL="0">
              <a:buNone/>
            </a:pPr>
            <a:r>
              <a:rPr lang="en-US" sz="1400" b="1" spc="200" kern="0" dirty="0">
                <a:solidFill>
                  <a:srgbClr val="B45309"/>
                </a:solidFill>
                <a:latin typeface="Calibri" pitchFamily="34" charset="0"/>
                <a:ea typeface="Calibri" pitchFamily="34" charset="-122"/>
                <a:cs typeface="Calibri" pitchFamily="34" charset="-120"/>
              </a:rPr>
              <a:t>AGENT</a:t>
            </a:r>
            <a:endParaRPr lang="en-US" sz="1400" dirty="0"/>
          </a:p>
        </p:txBody>
      </p:sp>
      <p:sp>
        <p:nvSpPr>
          <p:cNvPr id="13" name="Text 11"/>
          <p:cNvSpPr/>
          <p:nvPr/>
        </p:nvSpPr>
        <p:spPr>
          <a:xfrm>
            <a:off x="6766560" y="2971800"/>
            <a:ext cx="4937760" cy="73152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Multi-step, observation-driven, side effects, loops, approval gate.</a:t>
            </a:r>
            <a:endParaRPr lang="en-US" sz="1100" dirty="0"/>
          </a:p>
        </p:txBody>
      </p:sp>
      <p:sp>
        <p:nvSpPr>
          <p:cNvPr id="14" name="Shape 12"/>
          <p:cNvSpPr/>
          <p:nvPr/>
        </p:nvSpPr>
        <p:spPr>
          <a:xfrm>
            <a:off x="457200" y="3749040"/>
            <a:ext cx="5486400" cy="0"/>
          </a:xfrm>
          <a:prstGeom prst="line">
            <a:avLst/>
          </a:prstGeom>
          <a:noFill/>
          <a:ln w="19050">
            <a:solidFill>
              <a:srgbClr val="64748B"/>
            </a:solidFill>
            <a:prstDash val="solid"/>
          </a:ln>
        </p:spPr>
      </p:sp>
      <p:sp>
        <p:nvSpPr>
          <p:cNvPr id="15" name="Text 13"/>
          <p:cNvSpPr/>
          <p:nvPr/>
        </p:nvSpPr>
        <p:spPr>
          <a:xfrm>
            <a:off x="457200" y="3840480"/>
            <a:ext cx="548640" cy="365760"/>
          </a:xfrm>
          <a:prstGeom prst="rect">
            <a:avLst/>
          </a:prstGeom>
          <a:noFill/>
          <a:ln/>
        </p:spPr>
        <p:txBody>
          <a:bodyPr wrap="square" lIns="0" tIns="0" rIns="0" bIns="0" rtlCol="0" anchor="ctr"/>
          <a:lstStyle/>
          <a:p>
            <a:pPr indent="0" marL="0">
              <a:buNone/>
            </a:pPr>
            <a:r>
              <a:rPr lang="en-US" sz="1800" b="1" dirty="0">
                <a:solidFill>
                  <a:srgbClr val="64748B"/>
                </a:solidFill>
                <a:latin typeface="Georgia" pitchFamily="34" charset="0"/>
                <a:ea typeface="Georgia" pitchFamily="34" charset="-122"/>
                <a:cs typeface="Georgia" pitchFamily="34" charset="-120"/>
              </a:rPr>
              <a:t>3</a:t>
            </a:r>
            <a:endParaRPr lang="en-US" sz="1800" dirty="0"/>
          </a:p>
        </p:txBody>
      </p:sp>
      <p:sp>
        <p:nvSpPr>
          <p:cNvPr id="16" name="Text 14"/>
          <p:cNvSpPr/>
          <p:nvPr/>
        </p:nvSpPr>
        <p:spPr>
          <a:xfrm>
            <a:off x="1005840" y="3840480"/>
            <a:ext cx="4937760" cy="365760"/>
          </a:xfrm>
          <a:prstGeom prst="rect">
            <a:avLst/>
          </a:prstGeom>
          <a:noFill/>
          <a:ln/>
        </p:spPr>
        <p:txBody>
          <a:bodyPr wrap="square" lIns="0" tIns="0" rIns="0" bIns="0" rtlCol="0" anchor="ctr"/>
          <a:lstStyle/>
          <a:p>
            <a:pPr indent="0" marL="0">
              <a:buNone/>
            </a:pPr>
            <a:r>
              <a:rPr lang="en-US" sz="1400" b="1" spc="200" kern="0" dirty="0">
                <a:solidFill>
                  <a:srgbClr val="64748B"/>
                </a:solidFill>
                <a:latin typeface="Calibri" pitchFamily="34" charset="0"/>
                <a:ea typeface="Calibri" pitchFamily="34" charset="-122"/>
                <a:cs typeface="Calibri" pitchFamily="34" charset="-120"/>
              </a:rPr>
              <a:t>WORKFLOW</a:t>
            </a:r>
            <a:endParaRPr lang="en-US" sz="1400" dirty="0"/>
          </a:p>
        </p:txBody>
      </p:sp>
      <p:sp>
        <p:nvSpPr>
          <p:cNvPr id="17" name="Text 15"/>
          <p:cNvSpPr/>
          <p:nvPr/>
        </p:nvSpPr>
        <p:spPr>
          <a:xfrm>
            <a:off x="1005840" y="4251960"/>
            <a:ext cx="4937760" cy="73152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Path is author-decided. Model is one step in a fixed flow.</a:t>
            </a:r>
            <a:endParaRPr lang="en-US" sz="1100" dirty="0"/>
          </a:p>
        </p:txBody>
      </p:sp>
      <p:sp>
        <p:nvSpPr>
          <p:cNvPr id="18" name="Shape 16"/>
          <p:cNvSpPr/>
          <p:nvPr/>
        </p:nvSpPr>
        <p:spPr>
          <a:xfrm>
            <a:off x="6217920" y="3749040"/>
            <a:ext cx="5486400" cy="0"/>
          </a:xfrm>
          <a:prstGeom prst="line">
            <a:avLst/>
          </a:prstGeom>
          <a:noFill/>
          <a:ln w="19050">
            <a:solidFill>
              <a:srgbClr val="64748B"/>
            </a:solidFill>
            <a:prstDash val="solid"/>
          </a:ln>
        </p:spPr>
      </p:sp>
      <p:sp>
        <p:nvSpPr>
          <p:cNvPr id="19" name="Text 17"/>
          <p:cNvSpPr/>
          <p:nvPr/>
        </p:nvSpPr>
        <p:spPr>
          <a:xfrm>
            <a:off x="6217920" y="3840480"/>
            <a:ext cx="548640" cy="365760"/>
          </a:xfrm>
          <a:prstGeom prst="rect">
            <a:avLst/>
          </a:prstGeom>
          <a:noFill/>
          <a:ln/>
        </p:spPr>
        <p:txBody>
          <a:bodyPr wrap="square" lIns="0" tIns="0" rIns="0" bIns="0" rtlCol="0" anchor="ctr"/>
          <a:lstStyle/>
          <a:p>
            <a:pPr indent="0" marL="0">
              <a:buNone/>
            </a:pPr>
            <a:r>
              <a:rPr lang="en-US" sz="1800" b="1" dirty="0">
                <a:solidFill>
                  <a:srgbClr val="64748B"/>
                </a:solidFill>
                <a:latin typeface="Georgia" pitchFamily="34" charset="0"/>
                <a:ea typeface="Georgia" pitchFamily="34" charset="-122"/>
                <a:cs typeface="Georgia" pitchFamily="34" charset="-120"/>
              </a:rPr>
              <a:t>4</a:t>
            </a:r>
            <a:endParaRPr lang="en-US" sz="1800" dirty="0"/>
          </a:p>
        </p:txBody>
      </p:sp>
      <p:sp>
        <p:nvSpPr>
          <p:cNvPr id="20" name="Text 18"/>
          <p:cNvSpPr/>
          <p:nvPr/>
        </p:nvSpPr>
        <p:spPr>
          <a:xfrm>
            <a:off x="6766560" y="3840480"/>
            <a:ext cx="4937760" cy="365760"/>
          </a:xfrm>
          <a:prstGeom prst="rect">
            <a:avLst/>
          </a:prstGeom>
          <a:noFill/>
          <a:ln/>
        </p:spPr>
        <p:txBody>
          <a:bodyPr wrap="square" lIns="0" tIns="0" rIns="0" bIns="0" rtlCol="0" anchor="ctr"/>
          <a:lstStyle/>
          <a:p>
            <a:pPr indent="0" marL="0">
              <a:buNone/>
            </a:pPr>
            <a:r>
              <a:rPr lang="en-US" sz="1400" b="1" spc="200" kern="0" dirty="0">
                <a:solidFill>
                  <a:srgbClr val="64748B"/>
                </a:solidFill>
                <a:latin typeface="Calibri" pitchFamily="34" charset="0"/>
                <a:ea typeface="Calibri" pitchFamily="34" charset="-122"/>
                <a:cs typeface="Calibri" pitchFamily="34" charset="-120"/>
              </a:rPr>
              <a:t>LLM CALL</a:t>
            </a:r>
            <a:endParaRPr lang="en-US" sz="1400" dirty="0"/>
          </a:p>
        </p:txBody>
      </p:sp>
      <p:sp>
        <p:nvSpPr>
          <p:cNvPr id="21" name="Text 19"/>
          <p:cNvSpPr/>
          <p:nvPr/>
        </p:nvSpPr>
        <p:spPr>
          <a:xfrm>
            <a:off x="6766560" y="4251960"/>
            <a:ext cx="4937760" cy="73152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Routing logic, but the LLM is a classifier inside a deterministic dispatch.</a:t>
            </a:r>
            <a:endParaRPr lang="en-US" sz="1100" dirty="0"/>
          </a:p>
        </p:txBody>
      </p:sp>
      <p:sp>
        <p:nvSpPr>
          <p:cNvPr id="22" name="Shape 20"/>
          <p:cNvSpPr/>
          <p:nvPr/>
        </p:nvSpPr>
        <p:spPr>
          <a:xfrm>
            <a:off x="457200" y="5029200"/>
            <a:ext cx="5486400" cy="0"/>
          </a:xfrm>
          <a:prstGeom prst="line">
            <a:avLst/>
          </a:prstGeom>
          <a:noFill/>
          <a:ln w="19050">
            <a:solidFill>
              <a:srgbClr val="B45309"/>
            </a:solidFill>
            <a:prstDash val="solid"/>
          </a:ln>
        </p:spPr>
      </p:sp>
      <p:sp>
        <p:nvSpPr>
          <p:cNvPr id="23" name="Text 21"/>
          <p:cNvSpPr/>
          <p:nvPr/>
        </p:nvSpPr>
        <p:spPr>
          <a:xfrm>
            <a:off x="457200" y="5120640"/>
            <a:ext cx="548640" cy="365760"/>
          </a:xfrm>
          <a:prstGeom prst="rect">
            <a:avLst/>
          </a:prstGeom>
          <a:noFill/>
          <a:ln/>
        </p:spPr>
        <p:txBody>
          <a:bodyPr wrap="square" lIns="0" tIns="0" rIns="0" bIns="0" rtlCol="0" anchor="ctr"/>
          <a:lstStyle/>
          <a:p>
            <a:pPr indent="0" marL="0">
              <a:buNone/>
            </a:pPr>
            <a:r>
              <a:rPr lang="en-US" sz="1800" b="1" dirty="0">
                <a:solidFill>
                  <a:srgbClr val="B45309"/>
                </a:solidFill>
                <a:latin typeface="Georgia" pitchFamily="34" charset="0"/>
                <a:ea typeface="Georgia" pitchFamily="34" charset="-122"/>
                <a:cs typeface="Georgia" pitchFamily="34" charset="-120"/>
              </a:rPr>
              <a:t>5</a:t>
            </a:r>
            <a:endParaRPr lang="en-US" sz="1800" dirty="0"/>
          </a:p>
        </p:txBody>
      </p:sp>
      <p:sp>
        <p:nvSpPr>
          <p:cNvPr id="24" name="Text 22"/>
          <p:cNvSpPr/>
          <p:nvPr/>
        </p:nvSpPr>
        <p:spPr>
          <a:xfrm>
            <a:off x="1005840" y="5120640"/>
            <a:ext cx="4937760" cy="365760"/>
          </a:xfrm>
          <a:prstGeom prst="rect">
            <a:avLst/>
          </a:prstGeom>
          <a:noFill/>
          <a:ln/>
        </p:spPr>
        <p:txBody>
          <a:bodyPr wrap="square" lIns="0" tIns="0" rIns="0" bIns="0" rtlCol="0" anchor="ctr"/>
          <a:lstStyle/>
          <a:p>
            <a:pPr indent="0" marL="0">
              <a:buNone/>
            </a:pPr>
            <a:r>
              <a:rPr lang="en-US" sz="1400" b="1" spc="200" kern="0" dirty="0">
                <a:solidFill>
                  <a:srgbClr val="B45309"/>
                </a:solidFill>
                <a:latin typeface="Calibri" pitchFamily="34" charset="0"/>
                <a:ea typeface="Calibri" pitchFamily="34" charset="-122"/>
                <a:cs typeface="Calibri" pitchFamily="34" charset="-120"/>
              </a:rPr>
              <a:t>AGENT</a:t>
            </a:r>
            <a:endParaRPr lang="en-US" sz="1400" dirty="0"/>
          </a:p>
        </p:txBody>
      </p:sp>
      <p:sp>
        <p:nvSpPr>
          <p:cNvPr id="25" name="Text 23"/>
          <p:cNvSpPr/>
          <p:nvPr/>
        </p:nvSpPr>
        <p:spPr>
          <a:xfrm>
            <a:off x="1005840" y="5532120"/>
            <a:ext cx="4937760" cy="73152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Picks next tool from observation, loops, terminal state defined.</a:t>
            </a:r>
            <a:endParaRPr lang="en-US" sz="1100" dirty="0"/>
          </a:p>
        </p:txBody>
      </p:sp>
      <p:sp>
        <p:nvSpPr>
          <p:cNvPr id="26" name="Shape 24"/>
          <p:cNvSpPr/>
          <p:nvPr/>
        </p:nvSpPr>
        <p:spPr>
          <a:xfrm>
            <a:off x="6217920" y="5029200"/>
            <a:ext cx="5486400" cy="0"/>
          </a:xfrm>
          <a:prstGeom prst="line">
            <a:avLst/>
          </a:prstGeom>
          <a:noFill/>
          <a:ln w="19050">
            <a:solidFill>
              <a:srgbClr val="64748B"/>
            </a:solidFill>
            <a:prstDash val="solid"/>
          </a:ln>
        </p:spPr>
      </p:sp>
      <p:sp>
        <p:nvSpPr>
          <p:cNvPr id="27" name="Text 25"/>
          <p:cNvSpPr/>
          <p:nvPr/>
        </p:nvSpPr>
        <p:spPr>
          <a:xfrm>
            <a:off x="6217920" y="5120640"/>
            <a:ext cx="548640" cy="365760"/>
          </a:xfrm>
          <a:prstGeom prst="rect">
            <a:avLst/>
          </a:prstGeom>
          <a:noFill/>
          <a:ln/>
        </p:spPr>
        <p:txBody>
          <a:bodyPr wrap="square" lIns="0" tIns="0" rIns="0" bIns="0" rtlCol="0" anchor="ctr"/>
          <a:lstStyle/>
          <a:p>
            <a:pPr indent="0" marL="0">
              <a:buNone/>
            </a:pPr>
            <a:r>
              <a:rPr lang="en-US" sz="1800" b="1" dirty="0">
                <a:solidFill>
                  <a:srgbClr val="64748B"/>
                </a:solidFill>
                <a:latin typeface="Georgia" pitchFamily="34" charset="0"/>
                <a:ea typeface="Georgia" pitchFamily="34" charset="-122"/>
                <a:cs typeface="Georgia" pitchFamily="34" charset="-120"/>
              </a:rPr>
              <a:t>6</a:t>
            </a:r>
            <a:endParaRPr lang="en-US" sz="1800" dirty="0"/>
          </a:p>
        </p:txBody>
      </p:sp>
      <p:sp>
        <p:nvSpPr>
          <p:cNvPr id="28" name="Text 26"/>
          <p:cNvSpPr/>
          <p:nvPr/>
        </p:nvSpPr>
        <p:spPr>
          <a:xfrm>
            <a:off x="6766560" y="5120640"/>
            <a:ext cx="4937760" cy="365760"/>
          </a:xfrm>
          <a:prstGeom prst="rect">
            <a:avLst/>
          </a:prstGeom>
          <a:noFill/>
          <a:ln/>
        </p:spPr>
        <p:txBody>
          <a:bodyPr wrap="square" lIns="0" tIns="0" rIns="0" bIns="0" rtlCol="0" anchor="ctr"/>
          <a:lstStyle/>
          <a:p>
            <a:pPr indent="0" marL="0">
              <a:buNone/>
            </a:pPr>
            <a:r>
              <a:rPr lang="en-US" sz="1400" b="1" spc="200" kern="0" dirty="0">
                <a:solidFill>
                  <a:srgbClr val="64748B"/>
                </a:solidFill>
                <a:latin typeface="Calibri" pitchFamily="34" charset="0"/>
                <a:ea typeface="Calibri" pitchFamily="34" charset="-122"/>
                <a:cs typeface="Calibri" pitchFamily="34" charset="-120"/>
              </a:rPr>
              <a:t>WORKFLOW</a:t>
            </a:r>
            <a:endParaRPr lang="en-US" sz="1400" dirty="0"/>
          </a:p>
        </p:txBody>
      </p:sp>
      <p:sp>
        <p:nvSpPr>
          <p:cNvPr id="29" name="Text 27"/>
          <p:cNvSpPr/>
          <p:nvPr/>
        </p:nvSpPr>
        <p:spPr>
          <a:xfrm>
            <a:off x="6766560" y="5532120"/>
            <a:ext cx="4937760" cy="73152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Scheduled job. Single LLM call. No agentic loop.</a:t>
            </a:r>
            <a:endParaRPr lang="en-US" sz="1100" dirty="0"/>
          </a:p>
        </p:txBody>
      </p:sp>
      <p:sp>
        <p:nvSpPr>
          <p:cNvPr id="30" name="Shape 28"/>
          <p:cNvSpPr/>
          <p:nvPr/>
        </p:nvSpPr>
        <p:spPr>
          <a:xfrm>
            <a:off x="457200" y="6446520"/>
            <a:ext cx="11274552" cy="0"/>
          </a:xfrm>
          <a:prstGeom prst="line">
            <a:avLst/>
          </a:prstGeom>
          <a:noFill/>
          <a:ln w="6350">
            <a:solidFill>
              <a:srgbClr val="E2E8F0"/>
            </a:solidFill>
            <a:prstDash val="solid"/>
          </a:ln>
        </p:spPr>
      </p:sp>
      <p:sp>
        <p:nvSpPr>
          <p:cNvPr id="31" name="Text 29"/>
          <p:cNvSpPr/>
          <p:nvPr/>
        </p:nvSpPr>
        <p:spPr>
          <a:xfrm>
            <a:off x="457200" y="6537960"/>
            <a:ext cx="914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30</a:t>
            </a:r>
            <a:endParaRPr lang="en-US" sz="900" dirty="0"/>
          </a:p>
        </p:txBody>
      </p:sp>
      <p:sp>
        <p:nvSpPr>
          <p:cNvPr id="32" name="Text 30"/>
          <p:cNvSpPr/>
          <p:nvPr/>
        </p:nvSpPr>
        <p:spPr>
          <a:xfrm>
            <a:off x="5943600" y="6537960"/>
            <a:ext cx="5788152" cy="228600"/>
          </a:xfrm>
          <a:prstGeom prst="rect">
            <a:avLst/>
          </a:prstGeom>
          <a:noFill/>
          <a:ln/>
        </p:spPr>
        <p:txBody>
          <a:bodyPr wrap="square" lIns="0" tIns="0" rIns="0" bIns="0" rtlCol="0" anchor="ctr"/>
          <a:lstStyle/>
          <a:p>
            <a:pPr algn="r" indent="0" marL="0">
              <a:buNone/>
            </a:pPr>
            <a:r>
              <a:rPr lang="en-US" sz="900" i="1" dirty="0">
                <a:solidFill>
                  <a:srgbClr val="94A3B8"/>
                </a:solidFill>
                <a:latin typeface="Calibri" pitchFamily="34" charset="0"/>
                <a:ea typeface="Calibri" pitchFamily="34" charset="-122"/>
                <a:cs typeface="Calibri" pitchFamily="34" charset="-120"/>
              </a:rPr>
              <a:t>Agentic Foundations · Half 1</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4552" cy="274320"/>
          </a:xfrm>
          <a:prstGeom prst="rect">
            <a:avLst/>
          </a:prstGeom>
          <a:noFill/>
          <a:ln/>
        </p:spPr>
        <p:txBody>
          <a:bodyPr wrap="square" lIns="0" tIns="0" rIns="0" bIns="0" rtlCol="0" anchor="ctr"/>
          <a:lstStyle/>
          <a:p>
            <a:pPr indent="0" marL="0">
              <a:buNone/>
            </a:pPr>
            <a:r>
              <a:rPr lang="en-US" sz="1000" b="1" spc="400" kern="0" dirty="0">
                <a:solidFill>
                  <a:srgbClr val="B45309"/>
                </a:solidFill>
                <a:latin typeface="Calibri" pitchFamily="34" charset="0"/>
                <a:ea typeface="Calibri" pitchFamily="34" charset="-122"/>
                <a:cs typeface="Calibri" pitchFamily="34" charset="-120"/>
              </a:rPr>
              <a:t>RECAP</a:t>
            </a:r>
            <a:endParaRPr lang="en-US" sz="1000" dirty="0"/>
          </a:p>
        </p:txBody>
      </p:sp>
      <p:sp>
        <p:nvSpPr>
          <p:cNvPr id="3" name="Text 1"/>
          <p:cNvSpPr/>
          <p:nvPr/>
        </p:nvSpPr>
        <p:spPr>
          <a:xfrm>
            <a:off x="457200" y="777240"/>
            <a:ext cx="11274552"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Half 1 — what you now have</a:t>
            </a:r>
            <a:endParaRPr lang="en-US" sz="2800" dirty="0"/>
          </a:p>
        </p:txBody>
      </p:sp>
      <p:sp>
        <p:nvSpPr>
          <p:cNvPr id="4" name="Text 2"/>
          <p:cNvSpPr/>
          <p:nvPr/>
        </p:nvSpPr>
        <p:spPr>
          <a:xfrm>
            <a:off x="457200" y="1554480"/>
            <a:ext cx="11274552"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Six concepts that show up in every build session for the next nine days.</a:t>
            </a:r>
            <a:endParaRPr lang="en-US" sz="1400" dirty="0"/>
          </a:p>
        </p:txBody>
      </p:sp>
      <p:sp>
        <p:nvSpPr>
          <p:cNvPr id="5" name="Shape 3"/>
          <p:cNvSpPr/>
          <p:nvPr/>
        </p:nvSpPr>
        <p:spPr>
          <a:xfrm>
            <a:off x="457200" y="2057400"/>
            <a:ext cx="11274552" cy="0"/>
          </a:xfrm>
          <a:prstGeom prst="line">
            <a:avLst/>
          </a:prstGeom>
          <a:noFill/>
          <a:ln w="6350">
            <a:solidFill>
              <a:srgbClr val="E2E8F0"/>
            </a:solidFill>
            <a:prstDash val="solid"/>
          </a:ln>
        </p:spPr>
      </p:sp>
      <p:sp>
        <p:nvSpPr>
          <p:cNvPr id="6" name="Shape 4"/>
          <p:cNvSpPr/>
          <p:nvPr/>
        </p:nvSpPr>
        <p:spPr>
          <a:xfrm>
            <a:off x="457200" y="2468880"/>
            <a:ext cx="5486400" cy="0"/>
          </a:xfrm>
          <a:prstGeom prst="line">
            <a:avLst/>
          </a:prstGeom>
          <a:noFill/>
          <a:ln w="19050">
            <a:solidFill>
              <a:srgbClr val="B45309"/>
            </a:solidFill>
            <a:prstDash val="solid"/>
          </a:ln>
        </p:spPr>
      </p:sp>
      <p:sp>
        <p:nvSpPr>
          <p:cNvPr id="7" name="Text 5"/>
          <p:cNvSpPr/>
          <p:nvPr/>
        </p:nvSpPr>
        <p:spPr>
          <a:xfrm>
            <a:off x="457200" y="2560320"/>
            <a:ext cx="640080" cy="365760"/>
          </a:xfrm>
          <a:prstGeom prst="rect">
            <a:avLst/>
          </a:prstGeom>
          <a:noFill/>
          <a:ln/>
        </p:spPr>
        <p:txBody>
          <a:bodyPr wrap="square" lIns="0" tIns="0" rIns="0" bIns="0" rtlCol="0" anchor="ctr"/>
          <a:lstStyle/>
          <a:p>
            <a:pPr indent="0" marL="0">
              <a:buNone/>
            </a:pPr>
            <a:r>
              <a:rPr lang="en-US" sz="1400" b="1" dirty="0">
                <a:solidFill>
                  <a:srgbClr val="B45309"/>
                </a:solidFill>
                <a:latin typeface="Georgia" pitchFamily="34" charset="0"/>
                <a:ea typeface="Georgia" pitchFamily="34" charset="-122"/>
                <a:cs typeface="Georgia" pitchFamily="34" charset="-120"/>
              </a:rPr>
              <a:t>01</a:t>
            </a:r>
            <a:endParaRPr lang="en-US" sz="1400" dirty="0"/>
          </a:p>
        </p:txBody>
      </p:sp>
      <p:sp>
        <p:nvSpPr>
          <p:cNvPr id="8" name="Text 6"/>
          <p:cNvSpPr/>
          <p:nvPr/>
        </p:nvSpPr>
        <p:spPr>
          <a:xfrm>
            <a:off x="1097280" y="2560320"/>
            <a:ext cx="4846320" cy="36576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An agent definition that holds up</a:t>
            </a:r>
            <a:endParaRPr lang="en-US" sz="1400" dirty="0"/>
          </a:p>
        </p:txBody>
      </p:sp>
      <p:sp>
        <p:nvSpPr>
          <p:cNvPr id="9" name="Text 7"/>
          <p:cNvSpPr/>
          <p:nvPr/>
        </p:nvSpPr>
        <p:spPr>
          <a:xfrm>
            <a:off x="1097280" y="2971800"/>
            <a:ext cx="4846320" cy="77724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Goal · plan · tool · observe · loop. Use it as a knife.</a:t>
            </a:r>
            <a:endParaRPr lang="en-US" sz="1200" dirty="0"/>
          </a:p>
        </p:txBody>
      </p:sp>
      <p:sp>
        <p:nvSpPr>
          <p:cNvPr id="10" name="Shape 8"/>
          <p:cNvSpPr/>
          <p:nvPr/>
        </p:nvSpPr>
        <p:spPr>
          <a:xfrm>
            <a:off x="6217920" y="2468880"/>
            <a:ext cx="5486400" cy="0"/>
          </a:xfrm>
          <a:prstGeom prst="line">
            <a:avLst/>
          </a:prstGeom>
          <a:noFill/>
          <a:ln w="19050">
            <a:solidFill>
              <a:srgbClr val="B45309"/>
            </a:solidFill>
            <a:prstDash val="solid"/>
          </a:ln>
        </p:spPr>
      </p:sp>
      <p:sp>
        <p:nvSpPr>
          <p:cNvPr id="11" name="Text 9"/>
          <p:cNvSpPr/>
          <p:nvPr/>
        </p:nvSpPr>
        <p:spPr>
          <a:xfrm>
            <a:off x="6217920" y="2560320"/>
            <a:ext cx="640080" cy="365760"/>
          </a:xfrm>
          <a:prstGeom prst="rect">
            <a:avLst/>
          </a:prstGeom>
          <a:noFill/>
          <a:ln/>
        </p:spPr>
        <p:txBody>
          <a:bodyPr wrap="square" lIns="0" tIns="0" rIns="0" bIns="0" rtlCol="0" anchor="ctr"/>
          <a:lstStyle/>
          <a:p>
            <a:pPr indent="0" marL="0">
              <a:buNone/>
            </a:pPr>
            <a:r>
              <a:rPr lang="en-US" sz="1400" b="1" dirty="0">
                <a:solidFill>
                  <a:srgbClr val="B45309"/>
                </a:solidFill>
                <a:latin typeface="Georgia" pitchFamily="34" charset="0"/>
                <a:ea typeface="Georgia" pitchFamily="34" charset="-122"/>
                <a:cs typeface="Georgia" pitchFamily="34" charset="-120"/>
              </a:rPr>
              <a:t>02</a:t>
            </a:r>
            <a:endParaRPr lang="en-US" sz="1400" dirty="0"/>
          </a:p>
        </p:txBody>
      </p:sp>
      <p:sp>
        <p:nvSpPr>
          <p:cNvPr id="12" name="Text 10"/>
          <p:cNvSpPr/>
          <p:nvPr/>
        </p:nvSpPr>
        <p:spPr>
          <a:xfrm>
            <a:off x="6858000" y="2560320"/>
            <a:ext cx="4846320" cy="36576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The four-quadrant rubric</a:t>
            </a:r>
            <a:endParaRPr lang="en-US" sz="1400" dirty="0"/>
          </a:p>
        </p:txBody>
      </p:sp>
      <p:sp>
        <p:nvSpPr>
          <p:cNvPr id="13" name="Text 11"/>
          <p:cNvSpPr/>
          <p:nvPr/>
        </p:nvSpPr>
        <p:spPr>
          <a:xfrm>
            <a:off x="6858000" y="2971800"/>
            <a:ext cx="4846320" cy="77724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Agents live in non-deterministic multi-step. Other quadrants are not agents.</a:t>
            </a:r>
            <a:endParaRPr lang="en-US" sz="1200" dirty="0"/>
          </a:p>
        </p:txBody>
      </p:sp>
      <p:sp>
        <p:nvSpPr>
          <p:cNvPr id="14" name="Shape 12"/>
          <p:cNvSpPr/>
          <p:nvPr/>
        </p:nvSpPr>
        <p:spPr>
          <a:xfrm>
            <a:off x="457200" y="3749040"/>
            <a:ext cx="5486400" cy="0"/>
          </a:xfrm>
          <a:prstGeom prst="line">
            <a:avLst/>
          </a:prstGeom>
          <a:noFill/>
          <a:ln w="19050">
            <a:solidFill>
              <a:srgbClr val="B45309"/>
            </a:solidFill>
            <a:prstDash val="solid"/>
          </a:ln>
        </p:spPr>
      </p:sp>
      <p:sp>
        <p:nvSpPr>
          <p:cNvPr id="15" name="Text 13"/>
          <p:cNvSpPr/>
          <p:nvPr/>
        </p:nvSpPr>
        <p:spPr>
          <a:xfrm>
            <a:off x="457200" y="3840480"/>
            <a:ext cx="640080" cy="365760"/>
          </a:xfrm>
          <a:prstGeom prst="rect">
            <a:avLst/>
          </a:prstGeom>
          <a:noFill/>
          <a:ln/>
        </p:spPr>
        <p:txBody>
          <a:bodyPr wrap="square" lIns="0" tIns="0" rIns="0" bIns="0" rtlCol="0" anchor="ctr"/>
          <a:lstStyle/>
          <a:p>
            <a:pPr indent="0" marL="0">
              <a:buNone/>
            </a:pPr>
            <a:r>
              <a:rPr lang="en-US" sz="1400" b="1" dirty="0">
                <a:solidFill>
                  <a:srgbClr val="B45309"/>
                </a:solidFill>
                <a:latin typeface="Georgia" pitchFamily="34" charset="0"/>
                <a:ea typeface="Georgia" pitchFamily="34" charset="-122"/>
                <a:cs typeface="Georgia" pitchFamily="34" charset="-120"/>
              </a:rPr>
              <a:t>03</a:t>
            </a:r>
            <a:endParaRPr lang="en-US" sz="1400" dirty="0"/>
          </a:p>
        </p:txBody>
      </p:sp>
      <p:sp>
        <p:nvSpPr>
          <p:cNvPr id="16" name="Text 14"/>
          <p:cNvSpPr/>
          <p:nvPr/>
        </p:nvSpPr>
        <p:spPr>
          <a:xfrm>
            <a:off x="1097280" y="3840480"/>
            <a:ext cx="4846320" cy="36576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Vocabulary</a:t>
            </a:r>
            <a:endParaRPr lang="en-US" sz="1400" dirty="0"/>
          </a:p>
        </p:txBody>
      </p:sp>
      <p:sp>
        <p:nvSpPr>
          <p:cNvPr id="17" name="Text 15"/>
          <p:cNvSpPr/>
          <p:nvPr/>
        </p:nvSpPr>
        <p:spPr>
          <a:xfrm>
            <a:off x="1097280" y="4251960"/>
            <a:ext cx="4846320" cy="77724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LLM call · workflow · agent · multi-agent. Demote when possible.</a:t>
            </a:r>
            <a:endParaRPr lang="en-US" sz="1200" dirty="0"/>
          </a:p>
        </p:txBody>
      </p:sp>
      <p:sp>
        <p:nvSpPr>
          <p:cNvPr id="18" name="Shape 16"/>
          <p:cNvSpPr/>
          <p:nvPr/>
        </p:nvSpPr>
        <p:spPr>
          <a:xfrm>
            <a:off x="6217920" y="3749040"/>
            <a:ext cx="5486400" cy="0"/>
          </a:xfrm>
          <a:prstGeom prst="line">
            <a:avLst/>
          </a:prstGeom>
          <a:noFill/>
          <a:ln w="19050">
            <a:solidFill>
              <a:srgbClr val="B45309"/>
            </a:solidFill>
            <a:prstDash val="solid"/>
          </a:ln>
        </p:spPr>
      </p:sp>
      <p:sp>
        <p:nvSpPr>
          <p:cNvPr id="19" name="Text 17"/>
          <p:cNvSpPr/>
          <p:nvPr/>
        </p:nvSpPr>
        <p:spPr>
          <a:xfrm>
            <a:off x="6217920" y="3840480"/>
            <a:ext cx="640080" cy="365760"/>
          </a:xfrm>
          <a:prstGeom prst="rect">
            <a:avLst/>
          </a:prstGeom>
          <a:noFill/>
          <a:ln/>
        </p:spPr>
        <p:txBody>
          <a:bodyPr wrap="square" lIns="0" tIns="0" rIns="0" bIns="0" rtlCol="0" anchor="ctr"/>
          <a:lstStyle/>
          <a:p>
            <a:pPr indent="0" marL="0">
              <a:buNone/>
            </a:pPr>
            <a:r>
              <a:rPr lang="en-US" sz="1400" b="1" dirty="0">
                <a:solidFill>
                  <a:srgbClr val="B45309"/>
                </a:solidFill>
                <a:latin typeface="Georgia" pitchFamily="34" charset="0"/>
                <a:ea typeface="Georgia" pitchFamily="34" charset="-122"/>
                <a:cs typeface="Georgia" pitchFamily="34" charset="-120"/>
              </a:rPr>
              <a:t>04</a:t>
            </a:r>
            <a:endParaRPr lang="en-US" sz="1400" dirty="0"/>
          </a:p>
        </p:txBody>
      </p:sp>
      <p:sp>
        <p:nvSpPr>
          <p:cNvPr id="20" name="Text 18"/>
          <p:cNvSpPr/>
          <p:nvPr/>
        </p:nvSpPr>
        <p:spPr>
          <a:xfrm>
            <a:off x="6858000" y="3840480"/>
            <a:ext cx="4846320" cy="36576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The demo-to-production gap</a:t>
            </a:r>
            <a:endParaRPr lang="en-US" sz="1400" dirty="0"/>
          </a:p>
        </p:txBody>
      </p:sp>
      <p:sp>
        <p:nvSpPr>
          <p:cNvPr id="21" name="Text 19"/>
          <p:cNvSpPr/>
          <p:nvPr/>
        </p:nvSpPr>
        <p:spPr>
          <a:xfrm>
            <a:off x="6858000" y="4251960"/>
            <a:ext cx="4846320" cy="77724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Eight dimensions. Memorise them; they become the rest of the program.</a:t>
            </a:r>
            <a:endParaRPr lang="en-US" sz="1200" dirty="0"/>
          </a:p>
        </p:txBody>
      </p:sp>
      <p:sp>
        <p:nvSpPr>
          <p:cNvPr id="22" name="Shape 20"/>
          <p:cNvSpPr/>
          <p:nvPr/>
        </p:nvSpPr>
        <p:spPr>
          <a:xfrm>
            <a:off x="457200" y="5029200"/>
            <a:ext cx="5486400" cy="0"/>
          </a:xfrm>
          <a:prstGeom prst="line">
            <a:avLst/>
          </a:prstGeom>
          <a:noFill/>
          <a:ln w="19050">
            <a:solidFill>
              <a:srgbClr val="B45309"/>
            </a:solidFill>
            <a:prstDash val="solid"/>
          </a:ln>
        </p:spPr>
      </p:sp>
      <p:sp>
        <p:nvSpPr>
          <p:cNvPr id="23" name="Text 21"/>
          <p:cNvSpPr/>
          <p:nvPr/>
        </p:nvSpPr>
        <p:spPr>
          <a:xfrm>
            <a:off x="457200" y="5120640"/>
            <a:ext cx="640080" cy="365760"/>
          </a:xfrm>
          <a:prstGeom prst="rect">
            <a:avLst/>
          </a:prstGeom>
          <a:noFill/>
          <a:ln/>
        </p:spPr>
        <p:txBody>
          <a:bodyPr wrap="square" lIns="0" tIns="0" rIns="0" bIns="0" rtlCol="0" anchor="ctr"/>
          <a:lstStyle/>
          <a:p>
            <a:pPr indent="0" marL="0">
              <a:buNone/>
            </a:pPr>
            <a:r>
              <a:rPr lang="en-US" sz="1400" b="1" dirty="0">
                <a:solidFill>
                  <a:srgbClr val="B45309"/>
                </a:solidFill>
                <a:latin typeface="Georgia" pitchFamily="34" charset="0"/>
                <a:ea typeface="Georgia" pitchFamily="34" charset="-122"/>
                <a:cs typeface="Georgia" pitchFamily="34" charset="-120"/>
              </a:rPr>
              <a:t>05</a:t>
            </a:r>
            <a:endParaRPr lang="en-US" sz="1400" dirty="0"/>
          </a:p>
        </p:txBody>
      </p:sp>
      <p:sp>
        <p:nvSpPr>
          <p:cNvPr id="24" name="Text 22"/>
          <p:cNvSpPr/>
          <p:nvPr/>
        </p:nvSpPr>
        <p:spPr>
          <a:xfrm>
            <a:off x="1097280" y="5120640"/>
            <a:ext cx="4846320" cy="36576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Six-component anatomy</a:t>
            </a:r>
            <a:endParaRPr lang="en-US" sz="1400" dirty="0"/>
          </a:p>
        </p:txBody>
      </p:sp>
      <p:sp>
        <p:nvSpPr>
          <p:cNvPr id="25" name="Text 23"/>
          <p:cNvSpPr/>
          <p:nvPr/>
        </p:nvSpPr>
        <p:spPr>
          <a:xfrm>
            <a:off x="1097280" y="5532120"/>
            <a:ext cx="4846320" cy="77724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Planner · tools · memory · retriever · evaluator · surface.</a:t>
            </a:r>
            <a:endParaRPr lang="en-US" sz="1200" dirty="0"/>
          </a:p>
        </p:txBody>
      </p:sp>
      <p:sp>
        <p:nvSpPr>
          <p:cNvPr id="26" name="Shape 24"/>
          <p:cNvSpPr/>
          <p:nvPr/>
        </p:nvSpPr>
        <p:spPr>
          <a:xfrm>
            <a:off x="6217920" y="5029200"/>
            <a:ext cx="5486400" cy="0"/>
          </a:xfrm>
          <a:prstGeom prst="line">
            <a:avLst/>
          </a:prstGeom>
          <a:noFill/>
          <a:ln w="19050">
            <a:solidFill>
              <a:srgbClr val="B45309"/>
            </a:solidFill>
            <a:prstDash val="solid"/>
          </a:ln>
        </p:spPr>
      </p:sp>
      <p:sp>
        <p:nvSpPr>
          <p:cNvPr id="27" name="Text 25"/>
          <p:cNvSpPr/>
          <p:nvPr/>
        </p:nvSpPr>
        <p:spPr>
          <a:xfrm>
            <a:off x="6217920" y="5120640"/>
            <a:ext cx="640080" cy="365760"/>
          </a:xfrm>
          <a:prstGeom prst="rect">
            <a:avLst/>
          </a:prstGeom>
          <a:noFill/>
          <a:ln/>
        </p:spPr>
        <p:txBody>
          <a:bodyPr wrap="square" lIns="0" tIns="0" rIns="0" bIns="0" rtlCol="0" anchor="ctr"/>
          <a:lstStyle/>
          <a:p>
            <a:pPr indent="0" marL="0">
              <a:buNone/>
            </a:pPr>
            <a:r>
              <a:rPr lang="en-US" sz="1400" b="1" dirty="0">
                <a:solidFill>
                  <a:srgbClr val="B45309"/>
                </a:solidFill>
                <a:latin typeface="Georgia" pitchFamily="34" charset="0"/>
                <a:ea typeface="Georgia" pitchFamily="34" charset="-122"/>
                <a:cs typeface="Georgia" pitchFamily="34" charset="-120"/>
              </a:rPr>
              <a:t>06</a:t>
            </a:r>
            <a:endParaRPr lang="en-US" sz="1400" dirty="0"/>
          </a:p>
        </p:txBody>
      </p:sp>
      <p:sp>
        <p:nvSpPr>
          <p:cNvPr id="28" name="Text 26"/>
          <p:cNvSpPr/>
          <p:nvPr/>
        </p:nvSpPr>
        <p:spPr>
          <a:xfrm>
            <a:off x="6858000" y="5120640"/>
            <a:ext cx="4846320" cy="36576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Six failure patterns</a:t>
            </a:r>
            <a:endParaRPr lang="en-US" sz="1400" dirty="0"/>
          </a:p>
        </p:txBody>
      </p:sp>
      <p:sp>
        <p:nvSpPr>
          <p:cNvPr id="29" name="Text 27"/>
          <p:cNvSpPr/>
          <p:nvPr/>
        </p:nvSpPr>
        <p:spPr>
          <a:xfrm>
            <a:off x="6858000" y="5532120"/>
            <a:ext cx="4846320" cy="77724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Looping · silent · hallucinated · poisoning · drift · unsafe autonomy.</a:t>
            </a:r>
            <a:endParaRPr lang="en-US" sz="1200" dirty="0"/>
          </a:p>
        </p:txBody>
      </p:sp>
      <p:sp>
        <p:nvSpPr>
          <p:cNvPr id="30" name="Shape 28"/>
          <p:cNvSpPr/>
          <p:nvPr/>
        </p:nvSpPr>
        <p:spPr>
          <a:xfrm>
            <a:off x="457200" y="6446520"/>
            <a:ext cx="11274552" cy="0"/>
          </a:xfrm>
          <a:prstGeom prst="line">
            <a:avLst/>
          </a:prstGeom>
          <a:noFill/>
          <a:ln w="6350">
            <a:solidFill>
              <a:srgbClr val="E2E8F0"/>
            </a:solidFill>
            <a:prstDash val="solid"/>
          </a:ln>
        </p:spPr>
      </p:sp>
      <p:sp>
        <p:nvSpPr>
          <p:cNvPr id="31" name="Text 29"/>
          <p:cNvSpPr/>
          <p:nvPr/>
        </p:nvSpPr>
        <p:spPr>
          <a:xfrm>
            <a:off x="457200" y="6537960"/>
            <a:ext cx="914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31</a:t>
            </a:r>
            <a:endParaRPr lang="en-US" sz="900" dirty="0"/>
          </a:p>
        </p:txBody>
      </p:sp>
      <p:sp>
        <p:nvSpPr>
          <p:cNvPr id="32" name="Text 30"/>
          <p:cNvSpPr/>
          <p:nvPr/>
        </p:nvSpPr>
        <p:spPr>
          <a:xfrm>
            <a:off x="5943600" y="6537960"/>
            <a:ext cx="5788152" cy="228600"/>
          </a:xfrm>
          <a:prstGeom prst="rect">
            <a:avLst/>
          </a:prstGeom>
          <a:noFill/>
          <a:ln/>
        </p:spPr>
        <p:txBody>
          <a:bodyPr wrap="square" lIns="0" tIns="0" rIns="0" bIns="0" rtlCol="0" anchor="ctr"/>
          <a:lstStyle/>
          <a:p>
            <a:pPr algn="r" indent="0" marL="0">
              <a:buNone/>
            </a:pPr>
            <a:r>
              <a:rPr lang="en-US" sz="900" i="1" dirty="0">
                <a:solidFill>
                  <a:srgbClr val="94A3B8"/>
                </a:solidFill>
                <a:latin typeface="Calibri" pitchFamily="34" charset="0"/>
                <a:ea typeface="Calibri" pitchFamily="34" charset="-122"/>
                <a:cs typeface="Calibri" pitchFamily="34" charset="-120"/>
              </a:rPr>
              <a:t>Agentic Foundations · Half 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57200"/>
            <a:ext cx="1097280" cy="36576"/>
          </a:xfrm>
          <a:prstGeom prst="rect">
            <a:avLst/>
          </a:prstGeom>
          <a:solidFill>
            <a:srgbClr val="B45309"/>
          </a:solidFill>
          <a:ln w="12700">
            <a:solidFill>
              <a:srgbClr val="B45309"/>
            </a:solidFill>
            <a:prstDash val="solid"/>
          </a:ln>
        </p:spPr>
      </p:sp>
      <p:sp>
        <p:nvSpPr>
          <p:cNvPr id="3" name="Text 1"/>
          <p:cNvSpPr/>
          <p:nvPr/>
        </p:nvSpPr>
        <p:spPr>
          <a:xfrm>
            <a:off x="457200" y="640080"/>
            <a:ext cx="10972800" cy="320040"/>
          </a:xfrm>
          <a:prstGeom prst="rect">
            <a:avLst/>
          </a:prstGeom>
          <a:noFill/>
          <a:ln/>
        </p:spPr>
        <p:txBody>
          <a:bodyPr wrap="square" lIns="0" tIns="0" rIns="0" bIns="0" rtlCol="0" anchor="ctr"/>
          <a:lstStyle/>
          <a:p>
            <a:pPr indent="0" marL="0">
              <a:buNone/>
            </a:pPr>
            <a:r>
              <a:rPr lang="en-US" sz="1100" b="1" spc="400" kern="0" dirty="0">
                <a:solidFill>
                  <a:srgbClr val="B45309"/>
                </a:solidFill>
                <a:latin typeface="Calibri" pitchFamily="34" charset="0"/>
                <a:ea typeface="Calibri" pitchFamily="34" charset="-122"/>
                <a:cs typeface="Calibri" pitchFamily="34" charset="-120"/>
              </a:rPr>
              <a:t>HALF 1 ENDS HERE</a:t>
            </a:r>
            <a:endParaRPr lang="en-US" sz="1100" dirty="0"/>
          </a:p>
        </p:txBody>
      </p:sp>
      <p:sp>
        <p:nvSpPr>
          <p:cNvPr id="4" name="Text 2"/>
          <p:cNvSpPr/>
          <p:nvPr/>
        </p:nvSpPr>
        <p:spPr>
          <a:xfrm>
            <a:off x="457200" y="1371600"/>
            <a:ext cx="10972800" cy="640080"/>
          </a:xfrm>
          <a:prstGeom prst="rect">
            <a:avLst/>
          </a:prstGeom>
          <a:noFill/>
          <a:ln/>
        </p:spPr>
        <p:txBody>
          <a:bodyPr wrap="square" lIns="0" tIns="0" rIns="0" bIns="0" rtlCol="0" anchor="ctr"/>
          <a:lstStyle/>
          <a:p>
            <a:pPr indent="0" marL="0">
              <a:buNone/>
            </a:pPr>
            <a:r>
              <a:rPr lang="en-US" sz="3600" b="1" dirty="0">
                <a:solidFill>
                  <a:srgbClr val="0F172A"/>
                </a:solidFill>
                <a:latin typeface="Georgia" pitchFamily="34" charset="0"/>
                <a:ea typeface="Georgia" pitchFamily="34" charset="-122"/>
                <a:cs typeface="Georgia" pitchFamily="34" charset="-120"/>
              </a:rPr>
              <a:t>Break — fifteen minutes</a:t>
            </a:r>
            <a:endParaRPr lang="en-US" sz="3600" dirty="0"/>
          </a:p>
        </p:txBody>
      </p:sp>
      <p:sp>
        <p:nvSpPr>
          <p:cNvPr id="5" name="Shape 3"/>
          <p:cNvSpPr/>
          <p:nvPr/>
        </p:nvSpPr>
        <p:spPr>
          <a:xfrm>
            <a:off x="457200" y="2560320"/>
            <a:ext cx="11274552" cy="0"/>
          </a:xfrm>
          <a:prstGeom prst="line">
            <a:avLst/>
          </a:prstGeom>
          <a:noFill/>
          <a:ln w="6350">
            <a:solidFill>
              <a:srgbClr val="E2E8F0"/>
            </a:solidFill>
            <a:prstDash val="solid"/>
          </a:ln>
        </p:spPr>
      </p:sp>
      <p:sp>
        <p:nvSpPr>
          <p:cNvPr id="6" name="Text 4"/>
          <p:cNvSpPr/>
          <p:nvPr/>
        </p:nvSpPr>
        <p:spPr>
          <a:xfrm>
            <a:off x="457200" y="2743200"/>
            <a:ext cx="10972800" cy="320040"/>
          </a:xfrm>
          <a:prstGeom prst="rect">
            <a:avLst/>
          </a:prstGeom>
          <a:noFill/>
          <a:ln/>
        </p:spPr>
        <p:txBody>
          <a:bodyPr wrap="square" lIns="0" tIns="0" rIns="0" bIns="0" rtlCol="0" anchor="ctr"/>
          <a:lstStyle/>
          <a:p>
            <a:pPr indent="0" marL="0">
              <a:buNone/>
            </a:pPr>
            <a:r>
              <a:rPr lang="en-US" sz="1100" b="1" spc="300" kern="0" dirty="0">
                <a:solidFill>
                  <a:srgbClr val="B45309"/>
                </a:solidFill>
                <a:latin typeface="Calibri" pitchFamily="34" charset="0"/>
                <a:ea typeface="Calibri" pitchFamily="34" charset="-122"/>
                <a:cs typeface="Calibri" pitchFamily="34" charset="-120"/>
              </a:rPr>
              <a:t>HALF 2 PREVIEW</a:t>
            </a:r>
            <a:endParaRPr lang="en-US" sz="1100" dirty="0"/>
          </a:p>
        </p:txBody>
      </p:sp>
      <p:sp>
        <p:nvSpPr>
          <p:cNvPr id="7" name="Text 5"/>
          <p:cNvSpPr/>
          <p:nvPr/>
        </p:nvSpPr>
        <p:spPr>
          <a:xfrm>
            <a:off x="457200" y="3200400"/>
            <a:ext cx="274320" cy="365760"/>
          </a:xfrm>
          <a:prstGeom prst="rect">
            <a:avLst/>
          </a:prstGeom>
          <a:noFill/>
          <a:ln/>
        </p:spPr>
        <p:txBody>
          <a:bodyPr wrap="square" lIns="0" tIns="0" rIns="0" bIns="0" rtlCol="0" anchor="ctr"/>
          <a:lstStyle/>
          <a:p>
            <a:pPr indent="0" marL="0">
              <a:buNone/>
            </a:pPr>
            <a:r>
              <a:rPr lang="en-US" sz="1400" dirty="0">
                <a:solidFill>
                  <a:srgbClr val="B45309"/>
                </a:solidFill>
                <a:latin typeface="Calibri" pitchFamily="34" charset="0"/>
                <a:ea typeface="Calibri" pitchFamily="34" charset="-122"/>
                <a:cs typeface="Calibri" pitchFamily="34" charset="-120"/>
              </a:rPr>
              <a:t>—</a:t>
            </a:r>
            <a:endParaRPr lang="en-US" sz="1400" dirty="0"/>
          </a:p>
        </p:txBody>
      </p:sp>
      <p:sp>
        <p:nvSpPr>
          <p:cNvPr id="8" name="Text 6"/>
          <p:cNvSpPr/>
          <p:nvPr/>
        </p:nvSpPr>
        <p:spPr>
          <a:xfrm>
            <a:off x="777240" y="3200400"/>
            <a:ext cx="5029200" cy="36576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Control plane vs execution plane</a:t>
            </a:r>
            <a:endParaRPr lang="en-US" sz="1400" dirty="0"/>
          </a:p>
        </p:txBody>
      </p:sp>
      <p:sp>
        <p:nvSpPr>
          <p:cNvPr id="9" name="Text 7"/>
          <p:cNvSpPr/>
          <p:nvPr/>
        </p:nvSpPr>
        <p:spPr>
          <a:xfrm>
            <a:off x="5852160" y="3200400"/>
            <a:ext cx="5852160" cy="365760"/>
          </a:xfrm>
          <a:prstGeom prst="rect">
            <a:avLst/>
          </a:prstGeom>
          <a:noFill/>
          <a:ln/>
        </p:spPr>
        <p:txBody>
          <a:bodyPr wrap="square" lIns="0" tIns="0" rIns="0" bIns="0" rtlCol="0" anchor="ctr"/>
          <a:lstStyle/>
          <a:p>
            <a:pPr indent="0" marL="0">
              <a:buNone/>
            </a:pPr>
            <a:r>
              <a:rPr lang="en-US" sz="1300" i="1" dirty="0">
                <a:solidFill>
                  <a:srgbClr val="334155"/>
                </a:solidFill>
                <a:latin typeface="Calibri" pitchFamily="34" charset="0"/>
                <a:ea typeface="Calibri" pitchFamily="34" charset="-122"/>
                <a:cs typeface="Calibri" pitchFamily="34" charset="-120"/>
              </a:rPr>
              <a:t>Where bugs live and how to debug each.</a:t>
            </a:r>
            <a:endParaRPr lang="en-US" sz="1300" dirty="0"/>
          </a:p>
        </p:txBody>
      </p:sp>
      <p:sp>
        <p:nvSpPr>
          <p:cNvPr id="10" name="Text 8"/>
          <p:cNvSpPr/>
          <p:nvPr/>
        </p:nvSpPr>
        <p:spPr>
          <a:xfrm>
            <a:off x="457200" y="3703320"/>
            <a:ext cx="274320" cy="365760"/>
          </a:xfrm>
          <a:prstGeom prst="rect">
            <a:avLst/>
          </a:prstGeom>
          <a:noFill/>
          <a:ln/>
        </p:spPr>
        <p:txBody>
          <a:bodyPr wrap="square" lIns="0" tIns="0" rIns="0" bIns="0" rtlCol="0" anchor="ctr"/>
          <a:lstStyle/>
          <a:p>
            <a:pPr indent="0" marL="0">
              <a:buNone/>
            </a:pPr>
            <a:r>
              <a:rPr lang="en-US" sz="1400" dirty="0">
                <a:solidFill>
                  <a:srgbClr val="B45309"/>
                </a:solidFill>
                <a:latin typeface="Calibri" pitchFamily="34" charset="0"/>
                <a:ea typeface="Calibri" pitchFamily="34" charset="-122"/>
                <a:cs typeface="Calibri" pitchFamily="34" charset="-120"/>
              </a:rPr>
              <a:t>—</a:t>
            </a:r>
            <a:endParaRPr lang="en-US" sz="1400" dirty="0"/>
          </a:p>
        </p:txBody>
      </p:sp>
      <p:sp>
        <p:nvSpPr>
          <p:cNvPr id="11" name="Text 9"/>
          <p:cNvSpPr/>
          <p:nvPr/>
        </p:nvSpPr>
        <p:spPr>
          <a:xfrm>
            <a:off x="777240" y="3703320"/>
            <a:ext cx="5029200" cy="36576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PRD → HLD → LLD for agents</a:t>
            </a:r>
            <a:endParaRPr lang="en-US" sz="1400" dirty="0"/>
          </a:p>
        </p:txBody>
      </p:sp>
      <p:sp>
        <p:nvSpPr>
          <p:cNvPr id="12" name="Text 10"/>
          <p:cNvSpPr/>
          <p:nvPr/>
        </p:nvSpPr>
        <p:spPr>
          <a:xfrm>
            <a:off x="5852160" y="3703320"/>
            <a:ext cx="5852160" cy="365760"/>
          </a:xfrm>
          <a:prstGeom prst="rect">
            <a:avLst/>
          </a:prstGeom>
          <a:noFill/>
          <a:ln/>
        </p:spPr>
        <p:txBody>
          <a:bodyPr wrap="square" lIns="0" tIns="0" rIns="0" bIns="0" rtlCol="0" anchor="ctr"/>
          <a:lstStyle/>
          <a:p>
            <a:pPr indent="0" marL="0">
              <a:buNone/>
            </a:pPr>
            <a:r>
              <a:rPr lang="en-US" sz="1300" i="1" dirty="0">
                <a:solidFill>
                  <a:srgbClr val="334155"/>
                </a:solidFill>
                <a:latin typeface="Calibri" pitchFamily="34" charset="0"/>
                <a:ea typeface="Calibri" pitchFamily="34" charset="-122"/>
                <a:cs typeface="Calibri" pitchFamily="34" charset="-120"/>
              </a:rPr>
              <a:t>The design discipline before any code.</a:t>
            </a:r>
            <a:endParaRPr lang="en-US" sz="1300" dirty="0"/>
          </a:p>
        </p:txBody>
      </p:sp>
      <p:sp>
        <p:nvSpPr>
          <p:cNvPr id="13" name="Text 11"/>
          <p:cNvSpPr/>
          <p:nvPr/>
        </p:nvSpPr>
        <p:spPr>
          <a:xfrm>
            <a:off x="457200" y="4206240"/>
            <a:ext cx="274320" cy="365760"/>
          </a:xfrm>
          <a:prstGeom prst="rect">
            <a:avLst/>
          </a:prstGeom>
          <a:noFill/>
          <a:ln/>
        </p:spPr>
        <p:txBody>
          <a:bodyPr wrap="square" lIns="0" tIns="0" rIns="0" bIns="0" rtlCol="0" anchor="ctr"/>
          <a:lstStyle/>
          <a:p>
            <a:pPr indent="0" marL="0">
              <a:buNone/>
            </a:pPr>
            <a:r>
              <a:rPr lang="en-US" sz="1400" dirty="0">
                <a:solidFill>
                  <a:srgbClr val="B45309"/>
                </a:solidFill>
                <a:latin typeface="Calibri" pitchFamily="34" charset="0"/>
                <a:ea typeface="Calibri" pitchFamily="34" charset="-122"/>
                <a:cs typeface="Calibri" pitchFamily="34" charset="-120"/>
              </a:rPr>
              <a:t>—</a:t>
            </a:r>
            <a:endParaRPr lang="en-US" sz="1400" dirty="0"/>
          </a:p>
        </p:txBody>
      </p:sp>
      <p:sp>
        <p:nvSpPr>
          <p:cNvPr id="14" name="Text 12"/>
          <p:cNvSpPr/>
          <p:nvPr/>
        </p:nvSpPr>
        <p:spPr>
          <a:xfrm>
            <a:off x="777240" y="4206240"/>
            <a:ext cx="5029200" cy="36576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Mermaid as lingua franca</a:t>
            </a:r>
            <a:endParaRPr lang="en-US" sz="1400" dirty="0"/>
          </a:p>
        </p:txBody>
      </p:sp>
      <p:sp>
        <p:nvSpPr>
          <p:cNvPr id="15" name="Text 13"/>
          <p:cNvSpPr/>
          <p:nvPr/>
        </p:nvSpPr>
        <p:spPr>
          <a:xfrm>
            <a:off x="5852160" y="4206240"/>
            <a:ext cx="5852160" cy="365760"/>
          </a:xfrm>
          <a:prstGeom prst="rect">
            <a:avLst/>
          </a:prstGeom>
          <a:noFill/>
          <a:ln/>
        </p:spPr>
        <p:txBody>
          <a:bodyPr wrap="square" lIns="0" tIns="0" rIns="0" bIns="0" rtlCol="0" anchor="ctr"/>
          <a:lstStyle/>
          <a:p>
            <a:pPr indent="0" marL="0">
              <a:buNone/>
            </a:pPr>
            <a:r>
              <a:rPr lang="en-US" sz="1300" i="1" dirty="0">
                <a:solidFill>
                  <a:srgbClr val="334155"/>
                </a:solidFill>
                <a:latin typeface="Calibri" pitchFamily="34" charset="0"/>
                <a:ea typeface="Calibri" pitchFamily="34" charset="-122"/>
                <a:cs typeface="Calibri" pitchFamily="34" charset="-120"/>
              </a:rPr>
              <a:t>Agent diagrams that live in the repo, not the deck.</a:t>
            </a:r>
            <a:endParaRPr lang="en-US" sz="1300" dirty="0"/>
          </a:p>
        </p:txBody>
      </p:sp>
      <p:sp>
        <p:nvSpPr>
          <p:cNvPr id="16" name="Text 14"/>
          <p:cNvSpPr/>
          <p:nvPr/>
        </p:nvSpPr>
        <p:spPr>
          <a:xfrm>
            <a:off x="457200" y="4709160"/>
            <a:ext cx="274320" cy="365760"/>
          </a:xfrm>
          <a:prstGeom prst="rect">
            <a:avLst/>
          </a:prstGeom>
          <a:noFill/>
          <a:ln/>
        </p:spPr>
        <p:txBody>
          <a:bodyPr wrap="square" lIns="0" tIns="0" rIns="0" bIns="0" rtlCol="0" anchor="ctr"/>
          <a:lstStyle/>
          <a:p>
            <a:pPr indent="0" marL="0">
              <a:buNone/>
            </a:pPr>
            <a:r>
              <a:rPr lang="en-US" sz="1400" dirty="0">
                <a:solidFill>
                  <a:srgbClr val="B45309"/>
                </a:solidFill>
                <a:latin typeface="Calibri" pitchFamily="34" charset="0"/>
                <a:ea typeface="Calibri" pitchFamily="34" charset="-122"/>
                <a:cs typeface="Calibri" pitchFamily="34" charset="-120"/>
              </a:rPr>
              <a:t>—</a:t>
            </a:r>
            <a:endParaRPr lang="en-US" sz="1400" dirty="0"/>
          </a:p>
        </p:txBody>
      </p:sp>
      <p:sp>
        <p:nvSpPr>
          <p:cNvPr id="17" name="Text 15"/>
          <p:cNvSpPr/>
          <p:nvPr/>
        </p:nvSpPr>
        <p:spPr>
          <a:xfrm>
            <a:off x="777240" y="4709160"/>
            <a:ext cx="5029200" cy="36576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Prompt layers and prompt failure modes</a:t>
            </a:r>
            <a:endParaRPr lang="en-US" sz="1400" dirty="0"/>
          </a:p>
        </p:txBody>
      </p:sp>
      <p:sp>
        <p:nvSpPr>
          <p:cNvPr id="18" name="Text 16"/>
          <p:cNvSpPr/>
          <p:nvPr/>
        </p:nvSpPr>
        <p:spPr>
          <a:xfrm>
            <a:off x="5852160" y="4709160"/>
            <a:ext cx="5852160" cy="365760"/>
          </a:xfrm>
          <a:prstGeom prst="rect">
            <a:avLst/>
          </a:prstGeom>
          <a:noFill/>
          <a:ln/>
        </p:spPr>
        <p:txBody>
          <a:bodyPr wrap="square" lIns="0" tIns="0" rIns="0" bIns="0" rtlCol="0" anchor="ctr"/>
          <a:lstStyle/>
          <a:p>
            <a:pPr indent="0" marL="0">
              <a:buNone/>
            </a:pPr>
            <a:r>
              <a:rPr lang="en-US" sz="1300" i="1" dirty="0">
                <a:solidFill>
                  <a:srgbClr val="334155"/>
                </a:solidFill>
                <a:latin typeface="Calibri" pitchFamily="34" charset="0"/>
                <a:ea typeface="Calibri" pitchFamily="34" charset="-122"/>
                <a:cs typeface="Calibri" pitchFamily="34" charset="-120"/>
              </a:rPr>
              <a:t>Three layers, five failure modes, one regression strategy.</a:t>
            </a:r>
            <a:endParaRPr lang="en-US" sz="1300" dirty="0"/>
          </a:p>
        </p:txBody>
      </p:sp>
      <p:sp>
        <p:nvSpPr>
          <p:cNvPr id="19" name="Text 17"/>
          <p:cNvSpPr/>
          <p:nvPr/>
        </p:nvSpPr>
        <p:spPr>
          <a:xfrm>
            <a:off x="457200" y="5212080"/>
            <a:ext cx="274320" cy="365760"/>
          </a:xfrm>
          <a:prstGeom prst="rect">
            <a:avLst/>
          </a:prstGeom>
          <a:noFill/>
          <a:ln/>
        </p:spPr>
        <p:txBody>
          <a:bodyPr wrap="square" lIns="0" tIns="0" rIns="0" bIns="0" rtlCol="0" anchor="ctr"/>
          <a:lstStyle/>
          <a:p>
            <a:pPr indent="0" marL="0">
              <a:buNone/>
            </a:pPr>
            <a:r>
              <a:rPr lang="en-US" sz="1400" dirty="0">
                <a:solidFill>
                  <a:srgbClr val="B45309"/>
                </a:solidFill>
                <a:latin typeface="Calibri" pitchFamily="34" charset="0"/>
                <a:ea typeface="Calibri" pitchFamily="34" charset="-122"/>
                <a:cs typeface="Calibri" pitchFamily="34" charset="-120"/>
              </a:rPr>
              <a:t>—</a:t>
            </a:r>
            <a:endParaRPr lang="en-US" sz="1400" dirty="0"/>
          </a:p>
        </p:txBody>
      </p:sp>
      <p:sp>
        <p:nvSpPr>
          <p:cNvPr id="20" name="Text 18"/>
          <p:cNvSpPr/>
          <p:nvPr/>
        </p:nvSpPr>
        <p:spPr>
          <a:xfrm>
            <a:off x="777240" y="5212080"/>
            <a:ext cx="5029200" cy="36576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Memory · RAG · tools · registries · cost · observability · guardrails · UI</a:t>
            </a:r>
            <a:endParaRPr lang="en-US" sz="1400" dirty="0"/>
          </a:p>
        </p:txBody>
      </p:sp>
      <p:sp>
        <p:nvSpPr>
          <p:cNvPr id="21" name="Text 19"/>
          <p:cNvSpPr/>
          <p:nvPr/>
        </p:nvSpPr>
        <p:spPr>
          <a:xfrm>
            <a:off x="5852160" y="5212080"/>
            <a:ext cx="5852160" cy="365760"/>
          </a:xfrm>
          <a:prstGeom prst="rect">
            <a:avLst/>
          </a:prstGeom>
          <a:noFill/>
          <a:ln/>
        </p:spPr>
        <p:txBody>
          <a:bodyPr wrap="square" lIns="0" tIns="0" rIns="0" bIns="0" rtlCol="0" anchor="ctr"/>
          <a:lstStyle/>
          <a:p>
            <a:pPr indent="0" marL="0">
              <a:buNone/>
            </a:pPr>
            <a:r>
              <a:rPr lang="en-US" sz="1300" i="1" dirty="0">
                <a:solidFill>
                  <a:srgbClr val="334155"/>
                </a:solidFill>
                <a:latin typeface="Calibri" pitchFamily="34" charset="0"/>
                <a:ea typeface="Calibri" pitchFamily="34" charset="-122"/>
                <a:cs typeface="Calibri" pitchFamily="34" charset="-120"/>
              </a:rPr>
              <a:t>The cross-cutting concerns that decide whether an agent ships.</a:t>
            </a:r>
            <a:endParaRPr lang="en-US" sz="1300" dirty="0"/>
          </a:p>
        </p:txBody>
      </p:sp>
      <p:sp>
        <p:nvSpPr>
          <p:cNvPr id="22" name="Text 20"/>
          <p:cNvSpPr/>
          <p:nvPr/>
        </p:nvSpPr>
        <p:spPr>
          <a:xfrm>
            <a:off x="457200" y="5715000"/>
            <a:ext cx="274320" cy="365760"/>
          </a:xfrm>
          <a:prstGeom prst="rect">
            <a:avLst/>
          </a:prstGeom>
          <a:noFill/>
          <a:ln/>
        </p:spPr>
        <p:txBody>
          <a:bodyPr wrap="square" lIns="0" tIns="0" rIns="0" bIns="0" rtlCol="0" anchor="ctr"/>
          <a:lstStyle/>
          <a:p>
            <a:pPr indent="0" marL="0">
              <a:buNone/>
            </a:pPr>
            <a:r>
              <a:rPr lang="en-US" sz="1400" dirty="0">
                <a:solidFill>
                  <a:srgbClr val="B45309"/>
                </a:solidFill>
                <a:latin typeface="Calibri" pitchFamily="34" charset="0"/>
                <a:ea typeface="Calibri" pitchFamily="34" charset="-122"/>
                <a:cs typeface="Calibri" pitchFamily="34" charset="-120"/>
              </a:rPr>
              <a:t>—</a:t>
            </a:r>
            <a:endParaRPr lang="en-US" sz="1400" dirty="0"/>
          </a:p>
        </p:txBody>
      </p:sp>
      <p:sp>
        <p:nvSpPr>
          <p:cNvPr id="23" name="Text 21"/>
          <p:cNvSpPr/>
          <p:nvPr/>
        </p:nvSpPr>
        <p:spPr>
          <a:xfrm>
            <a:off x="777240" y="5715000"/>
            <a:ext cx="5029200" cy="36576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Live walkthrough — business ask to HLD on the whiteboard</a:t>
            </a:r>
            <a:endParaRPr lang="en-US" sz="1400" dirty="0"/>
          </a:p>
        </p:txBody>
      </p:sp>
      <p:sp>
        <p:nvSpPr>
          <p:cNvPr id="24" name="Text 22"/>
          <p:cNvSpPr/>
          <p:nvPr/>
        </p:nvSpPr>
        <p:spPr>
          <a:xfrm>
            <a:off x="5852160" y="5715000"/>
            <a:ext cx="5852160" cy="365760"/>
          </a:xfrm>
          <a:prstGeom prst="rect">
            <a:avLst/>
          </a:prstGeom>
          <a:noFill/>
          <a:ln/>
        </p:spPr>
        <p:txBody>
          <a:bodyPr wrap="square" lIns="0" tIns="0" rIns="0" bIns="0" rtlCol="0" anchor="ctr"/>
          <a:lstStyle/>
          <a:p>
            <a:pPr indent="0" marL="0">
              <a:buNone/>
            </a:pPr>
            <a:r>
              <a:rPr lang="en-US" sz="1300" i="1" dirty="0">
                <a:solidFill>
                  <a:srgbClr val="334155"/>
                </a:solidFill>
                <a:latin typeface="Calibri" pitchFamily="34" charset="0"/>
                <a:ea typeface="Calibri" pitchFamily="34" charset="-122"/>
                <a:cs typeface="Calibri" pitchFamily="34" charset="-120"/>
              </a:rPr>
              <a:t>We design a real agent end-to-end, in front of you, before any code is written.</a:t>
            </a:r>
            <a:endParaRPr lang="en-US" sz="1300" dirty="0"/>
          </a:p>
        </p:txBody>
      </p:sp>
      <p:sp>
        <p:nvSpPr>
          <p:cNvPr id="25" name="Shape 23"/>
          <p:cNvSpPr/>
          <p:nvPr/>
        </p:nvSpPr>
        <p:spPr>
          <a:xfrm>
            <a:off x="457200" y="6446520"/>
            <a:ext cx="11274552" cy="0"/>
          </a:xfrm>
          <a:prstGeom prst="line">
            <a:avLst/>
          </a:prstGeom>
          <a:noFill/>
          <a:ln w="6350">
            <a:solidFill>
              <a:srgbClr val="E2E8F0"/>
            </a:solidFill>
            <a:prstDash val="solid"/>
          </a:ln>
        </p:spPr>
      </p:sp>
      <p:sp>
        <p:nvSpPr>
          <p:cNvPr id="26" name="Text 24"/>
          <p:cNvSpPr/>
          <p:nvPr/>
        </p:nvSpPr>
        <p:spPr>
          <a:xfrm>
            <a:off x="457200" y="6537960"/>
            <a:ext cx="914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32</a:t>
            </a:r>
            <a:endParaRPr lang="en-US" sz="900" dirty="0"/>
          </a:p>
        </p:txBody>
      </p:sp>
      <p:sp>
        <p:nvSpPr>
          <p:cNvPr id="27" name="Text 25"/>
          <p:cNvSpPr/>
          <p:nvPr/>
        </p:nvSpPr>
        <p:spPr>
          <a:xfrm>
            <a:off x="5943600" y="6537960"/>
            <a:ext cx="5788152" cy="228600"/>
          </a:xfrm>
          <a:prstGeom prst="rect">
            <a:avLst/>
          </a:prstGeom>
          <a:noFill/>
          <a:ln/>
        </p:spPr>
        <p:txBody>
          <a:bodyPr wrap="square" lIns="0" tIns="0" rIns="0" bIns="0" rtlCol="0" anchor="ctr"/>
          <a:lstStyle/>
          <a:p>
            <a:pPr algn="r" indent="0" marL="0">
              <a:buNone/>
            </a:pPr>
            <a:r>
              <a:rPr lang="en-US" sz="900" i="1" dirty="0">
                <a:solidFill>
                  <a:srgbClr val="94A3B8"/>
                </a:solidFill>
                <a:latin typeface="Calibri" pitchFamily="34" charset="0"/>
                <a:ea typeface="Calibri" pitchFamily="34" charset="-122"/>
                <a:cs typeface="Calibri" pitchFamily="34" charset="-120"/>
              </a:rPr>
              <a:t>Agentic Foundations · Half 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1 Half 1 — Agentic Foundations</dc:title>
  <dc:subject>PptxGenJS Presentation</dc:subject>
  <dc:creator>PptxGenJS</dc:creator>
  <cp:lastModifiedBy>PptxGenJS</cp:lastModifiedBy>
  <cp:revision>1</cp:revision>
  <dcterms:created xsi:type="dcterms:W3CDTF">2026-05-10T15:07:34Z</dcterms:created>
  <dcterms:modified xsi:type="dcterms:W3CDTF">2026-05-10T15:07:34Z</dcterms:modified>
</cp:coreProperties>
</file>