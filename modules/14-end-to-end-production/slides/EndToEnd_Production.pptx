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8B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PRACTITIONER BOOTCAMP  ·  MAKE-UP SESSION 2 OF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Notebook to Production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the TravelMind agent end to end: deploy, version, roll back, route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41248" y="3474720"/>
            <a:ext cx="3840480" cy="0"/>
          </a:xfrm>
          <a:prstGeom prst="line">
            <a:avLst/>
          </a:prstGeom>
          <a:noFill/>
          <a:ln w="19050">
            <a:solidFill>
              <a:srgbClr val="F8B2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3639312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hours. One pipeline.
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worked example at every stage, and one connected TravelMind pipeline that we build ring by ring.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 on strands-agents 1.42.0  ·  bedrock-agentcore 1.14.0  ·  us-east-1  ·  every command and error shown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build one pipeline, and light up a stage at a time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566928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End-to-End Day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91640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627632"/>
            <a:ext cx="10945368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 you tested an agent. Today you ship one. Same TravelMind agent, now taken from a laptop to a governed service others can call.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2496312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740664" y="2432304"/>
            <a:ext cx="1094536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threads run in parallel through every segment, by design: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2697480"/>
            <a:ext cx="55321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697480"/>
            <a:ext cx="64008" cy="13716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2807208"/>
            <a:ext cx="5202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Thread 1  ·  local worked examples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22376" y="3273552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209544"/>
            <a:ext cx="4910328" cy="410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gets its own small, self-contained demo you run yourself: wrap, containerize, launch, version, route.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22376" y="3729736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665728"/>
            <a:ext cx="4910328" cy="22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local application per stage. Concrete, step by step.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2697480"/>
            <a:ext cx="55321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2697480"/>
            <a:ext cx="64008" cy="13716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1" name="Text 19"/>
          <p:cNvSpPr/>
          <p:nvPr/>
        </p:nvSpPr>
        <p:spPr>
          <a:xfrm>
            <a:off x="6419088" y="2807208"/>
            <a:ext cx="5202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Thread 2  ·  one connected pipeline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37376" y="3273552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3209544"/>
            <a:ext cx="4910328" cy="410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TravelMind agent threads through all of it. Each segment adds one ring to a single end-to-end pipeline.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37376" y="3729736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3665728"/>
            <a:ext cx="4910328" cy="22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strip below fill in as we go.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2920" y="469087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PIPELINE WE BUILD TODAY  (nothing lit yet)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" y="4983480"/>
            <a:ext cx="1472184" cy="566928"/>
          </a:xfrm>
          <a:prstGeom prst="roundRect">
            <a:avLst>
              <a:gd name="adj" fmla="val 8065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498348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1979676" y="4983480"/>
            <a:ext cx="146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121408" y="4983480"/>
            <a:ext cx="1472184" cy="566928"/>
          </a:xfrm>
          <a:prstGeom prst="roundRect">
            <a:avLst>
              <a:gd name="adj" fmla="val 8065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48840" y="498348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(AgentCore)</a:t>
            </a:r>
            <a:endParaRPr lang="en-US" sz="930" dirty="0"/>
          </a:p>
        </p:txBody>
      </p:sp>
      <p:sp>
        <p:nvSpPr>
          <p:cNvPr id="32" name="Text 30"/>
          <p:cNvSpPr/>
          <p:nvPr/>
        </p:nvSpPr>
        <p:spPr>
          <a:xfrm>
            <a:off x="3598164" y="4983480"/>
            <a:ext cx="146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739896" y="4983480"/>
            <a:ext cx="1472184" cy="566928"/>
          </a:xfrm>
          <a:prstGeom prst="roundRect">
            <a:avLst>
              <a:gd name="adj" fmla="val 8065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67328" y="498348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5216652" y="4983480"/>
            <a:ext cx="146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358384" y="4983480"/>
            <a:ext cx="1472184" cy="566928"/>
          </a:xfrm>
          <a:prstGeom prst="roundRect">
            <a:avLst>
              <a:gd name="adj" fmla="val 8065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85816" y="498348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(launch)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6835140" y="4983480"/>
            <a:ext cx="146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976872" y="4983480"/>
            <a:ext cx="1472184" cy="566928"/>
          </a:xfrm>
          <a:prstGeom prst="roundRect">
            <a:avLst>
              <a:gd name="adj" fmla="val 8065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04304" y="498348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Gate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8453628" y="4983480"/>
            <a:ext cx="146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595360" y="4983480"/>
            <a:ext cx="1472184" cy="566928"/>
          </a:xfrm>
          <a:prstGeom prst="roundRect">
            <a:avLst>
              <a:gd name="adj" fmla="val 8065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22792" y="498348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/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930" dirty="0"/>
          </a:p>
        </p:txBody>
      </p:sp>
      <p:sp>
        <p:nvSpPr>
          <p:cNvPr id="44" name="Text 42"/>
          <p:cNvSpPr/>
          <p:nvPr/>
        </p:nvSpPr>
        <p:spPr>
          <a:xfrm>
            <a:off x="10072116" y="4983480"/>
            <a:ext cx="146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10213848" y="4983480"/>
            <a:ext cx="1472184" cy="566928"/>
          </a:xfrm>
          <a:prstGeom prst="roundRect">
            <a:avLst>
              <a:gd name="adj" fmla="val 8065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241280" y="498348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(gateway)</a:t>
            </a:r>
            <a:endParaRPr lang="en-US" sz="930" dirty="0"/>
          </a:p>
        </p:txBody>
      </p:sp>
      <p:sp>
        <p:nvSpPr>
          <p:cNvPr id="47" name="Shape 45"/>
          <p:cNvSpPr/>
          <p:nvPr/>
        </p:nvSpPr>
        <p:spPr>
          <a:xfrm>
            <a:off x="502920" y="5806440"/>
            <a:ext cx="11183112" cy="475488"/>
          </a:xfrm>
          <a:prstGeom prst="roundRect">
            <a:avLst>
              <a:gd name="adj" fmla="val 7692"/>
            </a:avLst>
          </a:prstGeom>
          <a:solidFill>
            <a:srgbClr val="FBF6EF"/>
          </a:solidFill>
          <a:ln w="9525">
            <a:solidFill>
              <a:srgbClr val="EAD9C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9224" y="5843016"/>
            <a:ext cx="10908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as  </a:t>
            </a:r>
            <a:pPr indent="0" marL="0">
              <a:lnSpc>
                <a:spcPts val="125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last slide every box is filled, and a single change flows through the whole chain end to end.</a:t>
            </a: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“Works on my machine” is not a product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566928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End-to-End Day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91640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627632"/>
            <a:ext cx="10945368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notebook that returns the right answer once, for you, on well-formed input, is a demo. Production is messy, concurrent, and full of users who do not follow the happy path.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2532888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740664" y="2468880"/>
            <a:ext cx="109453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distance between the two is not a step. Practitioners who have crossed it call it a chasm.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40664" y="2944368"/>
            <a:ext cx="10945368" cy="2008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Fabricio Quagliariello, DEV · “Beyond the Notebook”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063240"/>
            <a:ext cx="55321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063240"/>
            <a:ext cx="64008" cy="13258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3172968"/>
            <a:ext cx="5202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 =  a pet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22376" y="3639312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3575304"/>
            <a:ext cx="4910328" cy="410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Named, nursed by hand, debugged live when it breaks. Fine for one user who knows its limits.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3063240"/>
            <a:ext cx="55321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3063240"/>
            <a:ext cx="64008" cy="13258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6419088" y="3172968"/>
            <a:ext cx="5202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 =  cattle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37376" y="3639312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3575304"/>
            <a:ext cx="4910328" cy="410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Reproducible, replaceable, monitored, versioned. No hand-holding at 2 a.m.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4617720"/>
            <a:ext cx="11183112" cy="960120"/>
          </a:xfrm>
          <a:prstGeom prst="roundRect">
            <a:avLst>
              <a:gd name="adj" fmla="val 4762"/>
            </a:avLst>
          </a:prstGeom>
          <a:solidFill>
            <a:srgbClr val="F8FA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4617720"/>
            <a:ext cx="64008" cy="9601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5" name="Text 23"/>
          <p:cNvSpPr/>
          <p:nvPr/>
        </p:nvSpPr>
        <p:spPr>
          <a:xfrm>
            <a:off x="704088" y="470916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PRACTITIONERS 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Educative · From Prototype to Production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04088" y="5020056"/>
            <a:ext cx="10799064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" y="5093208"/>
            <a:ext cx="10762488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that is 99% reliable in development can fail spectacularly under real traffic. 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is not a better prompt. It is the operational scaffolding around the agent: how it is served, versioned, watched, and rolled back.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CAUSE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an agent is uniquely hard to ship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566928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End-to-End Day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91056"/>
            <a:ext cx="3931920" cy="32918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" y="1591056"/>
            <a:ext cx="3803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different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34840" y="1591056"/>
            <a:ext cx="7251192" cy="32918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4507992" y="1591056"/>
            <a:ext cx="71231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bites in production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1920240"/>
            <a:ext cx="39319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1920240"/>
            <a:ext cx="38039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Non-determinism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34840" y="1920240"/>
            <a:ext cx="725119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07992" y="1920240"/>
            <a:ext cx="712317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input, different output. You cannot diff against a fixed expected answer, so “it passed once” proves nothing.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2523744"/>
            <a:ext cx="3931920" cy="603504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523744"/>
            <a:ext cx="38039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a dependency you do not own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434840" y="2523744"/>
            <a:ext cx="7251192" cy="603504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07992" y="2523744"/>
            <a:ext cx="712317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versioned by the provider, throttled, and can change under you. Treat it like an external service, not a library.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3127248"/>
            <a:ext cx="39319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3127248"/>
            <a:ext cx="38039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and cost are runtime, not code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434840" y="3127248"/>
            <a:ext cx="725119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07992" y="3127248"/>
            <a:ext cx="712317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Memory, retries, and token burn only show up under load. A silent loop is a quality bug and a cost bug at once.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3730752"/>
            <a:ext cx="3931920" cy="603504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" y="3730752"/>
            <a:ext cx="38039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404 / 403 wall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434840" y="3730752"/>
            <a:ext cx="7251192" cy="603504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07992" y="3730752"/>
            <a:ext cx="712317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real deploy fails on the inference-profile prefix and IAM. Predictable, and we fix it head-on.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4334256"/>
            <a:ext cx="39319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4334256"/>
            <a:ext cx="38039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one-line prompt edit ships behavior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434840" y="4334256"/>
            <a:ext cx="725119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07992" y="4334256"/>
            <a:ext cx="712317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version, no gate, and a small wording change silently breaks a flow. This is the single biggest source of incidents.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2920" y="5230368"/>
            <a:ext cx="11183112" cy="475488"/>
          </a:xfrm>
          <a:prstGeom prst="roundRect">
            <a:avLst>
              <a:gd name="adj" fmla="val 7692"/>
            </a:avLst>
          </a:prstGeom>
          <a:solidFill>
            <a:srgbClr val="FBF6EF"/>
          </a:solidFill>
          <a:ln w="9525">
            <a:solidFill>
              <a:srgbClr val="EAD9C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" y="5266944"/>
            <a:ext cx="10908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throughline  </a:t>
            </a:r>
            <a:pPr indent="0" marL="0">
              <a:lnSpc>
                <a:spcPts val="125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agent failures are system-design failures, not model failures: weak state, no safeguards, no observability. Today is about that scaffolding.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FIELD SAYS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breaks when agents reach production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566928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End-to-End Day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00200"/>
            <a:ext cx="5532120" cy="1481328"/>
          </a:xfrm>
          <a:prstGeom prst="roundRect">
            <a:avLst>
              <a:gd name="adj" fmla="val 3086"/>
            </a:avLst>
          </a:prstGeom>
          <a:solidFill>
            <a:srgbClr val="F8FA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600200"/>
            <a:ext cx="64008" cy="148132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169164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PRACTITIONERS 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Educative · system-design lens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04088" y="2002536"/>
            <a:ext cx="514807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2075688"/>
            <a:ext cx="511149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arise not from the model itself, but from poor system design: 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state management, missing safeguards, and limited observability. The agent loops on API calls, loses context, and burns money.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600200"/>
            <a:ext cx="5532120" cy="1481328"/>
          </a:xfrm>
          <a:prstGeom prst="roundRect">
            <a:avLst>
              <a:gd name="adj" fmla="val 3086"/>
            </a:avLst>
          </a:prstGeom>
          <a:solidFill>
            <a:srgbClr val="F8FA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600200"/>
            <a:ext cx="64008" cy="148132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6419088" y="169164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PRACTITIONERS 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Quagliariello, DEV · trajectory-as-truth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19088" y="2002536"/>
            <a:ext cx="514807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37376" y="2075688"/>
            <a:ext cx="511149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correct answer reached through a hallucination or a dangerous tool path is </a:t>
            </a:r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ticking time bomb.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agents, the path matters as much as the output. Test the trajectory, not just the reply.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3246120"/>
            <a:ext cx="5532120" cy="1481328"/>
          </a:xfrm>
          <a:prstGeom prst="roundRect">
            <a:avLst>
              <a:gd name="adj" fmla="val 3086"/>
            </a:avLst>
          </a:prstGeom>
          <a:solidFill>
            <a:srgbClr val="F8FA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246120"/>
            <a:ext cx="64008" cy="148132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333756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PRACTITIONERS 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Deepchecks · incident analysis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04088" y="3648456"/>
            <a:ext cx="514807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" y="3721608"/>
            <a:ext cx="511149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updates drive most production incidents. 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defenses that work: isolate prompt logic from app code, version it, and gate every change with an eval before it ships.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17920" y="3246120"/>
            <a:ext cx="5532120" cy="1481328"/>
          </a:xfrm>
          <a:prstGeom prst="roundRect">
            <a:avLst>
              <a:gd name="adj" fmla="val 3086"/>
            </a:avLst>
          </a:prstGeom>
          <a:solidFill>
            <a:srgbClr val="F8FA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3246120"/>
            <a:ext cx="64008" cy="148132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5" name="Text 23"/>
          <p:cNvSpPr/>
          <p:nvPr/>
        </p:nvSpPr>
        <p:spPr>
          <a:xfrm>
            <a:off x="6419088" y="333756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PRACTITIONERS 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aiechoes · a skeptic kicks the tires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19088" y="3648456"/>
            <a:ext cx="514807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721608"/>
            <a:ext cx="511149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GA is genuinely useful, </a:t>
            </a:r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there are rough edges.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Managed infra removes a lot of plumbing; it does not remove the need to understand IAM, ports, and the deploy contract.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5029200"/>
            <a:ext cx="11183112" cy="475488"/>
          </a:xfrm>
          <a:prstGeom prst="roundRect">
            <a:avLst>
              <a:gd name="adj" fmla="val 7692"/>
            </a:avLst>
          </a:prstGeom>
          <a:solidFill>
            <a:srgbClr val="FBF6EF"/>
          </a:solidFill>
          <a:ln w="9525">
            <a:solidFill>
              <a:srgbClr val="EAD9C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" y="5065776"/>
            <a:ext cx="10908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plan is  </a:t>
            </a:r>
            <a:pPr indent="0" marL="0">
              <a:lnSpc>
                <a:spcPts val="125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the four things the field complains about: the deploy contract, prompt versioning + gates, routing resilience, and one coherent architecture.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segments, and where each lands on the pipeline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566928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End-to-End Day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00200"/>
            <a:ext cx="457200" cy="32918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" y="16002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60120" y="1600200"/>
            <a:ext cx="2743200" cy="32918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1033272" y="1600200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03320" y="1600200"/>
            <a:ext cx="777240" cy="32918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3776472" y="1600200"/>
            <a:ext cx="649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0560" y="1600200"/>
            <a:ext cx="5422392" cy="32918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4553712" y="1600200"/>
            <a:ext cx="5294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902952" y="1600200"/>
            <a:ext cx="1783080" cy="32918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9976104" y="1600200"/>
            <a:ext cx="1655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1929384"/>
            <a:ext cx="457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1929384"/>
            <a:ext cx="3291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0120" y="1929384"/>
            <a:ext cx="2743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1929384"/>
            <a:ext cx="26151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Deployment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703320" y="1929384"/>
            <a:ext cx="777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76472" y="1929384"/>
            <a:ext cx="649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80560" y="1929384"/>
            <a:ext cx="542239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53712" y="1929384"/>
            <a:ext cx="52943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agent → wrap → containerize → launch → invoke live. Every console and CLI step.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902952" y="1929384"/>
            <a:ext cx="17830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76104" y="1929384"/>
            <a:ext cx="16550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Lights stages 1-4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2642616"/>
            <a:ext cx="457200" cy="713232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2642616"/>
            <a:ext cx="3291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60120" y="2642616"/>
            <a:ext cx="2743200" cy="713232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3272" y="2642616"/>
            <a:ext cx="26151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Engineering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703320" y="2642616"/>
            <a:ext cx="777240" cy="713232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76472" y="2642616"/>
            <a:ext cx="649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480560" y="2642616"/>
            <a:ext cx="5422392" cy="713232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53712" y="2642616"/>
            <a:ext cx="52943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the prompt, config and model. Shadow → canary → progressive. Roll back instantly.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902952" y="2642616"/>
            <a:ext cx="1783080" cy="713232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76104" y="2642616"/>
            <a:ext cx="16550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Lights stages 5-6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2920" y="3355848"/>
            <a:ext cx="457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6072" y="3355848"/>
            <a:ext cx="3291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60120" y="3355848"/>
            <a:ext cx="2743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33272" y="3355848"/>
            <a:ext cx="26151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Gateway, Routing, Fallback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703320" y="3355848"/>
            <a:ext cx="777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76472" y="3355848"/>
            <a:ext cx="649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480560" y="3355848"/>
            <a:ext cx="542239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53712" y="3355848"/>
            <a:ext cx="52943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independence, task-based routing, fallback chains. Honest on when you need it.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902952" y="3355848"/>
            <a:ext cx="17830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976104" y="3355848"/>
            <a:ext cx="16550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Lights stage 7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02920" y="4069080"/>
            <a:ext cx="457200" cy="713232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6072" y="4069080"/>
            <a:ext cx="3291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960120" y="4069080"/>
            <a:ext cx="2743200" cy="713232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33272" y="4069080"/>
            <a:ext cx="26151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 + Readiness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703320" y="4069080"/>
            <a:ext cx="777240" cy="713232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776472" y="4069080"/>
            <a:ext cx="649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480560" y="4069080"/>
            <a:ext cx="5422392" cy="713232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53712" y="4069080"/>
            <a:ext cx="52943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diagram, a readiness checklist, and the same pipeline mapped to a second domain.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9902952" y="4069080"/>
            <a:ext cx="1783080" cy="713232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976104" y="4069080"/>
            <a:ext cx="16550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picture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02920" y="478231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TRAVELMIND PIPELINE  ·  each segment lights another stage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502920" y="5074920"/>
            <a:ext cx="1472184" cy="566928"/>
          </a:xfrm>
          <a:prstGeom prst="roundRect">
            <a:avLst>
              <a:gd name="adj" fmla="val 8065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30352" y="507492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30" dirty="0"/>
          </a:p>
        </p:txBody>
      </p:sp>
      <p:sp>
        <p:nvSpPr>
          <p:cNvPr id="61" name="Text 59"/>
          <p:cNvSpPr/>
          <p:nvPr/>
        </p:nvSpPr>
        <p:spPr>
          <a:xfrm>
            <a:off x="1979676" y="5074920"/>
            <a:ext cx="146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2121408" y="5074920"/>
            <a:ext cx="1472184" cy="566928"/>
          </a:xfrm>
          <a:prstGeom prst="roundRect">
            <a:avLst>
              <a:gd name="adj" fmla="val 8065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148840" y="507492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(AgentCore)</a:t>
            </a:r>
            <a:endParaRPr lang="en-US" sz="930" dirty="0"/>
          </a:p>
        </p:txBody>
      </p:sp>
      <p:sp>
        <p:nvSpPr>
          <p:cNvPr id="64" name="Text 62"/>
          <p:cNvSpPr/>
          <p:nvPr/>
        </p:nvSpPr>
        <p:spPr>
          <a:xfrm>
            <a:off x="3598164" y="5074920"/>
            <a:ext cx="146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3739896" y="5074920"/>
            <a:ext cx="1472184" cy="566928"/>
          </a:xfrm>
          <a:prstGeom prst="roundRect">
            <a:avLst>
              <a:gd name="adj" fmla="val 8065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767328" y="507492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</a:t>
            </a:r>
            <a:endParaRPr lang="en-US" sz="930" dirty="0"/>
          </a:p>
        </p:txBody>
      </p:sp>
      <p:sp>
        <p:nvSpPr>
          <p:cNvPr id="67" name="Text 65"/>
          <p:cNvSpPr/>
          <p:nvPr/>
        </p:nvSpPr>
        <p:spPr>
          <a:xfrm>
            <a:off x="5216652" y="5074920"/>
            <a:ext cx="146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5358384" y="5074920"/>
            <a:ext cx="1472184" cy="566928"/>
          </a:xfrm>
          <a:prstGeom prst="roundRect">
            <a:avLst>
              <a:gd name="adj" fmla="val 8065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385816" y="507492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(launch)</a:t>
            </a:r>
            <a:endParaRPr lang="en-US" sz="930" dirty="0"/>
          </a:p>
        </p:txBody>
      </p:sp>
      <p:sp>
        <p:nvSpPr>
          <p:cNvPr id="70" name="Text 68"/>
          <p:cNvSpPr/>
          <p:nvPr/>
        </p:nvSpPr>
        <p:spPr>
          <a:xfrm>
            <a:off x="6835140" y="5074920"/>
            <a:ext cx="146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6976872" y="5074920"/>
            <a:ext cx="1472184" cy="566928"/>
          </a:xfrm>
          <a:prstGeom prst="roundRect">
            <a:avLst>
              <a:gd name="adj" fmla="val 8065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004304" y="507492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Gate</a:t>
            </a:r>
            <a:endParaRPr lang="en-US" sz="930" dirty="0"/>
          </a:p>
        </p:txBody>
      </p:sp>
      <p:sp>
        <p:nvSpPr>
          <p:cNvPr id="73" name="Text 71"/>
          <p:cNvSpPr/>
          <p:nvPr/>
        </p:nvSpPr>
        <p:spPr>
          <a:xfrm>
            <a:off x="8453628" y="5074920"/>
            <a:ext cx="146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8595360" y="5074920"/>
            <a:ext cx="1472184" cy="566928"/>
          </a:xfrm>
          <a:prstGeom prst="roundRect">
            <a:avLst>
              <a:gd name="adj" fmla="val 8065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622792" y="507492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/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930" dirty="0"/>
          </a:p>
        </p:txBody>
      </p:sp>
      <p:sp>
        <p:nvSpPr>
          <p:cNvPr id="76" name="Text 74"/>
          <p:cNvSpPr/>
          <p:nvPr/>
        </p:nvSpPr>
        <p:spPr>
          <a:xfrm>
            <a:off x="10072116" y="5074920"/>
            <a:ext cx="146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10213848" y="5074920"/>
            <a:ext cx="1472184" cy="566928"/>
          </a:xfrm>
          <a:prstGeom prst="roundRect">
            <a:avLst>
              <a:gd name="adj" fmla="val 8065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241280" y="507492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(gateway)</a:t>
            </a:r>
            <a:endParaRPr lang="en-US" sz="930" dirty="0"/>
          </a:p>
        </p:txBody>
      </p:sp>
      <p:sp>
        <p:nvSpPr>
          <p:cNvPr id="79" name="Shape 77"/>
          <p:cNvSpPr/>
          <p:nvPr/>
        </p:nvSpPr>
        <p:spPr>
          <a:xfrm>
            <a:off x="502920" y="5870448"/>
            <a:ext cx="11183112" cy="475488"/>
          </a:xfrm>
          <a:prstGeom prst="roundRect">
            <a:avLst>
              <a:gd name="adj" fmla="val 7692"/>
            </a:avLst>
          </a:prstGeom>
          <a:solidFill>
            <a:srgbClr val="FBF6EF"/>
          </a:solidFill>
          <a:ln w="9525">
            <a:solidFill>
              <a:srgbClr val="EAD9C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49224" y="5907024"/>
            <a:ext cx="10908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 </a:t>
            </a:r>
            <a:pPr indent="0" marL="0">
              <a:lnSpc>
                <a:spcPts val="125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agent from your build days: 3 tools, PNR JX48Q2, model us.anthropic.claude-haiku-4-5-20251001-v1:0.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148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8B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1  ·  50 MINUTES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" y="251460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Deployment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8862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function that runs on your laptop to a managed endpoint others can call. We light stages 1 to 4 of the pipeline.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End-to-End Day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83112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gap: agent() in a notebook vs an endpoint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566928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End-to-End Day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27632"/>
            <a:ext cx="5532120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627632"/>
            <a:ext cx="64008" cy="27889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1737360"/>
            <a:ext cx="5202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have after the build days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22376" y="2203704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139696"/>
            <a:ext cx="4910328" cy="22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object. You call agent("...") and read a string.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22376" y="2472944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408936"/>
            <a:ext cx="4910328" cy="22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your kernel, with your credentials, for one caller.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22376" y="2742184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678176"/>
            <a:ext cx="4910328" cy="410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server, no scaling, no health check, no isolation between users, no auth boundary.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22376" y="3198368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134360"/>
            <a:ext cx="4910328" cy="22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the kernel and it is gone.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1627632"/>
            <a:ext cx="5532120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627632"/>
            <a:ext cx="64008" cy="27889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6419088" y="1737360"/>
            <a:ext cx="5202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production needs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37376" y="2203704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2139696"/>
            <a:ext cx="4910328" cy="22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HTTP endpoint with a stable request and response contract.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37376" y="2472944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2408936"/>
            <a:ext cx="4910328" cy="22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health probe so a load balancer knows it is alive.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37376" y="2742184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2678176"/>
            <a:ext cx="4910328" cy="22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isolation so one user cannot see another’s state.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37376" y="3011424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0" y="2947416"/>
            <a:ext cx="4910328" cy="410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Scaling, retries, and an identity boundary, without you managing servers.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02920" y="4663440"/>
            <a:ext cx="11183112" cy="475488"/>
          </a:xfrm>
          <a:prstGeom prst="roundRect">
            <a:avLst>
              <a:gd name="adj" fmla="val 7692"/>
            </a:avLst>
          </a:prstGeom>
          <a:solidFill>
            <a:srgbClr val="FBF6EF"/>
          </a:solidFill>
          <a:ln w="9525">
            <a:solidFill>
              <a:srgbClr val="EAD9C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" y="4700016"/>
            <a:ext cx="10908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Runtime’s job  </a:t>
            </a:r>
            <a:pPr indent="0" marL="0">
              <a:lnSpc>
                <a:spcPts val="125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you all of the right column from the left column with a small code change, so you do not build and babysit container infrastructure yourself.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502920" y="5285232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AgentCore went GA in October 2025: Runtime, Memory, Gateway, Identity, Observability, plus a Browser tool and Code Interpreter.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AgentCore Runtime: the deploy contract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566928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End-to-End Day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55064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591056"/>
            <a:ext cx="10945368" cy="67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6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hosts your agent as a containerized app. It is framework-agnostic (Strands, LangGraph, CrewAI) and model-agnostic (Bedrock or not).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398776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740664" y="2334768"/>
            <a:ext cx="10945368" cy="45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6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container must honor one contract: serve two HTTP routes on port 8080.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743200"/>
            <a:ext cx="2743200" cy="32918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" y="2743200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runtime asks for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46120" y="2743200"/>
            <a:ext cx="8439912" cy="32918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3319272" y="2743200"/>
            <a:ext cx="8311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072384"/>
            <a:ext cx="2743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3072384"/>
            <a:ext cx="2615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/invocations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46120" y="3072384"/>
            <a:ext cx="843991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9272" y="3072384"/>
            <a:ext cx="8311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the JSON request body (your payload), runs the agent, returns the response.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3621024"/>
            <a:ext cx="2743200" cy="548640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3621024"/>
            <a:ext cx="2615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/ping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46120" y="3621024"/>
            <a:ext cx="8439912" cy="548640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3621024"/>
            <a:ext cx="8311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check. Returns healthy so the platform knows the container is alive.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4169664"/>
            <a:ext cx="2743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" y="4169664"/>
            <a:ext cx="2615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8080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46120" y="4169664"/>
            <a:ext cx="843991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9272" y="4169664"/>
            <a:ext cx="8311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container must listen here. Non-negotiable, it is how Runtime talks to your code.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4718304"/>
            <a:ext cx="2743200" cy="548640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4718304"/>
            <a:ext cx="2615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microVM per session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46120" y="4718304"/>
            <a:ext cx="8439912" cy="548640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9272" y="4718304"/>
            <a:ext cx="8311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session gets a dedicated microVM. Real isolation for stateful agents doing privileged work.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2920" y="5120640"/>
            <a:ext cx="11183112" cy="960120"/>
          </a:xfrm>
          <a:prstGeom prst="roundRect">
            <a:avLst>
              <a:gd name="adj" fmla="val 4762"/>
            </a:avLst>
          </a:prstGeom>
          <a:solidFill>
            <a:srgbClr val="F8FA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5120640"/>
            <a:ext cx="64008" cy="9601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4" name="Text 32"/>
          <p:cNvSpPr/>
          <p:nvPr/>
        </p:nvSpPr>
        <p:spPr>
          <a:xfrm>
            <a:off x="704088" y="521208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PRACTITIONERS 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docs + Joud W. Awad, Medium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04088" y="5522976"/>
            <a:ext cx="10799064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2376" y="5596128"/>
            <a:ext cx="10762488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an agent in the cloud is usually a multi-stage operation with many requirements. </a:t>
            </a:r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collapses it to a decorator on a working local agent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plus a tiny config, and handles containers, endpoints, scaling and health checks for you.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TYPE A COMMAND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different CLIs share the name “agentcore”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566928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End-to-End Day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72768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collision is the single most common reason a deploy command fails for no obvious reason. Know which one you installed.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1554480" cy="32918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" y="2148840"/>
            <a:ext cx="1426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057400" y="2148840"/>
            <a:ext cx="5074920" cy="32918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2130552" y="2148840"/>
            <a:ext cx="4946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toolkit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132320" y="2148840"/>
            <a:ext cx="4553712" cy="32918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7205472" y="2148840"/>
            <a:ext cx="44256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@aws CLI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2478024"/>
            <a:ext cx="1554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2478024"/>
            <a:ext cx="14264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057400" y="2478024"/>
            <a:ext cx="5074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30552" y="2478024"/>
            <a:ext cx="49469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bedrock-agentcore-starter-toolkit (pip)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132320" y="2478024"/>
            <a:ext cx="4553712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05472" y="2478024"/>
            <a:ext cx="44256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@aws/agentcore (npm)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2990088"/>
            <a:ext cx="1554480" cy="512064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" y="2990088"/>
            <a:ext cx="14264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057400" y="2990088"/>
            <a:ext cx="5074920" cy="512064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30552" y="2990088"/>
            <a:ext cx="49469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configure / launch / invoke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132320" y="2990088"/>
            <a:ext cx="4553712" cy="512064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05472" y="2990088"/>
            <a:ext cx="44256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create / deploy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2920" y="3502152"/>
            <a:ext cx="1554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" y="3502152"/>
            <a:ext cx="14264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057400" y="3502152"/>
            <a:ext cx="5074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30552" y="3502152"/>
            <a:ext cx="49469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only. No Docker / Node / CDK required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132320" y="3502152"/>
            <a:ext cx="4553712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05472" y="3502152"/>
            <a:ext cx="44256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20 + CDK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02920" y="4014216"/>
            <a:ext cx="1554480" cy="512064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" y="4014216"/>
            <a:ext cx="14264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057400" y="4014216"/>
            <a:ext cx="5074920" cy="512064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30552" y="4014216"/>
            <a:ext cx="49469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path, a class, a first deploy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132320" y="4014216"/>
            <a:ext cx="4553712" cy="512064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05472" y="4014216"/>
            <a:ext cx="44256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already standardized on CDK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02920" y="4526280"/>
            <a:ext cx="1554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6072" y="4526280"/>
            <a:ext cx="14264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2057400" y="4526280"/>
            <a:ext cx="5074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30552" y="4526280"/>
            <a:ext cx="49469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 today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132320" y="4526280"/>
            <a:ext cx="4553712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05472" y="4526280"/>
            <a:ext cx="44256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today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02920" y="5257800"/>
            <a:ext cx="11183112" cy="475488"/>
          </a:xfrm>
          <a:prstGeom prst="roundRect">
            <a:avLst>
              <a:gd name="adj" fmla="val 7692"/>
            </a:avLst>
          </a:prstGeom>
          <a:solidFill>
            <a:srgbClr val="FBF6EF"/>
          </a:solidFill>
          <a:ln w="9525">
            <a:solidFill>
              <a:srgbClr val="EAD9C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9224" y="5294376"/>
            <a:ext cx="10908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to remember  </a:t>
            </a:r>
            <a:pPr indent="0" marL="0">
              <a:lnSpc>
                <a:spcPts val="125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agentcore launch is “not found” but agentcore deploy exists (or the reverse), you are on the other CLI. Check the package, not your syntax.</a:t>
            </a:r>
            <a:endParaRPr lang="en-US" sz="10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SEGMENT, STEP BY STEP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moves from local code to a live call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566928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End-to-End Day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91640"/>
            <a:ext cx="54864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79222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7922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69848" y="1691640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working local agent   </a:t>
            </a:r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artifact we start from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54864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79222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7922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84848" y="1691640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it   </a:t>
            </a:r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BedrockAgentCoreApp + entrypoint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2368296"/>
            <a:ext cx="54864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4688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69848" y="2368296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+ test locally   </a:t>
            </a:r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/ping and /invocations on 8080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2368296"/>
            <a:ext cx="54864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24688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84848" y="2368296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   </a:t>
            </a:r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Dockerfile, the port contract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3044952"/>
            <a:ext cx="54864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314553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1455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69848" y="3044952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configure   </a:t>
            </a:r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role + ECR repo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7920" y="3044952"/>
            <a:ext cx="54864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0" y="314553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31455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84848" y="3044952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launch   </a:t>
            </a:r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push, provision, deploy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2920" y="3721608"/>
            <a:ext cx="5486400" cy="566928"/>
          </a:xfrm>
          <a:prstGeom prst="roundRect">
            <a:avLst>
              <a:gd name="adj" fmla="val 8065"/>
            </a:avLst>
          </a:prstGeom>
          <a:solidFill>
            <a:srgbClr val="FBF6E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" y="382219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38221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69848" y="3721608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invoke   </a:t>
            </a:r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payload, read it live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02920" y="5806440"/>
            <a:ext cx="11183112" cy="475488"/>
          </a:xfrm>
          <a:prstGeom prst="roundRect">
            <a:avLst>
              <a:gd name="adj" fmla="val 7692"/>
            </a:avLst>
          </a:prstGeom>
          <a:solidFill>
            <a:srgbClr val="FBF6EF"/>
          </a:solidFill>
          <a:ln w="9525">
            <a:solidFill>
              <a:srgbClr val="EAD9C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" y="5843016"/>
            <a:ext cx="10908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 </a:t>
            </a:r>
            <a:pPr indent="0" marL="0">
              <a:lnSpc>
                <a:spcPts val="125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segment every participant has deployed TravelMind end to end on their own access and invoked it live.</a:t>
            </a:r>
            <a:endParaRPr lang="en-US" sz="10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 ·  STEP 1 OF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artifact we start from: the local agent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566928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End-to-End Day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17904"/>
            <a:ext cx="6720840" cy="3858768"/>
          </a:xfrm>
          <a:prstGeom prst="roundRect">
            <a:avLst>
              <a:gd name="adj" fmla="val 1185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609344"/>
            <a:ext cx="6355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A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travelmind_agent.py  ·  already works from your build days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67512" y="1901952"/>
            <a:ext cx="6391656" cy="0"/>
          </a:xfrm>
          <a:prstGeom prst="line">
            <a:avLst/>
          </a:prstGeom>
          <a:noFill/>
          <a:ln w="9525">
            <a:solidFill>
              <a:srgbClr val="2230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956816"/>
            <a:ext cx="6391656" cy="3328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strands import Agent, tool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strands.models import BedrockModel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3 tools you built, as plain functions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lookup_booking(pnr): ...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get_disruption_reason(pnr): ...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get_rebooking_options(pnr): ...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= ('You are TravelMind. Look up the PNR before '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'answering. Offer rebooking, never invent.')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build_agent():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 = BedrockModel(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model_id='us.anthropic.claude-haiku-4-5-20251001-v1:0',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region_name='us-east-1')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Agent(model=m, system_prompt=SYSTEM,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tools=[tool(lookup_booking),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tool(get_disruption_reason),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tool(get_rebooking_options)])
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7452360" y="1517904"/>
            <a:ext cx="4233672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52360" y="1517904"/>
            <a:ext cx="64008" cy="22860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4" name="Text 12"/>
          <p:cNvSpPr/>
          <p:nvPr/>
        </p:nvSpPr>
        <p:spPr>
          <a:xfrm>
            <a:off x="7653528" y="1627632"/>
            <a:ext cx="39044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is right now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671816" y="2093976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7909560" y="2029968"/>
            <a:ext cx="3611880" cy="22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build_agent() that returns an Agent.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671816" y="2363216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7909560" y="2299208"/>
            <a:ext cx="3611880" cy="22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call it: agent("Status of JX48Q2?").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671816" y="2632456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7909560" y="2568448"/>
            <a:ext cx="3611880" cy="22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tools, one model, one system prompt.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671816" y="2901696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2" name="Text 20"/>
          <p:cNvSpPr/>
          <p:nvPr/>
        </p:nvSpPr>
        <p:spPr>
          <a:xfrm>
            <a:off x="7909560" y="2837688"/>
            <a:ext cx="3611880" cy="22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server. Nothing deployable yet.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452360" y="3931920"/>
            <a:ext cx="4233672" cy="475488"/>
          </a:xfrm>
          <a:prstGeom prst="roundRect">
            <a:avLst>
              <a:gd name="adj" fmla="val 7692"/>
            </a:avLst>
          </a:prstGeom>
          <a:solidFill>
            <a:srgbClr val="FBF6EF"/>
          </a:solidFill>
          <a:ln w="9525">
            <a:solidFill>
              <a:srgbClr val="EAD9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98664" y="3968496"/>
            <a:ext cx="3959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 </a:t>
            </a:r>
            <a:pPr indent="0" marL="0">
              <a:lnSpc>
                <a:spcPts val="125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us. prefix is the inference profile. Keep it. Its absence is the 404 we fix at step 7.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7452360" y="4572000"/>
            <a:ext cx="4233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state of the connected pipeline: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5623560"/>
            <a:ext cx="1472184" cy="365760"/>
          </a:xfrm>
          <a:prstGeom prst="roundRect">
            <a:avLst>
              <a:gd name="adj" fmla="val 125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56235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502920" y="6016752"/>
            <a:ext cx="1472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building now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1979676" y="562356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121408" y="5623560"/>
            <a:ext cx="1472184" cy="365760"/>
          </a:xfrm>
          <a:prstGeom prst="roundRect">
            <a:avLst>
              <a:gd name="adj" fmla="val 12500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48840" y="56235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(AgentCore)</a:t>
            </a:r>
            <a:endParaRPr lang="en-US" sz="930" dirty="0"/>
          </a:p>
        </p:txBody>
      </p:sp>
      <p:sp>
        <p:nvSpPr>
          <p:cNvPr id="32" name="Text 30"/>
          <p:cNvSpPr/>
          <p:nvPr/>
        </p:nvSpPr>
        <p:spPr>
          <a:xfrm>
            <a:off x="3598164" y="562356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739896" y="5623560"/>
            <a:ext cx="1472184" cy="365760"/>
          </a:xfrm>
          <a:prstGeom prst="roundRect">
            <a:avLst>
              <a:gd name="adj" fmla="val 12500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67328" y="56235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5216652" y="562356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358384" y="5623560"/>
            <a:ext cx="1472184" cy="365760"/>
          </a:xfrm>
          <a:prstGeom prst="roundRect">
            <a:avLst>
              <a:gd name="adj" fmla="val 12500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85816" y="56235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(launch)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6835140" y="562356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976872" y="5623560"/>
            <a:ext cx="1472184" cy="365760"/>
          </a:xfrm>
          <a:prstGeom prst="roundRect">
            <a:avLst>
              <a:gd name="adj" fmla="val 12500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04304" y="56235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Gate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8453628" y="562356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595360" y="5623560"/>
            <a:ext cx="1472184" cy="365760"/>
          </a:xfrm>
          <a:prstGeom prst="roundRect">
            <a:avLst>
              <a:gd name="adj" fmla="val 12500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22792" y="56235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/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930" dirty="0"/>
          </a:p>
        </p:txBody>
      </p:sp>
      <p:sp>
        <p:nvSpPr>
          <p:cNvPr id="44" name="Text 42"/>
          <p:cNvSpPr/>
          <p:nvPr/>
        </p:nvSpPr>
        <p:spPr>
          <a:xfrm>
            <a:off x="10072116" y="562356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10213848" y="5623560"/>
            <a:ext cx="1472184" cy="365760"/>
          </a:xfrm>
          <a:prstGeom prst="roundRect">
            <a:avLst>
              <a:gd name="adj" fmla="val 12500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241280" y="56235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(gateway)</a:t>
            </a:r>
            <a:endParaRPr lang="en-US" sz="9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 ·  STEP 2 OF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 it: the entrypoint and payload contract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566928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End-to-End Day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54480"/>
            <a:ext cx="6720840" cy="3703320"/>
          </a:xfrm>
          <a:prstGeom prst="roundRect">
            <a:avLst>
              <a:gd name="adj" fmla="val 1235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645920"/>
            <a:ext cx="6355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A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travelmind_runtime.py  ·  the green lines are all that is new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67512" y="1938528"/>
            <a:ext cx="6391656" cy="0"/>
          </a:xfrm>
          <a:prstGeom prst="line">
            <a:avLst/>
          </a:prstGeom>
          <a:noFill/>
          <a:ln w="9525">
            <a:solidFill>
              <a:srgbClr val="2230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993392"/>
            <a:ext cx="6391656" cy="3172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from bedrock_agentcore.runtime import \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BedrockAgentCoreApp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from travelmind_agent import build_agent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 = BedrockAgentCoreApp()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agent = build_agent()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@app.entrypoint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def invoke(payload):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# payload is the JSON request body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user_text = payload.get('prompt', '')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return str(agent(user_text))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if __name__ == '__main__':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app.run()   # serves /invocations + /ping :8080
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7452360" y="1554480"/>
            <a:ext cx="4233672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52360" y="1554480"/>
            <a:ext cx="64008" cy="21945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7653528" y="1664208"/>
            <a:ext cx="39044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changed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671816" y="2130552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7909560" y="2066544"/>
            <a:ext cx="3611880" cy="410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additions: the app object, an @app.entrypoint function, and app.run().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671816" y="2586736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7909560" y="2522728"/>
            <a:ext cx="3611880" cy="410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entrypoint receives payload (a dict) and returns the answer.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671816" y="3042920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7909560" y="2978912"/>
            <a:ext cx="3611880" cy="22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agent logic is untouched.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452360" y="3931920"/>
            <a:ext cx="4233672" cy="475488"/>
          </a:xfrm>
          <a:prstGeom prst="roundRect">
            <a:avLst>
              <a:gd name="adj" fmla="val 7692"/>
            </a:avLst>
          </a:prstGeom>
          <a:solidFill>
            <a:srgbClr val="FBF6EF"/>
          </a:solidFill>
          <a:ln w="9525">
            <a:solidFill>
              <a:srgbClr val="EAD9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98664" y="3968496"/>
            <a:ext cx="3959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contract  </a:t>
            </a:r>
            <a:pPr indent="0" marL="0">
              <a:lnSpc>
                <a:spcPts val="125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callers now send {"prompt": "..."} and get a response. That fixed shape is what makes it an endpoint, not a function.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7452360" y="4526280"/>
            <a:ext cx="4233672" cy="475488"/>
          </a:xfrm>
          <a:prstGeom prst="roundRect">
            <a:avLst>
              <a:gd name="adj" fmla="val 7692"/>
            </a:avLst>
          </a:prstGeom>
          <a:solidFill>
            <a:srgbClr val="FBF6EF"/>
          </a:solidFill>
          <a:ln w="9525">
            <a:solidFill>
              <a:srgbClr val="EAD9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98664" y="4562856"/>
            <a:ext cx="3959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  </a:t>
            </a:r>
            <a:pPr indent="0" marL="0">
              <a:lnSpc>
                <a:spcPts val="125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invoke({"prompt":"..."}) is callable directly in a unit test, no AWS needed.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502920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1979676" y="565099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121408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48840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(AgentCore)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2121408" y="6025896"/>
            <a:ext cx="1472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building now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3598164" y="565099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739896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67328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5216652" y="565099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358384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85816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(launch)</a:t>
            </a:r>
            <a:endParaRPr lang="en-US" sz="930" dirty="0"/>
          </a:p>
        </p:txBody>
      </p:sp>
      <p:sp>
        <p:nvSpPr>
          <p:cNvPr id="37" name="Text 35"/>
          <p:cNvSpPr/>
          <p:nvPr/>
        </p:nvSpPr>
        <p:spPr>
          <a:xfrm>
            <a:off x="6835140" y="565099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976872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04304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Gate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8453628" y="565099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595360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22792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/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930" dirty="0"/>
          </a:p>
        </p:txBody>
      </p:sp>
      <p:sp>
        <p:nvSpPr>
          <p:cNvPr id="43" name="Text 41"/>
          <p:cNvSpPr/>
          <p:nvPr/>
        </p:nvSpPr>
        <p:spPr>
          <a:xfrm>
            <a:off x="10072116" y="565099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10213848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241280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(gateway)</a:t>
            </a:r>
            <a:endParaRPr lang="en-US" sz="9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 ·  STEP 3 OF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locally and test the contract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566928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End-to-End Day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17904"/>
            <a:ext cx="5806440" cy="2103120"/>
          </a:xfrm>
          <a:prstGeom prst="roundRect">
            <a:avLst>
              <a:gd name="adj" fmla="val 2174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609344"/>
            <a:ext cx="5440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A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 ·  VS Code: activate venv, set creds, then run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67512" y="1901952"/>
            <a:ext cx="5477256" cy="0"/>
          </a:xfrm>
          <a:prstGeom prst="line">
            <a:avLst/>
          </a:prstGeom>
          <a:noFill/>
          <a:ln w="9525">
            <a:solidFill>
              <a:srgbClr val="2230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956816"/>
            <a:ext cx="5477256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travelmind_runtime.py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Uvicorn running on http://0.0.0.0:8080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health probe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localhost:8080/ping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{"status": "healthy"}
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502920" y="3694176"/>
            <a:ext cx="5806440" cy="1645920"/>
          </a:xfrm>
          <a:prstGeom prst="roundRect">
            <a:avLst>
              <a:gd name="adj" fmla="val 277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785616"/>
            <a:ext cx="5440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A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 ·  hit the real route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7512" y="4078224"/>
            <a:ext cx="5477256" cy="0"/>
          </a:xfrm>
          <a:prstGeom prst="line">
            <a:avLst/>
          </a:prstGeom>
          <a:noFill/>
          <a:ln w="9525">
            <a:solidFill>
              <a:srgbClr val="2230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133088"/>
            <a:ext cx="547725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-X POST localhost:8080/invocations \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-H 'Content-Type: application/json' \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-d '{"prompt":"Status of PNR JX48Q2?"}'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"PNR JX48Q2 is cancelled due to weather..."
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6537960" y="1517904"/>
            <a:ext cx="514807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37960" y="1517904"/>
            <a:ext cx="64008" cy="18288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6739128" y="1627632"/>
            <a:ext cx="4818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checks that matter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757416" y="2093976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6995160" y="2029968"/>
            <a:ext cx="4526280" cy="410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/ping returns healthy: the container will pass the load-balancer probe.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757416" y="2550160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2" name="Text 20"/>
          <p:cNvSpPr/>
          <p:nvPr/>
        </p:nvSpPr>
        <p:spPr>
          <a:xfrm>
            <a:off x="6995160" y="2486152"/>
            <a:ext cx="4526280" cy="410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/invocations returns a real answer: the contract works before any cloud spend.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37960" y="3511296"/>
            <a:ext cx="5148072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37960" y="3511296"/>
            <a:ext cx="64008" cy="129844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6739128" y="3621024"/>
            <a:ext cx="4818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Colab / no terminal?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757416" y="4087368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7" name="Text 25"/>
          <p:cNvSpPr/>
          <p:nvPr/>
        </p:nvSpPr>
        <p:spPr>
          <a:xfrm>
            <a:off x="6995160" y="4023360"/>
            <a:ext cx="4526280" cy="410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entrypoint in-process: invoke({"prompt": "Status of JX48Q2?"}) and print the result. Same contract, no server.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537960" y="4919472"/>
            <a:ext cx="5148072" cy="475488"/>
          </a:xfrm>
          <a:prstGeom prst="roundRect">
            <a:avLst>
              <a:gd name="adj" fmla="val 7692"/>
            </a:avLst>
          </a:prstGeom>
          <a:solidFill>
            <a:srgbClr val="FBF6EF"/>
          </a:solidFill>
          <a:ln w="9525">
            <a:solidFill>
              <a:srgbClr val="EAD9C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84264" y="4956048"/>
            <a:ext cx="4873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 </a:t>
            </a:r>
            <a:pPr indent="0" marL="0">
              <a:lnSpc>
                <a:spcPts val="125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fails here, it fails in the cloud too. Never deploy a red local contract.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502920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30" dirty="0"/>
          </a:p>
        </p:txBody>
      </p:sp>
      <p:sp>
        <p:nvSpPr>
          <p:cNvPr id="32" name="Text 30"/>
          <p:cNvSpPr/>
          <p:nvPr/>
        </p:nvSpPr>
        <p:spPr>
          <a:xfrm>
            <a:off x="1979676" y="565099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121408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48840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(AgentCore)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2121408" y="6025896"/>
            <a:ext cx="1472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building now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3598164" y="565099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739896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67328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</a:t>
            </a:r>
            <a:endParaRPr lang="en-US" sz="930" dirty="0"/>
          </a:p>
        </p:txBody>
      </p:sp>
      <p:sp>
        <p:nvSpPr>
          <p:cNvPr id="39" name="Text 37"/>
          <p:cNvSpPr/>
          <p:nvPr/>
        </p:nvSpPr>
        <p:spPr>
          <a:xfrm>
            <a:off x="5216652" y="565099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358384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85816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(launch)</a:t>
            </a:r>
            <a:endParaRPr lang="en-US" sz="930" dirty="0"/>
          </a:p>
        </p:txBody>
      </p:sp>
      <p:sp>
        <p:nvSpPr>
          <p:cNvPr id="42" name="Text 40"/>
          <p:cNvSpPr/>
          <p:nvPr/>
        </p:nvSpPr>
        <p:spPr>
          <a:xfrm>
            <a:off x="6835140" y="565099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976872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04304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Gate</a:t>
            </a:r>
            <a:endParaRPr lang="en-US" sz="930" dirty="0"/>
          </a:p>
        </p:txBody>
      </p:sp>
      <p:sp>
        <p:nvSpPr>
          <p:cNvPr id="45" name="Text 43"/>
          <p:cNvSpPr/>
          <p:nvPr/>
        </p:nvSpPr>
        <p:spPr>
          <a:xfrm>
            <a:off x="8453628" y="565099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595360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22792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/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930" dirty="0"/>
          </a:p>
        </p:txBody>
      </p:sp>
      <p:sp>
        <p:nvSpPr>
          <p:cNvPr id="48" name="Text 46"/>
          <p:cNvSpPr/>
          <p:nvPr/>
        </p:nvSpPr>
        <p:spPr>
          <a:xfrm>
            <a:off x="10072116" y="565099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10213848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241280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(gateway)</a:t>
            </a:r>
            <a:endParaRPr lang="en-US" sz="93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 ·  STEP 4 OF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Containerize: the Dockerfile and the port contract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566928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End-to-End Day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54480"/>
            <a:ext cx="5989320" cy="3703320"/>
          </a:xfrm>
          <a:prstGeom prst="roundRect">
            <a:avLst>
              <a:gd name="adj" fmla="val 1235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645920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A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67512" y="1938528"/>
            <a:ext cx="5660136" cy="0"/>
          </a:xfrm>
          <a:prstGeom prst="line">
            <a:avLst/>
          </a:prstGeom>
          <a:noFill/>
          <a:ln w="9525">
            <a:solidFill>
              <a:srgbClr val="2230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993392"/>
            <a:ext cx="5660136" cy="3172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python:3.12-slim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/app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pin everything: reproducible builds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requirements.txt .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pip install --no-cache-dir -r requirements.txt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. .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EXPOSE 8080          # the runtime contract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CMD ["python", "travelmind_runtime.py"]
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6720840" y="1554480"/>
            <a:ext cx="4965192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20840" y="1554480"/>
            <a:ext cx="64008" cy="17830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6922008" y="1664208"/>
            <a:ext cx="4636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by line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940296" y="2130552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7178040" y="2066544"/>
            <a:ext cx="4343400" cy="22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slim base keeps the image small and the cold start short.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940296" y="2399792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2335784"/>
            <a:ext cx="4343400" cy="22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copied first so Docker caches the pip layer.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40296" y="2669032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7178040" y="2605024"/>
            <a:ext cx="4343400" cy="410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8080 + CMD: start the server on the one port Runtime expects.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720840" y="3520440"/>
            <a:ext cx="496519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20840" y="3520440"/>
            <a:ext cx="64008" cy="1234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3" name="Text 21"/>
          <p:cNvSpPr/>
          <p:nvPr/>
        </p:nvSpPr>
        <p:spPr>
          <a:xfrm>
            <a:off x="6922008" y="3630168"/>
            <a:ext cx="4636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Starter toolkit shortcut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940296" y="4096512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5" name="Text 23"/>
          <p:cNvSpPr/>
          <p:nvPr/>
        </p:nvSpPr>
        <p:spPr>
          <a:xfrm>
            <a:off x="7178040" y="4032504"/>
            <a:ext cx="4343400" cy="410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toolkit can generate and build this for you. Writing it once teaches what it is doing under the hood.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720840" y="4892040"/>
            <a:ext cx="4965192" cy="475488"/>
          </a:xfrm>
          <a:prstGeom prst="roundRect">
            <a:avLst>
              <a:gd name="adj" fmla="val 7692"/>
            </a:avLst>
          </a:prstGeom>
          <a:solidFill>
            <a:srgbClr val="FBF6EF"/>
          </a:solidFill>
          <a:ln w="9525">
            <a:solidFill>
              <a:srgbClr val="EAD9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67144" y="4928616"/>
            <a:ext cx="4690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requirements  </a:t>
            </a:r>
            <a:pPr indent="0" marL="0">
              <a:lnSpc>
                <a:spcPts val="125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strands-agents==1.42.0, bedrock-agentcore==1.14.0. An unpinned image is a different agent next week.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502920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1979676" y="565099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121408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48840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(AgentCore)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598164" y="565099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739896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67328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</a:t>
            </a:r>
            <a:endParaRPr lang="en-US" sz="930" dirty="0"/>
          </a:p>
        </p:txBody>
      </p:sp>
      <p:sp>
        <p:nvSpPr>
          <p:cNvPr id="36" name="Text 34"/>
          <p:cNvSpPr/>
          <p:nvPr/>
        </p:nvSpPr>
        <p:spPr>
          <a:xfrm>
            <a:off x="3739896" y="6025896"/>
            <a:ext cx="1472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building now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5216652" y="565099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358384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85816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(launch)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6835140" y="565099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976872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04304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Gate</a:t>
            </a:r>
            <a:endParaRPr lang="en-US" sz="930" dirty="0"/>
          </a:p>
        </p:txBody>
      </p:sp>
      <p:sp>
        <p:nvSpPr>
          <p:cNvPr id="43" name="Text 41"/>
          <p:cNvSpPr/>
          <p:nvPr/>
        </p:nvSpPr>
        <p:spPr>
          <a:xfrm>
            <a:off x="8453628" y="565099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8595360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22792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/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930" dirty="0"/>
          </a:p>
        </p:txBody>
      </p:sp>
      <p:sp>
        <p:nvSpPr>
          <p:cNvPr id="46" name="Text 44"/>
          <p:cNvSpPr/>
          <p:nvPr/>
        </p:nvSpPr>
        <p:spPr>
          <a:xfrm>
            <a:off x="10072116" y="565099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10213848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241280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(gateway)</a:t>
            </a:r>
            <a:endParaRPr lang="en-US" sz="93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 ·  STEP 5 OF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agentcore configure: role and registry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566928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End-to-End Day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54480"/>
            <a:ext cx="5806440" cy="1965960"/>
          </a:xfrm>
          <a:prstGeom prst="roundRect">
            <a:avLst>
              <a:gd name="adj" fmla="val 232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645920"/>
            <a:ext cx="5440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A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67512" y="1938528"/>
            <a:ext cx="5477256" cy="0"/>
          </a:xfrm>
          <a:prstGeom prst="line">
            <a:avLst/>
          </a:prstGeom>
          <a:noFill/>
          <a:ln w="9525">
            <a:solidFill>
              <a:srgbClr val="2230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993392"/>
            <a:ext cx="5477256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agentcore configure \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--entrypoint travelmind_runtime.py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created  .bedrock_agentcore.yaml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execution role  : auto / or pass --role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ECR repository  : created on first launch
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6537960" y="1554480"/>
            <a:ext cx="5148072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7960" y="1554480"/>
            <a:ext cx="64008" cy="19659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6739128" y="1664208"/>
            <a:ext cx="4818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configure sets up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757416" y="2130552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6995160" y="2066544"/>
            <a:ext cx="4526280" cy="22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config file describing how to package and run the agent.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757416" y="2399792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2335784"/>
            <a:ext cx="4526280" cy="410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execution role: the identity the running agent uses to call Bedrock and write logs.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757416" y="2855976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6995160" y="2791968"/>
            <a:ext cx="4526280" cy="22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ECR repository target for the image.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3657600"/>
            <a:ext cx="2286000" cy="31089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2" name="Text 20"/>
          <p:cNvSpPr/>
          <p:nvPr/>
        </p:nvSpPr>
        <p:spPr>
          <a:xfrm>
            <a:off x="576072" y="3657600"/>
            <a:ext cx="21579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creates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88920" y="3657600"/>
            <a:ext cx="8897112" cy="31089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2862072" y="3657600"/>
            <a:ext cx="8769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968496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" y="3968496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file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88920" y="3968496"/>
            <a:ext cx="889711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62072" y="3968496"/>
            <a:ext cx="8769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entrypoint, region, and packaging so launch is repeatable.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4425696"/>
            <a:ext cx="2286000" cy="457200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" y="4425696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role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88920" y="4425696"/>
            <a:ext cx="8897112" cy="457200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62072" y="4425696"/>
            <a:ext cx="8769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identity. The 403 at step 7 lives here if it is too narrow.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" y="4882896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" y="4882896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 repo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88920" y="4882896"/>
            <a:ext cx="889711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62072" y="4882896"/>
            <a:ext cx="8769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registry the built image is pushed to before deploy.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02920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30" dirty="0"/>
          </a:p>
        </p:txBody>
      </p:sp>
      <p:sp>
        <p:nvSpPr>
          <p:cNvPr id="39" name="Text 37"/>
          <p:cNvSpPr/>
          <p:nvPr/>
        </p:nvSpPr>
        <p:spPr>
          <a:xfrm>
            <a:off x="1979676" y="565099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121408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48840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(AgentCore)</a:t>
            </a:r>
            <a:endParaRPr lang="en-US" sz="930" dirty="0"/>
          </a:p>
        </p:txBody>
      </p:sp>
      <p:sp>
        <p:nvSpPr>
          <p:cNvPr id="42" name="Text 40"/>
          <p:cNvSpPr/>
          <p:nvPr/>
        </p:nvSpPr>
        <p:spPr>
          <a:xfrm>
            <a:off x="3598164" y="565099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739896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67328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</a:t>
            </a:r>
            <a:endParaRPr lang="en-US" sz="930" dirty="0"/>
          </a:p>
        </p:txBody>
      </p:sp>
      <p:sp>
        <p:nvSpPr>
          <p:cNvPr id="45" name="Text 43"/>
          <p:cNvSpPr/>
          <p:nvPr/>
        </p:nvSpPr>
        <p:spPr>
          <a:xfrm>
            <a:off x="5216652" y="565099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358384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85816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(launch)</a:t>
            </a:r>
            <a:endParaRPr lang="en-US" sz="930" dirty="0"/>
          </a:p>
        </p:txBody>
      </p:sp>
      <p:sp>
        <p:nvSpPr>
          <p:cNvPr id="48" name="Text 46"/>
          <p:cNvSpPr/>
          <p:nvPr/>
        </p:nvSpPr>
        <p:spPr>
          <a:xfrm>
            <a:off x="5358384" y="6025896"/>
            <a:ext cx="1472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building now</a:t>
            </a:r>
            <a:endParaRPr lang="en-US" sz="780" dirty="0"/>
          </a:p>
        </p:txBody>
      </p:sp>
      <p:sp>
        <p:nvSpPr>
          <p:cNvPr id="49" name="Text 47"/>
          <p:cNvSpPr/>
          <p:nvPr/>
        </p:nvSpPr>
        <p:spPr>
          <a:xfrm>
            <a:off x="6835140" y="565099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976872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04304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Gate</a:t>
            </a:r>
            <a:endParaRPr lang="en-US" sz="930" dirty="0"/>
          </a:p>
        </p:txBody>
      </p:sp>
      <p:sp>
        <p:nvSpPr>
          <p:cNvPr id="52" name="Text 50"/>
          <p:cNvSpPr/>
          <p:nvPr/>
        </p:nvSpPr>
        <p:spPr>
          <a:xfrm>
            <a:off x="8453628" y="565099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8595360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622792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/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930" dirty="0"/>
          </a:p>
        </p:txBody>
      </p:sp>
      <p:sp>
        <p:nvSpPr>
          <p:cNvPr id="55" name="Text 53"/>
          <p:cNvSpPr/>
          <p:nvPr/>
        </p:nvSpPr>
        <p:spPr>
          <a:xfrm>
            <a:off x="10072116" y="565099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10213848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241280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(gateway)</a:t>
            </a:r>
            <a:endParaRPr lang="en-US" sz="93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 ·  STEP 6 OF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agentcore launch: build, push, provision, deploy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566928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End-to-End Day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54480"/>
            <a:ext cx="5806440" cy="2148840"/>
          </a:xfrm>
          <a:prstGeom prst="roundRect">
            <a:avLst>
              <a:gd name="adj" fmla="val 212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645920"/>
            <a:ext cx="5440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A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67512" y="1938528"/>
            <a:ext cx="5477256" cy="0"/>
          </a:xfrm>
          <a:prstGeom prst="line">
            <a:avLst/>
          </a:prstGeom>
          <a:noFill/>
          <a:ln w="9525">
            <a:solidFill>
              <a:srgbClr val="2230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993392"/>
            <a:ext cx="5477256" cy="1618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agentcore launch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building image .........  done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pushing to ECR .........  done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provisioning runtime ...  (5-10 min)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endpoint  : READY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agentRuntimeArn : arn:aws:bedrock-agentcore:...
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6537960" y="1554480"/>
            <a:ext cx="5148072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7960" y="1554480"/>
            <a:ext cx="64008" cy="21488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6739128" y="1664208"/>
            <a:ext cx="4818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launch actually does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757416" y="2130552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6995160" y="2066544"/>
            <a:ext cx="4526280" cy="22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container image from your Dockerfile.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757416" y="2399792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2335784"/>
            <a:ext cx="4526280" cy="22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it to ECR.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757416" y="2669032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6995160" y="2605024"/>
            <a:ext cx="4526280" cy="410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Provisions managed runtime infra: network interfaces, scaling, health checks.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757416" y="3125216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2" name="Text 20"/>
          <p:cNvSpPr/>
          <p:nvPr/>
        </p:nvSpPr>
        <p:spPr>
          <a:xfrm>
            <a:off x="6995160" y="3061208"/>
            <a:ext cx="4526280" cy="22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runtime ARN you invoke.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3931920"/>
            <a:ext cx="11183112" cy="105156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931920"/>
            <a:ext cx="64008" cy="105156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5" name="Text 23"/>
          <p:cNvSpPr/>
          <p:nvPr/>
        </p:nvSpPr>
        <p:spPr>
          <a:xfrm>
            <a:off x="704088" y="402336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PRACTITIONERS 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Builder Center · VPC deploy guide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04088" y="4334256"/>
            <a:ext cx="10799064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" y="4407408"/>
            <a:ext cx="10762488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deploy takes about 5 to 10 minutes as AWS provisions the container infrastructure, creates network interfaces in your VPC, and deploys your code. </a:t>
            </a:r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slow once, not slow per call. The wait is one-time provisioning, not latency.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1979676" y="565099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121408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48840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(AgentCore)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598164" y="565099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739896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67328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</a:t>
            </a:r>
            <a:endParaRPr lang="en-US" sz="930" dirty="0"/>
          </a:p>
        </p:txBody>
      </p:sp>
      <p:sp>
        <p:nvSpPr>
          <p:cNvPr id="36" name="Text 34"/>
          <p:cNvSpPr/>
          <p:nvPr/>
        </p:nvSpPr>
        <p:spPr>
          <a:xfrm>
            <a:off x="5216652" y="565099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358384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85816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(launch)</a:t>
            </a:r>
            <a:endParaRPr lang="en-US" sz="930" dirty="0"/>
          </a:p>
        </p:txBody>
      </p:sp>
      <p:sp>
        <p:nvSpPr>
          <p:cNvPr id="39" name="Text 37"/>
          <p:cNvSpPr/>
          <p:nvPr/>
        </p:nvSpPr>
        <p:spPr>
          <a:xfrm>
            <a:off x="5358384" y="6025896"/>
            <a:ext cx="1472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building now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6835140" y="565099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976872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04304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Gate</a:t>
            </a:r>
            <a:endParaRPr lang="en-US" sz="930" dirty="0"/>
          </a:p>
        </p:txBody>
      </p:sp>
      <p:sp>
        <p:nvSpPr>
          <p:cNvPr id="43" name="Text 41"/>
          <p:cNvSpPr/>
          <p:nvPr/>
        </p:nvSpPr>
        <p:spPr>
          <a:xfrm>
            <a:off x="8453628" y="565099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8595360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22792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/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930" dirty="0"/>
          </a:p>
        </p:txBody>
      </p:sp>
      <p:sp>
        <p:nvSpPr>
          <p:cNvPr id="46" name="Text 44"/>
          <p:cNvSpPr/>
          <p:nvPr/>
        </p:nvSpPr>
        <p:spPr>
          <a:xfrm>
            <a:off x="10072116" y="565099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10213848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241280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(gateway)</a:t>
            </a:r>
            <a:endParaRPr lang="en-US" sz="93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 ·  STEP 7 OF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agentcore invoke: the agent answers from the cloud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566928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End-to-End Day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54480"/>
            <a:ext cx="5989320" cy="2148840"/>
          </a:xfrm>
          <a:prstGeom prst="roundRect">
            <a:avLst>
              <a:gd name="adj" fmla="val 212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645920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A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67512" y="1938528"/>
            <a:ext cx="5660136" cy="0"/>
          </a:xfrm>
          <a:prstGeom prst="line">
            <a:avLst/>
          </a:prstGeom>
          <a:noFill/>
          <a:ln w="9525">
            <a:solidFill>
              <a:srgbClr val="2230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993392"/>
            <a:ext cx="5660136" cy="1618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agentcore invoke \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'{"prompt":"My flight on JX48Q2 was \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cancelled. Options?"}'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"JX48Q2 is cancelled (weather). Two options: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AI-318 at 18:40, 6E-552 at 21:15..."
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6720840" y="1554480"/>
            <a:ext cx="4965192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20840" y="1554480"/>
            <a:ext cx="64008" cy="21488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6922008" y="1664208"/>
            <a:ext cx="4636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just happened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940296" y="2130552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7178040" y="2066544"/>
            <a:ext cx="4343400" cy="22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payload hit /invocations on the deployed container.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940296" y="2399792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2335784"/>
            <a:ext cx="4343400" cy="22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agent ran, in AWS, isolated, scalable.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40296" y="2669032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7178040" y="2605024"/>
            <a:ext cx="4343400" cy="22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 came back over the runtime ARN.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940296" y="2938272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2" name="Text 20"/>
          <p:cNvSpPr/>
          <p:nvPr/>
        </p:nvSpPr>
        <p:spPr>
          <a:xfrm>
            <a:off x="7178040" y="2874264"/>
            <a:ext cx="4343400" cy="22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of the pipeline is now live.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3886200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errors almost everyone hits on the first real invoke, and the exact fix: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4206240"/>
            <a:ext cx="640080" cy="29260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5" name="Text 23"/>
          <p:cNvSpPr/>
          <p:nvPr/>
        </p:nvSpPr>
        <p:spPr>
          <a:xfrm>
            <a:off x="576072" y="4206240"/>
            <a:ext cx="5120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1143000" y="4206240"/>
            <a:ext cx="2606040" cy="29260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1216152" y="4206240"/>
            <a:ext cx="2478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3749040" y="4206240"/>
            <a:ext cx="7936992" cy="29260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9" name="Text 27"/>
          <p:cNvSpPr/>
          <p:nvPr/>
        </p:nvSpPr>
        <p:spPr>
          <a:xfrm>
            <a:off x="3822192" y="4206240"/>
            <a:ext cx="7808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502920" y="4498848"/>
            <a:ext cx="640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" y="4498848"/>
            <a:ext cx="512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108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1143000" y="4498848"/>
            <a:ext cx="2606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16152" y="4498848"/>
            <a:ext cx="2478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ARN not found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3749040" y="4498848"/>
            <a:ext cx="793699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22192" y="4498848"/>
            <a:ext cx="7808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id missing the us. inference-profile prefix. Use us.anthropic.claude-....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502920" y="4956048"/>
            <a:ext cx="640080" cy="457200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" y="4956048"/>
            <a:ext cx="512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108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1143000" y="4956048"/>
            <a:ext cx="2606040" cy="457200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16152" y="4956048"/>
            <a:ext cx="2478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denied on invoke</a:t>
            </a:r>
            <a:endParaRPr lang="en-US" sz="1080" dirty="0"/>
          </a:p>
        </p:txBody>
      </p:sp>
      <p:sp>
        <p:nvSpPr>
          <p:cNvPr id="40" name="Shape 38"/>
          <p:cNvSpPr/>
          <p:nvPr/>
        </p:nvSpPr>
        <p:spPr>
          <a:xfrm>
            <a:off x="3749040" y="4956048"/>
            <a:ext cx="7936992" cy="457200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22192" y="4956048"/>
            <a:ext cx="7808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role lacks bedrock:InvokeModel on the profile ARN + the 3 cross-region foundation-model ARNs.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502920" y="5669280"/>
            <a:ext cx="1472184" cy="329184"/>
          </a:xfrm>
          <a:prstGeom prst="roundRect">
            <a:avLst>
              <a:gd name="adj" fmla="val 1388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0352" y="566928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30" dirty="0"/>
          </a:p>
        </p:txBody>
      </p:sp>
      <p:sp>
        <p:nvSpPr>
          <p:cNvPr id="44" name="Text 42"/>
          <p:cNvSpPr/>
          <p:nvPr/>
        </p:nvSpPr>
        <p:spPr>
          <a:xfrm>
            <a:off x="1979676" y="5669280"/>
            <a:ext cx="146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2121408" y="5669280"/>
            <a:ext cx="1472184" cy="329184"/>
          </a:xfrm>
          <a:prstGeom prst="roundRect">
            <a:avLst>
              <a:gd name="adj" fmla="val 1388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148840" y="566928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(AgentCore)</a:t>
            </a:r>
            <a:endParaRPr lang="en-US" sz="930" dirty="0"/>
          </a:p>
        </p:txBody>
      </p:sp>
      <p:sp>
        <p:nvSpPr>
          <p:cNvPr id="47" name="Text 45"/>
          <p:cNvSpPr/>
          <p:nvPr/>
        </p:nvSpPr>
        <p:spPr>
          <a:xfrm>
            <a:off x="3598164" y="5669280"/>
            <a:ext cx="146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3739896" y="5669280"/>
            <a:ext cx="1472184" cy="329184"/>
          </a:xfrm>
          <a:prstGeom prst="roundRect">
            <a:avLst>
              <a:gd name="adj" fmla="val 1388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67328" y="566928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</a:t>
            </a:r>
            <a:endParaRPr lang="en-US" sz="930" dirty="0"/>
          </a:p>
        </p:txBody>
      </p:sp>
      <p:sp>
        <p:nvSpPr>
          <p:cNvPr id="50" name="Text 48"/>
          <p:cNvSpPr/>
          <p:nvPr/>
        </p:nvSpPr>
        <p:spPr>
          <a:xfrm>
            <a:off x="5216652" y="5669280"/>
            <a:ext cx="146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358384" y="5669280"/>
            <a:ext cx="1472184" cy="329184"/>
          </a:xfrm>
          <a:prstGeom prst="roundRect">
            <a:avLst>
              <a:gd name="adj" fmla="val 13889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85816" y="566928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(launch)</a:t>
            </a:r>
            <a:endParaRPr lang="en-US" sz="930" dirty="0"/>
          </a:p>
        </p:txBody>
      </p:sp>
      <p:sp>
        <p:nvSpPr>
          <p:cNvPr id="53" name="Text 51"/>
          <p:cNvSpPr/>
          <p:nvPr/>
        </p:nvSpPr>
        <p:spPr>
          <a:xfrm>
            <a:off x="5358384" y="6025896"/>
            <a:ext cx="1472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building now</a:t>
            </a:r>
            <a:endParaRPr lang="en-US" sz="780" dirty="0"/>
          </a:p>
        </p:txBody>
      </p:sp>
      <p:sp>
        <p:nvSpPr>
          <p:cNvPr id="54" name="Text 52"/>
          <p:cNvSpPr/>
          <p:nvPr/>
        </p:nvSpPr>
        <p:spPr>
          <a:xfrm>
            <a:off x="6835140" y="5669280"/>
            <a:ext cx="146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6976872" y="5669280"/>
            <a:ext cx="1472184" cy="329184"/>
          </a:xfrm>
          <a:prstGeom prst="roundRect">
            <a:avLst>
              <a:gd name="adj" fmla="val 13889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04304" y="566928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Gate</a:t>
            </a:r>
            <a:endParaRPr lang="en-US" sz="930" dirty="0"/>
          </a:p>
        </p:txBody>
      </p:sp>
      <p:sp>
        <p:nvSpPr>
          <p:cNvPr id="57" name="Text 55"/>
          <p:cNvSpPr/>
          <p:nvPr/>
        </p:nvSpPr>
        <p:spPr>
          <a:xfrm>
            <a:off x="8453628" y="5669280"/>
            <a:ext cx="146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8595360" y="5669280"/>
            <a:ext cx="1472184" cy="329184"/>
          </a:xfrm>
          <a:prstGeom prst="roundRect">
            <a:avLst>
              <a:gd name="adj" fmla="val 13889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622792" y="566928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/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930" dirty="0"/>
          </a:p>
        </p:txBody>
      </p:sp>
      <p:sp>
        <p:nvSpPr>
          <p:cNvPr id="60" name="Text 58"/>
          <p:cNvSpPr/>
          <p:nvPr/>
        </p:nvSpPr>
        <p:spPr>
          <a:xfrm>
            <a:off x="10072116" y="5669280"/>
            <a:ext cx="146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10213848" y="5669280"/>
            <a:ext cx="1472184" cy="329184"/>
          </a:xfrm>
          <a:prstGeom prst="roundRect">
            <a:avLst>
              <a:gd name="adj" fmla="val 13889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241280" y="566928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(gateway)</a:t>
            </a:r>
            <a:endParaRPr lang="en-US" sz="93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WALL, IN FULL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and clearing the 404 and 403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566928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End-to-End Day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27632"/>
            <a:ext cx="553212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627632"/>
            <a:ext cx="64008" cy="320040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1737360"/>
            <a:ext cx="5202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404  ·  inference profile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22376" y="2203704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139696"/>
            <a:ext cx="4910328" cy="410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on-demand Claude models must be called through a cross-region inference profile, not the raw model id.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22376" y="2659888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595880"/>
            <a:ext cx="4910328" cy="22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Tell: the model ARN in the error has no us. prefix.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22376" y="2929128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865120"/>
            <a:ext cx="4910328" cy="410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us.anthropic.claude-haiku-4-5-20251001-v1:0 (and us. for the judge model too).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22376" y="3385312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321304"/>
            <a:ext cx="4910328" cy="22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config, not code. One string.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1627632"/>
            <a:ext cx="553212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627632"/>
            <a:ext cx="64008" cy="320040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21" name="Text 19"/>
          <p:cNvSpPr/>
          <p:nvPr/>
        </p:nvSpPr>
        <p:spPr>
          <a:xfrm>
            <a:off x="6419088" y="1737360"/>
            <a:ext cx="5202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403  ·  IAM on the execution role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37376" y="2203704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2139696"/>
            <a:ext cx="4910328" cy="410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the agent’s execution role can run, but cannot invoke the model.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37376" y="2659888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2595880"/>
            <a:ext cx="4910328" cy="410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grant bedrock:InvokeModel on the inference-profile ARN AND on the three regional foundation-model ARNs it fronts.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37376" y="3116072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3052064"/>
            <a:ext cx="4910328" cy="410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is multi-region, so the role needs all three underlying ARNs, not just one.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5029200"/>
            <a:ext cx="11183112" cy="475488"/>
          </a:xfrm>
          <a:prstGeom prst="roundRect">
            <a:avLst>
              <a:gd name="adj" fmla="val 7692"/>
            </a:avLst>
          </a:prstGeom>
          <a:solidFill>
            <a:srgbClr val="FBF6EF"/>
          </a:solidFill>
          <a:ln w="9525">
            <a:solidFill>
              <a:srgbClr val="EAD9C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" y="5065776"/>
            <a:ext cx="10908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to debug  </a:t>
            </a:r>
            <a:pPr indent="0" marL="0">
              <a:lnSpc>
                <a:spcPts val="125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404 first (right model id), then the 403 (right permissions on that id). Doing it the other way hides the second error.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502920" y="5650992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are predictable. Bake the fix into the config template and the class never loses ten minutes to them again.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PIPELINE  ·  CHECKPOINT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 1 is live: TravelMind is deployed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566928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End-to-End Day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7335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1-4 COMPLETE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1965960"/>
            <a:ext cx="1472184" cy="566928"/>
          </a:xfrm>
          <a:prstGeom prst="roundRect">
            <a:avLst>
              <a:gd name="adj" fmla="val 806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96596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1979676" y="1965960"/>
            <a:ext cx="146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121408" y="1965960"/>
            <a:ext cx="1472184" cy="566928"/>
          </a:xfrm>
          <a:prstGeom prst="roundRect">
            <a:avLst>
              <a:gd name="adj" fmla="val 806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48840" y="196596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(AgentCore)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3598164" y="1965960"/>
            <a:ext cx="146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739896" y="1965960"/>
            <a:ext cx="1472184" cy="566928"/>
          </a:xfrm>
          <a:prstGeom prst="roundRect">
            <a:avLst>
              <a:gd name="adj" fmla="val 806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196596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5216652" y="1965960"/>
            <a:ext cx="146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358384" y="1965960"/>
            <a:ext cx="1472184" cy="566928"/>
          </a:xfrm>
          <a:prstGeom prst="roundRect">
            <a:avLst>
              <a:gd name="adj" fmla="val 806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85816" y="196596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(launch)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6835140" y="1965960"/>
            <a:ext cx="146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976872" y="1965960"/>
            <a:ext cx="1472184" cy="566928"/>
          </a:xfrm>
          <a:prstGeom prst="roundRect">
            <a:avLst>
              <a:gd name="adj" fmla="val 8065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04304" y="196596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Gate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8453628" y="1965960"/>
            <a:ext cx="146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595360" y="1965960"/>
            <a:ext cx="1472184" cy="566928"/>
          </a:xfrm>
          <a:prstGeom prst="roundRect">
            <a:avLst>
              <a:gd name="adj" fmla="val 8065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22792" y="196596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/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10072116" y="1965960"/>
            <a:ext cx="146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213848" y="1965960"/>
            <a:ext cx="1472184" cy="566928"/>
          </a:xfrm>
          <a:prstGeom prst="roundRect">
            <a:avLst>
              <a:gd name="adj" fmla="val 8065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41280" y="196596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(gateway)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502920" y="274320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agent you wrote on day one now answers from a managed, isolated, scalable endpoint. That is the deployment ring of the one connected pipeline.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02920" y="3429000"/>
            <a:ext cx="2377440" cy="31089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1" name="Text 29"/>
          <p:cNvSpPr/>
          <p:nvPr/>
        </p:nvSpPr>
        <p:spPr>
          <a:xfrm>
            <a:off x="576072" y="3429000"/>
            <a:ext cx="22494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880360" y="3429000"/>
            <a:ext cx="1188720" cy="31089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3" name="Text 31"/>
          <p:cNvSpPr/>
          <p:nvPr/>
        </p:nvSpPr>
        <p:spPr>
          <a:xfrm>
            <a:off x="2953512" y="3429000"/>
            <a:ext cx="10607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069080" y="3429000"/>
            <a:ext cx="7616952" cy="31089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5" name="Text 33"/>
          <p:cNvSpPr/>
          <p:nvPr/>
        </p:nvSpPr>
        <p:spPr>
          <a:xfrm>
            <a:off x="4142232" y="3429000"/>
            <a:ext cx="7488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gave us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02920" y="3739896"/>
            <a:ext cx="2377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" y="3739896"/>
            <a:ext cx="22494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agent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880360" y="3739896"/>
            <a:ext cx="1188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53512" y="3739896"/>
            <a:ext cx="10607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069080" y="3739896"/>
            <a:ext cx="761695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42232" y="3739896"/>
            <a:ext cx="74889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build_agent() returns a working Agent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02920" y="4178808"/>
            <a:ext cx="2377440" cy="438912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72" y="4178808"/>
            <a:ext cx="22494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2880360" y="4178808"/>
            <a:ext cx="1188720" cy="438912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53512" y="4178808"/>
            <a:ext cx="10607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069080" y="4178808"/>
            <a:ext cx="7616952" cy="438912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42232" y="4178808"/>
            <a:ext cx="74889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BedrockAgentCoreApp + entrypoint, payload contract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502920" y="4617720"/>
            <a:ext cx="2377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6072" y="4617720"/>
            <a:ext cx="22494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2880360" y="4617720"/>
            <a:ext cx="1188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53512" y="4617720"/>
            <a:ext cx="10607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4069080" y="4617720"/>
            <a:ext cx="761695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42232" y="4617720"/>
            <a:ext cx="74889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Dockerfile, port 8080, pinned deps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502920" y="5056632"/>
            <a:ext cx="2377440" cy="438912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6072" y="5056632"/>
            <a:ext cx="22494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2880360" y="5056632"/>
            <a:ext cx="1188720" cy="438912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953512" y="5056632"/>
            <a:ext cx="10607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4069080" y="5056632"/>
            <a:ext cx="7616952" cy="438912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142232" y="5056632"/>
            <a:ext cx="74889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→ launch → invoke, 404/403 cleared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502920" y="5495544"/>
            <a:ext cx="2377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76072" y="5495544"/>
            <a:ext cx="22494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+ Gate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2880360" y="5495544"/>
            <a:ext cx="1188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953512" y="5495544"/>
            <a:ext cx="10607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4069080" y="5495544"/>
            <a:ext cx="761695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142232" y="5495544"/>
            <a:ext cx="74889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2: ship changes safely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FIELD SAYS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Deployment, from people who shipped it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566928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End-to-End Day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00200"/>
            <a:ext cx="5532120" cy="1554480"/>
          </a:xfrm>
          <a:prstGeom prst="roundRect">
            <a:avLst>
              <a:gd name="adj" fmla="val 2941"/>
            </a:avLst>
          </a:prstGeom>
          <a:solidFill>
            <a:srgbClr val="F8FA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600200"/>
            <a:ext cx="64008" cy="15544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169164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PRACTITIONERS 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Tola Ore-Aruwaji + Strands docs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04088" y="2002536"/>
            <a:ext cx="514807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2075688"/>
            <a:ext cx="511149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is framework- and model-agnostic; you deploy </a:t>
            </a:r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minimal code change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adding the Runtime decorator to a working local agent. The same pattern hosts a Bedrock model or an external one through LiteLLM.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600200"/>
            <a:ext cx="5532120" cy="1554480"/>
          </a:xfrm>
          <a:prstGeom prst="roundRect">
            <a:avLst>
              <a:gd name="adj" fmla="val 2941"/>
            </a:avLst>
          </a:prstGeom>
          <a:solidFill>
            <a:srgbClr val="F8FA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600200"/>
            <a:ext cx="64008" cy="15544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6419088" y="169164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PRACTITIONERS 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dev.to AWS Heroes · AWS Briefing Agent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19088" y="2002536"/>
            <a:ext cx="514807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37376" y="2075688"/>
            <a:ext cx="511149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agentcore deploy, </a:t>
            </a:r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 turns your Python source into a runnable container image on Runtime.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real series documenting architecture and lessons from shipping an agent on AgentCore, worth reading end to end.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3291840"/>
            <a:ext cx="5532120" cy="1554480"/>
          </a:xfrm>
          <a:prstGeom prst="roundRect">
            <a:avLst>
              <a:gd name="adj" fmla="val 2941"/>
            </a:avLst>
          </a:prstGeom>
          <a:solidFill>
            <a:srgbClr val="F8FA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291840"/>
            <a:ext cx="64008" cy="15544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338328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PRACTITIONERS 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docs · isolation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04088" y="3694176"/>
            <a:ext cx="514807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" y="3767328"/>
            <a:ext cx="511149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session gets a dedicated microVM. 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feature that makes Runtime safe for stateful agents that hold complex state and act on a user’s behalf. It is not just convenience, it is a security boundary.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17920" y="3291840"/>
            <a:ext cx="5532120" cy="1554480"/>
          </a:xfrm>
          <a:prstGeom prst="roundRect">
            <a:avLst>
              <a:gd name="adj" fmla="val 2941"/>
            </a:avLst>
          </a:prstGeom>
          <a:solidFill>
            <a:srgbClr val="F8FA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3291840"/>
            <a:ext cx="64008" cy="15544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5" name="Text 23"/>
          <p:cNvSpPr/>
          <p:nvPr/>
        </p:nvSpPr>
        <p:spPr>
          <a:xfrm>
            <a:off x="6419088" y="338328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PRACTITIONERS 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aiechoes · honest take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19088" y="3694176"/>
            <a:ext cx="514807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767328"/>
            <a:ext cx="5111496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memory, gateway, and auth remove a lot of plumbing, </a:t>
            </a:r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you still own IAM, the port contract, and the deploy shape.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platform is a floor, not a substitute for understanding.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5074920"/>
            <a:ext cx="11183112" cy="475488"/>
          </a:xfrm>
          <a:prstGeom prst="roundRect">
            <a:avLst>
              <a:gd name="adj" fmla="val 7692"/>
            </a:avLst>
          </a:prstGeom>
          <a:solidFill>
            <a:srgbClr val="FBF6EF"/>
          </a:solidFill>
          <a:ln w="9525">
            <a:solidFill>
              <a:srgbClr val="EAD9C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" y="5111496"/>
            <a:ext cx="10908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</a:t>
            </a:r>
            <a:pPr indent="0" marL="0">
              <a:lnSpc>
                <a:spcPts val="125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mechanics are small; the discipline (right model id, least-privilege role, pinned image, health route) is what separates a demo deploy from a production one.</a:t>
            </a:r>
            <a:endParaRPr lang="en-US" sz="10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THIS  ·  PRODUCTION NOTES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Deployment: what changes when it is real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566928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End-to-End Day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27632"/>
            <a:ext cx="3931920" cy="34747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" y="1627632"/>
            <a:ext cx="3803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34840" y="1627632"/>
            <a:ext cx="7251192" cy="34747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4507992" y="1627632"/>
            <a:ext cx="7123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 in production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1975104"/>
            <a:ext cx="3931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1975104"/>
            <a:ext cx="380390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keys in the image or code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34840" y="1975104"/>
            <a:ext cx="725119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07992" y="1975104"/>
            <a:ext cx="712317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execution role. No long-lived keys baked into a container, ever.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2633472"/>
            <a:ext cx="3931920" cy="658368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633472"/>
            <a:ext cx="380390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region and secrets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434840" y="2633472"/>
            <a:ext cx="7251192" cy="658368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07992" y="2633472"/>
            <a:ext cx="712317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via environment / Secrets Manager. The image should be environment-agnostic.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3291840"/>
            <a:ext cx="3931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3291840"/>
            <a:ext cx="380390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Over-broad execution role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434840" y="3291840"/>
            <a:ext cx="725119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07992" y="3291840"/>
            <a:ext cx="712317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privilege: invoke only the models you use, write only the log groups you need.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3950208"/>
            <a:ext cx="3931920" cy="658368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" y="3950208"/>
            <a:ext cx="380390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retries or timeouts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434840" y="3950208"/>
            <a:ext cx="7251192" cy="658368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07992" y="3950208"/>
            <a:ext cx="712317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adaptive retries and a request timeout. Throttles are normal at scale.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4608576"/>
            <a:ext cx="3931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4608576"/>
            <a:ext cx="380390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bolted on later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434840" y="4608576"/>
            <a:ext cx="725119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07992" y="4608576"/>
            <a:ext cx="712317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it on at deploy. You cannot debug a non-deterministic agent from logs you did not capture.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2920" y="5349240"/>
            <a:ext cx="11183112" cy="475488"/>
          </a:xfrm>
          <a:prstGeom prst="roundRect">
            <a:avLst>
              <a:gd name="adj" fmla="val 7692"/>
            </a:avLst>
          </a:prstGeom>
          <a:solidFill>
            <a:srgbClr val="FBF6EF"/>
          </a:solidFill>
          <a:ln w="9525">
            <a:solidFill>
              <a:srgbClr val="EAD9C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" y="5385816"/>
            <a:ext cx="10908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to remember  </a:t>
            </a:r>
            <a:pPr indent="0" marL="0">
              <a:lnSpc>
                <a:spcPts val="125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laptop version optimizes for “it runs”; the production version optimizes for “it is safe, cheap, and observable when it misbehaves.”</a:t>
            </a:r>
            <a:endParaRPr lang="en-US" sz="10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148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8B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2  ·  35 MINUTES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" y="251460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Engineering: Versioning, Rollout, Rollback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8862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deployed agent is not done. Now make every change safe to ship and instant to undo. We light stages 5 and 6.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End-to-End Day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83112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one-line prompt edit can take down a flow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566928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End-to-End Day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91640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627632"/>
            <a:ext cx="10945368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is live. Someone tightens the system prompt to “answer more concisely.” It now skips offering rebooking options. Nobody notices until customers do.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2514600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740664" y="2450592"/>
            <a:ext cx="109453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two things you do not have yet: a way to ship that change safely, and a way to undo it in seconds.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3063240"/>
            <a:ext cx="5532120" cy="160020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3063240"/>
            <a:ext cx="64008" cy="16002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315468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PRACTITIONERS 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Deepchecks · incident data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4088" y="3465576"/>
            <a:ext cx="514807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" y="3538728"/>
            <a:ext cx="5111496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updates drive most production incidents. 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wording change has no compiler to catch it and no stack trace when it regresses. That is exactly why it needs a release process.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3063240"/>
            <a:ext cx="5532120" cy="160020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063240"/>
            <a:ext cx="64008" cy="16002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9" name="Text 17"/>
          <p:cNvSpPr/>
          <p:nvPr/>
        </p:nvSpPr>
        <p:spPr>
          <a:xfrm>
            <a:off x="6419088" y="315468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PRACTITIONERS 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buildmvpfast · the 2 a.m. test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19088" y="3465576"/>
            <a:ext cx="514807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37376" y="3538728"/>
            <a:ext cx="5111496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appreciate every gate </a:t>
            </a:r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you have been paged at 2 a.m. because a prompt change silently broke your checkout flow.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Process feels heavy until the incident it prevents.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4800600"/>
            <a:ext cx="11183112" cy="475488"/>
          </a:xfrm>
          <a:prstGeom prst="roundRect">
            <a:avLst>
              <a:gd name="adj" fmla="val 7692"/>
            </a:avLst>
          </a:prstGeom>
          <a:solidFill>
            <a:srgbClr val="FBF6EF"/>
          </a:solidFill>
          <a:ln w="9525">
            <a:solidFill>
              <a:srgbClr val="EAD9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4837176"/>
            <a:ext cx="10908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  </a:t>
            </a:r>
            <a:pPr indent="0" marL="0">
              <a:lnSpc>
                <a:spcPts val="125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agent as deployable software, but software whose output is non-deterministic. The pipeline mirrors CI/CD, with adaptations.</a:t>
            </a:r>
            <a:endParaRPr lang="en-US" sz="10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THE ANSWER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agent release pipeline mirrors CI/CD, adapted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566928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End-to-End Day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27632"/>
            <a:ext cx="2377440" cy="32918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" y="1627632"/>
            <a:ext cx="22494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880360" y="1627632"/>
            <a:ext cx="8805672" cy="32918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2953512" y="1627632"/>
            <a:ext cx="8677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different for a non-deterministic system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1956816"/>
            <a:ext cx="23774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1956816"/>
            <a:ext cx="22494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880360" y="1956816"/>
            <a:ext cx="880567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53512" y="1956816"/>
            <a:ext cx="86776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change in isolation with frozen dependencies. Same image, same versions.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2560320"/>
            <a:ext cx="2377440" cy="603504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560320"/>
            <a:ext cx="22494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offline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880360" y="2560320"/>
            <a:ext cx="8805672" cy="603504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53512" y="2560320"/>
            <a:ext cx="86776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golden-set eval against the previous version before anything ships. No regression, no go.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3163824"/>
            <a:ext cx="23774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3163824"/>
            <a:ext cx="22494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880360" y="3163824"/>
            <a:ext cx="880567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53512" y="3163824"/>
            <a:ext cx="86776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a small slice of traffic. Watch quality, latency, error rate, tool-call patterns.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3767328"/>
            <a:ext cx="2377440" cy="603504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" y="3767328"/>
            <a:ext cx="22494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880360" y="3767328"/>
            <a:ext cx="8805672" cy="603504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53512" y="3767328"/>
            <a:ext cx="86776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24 to 48 hours. Automated gates decide promote or roll back.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4370832"/>
            <a:ext cx="23774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4370832"/>
            <a:ext cx="22494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/ rollback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880360" y="4370832"/>
            <a:ext cx="880567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53512" y="4370832"/>
            <a:ext cx="86776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Pass: widen traffic, tag the release, update the rollback target. Fail: redirect to last-known-good.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2920" y="5029200"/>
            <a:ext cx="11183112" cy="100584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5029200"/>
            <a:ext cx="64008" cy="10058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4" name="Text 32"/>
          <p:cNvSpPr/>
          <p:nvPr/>
        </p:nvSpPr>
        <p:spPr>
          <a:xfrm>
            <a:off x="704088" y="512064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PRACTITIONERS 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 Raman, Medium · “Intelligence as deployable software”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04088" y="5431536"/>
            <a:ext cx="10799064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2376" y="5504688"/>
            <a:ext cx="1076248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AI operations need an agent release pipeline that mirrors CI/CD but is adapted for non-deterministic systems: </a:t>
            </a:r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in isolation, evaluate against the prior version, promote only after canary success, and archive the previous version as the rollback target.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 ·  STEP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the prompt, config, and model together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566928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End-to-End Day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54480"/>
            <a:ext cx="5989320" cy="3200400"/>
          </a:xfrm>
          <a:prstGeom prst="roundRect">
            <a:avLst>
              <a:gd name="adj" fmla="val 1429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645920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A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version_manifest.json  ·  one release = these three pinned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67512" y="1938528"/>
            <a:ext cx="5660136" cy="0"/>
          </a:xfrm>
          <a:prstGeom prst="line">
            <a:avLst/>
          </a:prstGeom>
          <a:noFill/>
          <a:ln w="9525">
            <a:solidFill>
              <a:srgbClr val="2230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993392"/>
            <a:ext cx="5660136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"release": "travelmind-2026.06.12-rc1",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"prompt_version": "v6",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"prompt_sha": "a91f...",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"model_id": "us.anthropic.claude-haiku-4-5"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"-20251001-v1:0",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"agent_config": {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"temperature": 0.2,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"max_tokens": 1024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"gate": "passed",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"rollback_target": "travelmind-2026.06.11"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
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6720840" y="1554480"/>
            <a:ext cx="496519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20840" y="1554480"/>
            <a:ext cx="64008" cy="18745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6922008" y="1664208"/>
            <a:ext cx="4636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all three, together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940296" y="2130552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7178040" y="2066544"/>
            <a:ext cx="4343400" cy="410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is a function of prompt + config + model. Pin one and miss the others and you cannot reproduce a result.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940296" y="2586736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2522728"/>
            <a:ext cx="4343400" cy="22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 makes a prompt change visible in a diff, like code.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720840" y="3611880"/>
            <a:ext cx="496519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20840" y="3611880"/>
            <a:ext cx="64008" cy="12344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1" name="Text 19"/>
          <p:cNvSpPr/>
          <p:nvPr/>
        </p:nvSpPr>
        <p:spPr>
          <a:xfrm>
            <a:off x="6922008" y="3721608"/>
            <a:ext cx="4636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rollback_target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940296" y="4187952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7178040" y="4123944"/>
            <a:ext cx="4343400" cy="410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release names the last-known-good it would fall back to. Rollback is then a pointer change, not a scramble.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720840" y="4983480"/>
            <a:ext cx="4965192" cy="475488"/>
          </a:xfrm>
          <a:prstGeom prst="roundRect">
            <a:avLst>
              <a:gd name="adj" fmla="val 7692"/>
            </a:avLst>
          </a:prstGeom>
          <a:solidFill>
            <a:srgbClr val="FBF6EF"/>
          </a:solidFill>
          <a:ln w="9525">
            <a:solidFill>
              <a:srgbClr val="EAD9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67144" y="5020056"/>
            <a:ext cx="4690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move  </a:t>
            </a:r>
            <a:pPr indent="0" marL="0">
              <a:lnSpc>
                <a:spcPts val="125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prompt logic from app code so a prompt bump is a data change with its own version, not a code redeploy.</a:t>
            </a:r>
            <a:endParaRPr lang="en-US" sz="108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 ·  STEP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Promote through environments, never straight to prod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566928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End-to-End Day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20240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920240"/>
            <a:ext cx="64008" cy="20116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2029968"/>
            <a:ext cx="31912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22376" y="2496312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432304"/>
            <a:ext cx="2898648" cy="410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machine. Fast loop, mocked or real model, no users.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041648" y="26517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498848" y="1920240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98848" y="1920240"/>
            <a:ext cx="64008" cy="20116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4700016" y="2029968"/>
            <a:ext cx="31912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STAGING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718304" y="2496312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4956048" y="2432304"/>
            <a:ext cx="2898648" cy="410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like prod, internal traffic only. The gate runs here first.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037576" y="26517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8494776" y="1920240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94776" y="1920240"/>
            <a:ext cx="64008" cy="20116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2" name="Text 20"/>
          <p:cNvSpPr/>
          <p:nvPr/>
        </p:nvSpPr>
        <p:spPr>
          <a:xfrm>
            <a:off x="8695944" y="2029968"/>
            <a:ext cx="31912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714232" y="2496312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4" name="Text 22"/>
          <p:cNvSpPr/>
          <p:nvPr/>
        </p:nvSpPr>
        <p:spPr>
          <a:xfrm>
            <a:off x="8951976" y="2432304"/>
            <a:ext cx="2898648" cy="410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users, behind canary + rollback. Changes arrive gated, never raw.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4343400"/>
            <a:ext cx="11183112" cy="475488"/>
          </a:xfrm>
          <a:prstGeom prst="roundRect">
            <a:avLst>
              <a:gd name="adj" fmla="val 7692"/>
            </a:avLst>
          </a:prstGeom>
          <a:solidFill>
            <a:srgbClr val="FBF6EF"/>
          </a:solidFill>
          <a:ln w="9525">
            <a:solidFill>
              <a:srgbClr val="EAD9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" y="4379976"/>
            <a:ext cx="10908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 </a:t>
            </a:r>
            <a:pPr indent="0" marL="0">
              <a:lnSpc>
                <a:spcPts val="125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versioned artifact moves rightward unchanged. You promote a build, you do not rebuild it per environment. What you tested is what ships.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502920" y="502920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arrow is a gate. A build only moves right if the checks at its current stage pass. That is what makes the progression safe rather than ceremonial.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 ·  STEP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Rollout: shadow → canary → progressive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566928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End-to-End Day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27632"/>
            <a:ext cx="1737360" cy="32918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" y="1627632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240280" y="1627632"/>
            <a:ext cx="5577840" cy="32918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2313432" y="1627632"/>
            <a:ext cx="5449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818120" y="1627632"/>
            <a:ext cx="3867912" cy="32918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7891272" y="1627632"/>
            <a:ext cx="3739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1956816"/>
            <a:ext cx="17373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1956816"/>
            <a:ext cx="16093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240280" y="1956816"/>
            <a:ext cx="55778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13432" y="1956816"/>
            <a:ext cx="54498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version runs on copies of live traffic, its output discarded.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818120" y="1956816"/>
            <a:ext cx="386791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91272" y="1956816"/>
            <a:ext cx="37398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current with zero user risk.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2487168"/>
            <a:ext cx="1737360" cy="530352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2487168"/>
            <a:ext cx="16093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240280" y="2487168"/>
            <a:ext cx="5577840" cy="530352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13432" y="2487168"/>
            <a:ext cx="54498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5-10% of real traffic to the new version.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818120" y="2487168"/>
            <a:ext cx="3867912" cy="530352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91272" y="2487168"/>
            <a:ext cx="37398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signal, small blast radius.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2920" y="3017520"/>
            <a:ext cx="17373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" y="3017520"/>
            <a:ext cx="16093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240280" y="3017520"/>
            <a:ext cx="55778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017520"/>
            <a:ext cx="54498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 5% → 25% → 100% as gates keep passing.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818120" y="3017520"/>
            <a:ext cx="386791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91272" y="3017520"/>
            <a:ext cx="37398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each traffic increase.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2920" y="3520440"/>
            <a:ext cx="11183112" cy="1234440"/>
          </a:xfrm>
          <a:prstGeom prst="roundRect">
            <a:avLst>
              <a:gd name="adj" fmla="val 3704"/>
            </a:avLst>
          </a:prstGeom>
          <a:solidFill>
            <a:srgbClr val="F8FA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3520440"/>
            <a:ext cx="64008" cy="12344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4" name="Text 32"/>
          <p:cNvSpPr/>
          <p:nvPr/>
        </p:nvSpPr>
        <p:spPr>
          <a:xfrm>
            <a:off x="704088" y="361188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PRACTITIONERS 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buildmvpfast · a concrete staged rollout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04088" y="3922776"/>
            <a:ext cx="10799064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2376" y="3995928"/>
            <a:ext cx="10762488" cy="649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5% for 6 hours, automated gates check error rate, latency, tool-call patterns and quality. Pass, expand to 25% for 24 hours. Then 100%, and </a:t>
            </a:r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48 hours before marking the release stable and updating the rollback target.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second model grades canary responses against a rubric, so no human is needed at 3 a.m.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02920" y="5074920"/>
            <a:ext cx="11183112" cy="475488"/>
          </a:xfrm>
          <a:prstGeom prst="roundRect">
            <a:avLst>
              <a:gd name="adj" fmla="val 7692"/>
            </a:avLst>
          </a:prstGeom>
          <a:solidFill>
            <a:srgbClr val="FBF6EF"/>
          </a:solidFill>
          <a:ln w="9525">
            <a:solidFill>
              <a:srgbClr val="EAD9C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" y="5111496"/>
            <a:ext cx="10908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  </a:t>
            </a:r>
            <a:pPr indent="0" marL="0">
              <a:lnSpc>
                <a:spcPts val="125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 deployment from activation: deploy the new prompt dark, then turn it on for a slice. Shipping the code and exposing it become two separate, reversible decisions.</a:t>
            </a:r>
            <a:endParaRPr lang="en-US" sz="108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 ·  STEP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Rollback: redirect, do not redeploy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566928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End-to-End Day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91640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627632"/>
            <a:ext cx="109453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rollback depends on one rule: deployed versions are never destroyed. The previous build stays live and addressable.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2313432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740664" y="2249424"/>
            <a:ext cx="109453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back means redirecting traffic to the last-known-good version. No debugging, no rebuild, no waiting on a deploy.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40664" y="2724912"/>
            <a:ext cx="10945368" cy="2008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Braintrust · used in production by Notion, Stripe, Zapier, Vercel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200400"/>
            <a:ext cx="5532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200400"/>
            <a:ext cx="64008" cy="155448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3310128"/>
            <a:ext cx="5202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rollback is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22376" y="3776472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3712464"/>
            <a:ext cx="4910328" cy="410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pointer change: route 100% back to the prior release named in rollback_target.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22376" y="4232656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168648"/>
            <a:ext cx="4910328" cy="22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Seconds, not a hotfix cycle. Downtime and user impact stay minimal.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3200400"/>
            <a:ext cx="5532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3200400"/>
            <a:ext cx="64008" cy="15544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2" name="Text 20"/>
          <p:cNvSpPr/>
          <p:nvPr/>
        </p:nvSpPr>
        <p:spPr>
          <a:xfrm>
            <a:off x="6419088" y="3310128"/>
            <a:ext cx="5202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dividend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437376" y="3776472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3712464"/>
            <a:ext cx="4910328" cy="410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failing version and the exact production inputs that exposed it become new test cases.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37376" y="4232656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4168648"/>
            <a:ext cx="4910328" cy="22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incident permanently hardens the golden set against a repeat.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2920" y="4983480"/>
            <a:ext cx="11183112" cy="475488"/>
          </a:xfrm>
          <a:prstGeom prst="roundRect">
            <a:avLst>
              <a:gd name="adj" fmla="val 7692"/>
            </a:avLst>
          </a:prstGeom>
          <a:solidFill>
            <a:srgbClr val="FBF6EF"/>
          </a:solidFill>
          <a:ln w="9525">
            <a:solidFill>
              <a:srgbClr val="EAD9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" y="5020056"/>
            <a:ext cx="10908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with code  </a:t>
            </a:r>
            <a:pPr indent="0" marL="0">
              <a:lnSpc>
                <a:spcPts val="125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code rollback redeploys; a prompt/version rollback just re-points traffic. That speed is the whole reason to treat prompts and config as versioned artifacts.</a:t>
            </a:r>
            <a:endParaRPr lang="en-US" sz="108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YESTERDAY MEETS 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Session 1 quality gate is the promotion check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566928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End-to-End Day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91640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1627632"/>
            <a:ext cx="10945368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 the gate yesterday: it reads the test, eval, and cost reports, checks thresholds, and exits non-zero to block a bad build.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2496312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740664" y="2432304"/>
            <a:ext cx="109453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release pipeline, that exact gate becomes the thing standing between staging and prod, and between each canary step.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3063240"/>
            <a:ext cx="1920240" cy="31089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" y="3063240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2423160" y="3063240"/>
            <a:ext cx="1417320" cy="31089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2496312" y="3063240"/>
            <a:ext cx="1289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3840480" y="3063240"/>
            <a:ext cx="2514600" cy="31089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3913632" y="3063240"/>
            <a:ext cx="2386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02920" y="3374136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3374136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pass rate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2423160" y="3374136"/>
            <a:ext cx="1417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96312" y="3374136"/>
            <a:ext cx="1289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3840480" y="3374136"/>
            <a:ext cx="2514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13632" y="3374136"/>
            <a:ext cx="2386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set scored by substring + judge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02920" y="3831336"/>
            <a:ext cx="1920240" cy="457200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" y="3831336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resolution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2423160" y="3831336"/>
            <a:ext cx="1417320" cy="457200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96312" y="3831336"/>
            <a:ext cx="1289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$0.02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3840480" y="3831336"/>
            <a:ext cx="2514600" cy="457200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13632" y="3831336"/>
            <a:ext cx="2386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× price, from the run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502920" y="4288536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" y="4288536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latency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2423160" y="4288536"/>
            <a:ext cx="1417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96312" y="4288536"/>
            <a:ext cx="1289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4000 ms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3840480" y="4288536"/>
            <a:ext cx="2514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13632" y="4288536"/>
            <a:ext cx="2386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traces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502920" y="4745736"/>
            <a:ext cx="1920240" cy="457200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" y="4745736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/ PII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2423160" y="4745736"/>
            <a:ext cx="1417320" cy="457200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96312" y="4745736"/>
            <a:ext cx="1289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80" dirty="0"/>
          </a:p>
        </p:txBody>
      </p:sp>
      <p:sp>
        <p:nvSpPr>
          <p:cNvPr id="40" name="Shape 38"/>
          <p:cNvSpPr/>
          <p:nvPr/>
        </p:nvSpPr>
        <p:spPr>
          <a:xfrm>
            <a:off x="3840480" y="4745736"/>
            <a:ext cx="2514600" cy="457200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13632" y="4745736"/>
            <a:ext cx="2386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leak, no invented PNR/flight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6583680" y="3063240"/>
            <a:ext cx="5102352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83680" y="3063240"/>
            <a:ext cx="64008" cy="2286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4" name="Text 42"/>
          <p:cNvSpPr/>
          <p:nvPr/>
        </p:nvSpPr>
        <p:spPr>
          <a:xfrm>
            <a:off x="6784848" y="3172968"/>
            <a:ext cx="4773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runs in the pipeline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6803136" y="3639312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6" name="Text 44"/>
          <p:cNvSpPr/>
          <p:nvPr/>
        </p:nvSpPr>
        <p:spPr>
          <a:xfrm>
            <a:off x="7040880" y="3575304"/>
            <a:ext cx="4480560" cy="410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promotion: gate passes → widen traffic and tag the release.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803136" y="4095496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8" name="Text 46"/>
          <p:cNvSpPr/>
          <p:nvPr/>
        </p:nvSpPr>
        <p:spPr>
          <a:xfrm>
            <a:off x="7040880" y="4031488"/>
            <a:ext cx="4480560" cy="22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fails → stop the rollout, redirect to rollback_target.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803136" y="4364736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0" name="Text 48"/>
          <p:cNvSpPr/>
          <p:nvPr/>
        </p:nvSpPr>
        <p:spPr>
          <a:xfrm>
            <a:off x="7040880" y="4300728"/>
            <a:ext cx="4480560" cy="410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Automated: a second model grades the canary, so promotion needs no human at off-hours.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803136" y="4820920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2" name="Text 50"/>
          <p:cNvSpPr/>
          <p:nvPr/>
        </p:nvSpPr>
        <p:spPr>
          <a:xfrm>
            <a:off x="7040880" y="4756912"/>
            <a:ext cx="4480560" cy="410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script, two jobs: yesterday it signed off a build; today it guards the rollout.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502920" y="5532120"/>
            <a:ext cx="11183112" cy="475488"/>
          </a:xfrm>
          <a:prstGeom prst="roundRect">
            <a:avLst>
              <a:gd name="adj" fmla="val 7692"/>
            </a:avLst>
          </a:prstGeom>
          <a:solidFill>
            <a:srgbClr val="FBF6EF"/>
          </a:solidFill>
          <a:ln w="9525">
            <a:solidFill>
              <a:srgbClr val="EAD9C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9224" y="5568696"/>
            <a:ext cx="10908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Braintrust pattern  </a:t>
            </a:r>
            <a:pPr indent="0" marL="0">
              <a:lnSpc>
                <a:spcPts val="125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are blocked when quality falls below threshold. The gate prevents silent regression from ever reaching users.</a:t>
            </a:r>
            <a:endParaRPr lang="en-US" sz="108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 ·  THE WHOLE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Bump a prompt, gate it, watch it block, fix, roll back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566928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End-to-End Day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36192"/>
            <a:ext cx="6263640" cy="3749040"/>
          </a:xfrm>
          <a:prstGeom prst="roundRect">
            <a:avLst>
              <a:gd name="adj" fmla="val 122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627632"/>
            <a:ext cx="5897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A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 ·  one change through the pipeline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67512" y="1920240"/>
            <a:ext cx="5934456" cy="0"/>
          </a:xfrm>
          <a:prstGeom prst="line">
            <a:avLst/>
          </a:prstGeom>
          <a:noFill/>
          <a:ln w="9525">
            <a:solidFill>
              <a:srgbClr val="2230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975104"/>
            <a:ext cx="5934456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bump prompt v6 -&gt; v7 ("answer concisely")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release.py --set-prompt v7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run the Session-1 gate as promotion check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quality_gate.py --release rc1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eval pass rate ...... 88%   FAIL (&lt; 90%)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GATE FAILED  -&gt;  promotion blocked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v7 dropped rebooking options. restore the line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release.py --set-prompt v7.1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quality_gate.py --release rc2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eval pass rate ...... 94%   PASS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GATE PASSED  -&gt;  canary 10%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canary regresses? one command back to safe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 python release.py --rollback   # -&gt; v6, instant
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6995160" y="1536192"/>
            <a:ext cx="4690872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95160" y="1536192"/>
            <a:ext cx="64008" cy="19202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7196328" y="1645920"/>
            <a:ext cx="4361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proves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214616" y="2112264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7452360" y="2048256"/>
            <a:ext cx="4069080" cy="410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caught an 88% regression before any user saw it.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214616" y="2568448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7452360" y="2504440"/>
            <a:ext cx="4069080" cy="22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was a prompt edit, re-gated, not a redeploy.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214616" y="2837688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7452360" y="2773680"/>
            <a:ext cx="4069080" cy="22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was one command to the named target.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995160" y="3611880"/>
            <a:ext cx="469087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95160" y="3611880"/>
            <a:ext cx="64008" cy="12344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3" name="Text 21"/>
          <p:cNvSpPr/>
          <p:nvPr/>
        </p:nvSpPr>
        <p:spPr>
          <a:xfrm>
            <a:off x="7196328" y="3721608"/>
            <a:ext cx="4361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bug, concretely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214616" y="4187952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5" name="Text 23"/>
          <p:cNvSpPr/>
          <p:nvPr/>
        </p:nvSpPr>
        <p:spPr>
          <a:xfrm>
            <a:off x="7452360" y="4123944"/>
            <a:ext cx="4069080" cy="597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“Concise” made the agent stop offering AI-318 / 6E-552. The golden set’s any_of rule on those flights failed. Caught, not shipped.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995160" y="4983480"/>
            <a:ext cx="4690872" cy="475488"/>
          </a:xfrm>
          <a:prstGeom prst="roundRect">
            <a:avLst>
              <a:gd name="adj" fmla="val 7692"/>
            </a:avLst>
          </a:prstGeom>
          <a:solidFill>
            <a:srgbClr val="FBF6EF"/>
          </a:solidFill>
          <a:ln w="9525">
            <a:solidFill>
              <a:srgbClr val="EAD9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41464" y="5020056"/>
            <a:ext cx="4416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artifacts  </a:t>
            </a:r>
            <a:pPr indent="0" marL="0">
              <a:lnSpc>
                <a:spcPts val="125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test_report.json, eval_report.json, cost_latency.json from yesterday feed straight in.</a:t>
            </a:r>
            <a:endParaRPr lang="en-US" sz="108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PIPELINE  ·  CHECKPOINT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Rings 5 and 6: TravelMind ships safely now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566928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End-to-End Day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7335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1-6 COMPLETE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1965960"/>
            <a:ext cx="1472184" cy="566928"/>
          </a:xfrm>
          <a:prstGeom prst="roundRect">
            <a:avLst>
              <a:gd name="adj" fmla="val 806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96596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1979676" y="1965960"/>
            <a:ext cx="146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121408" y="1965960"/>
            <a:ext cx="1472184" cy="566928"/>
          </a:xfrm>
          <a:prstGeom prst="roundRect">
            <a:avLst>
              <a:gd name="adj" fmla="val 806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48840" y="196596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(AgentCore)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3598164" y="1965960"/>
            <a:ext cx="146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739896" y="1965960"/>
            <a:ext cx="1472184" cy="566928"/>
          </a:xfrm>
          <a:prstGeom prst="roundRect">
            <a:avLst>
              <a:gd name="adj" fmla="val 806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196596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5216652" y="1965960"/>
            <a:ext cx="146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358384" y="1965960"/>
            <a:ext cx="1472184" cy="566928"/>
          </a:xfrm>
          <a:prstGeom prst="roundRect">
            <a:avLst>
              <a:gd name="adj" fmla="val 806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85816" y="196596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(launch)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6835140" y="1965960"/>
            <a:ext cx="146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976872" y="1965960"/>
            <a:ext cx="1472184" cy="566928"/>
          </a:xfrm>
          <a:prstGeom prst="roundRect">
            <a:avLst>
              <a:gd name="adj" fmla="val 806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04304" y="196596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Gate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8453628" y="1965960"/>
            <a:ext cx="146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595360" y="1965960"/>
            <a:ext cx="1472184" cy="566928"/>
          </a:xfrm>
          <a:prstGeom prst="roundRect">
            <a:avLst>
              <a:gd name="adj" fmla="val 806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22792" y="196596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/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10072116" y="1965960"/>
            <a:ext cx="146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213848" y="1965960"/>
            <a:ext cx="1472184" cy="566928"/>
          </a:xfrm>
          <a:prstGeom prst="roundRect">
            <a:avLst>
              <a:gd name="adj" fmla="val 8065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41280" y="196596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(gateway)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502920" y="274320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deployed agent can now take a change through gate, canary, and progressive rollout, and fall back to a known-good version in seconds. Same one pipeline, two more rings.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02920" y="3383280"/>
            <a:ext cx="2194560" cy="29260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1" name="Text 29"/>
          <p:cNvSpPr/>
          <p:nvPr/>
        </p:nvSpPr>
        <p:spPr>
          <a:xfrm>
            <a:off x="576072" y="3383280"/>
            <a:ext cx="2066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697480" y="3383280"/>
            <a:ext cx="1188720" cy="29260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3" name="Text 31"/>
          <p:cNvSpPr/>
          <p:nvPr/>
        </p:nvSpPr>
        <p:spPr>
          <a:xfrm>
            <a:off x="2770632" y="3383280"/>
            <a:ext cx="1060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886200" y="3383280"/>
            <a:ext cx="7799832" cy="29260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5" name="Text 33"/>
          <p:cNvSpPr/>
          <p:nvPr/>
        </p:nvSpPr>
        <p:spPr>
          <a:xfrm>
            <a:off x="3959352" y="3383280"/>
            <a:ext cx="7671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gave us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3675888"/>
            <a:ext cx="21945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" y="3675888"/>
            <a:ext cx="206654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697480" y="3675888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70632" y="3675888"/>
            <a:ext cx="106070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886200" y="3675888"/>
            <a:ext cx="779983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59352" y="3675888"/>
            <a:ext cx="767181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endpoint from segment 1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02920" y="4069080"/>
            <a:ext cx="2194560" cy="393192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72" y="4069080"/>
            <a:ext cx="206654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697480" y="4069080"/>
            <a:ext cx="1188720" cy="393192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70632" y="4069080"/>
            <a:ext cx="106070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886200" y="4069080"/>
            <a:ext cx="7799832" cy="393192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59352" y="4069080"/>
            <a:ext cx="767181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+ config + model pinned in a manifest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02920" y="4462272"/>
            <a:ext cx="21945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6072" y="4462272"/>
            <a:ext cx="206654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697480" y="4462272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70632" y="4462272"/>
            <a:ext cx="106070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886200" y="4462272"/>
            <a:ext cx="779983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959352" y="4462272"/>
            <a:ext cx="767181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Session-1 gate is the promotion check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02920" y="4855464"/>
            <a:ext cx="2194560" cy="393192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6072" y="4855464"/>
            <a:ext cx="206654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697480" y="4855464"/>
            <a:ext cx="1188720" cy="393192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70632" y="4855464"/>
            <a:ext cx="106070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886200" y="4855464"/>
            <a:ext cx="7799832" cy="393192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959352" y="4855464"/>
            <a:ext cx="767181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→ canary → progressive, feature-flagged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02920" y="5248656"/>
            <a:ext cx="21945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76072" y="5248656"/>
            <a:ext cx="206654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697480" y="5248656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70632" y="5248656"/>
            <a:ext cx="106070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886200" y="5248656"/>
            <a:ext cx="7799832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959352" y="5248656"/>
            <a:ext cx="767181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to rollback_target, instant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02920" y="5641848"/>
            <a:ext cx="2194560" cy="393192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76072" y="5641848"/>
            <a:ext cx="206654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697480" y="5641848"/>
            <a:ext cx="1188720" cy="393192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70632" y="5641848"/>
            <a:ext cx="106070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3886200" y="5641848"/>
            <a:ext cx="7799832" cy="393192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959352" y="5641848"/>
            <a:ext cx="767181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3: provider independence (optional)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FIELD SAYS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engineering, distilled from practice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566928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End-to-End Day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00200"/>
            <a:ext cx="5532120" cy="1572768"/>
          </a:xfrm>
          <a:prstGeom prst="roundRect">
            <a:avLst>
              <a:gd name="adj" fmla="val 2907"/>
            </a:avLst>
          </a:prstGeom>
          <a:solidFill>
            <a:srgbClr val="F8FA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600200"/>
            <a:ext cx="64008" cy="157276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169164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PRACTITIONERS 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· “When Better Prompts Hurt”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04088" y="2002536"/>
            <a:ext cx="514807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2075688"/>
            <a:ext cx="5111496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one loop: </a:t>
            </a:r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test, canary, monitor, rollback.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 offline eval against the previous version, ship behind a canary at 5-10%, monitor 24-48h, roll back if pass rates drop. It catches what offline eval misses and limits blast radius.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600200"/>
            <a:ext cx="5532120" cy="1572768"/>
          </a:xfrm>
          <a:prstGeom prst="roundRect">
            <a:avLst>
              <a:gd name="adj" fmla="val 2907"/>
            </a:avLst>
          </a:prstGeom>
          <a:solidFill>
            <a:srgbClr val="F8FA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600200"/>
            <a:ext cx="64008" cy="157276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6419088" y="169164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PRACTITIONERS 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Braintrust · prompt management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19088" y="2002536"/>
            <a:ext cx="514807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37376" y="2075688"/>
            <a:ext cx="5111496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evaluation on every pull request and </a:t>
            </a:r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the merge on quality thresholds.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Deployed versions are never destroyed, so rollback is a traffic redirect. Failing inputs become new test cases.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3310128"/>
            <a:ext cx="5532120" cy="1572768"/>
          </a:xfrm>
          <a:prstGeom prst="roundRect">
            <a:avLst>
              <a:gd name="adj" fmla="val 2907"/>
            </a:avLst>
          </a:prstGeom>
          <a:solidFill>
            <a:srgbClr val="F8FA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310128"/>
            <a:ext cx="64008" cy="157276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3401568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PRACTITIONERS 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Riyaz Sayyad · AWS Lambda canary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04088" y="3712464"/>
            <a:ext cx="514807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" y="3785616"/>
            <a:ext cx="5111496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serverless analogue: alias routing + versioning. </a:t>
            </a:r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serves 100%, v2 takes 10%, and AWS auto-rolls-back to v1 when error or latency thresholds breach.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pattern predates agents; agents just add eval as a gate.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17920" y="3310128"/>
            <a:ext cx="5532120" cy="1572768"/>
          </a:xfrm>
          <a:prstGeom prst="roundRect">
            <a:avLst>
              <a:gd name="adj" fmla="val 2907"/>
            </a:avLst>
          </a:prstGeom>
          <a:solidFill>
            <a:srgbClr val="F8FA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3310128"/>
            <a:ext cx="64008" cy="157276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5" name="Text 23"/>
          <p:cNvSpPr/>
          <p:nvPr/>
        </p:nvSpPr>
        <p:spPr>
          <a:xfrm>
            <a:off x="6419088" y="3401568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PRACTITIONERS 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Deepchecks · controlled change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19088" y="3712464"/>
            <a:ext cx="514807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785616"/>
            <a:ext cx="5111496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prompt updates low-risk with </a:t>
            </a:r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+ metadata, canary/A-B with auto-rollback, and prompt logic isolated from app code.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combination turns a risky edit into a routine, reversible release.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5120640"/>
            <a:ext cx="11183112" cy="475488"/>
          </a:xfrm>
          <a:prstGeom prst="roundRect">
            <a:avLst>
              <a:gd name="adj" fmla="val 7692"/>
            </a:avLst>
          </a:prstGeom>
          <a:solidFill>
            <a:srgbClr val="FBF6EF"/>
          </a:solidFill>
          <a:ln w="9525">
            <a:solidFill>
              <a:srgbClr val="EAD9C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" y="5157216"/>
            <a:ext cx="10908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 </a:t>
            </a:r>
            <a:pPr indent="0" marL="0">
              <a:lnSpc>
                <a:spcPts val="125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independent sources describe the same loop. That agreement is the signal: this is the settled practice, not one team’s preference.</a:t>
            </a:r>
            <a:endParaRPr lang="en-US" sz="108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THIS  ·  PRODUCTION NOTES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engineering: the traps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566928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End-to-End Day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27632"/>
            <a:ext cx="3383280" cy="34747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" y="1627632"/>
            <a:ext cx="3255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3886200" y="1627632"/>
            <a:ext cx="7799832" cy="34747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3959352" y="1627632"/>
            <a:ext cx="7671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bites, and the fix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502920" y="1975104"/>
            <a:ext cx="33832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1975104"/>
            <a:ext cx="32552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87"/>
              </a:lnSpc>
              <a:buNone/>
            </a:pPr>
            <a:r>
              <a:rPr lang="en-US" sz="11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with no eval gate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3886200" y="1975104"/>
            <a:ext cx="779983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59352" y="1975104"/>
            <a:ext cx="76718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87"/>
              </a:lnSpc>
              <a:buNone/>
            </a:pPr>
            <a:r>
              <a:rPr lang="en-US" sz="11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only latency and errors hides quality regressions. A concise-but-wrong agent looks healthy. Gate on eval too.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502920" y="2633472"/>
            <a:ext cx="3383280" cy="658368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633472"/>
            <a:ext cx="32552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87"/>
              </a:lnSpc>
              <a:buNone/>
            </a:pPr>
            <a:r>
              <a:rPr lang="en-US" sz="11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named rollback target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3886200" y="2633472"/>
            <a:ext cx="7799832" cy="658368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59352" y="2633472"/>
            <a:ext cx="76718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87"/>
              </a:lnSpc>
              <a:buNone/>
            </a:pPr>
            <a:r>
              <a:rPr lang="en-US" sz="11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cannot say which version is “good,” you cannot roll back fast. Every release pins its fallback.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02920" y="3291840"/>
            <a:ext cx="33832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3291840"/>
            <a:ext cx="32552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87"/>
              </a:lnSpc>
              <a:buNone/>
            </a:pPr>
            <a:r>
              <a:rPr lang="en-US" sz="11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logic inside app code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3886200" y="3291840"/>
            <a:ext cx="779983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59352" y="3291840"/>
            <a:ext cx="76718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87"/>
              </a:lnSpc>
              <a:buNone/>
            </a:pPr>
            <a:r>
              <a:rPr lang="en-US" sz="11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change becomes a code deploy, slow and risky. Externalize prompts so they version independently.</a:t>
            </a:r>
            <a:endParaRPr lang="en-US" sz="1130" dirty="0"/>
          </a:p>
        </p:txBody>
      </p:sp>
      <p:sp>
        <p:nvSpPr>
          <p:cNvPr id="24" name="Shape 22"/>
          <p:cNvSpPr/>
          <p:nvPr/>
        </p:nvSpPr>
        <p:spPr>
          <a:xfrm>
            <a:off x="502920" y="3950208"/>
            <a:ext cx="3383280" cy="658368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" y="3950208"/>
            <a:ext cx="32552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87"/>
              </a:lnSpc>
              <a:buNone/>
            </a:pPr>
            <a:r>
              <a:rPr lang="en-US" sz="11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= activate</a:t>
            </a:r>
            <a:endParaRPr lang="en-US" sz="1130" dirty="0"/>
          </a:p>
        </p:txBody>
      </p:sp>
      <p:sp>
        <p:nvSpPr>
          <p:cNvPr id="26" name="Shape 24"/>
          <p:cNvSpPr/>
          <p:nvPr/>
        </p:nvSpPr>
        <p:spPr>
          <a:xfrm>
            <a:off x="3886200" y="3950208"/>
            <a:ext cx="7799832" cy="658368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59352" y="3950208"/>
            <a:ext cx="76718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87"/>
              </a:lnSpc>
              <a:buNone/>
            </a:pPr>
            <a:r>
              <a:rPr lang="en-US" sz="11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and exposing in one step removes your safety valve. Use feature flags to separate them.</a:t>
            </a:r>
            <a:endParaRPr lang="en-US" sz="1130" dirty="0"/>
          </a:p>
        </p:txBody>
      </p:sp>
      <p:sp>
        <p:nvSpPr>
          <p:cNvPr id="28" name="Shape 26"/>
          <p:cNvSpPr/>
          <p:nvPr/>
        </p:nvSpPr>
        <p:spPr>
          <a:xfrm>
            <a:off x="502920" y="4608576"/>
            <a:ext cx="33832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4608576"/>
            <a:ext cx="32552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87"/>
              </a:lnSpc>
              <a:buNone/>
            </a:pPr>
            <a:r>
              <a:rPr lang="en-US" sz="11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One-and-done canary check</a:t>
            </a:r>
            <a:endParaRPr lang="en-US" sz="1130" dirty="0"/>
          </a:p>
        </p:txBody>
      </p:sp>
      <p:sp>
        <p:nvSpPr>
          <p:cNvPr id="30" name="Shape 28"/>
          <p:cNvSpPr/>
          <p:nvPr/>
        </p:nvSpPr>
        <p:spPr>
          <a:xfrm>
            <a:off x="3886200" y="4608576"/>
            <a:ext cx="779983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59352" y="4608576"/>
            <a:ext cx="76718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187"/>
              </a:lnSpc>
              <a:buNone/>
            </a:pPr>
            <a:r>
              <a:rPr lang="en-US" sz="11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drifts over hours. Hold the canary 24-48h with automated gates, not a 5-minute glance.</a:t>
            </a:r>
            <a:endParaRPr lang="en-US" sz="1130" dirty="0"/>
          </a:p>
        </p:txBody>
      </p:sp>
      <p:sp>
        <p:nvSpPr>
          <p:cNvPr id="32" name="Shape 30"/>
          <p:cNvSpPr/>
          <p:nvPr/>
        </p:nvSpPr>
        <p:spPr>
          <a:xfrm>
            <a:off x="502920" y="5349240"/>
            <a:ext cx="11183112" cy="475488"/>
          </a:xfrm>
          <a:prstGeom prst="roundRect">
            <a:avLst>
              <a:gd name="adj" fmla="val 7692"/>
            </a:avLst>
          </a:prstGeom>
          <a:solidFill>
            <a:srgbClr val="FBF6EF"/>
          </a:solidFill>
          <a:ln w="9525">
            <a:solidFill>
              <a:srgbClr val="EAD9C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" y="5385816"/>
            <a:ext cx="10908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to remember  </a:t>
            </a:r>
            <a:pPr indent="0" marL="0">
              <a:lnSpc>
                <a:spcPts val="125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not zero change; it is change you can make at noon and undo by 12:05 without paging anyone.</a:t>
            </a:r>
            <a:endParaRPr lang="en-US" sz="108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148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8B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3  ·  20 MINUTES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" y="251460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Gateway, Routing, Fallback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8862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independence and resilience, with an honest read on when a Bedrock-only shop actually needs it. We light the last stage.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End-to-End Day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83112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gateway, and what it is not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566928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End-to-End Day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27632"/>
            <a:ext cx="553212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627632"/>
            <a:ext cx="64008" cy="19202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1737360"/>
            <a:ext cx="5202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proxy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22376" y="2203704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139696"/>
            <a:ext cx="4910328" cy="410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Forwards your request to one provider. Centralizes credentials, adds basic caching.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22376" y="2659888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595880"/>
            <a:ext cx="4910328" cy="22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no decision about where to route or what to do on failure.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1627632"/>
            <a:ext cx="553212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627632"/>
            <a:ext cx="64008" cy="19202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6419088" y="1737360"/>
            <a:ext cx="5202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gateway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37376" y="2203704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2139696"/>
            <a:ext cx="4910328" cy="22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about several providers and routes between them.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37376" y="2472944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2408936"/>
            <a:ext cx="4910328" cy="410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over on a 429, tracks cost across providers, enforces per-team rate limits, logs every call.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3703320"/>
            <a:ext cx="11183112" cy="105156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703320"/>
            <a:ext cx="64008" cy="105156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704088" y="379476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PRACTITIONERS 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 · LLM gateway guide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04088" y="4105656"/>
            <a:ext cx="10799064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" y="4178808"/>
            <a:ext cx="10762488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two different questions. </a:t>
            </a:r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routing asks “which provider handles this model?” Intelligence routing asks “which model should handle this prompt?”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gateway answers the first. Task-based routing, below, starts answering the second.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2920" y="5166360"/>
            <a:ext cx="11183112" cy="475488"/>
          </a:xfrm>
          <a:prstGeom prst="roundRect">
            <a:avLst>
              <a:gd name="adj" fmla="val 7692"/>
            </a:avLst>
          </a:prstGeom>
          <a:solidFill>
            <a:srgbClr val="FBF6EF"/>
          </a:solidFill>
          <a:ln w="9525">
            <a:solidFill>
              <a:srgbClr val="EAD9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" y="5202936"/>
            <a:ext cx="10908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reasons to want one  </a:t>
            </a:r>
            <a:pPr indent="0" marL="0">
              <a:lnSpc>
                <a:spcPts val="125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independence (no lock-in), task-based routing (cheap model for easy work), and resilience (fail over when a provider degrades).</a:t>
            </a:r>
            <a:endParaRPr lang="en-US" sz="108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 ·  THE GATEWAY WAY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LiteLLM: task routing and a fallback chain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566928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End-to-End Day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54480"/>
            <a:ext cx="6446520" cy="3840480"/>
          </a:xfrm>
          <a:prstGeom prst="roundRect">
            <a:avLst>
              <a:gd name="adj" fmla="val 119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645920"/>
            <a:ext cx="6080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A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gateway_routing.py  ·  minimal LiteLLM Router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67512" y="1938528"/>
            <a:ext cx="6117336" cy="0"/>
          </a:xfrm>
          <a:prstGeom prst="line">
            <a:avLst/>
          </a:prstGeom>
          <a:noFill/>
          <a:ln w="9525">
            <a:solidFill>
              <a:srgbClr val="2230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993392"/>
            <a:ext cx="6117336" cy="3310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litellm import Router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 = Router(model_list=[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{'model_name': 'plan',     # strong, for reasoning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'litellm_params': {'model':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'bedrock/us.anthropic.claude-sonnet-4-5...'}},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{'model_name': 'summarize',# cheap, for easy work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'litellm_params': {'model':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'bedrock/us.anthropic.claude-haiku-4-5...'}},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fallbacks=[{'plan': ['summarize']}])  # chain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route by task, not by hardcoding a model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router.completion(model='plan',     messages=plan_msgs)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router.completion(model='summarize',messages=sum_msgs)
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7178040" y="1554480"/>
            <a:ext cx="4507992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78040" y="1554480"/>
            <a:ext cx="64008" cy="20116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7379208" y="1664208"/>
            <a:ext cx="4178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router gives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397496" y="2130552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7635240" y="2066544"/>
            <a:ext cx="3886200" cy="22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endpoint, names instead of model ids.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97496" y="2399792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7635240" y="2335784"/>
            <a:ext cx="3886200" cy="410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Task-based routing: send planning to the strong model, summarizing to the cheap one.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97496" y="2855976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7635240" y="2791968"/>
            <a:ext cx="3886200" cy="410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retries, timeouts, cooldowns, and ordered fallbacks.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178040" y="3703320"/>
            <a:ext cx="4507992" cy="475488"/>
          </a:xfrm>
          <a:prstGeom prst="roundRect">
            <a:avLst>
              <a:gd name="adj" fmla="val 7692"/>
            </a:avLst>
          </a:prstGeom>
          <a:solidFill>
            <a:srgbClr val="FBF6EF"/>
          </a:solidFill>
          <a:ln w="9525">
            <a:solidFill>
              <a:srgbClr val="EAD9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24344" y="3739896"/>
            <a:ext cx="4233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fallback  </a:t>
            </a:r>
            <a:pPr indent="0" marL="0">
              <a:lnSpc>
                <a:spcPts val="125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plan fails, the router tries summarize before giving up. Order the chain by cost.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502920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1979676" y="565099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121408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48840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(AgentCore)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598164" y="565099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739896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67328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>
            <a:off x="5216652" y="565099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358384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85816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(launch)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6835140" y="565099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976872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04304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Gate</a:t>
            </a:r>
            <a:endParaRPr lang="en-US" sz="930" dirty="0"/>
          </a:p>
        </p:txBody>
      </p:sp>
      <p:sp>
        <p:nvSpPr>
          <p:cNvPr id="37" name="Text 35"/>
          <p:cNvSpPr/>
          <p:nvPr/>
        </p:nvSpPr>
        <p:spPr>
          <a:xfrm>
            <a:off x="8453628" y="565099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595360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22792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/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10072116" y="565099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10213848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241280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(gateway)</a:t>
            </a:r>
            <a:endParaRPr lang="en-US" sz="930" dirty="0"/>
          </a:p>
        </p:txBody>
      </p:sp>
      <p:sp>
        <p:nvSpPr>
          <p:cNvPr id="43" name="Text 41"/>
          <p:cNvSpPr/>
          <p:nvPr/>
        </p:nvSpPr>
        <p:spPr>
          <a:xfrm>
            <a:off x="10213848" y="6025896"/>
            <a:ext cx="1472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building now</a:t>
            </a:r>
            <a:endParaRPr lang="en-US" sz="78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 ·  THE HONEST ALTERNATIVE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Bedrock, you may not need a third party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566928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End-to-End Day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72768"/>
            <a:ext cx="5806440" cy="1737360"/>
          </a:xfrm>
          <a:prstGeom prst="roundRect">
            <a:avLst>
              <a:gd name="adj" fmla="val 263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664208"/>
            <a:ext cx="5440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A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Bedrock / Strands native  ·  the model swap is one line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67512" y="1956816"/>
            <a:ext cx="5477256" cy="0"/>
          </a:xfrm>
          <a:prstGeom prst="line">
            <a:avLst/>
          </a:prstGeom>
          <a:noFill/>
          <a:ln w="9525">
            <a:solidFill>
              <a:srgbClr val="2230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011680"/>
            <a:ext cx="5477256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strong model for planning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BedrockModel(model_id='us.anthropic'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'.claude-sonnet-4-5-20250929-v1:0')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cheap model for summarizing -&gt; change the string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 = BedrockModel(model_id='us.anthropic'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'.claude-haiku-4-5-20251001-v1:0')
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6537960" y="1572768"/>
            <a:ext cx="514807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7960" y="1572768"/>
            <a:ext cx="64008" cy="173736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4" name="Text 12"/>
          <p:cNvSpPr/>
          <p:nvPr/>
        </p:nvSpPr>
        <p:spPr>
          <a:xfrm>
            <a:off x="6739128" y="1682496"/>
            <a:ext cx="4818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LiteLLM is NOT worth it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757416" y="2148840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6995160" y="2084832"/>
            <a:ext cx="4526280" cy="410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Single-provider, Bedrock-only stack: Strands already abstracts the model, and Bedrock handles cross-region routing.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757416" y="2605024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2541016"/>
            <a:ext cx="4526280" cy="410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swap is a string. A gateway adds a moving part you do not need yet.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520440"/>
            <a:ext cx="55321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520440"/>
            <a:ext cx="64008" cy="14173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" y="3630168"/>
            <a:ext cx="5202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it IS worth it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22376" y="4096512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4032504"/>
            <a:ext cx="4910328" cy="22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use more than one provider (Bedrock + OpenAI + local).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22376" y="4365752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4301744"/>
            <a:ext cx="4910328" cy="410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per-team budgets, virtual keys, and one cost dashboard across providers.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17920" y="3520440"/>
            <a:ext cx="5532120" cy="1417320"/>
          </a:xfrm>
          <a:prstGeom prst="roundRect">
            <a:avLst>
              <a:gd name="adj" fmla="val 3226"/>
            </a:avLst>
          </a:prstGeom>
          <a:solidFill>
            <a:srgbClr val="F8FA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3520440"/>
            <a:ext cx="64008" cy="14173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8" name="Text 26"/>
          <p:cNvSpPr/>
          <p:nvPr/>
        </p:nvSpPr>
        <p:spPr>
          <a:xfrm>
            <a:off x="6419088" y="361188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PRACTITIONERS 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Hannecke, Medium · production routing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19088" y="3922776"/>
            <a:ext cx="514807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37376" y="3995928"/>
            <a:ext cx="5111496" cy="832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routing cut cost ~88% in one real stack. The deeper payoff: </a:t>
            </a:r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forces you to understand what your LLMs actually do.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02920" y="5074920"/>
            <a:ext cx="11183112" cy="475488"/>
          </a:xfrm>
          <a:prstGeom prst="roundRect">
            <a:avLst>
              <a:gd name="adj" fmla="val 7692"/>
            </a:avLst>
          </a:prstGeom>
          <a:solidFill>
            <a:srgbClr val="FBF6EF"/>
          </a:solidFill>
          <a:ln w="9525">
            <a:solidFill>
              <a:srgbClr val="EAD9C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" y="5111496"/>
            <a:ext cx="10908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cover it because it was asked for  </a:t>
            </a:r>
            <a:pPr indent="0" marL="0">
              <a:lnSpc>
                <a:spcPts val="125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because provider independence is a real production concern. Just do not bolt a gateway onto a single-provider app for its own sake.</a:t>
            </a:r>
            <a:endParaRPr lang="en-US" sz="108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 ·  ROUTING IN 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two task types, then force one fallback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566928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End-to-End Day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54480"/>
            <a:ext cx="6446520" cy="3200400"/>
          </a:xfrm>
          <a:prstGeom prst="roundRect">
            <a:avLst>
              <a:gd name="adj" fmla="val 1429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645920"/>
            <a:ext cx="6080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A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 ·  two tasks, one forced failure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67512" y="1938528"/>
            <a:ext cx="6117336" cy="0"/>
          </a:xfrm>
          <a:prstGeom prst="line">
            <a:avLst/>
          </a:prstGeom>
          <a:noFill/>
          <a:ln w="9525">
            <a:solidFill>
              <a:srgbClr val="2230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993392"/>
            <a:ext cx="6117336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planning task -&gt; strong model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route plan   'Re-plan JX48Q2 around the storm'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[plan] -&gt; sonnet-4-5   ok  (642 tok)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summarizing task -&gt; cheap model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route summarize 'Shorten this itinerary note'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[summarize] -&gt; haiku-4-5   ok  (88 tok)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force the primary to fail (simulate 429)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route plan --break-primary 'Re-plan JX48Q2'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[plan] sonnet-4-5  429 throttled
</a:t>
            </a:r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[plan] -&gt; fallback summarize-haiku   ok
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7178040" y="1554480"/>
            <a:ext cx="4507992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78040" y="1554480"/>
            <a:ext cx="64008" cy="16916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7379208" y="1664208"/>
            <a:ext cx="4178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observe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397496" y="2130552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7635240" y="2066544"/>
            <a:ext cx="3886200" cy="22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task lands on the right model by name.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97496" y="2399792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7635240" y="2335784"/>
            <a:ext cx="3886200" cy="410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primary 429s, the router moves to the next link automatically.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97496" y="2855976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7635240" y="2791968"/>
            <a:ext cx="3886200" cy="22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caller code never changed.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178040" y="3383280"/>
            <a:ext cx="450799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78040" y="3383280"/>
            <a:ext cx="64008" cy="137160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23" name="Text 21"/>
          <p:cNvSpPr/>
          <p:nvPr/>
        </p:nvSpPr>
        <p:spPr>
          <a:xfrm>
            <a:off x="7379208" y="3493008"/>
            <a:ext cx="4178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catch to watch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397496" y="3959352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5" name="Text 23"/>
          <p:cNvSpPr/>
          <p:nvPr/>
        </p:nvSpPr>
        <p:spPr>
          <a:xfrm>
            <a:off x="7635240" y="3895344"/>
            <a:ext cx="3886200" cy="597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fallback that fires often is not resilience, it is a hidden outage. Alert when the secondary handles more than ~5% of traffic.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2920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1979676" y="565099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121408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48840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(AgentCore)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>
            <a:off x="3598164" y="565099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739896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67328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5216652" y="565099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358384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85816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(launch)</a:t>
            </a:r>
            <a:endParaRPr lang="en-US" sz="930" dirty="0"/>
          </a:p>
        </p:txBody>
      </p:sp>
      <p:sp>
        <p:nvSpPr>
          <p:cNvPr id="37" name="Text 35"/>
          <p:cNvSpPr/>
          <p:nvPr/>
        </p:nvSpPr>
        <p:spPr>
          <a:xfrm>
            <a:off x="6835140" y="565099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976872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04304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Gate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8453628" y="565099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595360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22792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/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930" dirty="0"/>
          </a:p>
        </p:txBody>
      </p:sp>
      <p:sp>
        <p:nvSpPr>
          <p:cNvPr id="43" name="Text 41"/>
          <p:cNvSpPr/>
          <p:nvPr/>
        </p:nvSpPr>
        <p:spPr>
          <a:xfrm>
            <a:off x="10072116" y="5650992"/>
            <a:ext cx="146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10213848" y="5650992"/>
            <a:ext cx="1472184" cy="347472"/>
          </a:xfrm>
          <a:prstGeom prst="roundRect">
            <a:avLst>
              <a:gd name="adj" fmla="val 13158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241280" y="56509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(gateway)</a:t>
            </a:r>
            <a:endParaRPr lang="en-US" sz="930" dirty="0"/>
          </a:p>
        </p:txBody>
      </p:sp>
      <p:sp>
        <p:nvSpPr>
          <p:cNvPr id="46" name="Text 44"/>
          <p:cNvSpPr/>
          <p:nvPr/>
        </p:nvSpPr>
        <p:spPr>
          <a:xfrm>
            <a:off x="10213848" y="6025896"/>
            <a:ext cx="1472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building now</a:t>
            </a:r>
            <a:endParaRPr lang="en-US" sz="78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FIELD SAYS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Fallbacks done wrong make outages worse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566928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End-to-End Day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00200"/>
            <a:ext cx="5532120" cy="1627632"/>
          </a:xfrm>
          <a:prstGeom prst="roundRect">
            <a:avLst>
              <a:gd name="adj" fmla="val 2809"/>
            </a:avLst>
          </a:prstGeom>
          <a:solidFill>
            <a:srgbClr val="F8FA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600200"/>
            <a:ext cx="64008" cy="16276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169164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PRACTITIONERS 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LeetLLM · circuit breakers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04088" y="2002536"/>
            <a:ext cx="514807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2075688"/>
            <a:ext cx="5111496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naive fallback retries an unhealthy primary on every request and amplifies the outage. </a:t>
            </a:r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circuit breaker (closed → open → half-open) skips a failing target during a cooldown, then probes once before trusting it again.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600200"/>
            <a:ext cx="5532120" cy="1627632"/>
          </a:xfrm>
          <a:prstGeom prst="roundRect">
            <a:avLst>
              <a:gd name="adj" fmla="val 2809"/>
            </a:avLst>
          </a:prstGeom>
          <a:solidFill>
            <a:srgbClr val="F8FA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600200"/>
            <a:ext cx="64008" cy="16276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6419088" y="169164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PRACTITIONERS 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buildmvpfast · community defaults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19088" y="2002536"/>
            <a:ext cx="514807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37376" y="2075688"/>
            <a:ext cx="5111496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thresholds from production: </a:t>
            </a:r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5 failures to trip the breaker, a 60-second cooldown, and a three-level chain (primary, same-provider, cross-provider) ordered by cost.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Review the chain quarterly; models and limits change.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3364992"/>
            <a:ext cx="5532120" cy="1627632"/>
          </a:xfrm>
          <a:prstGeom prst="roundRect">
            <a:avLst>
              <a:gd name="adj" fmla="val 2809"/>
            </a:avLst>
          </a:prstGeom>
          <a:solidFill>
            <a:srgbClr val="F8FA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364992"/>
            <a:ext cx="64008" cy="16276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3456432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PRACTITIONERS 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Hannecke · a real fallback bug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04088" y="3767328"/>
            <a:ext cx="514807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" y="3840480"/>
            <a:ext cx="5111496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auto-update changed the prompt format and silently broke routing; cold starts tripped false fallbacks. </a:t>
            </a:r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model versions and size timeouts for cold start.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Treat models like Docker images.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17920" y="3364992"/>
            <a:ext cx="5532120" cy="1627632"/>
          </a:xfrm>
          <a:prstGeom prst="roundRect">
            <a:avLst>
              <a:gd name="adj" fmla="val 2809"/>
            </a:avLst>
          </a:prstGeom>
          <a:solidFill>
            <a:srgbClr val="F8FA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3364992"/>
            <a:ext cx="64008" cy="16276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5" name="Text 23"/>
          <p:cNvSpPr/>
          <p:nvPr/>
        </p:nvSpPr>
        <p:spPr>
          <a:xfrm>
            <a:off x="6419088" y="3456432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PRACTITIONERS 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Ties back to segment 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19088" y="3767328"/>
            <a:ext cx="514807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840480"/>
            <a:ext cx="5111496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fallback can mask a quality regression: the backup answers, the dashboard is green, the answer is worse. </a:t>
            </a:r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eval on the fallback path, not just the primary.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Resilience and evaluation are one problem.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5120640"/>
            <a:ext cx="11183112" cy="475488"/>
          </a:xfrm>
          <a:prstGeom prst="roundRect">
            <a:avLst>
              <a:gd name="adj" fmla="val 7692"/>
            </a:avLst>
          </a:prstGeom>
          <a:solidFill>
            <a:srgbClr val="FBF6EF"/>
          </a:solidFill>
          <a:ln w="9525">
            <a:solidFill>
              <a:srgbClr val="EAD9C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" y="5157216"/>
            <a:ext cx="10908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 </a:t>
            </a:r>
            <a:pPr indent="0" marL="0">
              <a:lnSpc>
                <a:spcPts val="125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gateway buys provider independence and graceful failure, but only if the failure path is bounded (circuit breaker), pinned, and evaluated.</a:t>
            </a:r>
            <a:endParaRPr lang="en-US" sz="108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PIPELINE  ·  CHECKPOINT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last ring: routing sits in front of the model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566928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End-to-End Day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276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SEVEN STAGES COMPLETE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1472184" cy="566928"/>
          </a:xfrm>
          <a:prstGeom prst="roundRect">
            <a:avLst>
              <a:gd name="adj" fmla="val 806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92024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1979676" y="1920240"/>
            <a:ext cx="146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121408" y="1920240"/>
            <a:ext cx="1472184" cy="566928"/>
          </a:xfrm>
          <a:prstGeom prst="roundRect">
            <a:avLst>
              <a:gd name="adj" fmla="val 806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48840" y="192024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(AgentCore)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3598164" y="1920240"/>
            <a:ext cx="146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739896" y="1920240"/>
            <a:ext cx="1472184" cy="566928"/>
          </a:xfrm>
          <a:prstGeom prst="roundRect">
            <a:avLst>
              <a:gd name="adj" fmla="val 806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192024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5216652" y="1920240"/>
            <a:ext cx="146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358384" y="1920240"/>
            <a:ext cx="1472184" cy="566928"/>
          </a:xfrm>
          <a:prstGeom prst="roundRect">
            <a:avLst>
              <a:gd name="adj" fmla="val 806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85816" y="192024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(launch)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6835140" y="1920240"/>
            <a:ext cx="146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976872" y="1920240"/>
            <a:ext cx="1472184" cy="566928"/>
          </a:xfrm>
          <a:prstGeom prst="roundRect">
            <a:avLst>
              <a:gd name="adj" fmla="val 806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04304" y="192024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Gate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8453628" y="1920240"/>
            <a:ext cx="146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595360" y="1920240"/>
            <a:ext cx="1472184" cy="566928"/>
          </a:xfrm>
          <a:prstGeom prst="roundRect">
            <a:avLst>
              <a:gd name="adj" fmla="val 806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22792" y="192024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/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10072116" y="1920240"/>
            <a:ext cx="146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213848" y="1920240"/>
            <a:ext cx="1472184" cy="566928"/>
          </a:xfrm>
          <a:prstGeom prst="roundRect">
            <a:avLst>
              <a:gd name="adj" fmla="val 806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41280" y="192024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(gateway)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502920" y="269748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gateway is an optional layer between your agent and the model: it picks the right model per task and fails over when a provider degrades. The connected TravelMind pipeline is now whole.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02920" y="3383280"/>
            <a:ext cx="553212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383280"/>
            <a:ext cx="64008" cy="17830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" y="3493008"/>
            <a:ext cx="5202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sits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722376" y="3959352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4" name="Text 32"/>
          <p:cNvSpPr/>
          <p:nvPr/>
        </p:nvSpPr>
        <p:spPr>
          <a:xfrm>
            <a:off x="960120" y="3895344"/>
            <a:ext cx="4910328" cy="410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→ gateway → model. The agent asks for “plan” or “summarize”; the gateway resolves it to a model and provider.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22376" y="4415536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6" name="Text 34"/>
          <p:cNvSpPr/>
          <p:nvPr/>
        </p:nvSpPr>
        <p:spPr>
          <a:xfrm>
            <a:off x="960120" y="4351528"/>
            <a:ext cx="4910328" cy="410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a single-provider stack can skip it and swap the model string instead.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217920" y="3383280"/>
            <a:ext cx="553212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17920" y="3383280"/>
            <a:ext cx="64008" cy="178308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39" name="Text 37"/>
          <p:cNvSpPr/>
          <p:nvPr/>
        </p:nvSpPr>
        <p:spPr>
          <a:xfrm>
            <a:off x="6419088" y="3493008"/>
            <a:ext cx="5202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Avoid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6437376" y="3959352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3895344"/>
            <a:ext cx="4910328" cy="22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gateway on a single-provider app for its own sake.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437376" y="4228592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3" name="Text 41"/>
          <p:cNvSpPr/>
          <p:nvPr/>
        </p:nvSpPr>
        <p:spPr>
          <a:xfrm>
            <a:off x="6675120" y="4164584"/>
            <a:ext cx="4910328" cy="22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unbounded fallback (no circuit breaker).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437376" y="4497832"/>
            <a:ext cx="9144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5" name="Text 43"/>
          <p:cNvSpPr/>
          <p:nvPr/>
        </p:nvSpPr>
        <p:spPr>
          <a:xfrm>
            <a:off x="6675120" y="4433824"/>
            <a:ext cx="4910328" cy="22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88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without eval on the fallback path.</a:t>
            </a:r>
            <a:endParaRPr lang="en-US" sz="11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148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8B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4  ·  15 MINUTES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" y="251460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Architecture and Readiness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8862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the whole pipeline into one picture, check it against a readiness list, and prove it transfers to a second domain.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End-to-End Day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83112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THING, ONE DIAGRAM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architecture for a production agent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566928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End-to-End Day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72768"/>
            <a:ext cx="11183112" cy="566928"/>
          </a:xfrm>
          <a:prstGeom prst="roundRect">
            <a:avLst>
              <a:gd name="adj" fmla="val 8065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72768"/>
            <a:ext cx="11000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Channel
</a:t>
            </a:r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structured A2UI surfaces, approval panels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3566160" cy="868680"/>
          </a:xfrm>
          <a:prstGeom prst="roundRect">
            <a:avLst>
              <a:gd name="adj" fmla="val 5263"/>
            </a:avLst>
          </a:prstGeom>
          <a:solidFill>
            <a:srgbClr val="0F172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28600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Runtime
</a:t>
            </a:r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container, /invocations + /ping :8080, microVM isolation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70248" y="2286000"/>
            <a:ext cx="3657600" cy="868680"/>
          </a:xfrm>
          <a:prstGeom prst="roundRect">
            <a:avLst>
              <a:gd name="adj" fmla="val 5263"/>
            </a:avLst>
          </a:prstGeom>
          <a:solidFill>
            <a:srgbClr val="FEF3C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61688" y="228600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(Strands)
</a:t>
            </a:r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loop: plan, call tools, decide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29016" y="2286000"/>
            <a:ext cx="3557016" cy="868680"/>
          </a:xfrm>
          <a:prstGeom prst="roundRect">
            <a:avLst>
              <a:gd name="adj" fmla="val 5263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0456" y="2286000"/>
            <a:ext cx="33741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Gateway
</a:t>
            </a:r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routing + fallback (optional)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310128"/>
            <a:ext cx="3566160" cy="868680"/>
          </a:xfrm>
          <a:prstGeom prst="roundRect">
            <a:avLst>
              <a:gd name="adj" fmla="val 5263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310128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(typed)
</a:t>
            </a:r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functions: lookup, disruption, rebooking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270248" y="3310128"/>
            <a:ext cx="3657600" cy="868680"/>
          </a:xfrm>
          <a:prstGeom prst="roundRect">
            <a:avLst>
              <a:gd name="adj" fmla="val 5263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61688" y="3310128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+ Memory
</a:t>
            </a:r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/ vectors, session + long-term memory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29016" y="3310128"/>
            <a:ext cx="3557016" cy="868680"/>
          </a:xfrm>
          <a:prstGeom prst="roundRect">
            <a:avLst>
              <a:gd name="adj" fmla="val 5263"/>
            </a:avLst>
          </a:prstGeom>
          <a:solidFill>
            <a:srgbClr val="EE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0456" y="3310128"/>
            <a:ext cx="33741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(Bedrock)
</a:t>
            </a:r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4.5 default, Sonnet 4 for hard tasks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4334256"/>
            <a:ext cx="5440680" cy="777240"/>
          </a:xfrm>
          <a:prstGeom prst="roundRect">
            <a:avLst>
              <a:gd name="adj" fmla="val 5882"/>
            </a:avLst>
          </a:prstGeom>
          <a:solidFill>
            <a:srgbClr val="DCFCE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334256"/>
            <a:ext cx="5257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pipeline
</a:t>
            </a:r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· gate · canary · rollback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44768" y="4334256"/>
            <a:ext cx="5541264" cy="777240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36208" y="4334256"/>
            <a:ext cx="53583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+ Cost + Identity
</a:t>
            </a:r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spans · CloudWatch · budgets · IAM / auth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2920" y="5285232"/>
            <a:ext cx="11183112" cy="475488"/>
          </a:xfrm>
          <a:prstGeom prst="roundRect">
            <a:avLst>
              <a:gd name="adj" fmla="val 7692"/>
            </a:avLst>
          </a:prstGeom>
          <a:solidFill>
            <a:srgbClr val="FBF6EF"/>
          </a:solidFill>
          <a:ln w="9525">
            <a:solidFill>
              <a:srgbClr val="EAD9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" y="5321808"/>
            <a:ext cx="10908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top-down  </a:t>
            </a:r>
            <a:pPr indent="0" marL="0">
              <a:lnSpc>
                <a:spcPts val="125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box is something you built or wired today. The two green/blue bands are cross-cutting: they touch every layer, which is why they sit underneath all of it.</a:t>
            </a:r>
            <a:endParaRPr lang="en-US" sz="108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FIELD SAYS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architecture practitioners are converging 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566928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End-to-End Day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00200"/>
            <a:ext cx="5532120" cy="1645920"/>
          </a:xfrm>
          <a:prstGeom prst="roundRect">
            <a:avLst>
              <a:gd name="adj" fmla="val 2778"/>
            </a:avLst>
          </a:prstGeom>
          <a:solidFill>
            <a:srgbClr val="F8FA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600200"/>
            <a:ext cx="64008" cy="16459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169164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PRACTITIONERS 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· “From Prompt-Response to Goal-Directed Systems”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04088" y="2002536"/>
            <a:ext cx="514807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2075688"/>
            <a:ext cx="511149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reference architecture that separates </a:t>
            </a:r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reasoning, hierarchical memory, typed tool invocation, and embedded governance,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an enterprise hardening checklist for observability, policy, and reproducibility. The field is standardizing.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600200"/>
            <a:ext cx="5532120" cy="1645920"/>
          </a:xfrm>
          <a:prstGeom prst="roundRect">
            <a:avLst>
              <a:gd name="adj" fmla="val 2778"/>
            </a:avLst>
          </a:prstGeom>
          <a:solidFill>
            <a:srgbClr val="F8FA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600200"/>
            <a:ext cx="64008" cy="16459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6419088" y="169164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PRACTITIONERS 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· production-grade workflows (9 practices)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19088" y="2002536"/>
            <a:ext cx="514807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37376" y="2075688"/>
            <a:ext cx="511149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nine best practices: </a:t>
            </a:r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pure-function tool invocation, single-responsibility agents, externalized prompt management, containerized deployment, and KISS.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 already apply most of these.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3337560"/>
            <a:ext cx="5532120" cy="1645920"/>
          </a:xfrm>
          <a:prstGeom prst="roundRect">
            <a:avLst>
              <a:gd name="adj" fmla="val 2778"/>
            </a:avLst>
          </a:prstGeom>
          <a:solidFill>
            <a:srgbClr val="F8FA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337560"/>
            <a:ext cx="64008" cy="16459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342900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PRACTITIONERS 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Educative · four-layer model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04088" y="3739896"/>
            <a:ext cx="514807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" y="3813048"/>
            <a:ext cx="511149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Orchestrator, planner, memory, tools, 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independently deployable so you can scale, version, and monitor them without redeploying the whole agent. Modularity is what makes it operable.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17920" y="3337560"/>
            <a:ext cx="5532120" cy="1645920"/>
          </a:xfrm>
          <a:prstGeom prst="roundRect">
            <a:avLst>
              <a:gd name="adj" fmla="val 2778"/>
            </a:avLst>
          </a:prstGeom>
          <a:solidFill>
            <a:srgbClr val="F8FA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3337560"/>
            <a:ext cx="64008" cy="16459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5" name="Text 23"/>
          <p:cNvSpPr/>
          <p:nvPr/>
        </p:nvSpPr>
        <p:spPr>
          <a:xfrm>
            <a:off x="6419088" y="342900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PRACTITIONERS 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trajectory the papers name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19088" y="3739896"/>
            <a:ext cx="514807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813048"/>
            <a:ext cx="511149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systems are maturing like web services did: </a:t>
            </a:r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protocols, typed contracts, registries, and layered governance.</a:t>
            </a:r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Today’s pipeline is a small, correct instance of that direction.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5120640"/>
            <a:ext cx="11183112" cy="475488"/>
          </a:xfrm>
          <a:prstGeom prst="roundRect">
            <a:avLst>
              <a:gd name="adj" fmla="val 7692"/>
            </a:avLst>
          </a:prstGeom>
          <a:solidFill>
            <a:srgbClr val="FBF6EF"/>
          </a:solidFill>
          <a:ln w="9525">
            <a:solidFill>
              <a:srgbClr val="EAD9C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" y="5157216"/>
            <a:ext cx="10908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juniors  </a:t>
            </a:r>
            <a:pPr indent="0" marL="0">
              <a:lnSpc>
                <a:spcPts val="125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not learning one vendor’s buttons; you are learning the shape the whole industry is settling into. The buttons change, the shape holds.</a:t>
            </a:r>
            <a:endParaRPr lang="en-US" sz="108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CALL IT PRODUCTION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readiness checklist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566928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End-to-End Day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91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5528" y="16916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health route, port contract, least-privilege role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40487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95528" y="2404872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inference profile pinned, retries + timeouts 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11810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" y="3118104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Versioning: prompt + config + model in a manifest, sha’d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83133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95528" y="3831336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eval + cost + latency + safety, blocks promotion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454456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95528" y="454456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Rollback: named target, redirect not redeploy, tested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1691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01968" y="16916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Rollout: canary + progressive, feature-flagged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240487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01968" y="2404872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Routing: bounded fallback (circuit breaker), eval on it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311810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01968" y="3118104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Observability: spans + CloudWatch on from day one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9360" y="383133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601968" y="3831336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per-resolution budget + alarm on spikes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09360" y="454456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601968" y="454456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Transfer: tools and prompts externalized, domain-swappable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5440680"/>
            <a:ext cx="11183112" cy="475488"/>
          </a:xfrm>
          <a:prstGeom prst="roundRect">
            <a:avLst>
              <a:gd name="adj" fmla="val 7692"/>
            </a:avLst>
          </a:prstGeom>
          <a:solidFill>
            <a:srgbClr val="FBF6EF"/>
          </a:solidFill>
          <a:ln w="9525">
            <a:solidFill>
              <a:srgbClr val="EAD9C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" y="5477256"/>
            <a:ext cx="10908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as a gate, not a wish-list  </a:t>
            </a:r>
            <a:pPr indent="0" marL="0">
              <a:lnSpc>
                <a:spcPts val="125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row is unchecked, the agent is a prototype in production clothing. Ten boxes; all ten, or it is not done.</a:t>
            </a:r>
            <a:endParaRPr lang="en-US" sz="108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IT TRANSFERS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pipeline, second domain: CargoTrace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566928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End-to-End Day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72768"/>
            <a:ext cx="11183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airline agent was one use case. The pipeline is the reusable part. Swap the tools, data, and prompt; the deploy, versioning, gate, rollback, and routing are unchanged.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286000"/>
            <a:ext cx="2377440" cy="34747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" y="2286000"/>
            <a:ext cx="22494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880360" y="2286000"/>
            <a:ext cx="4114800" cy="34747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2953512" y="2286000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(airline)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995160" y="2286000"/>
            <a:ext cx="4690872" cy="34747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7068312" y="2286000"/>
            <a:ext cx="4562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CargoTrace (logistics, iCargo line)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2633472"/>
            <a:ext cx="2377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2633472"/>
            <a:ext cx="22494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object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880360" y="2633472"/>
            <a:ext cx="4114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53512" y="2633472"/>
            <a:ext cx="3986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PNR (booking)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95160" y="2633472"/>
            <a:ext cx="46908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68312" y="2633472"/>
            <a:ext cx="45628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AWB (air waybill)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3200400"/>
            <a:ext cx="2377440" cy="566928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" y="3200400"/>
            <a:ext cx="22494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880360" y="3200400"/>
            <a:ext cx="4114800" cy="566928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53512" y="3200400"/>
            <a:ext cx="3986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lookup_booking, disruption, rebooking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995160" y="3200400"/>
            <a:ext cx="4690872" cy="566928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68312" y="3200400"/>
            <a:ext cx="45628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track_shipment, hold_reason, reroute_options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2920" y="3767328"/>
            <a:ext cx="2377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" y="3767328"/>
            <a:ext cx="22494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880360" y="3767328"/>
            <a:ext cx="4114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53512" y="3767328"/>
            <a:ext cx="3986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cancels a flight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995160" y="3767328"/>
            <a:ext cx="46908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68312" y="3767328"/>
            <a:ext cx="45628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 hold stops a shipment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02920" y="4334256"/>
            <a:ext cx="2377440" cy="566928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" y="4334256"/>
            <a:ext cx="22494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880360" y="4334256"/>
            <a:ext cx="4114800" cy="566928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53512" y="4334256"/>
            <a:ext cx="3986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· deploy · version · gate · rollback · route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995160" y="4334256"/>
            <a:ext cx="4690872" cy="566928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68312" y="4334256"/>
            <a:ext cx="45628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1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identical, unchanged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02920" y="5074920"/>
            <a:ext cx="11183112" cy="475488"/>
          </a:xfrm>
          <a:prstGeom prst="roundRect">
            <a:avLst>
              <a:gd name="adj" fmla="val 7692"/>
            </a:avLst>
          </a:prstGeom>
          <a:solidFill>
            <a:srgbClr val="FBF6EF"/>
          </a:solidFill>
          <a:ln w="9525">
            <a:solidFill>
              <a:srgbClr val="EAD9C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" y="5111496"/>
            <a:ext cx="10908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  </a:t>
            </a:r>
            <a:pPr indent="0" marL="0">
              <a:lnSpc>
                <a:spcPts val="125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did not build one agent today. You built a way to ship agents. The first domain is the example; the pipeline is the product.</a:t>
            </a:r>
            <a:endParaRPr lang="en-US" sz="108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ALL CONNECTS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pipeline, every ring, built today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566928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End-to-End Day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361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CONNECTED TRAVELMIND PIPELINE  ·  complete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1472184" cy="566928"/>
          </a:xfrm>
          <a:prstGeom prst="roundRect">
            <a:avLst>
              <a:gd name="adj" fmla="val 806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82880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1979676" y="1828800"/>
            <a:ext cx="146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121408" y="1828800"/>
            <a:ext cx="1472184" cy="566928"/>
          </a:xfrm>
          <a:prstGeom prst="roundRect">
            <a:avLst>
              <a:gd name="adj" fmla="val 806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48840" y="182880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(AgentCore)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3598164" y="1828800"/>
            <a:ext cx="146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739896" y="1828800"/>
            <a:ext cx="1472184" cy="566928"/>
          </a:xfrm>
          <a:prstGeom prst="roundRect">
            <a:avLst>
              <a:gd name="adj" fmla="val 806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182880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5216652" y="1828800"/>
            <a:ext cx="146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358384" y="1828800"/>
            <a:ext cx="1472184" cy="566928"/>
          </a:xfrm>
          <a:prstGeom prst="roundRect">
            <a:avLst>
              <a:gd name="adj" fmla="val 806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85816" y="182880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(launch)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6835140" y="1828800"/>
            <a:ext cx="146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976872" y="1828800"/>
            <a:ext cx="1472184" cy="566928"/>
          </a:xfrm>
          <a:prstGeom prst="roundRect">
            <a:avLst>
              <a:gd name="adj" fmla="val 806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04304" y="182880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Gate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8453628" y="1828800"/>
            <a:ext cx="146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595360" y="1828800"/>
            <a:ext cx="1472184" cy="566928"/>
          </a:xfrm>
          <a:prstGeom prst="roundRect">
            <a:avLst>
              <a:gd name="adj" fmla="val 806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22792" y="182880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/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10072116" y="1828800"/>
            <a:ext cx="146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213848" y="1828800"/>
            <a:ext cx="1472184" cy="566928"/>
          </a:xfrm>
          <a:prstGeom prst="roundRect">
            <a:avLst>
              <a:gd name="adj" fmla="val 806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41280" y="182880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93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(gateway)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502920" y="2606040"/>
            <a:ext cx="2743200" cy="32918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0" name="Text 28"/>
          <p:cNvSpPr/>
          <p:nvPr/>
        </p:nvSpPr>
        <p:spPr>
          <a:xfrm>
            <a:off x="576072" y="2606040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46120" y="2606040"/>
            <a:ext cx="8439912" cy="32918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2" name="Text 30"/>
          <p:cNvSpPr/>
          <p:nvPr/>
        </p:nvSpPr>
        <p:spPr>
          <a:xfrm>
            <a:off x="3319272" y="2606040"/>
            <a:ext cx="8311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now true of TravelMind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2935224"/>
            <a:ext cx="2743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" y="2935224"/>
            <a:ext cx="26151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1-4  Deploy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46120" y="2935224"/>
            <a:ext cx="843991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19272" y="2935224"/>
            <a:ext cx="83118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agent wrapped, containerized, launched, invoked live on Runtime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02920" y="3465576"/>
            <a:ext cx="2743200" cy="530352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6072" y="3465576"/>
            <a:ext cx="26151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Version + Gate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246120" y="3465576"/>
            <a:ext cx="8439912" cy="530352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19272" y="3465576"/>
            <a:ext cx="83118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+ config + model pinned; Session-1 gate guards promotion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02920" y="3995928"/>
            <a:ext cx="2743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6072" y="3995928"/>
            <a:ext cx="26151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Rollout / Rollback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246120" y="3995928"/>
            <a:ext cx="843991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19272" y="3995928"/>
            <a:ext cx="83118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→ canary → progressive; instant redirect to a named good version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02920" y="4526280"/>
            <a:ext cx="2743200" cy="530352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6072" y="4526280"/>
            <a:ext cx="26151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Route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246120" y="4526280"/>
            <a:ext cx="8439912" cy="530352"/>
          </a:xfrm>
          <a:prstGeom prst="rect">
            <a:avLst/>
          </a:prstGeom>
          <a:solidFill>
            <a:srgbClr val="F6F8FB"/>
          </a:solidFill>
          <a:ln w="6350">
            <a:solidFill>
              <a:srgbClr val="D8DEE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19272" y="4526280"/>
            <a:ext cx="83118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gateway: task routing + bounded fallback in front of the model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02920" y="5074920"/>
            <a:ext cx="11183112" cy="475488"/>
          </a:xfrm>
          <a:prstGeom prst="roundRect">
            <a:avLst>
              <a:gd name="adj" fmla="val 7692"/>
            </a:avLst>
          </a:prstGeom>
          <a:solidFill>
            <a:srgbClr val="FBF6EF"/>
          </a:solidFill>
          <a:ln w="9525">
            <a:solidFill>
              <a:srgbClr val="EAD9C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9224" y="5111496"/>
            <a:ext cx="10908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threads landed  </a:t>
            </a:r>
            <a:pPr indent="0" marL="0">
              <a:lnSpc>
                <a:spcPts val="125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worked example at every stage, and one connected pipeline assembled ring by ring. Next slide: a single change flowing through all of it.</a:t>
            </a:r>
            <a:endParaRPr lang="en-US" sz="108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one change travel the whole pipeline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566928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End-to-End Day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83112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64208"/>
            <a:ext cx="1118311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" y="1728216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" y="17282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1664208"/>
            <a:ext cx="10451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prompt v6 → v7, externalized, sha’d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167128"/>
            <a:ext cx="11183112" cy="4572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6072" y="2231136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" y="22311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167128"/>
            <a:ext cx="10451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version_manifest, rollback_target = v6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670048"/>
            <a:ext cx="1118311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" y="2734056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576072" y="27340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2670048"/>
            <a:ext cx="10451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Session-1 eval + cost + latency + safety, must pass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172968"/>
            <a:ext cx="11183112" cy="4572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6072" y="3236976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2" name="Text 20"/>
          <p:cNvSpPr/>
          <p:nvPr/>
        </p:nvSpPr>
        <p:spPr>
          <a:xfrm>
            <a:off x="576072" y="32369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3172968"/>
            <a:ext cx="10451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traffic, second model grades responses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675888"/>
            <a:ext cx="1118311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3739896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6" name="Text 24"/>
          <p:cNvSpPr/>
          <p:nvPr/>
        </p:nvSpPr>
        <p:spPr>
          <a:xfrm>
            <a:off x="576072" y="37398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51560" y="3675888"/>
            <a:ext cx="10451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24-48h: quality, latency, tool-calls, cost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4178808"/>
            <a:ext cx="11183112" cy="4572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6072" y="4242816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30" name="Text 28"/>
          <p:cNvSpPr/>
          <p:nvPr/>
        </p:nvSpPr>
        <p:spPr>
          <a:xfrm>
            <a:off x="576072" y="42428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51560" y="4178808"/>
            <a:ext cx="10451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→ progressive to 100%   |   fail → rollback to v6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2920" y="4681728"/>
            <a:ext cx="1118311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6072" y="4745736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34" name="Text 32"/>
          <p:cNvSpPr/>
          <p:nvPr/>
        </p:nvSpPr>
        <p:spPr>
          <a:xfrm>
            <a:off x="576072" y="47457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51560" y="4681728"/>
            <a:ext cx="10451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spans + cost in CloudWatch; failing inputs → new tests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02920" y="5230368"/>
            <a:ext cx="11183112" cy="475488"/>
          </a:xfrm>
          <a:prstGeom prst="roundRect">
            <a:avLst>
              <a:gd name="adj" fmla="val 7692"/>
            </a:avLst>
          </a:prstGeom>
          <a:solidFill>
            <a:srgbClr val="FBF6EF"/>
          </a:solidFill>
          <a:ln w="9525">
            <a:solidFill>
              <a:srgbClr val="EAD9C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" y="5266944"/>
            <a:ext cx="10908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8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whole job  </a:t>
            </a:r>
            <a:pPr indent="0" marL="0">
              <a:lnSpc>
                <a:spcPts val="125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edit, made safely, observed, and reversible. Everything today existed to make these seven steps routine instead of risky.</a:t>
            </a:r>
            <a:endParaRPr lang="en-US" sz="108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8B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OWN NOW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notebook to production, end to end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68680" y="2039112"/>
            <a:ext cx="109728" cy="109728"/>
          </a:xfrm>
          <a:prstGeom prst="rect">
            <a:avLst/>
          </a:prstGeom>
          <a:solidFill>
            <a:srgbClr val="F8B26A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 · 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wrap, containerize, launch, invoke; clear the 404 and 403 cold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642616"/>
            <a:ext cx="109728" cy="109728"/>
          </a:xfrm>
          <a:prstGeom prst="rect">
            <a:avLst/>
          </a:prstGeom>
          <a:solidFill>
            <a:srgbClr val="F8B26A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56946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 · 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prompt + config + model; gate, canary, roll back in seconds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3246120"/>
            <a:ext cx="109728" cy="109728"/>
          </a:xfrm>
          <a:prstGeom prst="rect">
            <a:avLst/>
          </a:prstGeom>
          <a:solidFill>
            <a:srgbClr val="F8B26A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17296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 · 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independence and bounded fallback, when you actually need it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68680" y="3849624"/>
            <a:ext cx="109728" cy="109728"/>
          </a:xfrm>
          <a:prstGeom prst="rect">
            <a:avLst/>
          </a:prstGeom>
          <a:solidFill>
            <a:srgbClr val="F8B26A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77647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 · 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reference diagram, a readiness gate, and a domain-swappable pipeline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68680" y="4617720"/>
            <a:ext cx="10424160" cy="1234440"/>
          </a:xfrm>
          <a:prstGeom prst="roundRect">
            <a:avLst>
              <a:gd name="adj" fmla="val 4444"/>
            </a:avLst>
          </a:prstGeom>
          <a:solidFill>
            <a:srgbClr val="111C2E"/>
          </a:solidFill>
          <a:ln w="12700">
            <a:solidFill>
              <a:srgbClr val="2635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7365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B2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leave with the artifacts, not just the slides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5074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FB0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deploy_runbook.md  ·  deploy_e2e.ipynb  ·  version_manifest.json  ·  release_pipeline.md  ·  gateway_routing.ipynb  ·  reference_architecture  ·  readiness_checklist.md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TravelMind  ·  End-to-End Day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183112" y="64556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6419088"/>
            <a:ext cx="1118311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2026-06-12T04:22:06Z</dcterms:created>
  <dcterms:modified xsi:type="dcterms:W3CDTF">2026-06-12T04:22:06Z</dcterms:modified>
</cp:coreProperties>
</file>