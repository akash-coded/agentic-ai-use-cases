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built agents that reason, call tools, talk to each other, and run on AWS. The one layer we have not formalized is the one a human actually touches. Today we close that gap, and we decide when this layer is worth it and when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this to their own journey. MCP gave agents tools. A2A let agents coordinate. AgentCore gave them a home. None of it told the agent how to show a result to a person who must act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text example out loud, fast. Let them feel the friction. Then point at the table version. Same data, completely different decision speed and auditability.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verbs are the spine of the whole day. Every pattern serves one of them. The hands-on builds SHOW + STRUCTURE + GATE + RECORD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outcomes contract. The last bullet matters most. The goal is judgment, not just a working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three-layer table as the map for Part 1. Protocols carry, frameworks describe and draw, patterns are reusable solutions. We go bottom to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table on screen as the map for Part 1. Protocols carry, frameworks describe and draw, patterns are the reusable solutions. We go bottom to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already know A2A. The new name is AG-UI, the runtime pipe between an agent backend and a frontend. SSE is the default A2UI transport; WebSockets and A2A are also supported.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distinction of the day. Format vs renderer. The same A2UI payload can render on web, mobile, or desktop because each client maps component names to its own native widgets.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are the body of Part 3. Each maps to a production verb. They are framework-agnostic; you can build them with or without A2UI, which is exactly the decision we keep returning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that ties everything you learned together. You know MCP and A2A. AG-UI and A2UI are the two newest layers, both sitting closest to the human. Source: a2ui.sh and a2ui.org ecosystem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go deep on A2UI itself: what it is, how the payload is shaped, and why every design choice traces back to LLM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Created Sep 2025, moving fast. CopilotKit, the AG-UI team, is a launch partner and built the A2UI Composer. 'Without executing arbitrary code' is the whole security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Trust boundary is the phrase to anchor. When an agent, possibly remote, wants to draw UI in your app, you do not let it ship code. You let it pick from a menu you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design choice traces to 'an LLM has to generate this reliably.' That is why it is flat and declarative, not a nested imperative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Hammer the decoupling. Change a value and you send a tiny data update, not a whole new UI. The catalog is a contract, not part of the payload, which is also a security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Surfaces let one stream drive multiple independent regions: the chat reply, a side panel, an admin widget. Each surface isolates its data model so keys do not collide.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diagram. surfaceUpdate carries [root, title, button, button_text]; beginRendering with root 'root' triggers the build. This is the design choice that makes generation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Paths are JSON Pointers. The 'no transformers' rule is deliberate: keep the client dumb and predictable, do logic on the server. This is also a 'when not to use' signal for heavy client-side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production today, use v0.8. Know v0.9 is coming and will rename things, createSurface replaces beginRendering plus implicit creation. Pin your version. This churn is a real consideration.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sequence slowly. The UI stream is one-way over SSE. User events go back as A2A messages. beginRendering exists to prevent a flash of half-built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transformation the hands-on performs for TravelMind. The button's action.name is what comes back as a userAction.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pattern earns its place by serving a verb the business actually needs. Keep the pattern map as the through-line.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table is the through-line for Part 3. Each pattern earns its place by serving a verb the business actually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lowest-risk win. The A2UI-Strands reference app ships exactly four custom components: Chart, Table, MetricCard, MarkdownCard. Start here before you attempt approval 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halves: visibility, what is about to happen, and the gate, the approve/reject buttons. AG-UI has first-class human-in-the-loop support; AgentCore Policy can enforce the same gate server-side.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Roles drive which catalog components and which actions are even offered. The hard rule: gate sensitive actions server-side. The UI view is convenience, not a control boundary. AgentCore Identity supports custom claims for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Registry is the 'what can I talk to and what can it draw' view. Catalog negotiation is the protocol-level version. Keep it light unless you are running many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Observability is non-negotiable in production. If the agent generated the UI, you must reproduce exactly what the user saw and did. Log the A2UI payload sent and the userAction received, with timestamp and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architecture from the A2UI-Strands reference implementation, then where each AgentCore service slots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architecture from the A2UI-Strands reference implementation. You do not need a new protocol; A2A is the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notebook we build a minimal version: a render_ui tool that returns validated A2UI JSON, a handler that captures it, and we inspect the payload. We use payload + Streamlit admin to keep it notebook-friendly.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AgentCore went GA Oct 13, 2025. Map each service to a pattern: Identity to roles, Observability to admin UI, Policy to approval enforcement, Runtime to A2A transport. Policy is in preview, Cedar policy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capstone wiring in one breath. Trace each arrow back to a pattern and a verb. This is what 'integrate all layers' means on the capstone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judgment section. Clear up the vs framing, then the honest when-to-use and when-not-to-use.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up the confusion the article titles create. They are layers. The only real vs is A2UI vs MCP Apps vs ChatKit, which are different approaches to the same generative-UI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a2ui.org ecosystem page. The axes that decide it for you: who controls styling, do you need code-free safety, and do you need cross-platform.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two or more of these are true, A2UI earns its keep. The runtime-decided UI and the cross-platform points are the strongest individual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Most internal tools do not need A2UI. Reach for it when the dynamic, cross-platform, or trust-boundary reasons are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'you already learned other tools' slide. Streamlit you used all bootcamp; it is still the fastest path for admin and internal. MCP Apps when the integration owns the experience. A2UI is one option, not the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them to ask these in interviews and design reviews. A senior engineer who can name the tradeoffs is worth more than one who just adopts the new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checklist, the security model, and the failure modes. This is the difference between a demo and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is the difference between a demo and a system. The catalog rule, compile in and never fetch at runtime, is both a stability and a prompt-injection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A2UI removes the UI-injection class of attack but not the agent-security class. The client context in a userAction can be spoofed; authorize on the server. Cite OWASP/MAESTRO as where to go deeper, not as something we cover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Structured output mode plus a resolved schema, protocol plus your catalog, dramatically cuts malformed JSON. Always have the text fallback wired; the agent should never leave the user with a blank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 STRUCTURE + GATE + RECORD made real. The payload is the star; Streamlit is the admin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SHOW + STRUCTURE + GATE + RECORD from earlier, made real. Keep it simple: the payload is the star; Streamlit is the admin lens.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1 teaches the pattern; Notebook 2 puts it in the AWS production frame. Same TravelMind anchor so cognitive load stays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slide, this is it. The decision rules matter more than the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Forward view. The protocols are settling into clean layers. The skill that lasts is knowing which layer a problem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them to a2ui.org for the spec and the Strands repo to read real code. End on the decision framing, not the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1.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slideLayout" Target="../slideLayouts/slideLayout1.xml"/><Relationship Id="rId9"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1.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slideLayout" Target="../slideLayouts/slideLayout1.xml"/><Relationship Id="rId7"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slideLayout" Target="../slideLayouts/slideLayout1.xml"/><Relationship Id="rId8"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330"/>
        </a:solidFill>
      </p:bgPr>
    </p:bg>
    <p:spTree>
      <p:nvGrpSpPr>
        <p:cNvPr id="1" name=""/>
        <p:cNvGrpSpPr/>
        <p:nvPr/>
      </p:nvGrpSpPr>
      <p:grpSpPr>
        <a:xfrm>
          <a:off x="0" y="0"/>
          <a:ext cx="0" cy="0"/>
          <a:chOff x="0" y="0"/>
          <a:chExt cx="0" cy="0"/>
        </a:xfrm>
      </p:grpSpPr>
      <p:sp>
        <p:nvSpPr>
          <p:cNvPr id="2" name="Shape 0"/>
          <p:cNvSpPr/>
          <p:nvPr/>
        </p:nvSpPr>
        <p:spPr>
          <a:xfrm>
            <a:off x="7955280" y="1371600"/>
            <a:ext cx="3566160" cy="713232"/>
          </a:xfrm>
          <a:prstGeom prst="roundRect">
            <a:avLst>
              <a:gd name="adj" fmla="val 12821"/>
            </a:avLst>
          </a:prstGeom>
          <a:solidFill>
            <a:srgbClr val="0E7C86">
              <a:alpha val="70000"/>
            </a:srgbClr>
          </a:solidFill>
          <a:ln/>
        </p:spPr>
      </p:sp>
      <p:sp>
        <p:nvSpPr>
          <p:cNvPr id="3" name="Shape 1"/>
          <p:cNvSpPr/>
          <p:nvPr/>
        </p:nvSpPr>
        <p:spPr>
          <a:xfrm>
            <a:off x="8101584" y="2240280"/>
            <a:ext cx="3566160" cy="713232"/>
          </a:xfrm>
          <a:prstGeom prst="roundRect">
            <a:avLst>
              <a:gd name="adj" fmla="val 12821"/>
            </a:avLst>
          </a:prstGeom>
          <a:solidFill>
            <a:srgbClr val="0E7C86">
              <a:alpha val="56000"/>
            </a:srgbClr>
          </a:solidFill>
          <a:ln/>
        </p:spPr>
      </p:sp>
      <p:sp>
        <p:nvSpPr>
          <p:cNvPr id="4" name="Shape 2"/>
          <p:cNvSpPr/>
          <p:nvPr/>
        </p:nvSpPr>
        <p:spPr>
          <a:xfrm>
            <a:off x="8247888" y="3108960"/>
            <a:ext cx="3566160" cy="713232"/>
          </a:xfrm>
          <a:prstGeom prst="roundRect">
            <a:avLst>
              <a:gd name="adj" fmla="val 12821"/>
            </a:avLst>
          </a:prstGeom>
          <a:solidFill>
            <a:srgbClr val="0E7C86">
              <a:alpha val="42000"/>
            </a:srgbClr>
          </a:solidFill>
          <a:ln/>
        </p:spPr>
      </p:sp>
      <p:sp>
        <p:nvSpPr>
          <p:cNvPr id="5" name="Shape 3"/>
          <p:cNvSpPr/>
          <p:nvPr/>
        </p:nvSpPr>
        <p:spPr>
          <a:xfrm>
            <a:off x="8394192" y="3977640"/>
            <a:ext cx="3566160" cy="713232"/>
          </a:xfrm>
          <a:prstGeom prst="roundRect">
            <a:avLst>
              <a:gd name="adj" fmla="val 12821"/>
            </a:avLst>
          </a:prstGeom>
          <a:solidFill>
            <a:srgbClr val="0E7C86">
              <a:alpha val="28000"/>
            </a:srgbClr>
          </a:solidFill>
          <a:ln/>
        </p:spPr>
      </p:sp>
      <p:sp>
        <p:nvSpPr>
          <p:cNvPr id="6" name="Shape 4"/>
          <p:cNvSpPr/>
          <p:nvPr/>
        </p:nvSpPr>
        <p:spPr>
          <a:xfrm>
            <a:off x="868680" y="1371600"/>
            <a:ext cx="960120" cy="96012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7" name="Image 0" descr="preencoded.png">    </p:cNvPr>
          <p:cNvPicPr>
            <a:picLocks noChangeAspect="1"/>
          </p:cNvPicPr>
          <p:nvPr/>
        </p:nvPicPr>
        <p:blipFill>
          <a:blip r:embed="rId1"/>
          <a:stretch>
            <a:fillRect/>
          </a:stretch>
        </p:blipFill>
        <p:spPr>
          <a:xfrm>
            <a:off x="1118311" y="1621231"/>
            <a:ext cx="460858" cy="460858"/>
          </a:xfrm>
          <a:prstGeom prst="rect">
            <a:avLst/>
          </a:prstGeom>
        </p:spPr>
      </p:pic>
      <p:sp>
        <p:nvSpPr>
          <p:cNvPr id="8" name="Text 5"/>
          <p:cNvSpPr/>
          <p:nvPr/>
        </p:nvSpPr>
        <p:spPr>
          <a:xfrm>
            <a:off x="868680" y="2606040"/>
            <a:ext cx="7315200" cy="365760"/>
          </a:xfrm>
          <a:prstGeom prst="rect">
            <a:avLst/>
          </a:prstGeom>
          <a:noFill/>
          <a:ln/>
        </p:spPr>
        <p:txBody>
          <a:bodyPr wrap="square" lIns="0" tIns="0" rIns="0" bIns="0" rtlCol="0" anchor="ctr"/>
          <a:lstStyle/>
          <a:p>
            <a:pPr indent="0" marL="0">
              <a:buNone/>
            </a:pPr>
            <a:r>
              <a:rPr lang="en-US" sz="1300" b="1" spc="300" kern="0" dirty="0">
                <a:solidFill>
                  <a:srgbClr val="5EEAD4"/>
                </a:solidFill>
                <a:latin typeface="Calibri" pitchFamily="34" charset="0"/>
                <a:ea typeface="Calibri" pitchFamily="34" charset="-122"/>
                <a:cs typeface="Calibri" pitchFamily="34" charset="-120"/>
              </a:rPr>
              <a:t>AGENTIC AI PRACTITIONER BOOTCAMP · FINAL DAY</a:t>
            </a:r>
            <a:endParaRPr lang="en-US" sz="1300" dirty="0"/>
          </a:p>
        </p:txBody>
      </p:sp>
      <p:sp>
        <p:nvSpPr>
          <p:cNvPr id="9" name="Text 6"/>
          <p:cNvSpPr/>
          <p:nvPr/>
        </p:nvSpPr>
        <p:spPr>
          <a:xfrm>
            <a:off x="822960" y="2971800"/>
            <a:ext cx="768096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UI Layer for AI Agents</a:t>
            </a:r>
            <a:endParaRPr lang="en-US" sz="4400" dirty="0"/>
          </a:p>
        </p:txBody>
      </p:sp>
      <p:sp>
        <p:nvSpPr>
          <p:cNvPr id="10" name="Text 7"/>
          <p:cNvSpPr/>
          <p:nvPr/>
        </p:nvSpPr>
        <p:spPr>
          <a:xfrm>
            <a:off x="868680" y="3977640"/>
            <a:ext cx="7040880" cy="822960"/>
          </a:xfrm>
          <a:prstGeom prst="rect">
            <a:avLst/>
          </a:prstGeom>
          <a:noFill/>
          <a:ln/>
        </p:spPr>
        <p:txBody>
          <a:bodyPr wrap="square" lIns="0" tIns="0" rIns="0" bIns="0" rtlCol="0" anchor="ctr"/>
          <a:lstStyle/>
          <a:p>
            <a:pPr indent="0" marL="0">
              <a:buNone/>
            </a:pPr>
            <a:r>
              <a:rPr lang="en-US" sz="1700" dirty="0">
                <a:solidFill>
                  <a:srgbClr val="C7D9E2"/>
                </a:solidFill>
                <a:latin typeface="Calibri" pitchFamily="34" charset="0"/>
                <a:ea typeface="Calibri" pitchFamily="34" charset="-122"/>
                <a:cs typeface="Calibri" pitchFamily="34" charset="-120"/>
              </a:rPr>
              <a:t>A2UI, structured UI patterns, and the production decisions that come with them</a:t>
            </a:r>
            <a:endParaRPr lang="en-US" sz="1700" dirty="0"/>
          </a:p>
        </p:txBody>
      </p:sp>
      <p:sp>
        <p:nvSpPr>
          <p:cNvPr id="11" name="Text 8"/>
          <p:cNvSpPr/>
          <p:nvPr/>
        </p:nvSpPr>
        <p:spPr>
          <a:xfrm>
            <a:off x="868680" y="4800600"/>
            <a:ext cx="7040880" cy="457200"/>
          </a:xfrm>
          <a:prstGeom prst="rect">
            <a:avLst/>
          </a:prstGeom>
          <a:noFill/>
          <a:ln/>
        </p:spPr>
        <p:txBody>
          <a:bodyPr wrap="square" lIns="0" tIns="0" rIns="0" bIns="0" rtlCol="0" anchor="ctr"/>
          <a:lstStyle/>
          <a:p>
            <a:pPr indent="0" marL="0">
              <a:buNone/>
            </a:pPr>
            <a:r>
              <a:rPr lang="en-US" sz="1200" i="1" dirty="0">
                <a:solidFill>
                  <a:srgbClr val="8FB0BF"/>
                </a:solidFill>
                <a:latin typeface="Calibri" pitchFamily="34" charset="0"/>
                <a:ea typeface="Calibri" pitchFamily="34" charset="-122"/>
                <a:cs typeface="Calibri" pitchFamily="34" charset="-120"/>
              </a:rPr>
              <a:t>From first principles to production judgment · Anchored on the TravelMind agent</a:t>
            </a:r>
            <a:endParaRPr lang="en-US" sz="1200" dirty="0"/>
          </a:p>
        </p:txBody>
      </p:sp>
      <p:sp>
        <p:nvSpPr>
          <p:cNvPr id="12" name="Text 9"/>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EEAD4"/>
                </a:solidFill>
                <a:latin typeface="Consolas" pitchFamily="34" charset="0"/>
                <a:ea typeface="Consolas" pitchFamily="34" charset="-122"/>
                <a:cs typeface="Consolas" pitchFamily="34" charset="-120"/>
              </a:rPr>
              <a:t>01</a:t>
            </a:r>
            <a:endParaRPr lang="en-US" sz="900" dirty="0"/>
          </a:p>
        </p:txBody>
      </p:sp>
      <p:sp>
        <p:nvSpPr>
          <p:cNvPr id="13" name="Text 10"/>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7FA6B6"/>
                </a:solidFill>
                <a:latin typeface="Calibri" pitchFamily="34" charset="0"/>
                <a:ea typeface="Calibri" pitchFamily="34" charset="-122"/>
                <a:cs typeface="Calibri" pitchFamily="34" charset="-120"/>
              </a:rPr>
              <a:t>A2UI · Agentic UI Layer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SETTING THE STAGE</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Where you are now</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02</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600200"/>
            <a:ext cx="5669280" cy="365760"/>
          </a:xfrm>
          <a:prstGeom prst="rect">
            <a:avLst/>
          </a:prstGeom>
          <a:noFill/>
          <a:ln/>
        </p:spPr>
        <p:txBody>
          <a:bodyPr wrap="square" lIns="0" tIns="0" rIns="0" bIns="0" rtlCol="0" anchor="ctr"/>
          <a:lstStyle/>
          <a:p>
            <a:pPr indent="0" marL="0">
              <a:buNone/>
            </a:pPr>
            <a:r>
              <a:rPr lang="en-US" sz="1600" b="1" dirty="0">
                <a:solidFill>
                  <a:srgbClr val="0E7C86"/>
                </a:solidFill>
                <a:latin typeface="Cambria" pitchFamily="34" charset="0"/>
                <a:ea typeface="Cambria" pitchFamily="34" charset="-122"/>
                <a:cs typeface="Cambria" pitchFamily="34" charset="-120"/>
              </a:rPr>
              <a:t>The stack you already built</a:t>
            </a:r>
            <a:endParaRPr lang="en-US" sz="1600" dirty="0"/>
          </a:p>
        </p:txBody>
      </p:sp>
      <p:sp>
        <p:nvSpPr>
          <p:cNvPr id="9" name="Shape 6"/>
          <p:cNvSpPr/>
          <p:nvPr/>
        </p:nvSpPr>
        <p:spPr>
          <a:xfrm>
            <a:off x="548640" y="2057400"/>
            <a:ext cx="5532120" cy="566928"/>
          </a:xfrm>
          <a:prstGeom prst="roundRect">
            <a:avLst>
              <a:gd name="adj" fmla="val 12903"/>
            </a:avLst>
          </a:prstGeom>
          <a:solidFill>
            <a:srgbClr val="F1F6F8"/>
          </a:solidFill>
          <a:ln w="9525">
            <a:solidFill>
              <a:srgbClr val="CBD9E0"/>
            </a:solidFill>
            <a:prstDash val="solid"/>
          </a:ln>
        </p:spPr>
      </p:sp>
      <p:sp>
        <p:nvSpPr>
          <p:cNvPr id="10" name="Text 7"/>
          <p:cNvSpPr/>
          <p:nvPr/>
        </p:nvSpPr>
        <p:spPr>
          <a:xfrm>
            <a:off x="713232" y="2057400"/>
            <a:ext cx="2194560" cy="566928"/>
          </a:xfrm>
          <a:prstGeom prst="rect">
            <a:avLst/>
          </a:prstGeom>
          <a:noFill/>
          <a:ln/>
        </p:spPr>
        <p:txBody>
          <a:bodyPr wrap="square" lIns="0" tIns="0" rIns="0" bIns="0" rtlCol="0" anchor="ctr"/>
          <a:lstStyle/>
          <a:p>
            <a:pPr indent="0" marL="0">
              <a:buNone/>
            </a:pPr>
            <a:r>
              <a:rPr lang="en-US" sz="1250" b="1" dirty="0">
                <a:solidFill>
                  <a:srgbClr val="0E2330"/>
                </a:solidFill>
                <a:latin typeface="Calibri" pitchFamily="34" charset="0"/>
                <a:ea typeface="Calibri" pitchFamily="34" charset="-122"/>
                <a:cs typeface="Calibri" pitchFamily="34" charset="-120"/>
              </a:rPr>
              <a:t>Bedrock models</a:t>
            </a:r>
            <a:endParaRPr lang="en-US" sz="1250" dirty="0"/>
          </a:p>
        </p:txBody>
      </p:sp>
      <p:sp>
        <p:nvSpPr>
          <p:cNvPr id="11" name="Text 8"/>
          <p:cNvSpPr/>
          <p:nvPr/>
        </p:nvSpPr>
        <p:spPr>
          <a:xfrm>
            <a:off x="2926080" y="2057400"/>
            <a:ext cx="3063240" cy="566928"/>
          </a:xfrm>
          <a:prstGeom prst="rect">
            <a:avLst/>
          </a:prstGeom>
          <a:noFill/>
          <a:ln/>
        </p:spPr>
        <p:txBody>
          <a:bodyPr wrap="square" lIns="0" tIns="0" rIns="0" bIns="0" rtlCol="0" anchor="ctr"/>
          <a:lstStyle/>
          <a:p>
            <a:pPr indent="0" marL="0">
              <a:buNone/>
            </a:pPr>
            <a:r>
              <a:rPr lang="en-US" sz="1100" dirty="0">
                <a:solidFill>
                  <a:srgbClr val="5B7383"/>
                </a:solidFill>
                <a:latin typeface="Calibri" pitchFamily="34" charset="0"/>
                <a:ea typeface="Calibri" pitchFamily="34" charset="-122"/>
                <a:cs typeface="Calibri" pitchFamily="34" charset="-120"/>
              </a:rPr>
              <a:t>Claude on Bedrock via inference profiles</a:t>
            </a:r>
            <a:endParaRPr lang="en-US" sz="1100" dirty="0"/>
          </a:p>
        </p:txBody>
      </p:sp>
      <p:sp>
        <p:nvSpPr>
          <p:cNvPr id="12" name="Shape 9"/>
          <p:cNvSpPr/>
          <p:nvPr/>
        </p:nvSpPr>
        <p:spPr>
          <a:xfrm>
            <a:off x="548640" y="2715768"/>
            <a:ext cx="5532120" cy="566928"/>
          </a:xfrm>
          <a:prstGeom prst="roundRect">
            <a:avLst>
              <a:gd name="adj" fmla="val 12903"/>
            </a:avLst>
          </a:prstGeom>
          <a:solidFill>
            <a:srgbClr val="F1F6F8"/>
          </a:solidFill>
          <a:ln w="9525">
            <a:solidFill>
              <a:srgbClr val="CBD9E0"/>
            </a:solidFill>
            <a:prstDash val="solid"/>
          </a:ln>
        </p:spPr>
      </p:sp>
      <p:sp>
        <p:nvSpPr>
          <p:cNvPr id="13" name="Text 10"/>
          <p:cNvSpPr/>
          <p:nvPr/>
        </p:nvSpPr>
        <p:spPr>
          <a:xfrm>
            <a:off x="713232" y="2715768"/>
            <a:ext cx="2194560" cy="566928"/>
          </a:xfrm>
          <a:prstGeom prst="rect">
            <a:avLst/>
          </a:prstGeom>
          <a:noFill/>
          <a:ln/>
        </p:spPr>
        <p:txBody>
          <a:bodyPr wrap="square" lIns="0" tIns="0" rIns="0" bIns="0" rtlCol="0" anchor="ctr"/>
          <a:lstStyle/>
          <a:p>
            <a:pPr indent="0" marL="0">
              <a:buNone/>
            </a:pPr>
            <a:r>
              <a:rPr lang="en-US" sz="1250" b="1" dirty="0">
                <a:solidFill>
                  <a:srgbClr val="0E2330"/>
                </a:solidFill>
                <a:latin typeface="Calibri" pitchFamily="34" charset="0"/>
                <a:ea typeface="Calibri" pitchFamily="34" charset="-122"/>
                <a:cs typeface="Calibri" pitchFamily="34" charset="-120"/>
              </a:rPr>
              <a:t>RAG / OpenSearch</a:t>
            </a:r>
            <a:endParaRPr lang="en-US" sz="1250" dirty="0"/>
          </a:p>
        </p:txBody>
      </p:sp>
      <p:sp>
        <p:nvSpPr>
          <p:cNvPr id="14" name="Text 11"/>
          <p:cNvSpPr/>
          <p:nvPr/>
        </p:nvSpPr>
        <p:spPr>
          <a:xfrm>
            <a:off x="2926080" y="2715768"/>
            <a:ext cx="3063240" cy="566928"/>
          </a:xfrm>
          <a:prstGeom prst="rect">
            <a:avLst/>
          </a:prstGeom>
          <a:noFill/>
          <a:ln/>
        </p:spPr>
        <p:txBody>
          <a:bodyPr wrap="square" lIns="0" tIns="0" rIns="0" bIns="0" rtlCol="0" anchor="ctr"/>
          <a:lstStyle/>
          <a:p>
            <a:pPr indent="0" marL="0">
              <a:buNone/>
            </a:pPr>
            <a:r>
              <a:rPr lang="en-US" sz="1100" dirty="0">
                <a:solidFill>
                  <a:srgbClr val="5B7383"/>
                </a:solidFill>
                <a:latin typeface="Calibri" pitchFamily="34" charset="0"/>
                <a:ea typeface="Calibri" pitchFamily="34" charset="-122"/>
                <a:cs typeface="Calibri" pitchFamily="34" charset="-120"/>
              </a:rPr>
              <a:t>grounded answers from your data</a:t>
            </a:r>
            <a:endParaRPr lang="en-US" sz="1100" dirty="0"/>
          </a:p>
        </p:txBody>
      </p:sp>
      <p:sp>
        <p:nvSpPr>
          <p:cNvPr id="15" name="Shape 12"/>
          <p:cNvSpPr/>
          <p:nvPr/>
        </p:nvSpPr>
        <p:spPr>
          <a:xfrm>
            <a:off x="548640" y="3374136"/>
            <a:ext cx="5532120" cy="566928"/>
          </a:xfrm>
          <a:prstGeom prst="roundRect">
            <a:avLst>
              <a:gd name="adj" fmla="val 12903"/>
            </a:avLst>
          </a:prstGeom>
          <a:solidFill>
            <a:srgbClr val="F1F6F8"/>
          </a:solidFill>
          <a:ln w="9525">
            <a:solidFill>
              <a:srgbClr val="CBD9E0"/>
            </a:solidFill>
            <a:prstDash val="solid"/>
          </a:ln>
        </p:spPr>
      </p:sp>
      <p:sp>
        <p:nvSpPr>
          <p:cNvPr id="16" name="Text 13"/>
          <p:cNvSpPr/>
          <p:nvPr/>
        </p:nvSpPr>
        <p:spPr>
          <a:xfrm>
            <a:off x="713232" y="3374136"/>
            <a:ext cx="2194560" cy="566928"/>
          </a:xfrm>
          <a:prstGeom prst="rect">
            <a:avLst/>
          </a:prstGeom>
          <a:noFill/>
          <a:ln/>
        </p:spPr>
        <p:txBody>
          <a:bodyPr wrap="square" lIns="0" tIns="0" rIns="0" bIns="0" rtlCol="0" anchor="ctr"/>
          <a:lstStyle/>
          <a:p>
            <a:pPr indent="0" marL="0">
              <a:buNone/>
            </a:pPr>
            <a:r>
              <a:rPr lang="en-US" sz="1250" b="1" dirty="0">
                <a:solidFill>
                  <a:srgbClr val="0E2330"/>
                </a:solidFill>
                <a:latin typeface="Calibri" pitchFamily="34" charset="0"/>
                <a:ea typeface="Calibri" pitchFamily="34" charset="-122"/>
                <a:cs typeface="Calibri" pitchFamily="34" charset="-120"/>
              </a:rPr>
              <a:t>Strands agents</a:t>
            </a:r>
            <a:endParaRPr lang="en-US" sz="1250" dirty="0"/>
          </a:p>
        </p:txBody>
      </p:sp>
      <p:sp>
        <p:nvSpPr>
          <p:cNvPr id="17" name="Text 14"/>
          <p:cNvSpPr/>
          <p:nvPr/>
        </p:nvSpPr>
        <p:spPr>
          <a:xfrm>
            <a:off x="2926080" y="3374136"/>
            <a:ext cx="3063240" cy="566928"/>
          </a:xfrm>
          <a:prstGeom prst="rect">
            <a:avLst/>
          </a:prstGeom>
          <a:noFill/>
          <a:ln/>
        </p:spPr>
        <p:txBody>
          <a:bodyPr wrap="square" lIns="0" tIns="0" rIns="0" bIns="0" rtlCol="0" anchor="ctr"/>
          <a:lstStyle/>
          <a:p>
            <a:pPr indent="0" marL="0">
              <a:buNone/>
            </a:pPr>
            <a:r>
              <a:rPr lang="en-US" sz="1100" dirty="0">
                <a:solidFill>
                  <a:srgbClr val="5B7383"/>
                </a:solidFill>
                <a:latin typeface="Calibri" pitchFamily="34" charset="0"/>
                <a:ea typeface="Calibri" pitchFamily="34" charset="-122"/>
                <a:cs typeface="Calibri" pitchFamily="34" charset="-120"/>
              </a:rPr>
              <a:t>the model-driven agent loop + tools</a:t>
            </a:r>
            <a:endParaRPr lang="en-US" sz="1100" dirty="0"/>
          </a:p>
        </p:txBody>
      </p:sp>
      <p:sp>
        <p:nvSpPr>
          <p:cNvPr id="18" name="Shape 15"/>
          <p:cNvSpPr/>
          <p:nvPr/>
        </p:nvSpPr>
        <p:spPr>
          <a:xfrm>
            <a:off x="548640" y="4032504"/>
            <a:ext cx="5532120" cy="566928"/>
          </a:xfrm>
          <a:prstGeom prst="roundRect">
            <a:avLst>
              <a:gd name="adj" fmla="val 12903"/>
            </a:avLst>
          </a:prstGeom>
          <a:solidFill>
            <a:srgbClr val="F1F6F8"/>
          </a:solidFill>
          <a:ln w="9525">
            <a:solidFill>
              <a:srgbClr val="CBD9E0"/>
            </a:solidFill>
            <a:prstDash val="solid"/>
          </a:ln>
        </p:spPr>
      </p:sp>
      <p:sp>
        <p:nvSpPr>
          <p:cNvPr id="19" name="Text 16"/>
          <p:cNvSpPr/>
          <p:nvPr/>
        </p:nvSpPr>
        <p:spPr>
          <a:xfrm>
            <a:off x="713232" y="4032504"/>
            <a:ext cx="2194560" cy="566928"/>
          </a:xfrm>
          <a:prstGeom prst="rect">
            <a:avLst/>
          </a:prstGeom>
          <a:noFill/>
          <a:ln/>
        </p:spPr>
        <p:txBody>
          <a:bodyPr wrap="square" lIns="0" tIns="0" rIns="0" bIns="0" rtlCol="0" anchor="ctr"/>
          <a:lstStyle/>
          <a:p>
            <a:pPr indent="0" marL="0">
              <a:buNone/>
            </a:pPr>
            <a:r>
              <a:rPr lang="en-US" sz="1250" b="1" dirty="0">
                <a:solidFill>
                  <a:srgbClr val="0E2330"/>
                </a:solidFill>
                <a:latin typeface="Calibri" pitchFamily="34" charset="0"/>
                <a:ea typeface="Calibri" pitchFamily="34" charset="-122"/>
                <a:cs typeface="Calibri" pitchFamily="34" charset="-120"/>
              </a:rPr>
              <a:t>MCP</a:t>
            </a:r>
            <a:endParaRPr lang="en-US" sz="1250" dirty="0"/>
          </a:p>
        </p:txBody>
      </p:sp>
      <p:sp>
        <p:nvSpPr>
          <p:cNvPr id="20" name="Text 17"/>
          <p:cNvSpPr/>
          <p:nvPr/>
        </p:nvSpPr>
        <p:spPr>
          <a:xfrm>
            <a:off x="2926080" y="4032504"/>
            <a:ext cx="3063240" cy="566928"/>
          </a:xfrm>
          <a:prstGeom prst="rect">
            <a:avLst/>
          </a:prstGeom>
          <a:noFill/>
          <a:ln/>
        </p:spPr>
        <p:txBody>
          <a:bodyPr wrap="square" lIns="0" tIns="0" rIns="0" bIns="0" rtlCol="0" anchor="ctr"/>
          <a:lstStyle/>
          <a:p>
            <a:pPr indent="0" marL="0">
              <a:buNone/>
            </a:pPr>
            <a:r>
              <a:rPr lang="en-US" sz="1100" dirty="0">
                <a:solidFill>
                  <a:srgbClr val="5B7383"/>
                </a:solidFill>
                <a:latin typeface="Calibri" pitchFamily="34" charset="0"/>
                <a:ea typeface="Calibri" pitchFamily="34" charset="-122"/>
                <a:cs typeface="Calibri" pitchFamily="34" charset="-120"/>
              </a:rPr>
              <a:t>the agent reaches external tools</a:t>
            </a:r>
            <a:endParaRPr lang="en-US" sz="1100" dirty="0"/>
          </a:p>
        </p:txBody>
      </p:sp>
      <p:sp>
        <p:nvSpPr>
          <p:cNvPr id="21" name="Shape 18"/>
          <p:cNvSpPr/>
          <p:nvPr/>
        </p:nvSpPr>
        <p:spPr>
          <a:xfrm>
            <a:off x="548640" y="4690872"/>
            <a:ext cx="5532120" cy="566928"/>
          </a:xfrm>
          <a:prstGeom prst="roundRect">
            <a:avLst>
              <a:gd name="adj" fmla="val 12903"/>
            </a:avLst>
          </a:prstGeom>
          <a:solidFill>
            <a:srgbClr val="F1F6F8"/>
          </a:solidFill>
          <a:ln w="9525">
            <a:solidFill>
              <a:srgbClr val="CBD9E0"/>
            </a:solidFill>
            <a:prstDash val="solid"/>
          </a:ln>
        </p:spPr>
      </p:sp>
      <p:sp>
        <p:nvSpPr>
          <p:cNvPr id="22" name="Text 19"/>
          <p:cNvSpPr/>
          <p:nvPr/>
        </p:nvSpPr>
        <p:spPr>
          <a:xfrm>
            <a:off x="713232" y="4690872"/>
            <a:ext cx="2194560" cy="566928"/>
          </a:xfrm>
          <a:prstGeom prst="rect">
            <a:avLst/>
          </a:prstGeom>
          <a:noFill/>
          <a:ln/>
        </p:spPr>
        <p:txBody>
          <a:bodyPr wrap="square" lIns="0" tIns="0" rIns="0" bIns="0" rtlCol="0" anchor="ctr"/>
          <a:lstStyle/>
          <a:p>
            <a:pPr indent="0" marL="0">
              <a:buNone/>
            </a:pPr>
            <a:r>
              <a:rPr lang="en-US" sz="1250" b="1" dirty="0">
                <a:solidFill>
                  <a:srgbClr val="0E2330"/>
                </a:solidFill>
                <a:latin typeface="Calibri" pitchFamily="34" charset="0"/>
                <a:ea typeface="Calibri" pitchFamily="34" charset="-122"/>
                <a:cs typeface="Calibri" pitchFamily="34" charset="-120"/>
              </a:rPr>
              <a:t>A2A</a:t>
            </a:r>
            <a:endParaRPr lang="en-US" sz="1250" dirty="0"/>
          </a:p>
        </p:txBody>
      </p:sp>
      <p:sp>
        <p:nvSpPr>
          <p:cNvPr id="23" name="Text 20"/>
          <p:cNvSpPr/>
          <p:nvPr/>
        </p:nvSpPr>
        <p:spPr>
          <a:xfrm>
            <a:off x="2926080" y="4690872"/>
            <a:ext cx="3063240" cy="566928"/>
          </a:xfrm>
          <a:prstGeom prst="rect">
            <a:avLst/>
          </a:prstGeom>
          <a:noFill/>
          <a:ln/>
        </p:spPr>
        <p:txBody>
          <a:bodyPr wrap="square" lIns="0" tIns="0" rIns="0" bIns="0" rtlCol="0" anchor="ctr"/>
          <a:lstStyle/>
          <a:p>
            <a:pPr indent="0" marL="0">
              <a:buNone/>
            </a:pPr>
            <a:r>
              <a:rPr lang="en-US" sz="1100" dirty="0">
                <a:solidFill>
                  <a:srgbClr val="5B7383"/>
                </a:solidFill>
                <a:latin typeface="Calibri" pitchFamily="34" charset="0"/>
                <a:ea typeface="Calibri" pitchFamily="34" charset="-122"/>
                <a:cs typeface="Calibri" pitchFamily="34" charset="-120"/>
              </a:rPr>
              <a:t>agents coordinate with each other</a:t>
            </a:r>
            <a:endParaRPr lang="en-US" sz="1100" dirty="0"/>
          </a:p>
        </p:txBody>
      </p:sp>
      <p:sp>
        <p:nvSpPr>
          <p:cNvPr id="24" name="Shape 21"/>
          <p:cNvSpPr/>
          <p:nvPr/>
        </p:nvSpPr>
        <p:spPr>
          <a:xfrm>
            <a:off x="548640" y="5349240"/>
            <a:ext cx="5532120" cy="566928"/>
          </a:xfrm>
          <a:prstGeom prst="roundRect">
            <a:avLst>
              <a:gd name="adj" fmla="val 12903"/>
            </a:avLst>
          </a:prstGeom>
          <a:solidFill>
            <a:srgbClr val="F1F6F8"/>
          </a:solidFill>
          <a:ln w="9525">
            <a:solidFill>
              <a:srgbClr val="CBD9E0"/>
            </a:solidFill>
            <a:prstDash val="solid"/>
          </a:ln>
        </p:spPr>
      </p:sp>
      <p:sp>
        <p:nvSpPr>
          <p:cNvPr id="25" name="Text 22"/>
          <p:cNvSpPr/>
          <p:nvPr/>
        </p:nvSpPr>
        <p:spPr>
          <a:xfrm>
            <a:off x="713232" y="5349240"/>
            <a:ext cx="2194560" cy="566928"/>
          </a:xfrm>
          <a:prstGeom prst="rect">
            <a:avLst/>
          </a:prstGeom>
          <a:noFill/>
          <a:ln/>
        </p:spPr>
        <p:txBody>
          <a:bodyPr wrap="square" lIns="0" tIns="0" rIns="0" bIns="0" rtlCol="0" anchor="ctr"/>
          <a:lstStyle/>
          <a:p>
            <a:pPr indent="0" marL="0">
              <a:buNone/>
            </a:pPr>
            <a:r>
              <a:rPr lang="en-US" sz="1250" b="1" dirty="0">
                <a:solidFill>
                  <a:srgbClr val="0E2330"/>
                </a:solidFill>
                <a:latin typeface="Calibri" pitchFamily="34" charset="0"/>
                <a:ea typeface="Calibri" pitchFamily="34" charset="-122"/>
                <a:cs typeface="Calibri" pitchFamily="34" charset="-120"/>
              </a:rPr>
              <a:t>AgentCore</a:t>
            </a:r>
            <a:endParaRPr lang="en-US" sz="1250" dirty="0"/>
          </a:p>
        </p:txBody>
      </p:sp>
      <p:sp>
        <p:nvSpPr>
          <p:cNvPr id="26" name="Text 23"/>
          <p:cNvSpPr/>
          <p:nvPr/>
        </p:nvSpPr>
        <p:spPr>
          <a:xfrm>
            <a:off x="2926080" y="5349240"/>
            <a:ext cx="3063240" cy="566928"/>
          </a:xfrm>
          <a:prstGeom prst="rect">
            <a:avLst/>
          </a:prstGeom>
          <a:noFill/>
          <a:ln/>
        </p:spPr>
        <p:txBody>
          <a:bodyPr wrap="square" lIns="0" tIns="0" rIns="0" bIns="0" rtlCol="0" anchor="ctr"/>
          <a:lstStyle/>
          <a:p>
            <a:pPr indent="0" marL="0">
              <a:buNone/>
            </a:pPr>
            <a:r>
              <a:rPr lang="en-US" sz="1100" dirty="0">
                <a:solidFill>
                  <a:srgbClr val="5B7383"/>
                </a:solidFill>
                <a:latin typeface="Calibri" pitchFamily="34" charset="0"/>
                <a:ea typeface="Calibri" pitchFamily="34" charset="-122"/>
                <a:cs typeface="Calibri" pitchFamily="34" charset="-120"/>
              </a:rPr>
              <a:t>a production home for the agent</a:t>
            </a:r>
            <a:endParaRPr lang="en-US" sz="1100" dirty="0"/>
          </a:p>
        </p:txBody>
      </p:sp>
      <p:sp>
        <p:nvSpPr>
          <p:cNvPr id="27" name="Shape 24"/>
          <p:cNvSpPr/>
          <p:nvPr/>
        </p:nvSpPr>
        <p:spPr>
          <a:xfrm>
            <a:off x="6537960" y="1828800"/>
            <a:ext cx="5074920" cy="3703320"/>
          </a:xfrm>
          <a:prstGeom prst="roundRect">
            <a:avLst>
              <a:gd name="adj" fmla="val 2963"/>
            </a:avLst>
          </a:prstGeom>
          <a:solidFill>
            <a:srgbClr val="0E2330"/>
          </a:solidFill>
          <a:ln/>
          <a:effectLst>
            <a:outerShdw sx="100000" sy="100000" kx="0" ky="0" algn="bl" rotWithShape="0" blurRad="88900" dist="38100" dir="5400000">
              <a:srgbClr val="0B2430">
                <a:alpha val="13000"/>
              </a:srgbClr>
            </a:outerShdw>
          </a:effectLst>
        </p:spPr>
      </p:sp>
      <p:sp>
        <p:nvSpPr>
          <p:cNvPr id="28" name="Shape 25"/>
          <p:cNvSpPr/>
          <p:nvPr/>
        </p:nvSpPr>
        <p:spPr>
          <a:xfrm>
            <a:off x="6812280" y="2148840"/>
            <a:ext cx="640080" cy="64008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29" name="Image 1" descr="preencoded.png">    </p:cNvPr>
          <p:cNvPicPr>
            <a:picLocks noChangeAspect="1"/>
          </p:cNvPicPr>
          <p:nvPr/>
        </p:nvPicPr>
        <p:blipFill>
          <a:blip r:embed="rId2"/>
          <a:stretch>
            <a:fillRect/>
          </a:stretch>
        </p:blipFill>
        <p:spPr>
          <a:xfrm>
            <a:off x="6978701" y="2315261"/>
            <a:ext cx="307238" cy="307238"/>
          </a:xfrm>
          <a:prstGeom prst="rect">
            <a:avLst/>
          </a:prstGeom>
        </p:spPr>
      </p:pic>
      <p:sp>
        <p:nvSpPr>
          <p:cNvPr id="30" name="Text 26"/>
          <p:cNvSpPr/>
          <p:nvPr/>
        </p:nvSpPr>
        <p:spPr>
          <a:xfrm>
            <a:off x="7635240" y="2240280"/>
            <a:ext cx="36576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The missing piece</a:t>
            </a:r>
            <a:endParaRPr lang="en-US" sz="1800" dirty="0"/>
          </a:p>
        </p:txBody>
      </p:sp>
      <p:sp>
        <p:nvSpPr>
          <p:cNvPr id="31" name="Text 27"/>
          <p:cNvSpPr/>
          <p:nvPr/>
        </p:nvSpPr>
        <p:spPr>
          <a:xfrm>
            <a:off x="7635240" y="2651760"/>
            <a:ext cx="3657600" cy="320040"/>
          </a:xfrm>
          <a:prstGeom prst="rect">
            <a:avLst/>
          </a:prstGeom>
          <a:noFill/>
          <a:ln/>
        </p:spPr>
        <p:txBody>
          <a:bodyPr wrap="square" lIns="0" tIns="0" rIns="0" bIns="0" rtlCol="0" anchor="ctr"/>
          <a:lstStyle/>
          <a:p>
            <a:pPr indent="0" marL="0">
              <a:buNone/>
            </a:pPr>
            <a:r>
              <a:rPr lang="en-US" sz="1200" i="1" dirty="0">
                <a:solidFill>
                  <a:srgbClr val="5EEAD4"/>
                </a:solidFill>
                <a:latin typeface="Calibri" pitchFamily="34" charset="0"/>
                <a:ea typeface="Calibri" pitchFamily="34" charset="-122"/>
                <a:cs typeface="Calibri" pitchFamily="34" charset="-120"/>
              </a:rPr>
              <a:t>the human-facing layer</a:t>
            </a:r>
            <a:endParaRPr lang="en-US" sz="1200" dirty="0"/>
          </a:p>
        </p:txBody>
      </p:sp>
      <p:sp>
        <p:nvSpPr>
          <p:cNvPr id="32" name="Text 28"/>
          <p:cNvSpPr/>
          <p:nvPr/>
        </p:nvSpPr>
        <p:spPr>
          <a:xfrm>
            <a:off x="6812280" y="3246120"/>
            <a:ext cx="4526280" cy="1097280"/>
          </a:xfrm>
          <a:prstGeom prst="rect">
            <a:avLst/>
          </a:prstGeom>
          <a:noFill/>
          <a:ln/>
        </p:spPr>
        <p:txBody>
          <a:bodyPr wrap="square" lIns="0" tIns="0" rIns="0" bIns="0" rtlCol="0" anchor="t"/>
          <a:lstStyle/>
          <a:p>
            <a:pPr indent="0" marL="0">
              <a:lnSpc>
                <a:spcPct val="110000"/>
              </a:lnSpc>
              <a:buNone/>
            </a:pPr>
            <a:r>
              <a:rPr lang="en-US" sz="1500" dirty="0">
                <a:solidFill>
                  <a:srgbClr val="D6E5EC"/>
                </a:solidFill>
                <a:latin typeface="Calibri" pitchFamily="34" charset="0"/>
                <a:ea typeface="Calibri" pitchFamily="34" charset="-122"/>
                <a:cs typeface="Calibri" pitchFamily="34" charset="-120"/>
              </a:rPr>
              <a:t>Everything you built returns </a:t>
            </a:r>
            <a:pPr indent="0" marL="0">
              <a:lnSpc>
                <a:spcPct val="110000"/>
              </a:lnSpc>
              <a:buNone/>
            </a:pPr>
            <a:r>
              <a:rPr lang="en-US" sz="1500" b="1" dirty="0">
                <a:solidFill>
                  <a:srgbClr val="5EEAD4"/>
                </a:solidFill>
                <a:latin typeface="Calibri" pitchFamily="34" charset="0"/>
                <a:ea typeface="Calibri" pitchFamily="34" charset="-122"/>
                <a:cs typeface="Calibri" pitchFamily="34" charset="-120"/>
              </a:rPr>
              <a:t>text</a:t>
            </a:r>
            <a:pPr indent="0" marL="0">
              <a:lnSpc>
                <a:spcPct val="110000"/>
              </a:lnSpc>
              <a:buNone/>
            </a:pPr>
            <a:r>
              <a:rPr lang="en-US" sz="1500" dirty="0">
                <a:solidFill>
                  <a:srgbClr val="D6E5EC"/>
                </a:solidFill>
                <a:latin typeface="Calibri" pitchFamily="34" charset="0"/>
                <a:ea typeface="Calibri" pitchFamily="34" charset="-122"/>
                <a:cs typeface="Calibri" pitchFamily="34" charset="-120"/>
              </a:rPr>
              <a:t>.</a:t>
            </a:r>
            <a:endParaRPr lang="en-US" sz="1500" dirty="0"/>
          </a:p>
          <a:p>
            <a:pPr indent="0" marL="0">
              <a:lnSpc>
                <a:spcPct val="110000"/>
              </a:lnSpc>
              <a:buNone/>
            </a:pPr>
            <a:r>
              <a:rPr lang="en-US" sz="1500" b="1" dirty="0">
                <a:solidFill>
                  <a:srgbClr val="D6E5EC"/>
                </a:solidFill>
                <a:latin typeface="Calibri" pitchFamily="34" charset="0"/>
                <a:ea typeface="Calibri" pitchFamily="34" charset="-122"/>
                <a:cs typeface="Calibri" pitchFamily="34" charset="-120"/>
              </a:rPr>
              <a:t>Humans do not make decisions on walls of text.</a:t>
            </a:r>
            <a:endParaRPr lang="en-US" sz="1500" dirty="0"/>
          </a:p>
        </p:txBody>
      </p:sp>
      <p:sp>
        <p:nvSpPr>
          <p:cNvPr id="33" name="Text 29"/>
          <p:cNvSpPr/>
          <p:nvPr/>
        </p:nvSpPr>
        <p:spPr>
          <a:xfrm>
            <a:off x="6812280" y="4526280"/>
            <a:ext cx="4526280" cy="868680"/>
          </a:xfrm>
          <a:prstGeom prst="rect">
            <a:avLst/>
          </a:prstGeom>
          <a:noFill/>
          <a:ln/>
        </p:spPr>
        <p:txBody>
          <a:bodyPr wrap="square" lIns="0" tIns="0" rIns="0" bIns="0" rtlCol="0" anchor="t"/>
          <a:lstStyle/>
          <a:p>
            <a:pPr indent="0" marL="0">
              <a:buNone/>
            </a:pPr>
            <a:r>
              <a:rPr lang="en-US" sz="1150" dirty="0">
                <a:solidFill>
                  <a:srgbClr val="9FBDCB"/>
                </a:solidFill>
                <a:latin typeface="Calibri" pitchFamily="34" charset="0"/>
                <a:ea typeface="Calibri" pitchFamily="34" charset="-122"/>
                <a:cs typeface="Calibri" pitchFamily="34" charset="-120"/>
              </a:rPr>
              <a:t>MCP gave tools. A2A let agents coordinate. AgentCore gave them a home. None of it told the agent how to show a result to a person who has to act.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PROBLEM</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An agent speaks tokens. A human needs an interface.</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03</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dirty="0">
                <a:solidFill>
                  <a:srgbClr val="5B7383"/>
                </a:solidFill>
                <a:latin typeface="Calibri" pitchFamily="34" charset="0"/>
                <a:ea typeface="Calibri" pitchFamily="34" charset="-122"/>
                <a:cs typeface="Calibri" pitchFamily="34" charset="-120"/>
              </a:rPr>
              <a:t>The “wall of text” tax: re-reading, hunting for the number, no clear action, no record of what was shown.</a:t>
            </a:r>
            <a:endParaRPr lang="en-US" sz="1400" dirty="0"/>
          </a:p>
        </p:txBody>
      </p:sp>
      <p:sp>
        <p:nvSpPr>
          <p:cNvPr id="9" name="Shape 6"/>
          <p:cNvSpPr/>
          <p:nvPr/>
        </p:nvSpPr>
        <p:spPr>
          <a:xfrm>
            <a:off x="548640" y="2148840"/>
            <a:ext cx="5486400" cy="3200400"/>
          </a:xfrm>
          <a:prstGeom prst="roundRect">
            <a:avLst>
              <a:gd name="adj" fmla="val 2286"/>
            </a:avLst>
          </a:prstGeom>
          <a:solidFill>
            <a:srgbClr val="0A1B26"/>
          </a:solidFill>
          <a:ln/>
          <a:effectLst>
            <a:outerShdw sx="100000" sy="100000" kx="0" ky="0" algn="bl" rotWithShape="0" blurRad="88900" dist="38100" dir="5400000">
              <a:srgbClr val="0B2430">
                <a:alpha val="13000"/>
              </a:srgbClr>
            </a:outerShdw>
          </a:effectLst>
        </p:spPr>
      </p:sp>
      <p:sp>
        <p:nvSpPr>
          <p:cNvPr id="10" name="Text 7"/>
          <p:cNvSpPr/>
          <p:nvPr/>
        </p:nvSpPr>
        <p:spPr>
          <a:xfrm>
            <a:off x="749808" y="2258568"/>
            <a:ext cx="5084064" cy="274320"/>
          </a:xfrm>
          <a:prstGeom prst="rect">
            <a:avLst/>
          </a:prstGeom>
          <a:noFill/>
          <a:ln/>
        </p:spPr>
        <p:txBody>
          <a:bodyPr wrap="square" lIns="0" tIns="0" rIns="0" bIns="0" rtlCol="0" anchor="ctr"/>
          <a:lstStyle/>
          <a:p>
            <a:pPr indent="0" marL="0">
              <a:buNone/>
            </a:pPr>
            <a:r>
              <a:rPr lang="en-US" sz="1050" b="1" dirty="0">
                <a:solidFill>
                  <a:srgbClr val="5EEAD4"/>
                </a:solidFill>
                <a:latin typeface="Consolas" pitchFamily="34" charset="0"/>
                <a:ea typeface="Consolas" pitchFamily="34" charset="-122"/>
                <a:cs typeface="Consolas" pitchFamily="34" charset="-120"/>
              </a:rPr>
              <a:t>// agent's native output</a:t>
            </a:r>
            <a:endParaRPr lang="en-US" sz="1050" dirty="0"/>
          </a:p>
        </p:txBody>
      </p:sp>
      <p:sp>
        <p:nvSpPr>
          <p:cNvPr id="11" name="Text 8"/>
          <p:cNvSpPr/>
          <p:nvPr/>
        </p:nvSpPr>
        <p:spPr>
          <a:xfrm>
            <a:off x="749808" y="2569464"/>
            <a:ext cx="5084064" cy="2651760"/>
          </a:xfrm>
          <a:prstGeom prst="rect">
            <a:avLst/>
          </a:prstGeom>
          <a:noFill/>
          <a:ln/>
        </p:spPr>
        <p:txBody>
          <a:bodyPr wrap="square" lIns="0" tIns="0" rIns="0" bIns="0" rtlCol="0" anchor="t"/>
          <a:lstStyle/>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“I found 3 flights.</a:t>
            </a:r>
            <a:endParaRPr lang="en-US" sz="960" dirty="0"/>
          </a:p>
          <a:p>
            <a:pPr indent="0" marL="0">
              <a:lnSpc>
                <a:spcPct val="106000"/>
              </a:lnSpc>
              <a:buNone/>
            </a:pPr>
            <a:r>
              <a:rPr lang="en-US" sz="960" dirty="0">
                <a:solidFill>
                  <a:srgbClr val="7895A6"/>
                </a:solidFill>
                <a:latin typeface="Consolas" pitchFamily="34" charset="0"/>
                <a:ea typeface="Consolas" pitchFamily="34" charset="-122"/>
                <a:cs typeface="Consolas" pitchFamily="34" charset="-120"/>
              </a:rPr>
              <a:t> JX482 departs 9:15 for 14,200 INR.</a:t>
            </a:r>
            <a:endParaRPr lang="en-US" sz="960" dirty="0"/>
          </a:p>
          <a:p>
            <a:pPr indent="0" marL="0">
              <a:lnSpc>
                <a:spcPct val="106000"/>
              </a:lnSpc>
              <a:buNone/>
            </a:pPr>
            <a:r>
              <a:rPr lang="en-US" sz="960" dirty="0">
                <a:solidFill>
                  <a:srgbClr val="7895A6"/>
                </a:solidFill>
                <a:latin typeface="Consolas" pitchFamily="34" charset="0"/>
                <a:ea typeface="Consolas" pitchFamily="34" charset="-122"/>
                <a:cs typeface="Consolas" pitchFamily="34" charset="-120"/>
              </a:rPr>
              <a:t> JX511 departs 13:40 for 11,800 INR.</a:t>
            </a:r>
            <a:endParaRPr lang="en-US" sz="960" dirty="0"/>
          </a:p>
          <a:p>
            <a:pPr indent="0" marL="0">
              <a:lnSpc>
                <a:spcPct val="106000"/>
              </a:lnSpc>
              <a:buNone/>
            </a:pPr>
            <a:r>
              <a:rPr lang="en-US" sz="960" dirty="0">
                <a:solidFill>
                  <a:srgbClr val="7895A6"/>
                </a:solidFill>
                <a:latin typeface="Consolas" pitchFamily="34" charset="0"/>
                <a:ea typeface="Consolas" pitchFamily="34" charset="-122"/>
                <a:cs typeface="Consolas" pitchFamily="34" charset="-120"/>
              </a:rPr>
              <a:t> JX490 departs 18:05 for 9,400 INR.</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Which one would you like?”</a:t>
            </a:r>
            <a:endParaRPr lang="en-US" sz="960" dirty="0"/>
          </a:p>
          <a:p>
            <a:pPr indent="0" marL="0">
              <a:lnSpc>
                <a:spcPct val="106000"/>
              </a:lnSpc>
              <a:buNone/>
            </a:pPr>
            <a:endParaRPr lang="en-US" sz="960" dirty="0"/>
          </a:p>
          <a:p>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 reader must parse, compare,</a:t>
            </a:r>
            <a:endParaRPr lang="en-US" sz="960" dirty="0"/>
          </a:p>
          <a:p>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 remember, and type a reply.</a:t>
            </a:r>
            <a:endParaRPr lang="en-US" sz="960" dirty="0"/>
          </a:p>
          <a:p>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 nothing is logged or clickable.</a:t>
            </a:r>
            <a:endParaRPr lang="en-US" sz="960" dirty="0"/>
          </a:p>
        </p:txBody>
      </p:sp>
      <p:sp>
        <p:nvSpPr>
          <p:cNvPr id="12" name="Shape 9"/>
          <p:cNvSpPr/>
          <p:nvPr/>
        </p:nvSpPr>
        <p:spPr>
          <a:xfrm>
            <a:off x="6355080" y="2148840"/>
            <a:ext cx="5257800" cy="3200400"/>
          </a:xfrm>
          <a:prstGeom prst="roundRect">
            <a:avLst>
              <a:gd name="adj" fmla="val 2857"/>
            </a:avLst>
          </a:prstGeom>
          <a:solidFill>
            <a:srgbClr val="F1F6F8"/>
          </a:solidFill>
          <a:ln w="9525">
            <a:solidFill>
              <a:srgbClr val="CBD9E0"/>
            </a:solidFill>
            <a:prstDash val="solid"/>
          </a:ln>
          <a:effectLst>
            <a:outerShdw sx="100000" sy="100000" kx="0" ky="0" algn="bl" rotWithShape="0" blurRad="88900" dist="38100" dir="5400000">
              <a:srgbClr val="0B2430">
                <a:alpha val="13000"/>
              </a:srgbClr>
            </a:outerShdw>
          </a:effectLst>
        </p:spPr>
      </p:sp>
      <p:sp>
        <p:nvSpPr>
          <p:cNvPr id="13" name="Text 10"/>
          <p:cNvSpPr/>
          <p:nvPr/>
        </p:nvSpPr>
        <p:spPr>
          <a:xfrm>
            <a:off x="6583680" y="2286000"/>
            <a:ext cx="4572000" cy="274320"/>
          </a:xfrm>
          <a:prstGeom prst="rect">
            <a:avLst/>
          </a:prstGeom>
          <a:noFill/>
          <a:ln/>
        </p:spPr>
        <p:txBody>
          <a:bodyPr wrap="square" lIns="0" tIns="0" rIns="0" bIns="0" rtlCol="0" anchor="ctr"/>
          <a:lstStyle/>
          <a:p>
            <a:pPr indent="0" marL="0">
              <a:buNone/>
            </a:pPr>
            <a:r>
              <a:rPr lang="en-US" sz="1050" b="1" dirty="0">
                <a:solidFill>
                  <a:srgbClr val="0E7C86"/>
                </a:solidFill>
                <a:latin typeface="Consolas" pitchFamily="34" charset="0"/>
                <a:ea typeface="Consolas" pitchFamily="34" charset="-122"/>
                <a:cs typeface="Consolas" pitchFamily="34" charset="-120"/>
              </a:rPr>
              <a:t>the same data, rendered</a:t>
            </a:r>
            <a:endParaRPr lang="en-US" sz="1050" dirty="0"/>
          </a:p>
        </p:txBody>
      </p:sp>
      <p:sp>
        <p:nvSpPr>
          <p:cNvPr id="14" name="Shape 11"/>
          <p:cNvSpPr/>
          <p:nvPr/>
        </p:nvSpPr>
        <p:spPr>
          <a:xfrm>
            <a:off x="6583680" y="2697480"/>
            <a:ext cx="4800600" cy="713232"/>
          </a:xfrm>
          <a:prstGeom prst="roundRect">
            <a:avLst>
              <a:gd name="adj" fmla="val 7692"/>
            </a:avLst>
          </a:prstGeom>
          <a:solidFill>
            <a:srgbClr val="FFFFFF"/>
          </a:solidFill>
          <a:ln w="6350">
            <a:solidFill>
              <a:srgbClr val="CBD9E0"/>
            </a:solidFill>
            <a:prstDash val="solid"/>
          </a:ln>
        </p:spPr>
      </p:sp>
      <p:sp>
        <p:nvSpPr>
          <p:cNvPr id="15" name="Text 12"/>
          <p:cNvSpPr/>
          <p:nvPr/>
        </p:nvSpPr>
        <p:spPr>
          <a:xfrm>
            <a:off x="6766560" y="2697480"/>
            <a:ext cx="1828800" cy="713232"/>
          </a:xfrm>
          <a:prstGeom prst="rect">
            <a:avLst/>
          </a:prstGeom>
          <a:noFill/>
          <a:ln/>
        </p:spPr>
        <p:txBody>
          <a:bodyPr wrap="square" lIns="0" tIns="0" rIns="0" bIns="0" rtlCol="0" anchor="ctr"/>
          <a:lstStyle/>
          <a:p>
            <a:pPr indent="0" marL="0">
              <a:buNone/>
            </a:pPr>
            <a:r>
              <a:rPr lang="en-US" sz="1300" b="1" dirty="0">
                <a:solidFill>
                  <a:srgbClr val="0E2330"/>
                </a:solidFill>
                <a:latin typeface="Calibri" pitchFamily="34" charset="0"/>
                <a:ea typeface="Calibri" pitchFamily="34" charset="-122"/>
                <a:cs typeface="Calibri" pitchFamily="34" charset="-120"/>
              </a:rPr>
              <a:t>JX490  </a:t>
            </a:r>
            <a:pPr indent="0" marL="0">
              <a:buNone/>
            </a:pPr>
            <a:r>
              <a:rPr lang="en-US" sz="1100" dirty="0">
                <a:solidFill>
                  <a:srgbClr val="5B7383"/>
                </a:solidFill>
                <a:latin typeface="Calibri" pitchFamily="34" charset="0"/>
                <a:ea typeface="Calibri" pitchFamily="34" charset="-122"/>
                <a:cs typeface="Calibri" pitchFamily="34" charset="-120"/>
              </a:rPr>
              <a:t>18:05</a:t>
            </a:r>
            <a:endParaRPr lang="en-US" sz="1300" dirty="0"/>
          </a:p>
        </p:txBody>
      </p:sp>
      <p:sp>
        <p:nvSpPr>
          <p:cNvPr id="16" name="Text 13"/>
          <p:cNvSpPr/>
          <p:nvPr/>
        </p:nvSpPr>
        <p:spPr>
          <a:xfrm>
            <a:off x="8503920" y="2697480"/>
            <a:ext cx="1280160" cy="713232"/>
          </a:xfrm>
          <a:prstGeom prst="rect">
            <a:avLst/>
          </a:prstGeom>
          <a:noFill/>
          <a:ln/>
        </p:spPr>
        <p:txBody>
          <a:bodyPr wrap="square" lIns="0" tIns="0" rIns="0" bIns="0" rtlCol="0" anchor="ctr"/>
          <a:lstStyle/>
          <a:p>
            <a:pPr algn="r" indent="0" marL="0">
              <a:buNone/>
            </a:pPr>
            <a:r>
              <a:rPr lang="en-US" sz="1300" b="1" dirty="0">
                <a:solidFill>
                  <a:srgbClr val="0E2330"/>
                </a:solidFill>
                <a:latin typeface="Calibri" pitchFamily="34" charset="0"/>
                <a:ea typeface="Calibri" pitchFamily="34" charset="-122"/>
                <a:cs typeface="Calibri" pitchFamily="34" charset="-120"/>
              </a:rPr>
              <a:t>₹9,400</a:t>
            </a:r>
            <a:endParaRPr lang="en-US" sz="1300" dirty="0"/>
          </a:p>
        </p:txBody>
      </p:sp>
      <p:sp>
        <p:nvSpPr>
          <p:cNvPr id="17" name="Shape 14"/>
          <p:cNvSpPr/>
          <p:nvPr/>
        </p:nvSpPr>
        <p:spPr>
          <a:xfrm>
            <a:off x="10012680" y="2852928"/>
            <a:ext cx="1234440" cy="402336"/>
          </a:xfrm>
          <a:prstGeom prst="roundRect">
            <a:avLst>
              <a:gd name="adj" fmla="val 50000"/>
            </a:avLst>
          </a:prstGeom>
          <a:solidFill>
            <a:srgbClr val="0E7C86"/>
          </a:solidFill>
          <a:ln/>
        </p:spPr>
      </p:sp>
      <p:sp>
        <p:nvSpPr>
          <p:cNvPr id="18" name="Text 15"/>
          <p:cNvSpPr/>
          <p:nvPr/>
        </p:nvSpPr>
        <p:spPr>
          <a:xfrm>
            <a:off x="10012680" y="2852928"/>
            <a:ext cx="1234440"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Rebook</a:t>
            </a:r>
            <a:endParaRPr lang="en-US" sz="1050" dirty="0"/>
          </a:p>
        </p:txBody>
      </p:sp>
      <p:sp>
        <p:nvSpPr>
          <p:cNvPr id="19" name="Shape 16"/>
          <p:cNvSpPr/>
          <p:nvPr/>
        </p:nvSpPr>
        <p:spPr>
          <a:xfrm>
            <a:off x="6583680" y="3520440"/>
            <a:ext cx="4800600" cy="713232"/>
          </a:xfrm>
          <a:prstGeom prst="roundRect">
            <a:avLst>
              <a:gd name="adj" fmla="val 7692"/>
            </a:avLst>
          </a:prstGeom>
          <a:solidFill>
            <a:srgbClr val="FFFFFF"/>
          </a:solidFill>
          <a:ln w="6350">
            <a:solidFill>
              <a:srgbClr val="CBD9E0"/>
            </a:solidFill>
            <a:prstDash val="solid"/>
          </a:ln>
        </p:spPr>
      </p:sp>
      <p:sp>
        <p:nvSpPr>
          <p:cNvPr id="20" name="Text 17"/>
          <p:cNvSpPr/>
          <p:nvPr/>
        </p:nvSpPr>
        <p:spPr>
          <a:xfrm>
            <a:off x="6766560" y="3520440"/>
            <a:ext cx="1828800" cy="713232"/>
          </a:xfrm>
          <a:prstGeom prst="rect">
            <a:avLst/>
          </a:prstGeom>
          <a:noFill/>
          <a:ln/>
        </p:spPr>
        <p:txBody>
          <a:bodyPr wrap="square" lIns="0" tIns="0" rIns="0" bIns="0" rtlCol="0" anchor="ctr"/>
          <a:lstStyle/>
          <a:p>
            <a:pPr indent="0" marL="0">
              <a:buNone/>
            </a:pPr>
            <a:r>
              <a:rPr lang="en-US" sz="1300" b="1" dirty="0">
                <a:solidFill>
                  <a:srgbClr val="0E2330"/>
                </a:solidFill>
                <a:latin typeface="Calibri" pitchFamily="34" charset="0"/>
                <a:ea typeface="Calibri" pitchFamily="34" charset="-122"/>
                <a:cs typeface="Calibri" pitchFamily="34" charset="-120"/>
              </a:rPr>
              <a:t>JX511  </a:t>
            </a:r>
            <a:pPr indent="0" marL="0">
              <a:buNone/>
            </a:pPr>
            <a:r>
              <a:rPr lang="en-US" sz="1100" dirty="0">
                <a:solidFill>
                  <a:srgbClr val="5B7383"/>
                </a:solidFill>
                <a:latin typeface="Calibri" pitchFamily="34" charset="0"/>
                <a:ea typeface="Calibri" pitchFamily="34" charset="-122"/>
                <a:cs typeface="Calibri" pitchFamily="34" charset="-120"/>
              </a:rPr>
              <a:t>13:40</a:t>
            </a:r>
            <a:endParaRPr lang="en-US" sz="1300" dirty="0"/>
          </a:p>
        </p:txBody>
      </p:sp>
      <p:sp>
        <p:nvSpPr>
          <p:cNvPr id="21" name="Text 18"/>
          <p:cNvSpPr/>
          <p:nvPr/>
        </p:nvSpPr>
        <p:spPr>
          <a:xfrm>
            <a:off x="8503920" y="3520440"/>
            <a:ext cx="1280160" cy="713232"/>
          </a:xfrm>
          <a:prstGeom prst="rect">
            <a:avLst/>
          </a:prstGeom>
          <a:noFill/>
          <a:ln/>
        </p:spPr>
        <p:txBody>
          <a:bodyPr wrap="square" lIns="0" tIns="0" rIns="0" bIns="0" rtlCol="0" anchor="ctr"/>
          <a:lstStyle/>
          <a:p>
            <a:pPr algn="r" indent="0" marL="0">
              <a:buNone/>
            </a:pPr>
            <a:r>
              <a:rPr lang="en-US" sz="1300" b="1" dirty="0">
                <a:solidFill>
                  <a:srgbClr val="0E2330"/>
                </a:solidFill>
                <a:latin typeface="Calibri" pitchFamily="34" charset="0"/>
                <a:ea typeface="Calibri" pitchFamily="34" charset="-122"/>
                <a:cs typeface="Calibri" pitchFamily="34" charset="-120"/>
              </a:rPr>
              <a:t>₹11,800</a:t>
            </a:r>
            <a:endParaRPr lang="en-US" sz="1300" dirty="0"/>
          </a:p>
        </p:txBody>
      </p:sp>
      <p:sp>
        <p:nvSpPr>
          <p:cNvPr id="22" name="Shape 19"/>
          <p:cNvSpPr/>
          <p:nvPr/>
        </p:nvSpPr>
        <p:spPr>
          <a:xfrm>
            <a:off x="10012680" y="3675888"/>
            <a:ext cx="1234440" cy="402336"/>
          </a:xfrm>
          <a:prstGeom prst="roundRect">
            <a:avLst>
              <a:gd name="adj" fmla="val 50000"/>
            </a:avLst>
          </a:prstGeom>
          <a:solidFill>
            <a:srgbClr val="E4EDF1"/>
          </a:solidFill>
          <a:ln/>
        </p:spPr>
      </p:sp>
      <p:sp>
        <p:nvSpPr>
          <p:cNvPr id="23" name="Text 20"/>
          <p:cNvSpPr/>
          <p:nvPr/>
        </p:nvSpPr>
        <p:spPr>
          <a:xfrm>
            <a:off x="10012680" y="3675888"/>
            <a:ext cx="1234440" cy="402336"/>
          </a:xfrm>
          <a:prstGeom prst="rect">
            <a:avLst/>
          </a:prstGeom>
          <a:noFill/>
          <a:ln/>
        </p:spPr>
        <p:txBody>
          <a:bodyPr wrap="square" lIns="0" tIns="0" rIns="0" bIns="0" rtlCol="0" anchor="ctr"/>
          <a:lstStyle/>
          <a:p>
            <a:pPr algn="ctr" indent="0" marL="0">
              <a:buNone/>
            </a:pPr>
            <a:r>
              <a:rPr lang="en-US" sz="1050" b="1" dirty="0">
                <a:solidFill>
                  <a:srgbClr val="5B7383"/>
                </a:solidFill>
                <a:latin typeface="Calibri" pitchFamily="34" charset="0"/>
                <a:ea typeface="Calibri" pitchFamily="34" charset="-122"/>
                <a:cs typeface="Calibri" pitchFamily="34" charset="-120"/>
              </a:rPr>
              <a:t>Rebook</a:t>
            </a:r>
            <a:endParaRPr lang="en-US" sz="1050" dirty="0"/>
          </a:p>
        </p:txBody>
      </p:sp>
      <p:sp>
        <p:nvSpPr>
          <p:cNvPr id="24" name="Shape 21"/>
          <p:cNvSpPr/>
          <p:nvPr/>
        </p:nvSpPr>
        <p:spPr>
          <a:xfrm>
            <a:off x="6583680" y="4343400"/>
            <a:ext cx="4800600" cy="713232"/>
          </a:xfrm>
          <a:prstGeom prst="roundRect">
            <a:avLst>
              <a:gd name="adj" fmla="val 7692"/>
            </a:avLst>
          </a:prstGeom>
          <a:solidFill>
            <a:srgbClr val="FFFFFF"/>
          </a:solidFill>
          <a:ln w="6350">
            <a:solidFill>
              <a:srgbClr val="CBD9E0"/>
            </a:solidFill>
            <a:prstDash val="solid"/>
          </a:ln>
        </p:spPr>
      </p:sp>
      <p:sp>
        <p:nvSpPr>
          <p:cNvPr id="25" name="Text 22"/>
          <p:cNvSpPr/>
          <p:nvPr/>
        </p:nvSpPr>
        <p:spPr>
          <a:xfrm>
            <a:off x="6766560" y="4343400"/>
            <a:ext cx="1828800" cy="713232"/>
          </a:xfrm>
          <a:prstGeom prst="rect">
            <a:avLst/>
          </a:prstGeom>
          <a:noFill/>
          <a:ln/>
        </p:spPr>
        <p:txBody>
          <a:bodyPr wrap="square" lIns="0" tIns="0" rIns="0" bIns="0" rtlCol="0" anchor="ctr"/>
          <a:lstStyle/>
          <a:p>
            <a:pPr indent="0" marL="0">
              <a:buNone/>
            </a:pPr>
            <a:r>
              <a:rPr lang="en-US" sz="1300" b="1" dirty="0">
                <a:solidFill>
                  <a:srgbClr val="0E2330"/>
                </a:solidFill>
                <a:latin typeface="Calibri" pitchFamily="34" charset="0"/>
                <a:ea typeface="Calibri" pitchFamily="34" charset="-122"/>
                <a:cs typeface="Calibri" pitchFamily="34" charset="-120"/>
              </a:rPr>
              <a:t>JX482  </a:t>
            </a:r>
            <a:pPr indent="0" marL="0">
              <a:buNone/>
            </a:pPr>
            <a:r>
              <a:rPr lang="en-US" sz="1100" dirty="0">
                <a:solidFill>
                  <a:srgbClr val="5B7383"/>
                </a:solidFill>
                <a:latin typeface="Calibri" pitchFamily="34" charset="0"/>
                <a:ea typeface="Calibri" pitchFamily="34" charset="-122"/>
                <a:cs typeface="Calibri" pitchFamily="34" charset="-120"/>
              </a:rPr>
              <a:t>09:15</a:t>
            </a:r>
            <a:endParaRPr lang="en-US" sz="1300" dirty="0"/>
          </a:p>
        </p:txBody>
      </p:sp>
      <p:sp>
        <p:nvSpPr>
          <p:cNvPr id="26" name="Text 23"/>
          <p:cNvSpPr/>
          <p:nvPr/>
        </p:nvSpPr>
        <p:spPr>
          <a:xfrm>
            <a:off x="8503920" y="4343400"/>
            <a:ext cx="1280160" cy="713232"/>
          </a:xfrm>
          <a:prstGeom prst="rect">
            <a:avLst/>
          </a:prstGeom>
          <a:noFill/>
          <a:ln/>
        </p:spPr>
        <p:txBody>
          <a:bodyPr wrap="square" lIns="0" tIns="0" rIns="0" bIns="0" rtlCol="0" anchor="ctr"/>
          <a:lstStyle/>
          <a:p>
            <a:pPr algn="r" indent="0" marL="0">
              <a:buNone/>
            </a:pPr>
            <a:r>
              <a:rPr lang="en-US" sz="1300" b="1" dirty="0">
                <a:solidFill>
                  <a:srgbClr val="0E2330"/>
                </a:solidFill>
                <a:latin typeface="Calibri" pitchFamily="34" charset="0"/>
                <a:ea typeface="Calibri" pitchFamily="34" charset="-122"/>
                <a:cs typeface="Calibri" pitchFamily="34" charset="-120"/>
              </a:rPr>
              <a:t>₹14,200</a:t>
            </a:r>
            <a:endParaRPr lang="en-US" sz="1300" dirty="0"/>
          </a:p>
        </p:txBody>
      </p:sp>
      <p:sp>
        <p:nvSpPr>
          <p:cNvPr id="27" name="Shape 24"/>
          <p:cNvSpPr/>
          <p:nvPr/>
        </p:nvSpPr>
        <p:spPr>
          <a:xfrm>
            <a:off x="10012680" y="4498848"/>
            <a:ext cx="1234440" cy="402336"/>
          </a:xfrm>
          <a:prstGeom prst="roundRect">
            <a:avLst>
              <a:gd name="adj" fmla="val 50000"/>
            </a:avLst>
          </a:prstGeom>
          <a:solidFill>
            <a:srgbClr val="E4EDF1"/>
          </a:solidFill>
          <a:ln/>
        </p:spPr>
      </p:sp>
      <p:sp>
        <p:nvSpPr>
          <p:cNvPr id="28" name="Text 25"/>
          <p:cNvSpPr/>
          <p:nvPr/>
        </p:nvSpPr>
        <p:spPr>
          <a:xfrm>
            <a:off x="10012680" y="4498848"/>
            <a:ext cx="1234440" cy="402336"/>
          </a:xfrm>
          <a:prstGeom prst="rect">
            <a:avLst/>
          </a:prstGeom>
          <a:noFill/>
          <a:ln/>
        </p:spPr>
        <p:txBody>
          <a:bodyPr wrap="square" lIns="0" tIns="0" rIns="0" bIns="0" rtlCol="0" anchor="ctr"/>
          <a:lstStyle/>
          <a:p>
            <a:pPr algn="ctr" indent="0" marL="0">
              <a:buNone/>
            </a:pPr>
            <a:r>
              <a:rPr lang="en-US" sz="1050" b="1" dirty="0">
                <a:solidFill>
                  <a:srgbClr val="5B7383"/>
                </a:solidFill>
                <a:latin typeface="Calibri" pitchFamily="34" charset="0"/>
                <a:ea typeface="Calibri" pitchFamily="34" charset="-122"/>
                <a:cs typeface="Calibri" pitchFamily="34" charset="-120"/>
              </a:rPr>
              <a:t>Rebook</a:t>
            </a:r>
            <a:endParaRPr lang="en-US" sz="1050" dirty="0"/>
          </a:p>
        </p:txBody>
      </p:sp>
      <p:sp>
        <p:nvSpPr>
          <p:cNvPr id="29" name="Text 26"/>
          <p:cNvSpPr/>
          <p:nvPr/>
        </p:nvSpPr>
        <p:spPr>
          <a:xfrm>
            <a:off x="6583680" y="5184648"/>
            <a:ext cx="4800600" cy="274320"/>
          </a:xfrm>
          <a:prstGeom prst="rect">
            <a:avLst/>
          </a:prstGeom>
          <a:noFill/>
          <a:ln/>
        </p:spPr>
        <p:txBody>
          <a:bodyPr wrap="square" lIns="0" tIns="0" rIns="0" bIns="0" rtlCol="0" anchor="ctr"/>
          <a:lstStyle/>
          <a:p>
            <a:pPr algn="ctr" indent="0" marL="0">
              <a:buNone/>
            </a:pPr>
            <a:r>
              <a:rPr lang="en-US" sz="1050" i="1" dirty="0">
                <a:solidFill>
                  <a:srgbClr val="1C9C72"/>
                </a:solidFill>
                <a:latin typeface="Calibri" pitchFamily="34" charset="0"/>
                <a:ea typeface="Calibri" pitchFamily="34" charset="-122"/>
                <a:cs typeface="Calibri" pitchFamily="34" charset="-120"/>
              </a:rPr>
              <a:t>scannable · comparable · actionable · auditable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WHY THIS MATTERS</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What production demands of the UI layer</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04</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691640"/>
            <a:ext cx="5349240" cy="1783080"/>
          </a:xfrm>
          <a:prstGeom prst="roundRect">
            <a:avLst>
              <a:gd name="adj" fmla="val 615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9" name="Shape 6"/>
          <p:cNvSpPr/>
          <p:nvPr/>
        </p:nvSpPr>
        <p:spPr>
          <a:xfrm>
            <a:off x="822960" y="1965960"/>
            <a:ext cx="658368" cy="658368"/>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994136" y="2137136"/>
            <a:ext cx="316017" cy="316017"/>
          </a:xfrm>
          <a:prstGeom prst="rect">
            <a:avLst/>
          </a:prstGeom>
        </p:spPr>
      </p:pic>
      <p:sp>
        <p:nvSpPr>
          <p:cNvPr id="11" name="Text 7"/>
          <p:cNvSpPr/>
          <p:nvPr/>
        </p:nvSpPr>
        <p:spPr>
          <a:xfrm>
            <a:off x="1691640" y="1984248"/>
            <a:ext cx="4023360" cy="457200"/>
          </a:xfrm>
          <a:prstGeom prst="rect">
            <a:avLst/>
          </a:prstGeom>
          <a:noFill/>
          <a:ln/>
        </p:spPr>
        <p:txBody>
          <a:bodyPr wrap="square" lIns="0" tIns="0" rIns="0" bIns="0" rtlCol="0" anchor="ctr"/>
          <a:lstStyle/>
          <a:p>
            <a:pPr indent="0" marL="0">
              <a:buNone/>
            </a:pPr>
            <a:r>
              <a:rPr lang="en-US" sz="2100" b="1" dirty="0">
                <a:solidFill>
                  <a:srgbClr val="0E2330"/>
                </a:solidFill>
                <a:latin typeface="Cambria" pitchFamily="34" charset="0"/>
                <a:ea typeface="Cambria" pitchFamily="34" charset="-122"/>
                <a:cs typeface="Cambria" pitchFamily="34" charset="-120"/>
              </a:rPr>
              <a:t>SHOW</a:t>
            </a:r>
            <a:endParaRPr lang="en-US" sz="2100" dirty="0"/>
          </a:p>
        </p:txBody>
      </p:sp>
      <p:sp>
        <p:nvSpPr>
          <p:cNvPr id="12" name="Text 8"/>
          <p:cNvSpPr/>
          <p:nvPr/>
        </p:nvSpPr>
        <p:spPr>
          <a:xfrm>
            <a:off x="1691640" y="2560320"/>
            <a:ext cx="4023360" cy="777240"/>
          </a:xfrm>
          <a:prstGeom prst="rect">
            <a:avLst/>
          </a:prstGeom>
          <a:noFill/>
          <a:ln/>
        </p:spPr>
        <p:txBody>
          <a:bodyPr wrap="square" lIns="0" tIns="0" rIns="0" bIns="0" rtlCol="0" anchor="t"/>
          <a:lstStyle/>
          <a:p>
            <a:pPr indent="0" marL="0">
              <a:buNone/>
            </a:pPr>
            <a:r>
              <a:rPr lang="en-US" sz="1300" dirty="0">
                <a:solidFill>
                  <a:srgbClr val="5B7383"/>
                </a:solidFill>
                <a:latin typeface="Calibri" pitchFamily="34" charset="0"/>
                <a:ea typeface="Calibri" pitchFamily="34" charset="-122"/>
                <a:cs typeface="Calibri" pitchFamily="34" charset="-120"/>
              </a:rPr>
              <a:t>Render results a human can scan: cards, tables, charts.</a:t>
            </a:r>
            <a:endParaRPr lang="en-US" sz="1300" dirty="0"/>
          </a:p>
        </p:txBody>
      </p:sp>
      <p:sp>
        <p:nvSpPr>
          <p:cNvPr id="13" name="Shape 9"/>
          <p:cNvSpPr/>
          <p:nvPr/>
        </p:nvSpPr>
        <p:spPr>
          <a:xfrm>
            <a:off x="6263640" y="1691640"/>
            <a:ext cx="5349240" cy="1783080"/>
          </a:xfrm>
          <a:prstGeom prst="roundRect">
            <a:avLst>
              <a:gd name="adj" fmla="val 615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4" name="Shape 10"/>
          <p:cNvSpPr/>
          <p:nvPr/>
        </p:nvSpPr>
        <p:spPr>
          <a:xfrm>
            <a:off x="6537960" y="1965960"/>
            <a:ext cx="658368" cy="658368"/>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5" name="Image 2" descr="preencoded.png">    </p:cNvPr>
          <p:cNvPicPr>
            <a:picLocks noChangeAspect="1"/>
          </p:cNvPicPr>
          <p:nvPr/>
        </p:nvPicPr>
        <p:blipFill>
          <a:blip r:embed="rId3"/>
          <a:stretch>
            <a:fillRect/>
          </a:stretch>
        </p:blipFill>
        <p:spPr>
          <a:xfrm>
            <a:off x="6709136" y="2137136"/>
            <a:ext cx="316017" cy="316017"/>
          </a:xfrm>
          <a:prstGeom prst="rect">
            <a:avLst/>
          </a:prstGeom>
        </p:spPr>
      </p:pic>
      <p:sp>
        <p:nvSpPr>
          <p:cNvPr id="16" name="Text 11"/>
          <p:cNvSpPr/>
          <p:nvPr/>
        </p:nvSpPr>
        <p:spPr>
          <a:xfrm>
            <a:off x="7406640" y="1984248"/>
            <a:ext cx="4023360" cy="457200"/>
          </a:xfrm>
          <a:prstGeom prst="rect">
            <a:avLst/>
          </a:prstGeom>
          <a:noFill/>
          <a:ln/>
        </p:spPr>
        <p:txBody>
          <a:bodyPr wrap="square" lIns="0" tIns="0" rIns="0" bIns="0" rtlCol="0" anchor="ctr"/>
          <a:lstStyle/>
          <a:p>
            <a:pPr indent="0" marL="0">
              <a:buNone/>
            </a:pPr>
            <a:r>
              <a:rPr lang="en-US" sz="2100" b="1" dirty="0">
                <a:solidFill>
                  <a:srgbClr val="0E2330"/>
                </a:solidFill>
                <a:latin typeface="Cambria" pitchFamily="34" charset="0"/>
                <a:ea typeface="Cambria" pitchFamily="34" charset="-122"/>
                <a:cs typeface="Cambria" pitchFamily="34" charset="-120"/>
              </a:rPr>
              <a:t>STRUCTURE</a:t>
            </a:r>
            <a:endParaRPr lang="en-US" sz="2100" dirty="0"/>
          </a:p>
        </p:txBody>
      </p:sp>
      <p:sp>
        <p:nvSpPr>
          <p:cNvPr id="17" name="Text 12"/>
          <p:cNvSpPr/>
          <p:nvPr/>
        </p:nvSpPr>
        <p:spPr>
          <a:xfrm>
            <a:off x="7406640" y="2560320"/>
            <a:ext cx="4023360" cy="777240"/>
          </a:xfrm>
          <a:prstGeom prst="rect">
            <a:avLst/>
          </a:prstGeom>
          <a:noFill/>
          <a:ln/>
        </p:spPr>
        <p:txBody>
          <a:bodyPr wrap="square" lIns="0" tIns="0" rIns="0" bIns="0" rtlCol="0" anchor="t"/>
          <a:lstStyle/>
          <a:p>
            <a:pPr indent="0" marL="0">
              <a:buNone/>
            </a:pPr>
            <a:r>
              <a:rPr lang="en-US" sz="1300" dirty="0">
                <a:solidFill>
                  <a:srgbClr val="5B7383"/>
                </a:solidFill>
                <a:latin typeface="Calibri" pitchFamily="34" charset="0"/>
                <a:ea typeface="Calibri" pitchFamily="34" charset="-122"/>
                <a:cs typeface="Calibri" pitchFamily="34" charset="-120"/>
              </a:rPr>
              <a:t>Turn prose into typed, predictable components.</a:t>
            </a:r>
            <a:endParaRPr lang="en-US" sz="1300" dirty="0"/>
          </a:p>
        </p:txBody>
      </p:sp>
      <p:sp>
        <p:nvSpPr>
          <p:cNvPr id="18" name="Shape 13"/>
          <p:cNvSpPr/>
          <p:nvPr/>
        </p:nvSpPr>
        <p:spPr>
          <a:xfrm>
            <a:off x="548640" y="3657600"/>
            <a:ext cx="5349240" cy="1783080"/>
          </a:xfrm>
          <a:prstGeom prst="roundRect">
            <a:avLst>
              <a:gd name="adj" fmla="val 615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9" name="Shape 14"/>
          <p:cNvSpPr/>
          <p:nvPr/>
        </p:nvSpPr>
        <p:spPr>
          <a:xfrm>
            <a:off x="822960" y="3931920"/>
            <a:ext cx="658368" cy="658368"/>
          </a:xfrm>
          <a:prstGeom prst="ellipse">
            <a:avLst/>
          </a:prstGeom>
          <a:solidFill>
            <a:srgbClr val="E8951C"/>
          </a:solidFill>
          <a:ln/>
          <a:effectLst>
            <a:outerShdw sx="100000" sy="100000" kx="0" ky="0" algn="bl" rotWithShape="0" blurRad="114300" dist="50800" dir="5400000">
              <a:srgbClr val="0B2430">
                <a:alpha val="10000"/>
              </a:srgbClr>
            </a:outerShdw>
          </a:effectLst>
        </p:spPr>
      </p:sp>
      <p:pic>
        <p:nvPicPr>
          <p:cNvPr id="20" name="Image 3" descr="preencoded.png">    </p:cNvPr>
          <p:cNvPicPr>
            <a:picLocks noChangeAspect="1"/>
          </p:cNvPicPr>
          <p:nvPr/>
        </p:nvPicPr>
        <p:blipFill>
          <a:blip r:embed="rId4"/>
          <a:stretch>
            <a:fillRect/>
          </a:stretch>
        </p:blipFill>
        <p:spPr>
          <a:xfrm>
            <a:off x="994136" y="4103096"/>
            <a:ext cx="316017" cy="316017"/>
          </a:xfrm>
          <a:prstGeom prst="rect">
            <a:avLst/>
          </a:prstGeom>
        </p:spPr>
      </p:pic>
      <p:sp>
        <p:nvSpPr>
          <p:cNvPr id="21" name="Text 15"/>
          <p:cNvSpPr/>
          <p:nvPr/>
        </p:nvSpPr>
        <p:spPr>
          <a:xfrm>
            <a:off x="1691640" y="3950208"/>
            <a:ext cx="4023360" cy="457200"/>
          </a:xfrm>
          <a:prstGeom prst="rect">
            <a:avLst/>
          </a:prstGeom>
          <a:noFill/>
          <a:ln/>
        </p:spPr>
        <p:txBody>
          <a:bodyPr wrap="square" lIns="0" tIns="0" rIns="0" bIns="0" rtlCol="0" anchor="ctr"/>
          <a:lstStyle/>
          <a:p>
            <a:pPr indent="0" marL="0">
              <a:buNone/>
            </a:pPr>
            <a:r>
              <a:rPr lang="en-US" sz="2100" b="1" dirty="0">
                <a:solidFill>
                  <a:srgbClr val="0E2330"/>
                </a:solidFill>
                <a:latin typeface="Cambria" pitchFamily="34" charset="0"/>
                <a:ea typeface="Cambria" pitchFamily="34" charset="-122"/>
                <a:cs typeface="Cambria" pitchFamily="34" charset="-120"/>
              </a:rPr>
              <a:t>GATE</a:t>
            </a:r>
            <a:endParaRPr lang="en-US" sz="2100" dirty="0"/>
          </a:p>
        </p:txBody>
      </p:sp>
      <p:sp>
        <p:nvSpPr>
          <p:cNvPr id="22" name="Text 16"/>
          <p:cNvSpPr/>
          <p:nvPr/>
        </p:nvSpPr>
        <p:spPr>
          <a:xfrm>
            <a:off x="1691640" y="4526280"/>
            <a:ext cx="4023360" cy="777240"/>
          </a:xfrm>
          <a:prstGeom prst="rect">
            <a:avLst/>
          </a:prstGeom>
          <a:noFill/>
          <a:ln/>
        </p:spPr>
        <p:txBody>
          <a:bodyPr wrap="square" lIns="0" tIns="0" rIns="0" bIns="0" rtlCol="0" anchor="t"/>
          <a:lstStyle/>
          <a:p>
            <a:pPr indent="0" marL="0">
              <a:buNone/>
            </a:pPr>
            <a:r>
              <a:rPr lang="en-US" sz="1300" dirty="0">
                <a:solidFill>
                  <a:srgbClr val="5B7383"/>
                </a:solidFill>
                <a:latin typeface="Calibri" pitchFamily="34" charset="0"/>
                <a:ea typeface="Calibri" pitchFamily="34" charset="-122"/>
                <a:cs typeface="Calibri" pitchFamily="34" charset="-120"/>
              </a:rPr>
              <a:t>Put a human in the loop before risky actions.</a:t>
            </a:r>
            <a:endParaRPr lang="en-US" sz="1300" dirty="0"/>
          </a:p>
        </p:txBody>
      </p:sp>
      <p:sp>
        <p:nvSpPr>
          <p:cNvPr id="23" name="Shape 17"/>
          <p:cNvSpPr/>
          <p:nvPr/>
        </p:nvSpPr>
        <p:spPr>
          <a:xfrm>
            <a:off x="6263640" y="3657600"/>
            <a:ext cx="5349240" cy="1783080"/>
          </a:xfrm>
          <a:prstGeom prst="roundRect">
            <a:avLst>
              <a:gd name="adj" fmla="val 615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4" name="Shape 18"/>
          <p:cNvSpPr/>
          <p:nvPr/>
        </p:nvSpPr>
        <p:spPr>
          <a:xfrm>
            <a:off x="6537960" y="3931920"/>
            <a:ext cx="658368" cy="658368"/>
          </a:xfrm>
          <a:prstGeom prst="ellipse">
            <a:avLst/>
          </a:prstGeom>
          <a:solidFill>
            <a:srgbClr val="1B4861"/>
          </a:solidFill>
          <a:ln/>
          <a:effectLst>
            <a:outerShdw sx="100000" sy="100000" kx="0" ky="0" algn="bl" rotWithShape="0" blurRad="114300" dist="50800" dir="5400000">
              <a:srgbClr val="0B2430">
                <a:alpha val="10000"/>
              </a:srgbClr>
            </a:outerShdw>
          </a:effectLst>
        </p:spPr>
      </p:sp>
      <p:pic>
        <p:nvPicPr>
          <p:cNvPr id="25" name="Image 4" descr="preencoded.png">    </p:cNvPr>
          <p:cNvPicPr>
            <a:picLocks noChangeAspect="1"/>
          </p:cNvPicPr>
          <p:nvPr/>
        </p:nvPicPr>
        <p:blipFill>
          <a:blip r:embed="rId5"/>
          <a:stretch>
            <a:fillRect/>
          </a:stretch>
        </p:blipFill>
        <p:spPr>
          <a:xfrm>
            <a:off x="6709136" y="4103096"/>
            <a:ext cx="316017" cy="316017"/>
          </a:xfrm>
          <a:prstGeom prst="rect">
            <a:avLst/>
          </a:prstGeom>
        </p:spPr>
      </p:pic>
      <p:sp>
        <p:nvSpPr>
          <p:cNvPr id="26" name="Text 19"/>
          <p:cNvSpPr/>
          <p:nvPr/>
        </p:nvSpPr>
        <p:spPr>
          <a:xfrm>
            <a:off x="7406640" y="3950208"/>
            <a:ext cx="4023360" cy="457200"/>
          </a:xfrm>
          <a:prstGeom prst="rect">
            <a:avLst/>
          </a:prstGeom>
          <a:noFill/>
          <a:ln/>
        </p:spPr>
        <p:txBody>
          <a:bodyPr wrap="square" lIns="0" tIns="0" rIns="0" bIns="0" rtlCol="0" anchor="ctr"/>
          <a:lstStyle/>
          <a:p>
            <a:pPr indent="0" marL="0">
              <a:buNone/>
            </a:pPr>
            <a:r>
              <a:rPr lang="en-US" sz="2100" b="1" dirty="0">
                <a:solidFill>
                  <a:srgbClr val="0E2330"/>
                </a:solidFill>
                <a:latin typeface="Cambria" pitchFamily="34" charset="0"/>
                <a:ea typeface="Cambria" pitchFamily="34" charset="-122"/>
                <a:cs typeface="Cambria" pitchFamily="34" charset="-120"/>
              </a:rPr>
              <a:t>RECORD</a:t>
            </a:r>
            <a:endParaRPr lang="en-US" sz="2100" dirty="0"/>
          </a:p>
        </p:txBody>
      </p:sp>
      <p:sp>
        <p:nvSpPr>
          <p:cNvPr id="27" name="Text 20"/>
          <p:cNvSpPr/>
          <p:nvPr/>
        </p:nvSpPr>
        <p:spPr>
          <a:xfrm>
            <a:off x="7406640" y="4526280"/>
            <a:ext cx="4023360" cy="777240"/>
          </a:xfrm>
          <a:prstGeom prst="rect">
            <a:avLst/>
          </a:prstGeom>
          <a:noFill/>
          <a:ln/>
        </p:spPr>
        <p:txBody>
          <a:bodyPr wrap="square" lIns="0" tIns="0" rIns="0" bIns="0" rtlCol="0" anchor="t"/>
          <a:lstStyle/>
          <a:p>
            <a:pPr indent="0" marL="0">
              <a:buNone/>
            </a:pPr>
            <a:r>
              <a:rPr lang="en-US" sz="1300" dirty="0">
                <a:solidFill>
                  <a:srgbClr val="5B7383"/>
                </a:solidFill>
                <a:latin typeface="Calibri" pitchFamily="34" charset="0"/>
                <a:ea typeface="Calibri" pitchFamily="34" charset="-122"/>
                <a:cs typeface="Calibri" pitchFamily="34" charset="-120"/>
              </a:rPr>
              <a:t>Log exactly what was shown and what was clicked.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OUTCOMES CONTRACT</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What you will be able to do by tonight</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05</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828800"/>
            <a:ext cx="8595360" cy="713232"/>
          </a:xfrm>
          <a:prstGeom prst="roundRect">
            <a:avLst>
              <a:gd name="adj" fmla="val 10256"/>
            </a:avLst>
          </a:prstGeom>
          <a:solidFill>
            <a:srgbClr val="F1F6F8"/>
          </a:solidFill>
          <a:ln w="6350">
            <a:solidFill>
              <a:srgbClr val="CBD9E0"/>
            </a:solidFill>
            <a:prstDash val="solid"/>
          </a:ln>
        </p:spPr>
      </p:sp>
      <p:sp>
        <p:nvSpPr>
          <p:cNvPr id="9" name="Shape 6"/>
          <p:cNvSpPr/>
          <p:nvPr/>
        </p:nvSpPr>
        <p:spPr>
          <a:xfrm>
            <a:off x="713232" y="1947672"/>
            <a:ext cx="475488" cy="475488"/>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836859" y="2071299"/>
            <a:ext cx="228234" cy="228234"/>
          </a:xfrm>
          <a:prstGeom prst="rect">
            <a:avLst/>
          </a:prstGeom>
        </p:spPr>
      </p:pic>
      <p:sp>
        <p:nvSpPr>
          <p:cNvPr id="11" name="Text 7"/>
          <p:cNvSpPr/>
          <p:nvPr/>
        </p:nvSpPr>
        <p:spPr>
          <a:xfrm>
            <a:off x="1371600" y="1828800"/>
            <a:ext cx="7589520" cy="713232"/>
          </a:xfrm>
          <a:prstGeom prst="rect">
            <a:avLst/>
          </a:prstGeom>
          <a:noFill/>
          <a:ln/>
        </p:spPr>
        <p:txBody>
          <a:bodyPr wrap="square" lIns="0" tIns="0" rIns="0" bIns="0" rtlCol="0" anchor="ctr"/>
          <a:lstStyle/>
          <a:p>
            <a:pPr indent="0" marL="0">
              <a:buNone/>
            </a:pPr>
            <a:r>
              <a:rPr lang="en-US" sz="1450" dirty="0">
                <a:solidFill>
                  <a:srgbClr val="12242E"/>
                </a:solidFill>
                <a:latin typeface="Calibri" pitchFamily="34" charset="0"/>
                <a:ea typeface="Calibri" pitchFamily="34" charset="-122"/>
                <a:cs typeface="Calibri" pitchFamily="34" charset="-120"/>
              </a:rPr>
              <a:t>Explain the three UI layers and where A2UI sits</a:t>
            </a:r>
            <a:endParaRPr lang="en-US" sz="1450" dirty="0"/>
          </a:p>
        </p:txBody>
      </p:sp>
      <p:sp>
        <p:nvSpPr>
          <p:cNvPr id="12" name="Shape 8"/>
          <p:cNvSpPr/>
          <p:nvPr/>
        </p:nvSpPr>
        <p:spPr>
          <a:xfrm>
            <a:off x="548640" y="2670048"/>
            <a:ext cx="8595360" cy="713232"/>
          </a:xfrm>
          <a:prstGeom prst="roundRect">
            <a:avLst>
              <a:gd name="adj" fmla="val 10256"/>
            </a:avLst>
          </a:prstGeom>
          <a:solidFill>
            <a:srgbClr val="F1F6F8"/>
          </a:solidFill>
          <a:ln w="6350">
            <a:solidFill>
              <a:srgbClr val="CBD9E0"/>
            </a:solidFill>
            <a:prstDash val="solid"/>
          </a:ln>
        </p:spPr>
      </p:sp>
      <p:sp>
        <p:nvSpPr>
          <p:cNvPr id="13" name="Shape 9"/>
          <p:cNvSpPr/>
          <p:nvPr/>
        </p:nvSpPr>
        <p:spPr>
          <a:xfrm>
            <a:off x="713232" y="2788920"/>
            <a:ext cx="475488" cy="475488"/>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4" name="Image 2" descr="preencoded.png">    </p:cNvPr>
          <p:cNvPicPr>
            <a:picLocks noChangeAspect="1"/>
          </p:cNvPicPr>
          <p:nvPr/>
        </p:nvPicPr>
        <p:blipFill>
          <a:blip r:embed="rId3"/>
          <a:stretch>
            <a:fillRect/>
          </a:stretch>
        </p:blipFill>
        <p:spPr>
          <a:xfrm>
            <a:off x="836859" y="2912547"/>
            <a:ext cx="228234" cy="228234"/>
          </a:xfrm>
          <a:prstGeom prst="rect">
            <a:avLst/>
          </a:prstGeom>
        </p:spPr>
      </p:pic>
      <p:sp>
        <p:nvSpPr>
          <p:cNvPr id="15" name="Text 10"/>
          <p:cNvSpPr/>
          <p:nvPr/>
        </p:nvSpPr>
        <p:spPr>
          <a:xfrm>
            <a:off x="1371600" y="2670048"/>
            <a:ext cx="7589520" cy="713232"/>
          </a:xfrm>
          <a:prstGeom prst="rect">
            <a:avLst/>
          </a:prstGeom>
          <a:noFill/>
          <a:ln/>
        </p:spPr>
        <p:txBody>
          <a:bodyPr wrap="square" lIns="0" tIns="0" rIns="0" bIns="0" rtlCol="0" anchor="ctr"/>
          <a:lstStyle/>
          <a:p>
            <a:pPr indent="0" marL="0">
              <a:buNone/>
            </a:pPr>
            <a:r>
              <a:rPr lang="en-US" sz="1450" dirty="0">
                <a:solidFill>
                  <a:srgbClr val="12242E"/>
                </a:solidFill>
                <a:latin typeface="Calibri" pitchFamily="34" charset="0"/>
                <a:ea typeface="Calibri" pitchFamily="34" charset="-122"/>
                <a:cs typeface="Calibri" pitchFamily="34" charset="-120"/>
              </a:rPr>
              <a:t>Convert a plain-text agent response into a structured A2UI payload</a:t>
            </a:r>
            <a:endParaRPr lang="en-US" sz="1450" dirty="0"/>
          </a:p>
        </p:txBody>
      </p:sp>
      <p:sp>
        <p:nvSpPr>
          <p:cNvPr id="16" name="Shape 11"/>
          <p:cNvSpPr/>
          <p:nvPr/>
        </p:nvSpPr>
        <p:spPr>
          <a:xfrm>
            <a:off x="548640" y="3511296"/>
            <a:ext cx="8595360" cy="713232"/>
          </a:xfrm>
          <a:prstGeom prst="roundRect">
            <a:avLst>
              <a:gd name="adj" fmla="val 10256"/>
            </a:avLst>
          </a:prstGeom>
          <a:solidFill>
            <a:srgbClr val="F1F6F8"/>
          </a:solidFill>
          <a:ln w="6350">
            <a:solidFill>
              <a:srgbClr val="CBD9E0"/>
            </a:solidFill>
            <a:prstDash val="solid"/>
          </a:ln>
        </p:spPr>
      </p:sp>
      <p:sp>
        <p:nvSpPr>
          <p:cNvPr id="17" name="Shape 12"/>
          <p:cNvSpPr/>
          <p:nvPr/>
        </p:nvSpPr>
        <p:spPr>
          <a:xfrm>
            <a:off x="713232" y="3630168"/>
            <a:ext cx="475488" cy="475488"/>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8" name="Image 3" descr="preencoded.png">    </p:cNvPr>
          <p:cNvPicPr>
            <a:picLocks noChangeAspect="1"/>
          </p:cNvPicPr>
          <p:nvPr/>
        </p:nvPicPr>
        <p:blipFill>
          <a:blip r:embed="rId4"/>
          <a:stretch>
            <a:fillRect/>
          </a:stretch>
        </p:blipFill>
        <p:spPr>
          <a:xfrm>
            <a:off x="836859" y="3753795"/>
            <a:ext cx="228234" cy="228234"/>
          </a:xfrm>
          <a:prstGeom prst="rect">
            <a:avLst/>
          </a:prstGeom>
        </p:spPr>
      </p:pic>
      <p:sp>
        <p:nvSpPr>
          <p:cNvPr id="19" name="Text 13"/>
          <p:cNvSpPr/>
          <p:nvPr/>
        </p:nvSpPr>
        <p:spPr>
          <a:xfrm>
            <a:off x="1371600" y="3511296"/>
            <a:ext cx="7589520" cy="713232"/>
          </a:xfrm>
          <a:prstGeom prst="rect">
            <a:avLst/>
          </a:prstGeom>
          <a:noFill/>
          <a:ln/>
        </p:spPr>
        <p:txBody>
          <a:bodyPr wrap="square" lIns="0" tIns="0" rIns="0" bIns="0" rtlCol="0" anchor="ctr"/>
          <a:lstStyle/>
          <a:p>
            <a:pPr indent="0" marL="0">
              <a:buNone/>
            </a:pPr>
            <a:r>
              <a:rPr lang="en-US" sz="1450" dirty="0">
                <a:solidFill>
                  <a:srgbClr val="12242E"/>
                </a:solidFill>
                <a:latin typeface="Calibri" pitchFamily="34" charset="0"/>
                <a:ea typeface="Calibri" pitchFamily="34" charset="-122"/>
                <a:cs typeface="Calibri" pitchFamily="34" charset="-120"/>
              </a:rPr>
              <a:t>Build an approval flow with tool-call visibility and an audit log</a:t>
            </a:r>
            <a:endParaRPr lang="en-US" sz="1450" dirty="0"/>
          </a:p>
        </p:txBody>
      </p:sp>
      <p:sp>
        <p:nvSpPr>
          <p:cNvPr id="20" name="Shape 14"/>
          <p:cNvSpPr/>
          <p:nvPr/>
        </p:nvSpPr>
        <p:spPr>
          <a:xfrm>
            <a:off x="548640" y="4352544"/>
            <a:ext cx="8595360" cy="713232"/>
          </a:xfrm>
          <a:prstGeom prst="roundRect">
            <a:avLst>
              <a:gd name="adj" fmla="val 10256"/>
            </a:avLst>
          </a:prstGeom>
          <a:solidFill>
            <a:srgbClr val="F1F6F8"/>
          </a:solidFill>
          <a:ln w="6350">
            <a:solidFill>
              <a:srgbClr val="CBD9E0"/>
            </a:solidFill>
            <a:prstDash val="solid"/>
          </a:ln>
        </p:spPr>
      </p:sp>
      <p:sp>
        <p:nvSpPr>
          <p:cNvPr id="21" name="Shape 15"/>
          <p:cNvSpPr/>
          <p:nvPr/>
        </p:nvSpPr>
        <p:spPr>
          <a:xfrm>
            <a:off x="713232" y="4471416"/>
            <a:ext cx="475488" cy="475488"/>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2" name="Image 4" descr="preencoded.png">    </p:cNvPr>
          <p:cNvPicPr>
            <a:picLocks noChangeAspect="1"/>
          </p:cNvPicPr>
          <p:nvPr/>
        </p:nvPicPr>
        <p:blipFill>
          <a:blip r:embed="rId5"/>
          <a:stretch>
            <a:fillRect/>
          </a:stretch>
        </p:blipFill>
        <p:spPr>
          <a:xfrm>
            <a:off x="836859" y="4595043"/>
            <a:ext cx="228234" cy="228234"/>
          </a:xfrm>
          <a:prstGeom prst="rect">
            <a:avLst/>
          </a:prstGeom>
        </p:spPr>
      </p:pic>
      <p:sp>
        <p:nvSpPr>
          <p:cNvPr id="23" name="Text 16"/>
          <p:cNvSpPr/>
          <p:nvPr/>
        </p:nvSpPr>
        <p:spPr>
          <a:xfrm>
            <a:off x="1371600" y="4352544"/>
            <a:ext cx="7589520" cy="713232"/>
          </a:xfrm>
          <a:prstGeom prst="rect">
            <a:avLst/>
          </a:prstGeom>
          <a:noFill/>
          <a:ln/>
        </p:spPr>
        <p:txBody>
          <a:bodyPr wrap="square" lIns="0" tIns="0" rIns="0" bIns="0" rtlCol="0" anchor="ctr"/>
          <a:lstStyle/>
          <a:p>
            <a:pPr indent="0" marL="0">
              <a:buNone/>
            </a:pPr>
            <a:r>
              <a:rPr lang="en-US" sz="1450" dirty="0">
                <a:solidFill>
                  <a:srgbClr val="12242E"/>
                </a:solidFill>
                <a:latin typeface="Calibri" pitchFamily="34" charset="0"/>
                <a:ea typeface="Calibri" pitchFamily="34" charset="-122"/>
                <a:cs typeface="Calibri" pitchFamily="34" charset="-120"/>
              </a:rPr>
              <a:t>Wire a Streamlit admin view over a Strands agent</a:t>
            </a:r>
            <a:endParaRPr lang="en-US" sz="1450" dirty="0"/>
          </a:p>
        </p:txBody>
      </p:sp>
      <p:sp>
        <p:nvSpPr>
          <p:cNvPr id="24" name="Shape 17"/>
          <p:cNvSpPr/>
          <p:nvPr/>
        </p:nvSpPr>
        <p:spPr>
          <a:xfrm>
            <a:off x="548640" y="5193792"/>
            <a:ext cx="8595360" cy="713232"/>
          </a:xfrm>
          <a:prstGeom prst="roundRect">
            <a:avLst>
              <a:gd name="adj" fmla="val 10256"/>
            </a:avLst>
          </a:prstGeom>
          <a:solidFill>
            <a:srgbClr val="0E2330"/>
          </a:solidFill>
          <a:ln w="6350">
            <a:solidFill>
              <a:srgbClr val="CBD9E0"/>
            </a:solidFill>
            <a:prstDash val="solid"/>
          </a:ln>
        </p:spPr>
      </p:sp>
      <p:sp>
        <p:nvSpPr>
          <p:cNvPr id="25" name="Shape 18"/>
          <p:cNvSpPr/>
          <p:nvPr/>
        </p:nvSpPr>
        <p:spPr>
          <a:xfrm>
            <a:off x="713232" y="5312664"/>
            <a:ext cx="475488" cy="475488"/>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26" name="Image 5" descr="preencoded.png">    </p:cNvPr>
          <p:cNvPicPr>
            <a:picLocks noChangeAspect="1"/>
          </p:cNvPicPr>
          <p:nvPr/>
        </p:nvPicPr>
        <p:blipFill>
          <a:blip r:embed="rId6"/>
          <a:stretch>
            <a:fillRect/>
          </a:stretch>
        </p:blipFill>
        <p:spPr>
          <a:xfrm>
            <a:off x="836859" y="5436291"/>
            <a:ext cx="228234" cy="228234"/>
          </a:xfrm>
          <a:prstGeom prst="rect">
            <a:avLst/>
          </a:prstGeom>
        </p:spPr>
      </p:pic>
      <p:sp>
        <p:nvSpPr>
          <p:cNvPr id="27" name="Text 19"/>
          <p:cNvSpPr/>
          <p:nvPr/>
        </p:nvSpPr>
        <p:spPr>
          <a:xfrm>
            <a:off x="1371600" y="5193792"/>
            <a:ext cx="7589520" cy="713232"/>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Decide, per use case, whether A2UI is the right tool or overkill</a:t>
            </a:r>
            <a:endParaRPr lang="en-US" sz="1450" dirty="0"/>
          </a:p>
        </p:txBody>
      </p:sp>
      <p:sp>
        <p:nvSpPr>
          <p:cNvPr id="28" name="Shape 20"/>
          <p:cNvSpPr/>
          <p:nvPr/>
        </p:nvSpPr>
        <p:spPr>
          <a:xfrm>
            <a:off x="9464040" y="1828800"/>
            <a:ext cx="2148840" cy="4023360"/>
          </a:xfrm>
          <a:prstGeom prst="roundRect">
            <a:avLst>
              <a:gd name="adj" fmla="val 5106"/>
            </a:avLst>
          </a:prstGeom>
          <a:solidFill>
            <a:srgbClr val="0E7C86"/>
          </a:solidFill>
          <a:ln/>
          <a:effectLst>
            <a:outerShdw sx="100000" sy="100000" kx="0" ky="0" algn="bl" rotWithShape="0" blurRad="88900" dist="38100" dir="5400000">
              <a:srgbClr val="0B2430">
                <a:alpha val="13000"/>
              </a:srgbClr>
            </a:outerShdw>
          </a:effectLst>
        </p:spPr>
      </p:sp>
      <p:sp>
        <p:nvSpPr>
          <p:cNvPr id="29" name="Text 21"/>
          <p:cNvSpPr/>
          <p:nvPr/>
        </p:nvSpPr>
        <p:spPr>
          <a:xfrm>
            <a:off x="9692640" y="2331720"/>
            <a:ext cx="1737360" cy="146304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The last bullet matters most.</a:t>
            </a:r>
            <a:endParaRPr lang="en-US" sz="1800" dirty="0"/>
          </a:p>
        </p:txBody>
      </p:sp>
      <p:sp>
        <p:nvSpPr>
          <p:cNvPr id="30" name="Text 22"/>
          <p:cNvSpPr/>
          <p:nvPr/>
        </p:nvSpPr>
        <p:spPr>
          <a:xfrm>
            <a:off x="9692640" y="4114800"/>
            <a:ext cx="1737360" cy="1554480"/>
          </a:xfrm>
          <a:prstGeom prst="rect">
            <a:avLst/>
          </a:prstGeom>
          <a:noFill/>
          <a:ln/>
        </p:spPr>
        <p:txBody>
          <a:bodyPr wrap="square" lIns="0" tIns="0" rIns="0" bIns="0" rtlCol="0" anchor="t"/>
          <a:lstStyle/>
          <a:p>
            <a:pPr indent="0" marL="0">
              <a:buNone/>
            </a:pPr>
            <a:r>
              <a:rPr lang="en-US" sz="1300" dirty="0">
                <a:solidFill>
                  <a:srgbClr val="D6F2EE"/>
                </a:solidFill>
                <a:latin typeface="Calibri" pitchFamily="34" charset="0"/>
                <a:ea typeface="Calibri" pitchFamily="34" charset="-122"/>
                <a:cs typeface="Calibri" pitchFamily="34" charset="-120"/>
              </a:rPr>
              <a:t>The goal is judgment, not just a working notebook.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2330"/>
        </a:solidFill>
      </p:bgPr>
    </p:bg>
    <p:spTree>
      <p:nvGrpSpPr>
        <p:cNvPr id="1" name=""/>
        <p:cNvGrpSpPr/>
        <p:nvPr/>
      </p:nvGrpSpPr>
      <p:grpSpPr>
        <a:xfrm>
          <a:off x="0" y="0"/>
          <a:ext cx="0" cy="0"/>
          <a:chOff x="0" y="0"/>
          <a:chExt cx="0" cy="0"/>
        </a:xfrm>
      </p:grpSpPr>
      <p:sp>
        <p:nvSpPr>
          <p:cNvPr id="2" name="Shape 0"/>
          <p:cNvSpPr/>
          <p:nvPr/>
        </p:nvSpPr>
        <p:spPr>
          <a:xfrm>
            <a:off x="8869680" y="2011680"/>
            <a:ext cx="2926080" cy="658368"/>
          </a:xfrm>
          <a:prstGeom prst="roundRect">
            <a:avLst>
              <a:gd name="adj" fmla="val 16667"/>
            </a:avLst>
          </a:prstGeom>
          <a:solidFill>
            <a:srgbClr val="13344A">
              <a:alpha val="80000"/>
            </a:srgbClr>
          </a:solidFill>
          <a:ln/>
        </p:spPr>
      </p:sp>
      <p:sp>
        <p:nvSpPr>
          <p:cNvPr id="3" name="Shape 1"/>
          <p:cNvSpPr/>
          <p:nvPr/>
        </p:nvSpPr>
        <p:spPr>
          <a:xfrm>
            <a:off x="9034272" y="2834640"/>
            <a:ext cx="2926080" cy="658368"/>
          </a:xfrm>
          <a:prstGeom prst="roundRect">
            <a:avLst>
              <a:gd name="adj" fmla="val 16667"/>
            </a:avLst>
          </a:prstGeom>
          <a:solidFill>
            <a:srgbClr val="13344A">
              <a:alpha val="68000"/>
            </a:srgbClr>
          </a:solidFill>
          <a:ln/>
        </p:spPr>
      </p:sp>
      <p:sp>
        <p:nvSpPr>
          <p:cNvPr id="4" name="Shape 2"/>
          <p:cNvSpPr/>
          <p:nvPr/>
        </p:nvSpPr>
        <p:spPr>
          <a:xfrm>
            <a:off x="9198864" y="3657600"/>
            <a:ext cx="2926080" cy="658368"/>
          </a:xfrm>
          <a:prstGeom prst="roundRect">
            <a:avLst>
              <a:gd name="adj" fmla="val 16667"/>
            </a:avLst>
          </a:prstGeom>
          <a:solidFill>
            <a:srgbClr val="13344A">
              <a:alpha val="56000"/>
            </a:srgbClr>
          </a:solidFill>
          <a:ln/>
        </p:spPr>
      </p:sp>
      <p:sp>
        <p:nvSpPr>
          <p:cNvPr id="5" name="Shape 3"/>
          <p:cNvSpPr/>
          <p:nvPr/>
        </p:nvSpPr>
        <p:spPr>
          <a:xfrm>
            <a:off x="822960" y="2148840"/>
            <a:ext cx="1005840" cy="100584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6" name="Image 0" descr="preencoded.png">    </p:cNvPr>
          <p:cNvPicPr>
            <a:picLocks noChangeAspect="1"/>
          </p:cNvPicPr>
          <p:nvPr/>
        </p:nvPicPr>
        <p:blipFill>
          <a:blip r:embed="rId1"/>
          <a:stretch>
            <a:fillRect/>
          </a:stretch>
        </p:blipFill>
        <p:spPr>
          <a:xfrm>
            <a:off x="1084478" y="2410358"/>
            <a:ext cx="482803" cy="482803"/>
          </a:xfrm>
          <a:prstGeom prst="rect">
            <a:avLst/>
          </a:prstGeom>
        </p:spPr>
      </p:pic>
      <p:sp>
        <p:nvSpPr>
          <p:cNvPr id="7" name="Text 4"/>
          <p:cNvSpPr/>
          <p:nvPr/>
        </p:nvSpPr>
        <p:spPr>
          <a:xfrm>
            <a:off x="2057400" y="2240280"/>
            <a:ext cx="73152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PART 1</a:t>
            </a:r>
            <a:endParaRPr lang="en-US" sz="1400" dirty="0"/>
          </a:p>
        </p:txBody>
      </p:sp>
      <p:sp>
        <p:nvSpPr>
          <p:cNvPr id="8" name="Text 5"/>
          <p:cNvSpPr/>
          <p:nvPr/>
        </p:nvSpPr>
        <p:spPr>
          <a:xfrm>
            <a:off x="2057400" y="2606040"/>
            <a:ext cx="7498080" cy="14630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three UI layers</a:t>
            </a:r>
            <a:endParaRPr lang="en-US" sz="3400" dirty="0"/>
          </a:p>
        </p:txBody>
      </p:sp>
      <p:sp>
        <p:nvSpPr>
          <p:cNvPr id="9" name="Text 6"/>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EEAD4"/>
                </a:solidFill>
                <a:latin typeface="Consolas" pitchFamily="34" charset="0"/>
                <a:ea typeface="Consolas" pitchFamily="34" charset="-122"/>
                <a:cs typeface="Consolas" pitchFamily="34" charset="-120"/>
              </a:rPr>
              <a:t>06</a:t>
            </a:r>
            <a:endParaRPr lang="en-US" sz="900" dirty="0"/>
          </a:p>
        </p:txBody>
      </p:sp>
      <p:sp>
        <p:nvSpPr>
          <p:cNvPr id="10" name="Text 7"/>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7FA6B6"/>
                </a:solidFill>
                <a:latin typeface="Calibri" pitchFamily="34" charset="0"/>
                <a:ea typeface="Calibri" pitchFamily="34" charset="-122"/>
                <a:cs typeface="Calibri" pitchFamily="34" charset="-120"/>
              </a:rPr>
              <a:t>A2UI · Agentic UI Layer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MAP</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Three layers of agent UI</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07</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2011680"/>
                <a:gridCol w="4206240"/>
                <a:gridCol w="4846320"/>
              </a:tblGrid>
              <a:tr h="8686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it is</a:t>
                      </a:r>
                      <a:endParaRPr lang="en-US" sz="14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Examples</a:t>
                      </a:r>
                      <a:endParaRPr lang="en-US" sz="14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r>
              <a:tr h="868680">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Protocols</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How bytes move and how agents talk</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Streaming (SSE), A2A, AG-UI</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868680">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Frameworks</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What the UI is made of and what draws it</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A2UI (the format), Angular / React / Lit renderers, Streamlit</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r h="868680">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Patterns</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Recurring shapes of agent UI</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chat, structured, approval, registry, observability</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bl>
          </a:graphicData>
        </a:graphic>
      </p:graphicFrame>
      <p:sp>
        <p:nvSpPr>
          <p:cNvPr id="9" name="Text 5"/>
          <p:cNvSpPr/>
          <p:nvPr/>
        </p:nvSpPr>
        <p:spPr>
          <a:xfrm>
            <a:off x="548640" y="5669280"/>
            <a:ext cx="11064240" cy="457200"/>
          </a:xfrm>
          <a:prstGeom prst="rect">
            <a:avLst/>
          </a:prstGeom>
          <a:noFill/>
          <a:ln/>
        </p:spPr>
        <p:txBody>
          <a:bodyPr wrap="square" lIns="0" tIns="0" rIns="0" bIns="0" rtlCol="0" anchor="ctr"/>
          <a:lstStyle/>
          <a:p>
            <a:pPr indent="0" marL="0">
              <a:buNone/>
            </a:pPr>
            <a:r>
              <a:rPr lang="en-US" sz="1300" i="1" dirty="0">
                <a:solidFill>
                  <a:srgbClr val="5B7383"/>
                </a:solidFill>
                <a:latin typeface="Calibri" pitchFamily="34" charset="0"/>
                <a:ea typeface="Calibri" pitchFamily="34" charset="-122"/>
                <a:cs typeface="Calibri" pitchFamily="34" charset="-120"/>
              </a:rPr>
              <a:t>Protocols carry. Frameworks describe and draw. Patterns are the reusable solutions. We build bottom-up.</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LAYER 1</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Protocols: how bytes move, how agents talk</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08</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783080"/>
            <a:ext cx="7589520" cy="1143000"/>
          </a:xfrm>
          <a:prstGeom prst="roundRect">
            <a:avLst>
              <a:gd name="adj" fmla="val 8000"/>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9" name="Shape 6"/>
          <p:cNvSpPr/>
          <p:nvPr/>
        </p:nvSpPr>
        <p:spPr>
          <a:xfrm>
            <a:off x="777240" y="2075688"/>
            <a:ext cx="566928" cy="566928"/>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924641" y="2223089"/>
            <a:ext cx="272125" cy="272125"/>
          </a:xfrm>
          <a:prstGeom prst="rect">
            <a:avLst/>
          </a:prstGeom>
        </p:spPr>
      </p:pic>
      <p:sp>
        <p:nvSpPr>
          <p:cNvPr id="11" name="Text 7"/>
          <p:cNvSpPr/>
          <p:nvPr/>
        </p:nvSpPr>
        <p:spPr>
          <a:xfrm>
            <a:off x="1508760" y="1947672"/>
            <a:ext cx="6400800" cy="365760"/>
          </a:xfrm>
          <a:prstGeom prst="rect">
            <a:avLst/>
          </a:prstGeom>
          <a:noFill/>
          <a:ln/>
        </p:spPr>
        <p:txBody>
          <a:bodyPr wrap="square" lIns="0" tIns="0" rIns="0" bIns="0" rtlCol="0" anchor="ctr"/>
          <a:lstStyle/>
          <a:p>
            <a:pPr indent="0" marL="0">
              <a:buNone/>
            </a:pPr>
            <a:r>
              <a:rPr lang="en-US" sz="1550" b="1" dirty="0">
                <a:solidFill>
                  <a:srgbClr val="0E2330"/>
                </a:solidFill>
                <a:latin typeface="Cambria" pitchFamily="34" charset="0"/>
                <a:ea typeface="Cambria" pitchFamily="34" charset="-122"/>
                <a:cs typeface="Cambria" pitchFamily="34" charset="-120"/>
              </a:rPr>
              <a:t>Streaming transport: SSE</a:t>
            </a:r>
            <a:endParaRPr lang="en-US" sz="1550" dirty="0"/>
          </a:p>
        </p:txBody>
      </p:sp>
      <p:sp>
        <p:nvSpPr>
          <p:cNvPr id="12" name="Text 8"/>
          <p:cNvSpPr/>
          <p:nvPr/>
        </p:nvSpPr>
        <p:spPr>
          <a:xfrm>
            <a:off x="1508760" y="2313432"/>
            <a:ext cx="6446520" cy="548640"/>
          </a:xfrm>
          <a:prstGeom prst="rect">
            <a:avLst/>
          </a:prstGeom>
          <a:noFill/>
          <a:ln/>
        </p:spPr>
        <p:txBody>
          <a:bodyPr wrap="square" lIns="0" tIns="0" rIns="0" bIns="0" rtlCol="0" anchor="t"/>
          <a:lstStyle/>
          <a:p>
            <a:pPr indent="0" marL="0">
              <a:buNone/>
            </a:pPr>
            <a:r>
              <a:rPr lang="en-US" sz="1200" dirty="0">
                <a:solidFill>
                  <a:srgbClr val="5B7383"/>
                </a:solidFill>
                <a:latin typeface="Calibri" pitchFamily="34" charset="0"/>
                <a:ea typeface="Calibri" pitchFamily="34" charset="-122"/>
                <a:cs typeface="Calibri" pitchFamily="34" charset="-120"/>
              </a:rPr>
              <a:t>Server-Sent Events. One-way. The server pushes UI as it is generated, progressive rendering, no waiting for one big payload.</a:t>
            </a:r>
            <a:endParaRPr lang="en-US" sz="1200" dirty="0"/>
          </a:p>
        </p:txBody>
      </p:sp>
      <p:sp>
        <p:nvSpPr>
          <p:cNvPr id="13" name="Shape 9"/>
          <p:cNvSpPr/>
          <p:nvPr/>
        </p:nvSpPr>
        <p:spPr>
          <a:xfrm>
            <a:off x="548640" y="3063240"/>
            <a:ext cx="7589520" cy="1143000"/>
          </a:xfrm>
          <a:prstGeom prst="roundRect">
            <a:avLst>
              <a:gd name="adj" fmla="val 8000"/>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4" name="Shape 10"/>
          <p:cNvSpPr/>
          <p:nvPr/>
        </p:nvSpPr>
        <p:spPr>
          <a:xfrm>
            <a:off x="777240" y="3355848"/>
            <a:ext cx="566928" cy="566928"/>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5" name="Image 2" descr="preencoded.png">    </p:cNvPr>
          <p:cNvPicPr>
            <a:picLocks noChangeAspect="1"/>
          </p:cNvPicPr>
          <p:nvPr/>
        </p:nvPicPr>
        <p:blipFill>
          <a:blip r:embed="rId3"/>
          <a:stretch>
            <a:fillRect/>
          </a:stretch>
        </p:blipFill>
        <p:spPr>
          <a:xfrm>
            <a:off x="924641" y="3503249"/>
            <a:ext cx="272125" cy="272125"/>
          </a:xfrm>
          <a:prstGeom prst="rect">
            <a:avLst/>
          </a:prstGeom>
        </p:spPr>
      </p:pic>
      <p:sp>
        <p:nvSpPr>
          <p:cNvPr id="16" name="Text 11"/>
          <p:cNvSpPr/>
          <p:nvPr/>
        </p:nvSpPr>
        <p:spPr>
          <a:xfrm>
            <a:off x="1508760" y="3227832"/>
            <a:ext cx="6400800" cy="365760"/>
          </a:xfrm>
          <a:prstGeom prst="rect">
            <a:avLst/>
          </a:prstGeom>
          <a:noFill/>
          <a:ln/>
        </p:spPr>
        <p:txBody>
          <a:bodyPr wrap="square" lIns="0" tIns="0" rIns="0" bIns="0" rtlCol="0" anchor="ctr"/>
          <a:lstStyle/>
          <a:p>
            <a:pPr indent="0" marL="0">
              <a:buNone/>
            </a:pPr>
            <a:r>
              <a:rPr lang="en-US" sz="1550" b="1" dirty="0">
                <a:solidFill>
                  <a:srgbClr val="0E2330"/>
                </a:solidFill>
                <a:latin typeface="Cambria" pitchFamily="34" charset="0"/>
                <a:ea typeface="Cambria" pitchFamily="34" charset="-122"/>
                <a:cs typeface="Cambria" pitchFamily="34" charset="-120"/>
              </a:rPr>
              <a:t>Agent communication: A2A</a:t>
            </a:r>
            <a:endParaRPr lang="en-US" sz="1550" dirty="0"/>
          </a:p>
        </p:txBody>
      </p:sp>
      <p:sp>
        <p:nvSpPr>
          <p:cNvPr id="17" name="Text 12"/>
          <p:cNvSpPr/>
          <p:nvPr/>
        </p:nvSpPr>
        <p:spPr>
          <a:xfrm>
            <a:off x="1508760" y="3593592"/>
            <a:ext cx="6446520" cy="548640"/>
          </a:xfrm>
          <a:prstGeom prst="rect">
            <a:avLst/>
          </a:prstGeom>
          <a:noFill/>
          <a:ln/>
        </p:spPr>
        <p:txBody>
          <a:bodyPr wrap="square" lIns="0" tIns="0" rIns="0" bIns="0" rtlCol="0" anchor="t"/>
          <a:lstStyle/>
          <a:p>
            <a:pPr indent="0" marL="0">
              <a:buNone/>
            </a:pPr>
            <a:r>
              <a:rPr lang="en-US" sz="1200" dirty="0">
                <a:solidFill>
                  <a:srgbClr val="5B7383"/>
                </a:solidFill>
                <a:latin typeface="Calibri" pitchFamily="34" charset="0"/>
                <a:ea typeface="Calibri" pitchFamily="34" charset="-122"/>
                <a:cs typeface="Calibri" pitchFamily="34" charset="-120"/>
              </a:rPr>
              <a:t>Agent-to-agent. You already use it. A2UI user events ride back on A2A messages.</a:t>
            </a:r>
            <a:endParaRPr lang="en-US" sz="1200" dirty="0"/>
          </a:p>
        </p:txBody>
      </p:sp>
      <p:sp>
        <p:nvSpPr>
          <p:cNvPr id="18" name="Shape 13"/>
          <p:cNvSpPr/>
          <p:nvPr/>
        </p:nvSpPr>
        <p:spPr>
          <a:xfrm>
            <a:off x="548640" y="4343400"/>
            <a:ext cx="7589520" cy="1143000"/>
          </a:xfrm>
          <a:prstGeom prst="roundRect">
            <a:avLst>
              <a:gd name="adj" fmla="val 8000"/>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9" name="Shape 14"/>
          <p:cNvSpPr/>
          <p:nvPr/>
        </p:nvSpPr>
        <p:spPr>
          <a:xfrm>
            <a:off x="777240" y="4636008"/>
            <a:ext cx="566928" cy="566928"/>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0" name="Image 3" descr="preencoded.png">    </p:cNvPr>
          <p:cNvPicPr>
            <a:picLocks noChangeAspect="1"/>
          </p:cNvPicPr>
          <p:nvPr/>
        </p:nvPicPr>
        <p:blipFill>
          <a:blip r:embed="rId4"/>
          <a:stretch>
            <a:fillRect/>
          </a:stretch>
        </p:blipFill>
        <p:spPr>
          <a:xfrm>
            <a:off x="924641" y="4783409"/>
            <a:ext cx="272125" cy="272125"/>
          </a:xfrm>
          <a:prstGeom prst="rect">
            <a:avLst/>
          </a:prstGeom>
        </p:spPr>
      </p:pic>
      <p:sp>
        <p:nvSpPr>
          <p:cNvPr id="21" name="Text 15"/>
          <p:cNvSpPr/>
          <p:nvPr/>
        </p:nvSpPr>
        <p:spPr>
          <a:xfrm>
            <a:off x="1508760" y="4507992"/>
            <a:ext cx="6400800" cy="365760"/>
          </a:xfrm>
          <a:prstGeom prst="rect">
            <a:avLst/>
          </a:prstGeom>
          <a:noFill/>
          <a:ln/>
        </p:spPr>
        <p:txBody>
          <a:bodyPr wrap="square" lIns="0" tIns="0" rIns="0" bIns="0" rtlCol="0" anchor="ctr"/>
          <a:lstStyle/>
          <a:p>
            <a:pPr indent="0" marL="0">
              <a:buNone/>
            </a:pPr>
            <a:r>
              <a:rPr lang="en-US" sz="1550" b="1" dirty="0">
                <a:solidFill>
                  <a:srgbClr val="0E2330"/>
                </a:solidFill>
                <a:latin typeface="Cambria" pitchFamily="34" charset="0"/>
                <a:ea typeface="Cambria" pitchFamily="34" charset="-122"/>
                <a:cs typeface="Cambria" pitchFamily="34" charset="-120"/>
              </a:rPr>
              <a:t>Agent-to-frontend: AG-UI</a:t>
            </a:r>
            <a:endParaRPr lang="en-US" sz="1550" dirty="0"/>
          </a:p>
        </p:txBody>
      </p:sp>
      <p:sp>
        <p:nvSpPr>
          <p:cNvPr id="22" name="Text 16"/>
          <p:cNvSpPr/>
          <p:nvPr/>
        </p:nvSpPr>
        <p:spPr>
          <a:xfrm>
            <a:off x="1508760" y="4873752"/>
            <a:ext cx="6446520" cy="548640"/>
          </a:xfrm>
          <a:prstGeom prst="rect">
            <a:avLst/>
          </a:prstGeom>
          <a:noFill/>
          <a:ln/>
        </p:spPr>
        <p:txBody>
          <a:bodyPr wrap="square" lIns="0" tIns="0" rIns="0" bIns="0" rtlCol="0" anchor="t"/>
          <a:lstStyle/>
          <a:p>
            <a:pPr indent="0" marL="0">
              <a:buNone/>
            </a:pPr>
            <a:r>
              <a:rPr lang="en-US" sz="1200" dirty="0">
                <a:solidFill>
                  <a:srgbClr val="5B7383"/>
                </a:solidFill>
                <a:latin typeface="Calibri" pitchFamily="34" charset="0"/>
                <a:ea typeface="Calibri" pitchFamily="34" charset="-122"/>
                <a:cs typeface="Calibri" pitchFamily="34" charset="-120"/>
              </a:rPr>
              <a:t>The runtime pipe between an agent backend and a frontend. We place it precisely in two slides.</a:t>
            </a:r>
            <a:endParaRPr lang="en-US" sz="1200" dirty="0"/>
          </a:p>
        </p:txBody>
      </p:sp>
      <p:sp>
        <p:nvSpPr>
          <p:cNvPr id="23" name="Shape 17"/>
          <p:cNvSpPr/>
          <p:nvPr/>
        </p:nvSpPr>
        <p:spPr>
          <a:xfrm>
            <a:off x="8366760" y="1783080"/>
            <a:ext cx="3246120" cy="3794760"/>
          </a:xfrm>
          <a:prstGeom prst="roundRect">
            <a:avLst>
              <a:gd name="adj" fmla="val 3380"/>
            </a:avLst>
          </a:prstGeom>
          <a:solidFill>
            <a:srgbClr val="0E2330"/>
          </a:solidFill>
          <a:ln/>
          <a:effectLst>
            <a:outerShdw sx="100000" sy="100000" kx="0" ky="0" algn="bl" rotWithShape="0" blurRad="88900" dist="38100" dir="5400000">
              <a:srgbClr val="0B2430">
                <a:alpha val="13000"/>
              </a:srgbClr>
            </a:outerShdw>
          </a:effectLst>
        </p:spPr>
      </p:sp>
      <p:sp>
        <p:nvSpPr>
          <p:cNvPr id="24" name="Text 18"/>
          <p:cNvSpPr/>
          <p:nvPr/>
        </p:nvSpPr>
        <p:spPr>
          <a:xfrm>
            <a:off x="8595360" y="2011680"/>
            <a:ext cx="2788920" cy="457200"/>
          </a:xfrm>
          <a:prstGeom prst="rect">
            <a:avLst/>
          </a:prstGeom>
          <a:noFill/>
          <a:ln/>
        </p:spPr>
        <p:txBody>
          <a:bodyPr wrap="square" lIns="0" tIns="0" rIns="0" bIns="0" rtlCol="0" anchor="ctr"/>
          <a:lstStyle/>
          <a:p>
            <a:pPr indent="0" marL="0">
              <a:buNone/>
            </a:pPr>
            <a:r>
              <a:rPr lang="en-US" sz="1600" b="1" dirty="0">
                <a:solidFill>
                  <a:srgbClr val="5EEAD4"/>
                </a:solidFill>
                <a:latin typeface="Cambria" pitchFamily="34" charset="0"/>
                <a:ea typeface="Cambria" pitchFamily="34" charset="-122"/>
                <a:cs typeface="Cambria" pitchFamily="34" charset="-120"/>
              </a:rPr>
              <a:t>Why one-way for UI?</a:t>
            </a:r>
            <a:endParaRPr lang="en-US" sz="1600" dirty="0"/>
          </a:p>
        </p:txBody>
      </p:sp>
      <p:sp>
        <p:nvSpPr>
          <p:cNvPr id="25" name="Text 19"/>
          <p:cNvSpPr/>
          <p:nvPr/>
        </p:nvSpPr>
        <p:spPr>
          <a:xfrm>
            <a:off x="8595360" y="2468880"/>
            <a:ext cx="2834640" cy="2926080"/>
          </a:xfrm>
          <a:prstGeom prst="rect">
            <a:avLst/>
          </a:prstGeom>
          <a:noFill/>
          <a:ln/>
        </p:spPr>
        <p:txBody>
          <a:bodyPr wrap="square" lIns="0" tIns="0" rIns="0" bIns="0" rtlCol="0" anchor="t"/>
          <a:lstStyle/>
          <a:p>
            <a:pPr indent="0" marL="0">
              <a:spcAft>
                <a:spcPts val="800"/>
              </a:spcAft>
              <a:buNone/>
            </a:pPr>
            <a:r>
              <a:rPr lang="en-US" sz="1250" dirty="0">
                <a:solidFill>
                  <a:srgbClr val="D6E5EC"/>
                </a:solidFill>
                <a:latin typeface="Calibri" pitchFamily="34" charset="0"/>
                <a:ea typeface="Calibri" pitchFamily="34" charset="-122"/>
                <a:cs typeface="Calibri" pitchFamily="34" charset="-120"/>
              </a:rPr>
              <a:t>Simpler, more robust client, it only listens and reacts.</a:t>
            </a:r>
            <a:endParaRPr lang="en-US" sz="1250" dirty="0"/>
          </a:p>
          <a:p>
            <a:pPr indent="0" marL="0">
              <a:spcAft>
                <a:spcPts val="800"/>
              </a:spcAft>
              <a:buNone/>
            </a:pPr>
            <a:r>
              <a:rPr lang="en-US" sz="1250" dirty="0">
                <a:solidFill>
                  <a:srgbClr val="D6E5EC"/>
                </a:solidFill>
                <a:latin typeface="Calibri" pitchFamily="34" charset="0"/>
                <a:ea typeface="Calibri" pitchFamily="34" charset="-122"/>
                <a:cs typeface="Calibri" pitchFamily="34" charset="-120"/>
              </a:rPr>
              <a:t>User events go back on a separate channel (A2A), so the UI stream stays clean.</a:t>
            </a:r>
            <a:endParaRPr lang="en-US" sz="1250" dirty="0"/>
          </a:p>
          <a:p>
            <a:pPr indent="0" marL="0">
              <a:buNone/>
            </a:pPr>
            <a:r>
              <a:rPr lang="en-US" sz="1250" dirty="0">
                <a:solidFill>
                  <a:srgbClr val="D6E5EC"/>
                </a:solidFill>
                <a:latin typeface="Calibri" pitchFamily="34" charset="0"/>
                <a:ea typeface="Calibri" pitchFamily="34" charset="-122"/>
                <a:cs typeface="Calibri" pitchFamily="34" charset="-120"/>
              </a:rPr>
              <a:t>SSE is the default; WebSockets and A2A are also supported.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LAYER 2</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Frameworks: the format and what draws it</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09</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783080"/>
            <a:ext cx="5394960" cy="1874520"/>
          </a:xfrm>
          <a:prstGeom prst="roundRect">
            <a:avLst>
              <a:gd name="adj" fmla="val 5854"/>
            </a:avLst>
          </a:prstGeom>
          <a:solidFill>
            <a:srgbClr val="0E2330"/>
          </a:solidFill>
          <a:ln/>
          <a:effectLst>
            <a:outerShdw sx="100000" sy="100000" kx="0" ky="0" algn="bl" rotWithShape="0" blurRad="88900" dist="38100" dir="5400000">
              <a:srgbClr val="0B2430">
                <a:alpha val="13000"/>
              </a:srgbClr>
            </a:outerShdw>
          </a:effectLst>
        </p:spPr>
      </p:sp>
      <p:sp>
        <p:nvSpPr>
          <p:cNvPr id="9" name="Shape 6"/>
          <p:cNvSpPr/>
          <p:nvPr/>
        </p:nvSpPr>
        <p:spPr>
          <a:xfrm>
            <a:off x="822960" y="2057400"/>
            <a:ext cx="640080" cy="64008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989381" y="2223821"/>
            <a:ext cx="307238" cy="307238"/>
          </a:xfrm>
          <a:prstGeom prst="rect">
            <a:avLst/>
          </a:prstGeom>
        </p:spPr>
      </p:pic>
      <p:sp>
        <p:nvSpPr>
          <p:cNvPr id="11" name="Text 7"/>
          <p:cNvSpPr/>
          <p:nvPr/>
        </p:nvSpPr>
        <p:spPr>
          <a:xfrm>
            <a:off x="1645920" y="2103120"/>
            <a:ext cx="41148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A2UI = the format</a:t>
            </a:r>
            <a:endParaRPr lang="en-US" sz="1800" dirty="0"/>
          </a:p>
        </p:txBody>
      </p:sp>
      <p:sp>
        <p:nvSpPr>
          <p:cNvPr id="12" name="Text 8"/>
          <p:cNvSpPr/>
          <p:nvPr/>
        </p:nvSpPr>
        <p:spPr>
          <a:xfrm>
            <a:off x="822960" y="2697480"/>
            <a:ext cx="4846320" cy="868680"/>
          </a:xfrm>
          <a:prstGeom prst="rect">
            <a:avLst/>
          </a:prstGeom>
          <a:noFill/>
          <a:ln/>
        </p:spPr>
        <p:txBody>
          <a:bodyPr wrap="square" lIns="0" tIns="0" rIns="0" bIns="0" rtlCol="0" anchor="t"/>
          <a:lstStyle/>
          <a:p>
            <a:pPr indent="0" marL="0">
              <a:buNone/>
            </a:pPr>
            <a:r>
              <a:rPr lang="en-US" sz="1350" dirty="0">
                <a:solidFill>
                  <a:srgbClr val="D6E5EC"/>
                </a:solidFill>
                <a:latin typeface="Calibri" pitchFamily="34" charset="0"/>
                <a:ea typeface="Calibri" pitchFamily="34" charset="-122"/>
                <a:cs typeface="Calibri" pitchFamily="34" charset="-120"/>
              </a:rPr>
              <a:t>A JSON description of UI that the agent emits. Not HTML. Not code.</a:t>
            </a:r>
            <a:endParaRPr lang="en-US" sz="1350" dirty="0"/>
          </a:p>
        </p:txBody>
      </p:sp>
      <p:sp>
        <p:nvSpPr>
          <p:cNvPr id="13" name="Shape 9"/>
          <p:cNvSpPr/>
          <p:nvPr/>
        </p:nvSpPr>
        <p:spPr>
          <a:xfrm>
            <a:off x="6217920" y="1783080"/>
            <a:ext cx="5394960" cy="1874520"/>
          </a:xfrm>
          <a:prstGeom prst="roundRect">
            <a:avLst>
              <a:gd name="adj" fmla="val 585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4" name="Shape 10"/>
          <p:cNvSpPr/>
          <p:nvPr/>
        </p:nvSpPr>
        <p:spPr>
          <a:xfrm>
            <a:off x="6492240" y="2057400"/>
            <a:ext cx="640080" cy="64008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5" name="Image 2" descr="preencoded.png">    </p:cNvPr>
          <p:cNvPicPr>
            <a:picLocks noChangeAspect="1"/>
          </p:cNvPicPr>
          <p:nvPr/>
        </p:nvPicPr>
        <p:blipFill>
          <a:blip r:embed="rId3"/>
          <a:stretch>
            <a:fillRect/>
          </a:stretch>
        </p:blipFill>
        <p:spPr>
          <a:xfrm>
            <a:off x="6658661" y="2223821"/>
            <a:ext cx="307238" cy="307238"/>
          </a:xfrm>
          <a:prstGeom prst="rect">
            <a:avLst/>
          </a:prstGeom>
        </p:spPr>
      </p:pic>
      <p:sp>
        <p:nvSpPr>
          <p:cNvPr id="16" name="Text 11"/>
          <p:cNvSpPr/>
          <p:nvPr/>
        </p:nvSpPr>
        <p:spPr>
          <a:xfrm>
            <a:off x="7315200" y="2103120"/>
            <a:ext cx="4114800" cy="457200"/>
          </a:xfrm>
          <a:prstGeom prst="rect">
            <a:avLst/>
          </a:prstGeom>
          <a:noFill/>
          <a:ln/>
        </p:spPr>
        <p:txBody>
          <a:bodyPr wrap="square" lIns="0" tIns="0" rIns="0" bIns="0" rtlCol="0" anchor="ctr"/>
          <a:lstStyle/>
          <a:p>
            <a:pPr indent="0" marL="0">
              <a:buNone/>
            </a:pPr>
            <a:r>
              <a:rPr lang="en-US" sz="1800" b="1" dirty="0">
                <a:solidFill>
                  <a:srgbClr val="0E2330"/>
                </a:solidFill>
                <a:latin typeface="Cambria" pitchFamily="34" charset="0"/>
                <a:ea typeface="Cambria" pitchFamily="34" charset="-122"/>
                <a:cs typeface="Cambria" pitchFamily="34" charset="-120"/>
              </a:rPr>
              <a:t>Renderers = the pixels</a:t>
            </a:r>
            <a:endParaRPr lang="en-US" sz="1800" dirty="0"/>
          </a:p>
        </p:txBody>
      </p:sp>
      <p:sp>
        <p:nvSpPr>
          <p:cNvPr id="17" name="Text 12"/>
          <p:cNvSpPr/>
          <p:nvPr/>
        </p:nvSpPr>
        <p:spPr>
          <a:xfrm>
            <a:off x="6492240" y="2697480"/>
            <a:ext cx="4846320" cy="868680"/>
          </a:xfrm>
          <a:prstGeom prst="rect">
            <a:avLst/>
          </a:prstGeom>
          <a:noFill/>
          <a:ln/>
        </p:spPr>
        <p:txBody>
          <a:bodyPr wrap="square" lIns="0" tIns="0" rIns="0" bIns="0" rtlCol="0" anchor="t"/>
          <a:lstStyle/>
          <a:p>
            <a:pPr indent="0" marL="0">
              <a:buNone/>
            </a:pPr>
            <a:r>
              <a:rPr lang="en-US" sz="1300" dirty="0">
                <a:solidFill>
                  <a:srgbClr val="5B7383"/>
                </a:solidFill>
                <a:latin typeface="Calibri" pitchFamily="34" charset="0"/>
                <a:ea typeface="Calibri" pitchFamily="34" charset="-122"/>
                <a:cs typeface="Calibri" pitchFamily="34" charset="-120"/>
              </a:rPr>
              <a:t>Turn that JSON into widgets: Angular, React, Lit, Flutter, community renderers. Streamlit for fast admin views.</a:t>
            </a:r>
            <a:endParaRPr lang="en-US" sz="1300" dirty="0"/>
          </a:p>
        </p:txBody>
      </p:sp>
      <p:sp>
        <p:nvSpPr>
          <p:cNvPr id="18" name="Shape 13"/>
          <p:cNvSpPr/>
          <p:nvPr/>
        </p:nvSpPr>
        <p:spPr>
          <a:xfrm>
            <a:off x="548640" y="3977640"/>
            <a:ext cx="11064240" cy="1600200"/>
          </a:xfrm>
          <a:prstGeom prst="roundRect">
            <a:avLst>
              <a:gd name="adj" fmla="val 6857"/>
            </a:avLst>
          </a:prstGeom>
          <a:solidFill>
            <a:srgbClr val="E4EDF1"/>
          </a:solidFill>
          <a:ln/>
        </p:spPr>
      </p:sp>
      <p:sp>
        <p:nvSpPr>
          <p:cNvPr id="19" name="Shape 14"/>
          <p:cNvSpPr/>
          <p:nvPr/>
        </p:nvSpPr>
        <p:spPr>
          <a:xfrm>
            <a:off x="868680" y="4297680"/>
            <a:ext cx="713232" cy="713232"/>
          </a:xfrm>
          <a:prstGeom prst="ellipse">
            <a:avLst/>
          </a:prstGeom>
          <a:solidFill>
            <a:srgbClr val="E8951C"/>
          </a:solidFill>
          <a:ln/>
          <a:effectLst>
            <a:outerShdw sx="100000" sy="100000" kx="0" ky="0" algn="bl" rotWithShape="0" blurRad="114300" dist="50800" dir="5400000">
              <a:srgbClr val="0B2430">
                <a:alpha val="10000"/>
              </a:srgbClr>
            </a:outerShdw>
          </a:effectLst>
        </p:spPr>
      </p:sp>
      <p:pic>
        <p:nvPicPr>
          <p:cNvPr id="20" name="Image 3" descr="preencoded.png">    </p:cNvPr>
          <p:cNvPicPr>
            <a:picLocks noChangeAspect="1"/>
          </p:cNvPicPr>
          <p:nvPr/>
        </p:nvPicPr>
        <p:blipFill>
          <a:blip r:embed="rId4"/>
          <a:stretch>
            <a:fillRect/>
          </a:stretch>
        </p:blipFill>
        <p:spPr>
          <a:xfrm>
            <a:off x="1054120" y="4483120"/>
            <a:ext cx="342351" cy="342351"/>
          </a:xfrm>
          <a:prstGeom prst="rect">
            <a:avLst/>
          </a:prstGeom>
        </p:spPr>
      </p:pic>
      <p:sp>
        <p:nvSpPr>
          <p:cNvPr id="21" name="Text 15"/>
          <p:cNvSpPr/>
          <p:nvPr/>
        </p:nvSpPr>
        <p:spPr>
          <a:xfrm>
            <a:off x="1783080" y="4224528"/>
            <a:ext cx="9601200" cy="411480"/>
          </a:xfrm>
          <a:prstGeom prst="rect">
            <a:avLst/>
          </a:prstGeom>
          <a:noFill/>
          <a:ln/>
        </p:spPr>
        <p:txBody>
          <a:bodyPr wrap="square" lIns="0" tIns="0" rIns="0" bIns="0" rtlCol="0" anchor="ctr"/>
          <a:lstStyle/>
          <a:p>
            <a:pPr indent="0" marL="0">
              <a:buNone/>
            </a:pPr>
            <a:r>
              <a:rPr lang="en-US" sz="1700" b="1" dirty="0">
                <a:solidFill>
                  <a:srgbClr val="0E2330"/>
                </a:solidFill>
                <a:latin typeface="Cambria" pitchFamily="34" charset="0"/>
                <a:ea typeface="Cambria" pitchFamily="34" charset="-122"/>
                <a:cs typeface="Cambria" pitchFamily="34" charset="-120"/>
              </a:rPr>
              <a:t>The most important distinction of the day</a:t>
            </a:r>
            <a:endParaRPr lang="en-US" sz="1700" dirty="0"/>
          </a:p>
        </p:txBody>
      </p:sp>
      <p:sp>
        <p:nvSpPr>
          <p:cNvPr id="22" name="Text 16"/>
          <p:cNvSpPr/>
          <p:nvPr/>
        </p:nvSpPr>
        <p:spPr>
          <a:xfrm>
            <a:off x="1783080" y="4663440"/>
            <a:ext cx="9601200" cy="822960"/>
          </a:xfrm>
          <a:prstGeom prst="rect">
            <a:avLst/>
          </a:prstGeom>
          <a:noFill/>
          <a:ln/>
        </p:spPr>
        <p:txBody>
          <a:bodyPr wrap="square" lIns="0" tIns="0" rIns="0" bIns="0" rtlCol="0" anchor="t"/>
          <a:lstStyle/>
          <a:p>
            <a:pPr indent="0" marL="0">
              <a:buNone/>
            </a:pPr>
            <a:r>
              <a:rPr lang="en-US" sz="1350" dirty="0">
                <a:solidFill>
                  <a:srgbClr val="12242E"/>
                </a:solidFill>
                <a:latin typeface="Calibri" pitchFamily="34" charset="0"/>
                <a:ea typeface="Calibri" pitchFamily="34" charset="-122"/>
                <a:cs typeface="Calibri" pitchFamily="34" charset="-120"/>
              </a:rPr>
              <a:t>The agent never ships HTML or code. It ships a </a:t>
            </a:r>
            <a:pPr indent="0" marL="0">
              <a:buNone/>
            </a:pPr>
            <a:r>
              <a:rPr lang="en-US" sz="1350" b="1" dirty="0">
                <a:solidFill>
                  <a:srgbClr val="0E7C86"/>
                </a:solidFill>
                <a:latin typeface="Calibri" pitchFamily="34" charset="0"/>
                <a:ea typeface="Calibri" pitchFamily="34" charset="-122"/>
                <a:cs typeface="Calibri" pitchFamily="34" charset="-120"/>
              </a:rPr>
              <a:t>description</a:t>
            </a:r>
            <a:pPr indent="0" marL="0">
              <a:buNone/>
            </a:pPr>
            <a:r>
              <a:rPr lang="en-US" sz="1350" dirty="0">
                <a:solidFill>
                  <a:srgbClr val="12242E"/>
                </a:solidFill>
                <a:latin typeface="Calibri" pitchFamily="34" charset="0"/>
                <a:ea typeface="Calibri" pitchFamily="34" charset="-122"/>
                <a:cs typeface="Calibri" pitchFamily="34" charset="-120"/>
              </a:rPr>
              <a:t>; the client owns the </a:t>
            </a:r>
            <a:pPr indent="0" marL="0">
              <a:buNone/>
            </a:pPr>
            <a:r>
              <a:rPr lang="en-US" sz="1350" b="1" dirty="0">
                <a:solidFill>
                  <a:srgbClr val="0E7C86"/>
                </a:solidFill>
                <a:latin typeface="Calibri" pitchFamily="34" charset="0"/>
                <a:ea typeface="Calibri" pitchFamily="34" charset="-122"/>
                <a:cs typeface="Calibri" pitchFamily="34" charset="-120"/>
              </a:rPr>
              <a:t>widgets</a:t>
            </a:r>
            <a:pPr indent="0" marL="0">
              <a:buNone/>
            </a:pPr>
            <a:r>
              <a:rPr lang="en-US" sz="1350" dirty="0">
                <a:solidFill>
                  <a:srgbClr val="12242E"/>
                </a:solidFill>
                <a:latin typeface="Calibri" pitchFamily="34" charset="0"/>
                <a:ea typeface="Calibri" pitchFamily="34" charset="-122"/>
                <a:cs typeface="Calibri" pitchFamily="34" charset="-120"/>
              </a:rPr>
              <a:t>. The same payload renders on web, mobile, or desktop because each client maps component names to its own native widgets.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LAYER 3</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Patterns: the recurring shapes of agent UI</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10</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2011680"/>
            <a:ext cx="1920240" cy="3108960"/>
          </a:xfrm>
          <a:prstGeom prst="roundRect">
            <a:avLst>
              <a:gd name="adj" fmla="val 571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9" name="Shape 6"/>
          <p:cNvSpPr/>
          <p:nvPr/>
        </p:nvSpPr>
        <p:spPr>
          <a:xfrm>
            <a:off x="1120140" y="2331720"/>
            <a:ext cx="777240" cy="77724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1322222" y="2533802"/>
            <a:ext cx="373075" cy="373075"/>
          </a:xfrm>
          <a:prstGeom prst="rect">
            <a:avLst/>
          </a:prstGeom>
        </p:spPr>
      </p:pic>
      <p:sp>
        <p:nvSpPr>
          <p:cNvPr id="11" name="Text 7"/>
          <p:cNvSpPr/>
          <p:nvPr/>
        </p:nvSpPr>
        <p:spPr>
          <a:xfrm>
            <a:off x="548640" y="3246120"/>
            <a:ext cx="1920240" cy="411480"/>
          </a:xfrm>
          <a:prstGeom prst="rect">
            <a:avLst/>
          </a:prstGeom>
          <a:noFill/>
          <a:ln/>
        </p:spPr>
        <p:txBody>
          <a:bodyPr wrap="square" lIns="0" tIns="0" rIns="0" bIns="0" rtlCol="0" anchor="ctr"/>
          <a:lstStyle/>
          <a:p>
            <a:pPr algn="ctr" indent="0" marL="0">
              <a:buNone/>
            </a:pPr>
            <a:r>
              <a:rPr lang="en-US" sz="1600" b="1" dirty="0">
                <a:solidFill>
                  <a:srgbClr val="0E2330"/>
                </a:solidFill>
                <a:latin typeface="Cambria" pitchFamily="34" charset="0"/>
                <a:ea typeface="Cambria" pitchFamily="34" charset="-122"/>
                <a:cs typeface="Cambria" pitchFamily="34" charset="-120"/>
              </a:rPr>
              <a:t>chat</a:t>
            </a:r>
            <a:endParaRPr lang="en-US" sz="1600" dirty="0"/>
          </a:p>
        </p:txBody>
      </p:sp>
      <p:sp>
        <p:nvSpPr>
          <p:cNvPr id="12" name="Text 8"/>
          <p:cNvSpPr/>
          <p:nvPr/>
        </p:nvSpPr>
        <p:spPr>
          <a:xfrm>
            <a:off x="685800" y="3703320"/>
            <a:ext cx="1645920" cy="1280160"/>
          </a:xfrm>
          <a:prstGeom prst="rect">
            <a:avLst/>
          </a:prstGeom>
          <a:noFill/>
          <a:ln/>
        </p:spPr>
        <p:txBody>
          <a:bodyPr wrap="square" lIns="0" tIns="0" rIns="0" bIns="0" rtlCol="0" anchor="t"/>
          <a:lstStyle/>
          <a:p>
            <a:pPr algn="ctr" indent="0" marL="0">
              <a:buNone/>
            </a:pPr>
            <a:r>
              <a:rPr lang="en-US" sz="1200" dirty="0">
                <a:solidFill>
                  <a:srgbClr val="5B7383"/>
                </a:solidFill>
                <a:latin typeface="Calibri" pitchFamily="34" charset="0"/>
                <a:ea typeface="Calibri" pitchFamily="34" charset="-122"/>
                <a:cs typeface="Calibri" pitchFamily="34" charset="-120"/>
              </a:rPr>
              <a:t>conversational turns</a:t>
            </a:r>
            <a:endParaRPr lang="en-US" sz="1200" dirty="0"/>
          </a:p>
        </p:txBody>
      </p:sp>
      <p:sp>
        <p:nvSpPr>
          <p:cNvPr id="13" name="Shape 9"/>
          <p:cNvSpPr/>
          <p:nvPr/>
        </p:nvSpPr>
        <p:spPr>
          <a:xfrm>
            <a:off x="2834640" y="2011680"/>
            <a:ext cx="1920240" cy="3108960"/>
          </a:xfrm>
          <a:prstGeom prst="roundRect">
            <a:avLst>
              <a:gd name="adj" fmla="val 571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4" name="Shape 10"/>
          <p:cNvSpPr/>
          <p:nvPr/>
        </p:nvSpPr>
        <p:spPr>
          <a:xfrm>
            <a:off x="3406140" y="2331720"/>
            <a:ext cx="777240" cy="77724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5" name="Image 2" descr="preencoded.png">    </p:cNvPr>
          <p:cNvPicPr>
            <a:picLocks noChangeAspect="1"/>
          </p:cNvPicPr>
          <p:nvPr/>
        </p:nvPicPr>
        <p:blipFill>
          <a:blip r:embed="rId3"/>
          <a:stretch>
            <a:fillRect/>
          </a:stretch>
        </p:blipFill>
        <p:spPr>
          <a:xfrm>
            <a:off x="3608222" y="2533802"/>
            <a:ext cx="373075" cy="373075"/>
          </a:xfrm>
          <a:prstGeom prst="rect">
            <a:avLst/>
          </a:prstGeom>
        </p:spPr>
      </p:pic>
      <p:sp>
        <p:nvSpPr>
          <p:cNvPr id="16" name="Text 11"/>
          <p:cNvSpPr/>
          <p:nvPr/>
        </p:nvSpPr>
        <p:spPr>
          <a:xfrm>
            <a:off x="2834640" y="3246120"/>
            <a:ext cx="1920240" cy="411480"/>
          </a:xfrm>
          <a:prstGeom prst="rect">
            <a:avLst/>
          </a:prstGeom>
          <a:noFill/>
          <a:ln/>
        </p:spPr>
        <p:txBody>
          <a:bodyPr wrap="square" lIns="0" tIns="0" rIns="0" bIns="0" rtlCol="0" anchor="ctr"/>
          <a:lstStyle/>
          <a:p>
            <a:pPr algn="ctr" indent="0" marL="0">
              <a:buNone/>
            </a:pPr>
            <a:r>
              <a:rPr lang="en-US" sz="1600" b="1" dirty="0">
                <a:solidFill>
                  <a:srgbClr val="0E2330"/>
                </a:solidFill>
                <a:latin typeface="Cambria" pitchFamily="34" charset="0"/>
                <a:ea typeface="Cambria" pitchFamily="34" charset="-122"/>
                <a:cs typeface="Cambria" pitchFamily="34" charset="-120"/>
              </a:rPr>
              <a:t>structured</a:t>
            </a:r>
            <a:endParaRPr lang="en-US" sz="1600" dirty="0"/>
          </a:p>
        </p:txBody>
      </p:sp>
      <p:sp>
        <p:nvSpPr>
          <p:cNvPr id="17" name="Text 12"/>
          <p:cNvSpPr/>
          <p:nvPr/>
        </p:nvSpPr>
        <p:spPr>
          <a:xfrm>
            <a:off x="2971800" y="3703320"/>
            <a:ext cx="1645920" cy="1280160"/>
          </a:xfrm>
          <a:prstGeom prst="rect">
            <a:avLst/>
          </a:prstGeom>
          <a:noFill/>
          <a:ln/>
        </p:spPr>
        <p:txBody>
          <a:bodyPr wrap="square" lIns="0" tIns="0" rIns="0" bIns="0" rtlCol="0" anchor="t"/>
          <a:lstStyle/>
          <a:p>
            <a:pPr algn="ctr" indent="0" marL="0">
              <a:buNone/>
            </a:pPr>
            <a:r>
              <a:rPr lang="en-US" sz="1200" dirty="0">
                <a:solidFill>
                  <a:srgbClr val="5B7383"/>
                </a:solidFill>
                <a:latin typeface="Calibri" pitchFamily="34" charset="0"/>
                <a:ea typeface="Calibri" pitchFamily="34" charset="-122"/>
                <a:cs typeface="Calibri" pitchFamily="34" charset="-120"/>
              </a:rPr>
              <a:t>typed results: cards, tables, charts</a:t>
            </a:r>
            <a:endParaRPr lang="en-US" sz="1200" dirty="0"/>
          </a:p>
        </p:txBody>
      </p:sp>
      <p:sp>
        <p:nvSpPr>
          <p:cNvPr id="18" name="Shape 13"/>
          <p:cNvSpPr/>
          <p:nvPr/>
        </p:nvSpPr>
        <p:spPr>
          <a:xfrm>
            <a:off x="5120640" y="2011680"/>
            <a:ext cx="1920240" cy="3108960"/>
          </a:xfrm>
          <a:prstGeom prst="roundRect">
            <a:avLst>
              <a:gd name="adj" fmla="val 571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9" name="Shape 14"/>
          <p:cNvSpPr/>
          <p:nvPr/>
        </p:nvSpPr>
        <p:spPr>
          <a:xfrm>
            <a:off x="5692140" y="2331720"/>
            <a:ext cx="777240" cy="777240"/>
          </a:xfrm>
          <a:prstGeom prst="ellipse">
            <a:avLst/>
          </a:prstGeom>
          <a:solidFill>
            <a:srgbClr val="E8951C"/>
          </a:solidFill>
          <a:ln/>
          <a:effectLst>
            <a:outerShdw sx="100000" sy="100000" kx="0" ky="0" algn="bl" rotWithShape="0" blurRad="114300" dist="50800" dir="5400000">
              <a:srgbClr val="0B2430">
                <a:alpha val="10000"/>
              </a:srgbClr>
            </a:outerShdw>
          </a:effectLst>
        </p:spPr>
      </p:sp>
      <p:pic>
        <p:nvPicPr>
          <p:cNvPr id="20" name="Image 3" descr="preencoded.png">    </p:cNvPr>
          <p:cNvPicPr>
            <a:picLocks noChangeAspect="1"/>
          </p:cNvPicPr>
          <p:nvPr/>
        </p:nvPicPr>
        <p:blipFill>
          <a:blip r:embed="rId4"/>
          <a:stretch>
            <a:fillRect/>
          </a:stretch>
        </p:blipFill>
        <p:spPr>
          <a:xfrm>
            <a:off x="5894222" y="2533802"/>
            <a:ext cx="373075" cy="373075"/>
          </a:xfrm>
          <a:prstGeom prst="rect">
            <a:avLst/>
          </a:prstGeom>
        </p:spPr>
      </p:pic>
      <p:sp>
        <p:nvSpPr>
          <p:cNvPr id="21" name="Text 15"/>
          <p:cNvSpPr/>
          <p:nvPr/>
        </p:nvSpPr>
        <p:spPr>
          <a:xfrm>
            <a:off x="5120640" y="3246120"/>
            <a:ext cx="1920240" cy="411480"/>
          </a:xfrm>
          <a:prstGeom prst="rect">
            <a:avLst/>
          </a:prstGeom>
          <a:noFill/>
          <a:ln/>
        </p:spPr>
        <p:txBody>
          <a:bodyPr wrap="square" lIns="0" tIns="0" rIns="0" bIns="0" rtlCol="0" anchor="ctr"/>
          <a:lstStyle/>
          <a:p>
            <a:pPr algn="ctr" indent="0" marL="0">
              <a:buNone/>
            </a:pPr>
            <a:r>
              <a:rPr lang="en-US" sz="1600" b="1" dirty="0">
                <a:solidFill>
                  <a:srgbClr val="0E2330"/>
                </a:solidFill>
                <a:latin typeface="Cambria" pitchFamily="34" charset="0"/>
                <a:ea typeface="Cambria" pitchFamily="34" charset="-122"/>
                <a:cs typeface="Cambria" pitchFamily="34" charset="-120"/>
              </a:rPr>
              <a:t>approval</a:t>
            </a:r>
            <a:endParaRPr lang="en-US" sz="1600" dirty="0"/>
          </a:p>
        </p:txBody>
      </p:sp>
      <p:sp>
        <p:nvSpPr>
          <p:cNvPr id="22" name="Text 16"/>
          <p:cNvSpPr/>
          <p:nvPr/>
        </p:nvSpPr>
        <p:spPr>
          <a:xfrm>
            <a:off x="5257800" y="3703320"/>
            <a:ext cx="1645920" cy="1280160"/>
          </a:xfrm>
          <a:prstGeom prst="rect">
            <a:avLst/>
          </a:prstGeom>
          <a:noFill/>
          <a:ln/>
        </p:spPr>
        <p:txBody>
          <a:bodyPr wrap="square" lIns="0" tIns="0" rIns="0" bIns="0" rtlCol="0" anchor="t"/>
          <a:lstStyle/>
          <a:p>
            <a:pPr algn="ctr" indent="0" marL="0">
              <a:buNone/>
            </a:pPr>
            <a:r>
              <a:rPr lang="en-US" sz="1200" dirty="0">
                <a:solidFill>
                  <a:srgbClr val="5B7383"/>
                </a:solidFill>
                <a:latin typeface="Calibri" pitchFamily="34" charset="0"/>
                <a:ea typeface="Calibri" pitchFamily="34" charset="-122"/>
                <a:cs typeface="Calibri" pitchFamily="34" charset="-120"/>
              </a:rPr>
              <a:t>human-in-the-loop gates on actions</a:t>
            </a:r>
            <a:endParaRPr lang="en-US" sz="1200" dirty="0"/>
          </a:p>
        </p:txBody>
      </p:sp>
      <p:sp>
        <p:nvSpPr>
          <p:cNvPr id="23" name="Shape 17"/>
          <p:cNvSpPr/>
          <p:nvPr/>
        </p:nvSpPr>
        <p:spPr>
          <a:xfrm>
            <a:off x="7406640" y="2011680"/>
            <a:ext cx="1920240" cy="3108960"/>
          </a:xfrm>
          <a:prstGeom prst="roundRect">
            <a:avLst>
              <a:gd name="adj" fmla="val 571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4" name="Shape 18"/>
          <p:cNvSpPr/>
          <p:nvPr/>
        </p:nvSpPr>
        <p:spPr>
          <a:xfrm>
            <a:off x="7978140" y="2331720"/>
            <a:ext cx="777240" cy="777240"/>
          </a:xfrm>
          <a:prstGeom prst="ellipse">
            <a:avLst/>
          </a:prstGeom>
          <a:solidFill>
            <a:srgbClr val="1B4861"/>
          </a:solidFill>
          <a:ln/>
          <a:effectLst>
            <a:outerShdw sx="100000" sy="100000" kx="0" ky="0" algn="bl" rotWithShape="0" blurRad="114300" dist="50800" dir="5400000">
              <a:srgbClr val="0B2430">
                <a:alpha val="10000"/>
              </a:srgbClr>
            </a:outerShdw>
          </a:effectLst>
        </p:spPr>
      </p:sp>
      <p:pic>
        <p:nvPicPr>
          <p:cNvPr id="25" name="Image 4" descr="preencoded.png">    </p:cNvPr>
          <p:cNvPicPr>
            <a:picLocks noChangeAspect="1"/>
          </p:cNvPicPr>
          <p:nvPr/>
        </p:nvPicPr>
        <p:blipFill>
          <a:blip r:embed="rId5"/>
          <a:stretch>
            <a:fillRect/>
          </a:stretch>
        </p:blipFill>
        <p:spPr>
          <a:xfrm>
            <a:off x="8180222" y="2533802"/>
            <a:ext cx="373075" cy="373075"/>
          </a:xfrm>
          <a:prstGeom prst="rect">
            <a:avLst/>
          </a:prstGeom>
        </p:spPr>
      </p:pic>
      <p:sp>
        <p:nvSpPr>
          <p:cNvPr id="26" name="Text 19"/>
          <p:cNvSpPr/>
          <p:nvPr/>
        </p:nvSpPr>
        <p:spPr>
          <a:xfrm>
            <a:off x="7406640" y="3246120"/>
            <a:ext cx="1920240" cy="411480"/>
          </a:xfrm>
          <a:prstGeom prst="rect">
            <a:avLst/>
          </a:prstGeom>
          <a:noFill/>
          <a:ln/>
        </p:spPr>
        <p:txBody>
          <a:bodyPr wrap="square" lIns="0" tIns="0" rIns="0" bIns="0" rtlCol="0" anchor="ctr"/>
          <a:lstStyle/>
          <a:p>
            <a:pPr algn="ctr" indent="0" marL="0">
              <a:buNone/>
            </a:pPr>
            <a:r>
              <a:rPr lang="en-US" sz="1600" b="1" dirty="0">
                <a:solidFill>
                  <a:srgbClr val="0E2330"/>
                </a:solidFill>
                <a:latin typeface="Cambria" pitchFamily="34" charset="0"/>
                <a:ea typeface="Cambria" pitchFamily="34" charset="-122"/>
                <a:cs typeface="Cambria" pitchFamily="34" charset="-120"/>
              </a:rPr>
              <a:t>registry</a:t>
            </a:r>
            <a:endParaRPr lang="en-US" sz="1600" dirty="0"/>
          </a:p>
        </p:txBody>
      </p:sp>
      <p:sp>
        <p:nvSpPr>
          <p:cNvPr id="27" name="Text 20"/>
          <p:cNvSpPr/>
          <p:nvPr/>
        </p:nvSpPr>
        <p:spPr>
          <a:xfrm>
            <a:off x="7543800" y="3703320"/>
            <a:ext cx="1645920" cy="1280160"/>
          </a:xfrm>
          <a:prstGeom prst="rect">
            <a:avLst/>
          </a:prstGeom>
          <a:noFill/>
          <a:ln/>
        </p:spPr>
        <p:txBody>
          <a:bodyPr wrap="square" lIns="0" tIns="0" rIns="0" bIns="0" rtlCol="0" anchor="t"/>
          <a:lstStyle/>
          <a:p>
            <a:pPr algn="ctr" indent="0" marL="0">
              <a:buNone/>
            </a:pPr>
            <a:r>
              <a:rPr lang="en-US" sz="1200" dirty="0">
                <a:solidFill>
                  <a:srgbClr val="5B7383"/>
                </a:solidFill>
                <a:latin typeface="Calibri" pitchFamily="34" charset="0"/>
                <a:ea typeface="Calibri" pitchFamily="34" charset="-122"/>
                <a:cs typeface="Calibri" pitchFamily="34" charset="-120"/>
              </a:rPr>
              <a:t>discover agents, tools, catalogs</a:t>
            </a:r>
            <a:endParaRPr lang="en-US" sz="1200" dirty="0"/>
          </a:p>
        </p:txBody>
      </p:sp>
      <p:sp>
        <p:nvSpPr>
          <p:cNvPr id="28" name="Shape 21"/>
          <p:cNvSpPr/>
          <p:nvPr/>
        </p:nvSpPr>
        <p:spPr>
          <a:xfrm>
            <a:off x="9692640" y="2011680"/>
            <a:ext cx="1920240" cy="3108960"/>
          </a:xfrm>
          <a:prstGeom prst="roundRect">
            <a:avLst>
              <a:gd name="adj" fmla="val 571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9" name="Shape 22"/>
          <p:cNvSpPr/>
          <p:nvPr/>
        </p:nvSpPr>
        <p:spPr>
          <a:xfrm>
            <a:off x="10264140" y="2331720"/>
            <a:ext cx="777240" cy="777240"/>
          </a:xfrm>
          <a:prstGeom prst="ellipse">
            <a:avLst/>
          </a:prstGeom>
          <a:solidFill>
            <a:srgbClr val="1B4861"/>
          </a:solidFill>
          <a:ln/>
          <a:effectLst>
            <a:outerShdw sx="100000" sy="100000" kx="0" ky="0" algn="bl" rotWithShape="0" blurRad="114300" dist="50800" dir="5400000">
              <a:srgbClr val="0B2430">
                <a:alpha val="10000"/>
              </a:srgbClr>
            </a:outerShdw>
          </a:effectLst>
        </p:spPr>
      </p:sp>
      <p:pic>
        <p:nvPicPr>
          <p:cNvPr id="30" name="Image 5" descr="preencoded.png">    </p:cNvPr>
          <p:cNvPicPr>
            <a:picLocks noChangeAspect="1"/>
          </p:cNvPicPr>
          <p:nvPr/>
        </p:nvPicPr>
        <p:blipFill>
          <a:blip r:embed="rId6"/>
          <a:stretch>
            <a:fillRect/>
          </a:stretch>
        </p:blipFill>
        <p:spPr>
          <a:xfrm>
            <a:off x="10466222" y="2533802"/>
            <a:ext cx="373075" cy="373075"/>
          </a:xfrm>
          <a:prstGeom prst="rect">
            <a:avLst/>
          </a:prstGeom>
        </p:spPr>
      </p:pic>
      <p:sp>
        <p:nvSpPr>
          <p:cNvPr id="31" name="Text 23"/>
          <p:cNvSpPr/>
          <p:nvPr/>
        </p:nvSpPr>
        <p:spPr>
          <a:xfrm>
            <a:off x="9692640" y="3246120"/>
            <a:ext cx="1920240" cy="411480"/>
          </a:xfrm>
          <a:prstGeom prst="rect">
            <a:avLst/>
          </a:prstGeom>
          <a:noFill/>
          <a:ln/>
        </p:spPr>
        <p:txBody>
          <a:bodyPr wrap="square" lIns="0" tIns="0" rIns="0" bIns="0" rtlCol="0" anchor="ctr"/>
          <a:lstStyle/>
          <a:p>
            <a:pPr algn="ctr" indent="0" marL="0">
              <a:buNone/>
            </a:pPr>
            <a:r>
              <a:rPr lang="en-US" sz="1600" b="1" dirty="0">
                <a:solidFill>
                  <a:srgbClr val="0E2330"/>
                </a:solidFill>
                <a:latin typeface="Cambria" pitchFamily="34" charset="0"/>
                <a:ea typeface="Cambria" pitchFamily="34" charset="-122"/>
                <a:cs typeface="Cambria" pitchFamily="34" charset="-120"/>
              </a:rPr>
              <a:t>observability</a:t>
            </a:r>
            <a:endParaRPr lang="en-US" sz="1600" dirty="0"/>
          </a:p>
        </p:txBody>
      </p:sp>
      <p:sp>
        <p:nvSpPr>
          <p:cNvPr id="32" name="Text 24"/>
          <p:cNvSpPr/>
          <p:nvPr/>
        </p:nvSpPr>
        <p:spPr>
          <a:xfrm>
            <a:off x="9829800" y="3703320"/>
            <a:ext cx="1645920" cy="1280160"/>
          </a:xfrm>
          <a:prstGeom prst="rect">
            <a:avLst/>
          </a:prstGeom>
          <a:noFill/>
          <a:ln/>
        </p:spPr>
        <p:txBody>
          <a:bodyPr wrap="square" lIns="0" tIns="0" rIns="0" bIns="0" rtlCol="0" anchor="t"/>
          <a:lstStyle/>
          <a:p>
            <a:pPr algn="ctr" indent="0" marL="0">
              <a:buNone/>
            </a:pPr>
            <a:r>
              <a:rPr lang="en-US" sz="1200" dirty="0">
                <a:solidFill>
                  <a:srgbClr val="5B7383"/>
                </a:solidFill>
                <a:latin typeface="Calibri" pitchFamily="34" charset="0"/>
                <a:ea typeface="Calibri" pitchFamily="34" charset="-122"/>
                <a:cs typeface="Calibri" pitchFamily="34" charset="-120"/>
              </a:rPr>
              <a:t>traces, metrics, audit</a:t>
            </a:r>
            <a:endParaRPr lang="en-US" sz="1200" dirty="0"/>
          </a:p>
        </p:txBody>
      </p:sp>
      <p:sp>
        <p:nvSpPr>
          <p:cNvPr id="33" name="Text 25"/>
          <p:cNvSpPr/>
          <p:nvPr/>
        </p:nvSpPr>
        <p:spPr>
          <a:xfrm>
            <a:off x="548640" y="5303520"/>
            <a:ext cx="11064240" cy="457200"/>
          </a:xfrm>
          <a:prstGeom prst="rect">
            <a:avLst/>
          </a:prstGeom>
          <a:noFill/>
          <a:ln/>
        </p:spPr>
        <p:txBody>
          <a:bodyPr wrap="square" lIns="0" tIns="0" rIns="0" bIns="0" rtlCol="0" anchor="ctr"/>
          <a:lstStyle/>
          <a:p>
            <a:pPr algn="ctr" indent="0" marL="0">
              <a:buNone/>
            </a:pPr>
            <a:r>
              <a:rPr lang="en-US" sz="1300" i="1" dirty="0">
                <a:solidFill>
                  <a:srgbClr val="5B7383"/>
                </a:solidFill>
                <a:latin typeface="Calibri" pitchFamily="34" charset="0"/>
                <a:ea typeface="Calibri" pitchFamily="34" charset="-122"/>
                <a:cs typeface="Calibri" pitchFamily="34" charset="-120"/>
              </a:rPr>
              <a:t>Each maps to a production verb from the last slide. They are framework-agnostic, you can build them with or without A2UI.</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TYING IT TOGETHER</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The four-protocol agentic stack</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11</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2011680" cy="320040"/>
          </a:xfrm>
          <a:prstGeom prst="rect">
            <a:avLst/>
          </a:prstGeom>
          <a:noFill/>
          <a:ln/>
        </p:spPr>
        <p:txBody>
          <a:bodyPr wrap="square" lIns="0" tIns="0" rIns="0" bIns="0" rtlCol="0" anchor="ctr"/>
          <a:lstStyle/>
          <a:p>
            <a:pPr algn="ctr" indent="0" marL="0">
              <a:buNone/>
            </a:pPr>
            <a:r>
              <a:rPr lang="en-US" sz="1100" b="1" spc="300" kern="0" dirty="0">
                <a:solidFill>
                  <a:srgbClr val="E8951C"/>
                </a:solidFill>
                <a:latin typeface="Calibri" pitchFamily="34" charset="0"/>
                <a:ea typeface="Calibri" pitchFamily="34" charset="-122"/>
                <a:cs typeface="Calibri" pitchFamily="34" charset="-120"/>
              </a:rPr>
              <a:t>HUMAN</a:t>
            </a:r>
            <a:endParaRPr lang="en-US" sz="1100" dirty="0"/>
          </a:p>
        </p:txBody>
      </p:sp>
      <p:sp>
        <p:nvSpPr>
          <p:cNvPr id="9" name="Shape 6"/>
          <p:cNvSpPr/>
          <p:nvPr/>
        </p:nvSpPr>
        <p:spPr>
          <a:xfrm>
            <a:off x="914400" y="1920240"/>
            <a:ext cx="8229600" cy="841248"/>
          </a:xfrm>
          <a:prstGeom prst="roundRect">
            <a:avLst>
              <a:gd name="adj" fmla="val 10870"/>
            </a:avLst>
          </a:prstGeom>
          <a:solidFill>
            <a:srgbClr val="0FB5AE"/>
          </a:solidFill>
          <a:ln/>
          <a:effectLst>
            <a:outerShdw sx="100000" sy="100000" kx="0" ky="0" algn="bl" rotWithShape="0" blurRad="114300" dist="50800" dir="5400000">
              <a:srgbClr val="0B2430">
                <a:alpha val="10000"/>
              </a:srgbClr>
            </a:outerShdw>
          </a:effectLst>
        </p:spPr>
      </p:sp>
      <p:sp>
        <p:nvSpPr>
          <p:cNvPr id="10" name="Text 7"/>
          <p:cNvSpPr/>
          <p:nvPr/>
        </p:nvSpPr>
        <p:spPr>
          <a:xfrm>
            <a:off x="1188720" y="1920240"/>
            <a:ext cx="2468880" cy="841248"/>
          </a:xfrm>
          <a:prstGeom prst="rect">
            <a:avLst/>
          </a:prstGeom>
          <a:noFill/>
          <a:ln/>
        </p:spPr>
        <p:txBody>
          <a:bodyPr wrap="square" lIns="0" tIns="0" rIns="0" bIns="0" rtlCol="0" anchor="ctr"/>
          <a:lstStyle/>
          <a:p>
            <a:pPr indent="0" marL="0">
              <a:buNone/>
            </a:pPr>
            <a:r>
              <a:rPr lang="en-US" sz="1100" b="1" dirty="0">
                <a:solidFill>
                  <a:srgbClr val="DCEFF1"/>
                </a:solidFill>
                <a:latin typeface="Calibri" pitchFamily="34" charset="0"/>
                <a:ea typeface="Calibri" pitchFamily="34" charset="-122"/>
                <a:cs typeface="Calibri" pitchFamily="34" charset="-120"/>
              </a:rPr>
              <a:t>UI GENERATION</a:t>
            </a:r>
            <a:endParaRPr lang="en-US" sz="1100" dirty="0"/>
          </a:p>
        </p:txBody>
      </p:sp>
      <p:sp>
        <p:nvSpPr>
          <p:cNvPr id="11" name="Text 8"/>
          <p:cNvSpPr/>
          <p:nvPr/>
        </p:nvSpPr>
        <p:spPr>
          <a:xfrm>
            <a:off x="3657600" y="1920240"/>
            <a:ext cx="1828800" cy="8412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A2UI</a:t>
            </a:r>
            <a:endParaRPr lang="en-US" sz="2200" dirty="0"/>
          </a:p>
        </p:txBody>
      </p:sp>
      <p:sp>
        <p:nvSpPr>
          <p:cNvPr id="12" name="Text 9"/>
          <p:cNvSpPr/>
          <p:nvPr/>
        </p:nvSpPr>
        <p:spPr>
          <a:xfrm>
            <a:off x="5486400" y="1920240"/>
            <a:ext cx="3520440" cy="841248"/>
          </a:xfrm>
          <a:prstGeom prst="rect">
            <a:avLst/>
          </a:prstGeom>
          <a:noFill/>
          <a:ln/>
        </p:spPr>
        <p:txBody>
          <a:bodyPr wrap="square" lIns="0" tIns="0" rIns="0" bIns="0" rtlCol="0" anchor="ctr"/>
          <a:lstStyle/>
          <a:p>
            <a:pPr indent="0" marL="0">
              <a:buNone/>
            </a:pPr>
            <a:r>
              <a:rPr lang="en-US" sz="1150" dirty="0">
                <a:solidFill>
                  <a:srgbClr val="EAF4F5"/>
                </a:solidFill>
                <a:latin typeface="Calibri" pitchFamily="34" charset="0"/>
                <a:ea typeface="Calibri" pitchFamily="34" charset="-122"/>
                <a:cs typeface="Calibri" pitchFamily="34" charset="-120"/>
              </a:rPr>
              <a:t>What UI should be rendered?</a:t>
            </a:r>
            <a:endParaRPr lang="en-US" sz="1150" dirty="0"/>
          </a:p>
        </p:txBody>
      </p:sp>
      <p:sp>
        <p:nvSpPr>
          <p:cNvPr id="13" name="Shape 10"/>
          <p:cNvSpPr/>
          <p:nvPr/>
        </p:nvSpPr>
        <p:spPr>
          <a:xfrm>
            <a:off x="914400" y="2871216"/>
            <a:ext cx="8229600" cy="841248"/>
          </a:xfrm>
          <a:prstGeom prst="roundRect">
            <a:avLst>
              <a:gd name="adj" fmla="val 10870"/>
            </a:avLst>
          </a:prstGeom>
          <a:solidFill>
            <a:srgbClr val="0E7C86"/>
          </a:solidFill>
          <a:ln/>
          <a:effectLst>
            <a:outerShdw sx="100000" sy="100000" kx="0" ky="0" algn="bl" rotWithShape="0" blurRad="114300" dist="50800" dir="5400000">
              <a:srgbClr val="0B2430">
                <a:alpha val="10000"/>
              </a:srgbClr>
            </a:outerShdw>
          </a:effectLst>
        </p:spPr>
      </p:sp>
      <p:sp>
        <p:nvSpPr>
          <p:cNvPr id="14" name="Text 11"/>
          <p:cNvSpPr/>
          <p:nvPr/>
        </p:nvSpPr>
        <p:spPr>
          <a:xfrm>
            <a:off x="1188720" y="2871216"/>
            <a:ext cx="2468880" cy="841248"/>
          </a:xfrm>
          <a:prstGeom prst="rect">
            <a:avLst/>
          </a:prstGeom>
          <a:noFill/>
          <a:ln/>
        </p:spPr>
        <p:txBody>
          <a:bodyPr wrap="square" lIns="0" tIns="0" rIns="0" bIns="0" rtlCol="0" anchor="ctr"/>
          <a:lstStyle/>
          <a:p>
            <a:pPr indent="0" marL="0">
              <a:buNone/>
            </a:pPr>
            <a:r>
              <a:rPr lang="en-US" sz="1100" b="1" dirty="0">
                <a:solidFill>
                  <a:srgbClr val="DCEFF1"/>
                </a:solidFill>
                <a:latin typeface="Calibri" pitchFamily="34" charset="0"/>
                <a:ea typeface="Calibri" pitchFamily="34" charset="-122"/>
                <a:cs typeface="Calibri" pitchFamily="34" charset="-120"/>
              </a:rPr>
              <a:t>FRONTEND RUNTIME</a:t>
            </a:r>
            <a:endParaRPr lang="en-US" sz="1100" dirty="0"/>
          </a:p>
        </p:txBody>
      </p:sp>
      <p:sp>
        <p:nvSpPr>
          <p:cNvPr id="15" name="Text 12"/>
          <p:cNvSpPr/>
          <p:nvPr/>
        </p:nvSpPr>
        <p:spPr>
          <a:xfrm>
            <a:off x="3657600" y="2871216"/>
            <a:ext cx="1828800" cy="8412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AG-UI</a:t>
            </a:r>
            <a:endParaRPr lang="en-US" sz="2200" dirty="0"/>
          </a:p>
        </p:txBody>
      </p:sp>
      <p:sp>
        <p:nvSpPr>
          <p:cNvPr id="16" name="Text 13"/>
          <p:cNvSpPr/>
          <p:nvPr/>
        </p:nvSpPr>
        <p:spPr>
          <a:xfrm>
            <a:off x="5486400" y="2871216"/>
            <a:ext cx="3520440" cy="841248"/>
          </a:xfrm>
          <a:prstGeom prst="rect">
            <a:avLst/>
          </a:prstGeom>
          <a:noFill/>
          <a:ln/>
        </p:spPr>
        <p:txBody>
          <a:bodyPr wrap="square" lIns="0" tIns="0" rIns="0" bIns="0" rtlCol="0" anchor="ctr"/>
          <a:lstStyle/>
          <a:p>
            <a:pPr indent="0" marL="0">
              <a:buNone/>
            </a:pPr>
            <a:r>
              <a:rPr lang="en-US" sz="1150" dirty="0">
                <a:solidFill>
                  <a:srgbClr val="EAF4F5"/>
                </a:solidFill>
                <a:latin typeface="Calibri" pitchFamily="34" charset="0"/>
                <a:ea typeface="Calibri" pitchFamily="34" charset="-122"/>
                <a:cs typeface="Calibri" pitchFamily="34" charset="-120"/>
              </a:rPr>
              <a:t>How does the agent talk to the UI in real time?</a:t>
            </a:r>
            <a:endParaRPr lang="en-US" sz="1150" dirty="0"/>
          </a:p>
        </p:txBody>
      </p:sp>
      <p:sp>
        <p:nvSpPr>
          <p:cNvPr id="17" name="Shape 14"/>
          <p:cNvSpPr/>
          <p:nvPr/>
        </p:nvSpPr>
        <p:spPr>
          <a:xfrm>
            <a:off x="914400" y="3822192"/>
            <a:ext cx="8229600" cy="841248"/>
          </a:xfrm>
          <a:prstGeom prst="roundRect">
            <a:avLst>
              <a:gd name="adj" fmla="val 10870"/>
            </a:avLst>
          </a:prstGeom>
          <a:solidFill>
            <a:srgbClr val="1B4861"/>
          </a:solidFill>
          <a:ln/>
          <a:effectLst>
            <a:outerShdw sx="100000" sy="100000" kx="0" ky="0" algn="bl" rotWithShape="0" blurRad="114300" dist="50800" dir="5400000">
              <a:srgbClr val="0B2430">
                <a:alpha val="10000"/>
              </a:srgbClr>
            </a:outerShdw>
          </a:effectLst>
        </p:spPr>
      </p:sp>
      <p:sp>
        <p:nvSpPr>
          <p:cNvPr id="18" name="Text 15"/>
          <p:cNvSpPr/>
          <p:nvPr/>
        </p:nvSpPr>
        <p:spPr>
          <a:xfrm>
            <a:off x="1188720" y="3822192"/>
            <a:ext cx="2468880" cy="841248"/>
          </a:xfrm>
          <a:prstGeom prst="rect">
            <a:avLst/>
          </a:prstGeom>
          <a:noFill/>
          <a:ln/>
        </p:spPr>
        <p:txBody>
          <a:bodyPr wrap="square" lIns="0" tIns="0" rIns="0" bIns="0" rtlCol="0" anchor="ctr"/>
          <a:lstStyle/>
          <a:p>
            <a:pPr indent="0" marL="0">
              <a:buNone/>
            </a:pPr>
            <a:r>
              <a:rPr lang="en-US" sz="1100" b="1" dirty="0">
                <a:solidFill>
                  <a:srgbClr val="DCEFF1"/>
                </a:solidFill>
                <a:latin typeface="Calibri" pitchFamily="34" charset="0"/>
                <a:ea typeface="Calibri" pitchFamily="34" charset="-122"/>
                <a:cs typeface="Calibri" pitchFamily="34" charset="-120"/>
              </a:rPr>
              <a:t>AGENT COORDINATION</a:t>
            </a:r>
            <a:endParaRPr lang="en-US" sz="1100" dirty="0"/>
          </a:p>
        </p:txBody>
      </p:sp>
      <p:sp>
        <p:nvSpPr>
          <p:cNvPr id="19" name="Text 16"/>
          <p:cNvSpPr/>
          <p:nvPr/>
        </p:nvSpPr>
        <p:spPr>
          <a:xfrm>
            <a:off x="3657600" y="3822192"/>
            <a:ext cx="1828800" cy="8412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A2A</a:t>
            </a:r>
            <a:endParaRPr lang="en-US" sz="2200" dirty="0"/>
          </a:p>
        </p:txBody>
      </p:sp>
      <p:sp>
        <p:nvSpPr>
          <p:cNvPr id="20" name="Text 17"/>
          <p:cNvSpPr/>
          <p:nvPr/>
        </p:nvSpPr>
        <p:spPr>
          <a:xfrm>
            <a:off x="5486400" y="3822192"/>
            <a:ext cx="3520440" cy="841248"/>
          </a:xfrm>
          <a:prstGeom prst="rect">
            <a:avLst/>
          </a:prstGeom>
          <a:noFill/>
          <a:ln/>
        </p:spPr>
        <p:txBody>
          <a:bodyPr wrap="square" lIns="0" tIns="0" rIns="0" bIns="0" rtlCol="0" anchor="ctr"/>
          <a:lstStyle/>
          <a:p>
            <a:pPr indent="0" marL="0">
              <a:buNone/>
            </a:pPr>
            <a:r>
              <a:rPr lang="en-US" sz="1150" dirty="0">
                <a:solidFill>
                  <a:srgbClr val="EAF4F5"/>
                </a:solidFill>
                <a:latin typeface="Calibri" pitchFamily="34" charset="0"/>
                <a:ea typeface="Calibri" pitchFamily="34" charset="-122"/>
                <a:cs typeface="Calibri" pitchFamily="34" charset="-120"/>
              </a:rPr>
              <a:t>How do agents talk to each other?</a:t>
            </a:r>
            <a:endParaRPr lang="en-US" sz="1150" dirty="0"/>
          </a:p>
        </p:txBody>
      </p:sp>
      <p:sp>
        <p:nvSpPr>
          <p:cNvPr id="21" name="Shape 18"/>
          <p:cNvSpPr/>
          <p:nvPr/>
        </p:nvSpPr>
        <p:spPr>
          <a:xfrm>
            <a:off x="914400" y="4773168"/>
            <a:ext cx="8229600" cy="841248"/>
          </a:xfrm>
          <a:prstGeom prst="roundRect">
            <a:avLst>
              <a:gd name="adj" fmla="val 10870"/>
            </a:avLst>
          </a:prstGeom>
          <a:solidFill>
            <a:srgbClr val="13344A"/>
          </a:solidFill>
          <a:ln/>
          <a:effectLst>
            <a:outerShdw sx="100000" sy="100000" kx="0" ky="0" algn="bl" rotWithShape="0" blurRad="114300" dist="50800" dir="5400000">
              <a:srgbClr val="0B2430">
                <a:alpha val="10000"/>
              </a:srgbClr>
            </a:outerShdw>
          </a:effectLst>
        </p:spPr>
      </p:sp>
      <p:sp>
        <p:nvSpPr>
          <p:cNvPr id="22" name="Text 19"/>
          <p:cNvSpPr/>
          <p:nvPr/>
        </p:nvSpPr>
        <p:spPr>
          <a:xfrm>
            <a:off x="1188720" y="4773168"/>
            <a:ext cx="2468880" cy="841248"/>
          </a:xfrm>
          <a:prstGeom prst="rect">
            <a:avLst/>
          </a:prstGeom>
          <a:noFill/>
          <a:ln/>
        </p:spPr>
        <p:txBody>
          <a:bodyPr wrap="square" lIns="0" tIns="0" rIns="0" bIns="0" rtlCol="0" anchor="ctr"/>
          <a:lstStyle/>
          <a:p>
            <a:pPr indent="0" marL="0">
              <a:buNone/>
            </a:pPr>
            <a:r>
              <a:rPr lang="en-US" sz="1100" b="1" dirty="0">
                <a:solidFill>
                  <a:srgbClr val="DCEFF1"/>
                </a:solidFill>
                <a:latin typeface="Calibri" pitchFamily="34" charset="0"/>
                <a:ea typeface="Calibri" pitchFamily="34" charset="-122"/>
                <a:cs typeface="Calibri" pitchFamily="34" charset="-120"/>
              </a:rPr>
              <a:t>TOOLS &amp; CONTEXT</a:t>
            </a:r>
            <a:endParaRPr lang="en-US" sz="1100" dirty="0"/>
          </a:p>
        </p:txBody>
      </p:sp>
      <p:sp>
        <p:nvSpPr>
          <p:cNvPr id="23" name="Text 20"/>
          <p:cNvSpPr/>
          <p:nvPr/>
        </p:nvSpPr>
        <p:spPr>
          <a:xfrm>
            <a:off x="3657600" y="4773168"/>
            <a:ext cx="1828800" cy="8412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MCP</a:t>
            </a:r>
            <a:endParaRPr lang="en-US" sz="2200" dirty="0"/>
          </a:p>
        </p:txBody>
      </p:sp>
      <p:sp>
        <p:nvSpPr>
          <p:cNvPr id="24" name="Text 21"/>
          <p:cNvSpPr/>
          <p:nvPr/>
        </p:nvSpPr>
        <p:spPr>
          <a:xfrm>
            <a:off x="5486400" y="4773168"/>
            <a:ext cx="3520440" cy="841248"/>
          </a:xfrm>
          <a:prstGeom prst="rect">
            <a:avLst/>
          </a:prstGeom>
          <a:noFill/>
          <a:ln/>
        </p:spPr>
        <p:txBody>
          <a:bodyPr wrap="square" lIns="0" tIns="0" rIns="0" bIns="0" rtlCol="0" anchor="ctr"/>
          <a:lstStyle/>
          <a:p>
            <a:pPr indent="0" marL="0">
              <a:buNone/>
            </a:pPr>
            <a:r>
              <a:rPr lang="en-US" sz="1150" dirty="0">
                <a:solidFill>
                  <a:srgbClr val="EAF4F5"/>
                </a:solidFill>
                <a:latin typeface="Calibri" pitchFamily="34" charset="0"/>
                <a:ea typeface="Calibri" pitchFamily="34" charset="-122"/>
                <a:cs typeface="Calibri" pitchFamily="34" charset="-120"/>
              </a:rPr>
              <a:t>How does the agent reach tools and data?</a:t>
            </a:r>
            <a:endParaRPr lang="en-US" sz="1150" dirty="0"/>
          </a:p>
        </p:txBody>
      </p:sp>
      <p:sp>
        <p:nvSpPr>
          <p:cNvPr id="25" name="Text 22"/>
          <p:cNvSpPr/>
          <p:nvPr/>
        </p:nvSpPr>
        <p:spPr>
          <a:xfrm>
            <a:off x="548640" y="5742432"/>
            <a:ext cx="2377440" cy="320040"/>
          </a:xfrm>
          <a:prstGeom prst="rect">
            <a:avLst/>
          </a:prstGeom>
          <a:noFill/>
          <a:ln/>
        </p:spPr>
        <p:txBody>
          <a:bodyPr wrap="square" lIns="0" tIns="0" rIns="0" bIns="0" rtlCol="0" anchor="ctr"/>
          <a:lstStyle/>
          <a:p>
            <a:pPr algn="ctr" indent="0" marL="0">
              <a:buNone/>
            </a:pPr>
            <a:r>
              <a:rPr lang="en-US" sz="1100" b="1" spc="200" kern="0" dirty="0">
                <a:solidFill>
                  <a:srgbClr val="5B7383"/>
                </a:solidFill>
                <a:latin typeface="Calibri" pitchFamily="34" charset="0"/>
                <a:ea typeface="Calibri" pitchFamily="34" charset="-122"/>
                <a:cs typeface="Calibri" pitchFamily="34" charset="-120"/>
              </a:rPr>
              <a:t>TOOLS &amp; DATA</a:t>
            </a:r>
            <a:endParaRPr lang="en-US" sz="1100" dirty="0"/>
          </a:p>
        </p:txBody>
      </p:sp>
      <p:sp>
        <p:nvSpPr>
          <p:cNvPr id="26" name="Shape 23"/>
          <p:cNvSpPr/>
          <p:nvPr/>
        </p:nvSpPr>
        <p:spPr>
          <a:xfrm>
            <a:off x="9464040" y="1920240"/>
            <a:ext cx="2148840" cy="3584448"/>
          </a:xfrm>
          <a:prstGeom prst="roundRect">
            <a:avLst>
              <a:gd name="adj" fmla="val 5106"/>
            </a:avLst>
          </a:prstGeom>
          <a:solidFill>
            <a:srgbClr val="F1F6F8"/>
          </a:solidFill>
          <a:ln w="9525">
            <a:solidFill>
              <a:srgbClr val="CBD9E0"/>
            </a:solidFill>
            <a:prstDash val="solid"/>
          </a:ln>
        </p:spPr>
      </p:sp>
      <p:sp>
        <p:nvSpPr>
          <p:cNvPr id="27" name="Shape 24"/>
          <p:cNvSpPr/>
          <p:nvPr/>
        </p:nvSpPr>
        <p:spPr>
          <a:xfrm>
            <a:off x="9692640" y="2148840"/>
            <a:ext cx="548640" cy="54864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8" name="Image 1" descr="preencoded.png">    </p:cNvPr>
          <p:cNvPicPr>
            <a:picLocks noChangeAspect="1"/>
          </p:cNvPicPr>
          <p:nvPr/>
        </p:nvPicPr>
        <p:blipFill>
          <a:blip r:embed="rId2"/>
          <a:stretch>
            <a:fillRect/>
          </a:stretch>
        </p:blipFill>
        <p:spPr>
          <a:xfrm>
            <a:off x="9835286" y="2291486"/>
            <a:ext cx="263347" cy="263347"/>
          </a:xfrm>
          <a:prstGeom prst="rect">
            <a:avLst/>
          </a:prstGeom>
        </p:spPr>
      </p:pic>
      <p:sp>
        <p:nvSpPr>
          <p:cNvPr id="29" name="Text 25"/>
          <p:cNvSpPr/>
          <p:nvPr/>
        </p:nvSpPr>
        <p:spPr>
          <a:xfrm>
            <a:off x="9692640" y="2788920"/>
            <a:ext cx="1691640" cy="914400"/>
          </a:xfrm>
          <a:prstGeom prst="rect">
            <a:avLst/>
          </a:prstGeom>
          <a:noFill/>
          <a:ln/>
        </p:spPr>
        <p:txBody>
          <a:bodyPr wrap="square" lIns="0" tIns="0" rIns="0" bIns="0" rtlCol="0" anchor="t"/>
          <a:lstStyle/>
          <a:p>
            <a:pPr indent="0" marL="0">
              <a:buNone/>
            </a:pPr>
            <a:r>
              <a:rPr lang="en-US" sz="1400" b="1" dirty="0">
                <a:solidFill>
                  <a:srgbClr val="0E2330"/>
                </a:solidFill>
                <a:latin typeface="Cambria" pitchFamily="34" charset="0"/>
                <a:ea typeface="Cambria" pitchFamily="34" charset="-122"/>
                <a:cs typeface="Cambria" pitchFamily="34" charset="-120"/>
              </a:rPr>
              <a:t>Complementary layers, not competitors.</a:t>
            </a:r>
            <a:endParaRPr lang="en-US" sz="1400" dirty="0"/>
          </a:p>
        </p:txBody>
      </p:sp>
      <p:sp>
        <p:nvSpPr>
          <p:cNvPr id="30" name="Text 26"/>
          <p:cNvSpPr/>
          <p:nvPr/>
        </p:nvSpPr>
        <p:spPr>
          <a:xfrm>
            <a:off x="9692640" y="3749040"/>
            <a:ext cx="1691640" cy="1645920"/>
          </a:xfrm>
          <a:prstGeom prst="rect">
            <a:avLst/>
          </a:prstGeom>
          <a:noFill/>
          <a:ln/>
        </p:spPr>
        <p:txBody>
          <a:bodyPr wrap="square" lIns="0" tIns="0" rIns="0" bIns="0" rtlCol="0" anchor="t"/>
          <a:lstStyle/>
          <a:p>
            <a:pPr indent="0" marL="0">
              <a:buNone/>
            </a:pPr>
            <a:r>
              <a:rPr lang="en-US" sz="1100" dirty="0">
                <a:solidFill>
                  <a:srgbClr val="5B7383"/>
                </a:solidFill>
                <a:latin typeface="Calibri" pitchFamily="34" charset="0"/>
                <a:ea typeface="Calibri" pitchFamily="34" charset="-122"/>
                <a:cs typeface="Calibri" pitchFamily="34" charset="-120"/>
              </a:rPr>
              <a:t>You know MCP and A2A. AG-UI and A2UI are the two newest, closest to the human.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330"/>
        </a:solidFill>
      </p:bgPr>
    </p:bg>
    <p:spTree>
      <p:nvGrpSpPr>
        <p:cNvPr id="1" name=""/>
        <p:cNvGrpSpPr/>
        <p:nvPr/>
      </p:nvGrpSpPr>
      <p:grpSpPr>
        <a:xfrm>
          <a:off x="0" y="0"/>
          <a:ext cx="0" cy="0"/>
          <a:chOff x="0" y="0"/>
          <a:chExt cx="0" cy="0"/>
        </a:xfrm>
      </p:grpSpPr>
      <p:sp>
        <p:nvSpPr>
          <p:cNvPr id="2" name="Shape 0"/>
          <p:cNvSpPr/>
          <p:nvPr/>
        </p:nvSpPr>
        <p:spPr>
          <a:xfrm>
            <a:off x="8869680" y="2011680"/>
            <a:ext cx="2926080" cy="658368"/>
          </a:xfrm>
          <a:prstGeom prst="roundRect">
            <a:avLst>
              <a:gd name="adj" fmla="val 16667"/>
            </a:avLst>
          </a:prstGeom>
          <a:solidFill>
            <a:srgbClr val="13344A">
              <a:alpha val="80000"/>
            </a:srgbClr>
          </a:solidFill>
          <a:ln/>
        </p:spPr>
      </p:sp>
      <p:sp>
        <p:nvSpPr>
          <p:cNvPr id="3" name="Shape 1"/>
          <p:cNvSpPr/>
          <p:nvPr/>
        </p:nvSpPr>
        <p:spPr>
          <a:xfrm>
            <a:off x="9034272" y="2834640"/>
            <a:ext cx="2926080" cy="658368"/>
          </a:xfrm>
          <a:prstGeom prst="roundRect">
            <a:avLst>
              <a:gd name="adj" fmla="val 16667"/>
            </a:avLst>
          </a:prstGeom>
          <a:solidFill>
            <a:srgbClr val="13344A">
              <a:alpha val="68000"/>
            </a:srgbClr>
          </a:solidFill>
          <a:ln/>
        </p:spPr>
      </p:sp>
      <p:sp>
        <p:nvSpPr>
          <p:cNvPr id="4" name="Shape 2"/>
          <p:cNvSpPr/>
          <p:nvPr/>
        </p:nvSpPr>
        <p:spPr>
          <a:xfrm>
            <a:off x="9198864" y="3657600"/>
            <a:ext cx="2926080" cy="658368"/>
          </a:xfrm>
          <a:prstGeom prst="roundRect">
            <a:avLst>
              <a:gd name="adj" fmla="val 16667"/>
            </a:avLst>
          </a:prstGeom>
          <a:solidFill>
            <a:srgbClr val="13344A">
              <a:alpha val="56000"/>
            </a:srgbClr>
          </a:solidFill>
          <a:ln/>
        </p:spPr>
      </p:sp>
      <p:sp>
        <p:nvSpPr>
          <p:cNvPr id="5" name="Shape 3"/>
          <p:cNvSpPr/>
          <p:nvPr/>
        </p:nvSpPr>
        <p:spPr>
          <a:xfrm>
            <a:off x="822960" y="2148840"/>
            <a:ext cx="1005840" cy="100584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6" name="Image 0" descr="preencoded.png">    </p:cNvPr>
          <p:cNvPicPr>
            <a:picLocks noChangeAspect="1"/>
          </p:cNvPicPr>
          <p:nvPr/>
        </p:nvPicPr>
        <p:blipFill>
          <a:blip r:embed="rId1"/>
          <a:stretch>
            <a:fillRect/>
          </a:stretch>
        </p:blipFill>
        <p:spPr>
          <a:xfrm>
            <a:off x="1084478" y="2410358"/>
            <a:ext cx="482803" cy="482803"/>
          </a:xfrm>
          <a:prstGeom prst="rect">
            <a:avLst/>
          </a:prstGeom>
        </p:spPr>
      </p:pic>
      <p:sp>
        <p:nvSpPr>
          <p:cNvPr id="7" name="Text 4"/>
          <p:cNvSpPr/>
          <p:nvPr/>
        </p:nvSpPr>
        <p:spPr>
          <a:xfrm>
            <a:off x="2057400" y="2240280"/>
            <a:ext cx="73152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PART 2</a:t>
            </a:r>
            <a:endParaRPr lang="en-US" sz="1400" dirty="0"/>
          </a:p>
        </p:txBody>
      </p:sp>
      <p:sp>
        <p:nvSpPr>
          <p:cNvPr id="8" name="Text 5"/>
          <p:cNvSpPr/>
          <p:nvPr/>
        </p:nvSpPr>
        <p:spPr>
          <a:xfrm>
            <a:off x="2057400" y="2606040"/>
            <a:ext cx="7498080" cy="14630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A2UI, the agent-to-UI protocol</a:t>
            </a:r>
            <a:endParaRPr lang="en-US" sz="3400" dirty="0"/>
          </a:p>
        </p:txBody>
      </p:sp>
      <p:sp>
        <p:nvSpPr>
          <p:cNvPr id="9" name="Text 6"/>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EEAD4"/>
                </a:solidFill>
                <a:latin typeface="Consolas" pitchFamily="34" charset="0"/>
                <a:ea typeface="Consolas" pitchFamily="34" charset="-122"/>
                <a:cs typeface="Consolas" pitchFamily="34" charset="-120"/>
              </a:rPr>
              <a:t>12</a:t>
            </a:r>
            <a:endParaRPr lang="en-US" sz="900" dirty="0"/>
          </a:p>
        </p:txBody>
      </p:sp>
      <p:sp>
        <p:nvSpPr>
          <p:cNvPr id="10" name="Text 7"/>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7FA6B6"/>
                </a:solidFill>
                <a:latin typeface="Calibri" pitchFamily="34" charset="0"/>
                <a:ea typeface="Calibri" pitchFamily="34" charset="-122"/>
                <a:cs typeface="Calibri" pitchFamily="34" charset="-120"/>
              </a:rPr>
              <a:t>A2UI · Agentic UI Layer</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DEFINITION</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A2UI in one line</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13</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645920"/>
            <a:ext cx="11064240" cy="1234440"/>
          </a:xfrm>
          <a:prstGeom prst="roundRect">
            <a:avLst>
              <a:gd name="adj" fmla="val 8889"/>
            </a:avLst>
          </a:prstGeom>
          <a:solidFill>
            <a:srgbClr val="0E2330"/>
          </a:solidFill>
          <a:ln/>
          <a:effectLst>
            <a:outerShdw sx="100000" sy="100000" kx="0" ky="0" algn="bl" rotWithShape="0" blurRad="88900" dist="38100" dir="5400000">
              <a:srgbClr val="0B2430">
                <a:alpha val="13000"/>
              </a:srgbClr>
            </a:outerShdw>
          </a:effectLst>
        </p:spPr>
      </p:sp>
      <p:sp>
        <p:nvSpPr>
          <p:cNvPr id="9" name="Text 6"/>
          <p:cNvSpPr/>
          <p:nvPr/>
        </p:nvSpPr>
        <p:spPr>
          <a:xfrm>
            <a:off x="868680" y="1783080"/>
            <a:ext cx="10424160" cy="960120"/>
          </a:xfrm>
          <a:prstGeom prst="rect">
            <a:avLst/>
          </a:prstGeom>
          <a:noFill/>
          <a:ln/>
        </p:spPr>
        <p:txBody>
          <a:bodyPr wrap="square" lIns="0" tIns="0" rIns="0" bIns="0" rtlCol="0" anchor="ctr"/>
          <a:lstStyle/>
          <a:p>
            <a:pPr indent="0" marL="0">
              <a:lnSpc>
                <a:spcPct val="108000"/>
              </a:lnSpc>
              <a:buNone/>
            </a:pPr>
            <a:r>
              <a:rPr lang="en-US" sz="1800" dirty="0">
                <a:solidFill>
                  <a:srgbClr val="FFFFFF"/>
                </a:solidFill>
                <a:latin typeface="Cambria" pitchFamily="34" charset="0"/>
                <a:ea typeface="Cambria" pitchFamily="34" charset="-122"/>
                <a:cs typeface="Cambria" pitchFamily="34" charset="-120"/>
              </a:rPr>
              <a:t>An open protocol for </a:t>
            </a:r>
            <a:pPr indent="0" marL="0">
              <a:lnSpc>
                <a:spcPct val="108000"/>
              </a:lnSpc>
              <a:buNone/>
            </a:pPr>
            <a:r>
              <a:rPr lang="en-US" sz="1800" b="1" dirty="0">
                <a:solidFill>
                  <a:srgbClr val="5EEAD4"/>
                </a:solidFill>
                <a:latin typeface="Cambria" pitchFamily="34" charset="0"/>
                <a:ea typeface="Cambria" pitchFamily="34" charset="-122"/>
                <a:cs typeface="Cambria" pitchFamily="34" charset="-120"/>
              </a:rPr>
              <a:t>agent-driven user interfaces</a:t>
            </a:r>
            <a:pPr indent="0" marL="0">
              <a:lnSpc>
                <a:spcPct val="108000"/>
              </a:lnSpc>
              <a:buNone/>
            </a:pPr>
            <a:r>
              <a:rPr lang="en-US" sz="1800" dirty="0">
                <a:solidFill>
                  <a:srgbClr val="FFFFFF"/>
                </a:solidFill>
                <a:latin typeface="Cambria" pitchFamily="34" charset="0"/>
                <a:ea typeface="Cambria" pitchFamily="34" charset="-122"/>
                <a:cs typeface="Cambria" pitchFamily="34" charset="-120"/>
              </a:rPr>
              <a:t>: agents generate rich, interactive UI that renders natively on web, mobile, and desktop </a:t>
            </a:r>
            <a:pPr indent="0" marL="0">
              <a:lnSpc>
                <a:spcPct val="108000"/>
              </a:lnSpc>
              <a:buNone/>
            </a:pPr>
            <a:r>
              <a:rPr lang="en-US" sz="1800" b="1" dirty="0">
                <a:solidFill>
                  <a:srgbClr val="5EEAD4"/>
                </a:solidFill>
                <a:latin typeface="Cambria" pitchFamily="34" charset="0"/>
                <a:ea typeface="Cambria" pitchFamily="34" charset="-122"/>
                <a:cs typeface="Cambria" pitchFamily="34" charset="-120"/>
              </a:rPr>
              <a:t>without executing arbitrary code.</a:t>
            </a:r>
            <a:endParaRPr lang="en-US" sz="1800" dirty="0"/>
          </a:p>
        </p:txBody>
      </p:sp>
      <p:sp>
        <p:nvSpPr>
          <p:cNvPr id="10" name="Shape 7"/>
          <p:cNvSpPr/>
          <p:nvPr/>
        </p:nvSpPr>
        <p:spPr>
          <a:xfrm>
            <a:off x="548640" y="3154680"/>
            <a:ext cx="3444240" cy="2331720"/>
          </a:xfrm>
          <a:prstGeom prst="roundRect">
            <a:avLst>
              <a:gd name="adj" fmla="val 470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1" name="Shape 8"/>
          <p:cNvSpPr/>
          <p:nvPr/>
        </p:nvSpPr>
        <p:spPr>
          <a:xfrm>
            <a:off x="804672" y="3401568"/>
            <a:ext cx="566928" cy="566928"/>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2" name="Image 1" descr="preencoded.png">    </p:cNvPr>
          <p:cNvPicPr>
            <a:picLocks noChangeAspect="1"/>
          </p:cNvPicPr>
          <p:nvPr/>
        </p:nvPicPr>
        <p:blipFill>
          <a:blip r:embed="rId2"/>
          <a:stretch>
            <a:fillRect/>
          </a:stretch>
        </p:blipFill>
        <p:spPr>
          <a:xfrm>
            <a:off x="952073" y="3548969"/>
            <a:ext cx="272125" cy="272125"/>
          </a:xfrm>
          <a:prstGeom prst="rect">
            <a:avLst/>
          </a:prstGeom>
        </p:spPr>
      </p:pic>
      <p:sp>
        <p:nvSpPr>
          <p:cNvPr id="13" name="Text 9"/>
          <p:cNvSpPr/>
          <p:nvPr/>
        </p:nvSpPr>
        <p:spPr>
          <a:xfrm>
            <a:off x="804672" y="4069080"/>
            <a:ext cx="2932176" cy="365760"/>
          </a:xfrm>
          <a:prstGeom prst="rect">
            <a:avLst/>
          </a:prstGeom>
          <a:noFill/>
          <a:ln/>
        </p:spPr>
        <p:txBody>
          <a:bodyPr wrap="square" lIns="0" tIns="0" rIns="0" bIns="0" rtlCol="0" anchor="ctr"/>
          <a:lstStyle/>
          <a:p>
            <a:pPr indent="0" marL="0">
              <a:buNone/>
            </a:pPr>
            <a:r>
              <a:rPr lang="en-US" sz="1400" b="1" dirty="0">
                <a:solidFill>
                  <a:srgbClr val="0E2330"/>
                </a:solidFill>
                <a:latin typeface="Cambria" pitchFamily="34" charset="0"/>
                <a:ea typeface="Cambria" pitchFamily="34" charset="-122"/>
                <a:cs typeface="Cambria" pitchFamily="34" charset="-120"/>
              </a:rPr>
              <a:t>Who built it</a:t>
            </a:r>
            <a:endParaRPr lang="en-US" sz="1400" dirty="0"/>
          </a:p>
        </p:txBody>
      </p:sp>
      <p:sp>
        <p:nvSpPr>
          <p:cNvPr id="14" name="Text 10"/>
          <p:cNvSpPr/>
          <p:nvPr/>
        </p:nvSpPr>
        <p:spPr>
          <a:xfrm>
            <a:off x="804672" y="4434840"/>
            <a:ext cx="2932176" cy="960120"/>
          </a:xfrm>
          <a:prstGeom prst="rect">
            <a:avLst/>
          </a:prstGeom>
          <a:noFill/>
          <a:ln/>
        </p:spPr>
        <p:txBody>
          <a:bodyPr wrap="square" lIns="0" tIns="0" rIns="0" bIns="0" rtlCol="0" anchor="t"/>
          <a:lstStyle/>
          <a:p>
            <a:pPr indent="0" marL="0">
              <a:buNone/>
            </a:pPr>
            <a:r>
              <a:rPr lang="en-US" sz="1200" dirty="0">
                <a:solidFill>
                  <a:srgbClr val="5B7383"/>
                </a:solidFill>
                <a:latin typeface="Calibri" pitchFamily="34" charset="0"/>
                <a:ea typeface="Calibri" pitchFamily="34" charset="-122"/>
                <a:cs typeface="Calibri" pitchFamily="34" charset="-120"/>
              </a:rPr>
              <a:t>Google, with contributions from CopilotKit and the open-source community. Apache 2.0. Active on GitHub.</a:t>
            </a:r>
            <a:endParaRPr lang="en-US" sz="1200" dirty="0"/>
          </a:p>
        </p:txBody>
      </p:sp>
      <p:sp>
        <p:nvSpPr>
          <p:cNvPr id="15" name="Shape 11"/>
          <p:cNvSpPr/>
          <p:nvPr/>
        </p:nvSpPr>
        <p:spPr>
          <a:xfrm>
            <a:off x="4358640" y="3154680"/>
            <a:ext cx="3444240" cy="2331720"/>
          </a:xfrm>
          <a:prstGeom prst="roundRect">
            <a:avLst>
              <a:gd name="adj" fmla="val 470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6" name="Shape 12"/>
          <p:cNvSpPr/>
          <p:nvPr/>
        </p:nvSpPr>
        <p:spPr>
          <a:xfrm>
            <a:off x="4614672" y="3401568"/>
            <a:ext cx="566928" cy="566928"/>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7" name="Image 2" descr="preencoded.png">    </p:cNvPr>
          <p:cNvPicPr>
            <a:picLocks noChangeAspect="1"/>
          </p:cNvPicPr>
          <p:nvPr/>
        </p:nvPicPr>
        <p:blipFill>
          <a:blip r:embed="rId3"/>
          <a:stretch>
            <a:fillRect/>
          </a:stretch>
        </p:blipFill>
        <p:spPr>
          <a:xfrm>
            <a:off x="4762073" y="3548969"/>
            <a:ext cx="272125" cy="272125"/>
          </a:xfrm>
          <a:prstGeom prst="rect">
            <a:avLst/>
          </a:prstGeom>
        </p:spPr>
      </p:pic>
      <p:sp>
        <p:nvSpPr>
          <p:cNvPr id="18" name="Text 13"/>
          <p:cNvSpPr/>
          <p:nvPr/>
        </p:nvSpPr>
        <p:spPr>
          <a:xfrm>
            <a:off x="4614672" y="4069080"/>
            <a:ext cx="2932176" cy="365760"/>
          </a:xfrm>
          <a:prstGeom prst="rect">
            <a:avLst/>
          </a:prstGeom>
          <a:noFill/>
          <a:ln/>
        </p:spPr>
        <p:txBody>
          <a:bodyPr wrap="square" lIns="0" tIns="0" rIns="0" bIns="0" rtlCol="0" anchor="ctr"/>
          <a:lstStyle/>
          <a:p>
            <a:pPr indent="0" marL="0">
              <a:buNone/>
            </a:pPr>
            <a:r>
              <a:rPr lang="en-US" sz="1400" b="1" dirty="0">
                <a:solidFill>
                  <a:srgbClr val="0E2330"/>
                </a:solidFill>
                <a:latin typeface="Cambria" pitchFamily="34" charset="0"/>
                <a:ea typeface="Cambria" pitchFamily="34" charset="-122"/>
                <a:cs typeface="Cambria" pitchFamily="34" charset="-120"/>
              </a:rPr>
              <a:t>Versions</a:t>
            </a:r>
            <a:endParaRPr lang="en-US" sz="1400" dirty="0"/>
          </a:p>
        </p:txBody>
      </p:sp>
      <p:sp>
        <p:nvSpPr>
          <p:cNvPr id="19" name="Text 14"/>
          <p:cNvSpPr/>
          <p:nvPr/>
        </p:nvSpPr>
        <p:spPr>
          <a:xfrm>
            <a:off x="4614672" y="4434840"/>
            <a:ext cx="2932176" cy="960120"/>
          </a:xfrm>
          <a:prstGeom prst="rect">
            <a:avLst/>
          </a:prstGeom>
          <a:noFill/>
          <a:ln/>
        </p:spPr>
        <p:txBody>
          <a:bodyPr wrap="square" lIns="0" tIns="0" rIns="0" bIns="0" rtlCol="0" anchor="t"/>
          <a:lstStyle/>
          <a:p>
            <a:pPr indent="0" marL="0">
              <a:buNone/>
            </a:pPr>
            <a:r>
              <a:rPr lang="en-US" sz="1200" dirty="0">
                <a:solidFill>
                  <a:srgbClr val="5B7383"/>
                </a:solidFill>
                <a:latin typeface="Calibri" pitchFamily="34" charset="0"/>
                <a:ea typeface="Calibri" pitchFamily="34" charset="-122"/>
                <a:cs typeface="Calibri" pitchFamily="34" charset="-120"/>
              </a:rPr>
              <a:t>v0.8 stable (production) · v0.9 draft adds createSurface, client-side functions, custom catalogs.</a:t>
            </a:r>
            <a:endParaRPr lang="en-US" sz="1200" dirty="0"/>
          </a:p>
        </p:txBody>
      </p:sp>
      <p:sp>
        <p:nvSpPr>
          <p:cNvPr id="20" name="Shape 15"/>
          <p:cNvSpPr/>
          <p:nvPr/>
        </p:nvSpPr>
        <p:spPr>
          <a:xfrm>
            <a:off x="8168640" y="3154680"/>
            <a:ext cx="3444240" cy="2331720"/>
          </a:xfrm>
          <a:prstGeom prst="roundRect">
            <a:avLst>
              <a:gd name="adj" fmla="val 470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1" name="Shape 16"/>
          <p:cNvSpPr/>
          <p:nvPr/>
        </p:nvSpPr>
        <p:spPr>
          <a:xfrm>
            <a:off x="8424672" y="3401568"/>
            <a:ext cx="566928" cy="566928"/>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2" name="Image 3" descr="preencoded.png">    </p:cNvPr>
          <p:cNvPicPr>
            <a:picLocks noChangeAspect="1"/>
          </p:cNvPicPr>
          <p:nvPr/>
        </p:nvPicPr>
        <p:blipFill>
          <a:blip r:embed="rId4"/>
          <a:stretch>
            <a:fillRect/>
          </a:stretch>
        </p:blipFill>
        <p:spPr>
          <a:xfrm>
            <a:off x="8572073" y="3548969"/>
            <a:ext cx="272125" cy="272125"/>
          </a:xfrm>
          <a:prstGeom prst="rect">
            <a:avLst/>
          </a:prstGeom>
        </p:spPr>
      </p:pic>
      <p:sp>
        <p:nvSpPr>
          <p:cNvPr id="23" name="Text 17"/>
          <p:cNvSpPr/>
          <p:nvPr/>
        </p:nvSpPr>
        <p:spPr>
          <a:xfrm>
            <a:off x="8424672" y="4069080"/>
            <a:ext cx="2932176" cy="365760"/>
          </a:xfrm>
          <a:prstGeom prst="rect">
            <a:avLst/>
          </a:prstGeom>
          <a:noFill/>
          <a:ln/>
        </p:spPr>
        <p:txBody>
          <a:bodyPr wrap="square" lIns="0" tIns="0" rIns="0" bIns="0" rtlCol="0" anchor="ctr"/>
          <a:lstStyle/>
          <a:p>
            <a:pPr indent="0" marL="0">
              <a:buNone/>
            </a:pPr>
            <a:r>
              <a:rPr lang="en-US" sz="1400" b="1" dirty="0">
                <a:solidFill>
                  <a:srgbClr val="0E2330"/>
                </a:solidFill>
                <a:latin typeface="Cambria" pitchFamily="34" charset="0"/>
                <a:ea typeface="Cambria" pitchFamily="34" charset="-122"/>
                <a:cs typeface="Cambria" pitchFamily="34" charset="-120"/>
              </a:rPr>
              <a:t>Maturity</a:t>
            </a:r>
            <a:endParaRPr lang="en-US" sz="1400" dirty="0"/>
          </a:p>
        </p:txBody>
      </p:sp>
      <p:sp>
        <p:nvSpPr>
          <p:cNvPr id="24" name="Text 18"/>
          <p:cNvSpPr/>
          <p:nvPr/>
        </p:nvSpPr>
        <p:spPr>
          <a:xfrm>
            <a:off x="8424672" y="4434840"/>
            <a:ext cx="2932176" cy="960120"/>
          </a:xfrm>
          <a:prstGeom prst="rect">
            <a:avLst/>
          </a:prstGeom>
          <a:noFill/>
          <a:ln/>
        </p:spPr>
        <p:txBody>
          <a:bodyPr wrap="square" lIns="0" tIns="0" rIns="0" bIns="0" rtlCol="0" anchor="t"/>
          <a:lstStyle/>
          <a:p>
            <a:pPr indent="0" marL="0">
              <a:buNone/>
            </a:pPr>
            <a:r>
              <a:rPr lang="en-US" sz="1200" dirty="0">
                <a:solidFill>
                  <a:srgbClr val="5B7383"/>
                </a:solidFill>
                <a:latin typeface="Calibri" pitchFamily="34" charset="0"/>
                <a:ea typeface="Calibri" pitchFamily="34" charset="-122"/>
                <a:cs typeface="Calibri" pitchFamily="34" charset="-120"/>
              </a:rPr>
              <a:t>Created Sept 2025, moving fast. CopilotKit is a launch partner and built the A2UI Composer.</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CORE IDEA</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Components, not code</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14</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500" b="1" dirty="0">
                <a:solidFill>
                  <a:srgbClr val="0E7C86"/>
                </a:solidFill>
                <a:latin typeface="Calibri" pitchFamily="34" charset="0"/>
                <a:ea typeface="Calibri" pitchFamily="34" charset="-122"/>
                <a:cs typeface="Calibri" pitchFamily="34" charset="-120"/>
              </a:rPr>
              <a:t>The problem A2UI solves: how can an agent safely send rich UI across a trust boundary?</a:t>
            </a:r>
            <a:endParaRPr lang="en-US" sz="1500" dirty="0"/>
          </a:p>
        </p:txBody>
      </p:sp>
      <p:sp>
        <p:nvSpPr>
          <p:cNvPr id="9" name="Shape 6"/>
          <p:cNvSpPr/>
          <p:nvPr/>
        </p:nvSpPr>
        <p:spPr>
          <a:xfrm>
            <a:off x="548640" y="2148840"/>
            <a:ext cx="5394960" cy="1463040"/>
          </a:xfrm>
          <a:prstGeom prst="roundRect">
            <a:avLst>
              <a:gd name="adj" fmla="val 6250"/>
            </a:avLst>
          </a:prstGeom>
          <a:solidFill>
            <a:srgbClr val="FBEDE9"/>
          </a:solidFill>
          <a:ln w="9525">
            <a:solidFill>
              <a:srgbClr val="F0C8BD"/>
            </a:solidFill>
            <a:prstDash val="solid"/>
          </a:ln>
        </p:spPr>
      </p:sp>
      <p:sp>
        <p:nvSpPr>
          <p:cNvPr id="10" name="Shape 7"/>
          <p:cNvSpPr/>
          <p:nvPr/>
        </p:nvSpPr>
        <p:spPr>
          <a:xfrm>
            <a:off x="777240" y="2377440"/>
            <a:ext cx="502920" cy="50292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1" name="Image 1" descr="preencoded.png">    </p:cNvPr>
          <p:cNvPicPr>
            <a:picLocks noChangeAspect="1"/>
          </p:cNvPicPr>
          <p:nvPr/>
        </p:nvPicPr>
        <p:blipFill>
          <a:blip r:embed="rId2"/>
          <a:stretch>
            <a:fillRect/>
          </a:stretch>
        </p:blipFill>
        <p:spPr>
          <a:xfrm>
            <a:off x="907999" y="2508199"/>
            <a:ext cx="241402" cy="241402"/>
          </a:xfrm>
          <a:prstGeom prst="rect">
            <a:avLst/>
          </a:prstGeom>
        </p:spPr>
      </p:pic>
      <p:sp>
        <p:nvSpPr>
          <p:cNvPr id="12" name="Text 8"/>
          <p:cNvSpPr/>
          <p:nvPr/>
        </p:nvSpPr>
        <p:spPr>
          <a:xfrm>
            <a:off x="1417320" y="2377440"/>
            <a:ext cx="4389120" cy="365760"/>
          </a:xfrm>
          <a:prstGeom prst="rect">
            <a:avLst/>
          </a:prstGeom>
          <a:noFill/>
          <a:ln/>
        </p:spPr>
        <p:txBody>
          <a:bodyPr wrap="square" lIns="0" tIns="0" rIns="0" bIns="0" rtlCol="0" anchor="ctr"/>
          <a:lstStyle/>
          <a:p>
            <a:pPr indent="0" marL="0">
              <a:buNone/>
            </a:pPr>
            <a:r>
              <a:rPr lang="en-US" sz="1400" b="1" dirty="0">
                <a:solidFill>
                  <a:srgbClr val="E0593F"/>
                </a:solidFill>
                <a:latin typeface="Cambria" pitchFamily="34" charset="0"/>
                <a:ea typeface="Cambria" pitchFamily="34" charset="-122"/>
                <a:cs typeface="Cambria" pitchFamily="34" charset="-120"/>
              </a:rPr>
              <a:t>Two bad options</a:t>
            </a:r>
            <a:endParaRPr lang="en-US" sz="1400" dirty="0"/>
          </a:p>
        </p:txBody>
      </p:sp>
      <p:sp>
        <p:nvSpPr>
          <p:cNvPr id="13" name="Text 9"/>
          <p:cNvSpPr/>
          <p:nvPr/>
        </p:nvSpPr>
        <p:spPr>
          <a:xfrm>
            <a:off x="868680" y="2788920"/>
            <a:ext cx="4937760" cy="777240"/>
          </a:xfrm>
          <a:prstGeom prst="rect">
            <a:avLst/>
          </a:prstGeom>
          <a:noFill/>
          <a:ln/>
        </p:spPr>
        <p:txBody>
          <a:bodyPr wrap="square" lIns="0" tIns="0" rIns="0" bIns="0" rtlCol="0" anchor="t"/>
          <a:lstStyle/>
          <a:p>
            <a:pPr marL="203200" indent="-203200">
              <a:spcAft>
                <a:spcPts val="400"/>
              </a:spcAft>
              <a:buSzPct val="100000"/>
              <a:buChar char="•"/>
            </a:pPr>
            <a:r>
              <a:rPr lang="en-US" sz="1250" dirty="0">
                <a:solidFill>
                  <a:srgbClr val="12242E"/>
                </a:solidFill>
                <a:latin typeface="Calibri" pitchFamily="34" charset="0"/>
                <a:ea typeface="Calibri" pitchFamily="34" charset="-122"/>
                <a:cs typeface="Calibri" pitchFamily="34" charset="-120"/>
              </a:rPr>
              <a:t>Text only: no interactivity</a:t>
            </a:r>
            <a:endParaRPr lang="en-US" sz="1250" dirty="0"/>
          </a:p>
          <a:p>
            <a:pPr marL="203200" indent="-203200">
              <a:spcAft>
                <a:spcPts val="400"/>
              </a:spcAft>
              <a:buSzPct val="100000"/>
              <a:buChar char="•"/>
            </a:pPr>
            <a:r>
              <a:rPr lang="en-US" sz="1250" dirty="0">
                <a:solidFill>
                  <a:srgbClr val="12242E"/>
                </a:solidFill>
                <a:latin typeface="Calibri" pitchFamily="34" charset="0"/>
                <a:ea typeface="Calibri" pitchFamily="34" charset="-122"/>
                <a:cs typeface="Calibri" pitchFamily="34" charset="-120"/>
              </a:rPr>
              <a:t>Agent-generated code: injection risk</a:t>
            </a:r>
            <a:endParaRPr lang="en-US" sz="1250" dirty="0"/>
          </a:p>
        </p:txBody>
      </p:sp>
      <p:sp>
        <p:nvSpPr>
          <p:cNvPr id="14" name="Shape 10"/>
          <p:cNvSpPr/>
          <p:nvPr/>
        </p:nvSpPr>
        <p:spPr>
          <a:xfrm>
            <a:off x="548640" y="3794760"/>
            <a:ext cx="5394960" cy="1691640"/>
          </a:xfrm>
          <a:prstGeom prst="roundRect">
            <a:avLst>
              <a:gd name="adj" fmla="val 5405"/>
            </a:avLst>
          </a:prstGeom>
          <a:solidFill>
            <a:srgbClr val="E9F4EF"/>
          </a:solidFill>
          <a:ln w="9525">
            <a:solidFill>
              <a:srgbClr val="BFE0D2"/>
            </a:solidFill>
            <a:prstDash val="solid"/>
          </a:ln>
        </p:spPr>
      </p:sp>
      <p:sp>
        <p:nvSpPr>
          <p:cNvPr id="15" name="Shape 11"/>
          <p:cNvSpPr/>
          <p:nvPr/>
        </p:nvSpPr>
        <p:spPr>
          <a:xfrm>
            <a:off x="777240" y="4023360"/>
            <a:ext cx="502920" cy="50292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6" name="Image 2" descr="preencoded.png">    </p:cNvPr>
          <p:cNvPicPr>
            <a:picLocks noChangeAspect="1"/>
          </p:cNvPicPr>
          <p:nvPr/>
        </p:nvPicPr>
        <p:blipFill>
          <a:blip r:embed="rId3"/>
          <a:stretch>
            <a:fillRect/>
          </a:stretch>
        </p:blipFill>
        <p:spPr>
          <a:xfrm>
            <a:off x="907999" y="4154119"/>
            <a:ext cx="241402" cy="241402"/>
          </a:xfrm>
          <a:prstGeom prst="rect">
            <a:avLst/>
          </a:prstGeom>
        </p:spPr>
      </p:pic>
      <p:sp>
        <p:nvSpPr>
          <p:cNvPr id="17" name="Text 12"/>
          <p:cNvSpPr/>
          <p:nvPr/>
        </p:nvSpPr>
        <p:spPr>
          <a:xfrm>
            <a:off x="1417320" y="4023360"/>
            <a:ext cx="4389120" cy="365760"/>
          </a:xfrm>
          <a:prstGeom prst="rect">
            <a:avLst/>
          </a:prstGeom>
          <a:noFill/>
          <a:ln/>
        </p:spPr>
        <p:txBody>
          <a:bodyPr wrap="square" lIns="0" tIns="0" rIns="0" bIns="0" rtlCol="0" anchor="ctr"/>
          <a:lstStyle/>
          <a:p>
            <a:pPr indent="0" marL="0">
              <a:buNone/>
            </a:pPr>
            <a:r>
              <a:rPr lang="en-US" sz="1400" b="1" dirty="0">
                <a:solidFill>
                  <a:srgbClr val="1C9C72"/>
                </a:solidFill>
                <a:latin typeface="Cambria" pitchFamily="34" charset="0"/>
                <a:ea typeface="Cambria" pitchFamily="34" charset="-122"/>
                <a:cs typeface="Cambria" pitchFamily="34" charset="-120"/>
              </a:rPr>
              <a:t>A2UI's move</a:t>
            </a:r>
            <a:endParaRPr lang="en-US" sz="1400" dirty="0"/>
          </a:p>
        </p:txBody>
      </p:sp>
      <p:sp>
        <p:nvSpPr>
          <p:cNvPr id="18" name="Text 13"/>
          <p:cNvSpPr/>
          <p:nvPr/>
        </p:nvSpPr>
        <p:spPr>
          <a:xfrm>
            <a:off x="868680" y="4434840"/>
            <a:ext cx="4937760" cy="1005840"/>
          </a:xfrm>
          <a:prstGeom prst="rect">
            <a:avLst/>
          </a:prstGeom>
          <a:noFill/>
          <a:ln/>
        </p:spPr>
        <p:txBody>
          <a:bodyPr wrap="square" lIns="0" tIns="0" rIns="0" bIns="0" rtlCol="0" anchor="t"/>
          <a:lstStyle/>
          <a:p>
            <a:pPr indent="0" marL="0">
              <a:buNone/>
            </a:pPr>
            <a:r>
              <a:rPr lang="en-US" sz="1250" dirty="0">
                <a:solidFill>
                  <a:srgbClr val="12242E"/>
                </a:solidFill>
                <a:latin typeface="Calibri" pitchFamily="34" charset="0"/>
                <a:ea typeface="Calibri" pitchFamily="34" charset="-122"/>
                <a:cs typeface="Calibri" pitchFamily="34" charset="-120"/>
              </a:rPr>
              <a:t>The agent sends a declarative description. The client renders with pre-approved native widgets. The agent can only name components from a catalog the client trusts. No script execution.</a:t>
            </a:r>
            <a:endParaRPr lang="en-US" sz="1250" dirty="0"/>
          </a:p>
        </p:txBody>
      </p:sp>
      <p:sp>
        <p:nvSpPr>
          <p:cNvPr id="19" name="Shape 14"/>
          <p:cNvSpPr/>
          <p:nvPr/>
        </p:nvSpPr>
        <p:spPr>
          <a:xfrm>
            <a:off x="6263640" y="2148840"/>
            <a:ext cx="5349240" cy="3337560"/>
          </a:xfrm>
          <a:prstGeom prst="roundRect">
            <a:avLst>
              <a:gd name="adj" fmla="val 3288"/>
            </a:avLst>
          </a:prstGeom>
          <a:solidFill>
            <a:srgbClr val="0E2330"/>
          </a:solidFill>
          <a:ln/>
          <a:effectLst>
            <a:outerShdw sx="100000" sy="100000" kx="0" ky="0" algn="bl" rotWithShape="0" blurRad="88900" dist="38100" dir="5400000">
              <a:srgbClr val="0B2430">
                <a:alpha val="13000"/>
              </a:srgbClr>
            </a:outerShdw>
          </a:effectLst>
        </p:spPr>
      </p:sp>
      <p:sp>
        <p:nvSpPr>
          <p:cNvPr id="20" name="Text 15"/>
          <p:cNvSpPr/>
          <p:nvPr/>
        </p:nvSpPr>
        <p:spPr>
          <a:xfrm>
            <a:off x="6492240" y="2331720"/>
            <a:ext cx="4846320" cy="320040"/>
          </a:xfrm>
          <a:prstGeom prst="rect">
            <a:avLst/>
          </a:prstGeom>
          <a:noFill/>
          <a:ln/>
        </p:spPr>
        <p:txBody>
          <a:bodyPr wrap="square" lIns="0" tIns="0" rIns="0" bIns="0" rtlCol="0" anchor="ctr"/>
          <a:lstStyle/>
          <a:p>
            <a:pPr indent="0" marL="0">
              <a:buNone/>
            </a:pPr>
            <a:r>
              <a:rPr lang="en-US" sz="1100" b="1" spc="200" kern="0" dirty="0">
                <a:solidFill>
                  <a:srgbClr val="5EEAD4"/>
                </a:solidFill>
                <a:latin typeface="Calibri" pitchFamily="34" charset="0"/>
                <a:ea typeface="Calibri" pitchFamily="34" charset="-122"/>
                <a:cs typeface="Calibri" pitchFamily="34" charset="-120"/>
              </a:rPr>
              <a:t>THE TRUST BOUNDARY</a:t>
            </a:r>
            <a:endParaRPr lang="en-US" sz="1100" dirty="0"/>
          </a:p>
        </p:txBody>
      </p:sp>
      <p:sp>
        <p:nvSpPr>
          <p:cNvPr id="21" name="Shape 16"/>
          <p:cNvSpPr/>
          <p:nvPr/>
        </p:nvSpPr>
        <p:spPr>
          <a:xfrm>
            <a:off x="6537960" y="2788920"/>
            <a:ext cx="2011680" cy="1097280"/>
          </a:xfrm>
          <a:prstGeom prst="roundRect">
            <a:avLst>
              <a:gd name="adj" fmla="val 6667"/>
            </a:avLst>
          </a:prstGeom>
          <a:solidFill>
            <a:srgbClr val="1B4861"/>
          </a:solidFill>
          <a:ln/>
        </p:spPr>
      </p:sp>
      <p:sp>
        <p:nvSpPr>
          <p:cNvPr id="22" name="Shape 17"/>
          <p:cNvSpPr/>
          <p:nvPr/>
        </p:nvSpPr>
        <p:spPr>
          <a:xfrm>
            <a:off x="6812280" y="2926080"/>
            <a:ext cx="457200" cy="45720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23" name="Image 3" descr="preencoded.png">    </p:cNvPr>
          <p:cNvPicPr>
            <a:picLocks noChangeAspect="1"/>
          </p:cNvPicPr>
          <p:nvPr/>
        </p:nvPicPr>
        <p:blipFill>
          <a:blip r:embed="rId4"/>
          <a:stretch>
            <a:fillRect/>
          </a:stretch>
        </p:blipFill>
        <p:spPr>
          <a:xfrm>
            <a:off x="6931152" y="3044952"/>
            <a:ext cx="219456" cy="219456"/>
          </a:xfrm>
          <a:prstGeom prst="rect">
            <a:avLst/>
          </a:prstGeom>
        </p:spPr>
      </p:pic>
      <p:sp>
        <p:nvSpPr>
          <p:cNvPr id="24" name="Text 18"/>
          <p:cNvSpPr/>
          <p:nvPr/>
        </p:nvSpPr>
        <p:spPr>
          <a:xfrm>
            <a:off x="6537960" y="3429000"/>
            <a:ext cx="2011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Agent</a:t>
            </a:r>
            <a:endParaRPr lang="en-US" sz="1200" dirty="0"/>
          </a:p>
        </p:txBody>
      </p:sp>
      <p:sp>
        <p:nvSpPr>
          <p:cNvPr id="25" name="Shape 19"/>
          <p:cNvSpPr/>
          <p:nvPr/>
        </p:nvSpPr>
        <p:spPr>
          <a:xfrm>
            <a:off x="9418320" y="2788920"/>
            <a:ext cx="2011680" cy="1097280"/>
          </a:xfrm>
          <a:prstGeom prst="roundRect">
            <a:avLst>
              <a:gd name="adj" fmla="val 6667"/>
            </a:avLst>
          </a:prstGeom>
          <a:solidFill>
            <a:srgbClr val="0E7C86"/>
          </a:solidFill>
          <a:ln/>
        </p:spPr>
      </p:sp>
      <p:sp>
        <p:nvSpPr>
          <p:cNvPr id="26" name="Shape 20"/>
          <p:cNvSpPr/>
          <p:nvPr/>
        </p:nvSpPr>
        <p:spPr>
          <a:xfrm>
            <a:off x="9692640" y="2926080"/>
            <a:ext cx="457200" cy="457200"/>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27" name="Image 4" descr="preencoded.png">    </p:cNvPr>
          <p:cNvPicPr>
            <a:picLocks noChangeAspect="1"/>
          </p:cNvPicPr>
          <p:nvPr/>
        </p:nvPicPr>
        <p:blipFill>
          <a:blip r:embed="rId5"/>
          <a:stretch>
            <a:fillRect/>
          </a:stretch>
        </p:blipFill>
        <p:spPr>
          <a:xfrm>
            <a:off x="9811512" y="3044952"/>
            <a:ext cx="219456" cy="219456"/>
          </a:xfrm>
          <a:prstGeom prst="rect">
            <a:avLst/>
          </a:prstGeom>
        </p:spPr>
      </p:pic>
      <p:sp>
        <p:nvSpPr>
          <p:cNvPr id="28" name="Text 21"/>
          <p:cNvSpPr/>
          <p:nvPr/>
        </p:nvSpPr>
        <p:spPr>
          <a:xfrm>
            <a:off x="9418320" y="3429000"/>
            <a:ext cx="201168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Client</a:t>
            </a:r>
            <a:endParaRPr lang="en-US" sz="1200" dirty="0"/>
          </a:p>
        </p:txBody>
      </p:sp>
      <p:sp>
        <p:nvSpPr>
          <p:cNvPr id="29" name="Shape 22"/>
          <p:cNvSpPr/>
          <p:nvPr/>
        </p:nvSpPr>
        <p:spPr>
          <a:xfrm>
            <a:off x="8641080" y="3337560"/>
            <a:ext cx="685800" cy="0"/>
          </a:xfrm>
          <a:prstGeom prst="line">
            <a:avLst/>
          </a:prstGeom>
          <a:noFill/>
          <a:ln w="31750">
            <a:solidFill>
              <a:srgbClr val="5EEAD4"/>
            </a:solidFill>
            <a:prstDash val="solid"/>
            <a:tailEnd type="triangle"/>
          </a:ln>
        </p:spPr>
      </p:sp>
      <p:sp>
        <p:nvSpPr>
          <p:cNvPr id="30" name="Text 23"/>
          <p:cNvSpPr/>
          <p:nvPr/>
        </p:nvSpPr>
        <p:spPr>
          <a:xfrm>
            <a:off x="8503920" y="3931920"/>
            <a:ext cx="960120" cy="457200"/>
          </a:xfrm>
          <a:prstGeom prst="rect">
            <a:avLst/>
          </a:prstGeom>
          <a:noFill/>
          <a:ln/>
        </p:spPr>
        <p:txBody>
          <a:bodyPr wrap="square" lIns="0" tIns="0" rIns="0" bIns="0" rtlCol="0" anchor="ctr"/>
          <a:lstStyle/>
          <a:p>
            <a:pPr algn="ctr" indent="0" marL="0">
              <a:buNone/>
            </a:pPr>
            <a:r>
              <a:rPr lang="en-US" sz="850" dirty="0">
                <a:solidFill>
                  <a:srgbClr val="5EEAD4"/>
                </a:solidFill>
                <a:latin typeface="Consolas" pitchFamily="34" charset="0"/>
                <a:ea typeface="Consolas" pitchFamily="34" charset="-122"/>
                <a:cs typeface="Consolas" pitchFamily="34" charset="-120"/>
              </a:rPr>
              <a:t>component</a:t>
            </a:r>
            <a:endParaRPr lang="en-US" sz="850" dirty="0"/>
          </a:p>
          <a:p>
            <a:pPr algn="ctr" indent="0" marL="0">
              <a:buNone/>
            </a:pPr>
            <a:r>
              <a:rPr lang="en-US" sz="850" dirty="0">
                <a:solidFill>
                  <a:srgbClr val="5EEAD4"/>
                </a:solidFill>
                <a:latin typeface="Consolas" pitchFamily="34" charset="0"/>
                <a:ea typeface="Consolas" pitchFamily="34" charset="-122"/>
                <a:cs typeface="Consolas" pitchFamily="34" charset="-120"/>
              </a:rPr>
              <a:t>description</a:t>
            </a:r>
            <a:endParaRPr lang="en-US" sz="850" dirty="0"/>
          </a:p>
        </p:txBody>
      </p:sp>
      <p:sp>
        <p:nvSpPr>
          <p:cNvPr id="31" name="Shape 24"/>
          <p:cNvSpPr/>
          <p:nvPr/>
        </p:nvSpPr>
        <p:spPr>
          <a:xfrm>
            <a:off x="8979408" y="2743200"/>
            <a:ext cx="0" cy="1234440"/>
          </a:xfrm>
          <a:prstGeom prst="line">
            <a:avLst/>
          </a:prstGeom>
          <a:noFill/>
          <a:ln w="19050">
            <a:solidFill>
              <a:srgbClr val="E8951C"/>
            </a:solidFill>
            <a:prstDash val="dash"/>
          </a:ln>
        </p:spPr>
      </p:sp>
      <p:sp>
        <p:nvSpPr>
          <p:cNvPr id="32" name="Text 25"/>
          <p:cNvSpPr/>
          <p:nvPr/>
        </p:nvSpPr>
        <p:spPr>
          <a:xfrm>
            <a:off x="6537960" y="4617720"/>
            <a:ext cx="4892040" cy="731520"/>
          </a:xfrm>
          <a:prstGeom prst="rect">
            <a:avLst/>
          </a:prstGeom>
          <a:noFill/>
          <a:ln/>
        </p:spPr>
        <p:txBody>
          <a:bodyPr wrap="square" lIns="0" tIns="0" rIns="0" bIns="0" rtlCol="0" anchor="t"/>
          <a:lstStyle/>
          <a:p>
            <a:pPr indent="0" marL="0">
              <a:buNone/>
            </a:pPr>
            <a:r>
              <a:rPr lang="en-US" sz="1250" dirty="0">
                <a:solidFill>
                  <a:srgbClr val="D6E5EC"/>
                </a:solidFill>
                <a:latin typeface="Calibri" pitchFamily="34" charset="0"/>
                <a:ea typeface="Calibri" pitchFamily="34" charset="-122"/>
                <a:cs typeface="Calibri" pitchFamily="34" charset="-120"/>
              </a:rPr>
              <a:t>No code crosses. Only names from a trusted catalog.</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WHY IT LOOKS THE WAY IT DOES</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Four design pillars</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15</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i="1" dirty="0">
                <a:solidFill>
                  <a:srgbClr val="5B7383"/>
                </a:solidFill>
                <a:latin typeface="Calibri" pitchFamily="34" charset="0"/>
                <a:ea typeface="Calibri" pitchFamily="34" charset="-122"/>
                <a:cs typeface="Calibri" pitchFamily="34" charset="-120"/>
              </a:rPr>
              <a:t>Every choice traces back to one constraint: an LLM has to generate this reliably.</a:t>
            </a:r>
            <a:endParaRPr lang="en-US" sz="1400" dirty="0"/>
          </a:p>
        </p:txBody>
      </p:sp>
      <p:sp>
        <p:nvSpPr>
          <p:cNvPr id="9" name="Shape 6"/>
          <p:cNvSpPr/>
          <p:nvPr/>
        </p:nvSpPr>
        <p:spPr>
          <a:xfrm>
            <a:off x="548640" y="2103120"/>
            <a:ext cx="5349240" cy="1691640"/>
          </a:xfrm>
          <a:prstGeom prst="roundRect">
            <a:avLst>
              <a:gd name="adj" fmla="val 648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0" name="Shape 7"/>
          <p:cNvSpPr/>
          <p:nvPr/>
        </p:nvSpPr>
        <p:spPr>
          <a:xfrm>
            <a:off x="822960" y="2395728"/>
            <a:ext cx="640080" cy="64008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1" name="Image 1" descr="preencoded.png">    </p:cNvPr>
          <p:cNvPicPr>
            <a:picLocks noChangeAspect="1"/>
          </p:cNvPicPr>
          <p:nvPr/>
        </p:nvPicPr>
        <p:blipFill>
          <a:blip r:embed="rId2"/>
          <a:stretch>
            <a:fillRect/>
          </a:stretch>
        </p:blipFill>
        <p:spPr>
          <a:xfrm>
            <a:off x="989381" y="2562149"/>
            <a:ext cx="307238" cy="307238"/>
          </a:xfrm>
          <a:prstGeom prst="rect">
            <a:avLst/>
          </a:prstGeom>
        </p:spPr>
      </p:pic>
      <p:sp>
        <p:nvSpPr>
          <p:cNvPr id="12" name="Text 8"/>
          <p:cNvSpPr/>
          <p:nvPr/>
        </p:nvSpPr>
        <p:spPr>
          <a:xfrm>
            <a:off x="1664208" y="2377440"/>
            <a:ext cx="4023360" cy="457200"/>
          </a:xfrm>
          <a:prstGeom prst="rect">
            <a:avLst/>
          </a:prstGeom>
          <a:noFill/>
          <a:ln/>
        </p:spPr>
        <p:txBody>
          <a:bodyPr wrap="square" lIns="0" tIns="0" rIns="0" bIns="0" rtlCol="0" anchor="ctr"/>
          <a:lstStyle/>
          <a:p>
            <a:pPr indent="0" marL="0">
              <a:buNone/>
            </a:pPr>
            <a:r>
              <a:rPr lang="en-US" sz="1800" b="1" dirty="0">
                <a:solidFill>
                  <a:srgbClr val="0E2330"/>
                </a:solidFill>
                <a:latin typeface="Cambria" pitchFamily="34" charset="0"/>
                <a:ea typeface="Cambria" pitchFamily="34" charset="-122"/>
                <a:cs typeface="Cambria" pitchFamily="34" charset="-120"/>
              </a:rPr>
              <a:t>LLM-friendly</a:t>
            </a:r>
            <a:endParaRPr lang="en-US" sz="1800" dirty="0"/>
          </a:p>
        </p:txBody>
      </p:sp>
      <p:sp>
        <p:nvSpPr>
          <p:cNvPr id="13" name="Text 9"/>
          <p:cNvSpPr/>
          <p:nvPr/>
        </p:nvSpPr>
        <p:spPr>
          <a:xfrm>
            <a:off x="1664208" y="2880360"/>
            <a:ext cx="4069080" cy="77724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Flat, streaming JSON the model emits incrementally. No deep nesting to get wrong.</a:t>
            </a:r>
            <a:endParaRPr lang="en-US" sz="1250" dirty="0"/>
          </a:p>
        </p:txBody>
      </p:sp>
      <p:sp>
        <p:nvSpPr>
          <p:cNvPr id="14" name="Shape 10"/>
          <p:cNvSpPr/>
          <p:nvPr/>
        </p:nvSpPr>
        <p:spPr>
          <a:xfrm>
            <a:off x="6263640" y="2103120"/>
            <a:ext cx="5349240" cy="1691640"/>
          </a:xfrm>
          <a:prstGeom prst="roundRect">
            <a:avLst>
              <a:gd name="adj" fmla="val 648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5" name="Shape 11"/>
          <p:cNvSpPr/>
          <p:nvPr/>
        </p:nvSpPr>
        <p:spPr>
          <a:xfrm>
            <a:off x="6537960" y="2395728"/>
            <a:ext cx="640080" cy="64008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6" name="Image 2" descr="preencoded.png">    </p:cNvPr>
          <p:cNvPicPr>
            <a:picLocks noChangeAspect="1"/>
          </p:cNvPicPr>
          <p:nvPr/>
        </p:nvPicPr>
        <p:blipFill>
          <a:blip r:embed="rId3"/>
          <a:stretch>
            <a:fillRect/>
          </a:stretch>
        </p:blipFill>
        <p:spPr>
          <a:xfrm>
            <a:off x="6704381" y="2562149"/>
            <a:ext cx="307238" cy="307238"/>
          </a:xfrm>
          <a:prstGeom prst="rect">
            <a:avLst/>
          </a:prstGeom>
        </p:spPr>
      </p:pic>
      <p:sp>
        <p:nvSpPr>
          <p:cNvPr id="17" name="Text 12"/>
          <p:cNvSpPr/>
          <p:nvPr/>
        </p:nvSpPr>
        <p:spPr>
          <a:xfrm>
            <a:off x="7379208" y="2377440"/>
            <a:ext cx="4023360" cy="457200"/>
          </a:xfrm>
          <a:prstGeom prst="rect">
            <a:avLst/>
          </a:prstGeom>
          <a:noFill/>
          <a:ln/>
        </p:spPr>
        <p:txBody>
          <a:bodyPr wrap="square" lIns="0" tIns="0" rIns="0" bIns="0" rtlCol="0" anchor="ctr"/>
          <a:lstStyle/>
          <a:p>
            <a:pPr indent="0" marL="0">
              <a:buNone/>
            </a:pPr>
            <a:r>
              <a:rPr lang="en-US" sz="1800" b="1" dirty="0">
                <a:solidFill>
                  <a:srgbClr val="0E2330"/>
                </a:solidFill>
                <a:latin typeface="Cambria" pitchFamily="34" charset="0"/>
                <a:ea typeface="Cambria" pitchFamily="34" charset="-122"/>
                <a:cs typeface="Cambria" pitchFamily="34" charset="-120"/>
              </a:rPr>
              <a:t>Progressive</a:t>
            </a:r>
            <a:endParaRPr lang="en-US" sz="1800" dirty="0"/>
          </a:p>
        </p:txBody>
      </p:sp>
      <p:sp>
        <p:nvSpPr>
          <p:cNvPr id="18" name="Text 13"/>
          <p:cNvSpPr/>
          <p:nvPr/>
        </p:nvSpPr>
        <p:spPr>
          <a:xfrm>
            <a:off x="7379208" y="2880360"/>
            <a:ext cx="4069080" cy="77724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Stream and render as it is generated. No waiting for one giant payload to land.</a:t>
            </a:r>
            <a:endParaRPr lang="en-US" sz="1250" dirty="0"/>
          </a:p>
        </p:txBody>
      </p:sp>
      <p:sp>
        <p:nvSpPr>
          <p:cNvPr id="19" name="Shape 14"/>
          <p:cNvSpPr/>
          <p:nvPr/>
        </p:nvSpPr>
        <p:spPr>
          <a:xfrm>
            <a:off x="548640" y="3977640"/>
            <a:ext cx="5349240" cy="1691640"/>
          </a:xfrm>
          <a:prstGeom prst="roundRect">
            <a:avLst>
              <a:gd name="adj" fmla="val 648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0" name="Shape 15"/>
          <p:cNvSpPr/>
          <p:nvPr/>
        </p:nvSpPr>
        <p:spPr>
          <a:xfrm>
            <a:off x="822960" y="4270248"/>
            <a:ext cx="640080" cy="64008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1" name="Image 3" descr="preencoded.png">    </p:cNvPr>
          <p:cNvPicPr>
            <a:picLocks noChangeAspect="1"/>
          </p:cNvPicPr>
          <p:nvPr/>
        </p:nvPicPr>
        <p:blipFill>
          <a:blip r:embed="rId4"/>
          <a:stretch>
            <a:fillRect/>
          </a:stretch>
        </p:blipFill>
        <p:spPr>
          <a:xfrm>
            <a:off x="989381" y="4436669"/>
            <a:ext cx="307238" cy="307238"/>
          </a:xfrm>
          <a:prstGeom prst="rect">
            <a:avLst/>
          </a:prstGeom>
        </p:spPr>
      </p:pic>
      <p:sp>
        <p:nvSpPr>
          <p:cNvPr id="22" name="Text 16"/>
          <p:cNvSpPr/>
          <p:nvPr/>
        </p:nvSpPr>
        <p:spPr>
          <a:xfrm>
            <a:off x="1664208" y="4251960"/>
            <a:ext cx="4023360" cy="457200"/>
          </a:xfrm>
          <a:prstGeom prst="rect">
            <a:avLst/>
          </a:prstGeom>
          <a:noFill/>
          <a:ln/>
        </p:spPr>
        <p:txBody>
          <a:bodyPr wrap="square" lIns="0" tIns="0" rIns="0" bIns="0" rtlCol="0" anchor="ctr"/>
          <a:lstStyle/>
          <a:p>
            <a:pPr indent="0" marL="0">
              <a:buNone/>
            </a:pPr>
            <a:r>
              <a:rPr lang="en-US" sz="1800" b="1" dirty="0">
                <a:solidFill>
                  <a:srgbClr val="0E2330"/>
                </a:solidFill>
                <a:latin typeface="Cambria" pitchFamily="34" charset="0"/>
                <a:ea typeface="Cambria" pitchFamily="34" charset="-122"/>
                <a:cs typeface="Cambria" pitchFamily="34" charset="-120"/>
              </a:rPr>
              <a:t>Platform-agnostic</a:t>
            </a:r>
            <a:endParaRPr lang="en-US" sz="1800" dirty="0"/>
          </a:p>
        </p:txBody>
      </p:sp>
      <p:sp>
        <p:nvSpPr>
          <p:cNvPr id="23" name="Text 17"/>
          <p:cNvSpPr/>
          <p:nvPr/>
        </p:nvSpPr>
        <p:spPr>
          <a:xfrm>
            <a:off x="1664208" y="4754880"/>
            <a:ext cx="4069080" cy="77724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One agent response renders across frameworks and devices, web to mobile to desktop.</a:t>
            </a:r>
            <a:endParaRPr lang="en-US" sz="1250" dirty="0"/>
          </a:p>
        </p:txBody>
      </p:sp>
      <p:sp>
        <p:nvSpPr>
          <p:cNvPr id="24" name="Shape 18"/>
          <p:cNvSpPr/>
          <p:nvPr/>
        </p:nvSpPr>
        <p:spPr>
          <a:xfrm>
            <a:off x="6263640" y="3977640"/>
            <a:ext cx="5349240" cy="1691640"/>
          </a:xfrm>
          <a:prstGeom prst="roundRect">
            <a:avLst>
              <a:gd name="adj" fmla="val 648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5" name="Shape 19"/>
          <p:cNvSpPr/>
          <p:nvPr/>
        </p:nvSpPr>
        <p:spPr>
          <a:xfrm>
            <a:off x="6537960" y="4270248"/>
            <a:ext cx="640080" cy="64008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6" name="Image 4" descr="preencoded.png">    </p:cNvPr>
          <p:cNvPicPr>
            <a:picLocks noChangeAspect="1"/>
          </p:cNvPicPr>
          <p:nvPr/>
        </p:nvPicPr>
        <p:blipFill>
          <a:blip r:embed="rId5"/>
          <a:stretch>
            <a:fillRect/>
          </a:stretch>
        </p:blipFill>
        <p:spPr>
          <a:xfrm>
            <a:off x="6704381" y="4436669"/>
            <a:ext cx="307238" cy="307238"/>
          </a:xfrm>
          <a:prstGeom prst="rect">
            <a:avLst/>
          </a:prstGeom>
        </p:spPr>
      </p:pic>
      <p:sp>
        <p:nvSpPr>
          <p:cNvPr id="27" name="Text 20"/>
          <p:cNvSpPr/>
          <p:nvPr/>
        </p:nvSpPr>
        <p:spPr>
          <a:xfrm>
            <a:off x="7379208" y="4251960"/>
            <a:ext cx="4023360" cy="457200"/>
          </a:xfrm>
          <a:prstGeom prst="rect">
            <a:avLst/>
          </a:prstGeom>
          <a:noFill/>
          <a:ln/>
        </p:spPr>
        <p:txBody>
          <a:bodyPr wrap="square" lIns="0" tIns="0" rIns="0" bIns="0" rtlCol="0" anchor="ctr"/>
          <a:lstStyle/>
          <a:p>
            <a:pPr indent="0" marL="0">
              <a:buNone/>
            </a:pPr>
            <a:r>
              <a:rPr lang="en-US" sz="1800" b="1" dirty="0">
                <a:solidFill>
                  <a:srgbClr val="0E2330"/>
                </a:solidFill>
                <a:latin typeface="Cambria" pitchFamily="34" charset="0"/>
                <a:ea typeface="Cambria" pitchFamily="34" charset="-122"/>
                <a:cs typeface="Cambria" pitchFamily="34" charset="-120"/>
              </a:rPr>
              <a:t>Decoupled state</a:t>
            </a:r>
            <a:endParaRPr lang="en-US" sz="1800" dirty="0"/>
          </a:p>
        </p:txBody>
      </p:sp>
      <p:sp>
        <p:nvSpPr>
          <p:cNvPr id="28" name="Text 21"/>
          <p:cNvSpPr/>
          <p:nvPr/>
        </p:nvSpPr>
        <p:spPr>
          <a:xfrm>
            <a:off x="7379208" y="4754880"/>
            <a:ext cx="4069080" cy="77724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UI structure is separate from data, so a value change does not resend the whole UI.</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HOW IT IS SHAPED</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The declarative interaction model</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16</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dirty="0">
                <a:solidFill>
                  <a:srgbClr val="5B7383"/>
                </a:solidFill>
                <a:latin typeface="Calibri" pitchFamily="34" charset="0"/>
                <a:ea typeface="Calibri" pitchFamily="34" charset="-122"/>
                <a:cs typeface="Calibri" pitchFamily="34" charset="-120"/>
              </a:rPr>
              <a:t>Three decoupled parts. The agent generates the first two. The client owns the third.</a:t>
            </a:r>
            <a:endParaRPr lang="en-US" sz="1400" dirty="0"/>
          </a:p>
        </p:txBody>
      </p:sp>
      <p:sp>
        <p:nvSpPr>
          <p:cNvPr id="9" name="Shape 6"/>
          <p:cNvSpPr/>
          <p:nvPr/>
        </p:nvSpPr>
        <p:spPr>
          <a:xfrm>
            <a:off x="548640" y="2148840"/>
            <a:ext cx="3383280" cy="3429000"/>
          </a:xfrm>
          <a:prstGeom prst="roundRect">
            <a:avLst>
              <a:gd name="adj" fmla="val 3243"/>
            </a:avLst>
          </a:prstGeom>
          <a:solidFill>
            <a:srgbClr val="0E2330"/>
          </a:solidFill>
          <a:ln/>
          <a:effectLst>
            <a:outerShdw sx="100000" sy="100000" kx="0" ky="0" algn="bl" rotWithShape="0" blurRad="88900" dist="38100" dir="5400000">
              <a:srgbClr val="0B2430">
                <a:alpha val="13000"/>
              </a:srgbClr>
            </a:outerShdw>
          </a:effectLst>
        </p:spPr>
      </p:sp>
      <p:sp>
        <p:nvSpPr>
          <p:cNvPr id="10" name="Shape 7"/>
          <p:cNvSpPr/>
          <p:nvPr/>
        </p:nvSpPr>
        <p:spPr>
          <a:xfrm>
            <a:off x="1874520" y="2423160"/>
            <a:ext cx="731520" cy="73152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1" name="Image 1" descr="preencoded.png">    </p:cNvPr>
          <p:cNvPicPr>
            <a:picLocks noChangeAspect="1"/>
          </p:cNvPicPr>
          <p:nvPr/>
        </p:nvPicPr>
        <p:blipFill>
          <a:blip r:embed="rId2"/>
          <a:stretch>
            <a:fillRect/>
          </a:stretch>
        </p:blipFill>
        <p:spPr>
          <a:xfrm>
            <a:off x="2064715" y="2613355"/>
            <a:ext cx="351130" cy="351130"/>
          </a:xfrm>
          <a:prstGeom prst="rect">
            <a:avLst/>
          </a:prstGeom>
        </p:spPr>
      </p:pic>
      <p:sp>
        <p:nvSpPr>
          <p:cNvPr id="12" name="Text 8"/>
          <p:cNvSpPr/>
          <p:nvPr/>
        </p:nvSpPr>
        <p:spPr>
          <a:xfrm>
            <a:off x="548640" y="3291840"/>
            <a:ext cx="3383280" cy="4114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Structure</a:t>
            </a:r>
            <a:endParaRPr lang="en-US" sz="1900" dirty="0"/>
          </a:p>
        </p:txBody>
      </p:sp>
      <p:sp>
        <p:nvSpPr>
          <p:cNvPr id="13" name="Text 9"/>
          <p:cNvSpPr/>
          <p:nvPr/>
        </p:nvSpPr>
        <p:spPr>
          <a:xfrm>
            <a:off x="548640" y="3703320"/>
            <a:ext cx="3383280" cy="292608"/>
          </a:xfrm>
          <a:prstGeom prst="rect">
            <a:avLst/>
          </a:prstGeom>
          <a:noFill/>
          <a:ln/>
        </p:spPr>
        <p:txBody>
          <a:bodyPr wrap="square" lIns="0" tIns="0" rIns="0" bIns="0" rtlCol="0" anchor="ctr"/>
          <a:lstStyle/>
          <a:p>
            <a:pPr algn="ctr" indent="0" marL="0">
              <a:buNone/>
            </a:pPr>
            <a:r>
              <a:rPr lang="en-US" sz="1100" dirty="0">
                <a:solidFill>
                  <a:srgbClr val="5EEAD4"/>
                </a:solidFill>
                <a:latin typeface="Consolas" pitchFamily="34" charset="0"/>
                <a:ea typeface="Consolas" pitchFamily="34" charset="-122"/>
                <a:cs typeface="Consolas" pitchFamily="34" charset="-120"/>
              </a:rPr>
              <a:t>surfaceUpdate</a:t>
            </a:r>
            <a:endParaRPr lang="en-US" sz="1100" dirty="0"/>
          </a:p>
        </p:txBody>
      </p:sp>
      <p:sp>
        <p:nvSpPr>
          <p:cNvPr id="14" name="Text 10"/>
          <p:cNvSpPr/>
          <p:nvPr/>
        </p:nvSpPr>
        <p:spPr>
          <a:xfrm>
            <a:off x="822960" y="4069080"/>
            <a:ext cx="2834640" cy="960120"/>
          </a:xfrm>
          <a:prstGeom prst="rect">
            <a:avLst/>
          </a:prstGeom>
          <a:noFill/>
          <a:ln/>
        </p:spPr>
        <p:txBody>
          <a:bodyPr wrap="square" lIns="0" tIns="0" rIns="0" bIns="0" rtlCol="0" anchor="t"/>
          <a:lstStyle/>
          <a:p>
            <a:pPr algn="ctr" indent="0" marL="0">
              <a:buNone/>
            </a:pPr>
            <a:r>
              <a:rPr lang="en-US" sz="1250" dirty="0">
                <a:solidFill>
                  <a:srgbClr val="D6E5EC"/>
                </a:solidFill>
                <a:latin typeface="Calibri" pitchFamily="34" charset="0"/>
                <a:ea typeface="Calibri" pitchFamily="34" charset="-122"/>
                <a:cs typeface="Calibri" pitchFamily="34" charset="-120"/>
              </a:rPr>
              <a:t>The component tree, what to show. A flat list of nodes the agent emits.</a:t>
            </a:r>
            <a:endParaRPr lang="en-US" sz="1250" dirty="0"/>
          </a:p>
        </p:txBody>
      </p:sp>
      <p:sp>
        <p:nvSpPr>
          <p:cNvPr id="15" name="Shape 11"/>
          <p:cNvSpPr/>
          <p:nvPr/>
        </p:nvSpPr>
        <p:spPr>
          <a:xfrm>
            <a:off x="1188720" y="5074920"/>
            <a:ext cx="2103120" cy="365760"/>
          </a:xfrm>
          <a:prstGeom prst="roundRect">
            <a:avLst>
              <a:gd name="adj" fmla="val 50000"/>
            </a:avLst>
          </a:prstGeom>
          <a:solidFill>
            <a:srgbClr val="13344A"/>
          </a:solidFill>
          <a:ln/>
        </p:spPr>
      </p:sp>
      <p:sp>
        <p:nvSpPr>
          <p:cNvPr id="16" name="Text 12"/>
          <p:cNvSpPr/>
          <p:nvPr/>
        </p:nvSpPr>
        <p:spPr>
          <a:xfrm>
            <a:off x="1188720" y="5074920"/>
            <a:ext cx="2103120" cy="365760"/>
          </a:xfrm>
          <a:prstGeom prst="rect">
            <a:avLst/>
          </a:prstGeom>
          <a:noFill/>
          <a:ln/>
        </p:spPr>
        <p:txBody>
          <a:bodyPr wrap="square" lIns="0" tIns="0" rIns="0" bIns="0" rtlCol="0" anchor="ctr"/>
          <a:lstStyle/>
          <a:p>
            <a:pPr algn="ctr" indent="0" marL="0">
              <a:buNone/>
            </a:pPr>
            <a:r>
              <a:rPr lang="en-US" sz="950" b="1" spc="100" kern="0" dirty="0">
                <a:solidFill>
                  <a:srgbClr val="5EEAD4"/>
                </a:solidFill>
                <a:latin typeface="Calibri" pitchFamily="34" charset="0"/>
                <a:ea typeface="Calibri" pitchFamily="34" charset="-122"/>
                <a:cs typeface="Calibri" pitchFamily="34" charset="-120"/>
              </a:rPr>
              <a:t>AGENT GENERATES</a:t>
            </a:r>
            <a:endParaRPr lang="en-US" sz="950" dirty="0"/>
          </a:p>
        </p:txBody>
      </p:sp>
      <p:sp>
        <p:nvSpPr>
          <p:cNvPr id="17" name="Shape 13"/>
          <p:cNvSpPr/>
          <p:nvPr/>
        </p:nvSpPr>
        <p:spPr>
          <a:xfrm>
            <a:off x="4389120" y="2148840"/>
            <a:ext cx="3383280" cy="3429000"/>
          </a:xfrm>
          <a:prstGeom prst="roundRect">
            <a:avLst>
              <a:gd name="adj" fmla="val 3243"/>
            </a:avLst>
          </a:prstGeom>
          <a:solidFill>
            <a:srgbClr val="0E2330"/>
          </a:solidFill>
          <a:ln/>
          <a:effectLst>
            <a:outerShdw sx="100000" sy="100000" kx="0" ky="0" algn="bl" rotWithShape="0" blurRad="88900" dist="38100" dir="5400000">
              <a:srgbClr val="0B2430">
                <a:alpha val="13000"/>
              </a:srgbClr>
            </a:outerShdw>
          </a:effectLst>
        </p:spPr>
      </p:sp>
      <p:sp>
        <p:nvSpPr>
          <p:cNvPr id="18" name="Shape 14"/>
          <p:cNvSpPr/>
          <p:nvPr/>
        </p:nvSpPr>
        <p:spPr>
          <a:xfrm>
            <a:off x="5715000" y="2423160"/>
            <a:ext cx="731520" cy="73152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9" name="Image 2" descr="preencoded.png">    </p:cNvPr>
          <p:cNvPicPr>
            <a:picLocks noChangeAspect="1"/>
          </p:cNvPicPr>
          <p:nvPr/>
        </p:nvPicPr>
        <p:blipFill>
          <a:blip r:embed="rId3"/>
          <a:stretch>
            <a:fillRect/>
          </a:stretch>
        </p:blipFill>
        <p:spPr>
          <a:xfrm>
            <a:off x="5905195" y="2613355"/>
            <a:ext cx="351130" cy="351130"/>
          </a:xfrm>
          <a:prstGeom prst="rect">
            <a:avLst/>
          </a:prstGeom>
        </p:spPr>
      </p:pic>
      <p:sp>
        <p:nvSpPr>
          <p:cNvPr id="20" name="Text 15"/>
          <p:cNvSpPr/>
          <p:nvPr/>
        </p:nvSpPr>
        <p:spPr>
          <a:xfrm>
            <a:off x="4389120" y="3291840"/>
            <a:ext cx="3383280" cy="4114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State</a:t>
            </a:r>
            <a:endParaRPr lang="en-US" sz="1900" dirty="0"/>
          </a:p>
        </p:txBody>
      </p:sp>
      <p:sp>
        <p:nvSpPr>
          <p:cNvPr id="21" name="Text 16"/>
          <p:cNvSpPr/>
          <p:nvPr/>
        </p:nvSpPr>
        <p:spPr>
          <a:xfrm>
            <a:off x="4389120" y="3703320"/>
            <a:ext cx="3383280" cy="292608"/>
          </a:xfrm>
          <a:prstGeom prst="rect">
            <a:avLst/>
          </a:prstGeom>
          <a:noFill/>
          <a:ln/>
        </p:spPr>
        <p:txBody>
          <a:bodyPr wrap="square" lIns="0" tIns="0" rIns="0" bIns="0" rtlCol="0" anchor="ctr"/>
          <a:lstStyle/>
          <a:p>
            <a:pPr algn="ctr" indent="0" marL="0">
              <a:buNone/>
            </a:pPr>
            <a:r>
              <a:rPr lang="en-US" sz="1100" dirty="0">
                <a:solidFill>
                  <a:srgbClr val="5EEAD4"/>
                </a:solidFill>
                <a:latin typeface="Consolas" pitchFamily="34" charset="0"/>
                <a:ea typeface="Consolas" pitchFamily="34" charset="-122"/>
                <a:cs typeface="Consolas" pitchFamily="34" charset="-120"/>
              </a:rPr>
              <a:t>dataModelUpdate</a:t>
            </a:r>
            <a:endParaRPr lang="en-US" sz="1100" dirty="0"/>
          </a:p>
        </p:txBody>
      </p:sp>
      <p:sp>
        <p:nvSpPr>
          <p:cNvPr id="22" name="Text 17"/>
          <p:cNvSpPr/>
          <p:nvPr/>
        </p:nvSpPr>
        <p:spPr>
          <a:xfrm>
            <a:off x="4663440" y="4069080"/>
            <a:ext cx="2834640" cy="960120"/>
          </a:xfrm>
          <a:prstGeom prst="rect">
            <a:avLst/>
          </a:prstGeom>
          <a:noFill/>
          <a:ln/>
        </p:spPr>
        <p:txBody>
          <a:bodyPr wrap="square" lIns="0" tIns="0" rIns="0" bIns="0" rtlCol="0" anchor="t"/>
          <a:lstStyle/>
          <a:p>
            <a:pPr algn="ctr" indent="0" marL="0">
              <a:buNone/>
            </a:pPr>
            <a:r>
              <a:rPr lang="en-US" sz="1250" dirty="0">
                <a:solidFill>
                  <a:srgbClr val="D6E5EC"/>
                </a:solidFill>
                <a:latin typeface="Calibri" pitchFamily="34" charset="0"/>
                <a:ea typeface="Calibri" pitchFamily="34" charset="-122"/>
                <a:cs typeface="Calibri" pitchFamily="34" charset="-120"/>
              </a:rPr>
              <a:t>The data model, the actual values the components bind to.</a:t>
            </a:r>
            <a:endParaRPr lang="en-US" sz="1250" dirty="0"/>
          </a:p>
        </p:txBody>
      </p:sp>
      <p:sp>
        <p:nvSpPr>
          <p:cNvPr id="23" name="Shape 18"/>
          <p:cNvSpPr/>
          <p:nvPr/>
        </p:nvSpPr>
        <p:spPr>
          <a:xfrm>
            <a:off x="5029200" y="5074920"/>
            <a:ext cx="2103120" cy="365760"/>
          </a:xfrm>
          <a:prstGeom prst="roundRect">
            <a:avLst>
              <a:gd name="adj" fmla="val 50000"/>
            </a:avLst>
          </a:prstGeom>
          <a:solidFill>
            <a:srgbClr val="13344A"/>
          </a:solidFill>
          <a:ln/>
        </p:spPr>
      </p:sp>
      <p:sp>
        <p:nvSpPr>
          <p:cNvPr id="24" name="Text 19"/>
          <p:cNvSpPr/>
          <p:nvPr/>
        </p:nvSpPr>
        <p:spPr>
          <a:xfrm>
            <a:off x="5029200" y="5074920"/>
            <a:ext cx="2103120" cy="365760"/>
          </a:xfrm>
          <a:prstGeom prst="rect">
            <a:avLst/>
          </a:prstGeom>
          <a:noFill/>
          <a:ln/>
        </p:spPr>
        <p:txBody>
          <a:bodyPr wrap="square" lIns="0" tIns="0" rIns="0" bIns="0" rtlCol="0" anchor="ctr"/>
          <a:lstStyle/>
          <a:p>
            <a:pPr algn="ctr" indent="0" marL="0">
              <a:buNone/>
            </a:pPr>
            <a:r>
              <a:rPr lang="en-US" sz="950" b="1" spc="100" kern="0" dirty="0">
                <a:solidFill>
                  <a:srgbClr val="5EEAD4"/>
                </a:solidFill>
                <a:latin typeface="Calibri" pitchFamily="34" charset="0"/>
                <a:ea typeface="Calibri" pitchFamily="34" charset="-122"/>
                <a:cs typeface="Calibri" pitchFamily="34" charset="-120"/>
              </a:rPr>
              <a:t>AGENT GENERATES</a:t>
            </a:r>
            <a:endParaRPr lang="en-US" sz="950" dirty="0"/>
          </a:p>
        </p:txBody>
      </p:sp>
      <p:sp>
        <p:nvSpPr>
          <p:cNvPr id="25" name="Shape 20"/>
          <p:cNvSpPr/>
          <p:nvPr/>
        </p:nvSpPr>
        <p:spPr>
          <a:xfrm>
            <a:off x="8229600" y="2148840"/>
            <a:ext cx="3383280" cy="3429000"/>
          </a:xfrm>
          <a:prstGeom prst="roundRect">
            <a:avLst>
              <a:gd name="adj" fmla="val 3243"/>
            </a:avLst>
          </a:prstGeom>
          <a:solidFill>
            <a:srgbClr val="0E7C86"/>
          </a:solidFill>
          <a:ln/>
          <a:effectLst>
            <a:outerShdw sx="100000" sy="100000" kx="0" ky="0" algn="bl" rotWithShape="0" blurRad="88900" dist="38100" dir="5400000">
              <a:srgbClr val="0B2430">
                <a:alpha val="13000"/>
              </a:srgbClr>
            </a:outerShdw>
          </a:effectLst>
        </p:spPr>
      </p:sp>
      <p:sp>
        <p:nvSpPr>
          <p:cNvPr id="26" name="Shape 21"/>
          <p:cNvSpPr/>
          <p:nvPr/>
        </p:nvSpPr>
        <p:spPr>
          <a:xfrm>
            <a:off x="9555480" y="2423160"/>
            <a:ext cx="731520" cy="731520"/>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27" name="Image 3" descr="preencoded.png">    </p:cNvPr>
          <p:cNvPicPr>
            <a:picLocks noChangeAspect="1"/>
          </p:cNvPicPr>
          <p:nvPr/>
        </p:nvPicPr>
        <p:blipFill>
          <a:blip r:embed="rId4"/>
          <a:stretch>
            <a:fillRect/>
          </a:stretch>
        </p:blipFill>
        <p:spPr>
          <a:xfrm>
            <a:off x="9745675" y="2613355"/>
            <a:ext cx="351130" cy="351130"/>
          </a:xfrm>
          <a:prstGeom prst="rect">
            <a:avLst/>
          </a:prstGeom>
        </p:spPr>
      </p:pic>
      <p:sp>
        <p:nvSpPr>
          <p:cNvPr id="28" name="Text 22"/>
          <p:cNvSpPr/>
          <p:nvPr/>
        </p:nvSpPr>
        <p:spPr>
          <a:xfrm>
            <a:off x="8229600" y="3291840"/>
            <a:ext cx="3383280" cy="41148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Catalog</a:t>
            </a:r>
            <a:endParaRPr lang="en-US" sz="1900" dirty="0"/>
          </a:p>
        </p:txBody>
      </p:sp>
      <p:sp>
        <p:nvSpPr>
          <p:cNvPr id="29" name="Text 23"/>
          <p:cNvSpPr/>
          <p:nvPr/>
        </p:nvSpPr>
        <p:spPr>
          <a:xfrm>
            <a:off x="8229600" y="3703320"/>
            <a:ext cx="3383280" cy="292608"/>
          </a:xfrm>
          <a:prstGeom prst="rect">
            <a:avLst/>
          </a:prstGeom>
          <a:noFill/>
          <a:ln/>
        </p:spPr>
        <p:txBody>
          <a:bodyPr wrap="square" lIns="0" tIns="0" rIns="0" bIns="0" rtlCol="0" anchor="ctr"/>
          <a:lstStyle/>
          <a:p>
            <a:pPr algn="ctr" indent="0" marL="0">
              <a:buNone/>
            </a:pPr>
            <a:r>
              <a:rPr lang="en-US" sz="1100" dirty="0">
                <a:solidFill>
                  <a:srgbClr val="5EEAD4"/>
                </a:solidFill>
                <a:latin typeface="Consolas" pitchFamily="34" charset="0"/>
                <a:ea typeface="Consolas" pitchFamily="34" charset="-122"/>
                <a:cs typeface="Consolas" pitchFamily="34" charset="-120"/>
              </a:rPr>
              <a:t>client-side</a:t>
            </a:r>
            <a:endParaRPr lang="en-US" sz="1100" dirty="0"/>
          </a:p>
        </p:txBody>
      </p:sp>
      <p:sp>
        <p:nvSpPr>
          <p:cNvPr id="30" name="Text 24"/>
          <p:cNvSpPr/>
          <p:nvPr/>
        </p:nvSpPr>
        <p:spPr>
          <a:xfrm>
            <a:off x="8503920" y="4069080"/>
            <a:ext cx="2834640" cy="960120"/>
          </a:xfrm>
          <a:prstGeom prst="rect">
            <a:avLst/>
          </a:prstGeom>
          <a:noFill/>
          <a:ln/>
        </p:spPr>
        <p:txBody>
          <a:bodyPr wrap="square" lIns="0" tIns="0" rIns="0" bIns="0" rtlCol="0" anchor="t"/>
          <a:lstStyle/>
          <a:p>
            <a:pPr algn="ctr" indent="0" marL="0">
              <a:buNone/>
            </a:pPr>
            <a:r>
              <a:rPr lang="en-US" sz="1250" dirty="0">
                <a:solidFill>
                  <a:srgbClr val="D6E5EC"/>
                </a:solidFill>
                <a:latin typeface="Calibri" pitchFamily="34" charset="0"/>
                <a:ea typeface="Calibri" pitchFamily="34" charset="-122"/>
                <a:cs typeface="Calibri" pitchFamily="34" charset="-120"/>
              </a:rPr>
              <a:t>The map of component names to native widgets. Never in the stream.</a:t>
            </a:r>
            <a:endParaRPr lang="en-US" sz="1250" dirty="0"/>
          </a:p>
        </p:txBody>
      </p:sp>
      <p:sp>
        <p:nvSpPr>
          <p:cNvPr id="31" name="Shape 25"/>
          <p:cNvSpPr/>
          <p:nvPr/>
        </p:nvSpPr>
        <p:spPr>
          <a:xfrm>
            <a:off x="8869680" y="5074920"/>
            <a:ext cx="2103120" cy="365760"/>
          </a:xfrm>
          <a:prstGeom prst="roundRect">
            <a:avLst>
              <a:gd name="adj" fmla="val 50000"/>
            </a:avLst>
          </a:prstGeom>
          <a:solidFill>
            <a:srgbClr val="0E2330"/>
          </a:solidFill>
          <a:ln/>
        </p:spPr>
      </p:sp>
      <p:sp>
        <p:nvSpPr>
          <p:cNvPr id="32" name="Text 26"/>
          <p:cNvSpPr/>
          <p:nvPr/>
        </p:nvSpPr>
        <p:spPr>
          <a:xfrm>
            <a:off x="8869680" y="5074920"/>
            <a:ext cx="2103120" cy="365760"/>
          </a:xfrm>
          <a:prstGeom prst="rect">
            <a:avLst/>
          </a:prstGeom>
          <a:noFill/>
          <a:ln/>
        </p:spPr>
        <p:txBody>
          <a:bodyPr wrap="square" lIns="0" tIns="0" rIns="0" bIns="0" rtlCol="0" anchor="ctr"/>
          <a:lstStyle/>
          <a:p>
            <a:pPr algn="ctr" indent="0" marL="0">
              <a:buNone/>
            </a:pPr>
            <a:r>
              <a:rPr lang="en-US" sz="950" b="1" spc="100" kern="0" dirty="0">
                <a:solidFill>
                  <a:srgbClr val="E8951C"/>
                </a:solidFill>
                <a:latin typeface="Calibri" pitchFamily="34" charset="0"/>
                <a:ea typeface="Calibri" pitchFamily="34" charset="-122"/>
                <a:cs typeface="Calibri" pitchFamily="34" charset="-120"/>
              </a:rPr>
              <a:t>CLIENT OWNS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VOCABULARY</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Core concepts, defined once</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17</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874520"/>
            <a:ext cx="5349240" cy="1691640"/>
          </a:xfrm>
          <a:prstGeom prst="roundRect">
            <a:avLst>
              <a:gd name="adj" fmla="val 648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9" name="Shape 6"/>
          <p:cNvSpPr/>
          <p:nvPr/>
        </p:nvSpPr>
        <p:spPr>
          <a:xfrm>
            <a:off x="822960" y="2167128"/>
            <a:ext cx="640080" cy="64008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989381" y="2333549"/>
            <a:ext cx="307238" cy="307238"/>
          </a:xfrm>
          <a:prstGeom prst="rect">
            <a:avLst/>
          </a:prstGeom>
        </p:spPr>
      </p:pic>
      <p:sp>
        <p:nvSpPr>
          <p:cNvPr id="11" name="Text 7"/>
          <p:cNvSpPr/>
          <p:nvPr/>
        </p:nvSpPr>
        <p:spPr>
          <a:xfrm>
            <a:off x="1664208" y="2148840"/>
            <a:ext cx="4023360" cy="457200"/>
          </a:xfrm>
          <a:prstGeom prst="rect">
            <a:avLst/>
          </a:prstGeom>
          <a:noFill/>
          <a:ln/>
        </p:spPr>
        <p:txBody>
          <a:bodyPr wrap="square" lIns="0" tIns="0" rIns="0" bIns="0" rtlCol="0" anchor="ctr"/>
          <a:lstStyle/>
          <a:p>
            <a:pPr indent="0" marL="0">
              <a:buNone/>
            </a:pPr>
            <a:r>
              <a:rPr lang="en-US" sz="1800" b="1" dirty="0">
                <a:solidFill>
                  <a:srgbClr val="0E2330"/>
                </a:solidFill>
                <a:latin typeface="Cambria" pitchFamily="34" charset="0"/>
                <a:ea typeface="Cambria" pitchFamily="34" charset="-122"/>
                <a:cs typeface="Cambria" pitchFamily="34" charset="-120"/>
              </a:rPr>
              <a:t>Surface</a:t>
            </a:r>
            <a:endParaRPr lang="en-US" sz="1800" dirty="0"/>
          </a:p>
        </p:txBody>
      </p:sp>
      <p:sp>
        <p:nvSpPr>
          <p:cNvPr id="12" name="Text 8"/>
          <p:cNvSpPr/>
          <p:nvPr/>
        </p:nvSpPr>
        <p:spPr>
          <a:xfrm>
            <a:off x="1664208" y="2651760"/>
            <a:ext cx="4069080" cy="82296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A region of the screen with its own root component and its own data model. One chat reply = one surface.</a:t>
            </a:r>
            <a:endParaRPr lang="en-US" sz="1250" dirty="0"/>
          </a:p>
        </p:txBody>
      </p:sp>
      <p:sp>
        <p:nvSpPr>
          <p:cNvPr id="13" name="Shape 9"/>
          <p:cNvSpPr/>
          <p:nvPr/>
        </p:nvSpPr>
        <p:spPr>
          <a:xfrm>
            <a:off x="6263640" y="1874520"/>
            <a:ext cx="5349240" cy="1691640"/>
          </a:xfrm>
          <a:prstGeom prst="roundRect">
            <a:avLst>
              <a:gd name="adj" fmla="val 648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4" name="Shape 10"/>
          <p:cNvSpPr/>
          <p:nvPr/>
        </p:nvSpPr>
        <p:spPr>
          <a:xfrm>
            <a:off x="6537960" y="2167128"/>
            <a:ext cx="640080" cy="64008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5" name="Image 2" descr="preencoded.png">    </p:cNvPr>
          <p:cNvPicPr>
            <a:picLocks noChangeAspect="1"/>
          </p:cNvPicPr>
          <p:nvPr/>
        </p:nvPicPr>
        <p:blipFill>
          <a:blip r:embed="rId3"/>
          <a:stretch>
            <a:fillRect/>
          </a:stretch>
        </p:blipFill>
        <p:spPr>
          <a:xfrm>
            <a:off x="6704381" y="2333549"/>
            <a:ext cx="307238" cy="307238"/>
          </a:xfrm>
          <a:prstGeom prst="rect">
            <a:avLst/>
          </a:prstGeom>
        </p:spPr>
      </p:pic>
      <p:sp>
        <p:nvSpPr>
          <p:cNvPr id="16" name="Text 11"/>
          <p:cNvSpPr/>
          <p:nvPr/>
        </p:nvSpPr>
        <p:spPr>
          <a:xfrm>
            <a:off x="7379208" y="2148840"/>
            <a:ext cx="4023360" cy="457200"/>
          </a:xfrm>
          <a:prstGeom prst="rect">
            <a:avLst/>
          </a:prstGeom>
          <a:noFill/>
          <a:ln/>
        </p:spPr>
        <p:txBody>
          <a:bodyPr wrap="square" lIns="0" tIns="0" rIns="0" bIns="0" rtlCol="0" anchor="ctr"/>
          <a:lstStyle/>
          <a:p>
            <a:pPr indent="0" marL="0">
              <a:buNone/>
            </a:pPr>
            <a:r>
              <a:rPr lang="en-US" sz="1800" b="1" dirty="0">
                <a:solidFill>
                  <a:srgbClr val="0E2330"/>
                </a:solidFill>
                <a:latin typeface="Cambria" pitchFamily="34" charset="0"/>
                <a:ea typeface="Cambria" pitchFamily="34" charset="-122"/>
                <a:cs typeface="Cambria" pitchFamily="34" charset="-120"/>
              </a:rPr>
              <a:t>Component</a:t>
            </a:r>
            <a:endParaRPr lang="en-US" sz="1800" dirty="0"/>
          </a:p>
        </p:txBody>
      </p:sp>
      <p:sp>
        <p:nvSpPr>
          <p:cNvPr id="17" name="Text 12"/>
          <p:cNvSpPr/>
          <p:nvPr/>
        </p:nvSpPr>
        <p:spPr>
          <a:xfrm>
            <a:off x="7379208" y="2651760"/>
            <a:ext cx="4069080" cy="82296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A node: Text, Row, Card, Button. A wrapper object with exactly one type key.</a:t>
            </a:r>
            <a:endParaRPr lang="en-US" sz="1250" dirty="0"/>
          </a:p>
        </p:txBody>
      </p:sp>
      <p:sp>
        <p:nvSpPr>
          <p:cNvPr id="18" name="Shape 13"/>
          <p:cNvSpPr/>
          <p:nvPr/>
        </p:nvSpPr>
        <p:spPr>
          <a:xfrm>
            <a:off x="548640" y="3749040"/>
            <a:ext cx="5349240" cy="1691640"/>
          </a:xfrm>
          <a:prstGeom prst="roundRect">
            <a:avLst>
              <a:gd name="adj" fmla="val 648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9" name="Shape 14"/>
          <p:cNvSpPr/>
          <p:nvPr/>
        </p:nvSpPr>
        <p:spPr>
          <a:xfrm>
            <a:off x="822960" y="4041648"/>
            <a:ext cx="640080" cy="64008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0" name="Image 3" descr="preencoded.png">    </p:cNvPr>
          <p:cNvPicPr>
            <a:picLocks noChangeAspect="1"/>
          </p:cNvPicPr>
          <p:nvPr/>
        </p:nvPicPr>
        <p:blipFill>
          <a:blip r:embed="rId4"/>
          <a:stretch>
            <a:fillRect/>
          </a:stretch>
        </p:blipFill>
        <p:spPr>
          <a:xfrm>
            <a:off x="989381" y="4208069"/>
            <a:ext cx="307238" cy="307238"/>
          </a:xfrm>
          <a:prstGeom prst="rect">
            <a:avLst/>
          </a:prstGeom>
        </p:spPr>
      </p:pic>
      <p:sp>
        <p:nvSpPr>
          <p:cNvPr id="21" name="Text 15"/>
          <p:cNvSpPr/>
          <p:nvPr/>
        </p:nvSpPr>
        <p:spPr>
          <a:xfrm>
            <a:off x="1664208" y="4023360"/>
            <a:ext cx="4023360" cy="457200"/>
          </a:xfrm>
          <a:prstGeom prst="rect">
            <a:avLst/>
          </a:prstGeom>
          <a:noFill/>
          <a:ln/>
        </p:spPr>
        <p:txBody>
          <a:bodyPr wrap="square" lIns="0" tIns="0" rIns="0" bIns="0" rtlCol="0" anchor="ctr"/>
          <a:lstStyle/>
          <a:p>
            <a:pPr indent="0" marL="0">
              <a:buNone/>
            </a:pPr>
            <a:r>
              <a:rPr lang="en-US" sz="1800" b="1" dirty="0">
                <a:solidFill>
                  <a:srgbClr val="0E2330"/>
                </a:solidFill>
                <a:latin typeface="Cambria" pitchFamily="34" charset="0"/>
                <a:ea typeface="Cambria" pitchFamily="34" charset="-122"/>
                <a:cs typeface="Cambria" pitchFamily="34" charset="-120"/>
              </a:rPr>
              <a:t>Data model</a:t>
            </a:r>
            <a:endParaRPr lang="en-US" sz="1800" dirty="0"/>
          </a:p>
        </p:txBody>
      </p:sp>
      <p:sp>
        <p:nvSpPr>
          <p:cNvPr id="22" name="Text 16"/>
          <p:cNvSpPr/>
          <p:nvPr/>
        </p:nvSpPr>
        <p:spPr>
          <a:xfrm>
            <a:off x="1664208" y="4526280"/>
            <a:ext cx="4069080" cy="82296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Per-surface JSON state that the components bind to via paths.</a:t>
            </a:r>
            <a:endParaRPr lang="en-US" sz="1250" dirty="0"/>
          </a:p>
        </p:txBody>
      </p:sp>
      <p:sp>
        <p:nvSpPr>
          <p:cNvPr id="23" name="Shape 17"/>
          <p:cNvSpPr/>
          <p:nvPr/>
        </p:nvSpPr>
        <p:spPr>
          <a:xfrm>
            <a:off x="6263640" y="3749040"/>
            <a:ext cx="5349240" cy="1691640"/>
          </a:xfrm>
          <a:prstGeom prst="roundRect">
            <a:avLst>
              <a:gd name="adj" fmla="val 648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4" name="Shape 18"/>
          <p:cNvSpPr/>
          <p:nvPr/>
        </p:nvSpPr>
        <p:spPr>
          <a:xfrm>
            <a:off x="6537960" y="4041648"/>
            <a:ext cx="640080" cy="64008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5" name="Image 4" descr="preencoded.png">    </p:cNvPr>
          <p:cNvPicPr>
            <a:picLocks noChangeAspect="1"/>
          </p:cNvPicPr>
          <p:nvPr/>
        </p:nvPicPr>
        <p:blipFill>
          <a:blip r:embed="rId5"/>
          <a:stretch>
            <a:fillRect/>
          </a:stretch>
        </p:blipFill>
        <p:spPr>
          <a:xfrm>
            <a:off x="6704381" y="4208069"/>
            <a:ext cx="307238" cy="307238"/>
          </a:xfrm>
          <a:prstGeom prst="rect">
            <a:avLst/>
          </a:prstGeom>
        </p:spPr>
      </p:pic>
      <p:sp>
        <p:nvSpPr>
          <p:cNvPr id="26" name="Text 19"/>
          <p:cNvSpPr/>
          <p:nvPr/>
        </p:nvSpPr>
        <p:spPr>
          <a:xfrm>
            <a:off x="7379208" y="4023360"/>
            <a:ext cx="4023360" cy="457200"/>
          </a:xfrm>
          <a:prstGeom prst="rect">
            <a:avLst/>
          </a:prstGeom>
          <a:noFill/>
          <a:ln/>
        </p:spPr>
        <p:txBody>
          <a:bodyPr wrap="square" lIns="0" tIns="0" rIns="0" bIns="0" rtlCol="0" anchor="ctr"/>
          <a:lstStyle/>
          <a:p>
            <a:pPr indent="0" marL="0">
              <a:buNone/>
            </a:pPr>
            <a:r>
              <a:rPr lang="en-US" sz="1800" b="1" dirty="0">
                <a:solidFill>
                  <a:srgbClr val="0E2330"/>
                </a:solidFill>
                <a:latin typeface="Cambria" pitchFamily="34" charset="0"/>
                <a:ea typeface="Cambria" pitchFamily="34" charset="-122"/>
                <a:cs typeface="Cambria" pitchFamily="34" charset="-120"/>
              </a:rPr>
              <a:t>Catalog</a:t>
            </a:r>
            <a:endParaRPr lang="en-US" sz="1800" dirty="0"/>
          </a:p>
        </p:txBody>
      </p:sp>
      <p:sp>
        <p:nvSpPr>
          <p:cNvPr id="27" name="Text 20"/>
          <p:cNvSpPr/>
          <p:nvPr/>
        </p:nvSpPr>
        <p:spPr>
          <a:xfrm>
            <a:off x="7379208" y="4526280"/>
            <a:ext cx="4069080" cy="82296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The set of component types this client knows how to render. The trusted menu.</a:t>
            </a:r>
            <a:endParaRPr lang="en-US" sz="1250" dirty="0"/>
          </a:p>
        </p:txBody>
      </p:sp>
      <p:sp>
        <p:nvSpPr>
          <p:cNvPr id="28" name="Text 21"/>
          <p:cNvSpPr/>
          <p:nvPr/>
        </p:nvSpPr>
        <p:spPr>
          <a:xfrm>
            <a:off x="548640" y="5623560"/>
            <a:ext cx="11064240" cy="365760"/>
          </a:xfrm>
          <a:prstGeom prst="rect">
            <a:avLst/>
          </a:prstGeom>
          <a:noFill/>
          <a:ln/>
        </p:spPr>
        <p:txBody>
          <a:bodyPr wrap="square" lIns="0" tIns="0" rIns="0" bIns="0" rtlCol="0" anchor="ctr"/>
          <a:lstStyle/>
          <a:p>
            <a:pPr algn="ctr" indent="0" marL="0">
              <a:buNone/>
            </a:pPr>
            <a:r>
              <a:rPr lang="en-US" sz="1200" i="1" dirty="0">
                <a:solidFill>
                  <a:srgbClr val="5B7383"/>
                </a:solidFill>
                <a:latin typeface="Calibri" pitchFamily="34" charset="0"/>
                <a:ea typeface="Calibri" pitchFamily="34" charset="-122"/>
                <a:cs typeface="Calibri" pitchFamily="34" charset="-120"/>
              </a:rPr>
              <a:t>Surfaces let one stream drive multiple independent regions, each with isolated state so keys never collide.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CLEVER BIT</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Why A2UI sends a flat list, not a tree</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18</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dirty="0">
                <a:solidFill>
                  <a:srgbClr val="5B7383"/>
                </a:solidFill>
                <a:latin typeface="Calibri" pitchFamily="34" charset="0"/>
                <a:ea typeface="Calibri" pitchFamily="34" charset="-122"/>
                <a:cs typeface="Calibri" pitchFamily="34" charset="-120"/>
              </a:rPr>
              <a:t>Parents reference children by string ID. The client rebuilds the tree at render time.</a:t>
            </a:r>
            <a:endParaRPr lang="en-US" sz="1400" dirty="0"/>
          </a:p>
        </p:txBody>
      </p:sp>
      <p:sp>
        <p:nvSpPr>
          <p:cNvPr id="9" name="Shape 6"/>
          <p:cNvSpPr/>
          <p:nvPr/>
        </p:nvSpPr>
        <p:spPr>
          <a:xfrm>
            <a:off x="548640" y="2148840"/>
            <a:ext cx="5074920" cy="3337560"/>
          </a:xfrm>
          <a:prstGeom prst="roundRect">
            <a:avLst>
              <a:gd name="adj" fmla="val 2192"/>
            </a:avLst>
          </a:prstGeom>
          <a:solidFill>
            <a:srgbClr val="0A1B26"/>
          </a:solidFill>
          <a:ln/>
          <a:effectLst>
            <a:outerShdw sx="100000" sy="100000" kx="0" ky="0" algn="bl" rotWithShape="0" blurRad="88900" dist="38100" dir="5400000">
              <a:srgbClr val="0B2430">
                <a:alpha val="13000"/>
              </a:srgbClr>
            </a:outerShdw>
          </a:effectLst>
        </p:spPr>
      </p:sp>
      <p:sp>
        <p:nvSpPr>
          <p:cNvPr id="10" name="Text 7"/>
          <p:cNvSpPr/>
          <p:nvPr/>
        </p:nvSpPr>
        <p:spPr>
          <a:xfrm>
            <a:off x="749808" y="2258568"/>
            <a:ext cx="4672584" cy="274320"/>
          </a:xfrm>
          <a:prstGeom prst="rect">
            <a:avLst/>
          </a:prstGeom>
          <a:noFill/>
          <a:ln/>
        </p:spPr>
        <p:txBody>
          <a:bodyPr wrap="square" lIns="0" tIns="0" rIns="0" bIns="0" rtlCol="0" anchor="ctr"/>
          <a:lstStyle/>
          <a:p>
            <a:pPr indent="0" marL="0">
              <a:buNone/>
            </a:pPr>
            <a:r>
              <a:rPr lang="en-US" sz="1050" b="1" dirty="0">
                <a:solidFill>
                  <a:srgbClr val="5EEAD4"/>
                </a:solidFill>
                <a:latin typeface="Consolas" pitchFamily="34" charset="0"/>
                <a:ea typeface="Consolas" pitchFamily="34" charset="-122"/>
                <a:cs typeface="Consolas" pitchFamily="34" charset="-120"/>
              </a:rPr>
              <a:t>// what the agent streams (flat)</a:t>
            </a:r>
            <a:endParaRPr lang="en-US" sz="1050" dirty="0"/>
          </a:p>
        </p:txBody>
      </p:sp>
      <p:sp>
        <p:nvSpPr>
          <p:cNvPr id="11" name="Text 8"/>
          <p:cNvSpPr/>
          <p:nvPr/>
        </p:nvSpPr>
        <p:spPr>
          <a:xfrm>
            <a:off x="749808" y="2569464"/>
            <a:ext cx="4672584" cy="2788920"/>
          </a:xfrm>
          <a:prstGeom prst="rect">
            <a:avLst/>
          </a:prstGeom>
          <a:noFill/>
          <a:ln/>
        </p:spPr>
        <p:txBody>
          <a:bodyPr wrap="square" lIns="0" tIns="0" rIns="0" bIns="0" rtlCol="0" anchor="t"/>
          <a:lstStyle/>
          <a:p>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surfaceUpdate: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 id: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"root"</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Card: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children: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"title","btn"</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 id: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"title"</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Text: {...}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 id: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"btn"</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Button: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child: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"btn_label"</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 id: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"btn_label"</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Text: {...} }</a:t>
            </a:r>
            <a:endParaRPr lang="en-US" sz="960" dirty="0"/>
          </a:p>
          <a:p>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a:t>
            </a:r>
            <a:endParaRPr lang="en-US" sz="960" dirty="0"/>
          </a:p>
          <a:p>
            <a:pPr indent="0" marL="0">
              <a:lnSpc>
                <a:spcPct val="106000"/>
              </a:lnSpc>
              <a:buNone/>
            </a:pPr>
            <a:endParaRPr lang="en-US" sz="960" dirty="0"/>
          </a:p>
          <a:p>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beginRendering: { root: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"root"</a:t>
            </a:r>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 }</a:t>
            </a:r>
            <a:endParaRPr lang="en-US" sz="960" dirty="0"/>
          </a:p>
        </p:txBody>
      </p:sp>
      <p:sp>
        <p:nvSpPr>
          <p:cNvPr id="12" name="Shape 9"/>
          <p:cNvSpPr/>
          <p:nvPr/>
        </p:nvSpPr>
        <p:spPr>
          <a:xfrm>
            <a:off x="5715000" y="3794760"/>
            <a:ext cx="502920" cy="0"/>
          </a:xfrm>
          <a:prstGeom prst="line">
            <a:avLst/>
          </a:prstGeom>
          <a:noFill/>
          <a:ln w="38100">
            <a:solidFill>
              <a:srgbClr val="0E7C86"/>
            </a:solidFill>
            <a:prstDash val="solid"/>
            <a:tailEnd type="triangle"/>
          </a:ln>
        </p:spPr>
      </p:sp>
      <p:sp>
        <p:nvSpPr>
          <p:cNvPr id="13" name="Text 10"/>
          <p:cNvSpPr/>
          <p:nvPr/>
        </p:nvSpPr>
        <p:spPr>
          <a:xfrm>
            <a:off x="5577840" y="3886200"/>
            <a:ext cx="777240" cy="457200"/>
          </a:xfrm>
          <a:prstGeom prst="rect">
            <a:avLst/>
          </a:prstGeom>
          <a:noFill/>
          <a:ln/>
        </p:spPr>
        <p:txBody>
          <a:bodyPr wrap="square" lIns="0" tIns="0" rIns="0" bIns="0" rtlCol="0" anchor="ctr"/>
          <a:lstStyle/>
          <a:p>
            <a:pPr algn="ctr" indent="0" marL="0">
              <a:buNone/>
            </a:pPr>
            <a:r>
              <a:rPr lang="en-US" sz="850" dirty="0">
                <a:solidFill>
                  <a:srgbClr val="0E7C86"/>
                </a:solidFill>
                <a:latin typeface="Consolas" pitchFamily="34" charset="0"/>
                <a:ea typeface="Consolas" pitchFamily="34" charset="-122"/>
                <a:cs typeface="Consolas" pitchFamily="34" charset="-120"/>
              </a:rPr>
              <a:t>client</a:t>
            </a:r>
            <a:endParaRPr lang="en-US" sz="850" dirty="0"/>
          </a:p>
          <a:p>
            <a:pPr algn="ctr" indent="0" marL="0">
              <a:buNone/>
            </a:pPr>
            <a:r>
              <a:rPr lang="en-US" sz="850" dirty="0">
                <a:solidFill>
                  <a:srgbClr val="0E7C86"/>
                </a:solidFill>
                <a:latin typeface="Consolas" pitchFamily="34" charset="0"/>
                <a:ea typeface="Consolas" pitchFamily="34" charset="-122"/>
                <a:cs typeface="Consolas" pitchFamily="34" charset="-120"/>
              </a:rPr>
              <a:t>rebuilds</a:t>
            </a:r>
            <a:endParaRPr lang="en-US" sz="850" dirty="0"/>
          </a:p>
        </p:txBody>
      </p:sp>
      <p:sp>
        <p:nvSpPr>
          <p:cNvPr id="14" name="Shape 11"/>
          <p:cNvSpPr/>
          <p:nvPr/>
        </p:nvSpPr>
        <p:spPr>
          <a:xfrm>
            <a:off x="6446520" y="2148840"/>
            <a:ext cx="5166360" cy="3337560"/>
          </a:xfrm>
          <a:prstGeom prst="roundRect">
            <a:avLst>
              <a:gd name="adj" fmla="val 3288"/>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5" name="Text 12"/>
          <p:cNvSpPr/>
          <p:nvPr/>
        </p:nvSpPr>
        <p:spPr>
          <a:xfrm>
            <a:off x="6675120" y="2286000"/>
            <a:ext cx="4572000" cy="274320"/>
          </a:xfrm>
          <a:prstGeom prst="rect">
            <a:avLst/>
          </a:prstGeom>
          <a:noFill/>
          <a:ln/>
        </p:spPr>
        <p:txBody>
          <a:bodyPr wrap="square" lIns="0" tIns="0" rIns="0" bIns="0" rtlCol="0" anchor="ctr"/>
          <a:lstStyle/>
          <a:p>
            <a:pPr indent="0" marL="0">
              <a:buNone/>
            </a:pPr>
            <a:r>
              <a:rPr lang="en-US" sz="1050" b="1" dirty="0">
                <a:solidFill>
                  <a:srgbClr val="0E7C86"/>
                </a:solidFill>
                <a:latin typeface="Consolas" pitchFamily="34" charset="0"/>
                <a:ea typeface="Consolas" pitchFamily="34" charset="-122"/>
                <a:cs typeface="Consolas" pitchFamily="34" charset="-120"/>
              </a:rPr>
              <a:t>rebuilt tree, at render</a:t>
            </a:r>
            <a:endParaRPr lang="en-US" sz="1050" dirty="0"/>
          </a:p>
        </p:txBody>
      </p:sp>
      <p:sp>
        <p:nvSpPr>
          <p:cNvPr id="16" name="Shape 13"/>
          <p:cNvSpPr/>
          <p:nvPr/>
        </p:nvSpPr>
        <p:spPr>
          <a:xfrm>
            <a:off x="6903720" y="2743200"/>
            <a:ext cx="2194560" cy="438912"/>
          </a:xfrm>
          <a:prstGeom prst="roundRect">
            <a:avLst>
              <a:gd name="adj" fmla="val 12500"/>
            </a:avLst>
          </a:prstGeom>
          <a:solidFill>
            <a:srgbClr val="0E2330"/>
          </a:solidFill>
          <a:ln/>
        </p:spPr>
      </p:sp>
      <p:sp>
        <p:nvSpPr>
          <p:cNvPr id="17" name="Text 14"/>
          <p:cNvSpPr/>
          <p:nvPr/>
        </p:nvSpPr>
        <p:spPr>
          <a:xfrm>
            <a:off x="6903720" y="2743200"/>
            <a:ext cx="219456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Card  (root)</a:t>
            </a:r>
            <a:endParaRPr lang="en-US" sz="1050" dirty="0"/>
          </a:p>
        </p:txBody>
      </p:sp>
      <p:sp>
        <p:nvSpPr>
          <p:cNvPr id="18" name="Shape 15"/>
          <p:cNvSpPr/>
          <p:nvPr/>
        </p:nvSpPr>
        <p:spPr>
          <a:xfrm>
            <a:off x="7315200" y="3182112"/>
            <a:ext cx="0" cy="868680"/>
          </a:xfrm>
          <a:prstGeom prst="line">
            <a:avLst/>
          </a:prstGeom>
          <a:noFill/>
          <a:ln w="19050">
            <a:solidFill>
              <a:srgbClr val="CBD9E0"/>
            </a:solidFill>
            <a:prstDash val="solid"/>
          </a:ln>
        </p:spPr>
      </p:sp>
      <p:sp>
        <p:nvSpPr>
          <p:cNvPr id="19" name="Shape 16"/>
          <p:cNvSpPr/>
          <p:nvPr/>
        </p:nvSpPr>
        <p:spPr>
          <a:xfrm>
            <a:off x="7315200" y="4050792"/>
            <a:ext cx="1280160" cy="0"/>
          </a:xfrm>
          <a:prstGeom prst="line">
            <a:avLst/>
          </a:prstGeom>
          <a:noFill/>
          <a:ln w="19050">
            <a:solidFill>
              <a:srgbClr val="CBD9E0"/>
            </a:solidFill>
            <a:prstDash val="solid"/>
          </a:ln>
        </p:spPr>
      </p:sp>
      <p:sp>
        <p:nvSpPr>
          <p:cNvPr id="20" name="Shape 17"/>
          <p:cNvSpPr/>
          <p:nvPr/>
        </p:nvSpPr>
        <p:spPr>
          <a:xfrm>
            <a:off x="7452360" y="3310128"/>
            <a:ext cx="2103120" cy="438912"/>
          </a:xfrm>
          <a:prstGeom prst="roundRect">
            <a:avLst>
              <a:gd name="adj" fmla="val 12500"/>
            </a:avLst>
          </a:prstGeom>
          <a:solidFill>
            <a:srgbClr val="0E7C86"/>
          </a:solidFill>
          <a:ln/>
        </p:spPr>
      </p:sp>
      <p:sp>
        <p:nvSpPr>
          <p:cNvPr id="21" name="Text 18"/>
          <p:cNvSpPr/>
          <p:nvPr/>
        </p:nvSpPr>
        <p:spPr>
          <a:xfrm>
            <a:off x="7452360" y="3310128"/>
            <a:ext cx="210312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Text  "title"</a:t>
            </a:r>
            <a:endParaRPr lang="en-US" sz="1050" dirty="0"/>
          </a:p>
        </p:txBody>
      </p:sp>
      <p:sp>
        <p:nvSpPr>
          <p:cNvPr id="22" name="Shape 19"/>
          <p:cNvSpPr/>
          <p:nvPr/>
        </p:nvSpPr>
        <p:spPr>
          <a:xfrm>
            <a:off x="8595360" y="3840480"/>
            <a:ext cx="1554480" cy="438912"/>
          </a:xfrm>
          <a:prstGeom prst="roundRect">
            <a:avLst>
              <a:gd name="adj" fmla="val 12500"/>
            </a:avLst>
          </a:prstGeom>
          <a:solidFill>
            <a:srgbClr val="E8951C"/>
          </a:solidFill>
          <a:ln/>
        </p:spPr>
      </p:sp>
      <p:sp>
        <p:nvSpPr>
          <p:cNvPr id="23" name="Text 20"/>
          <p:cNvSpPr/>
          <p:nvPr/>
        </p:nvSpPr>
        <p:spPr>
          <a:xfrm>
            <a:off x="8595360" y="3840480"/>
            <a:ext cx="1554480" cy="438912"/>
          </a:xfrm>
          <a:prstGeom prst="rect">
            <a:avLst/>
          </a:prstGeom>
          <a:noFill/>
          <a:ln/>
        </p:spPr>
        <p:txBody>
          <a:bodyPr wrap="square" lIns="0" tIns="0" rIns="0" bIns="0" rtlCol="0" anchor="ctr"/>
          <a:lstStyle/>
          <a:p>
            <a:pPr algn="ctr" indent="0" marL="0">
              <a:buNone/>
            </a:pPr>
            <a:r>
              <a:rPr lang="en-US" sz="1050" b="1" dirty="0">
                <a:solidFill>
                  <a:srgbClr val="0E2330"/>
                </a:solidFill>
                <a:latin typeface="Consolas" pitchFamily="34" charset="0"/>
                <a:ea typeface="Consolas" pitchFamily="34" charset="-122"/>
                <a:cs typeface="Consolas" pitchFamily="34" charset="-120"/>
              </a:rPr>
              <a:t>Button</a:t>
            </a:r>
            <a:endParaRPr lang="en-US" sz="1050" dirty="0"/>
          </a:p>
        </p:txBody>
      </p:sp>
      <p:sp>
        <p:nvSpPr>
          <p:cNvPr id="24" name="Shape 21"/>
          <p:cNvSpPr/>
          <p:nvPr/>
        </p:nvSpPr>
        <p:spPr>
          <a:xfrm>
            <a:off x="9372600" y="4279392"/>
            <a:ext cx="0" cy="384048"/>
          </a:xfrm>
          <a:prstGeom prst="line">
            <a:avLst/>
          </a:prstGeom>
          <a:noFill/>
          <a:ln w="19050">
            <a:solidFill>
              <a:srgbClr val="CBD9E0"/>
            </a:solidFill>
            <a:prstDash val="solid"/>
          </a:ln>
        </p:spPr>
      </p:sp>
      <p:sp>
        <p:nvSpPr>
          <p:cNvPr id="25" name="Shape 22"/>
          <p:cNvSpPr/>
          <p:nvPr/>
        </p:nvSpPr>
        <p:spPr>
          <a:xfrm>
            <a:off x="9052560" y="4663440"/>
            <a:ext cx="2103120" cy="438912"/>
          </a:xfrm>
          <a:prstGeom prst="roundRect">
            <a:avLst>
              <a:gd name="adj" fmla="val 12500"/>
            </a:avLst>
          </a:prstGeom>
          <a:solidFill>
            <a:srgbClr val="0E7C86"/>
          </a:solidFill>
          <a:ln/>
        </p:spPr>
      </p:sp>
      <p:sp>
        <p:nvSpPr>
          <p:cNvPr id="26" name="Text 23"/>
          <p:cNvSpPr/>
          <p:nvPr/>
        </p:nvSpPr>
        <p:spPr>
          <a:xfrm>
            <a:off x="9052560" y="4663440"/>
            <a:ext cx="210312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nsolas" pitchFamily="34" charset="0"/>
                <a:ea typeface="Consolas" pitchFamily="34" charset="-122"/>
                <a:cs typeface="Consolas" pitchFamily="34" charset="-120"/>
              </a:rPr>
              <a:t>Text "label"</a:t>
            </a:r>
            <a:endParaRPr lang="en-US" sz="1050" dirty="0"/>
          </a:p>
        </p:txBody>
      </p:sp>
      <p:sp>
        <p:nvSpPr>
          <p:cNvPr id="27" name="Text 24"/>
          <p:cNvSpPr/>
          <p:nvPr/>
        </p:nvSpPr>
        <p:spPr>
          <a:xfrm>
            <a:off x="548640" y="5669280"/>
            <a:ext cx="11064240" cy="457200"/>
          </a:xfrm>
          <a:prstGeom prst="rect">
            <a:avLst/>
          </a:prstGeom>
          <a:noFill/>
          <a:ln/>
        </p:spPr>
        <p:txBody>
          <a:bodyPr wrap="square" lIns="0" tIns="0" rIns="0" bIns="0" rtlCol="0" anchor="t"/>
          <a:lstStyle/>
          <a:p>
            <a:pPr indent="0" marL="0">
              <a:buNone/>
            </a:pPr>
            <a:r>
              <a:rPr lang="en-US" sz="1200" b="1" dirty="0">
                <a:solidFill>
                  <a:srgbClr val="0E2330"/>
                </a:solidFill>
                <a:latin typeface="Calibri" pitchFamily="34" charset="0"/>
                <a:ea typeface="Calibri" pitchFamily="34" charset="-122"/>
                <a:cs typeface="Calibri" pitchFamily="34" charset="-120"/>
              </a:rPr>
              <a:t>Why flat? </a:t>
            </a:r>
            <a:pPr indent="0" marL="0">
              <a:buNone/>
            </a:pPr>
            <a:r>
              <a:rPr lang="en-US" sz="1200" dirty="0">
                <a:solidFill>
                  <a:srgbClr val="12242E"/>
                </a:solidFill>
                <a:latin typeface="Calibri" pitchFamily="34" charset="0"/>
                <a:ea typeface="Calibri" pitchFamily="34" charset="-122"/>
                <a:cs typeface="Calibri" pitchFamily="34" charset="-120"/>
              </a:rPr>
              <a:t>An LLM nesting a deep tree in one pass is error-prone. A flat list keyed by IDs streams in any order and is robust to mistakes.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CONNECTING VALUES</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Data binding: literal, path, or both</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19</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dirty="0">
                <a:solidFill>
                  <a:srgbClr val="5B7383"/>
                </a:solidFill>
                <a:latin typeface="Calibri" pitchFamily="34" charset="0"/>
                <a:ea typeface="Calibri" pitchFamily="34" charset="-122"/>
                <a:cs typeface="Calibri" pitchFamily="34" charset="-120"/>
              </a:rPr>
              <a:t>Any bindable property takes a BoundValue. Three shapes, one rule: binding is 1:1, with no formatters.</a:t>
            </a:r>
            <a:endParaRPr lang="en-US" sz="1400" dirty="0"/>
          </a:p>
        </p:txBody>
      </p:sp>
      <p:sp>
        <p:nvSpPr>
          <p:cNvPr id="9" name="Shape 6"/>
          <p:cNvSpPr/>
          <p:nvPr/>
        </p:nvSpPr>
        <p:spPr>
          <a:xfrm>
            <a:off x="548640" y="2148840"/>
            <a:ext cx="6035040" cy="3337560"/>
          </a:xfrm>
          <a:prstGeom prst="roundRect">
            <a:avLst>
              <a:gd name="adj" fmla="val 2192"/>
            </a:avLst>
          </a:prstGeom>
          <a:solidFill>
            <a:srgbClr val="0A1B26"/>
          </a:solidFill>
          <a:ln/>
          <a:effectLst>
            <a:outerShdw sx="100000" sy="100000" kx="0" ky="0" algn="bl" rotWithShape="0" blurRad="88900" dist="38100" dir="5400000">
              <a:srgbClr val="0B2430">
                <a:alpha val="13000"/>
              </a:srgbClr>
            </a:outerShdw>
          </a:effectLst>
        </p:spPr>
      </p:sp>
      <p:sp>
        <p:nvSpPr>
          <p:cNvPr id="10" name="Text 7"/>
          <p:cNvSpPr/>
          <p:nvPr/>
        </p:nvSpPr>
        <p:spPr>
          <a:xfrm>
            <a:off x="749808" y="2258568"/>
            <a:ext cx="5632704" cy="274320"/>
          </a:xfrm>
          <a:prstGeom prst="rect">
            <a:avLst/>
          </a:prstGeom>
          <a:noFill/>
          <a:ln/>
        </p:spPr>
        <p:txBody>
          <a:bodyPr wrap="square" lIns="0" tIns="0" rIns="0" bIns="0" rtlCol="0" anchor="ctr"/>
          <a:lstStyle/>
          <a:p>
            <a:pPr indent="0" marL="0">
              <a:buNone/>
            </a:pPr>
            <a:r>
              <a:rPr lang="en-US" sz="1050" b="1" dirty="0">
                <a:solidFill>
                  <a:srgbClr val="5EEAD4"/>
                </a:solidFill>
                <a:latin typeface="Consolas" pitchFamily="34" charset="0"/>
                <a:ea typeface="Consolas" pitchFamily="34" charset="-122"/>
                <a:cs typeface="Consolas" pitchFamily="34" charset="-120"/>
              </a:rPr>
              <a:t>// three ways to bind a Text value</a:t>
            </a:r>
            <a:endParaRPr lang="en-US" sz="1050" dirty="0"/>
          </a:p>
        </p:txBody>
      </p:sp>
      <p:sp>
        <p:nvSpPr>
          <p:cNvPr id="11" name="Text 8"/>
          <p:cNvSpPr/>
          <p:nvPr/>
        </p:nvSpPr>
        <p:spPr>
          <a:xfrm>
            <a:off x="749808" y="2569464"/>
            <a:ext cx="5632704" cy="2788920"/>
          </a:xfrm>
          <a:prstGeom prst="rect">
            <a:avLst/>
          </a:prstGeom>
          <a:noFill/>
          <a:ln/>
        </p:spPr>
        <p:txBody>
          <a:bodyPr wrap="square" lIns="0" tIns="0" rIns="0" bIns="0" rtlCol="0" anchor="t"/>
          <a:lstStyle/>
          <a:p>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 1  literal only  -&gt; static</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literalString: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"Rebook flight"</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endParaRPr lang="en-US" sz="960" dirty="0"/>
          </a:p>
          <a:p>
            <a:pPr indent="0" marL="0">
              <a:lnSpc>
                <a:spcPct val="106000"/>
              </a:lnSpc>
              <a:buNone/>
            </a:pPr>
            <a:endParaRPr lang="en-US" sz="960" dirty="0"/>
          </a:p>
          <a:p>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 2  path only  -&gt; from data model</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path: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"/user/name"</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endParaRPr lang="en-US" sz="960" dirty="0"/>
          </a:p>
          <a:p>
            <a:pPr indent="0" marL="0">
              <a:lnSpc>
                <a:spcPct val="106000"/>
              </a:lnSpc>
              <a:buNone/>
            </a:pPr>
            <a:endParaRPr lang="en-US" sz="960" dirty="0"/>
          </a:p>
          <a:p>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 3  both  -&gt; init + bind in one step</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path: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"/total"</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literalString: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"11,800 INR"</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endParaRPr lang="en-US" sz="960" dirty="0"/>
          </a:p>
          <a:p>
            <a:pPr indent="0" marL="0">
              <a:lnSpc>
                <a:spcPct val="106000"/>
              </a:lnSpc>
              <a:buNone/>
            </a:pPr>
            <a:endParaRPr lang="en-US" sz="960" dirty="0"/>
          </a:p>
          <a:p>
            <a:pPr indent="0" marL="0">
              <a:lnSpc>
                <a:spcPct val="106000"/>
              </a:lnSpc>
              <a:buNone/>
            </a:pPr>
            <a:r>
              <a:rPr lang="en-US" sz="960" dirty="0">
                <a:solidFill>
                  <a:srgbClr val="7895A6"/>
                </a:solidFill>
                <a:latin typeface="Consolas" pitchFamily="34" charset="0"/>
                <a:ea typeface="Consolas" pitchFamily="34" charset="-122"/>
                <a:cs typeface="Consolas" pitchFamily="34" charset="-120"/>
              </a:rPr>
              <a:t>// paths are JSON Pointers</a:t>
            </a:r>
            <a:endParaRPr lang="en-US" sz="960" dirty="0"/>
          </a:p>
        </p:txBody>
      </p:sp>
      <p:sp>
        <p:nvSpPr>
          <p:cNvPr id="12" name="Shape 9"/>
          <p:cNvSpPr/>
          <p:nvPr/>
        </p:nvSpPr>
        <p:spPr>
          <a:xfrm>
            <a:off x="6812280" y="2148840"/>
            <a:ext cx="4800600" cy="1572768"/>
          </a:xfrm>
          <a:prstGeom prst="roundRect">
            <a:avLst>
              <a:gd name="adj" fmla="val 581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3" name="Shape 10"/>
          <p:cNvSpPr/>
          <p:nvPr/>
        </p:nvSpPr>
        <p:spPr>
          <a:xfrm>
            <a:off x="7013448" y="2350008"/>
            <a:ext cx="457200" cy="457200"/>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14" name="Image 1" descr="preencoded.png">    </p:cNvPr>
          <p:cNvPicPr>
            <a:picLocks noChangeAspect="1"/>
          </p:cNvPicPr>
          <p:nvPr/>
        </p:nvPicPr>
        <p:blipFill>
          <a:blip r:embed="rId2"/>
          <a:stretch>
            <a:fillRect/>
          </a:stretch>
        </p:blipFill>
        <p:spPr>
          <a:xfrm>
            <a:off x="7132320" y="2468880"/>
            <a:ext cx="219456" cy="219456"/>
          </a:xfrm>
          <a:prstGeom prst="rect">
            <a:avLst/>
          </a:prstGeom>
        </p:spPr>
      </p:pic>
      <p:sp>
        <p:nvSpPr>
          <p:cNvPr id="15" name="Text 11"/>
          <p:cNvSpPr/>
          <p:nvPr/>
        </p:nvSpPr>
        <p:spPr>
          <a:xfrm>
            <a:off x="7589520" y="2368296"/>
            <a:ext cx="3840480" cy="411480"/>
          </a:xfrm>
          <a:prstGeom prst="rect">
            <a:avLst/>
          </a:prstGeom>
          <a:noFill/>
          <a:ln/>
        </p:spPr>
        <p:txBody>
          <a:bodyPr wrap="square" lIns="0" tIns="0" rIns="0" bIns="0" rtlCol="0" anchor="ctr"/>
          <a:lstStyle/>
          <a:p>
            <a:pPr indent="0" marL="0">
              <a:buNone/>
            </a:pPr>
            <a:r>
              <a:rPr lang="en-US" sz="1400" b="1" dirty="0">
                <a:solidFill>
                  <a:srgbClr val="0E2330"/>
                </a:solidFill>
                <a:latin typeface="Cambria" pitchFamily="34" charset="0"/>
                <a:ea typeface="Cambria" pitchFamily="34" charset="-122"/>
                <a:cs typeface="Cambria" pitchFamily="34" charset="-120"/>
              </a:rPr>
              <a:t>The “no transformers” rule</a:t>
            </a:r>
            <a:endParaRPr lang="en-US" sz="1400" dirty="0"/>
          </a:p>
        </p:txBody>
      </p:sp>
      <p:sp>
        <p:nvSpPr>
          <p:cNvPr id="16" name="Text 12"/>
          <p:cNvSpPr/>
          <p:nvPr/>
        </p:nvSpPr>
        <p:spPr>
          <a:xfrm>
            <a:off x="7031736" y="2898648"/>
            <a:ext cx="4361688" cy="6583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2242E"/>
                </a:solidFill>
                <a:latin typeface="Calibri" pitchFamily="34" charset="0"/>
                <a:ea typeface="Calibri" pitchFamily="34" charset="-122"/>
                <a:cs typeface="Calibri" pitchFamily="34" charset="-120"/>
              </a:rPr>
              <a:t>No conditionals, no math, no string formatting in the binding.</a:t>
            </a:r>
            <a:endParaRPr lang="en-US" sz="1200" dirty="0"/>
          </a:p>
          <a:p>
            <a:pPr marL="342900" indent="-342900">
              <a:spcAft>
                <a:spcPts val="300"/>
              </a:spcAft>
              <a:buSzPct val="100000"/>
              <a:buChar char="•"/>
            </a:pPr>
            <a:r>
              <a:rPr lang="en-US" sz="1200" dirty="0">
                <a:solidFill>
                  <a:srgbClr val="12242E"/>
                </a:solidFill>
                <a:latin typeface="Calibri" pitchFamily="34" charset="0"/>
                <a:ea typeface="Calibri" pitchFamily="34" charset="-122"/>
                <a:cs typeface="Calibri" pitchFamily="34" charset="-120"/>
              </a:rPr>
              <a:t>The server transforms data before it sends.</a:t>
            </a:r>
            <a:endParaRPr lang="en-US" sz="1200" dirty="0"/>
          </a:p>
        </p:txBody>
      </p:sp>
      <p:sp>
        <p:nvSpPr>
          <p:cNvPr id="17" name="Shape 13"/>
          <p:cNvSpPr/>
          <p:nvPr/>
        </p:nvSpPr>
        <p:spPr>
          <a:xfrm>
            <a:off x="6812280" y="3886200"/>
            <a:ext cx="4800600" cy="1600200"/>
          </a:xfrm>
          <a:prstGeom prst="roundRect">
            <a:avLst>
              <a:gd name="adj" fmla="val 5714"/>
            </a:avLst>
          </a:prstGeom>
          <a:solidFill>
            <a:srgbClr val="FCF3E4"/>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8" name="Shape 14"/>
          <p:cNvSpPr/>
          <p:nvPr/>
        </p:nvSpPr>
        <p:spPr>
          <a:xfrm>
            <a:off x="7013448" y="4087368"/>
            <a:ext cx="457200" cy="457200"/>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19" name="Image 2" descr="preencoded.png">    </p:cNvPr>
          <p:cNvPicPr>
            <a:picLocks noChangeAspect="1"/>
          </p:cNvPicPr>
          <p:nvPr/>
        </p:nvPicPr>
        <p:blipFill>
          <a:blip r:embed="rId3"/>
          <a:stretch>
            <a:fillRect/>
          </a:stretch>
        </p:blipFill>
        <p:spPr>
          <a:xfrm>
            <a:off x="7132320" y="4206240"/>
            <a:ext cx="219456" cy="219456"/>
          </a:xfrm>
          <a:prstGeom prst="rect">
            <a:avLst/>
          </a:prstGeom>
        </p:spPr>
      </p:pic>
      <p:sp>
        <p:nvSpPr>
          <p:cNvPr id="20" name="Text 15"/>
          <p:cNvSpPr/>
          <p:nvPr/>
        </p:nvSpPr>
        <p:spPr>
          <a:xfrm>
            <a:off x="7589520" y="4105656"/>
            <a:ext cx="3840480" cy="411480"/>
          </a:xfrm>
          <a:prstGeom prst="rect">
            <a:avLst/>
          </a:prstGeom>
          <a:noFill/>
          <a:ln/>
        </p:spPr>
        <p:txBody>
          <a:bodyPr wrap="square" lIns="0" tIns="0" rIns="0" bIns="0" rtlCol="0" anchor="ctr"/>
          <a:lstStyle/>
          <a:p>
            <a:pPr indent="0" marL="0">
              <a:buNone/>
            </a:pPr>
            <a:r>
              <a:rPr lang="en-US" sz="1400" b="1" dirty="0">
                <a:solidFill>
                  <a:srgbClr val="E8951C"/>
                </a:solidFill>
                <a:latin typeface="Cambria" pitchFamily="34" charset="0"/>
                <a:ea typeface="Cambria" pitchFamily="34" charset="-122"/>
                <a:cs typeface="Cambria" pitchFamily="34" charset="-120"/>
              </a:rPr>
              <a:t>A “when not to use” signal</a:t>
            </a:r>
            <a:endParaRPr lang="en-US" sz="1400" dirty="0"/>
          </a:p>
        </p:txBody>
      </p:sp>
      <p:sp>
        <p:nvSpPr>
          <p:cNvPr id="21" name="Text 16"/>
          <p:cNvSpPr/>
          <p:nvPr/>
        </p:nvSpPr>
        <p:spPr>
          <a:xfrm>
            <a:off x="7031736" y="4636008"/>
            <a:ext cx="4361688" cy="68580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12242E"/>
                </a:solidFill>
                <a:latin typeface="Calibri" pitchFamily="34" charset="0"/>
                <a:ea typeface="Calibri" pitchFamily="34" charset="-122"/>
                <a:cs typeface="Calibri" pitchFamily="34" charset="-120"/>
              </a:rPr>
              <a:t>Heavy client-side logic does not fit A2UI.</a:t>
            </a:r>
            <a:endParaRPr lang="en-US" sz="1200" dirty="0"/>
          </a:p>
          <a:p>
            <a:pPr marL="342900" indent="-342900">
              <a:spcAft>
                <a:spcPts val="300"/>
              </a:spcAft>
              <a:buSzPct val="100000"/>
              <a:buChar char="•"/>
            </a:pPr>
            <a:r>
              <a:rPr lang="en-US" sz="1200" dirty="0">
                <a:solidFill>
                  <a:srgbClr val="12242E"/>
                </a:solidFill>
                <a:latin typeface="Calibri" pitchFamily="34" charset="0"/>
                <a:ea typeface="Calibri" pitchFamily="34" charset="-122"/>
                <a:cs typeface="Calibri" pitchFamily="34" charset="-120"/>
              </a:rPr>
              <a:t>If your UI needs lots of derived values, that logic belongs server-side, or A2UI is the wrong layer.</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WIRE FORMAT</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Message types: v0.8 stable vs v0.9 draft</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20</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783080"/>
            <a:ext cx="5394960" cy="3703320"/>
          </a:xfrm>
          <a:prstGeom prst="roundRect">
            <a:avLst>
              <a:gd name="adj" fmla="val 2963"/>
            </a:avLst>
          </a:prstGeom>
          <a:solidFill>
            <a:srgbClr val="0E2330"/>
          </a:solidFill>
          <a:ln/>
          <a:effectLst>
            <a:outerShdw sx="100000" sy="100000" kx="0" ky="0" algn="bl" rotWithShape="0" blurRad="88900" dist="38100" dir="5400000">
              <a:srgbClr val="0B2430">
                <a:alpha val="13000"/>
              </a:srgbClr>
            </a:outerShdw>
          </a:effectLst>
        </p:spPr>
      </p:sp>
      <p:sp>
        <p:nvSpPr>
          <p:cNvPr id="9" name="Shape 6"/>
          <p:cNvSpPr/>
          <p:nvPr/>
        </p:nvSpPr>
        <p:spPr>
          <a:xfrm>
            <a:off x="777240" y="2011680"/>
            <a:ext cx="1737360" cy="411480"/>
          </a:xfrm>
          <a:prstGeom prst="roundRect">
            <a:avLst>
              <a:gd name="adj" fmla="val 48889"/>
            </a:avLst>
          </a:prstGeom>
          <a:solidFill>
            <a:srgbClr val="1C9C72"/>
          </a:solidFill>
          <a:ln/>
        </p:spPr>
      </p:sp>
      <p:sp>
        <p:nvSpPr>
          <p:cNvPr id="10" name="Text 7"/>
          <p:cNvSpPr/>
          <p:nvPr/>
        </p:nvSpPr>
        <p:spPr>
          <a:xfrm>
            <a:off x="777240" y="2011680"/>
            <a:ext cx="17373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v0.8 STABLE</a:t>
            </a:r>
            <a:endParaRPr lang="en-US" sz="1100" dirty="0"/>
          </a:p>
        </p:txBody>
      </p:sp>
      <p:sp>
        <p:nvSpPr>
          <p:cNvPr id="11" name="Text 8"/>
          <p:cNvSpPr/>
          <p:nvPr/>
        </p:nvSpPr>
        <p:spPr>
          <a:xfrm>
            <a:off x="2697480" y="2011680"/>
            <a:ext cx="3108960" cy="411480"/>
          </a:xfrm>
          <a:prstGeom prst="rect">
            <a:avLst/>
          </a:prstGeom>
          <a:noFill/>
          <a:ln/>
        </p:spPr>
        <p:txBody>
          <a:bodyPr wrap="square" lIns="0" tIns="0" rIns="0" bIns="0" rtlCol="0" anchor="ctr"/>
          <a:lstStyle/>
          <a:p>
            <a:pPr indent="0" marL="0">
              <a:buNone/>
            </a:pPr>
            <a:r>
              <a:rPr lang="en-US" sz="1100" i="1" dirty="0">
                <a:solidFill>
                  <a:srgbClr val="5EEAD4"/>
                </a:solidFill>
                <a:latin typeface="Calibri" pitchFamily="34" charset="0"/>
                <a:ea typeface="Calibri" pitchFamily="34" charset="-122"/>
                <a:cs typeface="Calibri" pitchFamily="34" charset="-120"/>
              </a:rPr>
              <a:t>use this in production</a:t>
            </a:r>
            <a:endParaRPr lang="en-US" sz="1100" dirty="0"/>
          </a:p>
        </p:txBody>
      </p:sp>
      <p:sp>
        <p:nvSpPr>
          <p:cNvPr id="12" name="Text 9"/>
          <p:cNvSpPr/>
          <p:nvPr/>
        </p:nvSpPr>
        <p:spPr>
          <a:xfrm>
            <a:off x="960120" y="2606040"/>
            <a:ext cx="4754880" cy="274320"/>
          </a:xfrm>
          <a:prstGeom prst="rect">
            <a:avLst/>
          </a:prstGeom>
          <a:noFill/>
          <a:ln/>
        </p:spPr>
        <p:txBody>
          <a:bodyPr wrap="square" lIns="0" tIns="0" rIns="0" bIns="0" rtlCol="0" anchor="ctr"/>
          <a:lstStyle/>
          <a:p>
            <a:pPr indent="0" marL="0">
              <a:buNone/>
            </a:pPr>
            <a:r>
              <a:rPr lang="en-US" sz="1300" b="1" dirty="0">
                <a:solidFill>
                  <a:srgbClr val="5EEAD4"/>
                </a:solidFill>
                <a:latin typeface="Consolas" pitchFamily="34" charset="0"/>
                <a:ea typeface="Consolas" pitchFamily="34" charset="-122"/>
                <a:cs typeface="Consolas" pitchFamily="34" charset="-120"/>
              </a:rPr>
              <a:t>surfaceUpdate</a:t>
            </a:r>
            <a:endParaRPr lang="en-US" sz="1300" dirty="0"/>
          </a:p>
        </p:txBody>
      </p:sp>
      <p:sp>
        <p:nvSpPr>
          <p:cNvPr id="13" name="Text 10"/>
          <p:cNvSpPr/>
          <p:nvPr/>
        </p:nvSpPr>
        <p:spPr>
          <a:xfrm>
            <a:off x="960120" y="2880360"/>
            <a:ext cx="4754880" cy="274320"/>
          </a:xfrm>
          <a:prstGeom prst="rect">
            <a:avLst/>
          </a:prstGeom>
          <a:noFill/>
          <a:ln/>
        </p:spPr>
        <p:txBody>
          <a:bodyPr wrap="square" lIns="0" tIns="0" rIns="0" bIns="0" rtlCol="0" anchor="ctr"/>
          <a:lstStyle/>
          <a:p>
            <a:pPr indent="0" marL="0">
              <a:buNone/>
            </a:pPr>
            <a:r>
              <a:rPr lang="en-US" sz="1100" dirty="0">
                <a:solidFill>
                  <a:srgbClr val="AFC9D6"/>
                </a:solidFill>
                <a:latin typeface="Calibri" pitchFamily="34" charset="0"/>
                <a:ea typeface="Calibri" pitchFamily="34" charset="-122"/>
                <a:cs typeface="Calibri" pitchFamily="34" charset="-120"/>
              </a:rPr>
              <a:t>add / update components</a:t>
            </a:r>
            <a:endParaRPr lang="en-US" sz="1100" dirty="0"/>
          </a:p>
        </p:txBody>
      </p:sp>
      <p:sp>
        <p:nvSpPr>
          <p:cNvPr id="14" name="Text 11"/>
          <p:cNvSpPr/>
          <p:nvPr/>
        </p:nvSpPr>
        <p:spPr>
          <a:xfrm>
            <a:off x="960120" y="3319272"/>
            <a:ext cx="4754880" cy="274320"/>
          </a:xfrm>
          <a:prstGeom prst="rect">
            <a:avLst/>
          </a:prstGeom>
          <a:noFill/>
          <a:ln/>
        </p:spPr>
        <p:txBody>
          <a:bodyPr wrap="square" lIns="0" tIns="0" rIns="0" bIns="0" rtlCol="0" anchor="ctr"/>
          <a:lstStyle/>
          <a:p>
            <a:pPr indent="0" marL="0">
              <a:buNone/>
            </a:pPr>
            <a:r>
              <a:rPr lang="en-US" sz="1300" b="1" dirty="0">
                <a:solidFill>
                  <a:srgbClr val="5EEAD4"/>
                </a:solidFill>
                <a:latin typeface="Consolas" pitchFamily="34" charset="0"/>
                <a:ea typeface="Consolas" pitchFamily="34" charset="-122"/>
                <a:cs typeface="Consolas" pitchFamily="34" charset="-120"/>
              </a:rPr>
              <a:t>dataModelUpdate</a:t>
            </a:r>
            <a:endParaRPr lang="en-US" sz="1300" dirty="0"/>
          </a:p>
        </p:txBody>
      </p:sp>
      <p:sp>
        <p:nvSpPr>
          <p:cNvPr id="15" name="Text 12"/>
          <p:cNvSpPr/>
          <p:nvPr/>
        </p:nvSpPr>
        <p:spPr>
          <a:xfrm>
            <a:off x="960120" y="3593592"/>
            <a:ext cx="4754880" cy="274320"/>
          </a:xfrm>
          <a:prstGeom prst="rect">
            <a:avLst/>
          </a:prstGeom>
          <a:noFill/>
          <a:ln/>
        </p:spPr>
        <p:txBody>
          <a:bodyPr wrap="square" lIns="0" tIns="0" rIns="0" bIns="0" rtlCol="0" anchor="ctr"/>
          <a:lstStyle/>
          <a:p>
            <a:pPr indent="0" marL="0">
              <a:buNone/>
            </a:pPr>
            <a:r>
              <a:rPr lang="en-US" sz="1100" dirty="0">
                <a:solidFill>
                  <a:srgbClr val="AFC9D6"/>
                </a:solidFill>
                <a:latin typeface="Calibri" pitchFamily="34" charset="0"/>
                <a:ea typeface="Calibri" pitchFamily="34" charset="-122"/>
                <a:cs typeface="Calibri" pitchFamily="34" charset="-120"/>
              </a:rPr>
              <a:t>set or change values</a:t>
            </a:r>
            <a:endParaRPr lang="en-US" sz="1100" dirty="0"/>
          </a:p>
        </p:txBody>
      </p:sp>
      <p:sp>
        <p:nvSpPr>
          <p:cNvPr id="16" name="Text 13"/>
          <p:cNvSpPr/>
          <p:nvPr/>
        </p:nvSpPr>
        <p:spPr>
          <a:xfrm>
            <a:off x="960120" y="4032504"/>
            <a:ext cx="4754880" cy="274320"/>
          </a:xfrm>
          <a:prstGeom prst="rect">
            <a:avLst/>
          </a:prstGeom>
          <a:noFill/>
          <a:ln/>
        </p:spPr>
        <p:txBody>
          <a:bodyPr wrap="square" lIns="0" tIns="0" rIns="0" bIns="0" rtlCol="0" anchor="ctr"/>
          <a:lstStyle/>
          <a:p>
            <a:pPr indent="0" marL="0">
              <a:buNone/>
            </a:pPr>
            <a:r>
              <a:rPr lang="en-US" sz="1300" b="1" dirty="0">
                <a:solidFill>
                  <a:srgbClr val="5EEAD4"/>
                </a:solidFill>
                <a:latin typeface="Consolas" pitchFamily="34" charset="0"/>
                <a:ea typeface="Consolas" pitchFamily="34" charset="-122"/>
                <a:cs typeface="Consolas" pitchFamily="34" charset="-120"/>
              </a:rPr>
              <a:t>beginRendering</a:t>
            </a:r>
            <a:endParaRPr lang="en-US" sz="1300" dirty="0"/>
          </a:p>
        </p:txBody>
      </p:sp>
      <p:sp>
        <p:nvSpPr>
          <p:cNvPr id="17" name="Text 14"/>
          <p:cNvSpPr/>
          <p:nvPr/>
        </p:nvSpPr>
        <p:spPr>
          <a:xfrm>
            <a:off x="960120" y="4306824"/>
            <a:ext cx="4754880" cy="274320"/>
          </a:xfrm>
          <a:prstGeom prst="rect">
            <a:avLst/>
          </a:prstGeom>
          <a:noFill/>
          <a:ln/>
        </p:spPr>
        <p:txBody>
          <a:bodyPr wrap="square" lIns="0" tIns="0" rIns="0" bIns="0" rtlCol="0" anchor="ctr"/>
          <a:lstStyle/>
          <a:p>
            <a:pPr indent="0" marL="0">
              <a:buNone/>
            </a:pPr>
            <a:r>
              <a:rPr lang="en-US" sz="1100" dirty="0">
                <a:solidFill>
                  <a:srgbClr val="AFC9D6"/>
                </a:solidFill>
                <a:latin typeface="Calibri" pitchFamily="34" charset="0"/>
                <a:ea typeface="Calibri" pitchFamily="34" charset="-122"/>
                <a:cs typeface="Calibri" pitchFamily="34" charset="-120"/>
              </a:rPr>
              <a:t>paint once, no half-built UI</a:t>
            </a:r>
            <a:endParaRPr lang="en-US" sz="1100" dirty="0"/>
          </a:p>
        </p:txBody>
      </p:sp>
      <p:sp>
        <p:nvSpPr>
          <p:cNvPr id="18" name="Text 15"/>
          <p:cNvSpPr/>
          <p:nvPr/>
        </p:nvSpPr>
        <p:spPr>
          <a:xfrm>
            <a:off x="960120" y="4745736"/>
            <a:ext cx="4754880" cy="274320"/>
          </a:xfrm>
          <a:prstGeom prst="rect">
            <a:avLst/>
          </a:prstGeom>
          <a:noFill/>
          <a:ln/>
        </p:spPr>
        <p:txBody>
          <a:bodyPr wrap="square" lIns="0" tIns="0" rIns="0" bIns="0" rtlCol="0" anchor="ctr"/>
          <a:lstStyle/>
          <a:p>
            <a:pPr indent="0" marL="0">
              <a:buNone/>
            </a:pPr>
            <a:r>
              <a:rPr lang="en-US" sz="1300" b="1" dirty="0">
                <a:solidFill>
                  <a:srgbClr val="5EEAD4"/>
                </a:solidFill>
                <a:latin typeface="Consolas" pitchFamily="34" charset="0"/>
                <a:ea typeface="Consolas" pitchFamily="34" charset="-122"/>
                <a:cs typeface="Consolas" pitchFamily="34" charset="-120"/>
              </a:rPr>
              <a:t>deleteSurface</a:t>
            </a:r>
            <a:endParaRPr lang="en-US" sz="1300" dirty="0"/>
          </a:p>
        </p:txBody>
      </p:sp>
      <p:sp>
        <p:nvSpPr>
          <p:cNvPr id="19" name="Text 16"/>
          <p:cNvSpPr/>
          <p:nvPr/>
        </p:nvSpPr>
        <p:spPr>
          <a:xfrm>
            <a:off x="960120" y="5020056"/>
            <a:ext cx="4754880" cy="274320"/>
          </a:xfrm>
          <a:prstGeom prst="rect">
            <a:avLst/>
          </a:prstGeom>
          <a:noFill/>
          <a:ln/>
        </p:spPr>
        <p:txBody>
          <a:bodyPr wrap="square" lIns="0" tIns="0" rIns="0" bIns="0" rtlCol="0" anchor="ctr"/>
          <a:lstStyle/>
          <a:p>
            <a:pPr indent="0" marL="0">
              <a:buNone/>
            </a:pPr>
            <a:r>
              <a:rPr lang="en-US" sz="1100" dirty="0">
                <a:solidFill>
                  <a:srgbClr val="AFC9D6"/>
                </a:solidFill>
                <a:latin typeface="Calibri" pitchFamily="34" charset="0"/>
                <a:ea typeface="Calibri" pitchFamily="34" charset="-122"/>
                <a:cs typeface="Calibri" pitchFamily="34" charset="-120"/>
              </a:rPr>
              <a:t>tear a surface down</a:t>
            </a:r>
            <a:endParaRPr lang="en-US" sz="1100" dirty="0"/>
          </a:p>
        </p:txBody>
      </p:sp>
      <p:sp>
        <p:nvSpPr>
          <p:cNvPr id="20" name="Shape 17"/>
          <p:cNvSpPr/>
          <p:nvPr/>
        </p:nvSpPr>
        <p:spPr>
          <a:xfrm>
            <a:off x="6217920" y="1783080"/>
            <a:ext cx="5394960" cy="3703320"/>
          </a:xfrm>
          <a:prstGeom prst="roundRect">
            <a:avLst>
              <a:gd name="adj" fmla="val 2963"/>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1" name="Shape 18"/>
          <p:cNvSpPr/>
          <p:nvPr/>
        </p:nvSpPr>
        <p:spPr>
          <a:xfrm>
            <a:off x="6446520" y="2011680"/>
            <a:ext cx="1737360" cy="411480"/>
          </a:xfrm>
          <a:prstGeom prst="roundRect">
            <a:avLst>
              <a:gd name="adj" fmla="val 48889"/>
            </a:avLst>
          </a:prstGeom>
          <a:solidFill>
            <a:srgbClr val="E8951C"/>
          </a:solidFill>
          <a:ln/>
        </p:spPr>
      </p:sp>
      <p:sp>
        <p:nvSpPr>
          <p:cNvPr id="22" name="Text 19"/>
          <p:cNvSpPr/>
          <p:nvPr/>
        </p:nvSpPr>
        <p:spPr>
          <a:xfrm>
            <a:off x="6446520" y="2011680"/>
            <a:ext cx="17373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v0.9 DRAFT</a:t>
            </a:r>
            <a:endParaRPr lang="en-US" sz="1100" dirty="0"/>
          </a:p>
        </p:txBody>
      </p:sp>
      <p:sp>
        <p:nvSpPr>
          <p:cNvPr id="23" name="Text 20"/>
          <p:cNvSpPr/>
          <p:nvPr/>
        </p:nvSpPr>
        <p:spPr>
          <a:xfrm>
            <a:off x="8366760" y="2011680"/>
            <a:ext cx="3017520" cy="411480"/>
          </a:xfrm>
          <a:prstGeom prst="rect">
            <a:avLst/>
          </a:prstGeom>
          <a:noFill/>
          <a:ln/>
        </p:spPr>
        <p:txBody>
          <a:bodyPr wrap="square" lIns="0" tIns="0" rIns="0" bIns="0" rtlCol="0" anchor="ctr"/>
          <a:lstStyle/>
          <a:p>
            <a:pPr indent="0" marL="0">
              <a:buNone/>
            </a:pPr>
            <a:r>
              <a:rPr lang="en-US" sz="1100" i="1" dirty="0">
                <a:solidFill>
                  <a:srgbClr val="E8951C"/>
                </a:solidFill>
                <a:latin typeface="Calibri" pitchFamily="34" charset="0"/>
                <a:ea typeface="Calibri" pitchFamily="34" charset="-122"/>
                <a:cs typeface="Calibri" pitchFamily="34" charset="-120"/>
              </a:rPr>
              <a:t>coming, expect renames</a:t>
            </a:r>
            <a:endParaRPr lang="en-US" sz="1100" dirty="0"/>
          </a:p>
        </p:txBody>
      </p:sp>
      <p:sp>
        <p:nvSpPr>
          <p:cNvPr id="24" name="Text 21"/>
          <p:cNvSpPr/>
          <p:nvPr/>
        </p:nvSpPr>
        <p:spPr>
          <a:xfrm>
            <a:off x="6629400" y="2606040"/>
            <a:ext cx="4754880" cy="274320"/>
          </a:xfrm>
          <a:prstGeom prst="rect">
            <a:avLst/>
          </a:prstGeom>
          <a:noFill/>
          <a:ln/>
        </p:spPr>
        <p:txBody>
          <a:bodyPr wrap="square" lIns="0" tIns="0" rIns="0" bIns="0" rtlCol="0" anchor="ctr"/>
          <a:lstStyle/>
          <a:p>
            <a:pPr indent="0" marL="0">
              <a:buNone/>
            </a:pPr>
            <a:r>
              <a:rPr lang="en-US" sz="1300" b="1" dirty="0">
                <a:solidFill>
                  <a:srgbClr val="0E7C86"/>
                </a:solidFill>
                <a:latin typeface="Consolas" pitchFamily="34" charset="0"/>
                <a:ea typeface="Consolas" pitchFamily="34" charset="-122"/>
                <a:cs typeface="Consolas" pitchFamily="34" charset="-120"/>
              </a:rPr>
              <a:t>createSurface</a:t>
            </a:r>
            <a:endParaRPr lang="en-US" sz="1300" dirty="0"/>
          </a:p>
        </p:txBody>
      </p:sp>
      <p:sp>
        <p:nvSpPr>
          <p:cNvPr id="25" name="Text 22"/>
          <p:cNvSpPr/>
          <p:nvPr/>
        </p:nvSpPr>
        <p:spPr>
          <a:xfrm>
            <a:off x="6629400" y="2880360"/>
            <a:ext cx="4754880" cy="274320"/>
          </a:xfrm>
          <a:prstGeom prst="rect">
            <a:avLst/>
          </a:prstGeom>
          <a:noFill/>
          <a:ln/>
        </p:spPr>
        <p:txBody>
          <a:bodyPr wrap="square" lIns="0" tIns="0" rIns="0" bIns="0" rtlCol="0" anchor="ctr"/>
          <a:lstStyle/>
          <a:p>
            <a:pPr indent="0" marL="0">
              <a:buNone/>
            </a:pPr>
            <a:r>
              <a:rPr lang="en-US" sz="1100" dirty="0">
                <a:solidFill>
                  <a:srgbClr val="5B7383"/>
                </a:solidFill>
                <a:latin typeface="Calibri" pitchFamily="34" charset="0"/>
                <a:ea typeface="Calibri" pitchFamily="34" charset="-122"/>
                <a:cs typeface="Calibri" pitchFamily="34" charset="-120"/>
              </a:rPr>
              <a:t>create, separate from render</a:t>
            </a:r>
            <a:endParaRPr lang="en-US" sz="1100" dirty="0"/>
          </a:p>
        </p:txBody>
      </p:sp>
      <p:sp>
        <p:nvSpPr>
          <p:cNvPr id="26" name="Text 23"/>
          <p:cNvSpPr/>
          <p:nvPr/>
        </p:nvSpPr>
        <p:spPr>
          <a:xfrm>
            <a:off x="6629400" y="3319272"/>
            <a:ext cx="4754880" cy="274320"/>
          </a:xfrm>
          <a:prstGeom prst="rect">
            <a:avLst/>
          </a:prstGeom>
          <a:noFill/>
          <a:ln/>
        </p:spPr>
        <p:txBody>
          <a:bodyPr wrap="square" lIns="0" tIns="0" rIns="0" bIns="0" rtlCol="0" anchor="ctr"/>
          <a:lstStyle/>
          <a:p>
            <a:pPr indent="0" marL="0">
              <a:buNone/>
            </a:pPr>
            <a:r>
              <a:rPr lang="en-US" sz="1300" b="1" dirty="0">
                <a:solidFill>
                  <a:srgbClr val="0E7C86"/>
                </a:solidFill>
                <a:latin typeface="Consolas" pitchFamily="34" charset="0"/>
                <a:ea typeface="Consolas" pitchFamily="34" charset="-122"/>
                <a:cs typeface="Consolas" pitchFamily="34" charset="-120"/>
              </a:rPr>
              <a:t>updateComponents</a:t>
            </a:r>
            <a:endParaRPr lang="en-US" sz="1300" dirty="0"/>
          </a:p>
        </p:txBody>
      </p:sp>
      <p:sp>
        <p:nvSpPr>
          <p:cNvPr id="27" name="Text 24"/>
          <p:cNvSpPr/>
          <p:nvPr/>
        </p:nvSpPr>
        <p:spPr>
          <a:xfrm>
            <a:off x="6629400" y="3593592"/>
            <a:ext cx="4754880" cy="274320"/>
          </a:xfrm>
          <a:prstGeom prst="rect">
            <a:avLst/>
          </a:prstGeom>
          <a:noFill/>
          <a:ln/>
        </p:spPr>
        <p:txBody>
          <a:bodyPr wrap="square" lIns="0" tIns="0" rIns="0" bIns="0" rtlCol="0" anchor="ctr"/>
          <a:lstStyle/>
          <a:p>
            <a:pPr indent="0" marL="0">
              <a:buNone/>
            </a:pPr>
            <a:r>
              <a:rPr lang="en-US" sz="1100" dirty="0">
                <a:solidFill>
                  <a:srgbClr val="5B7383"/>
                </a:solidFill>
                <a:latin typeface="Calibri" pitchFamily="34" charset="0"/>
                <a:ea typeface="Calibri" pitchFamily="34" charset="-122"/>
                <a:cs typeface="Calibri" pitchFamily="34" charset="-120"/>
              </a:rPr>
              <a:t>structure changes</a:t>
            </a:r>
            <a:endParaRPr lang="en-US" sz="1100" dirty="0"/>
          </a:p>
        </p:txBody>
      </p:sp>
      <p:sp>
        <p:nvSpPr>
          <p:cNvPr id="28" name="Text 25"/>
          <p:cNvSpPr/>
          <p:nvPr/>
        </p:nvSpPr>
        <p:spPr>
          <a:xfrm>
            <a:off x="6629400" y="4032504"/>
            <a:ext cx="4754880" cy="274320"/>
          </a:xfrm>
          <a:prstGeom prst="rect">
            <a:avLst/>
          </a:prstGeom>
          <a:noFill/>
          <a:ln/>
        </p:spPr>
        <p:txBody>
          <a:bodyPr wrap="square" lIns="0" tIns="0" rIns="0" bIns="0" rtlCol="0" anchor="ctr"/>
          <a:lstStyle/>
          <a:p>
            <a:pPr indent="0" marL="0">
              <a:buNone/>
            </a:pPr>
            <a:r>
              <a:rPr lang="en-US" sz="1300" b="1" dirty="0">
                <a:solidFill>
                  <a:srgbClr val="0E7C86"/>
                </a:solidFill>
                <a:latin typeface="Consolas" pitchFamily="34" charset="0"/>
                <a:ea typeface="Consolas" pitchFamily="34" charset="-122"/>
                <a:cs typeface="Consolas" pitchFamily="34" charset="-120"/>
              </a:rPr>
              <a:t>updateDataModel</a:t>
            </a:r>
            <a:endParaRPr lang="en-US" sz="1300" dirty="0"/>
          </a:p>
        </p:txBody>
      </p:sp>
      <p:sp>
        <p:nvSpPr>
          <p:cNvPr id="29" name="Text 26"/>
          <p:cNvSpPr/>
          <p:nvPr/>
        </p:nvSpPr>
        <p:spPr>
          <a:xfrm>
            <a:off x="6629400" y="4306824"/>
            <a:ext cx="4754880" cy="274320"/>
          </a:xfrm>
          <a:prstGeom prst="rect">
            <a:avLst/>
          </a:prstGeom>
          <a:noFill/>
          <a:ln/>
        </p:spPr>
        <p:txBody>
          <a:bodyPr wrap="square" lIns="0" tIns="0" rIns="0" bIns="0" rtlCol="0" anchor="ctr"/>
          <a:lstStyle/>
          <a:p>
            <a:pPr indent="0" marL="0">
              <a:buNone/>
            </a:pPr>
            <a:r>
              <a:rPr lang="en-US" sz="1100" dirty="0">
                <a:solidFill>
                  <a:srgbClr val="5B7383"/>
                </a:solidFill>
                <a:latin typeface="Calibri" pitchFamily="34" charset="0"/>
                <a:ea typeface="Calibri" pitchFamily="34" charset="-122"/>
                <a:cs typeface="Calibri" pitchFamily="34" charset="-120"/>
              </a:rPr>
              <a:t>value changes</a:t>
            </a:r>
            <a:endParaRPr lang="en-US" sz="1100" dirty="0"/>
          </a:p>
        </p:txBody>
      </p:sp>
      <p:sp>
        <p:nvSpPr>
          <p:cNvPr id="30" name="Text 27"/>
          <p:cNvSpPr/>
          <p:nvPr/>
        </p:nvSpPr>
        <p:spPr>
          <a:xfrm>
            <a:off x="6629400" y="4745736"/>
            <a:ext cx="4754880" cy="274320"/>
          </a:xfrm>
          <a:prstGeom prst="rect">
            <a:avLst/>
          </a:prstGeom>
          <a:noFill/>
          <a:ln/>
        </p:spPr>
        <p:txBody>
          <a:bodyPr wrap="square" lIns="0" tIns="0" rIns="0" bIns="0" rtlCol="0" anchor="ctr"/>
          <a:lstStyle/>
          <a:p>
            <a:pPr indent="0" marL="0">
              <a:buNone/>
            </a:pPr>
            <a:r>
              <a:rPr lang="en-US" sz="1300" b="1" dirty="0">
                <a:solidFill>
                  <a:srgbClr val="0E7C86"/>
                </a:solidFill>
                <a:latin typeface="Consolas" pitchFamily="34" charset="0"/>
                <a:ea typeface="Consolas" pitchFamily="34" charset="-122"/>
                <a:cs typeface="Consolas" pitchFamily="34" charset="-120"/>
              </a:rPr>
              <a:t>deleteSurface</a:t>
            </a:r>
            <a:endParaRPr lang="en-US" sz="1300" dirty="0"/>
          </a:p>
        </p:txBody>
      </p:sp>
      <p:sp>
        <p:nvSpPr>
          <p:cNvPr id="31" name="Text 28"/>
          <p:cNvSpPr/>
          <p:nvPr/>
        </p:nvSpPr>
        <p:spPr>
          <a:xfrm>
            <a:off x="6629400" y="5020056"/>
            <a:ext cx="4754880" cy="274320"/>
          </a:xfrm>
          <a:prstGeom prst="rect">
            <a:avLst/>
          </a:prstGeom>
          <a:noFill/>
          <a:ln/>
        </p:spPr>
        <p:txBody>
          <a:bodyPr wrap="square" lIns="0" tIns="0" rIns="0" bIns="0" rtlCol="0" anchor="ctr"/>
          <a:lstStyle/>
          <a:p>
            <a:pPr indent="0" marL="0">
              <a:buNone/>
            </a:pPr>
            <a:r>
              <a:rPr lang="en-US" sz="1100" dirty="0">
                <a:solidFill>
                  <a:srgbClr val="5B7383"/>
                </a:solidFill>
                <a:latin typeface="Calibri" pitchFamily="34" charset="0"/>
                <a:ea typeface="Calibri" pitchFamily="34" charset="-122"/>
                <a:cs typeface="Calibri" pitchFamily="34" charset="-120"/>
              </a:rPr>
              <a:t>+ a version field on every msg</a:t>
            </a:r>
            <a:endParaRPr lang="en-US" sz="1100" dirty="0"/>
          </a:p>
        </p:txBody>
      </p:sp>
      <p:sp>
        <p:nvSpPr>
          <p:cNvPr id="32" name="Text 29"/>
          <p:cNvSpPr/>
          <p:nvPr/>
        </p:nvSpPr>
        <p:spPr>
          <a:xfrm>
            <a:off x="548640" y="5623560"/>
            <a:ext cx="11064240" cy="365760"/>
          </a:xfrm>
          <a:prstGeom prst="rect">
            <a:avLst/>
          </a:prstGeom>
          <a:noFill/>
          <a:ln/>
        </p:spPr>
        <p:txBody>
          <a:bodyPr wrap="square" lIns="0" tIns="0" rIns="0" bIns="0" rtlCol="0" anchor="ctr"/>
          <a:lstStyle/>
          <a:p>
            <a:pPr algn="ctr" indent="0" marL="0">
              <a:buNone/>
            </a:pPr>
            <a:r>
              <a:rPr lang="en-US" sz="1200" i="1" dirty="0">
                <a:solidFill>
                  <a:srgbClr val="5B7383"/>
                </a:solidFill>
                <a:latin typeface="Calibri" pitchFamily="34" charset="0"/>
                <a:ea typeface="Calibri" pitchFamily="34" charset="-122"/>
                <a:cs typeface="Calibri" pitchFamily="34" charset="-120"/>
              </a:rPr>
              <a:t>Pin your version. v0.9 separates surface creation from rendering and renames messages, this churn is a real planning consideration.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FULL LOOP</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End-to-end: from message to rendered, interactive UI</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21</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640080" y="1783080"/>
            <a:ext cx="566928" cy="566928"/>
          </a:xfrm>
          <a:prstGeom prst="ellipse">
            <a:avLst/>
          </a:prstGeom>
          <a:solidFill>
            <a:srgbClr val="E8951C"/>
          </a:solidFill>
          <a:ln/>
          <a:effectLst>
            <a:outerShdw sx="100000" sy="100000" kx="0" ky="0" algn="bl" rotWithShape="0" blurRad="114300" dist="50800" dir="5400000">
              <a:srgbClr val="0B2430">
                <a:alpha val="10000"/>
              </a:srgbClr>
            </a:outerShdw>
          </a:effectLst>
        </p:spPr>
      </p:sp>
      <p:sp>
        <p:nvSpPr>
          <p:cNvPr id="9" name="Text 6"/>
          <p:cNvSpPr/>
          <p:nvPr/>
        </p:nvSpPr>
        <p:spPr>
          <a:xfrm>
            <a:off x="640080" y="1783080"/>
            <a:ext cx="566928" cy="566928"/>
          </a:xfrm>
          <a:prstGeom prst="rect">
            <a:avLst/>
          </a:prstGeom>
          <a:noFill/>
          <a:ln/>
        </p:spPr>
        <p:txBody>
          <a:bodyPr wrap="square" lIns="0" tIns="0" rIns="0" bIns="0" rtlCol="0" anchor="ctr"/>
          <a:lstStyle/>
          <a:p>
            <a:pPr algn="ctr" indent="0" marL="0">
              <a:buNone/>
            </a:pPr>
            <a:r>
              <a:rPr lang="en-US" sz="2000" b="1" dirty="0">
                <a:solidFill>
                  <a:srgbClr val="0E2330"/>
                </a:solidFill>
                <a:latin typeface="Cambria" pitchFamily="34" charset="0"/>
                <a:ea typeface="Cambria" pitchFamily="34" charset="-122"/>
                <a:cs typeface="Cambria" pitchFamily="34" charset="-120"/>
              </a:rPr>
              <a:t>1</a:t>
            </a:r>
            <a:endParaRPr lang="en-US" sz="2000" dirty="0"/>
          </a:p>
        </p:txBody>
      </p:sp>
      <p:sp>
        <p:nvSpPr>
          <p:cNvPr id="10" name="Shape 7"/>
          <p:cNvSpPr/>
          <p:nvPr/>
        </p:nvSpPr>
        <p:spPr>
          <a:xfrm>
            <a:off x="1371600" y="1801368"/>
            <a:ext cx="7498080" cy="530352"/>
          </a:xfrm>
          <a:prstGeom prst="roundRect">
            <a:avLst>
              <a:gd name="adj" fmla="val 13793"/>
            </a:avLst>
          </a:prstGeom>
          <a:solidFill>
            <a:srgbClr val="F1F6F8"/>
          </a:solidFill>
          <a:ln w="9525">
            <a:solidFill>
              <a:srgbClr val="CBD9E0"/>
            </a:solidFill>
            <a:prstDash val="solid"/>
          </a:ln>
        </p:spPr>
      </p:sp>
      <p:sp>
        <p:nvSpPr>
          <p:cNvPr id="11" name="Text 8"/>
          <p:cNvSpPr/>
          <p:nvPr/>
        </p:nvSpPr>
        <p:spPr>
          <a:xfrm>
            <a:off x="1600200" y="1783080"/>
            <a:ext cx="7178040" cy="566928"/>
          </a:xfrm>
          <a:prstGeom prst="rect">
            <a:avLst/>
          </a:prstGeom>
          <a:noFill/>
          <a:ln/>
        </p:spPr>
        <p:txBody>
          <a:bodyPr wrap="square" lIns="0" tIns="0" rIns="0" bIns="0" rtlCol="0" anchor="ctr"/>
          <a:lstStyle/>
          <a:p>
            <a:pPr indent="0" marL="0">
              <a:buNone/>
            </a:pPr>
            <a:r>
              <a:rPr lang="en-US" sz="1350" dirty="0">
                <a:solidFill>
                  <a:srgbClr val="12242E"/>
                </a:solidFill>
                <a:latin typeface="Calibri" pitchFamily="34" charset="0"/>
                <a:ea typeface="Calibri" pitchFamily="34" charset="-122"/>
                <a:cs typeface="Calibri" pitchFamily="34" charset="-120"/>
              </a:rPr>
              <a:t>User sends a message</a:t>
            </a:r>
            <a:endParaRPr lang="en-US" sz="1350" dirty="0"/>
          </a:p>
        </p:txBody>
      </p:sp>
      <p:sp>
        <p:nvSpPr>
          <p:cNvPr id="12" name="Shape 9"/>
          <p:cNvSpPr/>
          <p:nvPr/>
        </p:nvSpPr>
        <p:spPr>
          <a:xfrm>
            <a:off x="950976" y="2350008"/>
            <a:ext cx="0" cy="54864"/>
          </a:xfrm>
          <a:prstGeom prst="line">
            <a:avLst/>
          </a:prstGeom>
          <a:noFill/>
          <a:ln w="25400">
            <a:solidFill>
              <a:srgbClr val="CBD9E0"/>
            </a:solidFill>
            <a:prstDash val="solid"/>
          </a:ln>
        </p:spPr>
      </p:sp>
      <p:sp>
        <p:nvSpPr>
          <p:cNvPr id="13" name="Shape 10"/>
          <p:cNvSpPr/>
          <p:nvPr/>
        </p:nvSpPr>
        <p:spPr>
          <a:xfrm>
            <a:off x="640080" y="2386584"/>
            <a:ext cx="566928" cy="566928"/>
          </a:xfrm>
          <a:prstGeom prst="ellipse">
            <a:avLst/>
          </a:prstGeom>
          <a:solidFill>
            <a:srgbClr val="0E7C86"/>
          </a:solidFill>
          <a:ln/>
          <a:effectLst>
            <a:outerShdw sx="100000" sy="100000" kx="0" ky="0" algn="bl" rotWithShape="0" blurRad="114300" dist="50800" dir="5400000">
              <a:srgbClr val="0B2430">
                <a:alpha val="10000"/>
              </a:srgbClr>
            </a:outerShdw>
          </a:effectLst>
        </p:spPr>
      </p:sp>
      <p:sp>
        <p:nvSpPr>
          <p:cNvPr id="14" name="Text 11"/>
          <p:cNvSpPr/>
          <p:nvPr/>
        </p:nvSpPr>
        <p:spPr>
          <a:xfrm>
            <a:off x="640080" y="238658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Shape 12"/>
          <p:cNvSpPr/>
          <p:nvPr/>
        </p:nvSpPr>
        <p:spPr>
          <a:xfrm>
            <a:off x="1371600" y="2404872"/>
            <a:ext cx="7498080" cy="530352"/>
          </a:xfrm>
          <a:prstGeom prst="roundRect">
            <a:avLst>
              <a:gd name="adj" fmla="val 13793"/>
            </a:avLst>
          </a:prstGeom>
          <a:solidFill>
            <a:srgbClr val="FFFFFF"/>
          </a:solidFill>
          <a:ln w="9525">
            <a:solidFill>
              <a:srgbClr val="CBD9E0"/>
            </a:solidFill>
            <a:prstDash val="solid"/>
          </a:ln>
        </p:spPr>
      </p:sp>
      <p:sp>
        <p:nvSpPr>
          <p:cNvPr id="16" name="Text 13"/>
          <p:cNvSpPr/>
          <p:nvPr/>
        </p:nvSpPr>
        <p:spPr>
          <a:xfrm>
            <a:off x="1600200" y="2386584"/>
            <a:ext cx="7178040" cy="566928"/>
          </a:xfrm>
          <a:prstGeom prst="rect">
            <a:avLst/>
          </a:prstGeom>
          <a:noFill/>
          <a:ln/>
        </p:spPr>
        <p:txBody>
          <a:bodyPr wrap="square" lIns="0" tIns="0" rIns="0" bIns="0" rtlCol="0" anchor="ctr"/>
          <a:lstStyle/>
          <a:p>
            <a:pPr indent="0" marL="0">
              <a:buNone/>
            </a:pPr>
            <a:r>
              <a:rPr lang="en-US" sz="1350" dirty="0">
                <a:solidFill>
                  <a:srgbClr val="12242E"/>
                </a:solidFill>
                <a:latin typeface="Calibri" pitchFamily="34" charset="0"/>
                <a:ea typeface="Calibri" pitchFamily="34" charset="-122"/>
                <a:cs typeface="Calibri" pitchFamily="34" charset="-120"/>
              </a:rPr>
              <a:t>Agent generates A2UI (structure + data)</a:t>
            </a:r>
            <a:endParaRPr lang="en-US" sz="1350" dirty="0"/>
          </a:p>
        </p:txBody>
      </p:sp>
      <p:sp>
        <p:nvSpPr>
          <p:cNvPr id="17" name="Shape 14"/>
          <p:cNvSpPr/>
          <p:nvPr/>
        </p:nvSpPr>
        <p:spPr>
          <a:xfrm>
            <a:off x="950976" y="2953512"/>
            <a:ext cx="0" cy="54864"/>
          </a:xfrm>
          <a:prstGeom prst="line">
            <a:avLst/>
          </a:prstGeom>
          <a:noFill/>
          <a:ln w="25400">
            <a:solidFill>
              <a:srgbClr val="CBD9E0"/>
            </a:solidFill>
            <a:prstDash val="solid"/>
          </a:ln>
        </p:spPr>
      </p:sp>
      <p:sp>
        <p:nvSpPr>
          <p:cNvPr id="18" name="Shape 15"/>
          <p:cNvSpPr/>
          <p:nvPr/>
        </p:nvSpPr>
        <p:spPr>
          <a:xfrm>
            <a:off x="640080" y="2990088"/>
            <a:ext cx="566928" cy="566928"/>
          </a:xfrm>
          <a:prstGeom prst="ellipse">
            <a:avLst/>
          </a:prstGeom>
          <a:solidFill>
            <a:srgbClr val="0E7C86"/>
          </a:solidFill>
          <a:ln/>
          <a:effectLst>
            <a:outerShdw sx="100000" sy="100000" kx="0" ky="0" algn="bl" rotWithShape="0" blurRad="114300" dist="50800" dir="5400000">
              <a:srgbClr val="0B2430">
                <a:alpha val="10000"/>
              </a:srgbClr>
            </a:outerShdw>
          </a:effectLst>
        </p:spPr>
      </p:sp>
      <p:sp>
        <p:nvSpPr>
          <p:cNvPr id="19" name="Text 16"/>
          <p:cNvSpPr/>
          <p:nvPr/>
        </p:nvSpPr>
        <p:spPr>
          <a:xfrm>
            <a:off x="640080" y="299008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Shape 17"/>
          <p:cNvSpPr/>
          <p:nvPr/>
        </p:nvSpPr>
        <p:spPr>
          <a:xfrm>
            <a:off x="1371600" y="3008376"/>
            <a:ext cx="7498080" cy="530352"/>
          </a:xfrm>
          <a:prstGeom prst="roundRect">
            <a:avLst>
              <a:gd name="adj" fmla="val 13793"/>
            </a:avLst>
          </a:prstGeom>
          <a:solidFill>
            <a:srgbClr val="F1F6F8"/>
          </a:solidFill>
          <a:ln w="9525">
            <a:solidFill>
              <a:srgbClr val="CBD9E0"/>
            </a:solidFill>
            <a:prstDash val="solid"/>
          </a:ln>
        </p:spPr>
      </p:sp>
      <p:sp>
        <p:nvSpPr>
          <p:cNvPr id="21" name="Text 18"/>
          <p:cNvSpPr/>
          <p:nvPr/>
        </p:nvSpPr>
        <p:spPr>
          <a:xfrm>
            <a:off x="1600200" y="2990088"/>
            <a:ext cx="7178040" cy="566928"/>
          </a:xfrm>
          <a:prstGeom prst="rect">
            <a:avLst/>
          </a:prstGeom>
          <a:noFill/>
          <a:ln/>
        </p:spPr>
        <p:txBody>
          <a:bodyPr wrap="square" lIns="0" tIns="0" rIns="0" bIns="0" rtlCol="0" anchor="ctr"/>
          <a:lstStyle/>
          <a:p>
            <a:pPr indent="0" marL="0">
              <a:buNone/>
            </a:pPr>
            <a:r>
              <a:rPr lang="en-US" sz="1350" dirty="0">
                <a:solidFill>
                  <a:srgbClr val="12242E"/>
                </a:solidFill>
                <a:latin typeface="Calibri" pitchFamily="34" charset="0"/>
                <a:ea typeface="Calibri" pitchFamily="34" charset="-122"/>
                <a:cs typeface="Calibri" pitchFamily="34" charset="-120"/>
              </a:rPr>
              <a:t>Messages stream over SSE</a:t>
            </a:r>
            <a:endParaRPr lang="en-US" sz="1350" dirty="0"/>
          </a:p>
        </p:txBody>
      </p:sp>
      <p:sp>
        <p:nvSpPr>
          <p:cNvPr id="22" name="Shape 19"/>
          <p:cNvSpPr/>
          <p:nvPr/>
        </p:nvSpPr>
        <p:spPr>
          <a:xfrm>
            <a:off x="950976" y="3557016"/>
            <a:ext cx="0" cy="54864"/>
          </a:xfrm>
          <a:prstGeom prst="line">
            <a:avLst/>
          </a:prstGeom>
          <a:noFill/>
          <a:ln w="25400">
            <a:solidFill>
              <a:srgbClr val="CBD9E0"/>
            </a:solidFill>
            <a:prstDash val="solid"/>
          </a:ln>
        </p:spPr>
      </p:sp>
      <p:sp>
        <p:nvSpPr>
          <p:cNvPr id="23" name="Shape 20"/>
          <p:cNvSpPr/>
          <p:nvPr/>
        </p:nvSpPr>
        <p:spPr>
          <a:xfrm>
            <a:off x="640080" y="3593592"/>
            <a:ext cx="566928" cy="566928"/>
          </a:xfrm>
          <a:prstGeom prst="ellipse">
            <a:avLst/>
          </a:prstGeom>
          <a:solidFill>
            <a:srgbClr val="0E7C86"/>
          </a:solidFill>
          <a:ln/>
          <a:effectLst>
            <a:outerShdw sx="100000" sy="100000" kx="0" ky="0" algn="bl" rotWithShape="0" blurRad="114300" dist="50800" dir="5400000">
              <a:srgbClr val="0B2430">
                <a:alpha val="10000"/>
              </a:srgbClr>
            </a:outerShdw>
          </a:effectLst>
        </p:spPr>
      </p:sp>
      <p:sp>
        <p:nvSpPr>
          <p:cNvPr id="24" name="Text 21"/>
          <p:cNvSpPr/>
          <p:nvPr/>
        </p:nvSpPr>
        <p:spPr>
          <a:xfrm>
            <a:off x="640080" y="359359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5" name="Shape 22"/>
          <p:cNvSpPr/>
          <p:nvPr/>
        </p:nvSpPr>
        <p:spPr>
          <a:xfrm>
            <a:off x="1371600" y="3611880"/>
            <a:ext cx="7498080" cy="530352"/>
          </a:xfrm>
          <a:prstGeom prst="roundRect">
            <a:avLst>
              <a:gd name="adj" fmla="val 13793"/>
            </a:avLst>
          </a:prstGeom>
          <a:solidFill>
            <a:srgbClr val="FFFFFF"/>
          </a:solidFill>
          <a:ln w="9525">
            <a:solidFill>
              <a:srgbClr val="CBD9E0"/>
            </a:solidFill>
            <a:prstDash val="solid"/>
          </a:ln>
        </p:spPr>
      </p:sp>
      <p:sp>
        <p:nvSpPr>
          <p:cNvPr id="26" name="Text 23"/>
          <p:cNvSpPr/>
          <p:nvPr/>
        </p:nvSpPr>
        <p:spPr>
          <a:xfrm>
            <a:off x="1600200" y="3593592"/>
            <a:ext cx="7178040" cy="566928"/>
          </a:xfrm>
          <a:prstGeom prst="rect">
            <a:avLst/>
          </a:prstGeom>
          <a:noFill/>
          <a:ln/>
        </p:spPr>
        <p:txBody>
          <a:bodyPr wrap="square" lIns="0" tIns="0" rIns="0" bIns="0" rtlCol="0" anchor="ctr"/>
          <a:lstStyle/>
          <a:p>
            <a:pPr indent="0" marL="0">
              <a:buNone/>
            </a:pPr>
            <a:r>
              <a:rPr lang="en-US" sz="1350" dirty="0">
                <a:solidFill>
                  <a:srgbClr val="12242E"/>
                </a:solidFill>
                <a:latin typeface="Calibri" pitchFamily="34" charset="0"/>
                <a:ea typeface="Calibri" pitchFamily="34" charset="-122"/>
                <a:cs typeface="Calibri" pitchFamily="34" charset="-120"/>
              </a:rPr>
              <a:t>Client buffers, waits for beginRendering, paints native widgets</a:t>
            </a:r>
            <a:endParaRPr lang="en-US" sz="1350" dirty="0"/>
          </a:p>
        </p:txBody>
      </p:sp>
      <p:sp>
        <p:nvSpPr>
          <p:cNvPr id="27" name="Shape 24"/>
          <p:cNvSpPr/>
          <p:nvPr/>
        </p:nvSpPr>
        <p:spPr>
          <a:xfrm>
            <a:off x="950976" y="4160520"/>
            <a:ext cx="0" cy="54864"/>
          </a:xfrm>
          <a:prstGeom prst="line">
            <a:avLst/>
          </a:prstGeom>
          <a:noFill/>
          <a:ln w="25400">
            <a:solidFill>
              <a:srgbClr val="CBD9E0"/>
            </a:solidFill>
            <a:prstDash val="solid"/>
          </a:ln>
        </p:spPr>
      </p:sp>
      <p:sp>
        <p:nvSpPr>
          <p:cNvPr id="28" name="Shape 25"/>
          <p:cNvSpPr/>
          <p:nvPr/>
        </p:nvSpPr>
        <p:spPr>
          <a:xfrm>
            <a:off x="640080" y="4197096"/>
            <a:ext cx="566928" cy="566928"/>
          </a:xfrm>
          <a:prstGeom prst="ellipse">
            <a:avLst/>
          </a:prstGeom>
          <a:solidFill>
            <a:srgbClr val="E8951C"/>
          </a:solidFill>
          <a:ln/>
          <a:effectLst>
            <a:outerShdw sx="100000" sy="100000" kx="0" ky="0" algn="bl" rotWithShape="0" blurRad="114300" dist="50800" dir="5400000">
              <a:srgbClr val="0B2430">
                <a:alpha val="10000"/>
              </a:srgbClr>
            </a:outerShdw>
          </a:effectLst>
        </p:spPr>
      </p:sp>
      <p:sp>
        <p:nvSpPr>
          <p:cNvPr id="29" name="Text 26"/>
          <p:cNvSpPr/>
          <p:nvPr/>
        </p:nvSpPr>
        <p:spPr>
          <a:xfrm>
            <a:off x="640080" y="4197096"/>
            <a:ext cx="566928" cy="566928"/>
          </a:xfrm>
          <a:prstGeom prst="rect">
            <a:avLst/>
          </a:prstGeom>
          <a:noFill/>
          <a:ln/>
        </p:spPr>
        <p:txBody>
          <a:bodyPr wrap="square" lIns="0" tIns="0" rIns="0" bIns="0" rtlCol="0" anchor="ctr"/>
          <a:lstStyle/>
          <a:p>
            <a:pPr algn="ctr" indent="0" marL="0">
              <a:buNone/>
            </a:pPr>
            <a:r>
              <a:rPr lang="en-US" sz="2000" b="1" dirty="0">
                <a:solidFill>
                  <a:srgbClr val="0E2330"/>
                </a:solidFill>
                <a:latin typeface="Cambria" pitchFamily="34" charset="0"/>
                <a:ea typeface="Cambria" pitchFamily="34" charset="-122"/>
                <a:cs typeface="Cambria" pitchFamily="34" charset="-120"/>
              </a:rPr>
              <a:t>5</a:t>
            </a:r>
            <a:endParaRPr lang="en-US" sz="2000" dirty="0"/>
          </a:p>
        </p:txBody>
      </p:sp>
      <p:sp>
        <p:nvSpPr>
          <p:cNvPr id="30" name="Shape 27"/>
          <p:cNvSpPr/>
          <p:nvPr/>
        </p:nvSpPr>
        <p:spPr>
          <a:xfrm>
            <a:off x="1371600" y="4215384"/>
            <a:ext cx="7498080" cy="530352"/>
          </a:xfrm>
          <a:prstGeom prst="roundRect">
            <a:avLst>
              <a:gd name="adj" fmla="val 13793"/>
            </a:avLst>
          </a:prstGeom>
          <a:solidFill>
            <a:srgbClr val="F1F6F8"/>
          </a:solidFill>
          <a:ln w="9525">
            <a:solidFill>
              <a:srgbClr val="CBD9E0"/>
            </a:solidFill>
            <a:prstDash val="solid"/>
          </a:ln>
        </p:spPr>
      </p:sp>
      <p:sp>
        <p:nvSpPr>
          <p:cNvPr id="31" name="Text 28"/>
          <p:cNvSpPr/>
          <p:nvPr/>
        </p:nvSpPr>
        <p:spPr>
          <a:xfrm>
            <a:off x="1600200" y="4197096"/>
            <a:ext cx="7178040" cy="566928"/>
          </a:xfrm>
          <a:prstGeom prst="rect">
            <a:avLst/>
          </a:prstGeom>
          <a:noFill/>
          <a:ln/>
        </p:spPr>
        <p:txBody>
          <a:bodyPr wrap="square" lIns="0" tIns="0" rIns="0" bIns="0" rtlCol="0" anchor="ctr"/>
          <a:lstStyle/>
          <a:p>
            <a:pPr indent="0" marL="0">
              <a:buNone/>
            </a:pPr>
            <a:r>
              <a:rPr lang="en-US" sz="1350" dirty="0">
                <a:solidFill>
                  <a:srgbClr val="12242E"/>
                </a:solidFill>
                <a:latin typeface="Calibri" pitchFamily="34" charset="0"/>
                <a:ea typeface="Calibri" pitchFamily="34" charset="-122"/>
                <a:cs typeface="Calibri" pitchFamily="34" charset="-120"/>
              </a:rPr>
              <a:t>User interacts: taps a Button</a:t>
            </a:r>
            <a:endParaRPr lang="en-US" sz="1350" dirty="0"/>
          </a:p>
        </p:txBody>
      </p:sp>
      <p:sp>
        <p:nvSpPr>
          <p:cNvPr id="32" name="Shape 29"/>
          <p:cNvSpPr/>
          <p:nvPr/>
        </p:nvSpPr>
        <p:spPr>
          <a:xfrm>
            <a:off x="950976" y="4764024"/>
            <a:ext cx="0" cy="54864"/>
          </a:xfrm>
          <a:prstGeom prst="line">
            <a:avLst/>
          </a:prstGeom>
          <a:noFill/>
          <a:ln w="25400">
            <a:solidFill>
              <a:srgbClr val="CBD9E0"/>
            </a:solidFill>
            <a:prstDash val="solid"/>
          </a:ln>
        </p:spPr>
      </p:sp>
      <p:sp>
        <p:nvSpPr>
          <p:cNvPr id="33" name="Shape 30"/>
          <p:cNvSpPr/>
          <p:nvPr/>
        </p:nvSpPr>
        <p:spPr>
          <a:xfrm>
            <a:off x="640080" y="4800600"/>
            <a:ext cx="566928" cy="566928"/>
          </a:xfrm>
          <a:prstGeom prst="ellipse">
            <a:avLst/>
          </a:prstGeom>
          <a:solidFill>
            <a:srgbClr val="1B4861"/>
          </a:solidFill>
          <a:ln/>
          <a:effectLst>
            <a:outerShdw sx="100000" sy="100000" kx="0" ky="0" algn="bl" rotWithShape="0" blurRad="114300" dist="50800" dir="5400000">
              <a:srgbClr val="0B2430">
                <a:alpha val="10000"/>
              </a:srgbClr>
            </a:outerShdw>
          </a:effectLst>
        </p:spPr>
      </p:sp>
      <p:sp>
        <p:nvSpPr>
          <p:cNvPr id="34" name="Text 31"/>
          <p:cNvSpPr/>
          <p:nvPr/>
        </p:nvSpPr>
        <p:spPr>
          <a:xfrm>
            <a:off x="640080" y="480060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5" name="Shape 32"/>
          <p:cNvSpPr/>
          <p:nvPr/>
        </p:nvSpPr>
        <p:spPr>
          <a:xfrm>
            <a:off x="1371600" y="4818888"/>
            <a:ext cx="7498080" cy="530352"/>
          </a:xfrm>
          <a:prstGeom prst="roundRect">
            <a:avLst>
              <a:gd name="adj" fmla="val 13793"/>
            </a:avLst>
          </a:prstGeom>
          <a:solidFill>
            <a:srgbClr val="FFFFFF"/>
          </a:solidFill>
          <a:ln w="9525">
            <a:solidFill>
              <a:srgbClr val="CBD9E0"/>
            </a:solidFill>
            <a:prstDash val="solid"/>
          </a:ln>
        </p:spPr>
      </p:sp>
      <p:sp>
        <p:nvSpPr>
          <p:cNvPr id="36" name="Text 33"/>
          <p:cNvSpPr/>
          <p:nvPr/>
        </p:nvSpPr>
        <p:spPr>
          <a:xfrm>
            <a:off x="1600200" y="4800600"/>
            <a:ext cx="7178040" cy="566928"/>
          </a:xfrm>
          <a:prstGeom prst="rect">
            <a:avLst/>
          </a:prstGeom>
          <a:noFill/>
          <a:ln/>
        </p:spPr>
        <p:txBody>
          <a:bodyPr wrap="square" lIns="0" tIns="0" rIns="0" bIns="0" rtlCol="0" anchor="ctr"/>
          <a:lstStyle/>
          <a:p>
            <a:pPr indent="0" marL="0">
              <a:buNone/>
            </a:pPr>
            <a:r>
              <a:rPr lang="en-US" sz="1350" dirty="0">
                <a:solidFill>
                  <a:srgbClr val="12242E"/>
                </a:solidFill>
                <a:latin typeface="Calibri" pitchFamily="34" charset="0"/>
                <a:ea typeface="Calibri" pitchFamily="34" charset="-122"/>
                <a:cs typeface="Calibri" pitchFamily="34" charset="-120"/>
              </a:rPr>
              <a:t>Client sends a userAction back via A2A</a:t>
            </a:r>
            <a:endParaRPr lang="en-US" sz="1350" dirty="0"/>
          </a:p>
        </p:txBody>
      </p:sp>
      <p:sp>
        <p:nvSpPr>
          <p:cNvPr id="37" name="Shape 34"/>
          <p:cNvSpPr/>
          <p:nvPr/>
        </p:nvSpPr>
        <p:spPr>
          <a:xfrm>
            <a:off x="950976" y="5367528"/>
            <a:ext cx="0" cy="54864"/>
          </a:xfrm>
          <a:prstGeom prst="line">
            <a:avLst/>
          </a:prstGeom>
          <a:noFill/>
          <a:ln w="25400">
            <a:solidFill>
              <a:srgbClr val="CBD9E0"/>
            </a:solidFill>
            <a:prstDash val="solid"/>
          </a:ln>
        </p:spPr>
      </p:sp>
      <p:sp>
        <p:nvSpPr>
          <p:cNvPr id="38" name="Shape 35"/>
          <p:cNvSpPr/>
          <p:nvPr/>
        </p:nvSpPr>
        <p:spPr>
          <a:xfrm>
            <a:off x="640080" y="5404104"/>
            <a:ext cx="566928" cy="566928"/>
          </a:xfrm>
          <a:prstGeom prst="ellipse">
            <a:avLst/>
          </a:prstGeom>
          <a:solidFill>
            <a:srgbClr val="0E7C86"/>
          </a:solidFill>
          <a:ln/>
          <a:effectLst>
            <a:outerShdw sx="100000" sy="100000" kx="0" ky="0" algn="bl" rotWithShape="0" blurRad="114300" dist="50800" dir="5400000">
              <a:srgbClr val="0B2430">
                <a:alpha val="10000"/>
              </a:srgbClr>
            </a:outerShdw>
          </a:effectLst>
        </p:spPr>
      </p:sp>
      <p:sp>
        <p:nvSpPr>
          <p:cNvPr id="39" name="Text 36"/>
          <p:cNvSpPr/>
          <p:nvPr/>
        </p:nvSpPr>
        <p:spPr>
          <a:xfrm>
            <a:off x="640080" y="54041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40" name="Shape 37"/>
          <p:cNvSpPr/>
          <p:nvPr/>
        </p:nvSpPr>
        <p:spPr>
          <a:xfrm>
            <a:off x="1371600" y="5422392"/>
            <a:ext cx="7498080" cy="530352"/>
          </a:xfrm>
          <a:prstGeom prst="roundRect">
            <a:avLst>
              <a:gd name="adj" fmla="val 13793"/>
            </a:avLst>
          </a:prstGeom>
          <a:solidFill>
            <a:srgbClr val="F1F6F8"/>
          </a:solidFill>
          <a:ln w="9525">
            <a:solidFill>
              <a:srgbClr val="CBD9E0"/>
            </a:solidFill>
            <a:prstDash val="solid"/>
          </a:ln>
        </p:spPr>
      </p:sp>
      <p:sp>
        <p:nvSpPr>
          <p:cNvPr id="41" name="Text 38"/>
          <p:cNvSpPr/>
          <p:nvPr/>
        </p:nvSpPr>
        <p:spPr>
          <a:xfrm>
            <a:off x="1600200" y="5404104"/>
            <a:ext cx="7178040" cy="566928"/>
          </a:xfrm>
          <a:prstGeom prst="rect">
            <a:avLst/>
          </a:prstGeom>
          <a:noFill/>
          <a:ln/>
        </p:spPr>
        <p:txBody>
          <a:bodyPr wrap="square" lIns="0" tIns="0" rIns="0" bIns="0" rtlCol="0" anchor="ctr"/>
          <a:lstStyle/>
          <a:p>
            <a:pPr indent="0" marL="0">
              <a:buNone/>
            </a:pPr>
            <a:r>
              <a:rPr lang="en-US" sz="1350" dirty="0">
                <a:solidFill>
                  <a:srgbClr val="12242E"/>
                </a:solidFill>
                <a:latin typeface="Calibri" pitchFamily="34" charset="0"/>
                <a:ea typeface="Calibri" pitchFamily="34" charset="-122"/>
                <a:cs typeface="Calibri" pitchFamily="34" charset="-120"/>
              </a:rPr>
              <a:t>Agent responds with new A2UI messages</a:t>
            </a:r>
            <a:endParaRPr lang="en-US" sz="1350" dirty="0"/>
          </a:p>
        </p:txBody>
      </p:sp>
      <p:sp>
        <p:nvSpPr>
          <p:cNvPr id="42" name="Shape 39"/>
          <p:cNvSpPr/>
          <p:nvPr/>
        </p:nvSpPr>
        <p:spPr>
          <a:xfrm>
            <a:off x="9235440" y="1783080"/>
            <a:ext cx="2377440" cy="1828800"/>
          </a:xfrm>
          <a:prstGeom prst="roundRect">
            <a:avLst>
              <a:gd name="adj" fmla="val 6000"/>
            </a:avLst>
          </a:prstGeom>
          <a:solidFill>
            <a:srgbClr val="0E2330"/>
          </a:solidFill>
          <a:ln/>
          <a:effectLst>
            <a:outerShdw sx="100000" sy="100000" kx="0" ky="0" algn="bl" rotWithShape="0" blurRad="88900" dist="38100" dir="5400000">
              <a:srgbClr val="0B2430">
                <a:alpha val="13000"/>
              </a:srgbClr>
            </a:outerShdw>
          </a:effectLst>
        </p:spPr>
      </p:sp>
      <p:sp>
        <p:nvSpPr>
          <p:cNvPr id="43" name="Text 40"/>
          <p:cNvSpPr/>
          <p:nvPr/>
        </p:nvSpPr>
        <p:spPr>
          <a:xfrm>
            <a:off x="9436608" y="1993392"/>
            <a:ext cx="2011680" cy="548640"/>
          </a:xfrm>
          <a:prstGeom prst="rect">
            <a:avLst/>
          </a:prstGeom>
          <a:noFill/>
          <a:ln/>
        </p:spPr>
        <p:txBody>
          <a:bodyPr wrap="square" lIns="0" tIns="0" rIns="0" bIns="0" rtlCol="0" anchor="t"/>
          <a:lstStyle/>
          <a:p>
            <a:pPr indent="0" marL="0">
              <a:buNone/>
            </a:pPr>
            <a:r>
              <a:rPr lang="en-US" sz="1400" b="1" dirty="0">
                <a:solidFill>
                  <a:srgbClr val="5EEAD4"/>
                </a:solidFill>
                <a:latin typeface="Cambria" pitchFamily="34" charset="0"/>
                <a:ea typeface="Cambria" pitchFamily="34" charset="-122"/>
                <a:cs typeface="Cambria" pitchFamily="34" charset="-120"/>
              </a:rPr>
              <a:t>UI stream is one-way</a:t>
            </a:r>
            <a:endParaRPr lang="en-US" sz="1400" dirty="0"/>
          </a:p>
        </p:txBody>
      </p:sp>
      <p:sp>
        <p:nvSpPr>
          <p:cNvPr id="44" name="Text 41"/>
          <p:cNvSpPr/>
          <p:nvPr/>
        </p:nvSpPr>
        <p:spPr>
          <a:xfrm>
            <a:off x="9436608" y="2606040"/>
            <a:ext cx="2011680" cy="914400"/>
          </a:xfrm>
          <a:prstGeom prst="rect">
            <a:avLst/>
          </a:prstGeom>
          <a:noFill/>
          <a:ln/>
        </p:spPr>
        <p:txBody>
          <a:bodyPr wrap="square" lIns="0" tIns="0" rIns="0" bIns="0" rtlCol="0" anchor="t"/>
          <a:lstStyle/>
          <a:p>
            <a:pPr indent="0" marL="0">
              <a:buNone/>
            </a:pPr>
            <a:r>
              <a:rPr lang="en-US" sz="1100" dirty="0">
                <a:solidFill>
                  <a:srgbClr val="C7D9E2"/>
                </a:solidFill>
                <a:latin typeface="Calibri" pitchFamily="34" charset="0"/>
                <a:ea typeface="Calibri" pitchFamily="34" charset="-122"/>
                <a:cs typeface="Calibri" pitchFamily="34" charset="-120"/>
              </a:rPr>
              <a:t>Server pushes UI over SSE. The client only listens and paints.</a:t>
            </a:r>
            <a:endParaRPr lang="en-US" sz="1100" dirty="0"/>
          </a:p>
        </p:txBody>
      </p:sp>
      <p:sp>
        <p:nvSpPr>
          <p:cNvPr id="45" name="Shape 42"/>
          <p:cNvSpPr/>
          <p:nvPr/>
        </p:nvSpPr>
        <p:spPr>
          <a:xfrm>
            <a:off x="9235440" y="3794760"/>
            <a:ext cx="2377440" cy="1691640"/>
          </a:xfrm>
          <a:prstGeom prst="roundRect">
            <a:avLst>
              <a:gd name="adj" fmla="val 6486"/>
            </a:avLst>
          </a:prstGeom>
          <a:solidFill>
            <a:srgbClr val="0E7C86"/>
          </a:solidFill>
          <a:ln/>
          <a:effectLst>
            <a:outerShdw sx="100000" sy="100000" kx="0" ky="0" algn="bl" rotWithShape="0" blurRad="88900" dist="38100" dir="5400000">
              <a:srgbClr val="0B2430">
                <a:alpha val="13000"/>
              </a:srgbClr>
            </a:outerShdw>
          </a:effectLst>
        </p:spPr>
      </p:sp>
      <p:sp>
        <p:nvSpPr>
          <p:cNvPr id="46" name="Text 43"/>
          <p:cNvSpPr/>
          <p:nvPr/>
        </p:nvSpPr>
        <p:spPr>
          <a:xfrm>
            <a:off x="9436608" y="4005072"/>
            <a:ext cx="2011680" cy="548640"/>
          </a:xfrm>
          <a:prstGeom prst="rect">
            <a:avLst/>
          </a:prstGeom>
          <a:noFill/>
          <a:ln/>
        </p:spPr>
        <p:txBody>
          <a:bodyPr wrap="square" lIns="0" tIns="0" rIns="0" bIns="0" rtlCol="0" anchor="t"/>
          <a:lstStyle/>
          <a:p>
            <a:pPr indent="0" marL="0">
              <a:buNone/>
            </a:pPr>
            <a:r>
              <a:rPr lang="en-US" sz="1400" b="1" dirty="0">
                <a:solidFill>
                  <a:srgbClr val="FFFFFF"/>
                </a:solidFill>
                <a:latin typeface="Cambria" pitchFamily="34" charset="0"/>
                <a:ea typeface="Cambria" pitchFamily="34" charset="-122"/>
                <a:cs typeface="Cambria" pitchFamily="34" charset="-120"/>
              </a:rPr>
              <a:t>Events go back on A2A</a:t>
            </a:r>
            <a:endParaRPr lang="en-US" sz="1400" dirty="0"/>
          </a:p>
        </p:txBody>
      </p:sp>
      <p:sp>
        <p:nvSpPr>
          <p:cNvPr id="47" name="Text 44"/>
          <p:cNvSpPr/>
          <p:nvPr/>
        </p:nvSpPr>
        <p:spPr>
          <a:xfrm>
            <a:off x="9436608" y="4617720"/>
            <a:ext cx="2011680" cy="822960"/>
          </a:xfrm>
          <a:prstGeom prst="rect">
            <a:avLst/>
          </a:prstGeom>
          <a:noFill/>
          <a:ln/>
        </p:spPr>
        <p:txBody>
          <a:bodyPr wrap="square" lIns="0" tIns="0" rIns="0" bIns="0" rtlCol="0" anchor="t"/>
          <a:lstStyle/>
          <a:p>
            <a:pPr indent="0" marL="0">
              <a:buNone/>
            </a:pPr>
            <a:r>
              <a:rPr lang="en-US" sz="1100" dirty="0">
                <a:solidFill>
                  <a:srgbClr val="EAF7F6"/>
                </a:solidFill>
                <a:latin typeface="Calibri" pitchFamily="34" charset="0"/>
                <a:ea typeface="Calibri" pitchFamily="34" charset="-122"/>
                <a:cs typeface="Calibri" pitchFamily="34" charset="-120"/>
              </a:rPr>
              <a:t>A tap becomes a userAction the agent waits on. beginRendering stops a flash of half-built UI.</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TRANSFORMATION</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Plain text in, A2UI out, for TravelMind</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22</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dirty="0">
                <a:solidFill>
                  <a:srgbClr val="5B7383"/>
                </a:solidFill>
                <a:latin typeface="Calibri" pitchFamily="34" charset="0"/>
                <a:ea typeface="Calibri" pitchFamily="34" charset="-122"/>
                <a:cs typeface="Calibri" pitchFamily="34" charset="-120"/>
              </a:rPr>
              <a:t>Same flight data. The right side is what today's hands-on actually builds.</a:t>
            </a:r>
            <a:endParaRPr lang="en-US" sz="1400" dirty="0"/>
          </a:p>
        </p:txBody>
      </p:sp>
      <p:sp>
        <p:nvSpPr>
          <p:cNvPr id="9" name="Shape 6"/>
          <p:cNvSpPr/>
          <p:nvPr/>
        </p:nvSpPr>
        <p:spPr>
          <a:xfrm>
            <a:off x="548640" y="2148840"/>
            <a:ext cx="5486400" cy="3337560"/>
          </a:xfrm>
          <a:prstGeom prst="roundRect">
            <a:avLst>
              <a:gd name="adj" fmla="val 2192"/>
            </a:avLst>
          </a:prstGeom>
          <a:solidFill>
            <a:srgbClr val="0A1B26"/>
          </a:solidFill>
          <a:ln/>
          <a:effectLst>
            <a:outerShdw sx="100000" sy="100000" kx="0" ky="0" algn="bl" rotWithShape="0" blurRad="88900" dist="38100" dir="5400000">
              <a:srgbClr val="0B2430">
                <a:alpha val="13000"/>
              </a:srgbClr>
            </a:outerShdw>
          </a:effectLst>
        </p:spPr>
      </p:sp>
      <p:sp>
        <p:nvSpPr>
          <p:cNvPr id="10" name="Text 7"/>
          <p:cNvSpPr/>
          <p:nvPr/>
        </p:nvSpPr>
        <p:spPr>
          <a:xfrm>
            <a:off x="749808" y="2258568"/>
            <a:ext cx="5084064" cy="274320"/>
          </a:xfrm>
          <a:prstGeom prst="rect">
            <a:avLst/>
          </a:prstGeom>
          <a:noFill/>
          <a:ln/>
        </p:spPr>
        <p:txBody>
          <a:bodyPr wrap="square" lIns="0" tIns="0" rIns="0" bIns="0" rtlCol="0" anchor="ctr"/>
          <a:lstStyle/>
          <a:p>
            <a:pPr indent="0" marL="0">
              <a:buNone/>
            </a:pPr>
            <a:r>
              <a:rPr lang="en-US" sz="1050" b="1" dirty="0">
                <a:solidFill>
                  <a:srgbClr val="5EEAD4"/>
                </a:solidFill>
                <a:latin typeface="Consolas" pitchFamily="34" charset="0"/>
                <a:ea typeface="Consolas" pitchFamily="34" charset="-122"/>
                <a:cs typeface="Consolas" pitchFamily="34" charset="-120"/>
              </a:rPr>
              <a:t>// agent emits A2UI (abridged)</a:t>
            </a:r>
            <a:endParaRPr lang="en-US" sz="1050" dirty="0"/>
          </a:p>
        </p:txBody>
      </p:sp>
      <p:sp>
        <p:nvSpPr>
          <p:cNvPr id="11" name="Text 8"/>
          <p:cNvSpPr/>
          <p:nvPr/>
        </p:nvSpPr>
        <p:spPr>
          <a:xfrm>
            <a:off x="749808" y="2569464"/>
            <a:ext cx="5084064" cy="2788920"/>
          </a:xfrm>
          <a:prstGeom prst="rect">
            <a:avLst/>
          </a:prstGeom>
          <a:noFill/>
          <a:ln/>
        </p:spPr>
        <p:txBody>
          <a:bodyPr wrap="square" lIns="0" tIns="0" rIns="0" bIns="0" rtlCol="0" anchor="t"/>
          <a:lstStyle/>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id: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"opt511"</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Card: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children: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"flt","price","book"</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id: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"flt"</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Text: { text:</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"JX511 . 13:40"</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id: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"price"</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Text: { text:</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"11,800 INR"</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id: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"book"</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Button: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label: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"Rebook"</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action: { name: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"rebook"</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context: { flight: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"JX511"</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endParaRPr lang="en-US" sz="960" dirty="0"/>
          </a:p>
        </p:txBody>
      </p:sp>
      <p:sp>
        <p:nvSpPr>
          <p:cNvPr id="12" name="Shape 9"/>
          <p:cNvSpPr/>
          <p:nvPr/>
        </p:nvSpPr>
        <p:spPr>
          <a:xfrm>
            <a:off x="6355080" y="2148840"/>
            <a:ext cx="5257800" cy="3337560"/>
          </a:xfrm>
          <a:prstGeom prst="roundRect">
            <a:avLst>
              <a:gd name="adj" fmla="val 2740"/>
            </a:avLst>
          </a:prstGeom>
          <a:solidFill>
            <a:srgbClr val="F1F6F8"/>
          </a:solidFill>
          <a:ln w="9525">
            <a:solidFill>
              <a:srgbClr val="CBD9E0"/>
            </a:solidFill>
            <a:prstDash val="solid"/>
          </a:ln>
          <a:effectLst>
            <a:outerShdw sx="100000" sy="100000" kx="0" ky="0" algn="bl" rotWithShape="0" blurRad="88900" dist="38100" dir="5400000">
              <a:srgbClr val="0B2430">
                <a:alpha val="13000"/>
              </a:srgbClr>
            </a:outerShdw>
          </a:effectLst>
        </p:spPr>
      </p:sp>
      <p:sp>
        <p:nvSpPr>
          <p:cNvPr id="13" name="Text 10"/>
          <p:cNvSpPr/>
          <p:nvPr/>
        </p:nvSpPr>
        <p:spPr>
          <a:xfrm>
            <a:off x="6583680" y="2286000"/>
            <a:ext cx="4572000" cy="274320"/>
          </a:xfrm>
          <a:prstGeom prst="rect">
            <a:avLst/>
          </a:prstGeom>
          <a:noFill/>
          <a:ln/>
        </p:spPr>
        <p:txBody>
          <a:bodyPr wrap="square" lIns="0" tIns="0" rIns="0" bIns="0" rtlCol="0" anchor="ctr"/>
          <a:lstStyle/>
          <a:p>
            <a:pPr indent="0" marL="0">
              <a:buNone/>
            </a:pPr>
            <a:r>
              <a:rPr lang="en-US" sz="1050" b="1" dirty="0">
                <a:solidFill>
                  <a:srgbClr val="0E7C86"/>
                </a:solidFill>
                <a:latin typeface="Consolas" pitchFamily="34" charset="0"/>
                <a:ea typeface="Consolas" pitchFamily="34" charset="-122"/>
                <a:cs typeface="Consolas" pitchFamily="34" charset="-120"/>
              </a:rPr>
              <a:t>rendered natively</a:t>
            </a:r>
            <a:endParaRPr lang="en-US" sz="1050" dirty="0"/>
          </a:p>
        </p:txBody>
      </p:sp>
      <p:sp>
        <p:nvSpPr>
          <p:cNvPr id="14" name="Shape 11"/>
          <p:cNvSpPr/>
          <p:nvPr/>
        </p:nvSpPr>
        <p:spPr>
          <a:xfrm>
            <a:off x="6583680" y="2697480"/>
            <a:ext cx="4800600" cy="786384"/>
          </a:xfrm>
          <a:prstGeom prst="roundRect">
            <a:avLst>
              <a:gd name="adj" fmla="val 6977"/>
            </a:avLst>
          </a:prstGeom>
          <a:solidFill>
            <a:srgbClr val="FFFFFF"/>
          </a:solidFill>
          <a:ln w="6350">
            <a:solidFill>
              <a:srgbClr val="CBD9E0"/>
            </a:solidFill>
            <a:prstDash val="solid"/>
          </a:ln>
        </p:spPr>
      </p:sp>
      <p:sp>
        <p:nvSpPr>
          <p:cNvPr id="15" name="Text 12"/>
          <p:cNvSpPr/>
          <p:nvPr/>
        </p:nvSpPr>
        <p:spPr>
          <a:xfrm>
            <a:off x="6784848" y="2697480"/>
            <a:ext cx="1828800" cy="786384"/>
          </a:xfrm>
          <a:prstGeom prst="rect">
            <a:avLst/>
          </a:prstGeom>
          <a:noFill/>
          <a:ln/>
        </p:spPr>
        <p:txBody>
          <a:bodyPr wrap="square" lIns="0" tIns="0" rIns="0" bIns="0" rtlCol="0" anchor="ctr"/>
          <a:lstStyle/>
          <a:p>
            <a:pPr indent="0" marL="0">
              <a:buNone/>
            </a:pPr>
            <a:r>
              <a:rPr lang="en-US" sz="1300" b="1" dirty="0">
                <a:solidFill>
                  <a:srgbClr val="0E2330"/>
                </a:solidFill>
                <a:latin typeface="Calibri" pitchFamily="34" charset="0"/>
                <a:ea typeface="Calibri" pitchFamily="34" charset="-122"/>
                <a:cs typeface="Calibri" pitchFamily="34" charset="-120"/>
              </a:rPr>
              <a:t>JX490   </a:t>
            </a:r>
            <a:pPr indent="0" marL="0">
              <a:buNone/>
            </a:pPr>
            <a:r>
              <a:rPr lang="en-US" sz="1100" dirty="0">
                <a:solidFill>
                  <a:srgbClr val="5B7383"/>
                </a:solidFill>
                <a:latin typeface="Calibri" pitchFamily="34" charset="0"/>
                <a:ea typeface="Calibri" pitchFamily="34" charset="-122"/>
                <a:cs typeface="Calibri" pitchFamily="34" charset="-120"/>
              </a:rPr>
              <a:t>18:05</a:t>
            </a:r>
            <a:endParaRPr lang="en-US" sz="1300" dirty="0"/>
          </a:p>
        </p:txBody>
      </p:sp>
      <p:sp>
        <p:nvSpPr>
          <p:cNvPr id="16" name="Text 13"/>
          <p:cNvSpPr/>
          <p:nvPr/>
        </p:nvSpPr>
        <p:spPr>
          <a:xfrm>
            <a:off x="8549640" y="2697480"/>
            <a:ext cx="1234440" cy="786384"/>
          </a:xfrm>
          <a:prstGeom prst="rect">
            <a:avLst/>
          </a:prstGeom>
          <a:noFill/>
          <a:ln/>
        </p:spPr>
        <p:txBody>
          <a:bodyPr wrap="square" lIns="0" tIns="0" rIns="0" bIns="0" rtlCol="0" anchor="ctr"/>
          <a:lstStyle/>
          <a:p>
            <a:pPr algn="r" indent="0" marL="0">
              <a:buNone/>
            </a:pPr>
            <a:r>
              <a:rPr lang="en-US" sz="1300" b="1" dirty="0">
                <a:solidFill>
                  <a:srgbClr val="0E2330"/>
                </a:solidFill>
                <a:latin typeface="Calibri" pitchFamily="34" charset="0"/>
                <a:ea typeface="Calibri" pitchFamily="34" charset="-122"/>
                <a:cs typeface="Calibri" pitchFamily="34" charset="-120"/>
              </a:rPr>
              <a:t>₹9,400</a:t>
            </a:r>
            <a:endParaRPr lang="en-US" sz="1300" dirty="0"/>
          </a:p>
        </p:txBody>
      </p:sp>
      <p:sp>
        <p:nvSpPr>
          <p:cNvPr id="17" name="Shape 14"/>
          <p:cNvSpPr/>
          <p:nvPr/>
        </p:nvSpPr>
        <p:spPr>
          <a:xfrm>
            <a:off x="10058400" y="2889504"/>
            <a:ext cx="1188720" cy="402336"/>
          </a:xfrm>
          <a:prstGeom prst="roundRect">
            <a:avLst>
              <a:gd name="adj" fmla="val 50000"/>
            </a:avLst>
          </a:prstGeom>
          <a:solidFill>
            <a:srgbClr val="E4EDF1"/>
          </a:solidFill>
          <a:ln/>
        </p:spPr>
      </p:sp>
      <p:sp>
        <p:nvSpPr>
          <p:cNvPr id="18" name="Text 15"/>
          <p:cNvSpPr/>
          <p:nvPr/>
        </p:nvSpPr>
        <p:spPr>
          <a:xfrm>
            <a:off x="10058400" y="2889504"/>
            <a:ext cx="1188720" cy="402336"/>
          </a:xfrm>
          <a:prstGeom prst="rect">
            <a:avLst/>
          </a:prstGeom>
          <a:noFill/>
          <a:ln/>
        </p:spPr>
        <p:txBody>
          <a:bodyPr wrap="square" lIns="0" tIns="0" rIns="0" bIns="0" rtlCol="0" anchor="ctr"/>
          <a:lstStyle/>
          <a:p>
            <a:pPr algn="ctr" indent="0" marL="0">
              <a:buNone/>
            </a:pPr>
            <a:r>
              <a:rPr lang="en-US" sz="1050" b="1" dirty="0">
                <a:solidFill>
                  <a:srgbClr val="5B7383"/>
                </a:solidFill>
                <a:latin typeface="Calibri" pitchFamily="34" charset="0"/>
                <a:ea typeface="Calibri" pitchFamily="34" charset="-122"/>
                <a:cs typeface="Calibri" pitchFamily="34" charset="-120"/>
              </a:rPr>
              <a:t>Rebook</a:t>
            </a:r>
            <a:endParaRPr lang="en-US" sz="1050" dirty="0"/>
          </a:p>
        </p:txBody>
      </p:sp>
      <p:sp>
        <p:nvSpPr>
          <p:cNvPr id="19" name="Shape 16"/>
          <p:cNvSpPr/>
          <p:nvPr/>
        </p:nvSpPr>
        <p:spPr>
          <a:xfrm>
            <a:off x="6583680" y="3575304"/>
            <a:ext cx="4800600" cy="786384"/>
          </a:xfrm>
          <a:prstGeom prst="roundRect">
            <a:avLst>
              <a:gd name="adj" fmla="val 6977"/>
            </a:avLst>
          </a:prstGeom>
          <a:solidFill>
            <a:srgbClr val="FFFFFF"/>
          </a:solidFill>
          <a:ln w="6350">
            <a:solidFill>
              <a:srgbClr val="CBD9E0"/>
            </a:solidFill>
            <a:prstDash val="solid"/>
          </a:ln>
        </p:spPr>
      </p:sp>
      <p:sp>
        <p:nvSpPr>
          <p:cNvPr id="20" name="Text 17"/>
          <p:cNvSpPr/>
          <p:nvPr/>
        </p:nvSpPr>
        <p:spPr>
          <a:xfrm>
            <a:off x="6784848" y="3575304"/>
            <a:ext cx="1828800" cy="786384"/>
          </a:xfrm>
          <a:prstGeom prst="rect">
            <a:avLst/>
          </a:prstGeom>
          <a:noFill/>
          <a:ln/>
        </p:spPr>
        <p:txBody>
          <a:bodyPr wrap="square" lIns="0" tIns="0" rIns="0" bIns="0" rtlCol="0" anchor="ctr"/>
          <a:lstStyle/>
          <a:p>
            <a:pPr indent="0" marL="0">
              <a:buNone/>
            </a:pPr>
            <a:r>
              <a:rPr lang="en-US" sz="1300" b="1" dirty="0">
                <a:solidFill>
                  <a:srgbClr val="0E2330"/>
                </a:solidFill>
                <a:latin typeface="Calibri" pitchFamily="34" charset="0"/>
                <a:ea typeface="Calibri" pitchFamily="34" charset="-122"/>
                <a:cs typeface="Calibri" pitchFamily="34" charset="-120"/>
              </a:rPr>
              <a:t>JX511   </a:t>
            </a:r>
            <a:pPr indent="0" marL="0">
              <a:buNone/>
            </a:pPr>
            <a:r>
              <a:rPr lang="en-US" sz="1100" dirty="0">
                <a:solidFill>
                  <a:srgbClr val="5B7383"/>
                </a:solidFill>
                <a:latin typeface="Calibri" pitchFamily="34" charset="0"/>
                <a:ea typeface="Calibri" pitchFamily="34" charset="-122"/>
                <a:cs typeface="Calibri" pitchFamily="34" charset="-120"/>
              </a:rPr>
              <a:t>13:40</a:t>
            </a:r>
            <a:endParaRPr lang="en-US" sz="1300" dirty="0"/>
          </a:p>
        </p:txBody>
      </p:sp>
      <p:sp>
        <p:nvSpPr>
          <p:cNvPr id="21" name="Text 18"/>
          <p:cNvSpPr/>
          <p:nvPr/>
        </p:nvSpPr>
        <p:spPr>
          <a:xfrm>
            <a:off x="8549640" y="3575304"/>
            <a:ext cx="1234440" cy="786384"/>
          </a:xfrm>
          <a:prstGeom prst="rect">
            <a:avLst/>
          </a:prstGeom>
          <a:noFill/>
          <a:ln/>
        </p:spPr>
        <p:txBody>
          <a:bodyPr wrap="square" lIns="0" tIns="0" rIns="0" bIns="0" rtlCol="0" anchor="ctr"/>
          <a:lstStyle/>
          <a:p>
            <a:pPr algn="r" indent="0" marL="0">
              <a:buNone/>
            </a:pPr>
            <a:r>
              <a:rPr lang="en-US" sz="1300" b="1" dirty="0">
                <a:solidFill>
                  <a:srgbClr val="0E2330"/>
                </a:solidFill>
                <a:latin typeface="Calibri" pitchFamily="34" charset="0"/>
                <a:ea typeface="Calibri" pitchFamily="34" charset="-122"/>
                <a:cs typeface="Calibri" pitchFamily="34" charset="-120"/>
              </a:rPr>
              <a:t>₹11,800</a:t>
            </a:r>
            <a:endParaRPr lang="en-US" sz="1300" dirty="0"/>
          </a:p>
        </p:txBody>
      </p:sp>
      <p:sp>
        <p:nvSpPr>
          <p:cNvPr id="22" name="Shape 19"/>
          <p:cNvSpPr/>
          <p:nvPr/>
        </p:nvSpPr>
        <p:spPr>
          <a:xfrm>
            <a:off x="10058400" y="3767328"/>
            <a:ext cx="1188720" cy="402336"/>
          </a:xfrm>
          <a:prstGeom prst="roundRect">
            <a:avLst>
              <a:gd name="adj" fmla="val 50000"/>
            </a:avLst>
          </a:prstGeom>
          <a:solidFill>
            <a:srgbClr val="0E7C86"/>
          </a:solidFill>
          <a:ln/>
        </p:spPr>
      </p:sp>
      <p:sp>
        <p:nvSpPr>
          <p:cNvPr id="23" name="Text 20"/>
          <p:cNvSpPr/>
          <p:nvPr/>
        </p:nvSpPr>
        <p:spPr>
          <a:xfrm>
            <a:off x="10058400" y="3767328"/>
            <a:ext cx="1188720"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Rebook</a:t>
            </a:r>
            <a:endParaRPr lang="en-US" sz="1050" dirty="0"/>
          </a:p>
        </p:txBody>
      </p:sp>
      <p:sp>
        <p:nvSpPr>
          <p:cNvPr id="24" name="Shape 21"/>
          <p:cNvSpPr/>
          <p:nvPr/>
        </p:nvSpPr>
        <p:spPr>
          <a:xfrm>
            <a:off x="6583680" y="4453128"/>
            <a:ext cx="4800600" cy="786384"/>
          </a:xfrm>
          <a:prstGeom prst="roundRect">
            <a:avLst>
              <a:gd name="adj" fmla="val 6977"/>
            </a:avLst>
          </a:prstGeom>
          <a:solidFill>
            <a:srgbClr val="FFFFFF"/>
          </a:solidFill>
          <a:ln w="6350">
            <a:solidFill>
              <a:srgbClr val="CBD9E0"/>
            </a:solidFill>
            <a:prstDash val="solid"/>
          </a:ln>
        </p:spPr>
      </p:sp>
      <p:sp>
        <p:nvSpPr>
          <p:cNvPr id="25" name="Text 22"/>
          <p:cNvSpPr/>
          <p:nvPr/>
        </p:nvSpPr>
        <p:spPr>
          <a:xfrm>
            <a:off x="6784848" y="4453128"/>
            <a:ext cx="1828800" cy="786384"/>
          </a:xfrm>
          <a:prstGeom prst="rect">
            <a:avLst/>
          </a:prstGeom>
          <a:noFill/>
          <a:ln/>
        </p:spPr>
        <p:txBody>
          <a:bodyPr wrap="square" lIns="0" tIns="0" rIns="0" bIns="0" rtlCol="0" anchor="ctr"/>
          <a:lstStyle/>
          <a:p>
            <a:pPr indent="0" marL="0">
              <a:buNone/>
            </a:pPr>
            <a:r>
              <a:rPr lang="en-US" sz="1300" b="1" dirty="0">
                <a:solidFill>
                  <a:srgbClr val="0E2330"/>
                </a:solidFill>
                <a:latin typeface="Calibri" pitchFamily="34" charset="0"/>
                <a:ea typeface="Calibri" pitchFamily="34" charset="-122"/>
                <a:cs typeface="Calibri" pitchFamily="34" charset="-120"/>
              </a:rPr>
              <a:t>JX482   </a:t>
            </a:r>
            <a:pPr indent="0" marL="0">
              <a:buNone/>
            </a:pPr>
            <a:r>
              <a:rPr lang="en-US" sz="1100" dirty="0">
                <a:solidFill>
                  <a:srgbClr val="5B7383"/>
                </a:solidFill>
                <a:latin typeface="Calibri" pitchFamily="34" charset="0"/>
                <a:ea typeface="Calibri" pitchFamily="34" charset="-122"/>
                <a:cs typeface="Calibri" pitchFamily="34" charset="-120"/>
              </a:rPr>
              <a:t>09:15</a:t>
            </a:r>
            <a:endParaRPr lang="en-US" sz="1300" dirty="0"/>
          </a:p>
        </p:txBody>
      </p:sp>
      <p:sp>
        <p:nvSpPr>
          <p:cNvPr id="26" name="Text 23"/>
          <p:cNvSpPr/>
          <p:nvPr/>
        </p:nvSpPr>
        <p:spPr>
          <a:xfrm>
            <a:off x="8549640" y="4453128"/>
            <a:ext cx="1234440" cy="786384"/>
          </a:xfrm>
          <a:prstGeom prst="rect">
            <a:avLst/>
          </a:prstGeom>
          <a:noFill/>
          <a:ln/>
        </p:spPr>
        <p:txBody>
          <a:bodyPr wrap="square" lIns="0" tIns="0" rIns="0" bIns="0" rtlCol="0" anchor="ctr"/>
          <a:lstStyle/>
          <a:p>
            <a:pPr algn="r" indent="0" marL="0">
              <a:buNone/>
            </a:pPr>
            <a:r>
              <a:rPr lang="en-US" sz="1300" b="1" dirty="0">
                <a:solidFill>
                  <a:srgbClr val="0E2330"/>
                </a:solidFill>
                <a:latin typeface="Calibri" pitchFamily="34" charset="0"/>
                <a:ea typeface="Calibri" pitchFamily="34" charset="-122"/>
                <a:cs typeface="Calibri" pitchFamily="34" charset="-120"/>
              </a:rPr>
              <a:t>₹14,200</a:t>
            </a:r>
            <a:endParaRPr lang="en-US" sz="1300" dirty="0"/>
          </a:p>
        </p:txBody>
      </p:sp>
      <p:sp>
        <p:nvSpPr>
          <p:cNvPr id="27" name="Shape 24"/>
          <p:cNvSpPr/>
          <p:nvPr/>
        </p:nvSpPr>
        <p:spPr>
          <a:xfrm>
            <a:off x="10058400" y="4645152"/>
            <a:ext cx="1188720" cy="402336"/>
          </a:xfrm>
          <a:prstGeom prst="roundRect">
            <a:avLst>
              <a:gd name="adj" fmla="val 50000"/>
            </a:avLst>
          </a:prstGeom>
          <a:solidFill>
            <a:srgbClr val="E4EDF1"/>
          </a:solidFill>
          <a:ln/>
        </p:spPr>
      </p:sp>
      <p:sp>
        <p:nvSpPr>
          <p:cNvPr id="28" name="Text 25"/>
          <p:cNvSpPr/>
          <p:nvPr/>
        </p:nvSpPr>
        <p:spPr>
          <a:xfrm>
            <a:off x="10058400" y="4645152"/>
            <a:ext cx="1188720" cy="402336"/>
          </a:xfrm>
          <a:prstGeom prst="rect">
            <a:avLst/>
          </a:prstGeom>
          <a:noFill/>
          <a:ln/>
        </p:spPr>
        <p:txBody>
          <a:bodyPr wrap="square" lIns="0" tIns="0" rIns="0" bIns="0" rtlCol="0" anchor="ctr"/>
          <a:lstStyle/>
          <a:p>
            <a:pPr algn="ctr" indent="0" marL="0">
              <a:buNone/>
            </a:pPr>
            <a:r>
              <a:rPr lang="en-US" sz="1050" b="1" dirty="0">
                <a:solidFill>
                  <a:srgbClr val="5B7383"/>
                </a:solidFill>
                <a:latin typeface="Calibri" pitchFamily="34" charset="0"/>
                <a:ea typeface="Calibri" pitchFamily="34" charset="-122"/>
                <a:cs typeface="Calibri" pitchFamily="34" charset="-120"/>
              </a:rPr>
              <a:t>Rebook</a:t>
            </a:r>
            <a:endParaRPr lang="en-US" sz="1050" dirty="0"/>
          </a:p>
        </p:txBody>
      </p:sp>
      <p:sp>
        <p:nvSpPr>
          <p:cNvPr id="29" name="Text 26"/>
          <p:cNvSpPr/>
          <p:nvPr/>
        </p:nvSpPr>
        <p:spPr>
          <a:xfrm>
            <a:off x="6583680" y="5330952"/>
            <a:ext cx="4800600" cy="274320"/>
          </a:xfrm>
          <a:prstGeom prst="rect">
            <a:avLst/>
          </a:prstGeom>
          <a:noFill/>
          <a:ln/>
        </p:spPr>
        <p:txBody>
          <a:bodyPr wrap="square" lIns="0" tIns="0" rIns="0" bIns="0" rtlCol="0" anchor="ctr"/>
          <a:lstStyle/>
          <a:p>
            <a:pPr algn="ctr" indent="0" marL="0">
              <a:buNone/>
            </a:pPr>
            <a:r>
              <a:rPr lang="en-US" sz="1050" i="1" dirty="0">
                <a:solidFill>
                  <a:srgbClr val="1C9C72"/>
                </a:solidFill>
                <a:latin typeface="Calibri" pitchFamily="34" charset="0"/>
                <a:ea typeface="Calibri" pitchFamily="34" charset="-122"/>
                <a:cs typeface="Calibri" pitchFamily="34" charset="-120"/>
              </a:rPr>
              <a:t>action.name “rebook” returns as a userAction</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2330"/>
        </a:solidFill>
      </p:bgPr>
    </p:bg>
    <p:spTree>
      <p:nvGrpSpPr>
        <p:cNvPr id="1" name=""/>
        <p:cNvGrpSpPr/>
        <p:nvPr/>
      </p:nvGrpSpPr>
      <p:grpSpPr>
        <a:xfrm>
          <a:off x="0" y="0"/>
          <a:ext cx="0" cy="0"/>
          <a:chOff x="0" y="0"/>
          <a:chExt cx="0" cy="0"/>
        </a:xfrm>
      </p:grpSpPr>
      <p:sp>
        <p:nvSpPr>
          <p:cNvPr id="2" name="Shape 0"/>
          <p:cNvSpPr/>
          <p:nvPr/>
        </p:nvSpPr>
        <p:spPr>
          <a:xfrm>
            <a:off x="8869680" y="2011680"/>
            <a:ext cx="2926080" cy="658368"/>
          </a:xfrm>
          <a:prstGeom prst="roundRect">
            <a:avLst>
              <a:gd name="adj" fmla="val 16667"/>
            </a:avLst>
          </a:prstGeom>
          <a:solidFill>
            <a:srgbClr val="13344A">
              <a:alpha val="80000"/>
            </a:srgbClr>
          </a:solidFill>
          <a:ln/>
        </p:spPr>
      </p:sp>
      <p:sp>
        <p:nvSpPr>
          <p:cNvPr id="3" name="Shape 1"/>
          <p:cNvSpPr/>
          <p:nvPr/>
        </p:nvSpPr>
        <p:spPr>
          <a:xfrm>
            <a:off x="9034272" y="2834640"/>
            <a:ext cx="2926080" cy="658368"/>
          </a:xfrm>
          <a:prstGeom prst="roundRect">
            <a:avLst>
              <a:gd name="adj" fmla="val 16667"/>
            </a:avLst>
          </a:prstGeom>
          <a:solidFill>
            <a:srgbClr val="13344A">
              <a:alpha val="68000"/>
            </a:srgbClr>
          </a:solidFill>
          <a:ln/>
        </p:spPr>
      </p:sp>
      <p:sp>
        <p:nvSpPr>
          <p:cNvPr id="4" name="Shape 2"/>
          <p:cNvSpPr/>
          <p:nvPr/>
        </p:nvSpPr>
        <p:spPr>
          <a:xfrm>
            <a:off x="9198864" y="3657600"/>
            <a:ext cx="2926080" cy="658368"/>
          </a:xfrm>
          <a:prstGeom prst="roundRect">
            <a:avLst>
              <a:gd name="adj" fmla="val 16667"/>
            </a:avLst>
          </a:prstGeom>
          <a:solidFill>
            <a:srgbClr val="13344A">
              <a:alpha val="56000"/>
            </a:srgbClr>
          </a:solidFill>
          <a:ln/>
        </p:spPr>
      </p:sp>
      <p:sp>
        <p:nvSpPr>
          <p:cNvPr id="5" name="Shape 3"/>
          <p:cNvSpPr/>
          <p:nvPr/>
        </p:nvSpPr>
        <p:spPr>
          <a:xfrm>
            <a:off x="822960" y="2148840"/>
            <a:ext cx="1005840" cy="100584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6" name="Image 0" descr="preencoded.png">    </p:cNvPr>
          <p:cNvPicPr>
            <a:picLocks noChangeAspect="1"/>
          </p:cNvPicPr>
          <p:nvPr/>
        </p:nvPicPr>
        <p:blipFill>
          <a:blip r:embed="rId1"/>
          <a:stretch>
            <a:fillRect/>
          </a:stretch>
        </p:blipFill>
        <p:spPr>
          <a:xfrm>
            <a:off x="1084478" y="2410358"/>
            <a:ext cx="482803" cy="482803"/>
          </a:xfrm>
          <a:prstGeom prst="rect">
            <a:avLst/>
          </a:prstGeom>
        </p:spPr>
      </p:pic>
      <p:sp>
        <p:nvSpPr>
          <p:cNvPr id="7" name="Text 4"/>
          <p:cNvSpPr/>
          <p:nvPr/>
        </p:nvSpPr>
        <p:spPr>
          <a:xfrm>
            <a:off x="2057400" y="2240280"/>
            <a:ext cx="73152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PART 3</a:t>
            </a:r>
            <a:endParaRPr lang="en-US" sz="1400" dirty="0"/>
          </a:p>
        </p:txBody>
      </p:sp>
      <p:sp>
        <p:nvSpPr>
          <p:cNvPr id="8" name="Text 5"/>
          <p:cNvSpPr/>
          <p:nvPr/>
        </p:nvSpPr>
        <p:spPr>
          <a:xfrm>
            <a:off x="2057400" y="2606040"/>
            <a:ext cx="7498080" cy="14630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The five UI patterns</a:t>
            </a:r>
            <a:endParaRPr lang="en-US" sz="3400" dirty="0"/>
          </a:p>
        </p:txBody>
      </p:sp>
      <p:sp>
        <p:nvSpPr>
          <p:cNvPr id="9" name="Text 6"/>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EEAD4"/>
                </a:solidFill>
                <a:latin typeface="Consolas" pitchFamily="34" charset="0"/>
                <a:ea typeface="Consolas" pitchFamily="34" charset="-122"/>
                <a:cs typeface="Consolas" pitchFamily="34" charset="-120"/>
              </a:rPr>
              <a:t>23</a:t>
            </a:r>
            <a:endParaRPr lang="en-US" sz="900" dirty="0"/>
          </a:p>
        </p:txBody>
      </p:sp>
      <p:sp>
        <p:nvSpPr>
          <p:cNvPr id="10" name="Text 7"/>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7FA6B6"/>
                </a:solidFill>
                <a:latin typeface="Calibri" pitchFamily="34" charset="0"/>
                <a:ea typeface="Calibri" pitchFamily="34" charset="-122"/>
                <a:cs typeface="Calibri" pitchFamily="34" charset="-120"/>
              </a:rPr>
              <a:t>A2UI · Agentic UI Layer</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THROUGH-LINE</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Five patterns, five production verbs</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24</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2468880"/>
                <a:gridCol w="2926080"/>
                <a:gridCol w="5669280"/>
              </a:tblGrid>
              <a:tr h="65836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Pattern</a:t>
                      </a:r>
                      <a:endParaRPr lang="en-US" sz="14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Production verb</a:t>
                      </a:r>
                      <a:endParaRPr lang="en-US" sz="14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TravelMind example</a:t>
                      </a:r>
                      <a:endParaRPr lang="en-US" sz="14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r>
              <a:tr h="658368">
                <a:tc>
                  <a:txBody>
                    <a:bodyPr/>
                    <a:lstStyle/>
                    <a:p>
                      <a:pPr algn="l" indent="0" marL="0">
                        <a:buNone/>
                      </a:pPr>
                      <a:r>
                        <a:rPr lang="en-US" sz="1350" b="1" dirty="0">
                          <a:solidFill>
                            <a:srgbClr val="12242E"/>
                          </a:solidFill>
                          <a:latin typeface="Calibri" pitchFamily="34" charset="0"/>
                          <a:ea typeface="Calibri" pitchFamily="34" charset="-122"/>
                          <a:cs typeface="Calibri" pitchFamily="34" charset="-120"/>
                        </a:rPr>
                        <a:t>Chat</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Show</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“Your flight is delayed 40 min”</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658368">
                <a:tc>
                  <a:txBody>
                    <a:bodyPr/>
                    <a:lstStyle/>
                    <a:p>
                      <a:pPr algn="l" indent="0" marL="0">
                        <a:buNone/>
                      </a:pPr>
                      <a:r>
                        <a:rPr lang="en-US" sz="1350" b="1" dirty="0">
                          <a:solidFill>
                            <a:srgbClr val="12242E"/>
                          </a:solidFill>
                          <a:latin typeface="Calibri" pitchFamily="34" charset="0"/>
                          <a:ea typeface="Calibri" pitchFamily="34" charset="-122"/>
                          <a:cs typeface="Calibri" pitchFamily="34" charset="-120"/>
                        </a:rPr>
                        <a:t>Structured</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Structure</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Flight options as a table</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r h="658368">
                <a:tc>
                  <a:txBody>
                    <a:bodyPr/>
                    <a:lstStyle/>
                    <a:p>
                      <a:pPr algn="l" indent="0" marL="0">
                        <a:buNone/>
                      </a:pPr>
                      <a:r>
                        <a:rPr lang="en-US" sz="1350" b="1" dirty="0">
                          <a:solidFill>
                            <a:srgbClr val="E8951C"/>
                          </a:solidFill>
                          <a:latin typeface="Calibri" pitchFamily="34" charset="0"/>
                          <a:ea typeface="Calibri" pitchFamily="34" charset="-122"/>
                          <a:cs typeface="Calibri" pitchFamily="34" charset="-120"/>
                        </a:rPr>
                        <a:t>Approval</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Gate</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Approve a rebooking before it is booked</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658368">
                <a:tc>
                  <a:txBody>
                    <a:bodyPr/>
                    <a:lstStyle/>
                    <a:p>
                      <a:pPr algn="l" indent="0" marL="0">
                        <a:buNone/>
                      </a:pPr>
                      <a:r>
                        <a:rPr lang="en-US" sz="1350" b="1" dirty="0">
                          <a:solidFill>
                            <a:srgbClr val="12242E"/>
                          </a:solidFill>
                          <a:latin typeface="Calibri" pitchFamily="34" charset="0"/>
                          <a:ea typeface="Calibri" pitchFamily="34" charset="-122"/>
                          <a:cs typeface="Calibri" pitchFamily="34" charset="-120"/>
                        </a:rPr>
                        <a:t>Registry</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Discover</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Which agents and tools are available</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r h="658368">
                <a:tc>
                  <a:txBody>
                    <a:bodyPr/>
                    <a:lstStyle/>
                    <a:p>
                      <a:pPr algn="l" indent="0" marL="0">
                        <a:buNone/>
                      </a:pPr>
                      <a:r>
                        <a:rPr lang="en-US" sz="1350" b="1" dirty="0">
                          <a:solidFill>
                            <a:srgbClr val="12242E"/>
                          </a:solidFill>
                          <a:latin typeface="Calibri" pitchFamily="34" charset="0"/>
                          <a:ea typeface="Calibri" pitchFamily="34" charset="-122"/>
                          <a:cs typeface="Calibri" pitchFamily="34" charset="-120"/>
                        </a:rPr>
                        <a:t>Observability</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Record</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Trace + audit of every action</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bl>
          </a:graphicData>
        </a:graphic>
      </p:graphicFrame>
      <p:sp>
        <p:nvSpPr>
          <p:cNvPr id="9" name="Text 5"/>
          <p:cNvSpPr/>
          <p:nvPr/>
        </p:nvSpPr>
        <p:spPr>
          <a:xfrm>
            <a:off x="548640" y="5623560"/>
            <a:ext cx="11064240" cy="365760"/>
          </a:xfrm>
          <a:prstGeom prst="rect">
            <a:avLst/>
          </a:prstGeom>
          <a:noFill/>
          <a:ln/>
        </p:spPr>
        <p:txBody>
          <a:bodyPr wrap="square" lIns="0" tIns="0" rIns="0" bIns="0" rtlCol="0" anchor="ctr"/>
          <a:lstStyle/>
          <a:p>
            <a:pPr algn="ctr" indent="0" marL="0">
              <a:buNone/>
            </a:pPr>
            <a:r>
              <a:rPr lang="en-US" sz="1200" i="1" dirty="0">
                <a:solidFill>
                  <a:srgbClr val="5B7383"/>
                </a:solidFill>
                <a:latin typeface="Calibri" pitchFamily="34" charset="0"/>
                <a:ea typeface="Calibri" pitchFamily="34" charset="-122"/>
                <a:cs typeface="Calibri" pitchFamily="34" charset="-120"/>
              </a:rPr>
              <a:t>Each pattern is framework-agnostic. The question we keep asking: does this one need A2UI, or will something simpler do?</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PATTERN 1 OF 5 · STRUCTURE</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Structured output: prose becomes typed components</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25</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dirty="0">
                <a:solidFill>
                  <a:srgbClr val="5B7383"/>
                </a:solidFill>
                <a:latin typeface="Calibri" pitchFamily="34" charset="0"/>
                <a:ea typeface="Calibri" pitchFamily="34" charset="-122"/>
                <a:cs typeface="Calibri" pitchFamily="34" charset="-120"/>
              </a:rPr>
              <a:t>The agent picks the component that fits the answer shape. Lowest-risk, highest-frequency win, start here.</a:t>
            </a:r>
            <a:endParaRPr lang="en-US" sz="1400" dirty="0"/>
          </a:p>
        </p:txBody>
      </p:sp>
      <p:sp>
        <p:nvSpPr>
          <p:cNvPr id="9" name="Shape 6"/>
          <p:cNvSpPr/>
          <p:nvPr/>
        </p:nvSpPr>
        <p:spPr>
          <a:xfrm>
            <a:off x="548640" y="2148840"/>
            <a:ext cx="2491740" cy="2788920"/>
          </a:xfrm>
          <a:prstGeom prst="roundRect">
            <a:avLst>
              <a:gd name="adj" fmla="val 440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0" name="Shape 7"/>
          <p:cNvSpPr/>
          <p:nvPr/>
        </p:nvSpPr>
        <p:spPr>
          <a:xfrm>
            <a:off x="1428750" y="2395728"/>
            <a:ext cx="731520" cy="73152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1" name="Image 1" descr="preencoded.png">    </p:cNvPr>
          <p:cNvPicPr>
            <a:picLocks noChangeAspect="1"/>
          </p:cNvPicPr>
          <p:nvPr/>
        </p:nvPicPr>
        <p:blipFill>
          <a:blip r:embed="rId2"/>
          <a:stretch>
            <a:fillRect/>
          </a:stretch>
        </p:blipFill>
        <p:spPr>
          <a:xfrm>
            <a:off x="1618945" y="2585923"/>
            <a:ext cx="351130" cy="351130"/>
          </a:xfrm>
          <a:prstGeom prst="rect">
            <a:avLst/>
          </a:prstGeom>
        </p:spPr>
      </p:pic>
      <p:sp>
        <p:nvSpPr>
          <p:cNvPr id="12" name="Text 8"/>
          <p:cNvSpPr/>
          <p:nvPr/>
        </p:nvSpPr>
        <p:spPr>
          <a:xfrm>
            <a:off x="548640" y="3246120"/>
            <a:ext cx="2491740" cy="365760"/>
          </a:xfrm>
          <a:prstGeom prst="rect">
            <a:avLst/>
          </a:prstGeom>
          <a:noFill/>
          <a:ln/>
        </p:spPr>
        <p:txBody>
          <a:bodyPr wrap="square" lIns="0" tIns="0" rIns="0" bIns="0" rtlCol="0" anchor="ctr"/>
          <a:lstStyle/>
          <a:p>
            <a:pPr algn="ctr" indent="0" marL="0">
              <a:buNone/>
            </a:pPr>
            <a:r>
              <a:rPr lang="en-US" sz="1500" b="1" dirty="0">
                <a:solidFill>
                  <a:srgbClr val="0E2330"/>
                </a:solidFill>
                <a:latin typeface="Cambria" pitchFamily="34" charset="0"/>
                <a:ea typeface="Cambria" pitchFamily="34" charset="-122"/>
                <a:cs typeface="Cambria" pitchFamily="34" charset="-120"/>
              </a:rPr>
              <a:t>Table</a:t>
            </a:r>
            <a:endParaRPr lang="en-US" sz="1500" dirty="0"/>
          </a:p>
        </p:txBody>
      </p:sp>
      <p:sp>
        <p:nvSpPr>
          <p:cNvPr id="13" name="Text 9"/>
          <p:cNvSpPr/>
          <p:nvPr/>
        </p:nvSpPr>
        <p:spPr>
          <a:xfrm>
            <a:off x="640080" y="3611880"/>
            <a:ext cx="2308860" cy="365760"/>
          </a:xfrm>
          <a:prstGeom prst="rect">
            <a:avLst/>
          </a:prstGeom>
          <a:noFill/>
          <a:ln/>
        </p:spPr>
        <p:txBody>
          <a:bodyPr wrap="square" lIns="0" tIns="0" rIns="0" bIns="0" rtlCol="0" anchor="ctr"/>
          <a:lstStyle/>
          <a:p>
            <a:pPr algn="ctr" indent="0" marL="0">
              <a:buNone/>
            </a:pPr>
            <a:r>
              <a:rPr lang="en-US" sz="1150" dirty="0">
                <a:solidFill>
                  <a:srgbClr val="5B7383"/>
                </a:solidFill>
                <a:latin typeface="Calibri" pitchFamily="34" charset="0"/>
                <a:ea typeface="Calibri" pitchFamily="34" charset="-122"/>
                <a:cs typeface="Calibri" pitchFamily="34" charset="-120"/>
              </a:rPr>
              <a:t>lists of options</a:t>
            </a:r>
            <a:endParaRPr lang="en-US" sz="1150" dirty="0"/>
          </a:p>
        </p:txBody>
      </p:sp>
      <p:sp>
        <p:nvSpPr>
          <p:cNvPr id="14" name="Shape 10"/>
          <p:cNvSpPr/>
          <p:nvPr/>
        </p:nvSpPr>
        <p:spPr>
          <a:xfrm>
            <a:off x="822960" y="4069080"/>
            <a:ext cx="1943100" cy="0"/>
          </a:xfrm>
          <a:prstGeom prst="line">
            <a:avLst/>
          </a:prstGeom>
          <a:noFill/>
          <a:ln w="9525">
            <a:solidFill>
              <a:srgbClr val="CBD9E0"/>
            </a:solidFill>
            <a:prstDash val="solid"/>
          </a:ln>
        </p:spPr>
      </p:sp>
      <p:sp>
        <p:nvSpPr>
          <p:cNvPr id="15" name="Text 11"/>
          <p:cNvSpPr/>
          <p:nvPr/>
        </p:nvSpPr>
        <p:spPr>
          <a:xfrm>
            <a:off x="640080" y="4160520"/>
            <a:ext cx="2308860" cy="685800"/>
          </a:xfrm>
          <a:prstGeom prst="rect">
            <a:avLst/>
          </a:prstGeom>
          <a:noFill/>
          <a:ln/>
        </p:spPr>
        <p:txBody>
          <a:bodyPr wrap="square" lIns="0" tIns="0" rIns="0" bIns="0" rtlCol="0" anchor="t"/>
          <a:lstStyle/>
          <a:p>
            <a:pPr algn="ctr" indent="0" marL="0">
              <a:buNone/>
            </a:pPr>
            <a:r>
              <a:rPr lang="en-US" sz="1100" i="1" dirty="0">
                <a:solidFill>
                  <a:srgbClr val="0E7C86"/>
                </a:solidFill>
                <a:latin typeface="Calibri" pitchFamily="34" charset="0"/>
                <a:ea typeface="Calibri" pitchFamily="34" charset="-122"/>
                <a:cs typeface="Calibri" pitchFamily="34" charset="-120"/>
              </a:rPr>
              <a:t>flight search results</a:t>
            </a:r>
            <a:endParaRPr lang="en-US" sz="1100" dirty="0"/>
          </a:p>
        </p:txBody>
      </p:sp>
      <p:sp>
        <p:nvSpPr>
          <p:cNvPr id="16" name="Shape 12"/>
          <p:cNvSpPr/>
          <p:nvPr/>
        </p:nvSpPr>
        <p:spPr>
          <a:xfrm>
            <a:off x="3406140" y="2148840"/>
            <a:ext cx="2491740" cy="2788920"/>
          </a:xfrm>
          <a:prstGeom prst="roundRect">
            <a:avLst>
              <a:gd name="adj" fmla="val 440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7" name="Shape 13"/>
          <p:cNvSpPr/>
          <p:nvPr/>
        </p:nvSpPr>
        <p:spPr>
          <a:xfrm>
            <a:off x="4286250" y="2395728"/>
            <a:ext cx="731520" cy="73152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8" name="Image 2" descr="preencoded.png">    </p:cNvPr>
          <p:cNvPicPr>
            <a:picLocks noChangeAspect="1"/>
          </p:cNvPicPr>
          <p:nvPr/>
        </p:nvPicPr>
        <p:blipFill>
          <a:blip r:embed="rId3"/>
          <a:stretch>
            <a:fillRect/>
          </a:stretch>
        </p:blipFill>
        <p:spPr>
          <a:xfrm>
            <a:off x="4476445" y="2585923"/>
            <a:ext cx="351130" cy="351130"/>
          </a:xfrm>
          <a:prstGeom prst="rect">
            <a:avLst/>
          </a:prstGeom>
        </p:spPr>
      </p:pic>
      <p:sp>
        <p:nvSpPr>
          <p:cNvPr id="19" name="Text 14"/>
          <p:cNvSpPr/>
          <p:nvPr/>
        </p:nvSpPr>
        <p:spPr>
          <a:xfrm>
            <a:off x="3406140" y="3246120"/>
            <a:ext cx="2491740" cy="365760"/>
          </a:xfrm>
          <a:prstGeom prst="rect">
            <a:avLst/>
          </a:prstGeom>
          <a:noFill/>
          <a:ln/>
        </p:spPr>
        <p:txBody>
          <a:bodyPr wrap="square" lIns="0" tIns="0" rIns="0" bIns="0" rtlCol="0" anchor="ctr"/>
          <a:lstStyle/>
          <a:p>
            <a:pPr algn="ctr" indent="0" marL="0">
              <a:buNone/>
            </a:pPr>
            <a:r>
              <a:rPr lang="en-US" sz="1500" b="1" dirty="0">
                <a:solidFill>
                  <a:srgbClr val="0E2330"/>
                </a:solidFill>
                <a:latin typeface="Cambria" pitchFamily="34" charset="0"/>
                <a:ea typeface="Cambria" pitchFamily="34" charset="-122"/>
                <a:cs typeface="Cambria" pitchFamily="34" charset="-120"/>
              </a:rPr>
              <a:t>MetricCard</a:t>
            </a:r>
            <a:endParaRPr lang="en-US" sz="1500" dirty="0"/>
          </a:p>
        </p:txBody>
      </p:sp>
      <p:sp>
        <p:nvSpPr>
          <p:cNvPr id="20" name="Text 15"/>
          <p:cNvSpPr/>
          <p:nvPr/>
        </p:nvSpPr>
        <p:spPr>
          <a:xfrm>
            <a:off x="3497580" y="3611880"/>
            <a:ext cx="2308860" cy="365760"/>
          </a:xfrm>
          <a:prstGeom prst="rect">
            <a:avLst/>
          </a:prstGeom>
          <a:noFill/>
          <a:ln/>
        </p:spPr>
        <p:txBody>
          <a:bodyPr wrap="square" lIns="0" tIns="0" rIns="0" bIns="0" rtlCol="0" anchor="ctr"/>
          <a:lstStyle/>
          <a:p>
            <a:pPr algn="ctr" indent="0" marL="0">
              <a:buNone/>
            </a:pPr>
            <a:r>
              <a:rPr lang="en-US" sz="1150" dirty="0">
                <a:solidFill>
                  <a:srgbClr val="5B7383"/>
                </a:solidFill>
                <a:latin typeface="Calibri" pitchFamily="34" charset="0"/>
                <a:ea typeface="Calibri" pitchFamily="34" charset="-122"/>
                <a:cs typeface="Calibri" pitchFamily="34" charset="-120"/>
              </a:rPr>
              <a:t>a single key number</a:t>
            </a:r>
            <a:endParaRPr lang="en-US" sz="1150" dirty="0"/>
          </a:p>
        </p:txBody>
      </p:sp>
      <p:sp>
        <p:nvSpPr>
          <p:cNvPr id="21" name="Shape 16"/>
          <p:cNvSpPr/>
          <p:nvPr/>
        </p:nvSpPr>
        <p:spPr>
          <a:xfrm>
            <a:off x="3680460" y="4069080"/>
            <a:ext cx="1943100" cy="0"/>
          </a:xfrm>
          <a:prstGeom prst="line">
            <a:avLst/>
          </a:prstGeom>
          <a:noFill/>
          <a:ln w="9525">
            <a:solidFill>
              <a:srgbClr val="CBD9E0"/>
            </a:solidFill>
            <a:prstDash val="solid"/>
          </a:ln>
        </p:spPr>
      </p:sp>
      <p:sp>
        <p:nvSpPr>
          <p:cNvPr id="22" name="Text 17"/>
          <p:cNvSpPr/>
          <p:nvPr/>
        </p:nvSpPr>
        <p:spPr>
          <a:xfrm>
            <a:off x="3497580" y="4160520"/>
            <a:ext cx="2308860" cy="685800"/>
          </a:xfrm>
          <a:prstGeom prst="rect">
            <a:avLst/>
          </a:prstGeom>
          <a:noFill/>
          <a:ln/>
        </p:spPr>
        <p:txBody>
          <a:bodyPr wrap="square" lIns="0" tIns="0" rIns="0" bIns="0" rtlCol="0" anchor="t"/>
          <a:lstStyle/>
          <a:p>
            <a:pPr algn="ctr" indent="0" marL="0">
              <a:buNone/>
            </a:pPr>
            <a:r>
              <a:rPr lang="en-US" sz="1100" i="1" dirty="0">
                <a:solidFill>
                  <a:srgbClr val="0E7C86"/>
                </a:solidFill>
                <a:latin typeface="Calibri" pitchFamily="34" charset="0"/>
                <a:ea typeface="Calibri" pitchFamily="34" charset="-122"/>
                <a:cs typeface="Calibri" pitchFamily="34" charset="-120"/>
              </a:rPr>
              <a:t>total spend this trip</a:t>
            </a:r>
            <a:endParaRPr lang="en-US" sz="1100" dirty="0"/>
          </a:p>
        </p:txBody>
      </p:sp>
      <p:sp>
        <p:nvSpPr>
          <p:cNvPr id="23" name="Shape 18"/>
          <p:cNvSpPr/>
          <p:nvPr/>
        </p:nvSpPr>
        <p:spPr>
          <a:xfrm>
            <a:off x="6263640" y="2148840"/>
            <a:ext cx="2491740" cy="2788920"/>
          </a:xfrm>
          <a:prstGeom prst="roundRect">
            <a:avLst>
              <a:gd name="adj" fmla="val 440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4" name="Shape 19"/>
          <p:cNvSpPr/>
          <p:nvPr/>
        </p:nvSpPr>
        <p:spPr>
          <a:xfrm>
            <a:off x="7143750" y="2395728"/>
            <a:ext cx="731520" cy="731520"/>
          </a:xfrm>
          <a:prstGeom prst="ellipse">
            <a:avLst/>
          </a:prstGeom>
          <a:solidFill>
            <a:srgbClr val="1B4861"/>
          </a:solidFill>
          <a:ln/>
          <a:effectLst>
            <a:outerShdw sx="100000" sy="100000" kx="0" ky="0" algn="bl" rotWithShape="0" blurRad="114300" dist="50800" dir="5400000">
              <a:srgbClr val="0B2430">
                <a:alpha val="10000"/>
              </a:srgbClr>
            </a:outerShdw>
          </a:effectLst>
        </p:spPr>
      </p:sp>
      <p:pic>
        <p:nvPicPr>
          <p:cNvPr id="25" name="Image 3" descr="preencoded.png">    </p:cNvPr>
          <p:cNvPicPr>
            <a:picLocks noChangeAspect="1"/>
          </p:cNvPicPr>
          <p:nvPr/>
        </p:nvPicPr>
        <p:blipFill>
          <a:blip r:embed="rId4"/>
          <a:stretch>
            <a:fillRect/>
          </a:stretch>
        </p:blipFill>
        <p:spPr>
          <a:xfrm>
            <a:off x="7333945" y="2585923"/>
            <a:ext cx="351130" cy="351130"/>
          </a:xfrm>
          <a:prstGeom prst="rect">
            <a:avLst/>
          </a:prstGeom>
        </p:spPr>
      </p:pic>
      <p:sp>
        <p:nvSpPr>
          <p:cNvPr id="26" name="Text 20"/>
          <p:cNvSpPr/>
          <p:nvPr/>
        </p:nvSpPr>
        <p:spPr>
          <a:xfrm>
            <a:off x="6263640" y="3246120"/>
            <a:ext cx="2491740" cy="365760"/>
          </a:xfrm>
          <a:prstGeom prst="rect">
            <a:avLst/>
          </a:prstGeom>
          <a:noFill/>
          <a:ln/>
        </p:spPr>
        <p:txBody>
          <a:bodyPr wrap="square" lIns="0" tIns="0" rIns="0" bIns="0" rtlCol="0" anchor="ctr"/>
          <a:lstStyle/>
          <a:p>
            <a:pPr algn="ctr" indent="0" marL="0">
              <a:buNone/>
            </a:pPr>
            <a:r>
              <a:rPr lang="en-US" sz="1500" b="1" dirty="0">
                <a:solidFill>
                  <a:srgbClr val="0E2330"/>
                </a:solidFill>
                <a:latin typeface="Cambria" pitchFamily="34" charset="0"/>
                <a:ea typeface="Cambria" pitchFamily="34" charset="-122"/>
                <a:cs typeface="Cambria" pitchFamily="34" charset="-120"/>
              </a:rPr>
              <a:t>Chart</a:t>
            </a:r>
            <a:endParaRPr lang="en-US" sz="1500" dirty="0"/>
          </a:p>
        </p:txBody>
      </p:sp>
      <p:sp>
        <p:nvSpPr>
          <p:cNvPr id="27" name="Text 21"/>
          <p:cNvSpPr/>
          <p:nvPr/>
        </p:nvSpPr>
        <p:spPr>
          <a:xfrm>
            <a:off x="6355080" y="3611880"/>
            <a:ext cx="2308860" cy="365760"/>
          </a:xfrm>
          <a:prstGeom prst="rect">
            <a:avLst/>
          </a:prstGeom>
          <a:noFill/>
          <a:ln/>
        </p:spPr>
        <p:txBody>
          <a:bodyPr wrap="square" lIns="0" tIns="0" rIns="0" bIns="0" rtlCol="0" anchor="ctr"/>
          <a:lstStyle/>
          <a:p>
            <a:pPr algn="ctr" indent="0" marL="0">
              <a:buNone/>
            </a:pPr>
            <a:r>
              <a:rPr lang="en-US" sz="1150" dirty="0">
                <a:solidFill>
                  <a:srgbClr val="5B7383"/>
                </a:solidFill>
                <a:latin typeface="Calibri" pitchFamily="34" charset="0"/>
                <a:ea typeface="Calibri" pitchFamily="34" charset="-122"/>
                <a:cs typeface="Calibri" pitchFamily="34" charset="-120"/>
              </a:rPr>
              <a:t>trends over time</a:t>
            </a:r>
            <a:endParaRPr lang="en-US" sz="1150" dirty="0"/>
          </a:p>
        </p:txBody>
      </p:sp>
      <p:sp>
        <p:nvSpPr>
          <p:cNvPr id="28" name="Shape 22"/>
          <p:cNvSpPr/>
          <p:nvPr/>
        </p:nvSpPr>
        <p:spPr>
          <a:xfrm>
            <a:off x="6537960" y="4069080"/>
            <a:ext cx="1943100" cy="0"/>
          </a:xfrm>
          <a:prstGeom prst="line">
            <a:avLst/>
          </a:prstGeom>
          <a:noFill/>
          <a:ln w="9525">
            <a:solidFill>
              <a:srgbClr val="CBD9E0"/>
            </a:solidFill>
            <a:prstDash val="solid"/>
          </a:ln>
        </p:spPr>
      </p:sp>
      <p:sp>
        <p:nvSpPr>
          <p:cNvPr id="29" name="Text 23"/>
          <p:cNvSpPr/>
          <p:nvPr/>
        </p:nvSpPr>
        <p:spPr>
          <a:xfrm>
            <a:off x="6355080" y="4160520"/>
            <a:ext cx="2308860" cy="685800"/>
          </a:xfrm>
          <a:prstGeom prst="rect">
            <a:avLst/>
          </a:prstGeom>
          <a:noFill/>
          <a:ln/>
        </p:spPr>
        <p:txBody>
          <a:bodyPr wrap="square" lIns="0" tIns="0" rIns="0" bIns="0" rtlCol="0" anchor="t"/>
          <a:lstStyle/>
          <a:p>
            <a:pPr algn="ctr" indent="0" marL="0">
              <a:buNone/>
            </a:pPr>
            <a:r>
              <a:rPr lang="en-US" sz="1100" i="1" dirty="0">
                <a:solidFill>
                  <a:srgbClr val="0E7C86"/>
                </a:solidFill>
                <a:latin typeface="Calibri" pitchFamily="34" charset="0"/>
                <a:ea typeface="Calibri" pitchFamily="34" charset="-122"/>
                <a:cs typeface="Calibri" pitchFamily="34" charset="-120"/>
              </a:rPr>
              <a:t>price trend for a route</a:t>
            </a:r>
            <a:endParaRPr lang="en-US" sz="1100" dirty="0"/>
          </a:p>
        </p:txBody>
      </p:sp>
      <p:sp>
        <p:nvSpPr>
          <p:cNvPr id="30" name="Shape 24"/>
          <p:cNvSpPr/>
          <p:nvPr/>
        </p:nvSpPr>
        <p:spPr>
          <a:xfrm>
            <a:off x="9121140" y="2148840"/>
            <a:ext cx="2491740" cy="2788920"/>
          </a:xfrm>
          <a:prstGeom prst="roundRect">
            <a:avLst>
              <a:gd name="adj" fmla="val 440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31" name="Shape 25"/>
          <p:cNvSpPr/>
          <p:nvPr/>
        </p:nvSpPr>
        <p:spPr>
          <a:xfrm>
            <a:off x="10001250" y="2395728"/>
            <a:ext cx="731520" cy="731520"/>
          </a:xfrm>
          <a:prstGeom prst="ellipse">
            <a:avLst/>
          </a:prstGeom>
          <a:solidFill>
            <a:srgbClr val="1B4861"/>
          </a:solidFill>
          <a:ln/>
          <a:effectLst>
            <a:outerShdw sx="100000" sy="100000" kx="0" ky="0" algn="bl" rotWithShape="0" blurRad="114300" dist="50800" dir="5400000">
              <a:srgbClr val="0B2430">
                <a:alpha val="10000"/>
              </a:srgbClr>
            </a:outerShdw>
          </a:effectLst>
        </p:spPr>
      </p:sp>
      <p:pic>
        <p:nvPicPr>
          <p:cNvPr id="32" name="Image 4" descr="preencoded.png">    </p:cNvPr>
          <p:cNvPicPr>
            <a:picLocks noChangeAspect="1"/>
          </p:cNvPicPr>
          <p:nvPr/>
        </p:nvPicPr>
        <p:blipFill>
          <a:blip r:embed="rId5"/>
          <a:stretch>
            <a:fillRect/>
          </a:stretch>
        </p:blipFill>
        <p:spPr>
          <a:xfrm>
            <a:off x="10191445" y="2585923"/>
            <a:ext cx="351130" cy="351130"/>
          </a:xfrm>
          <a:prstGeom prst="rect">
            <a:avLst/>
          </a:prstGeom>
        </p:spPr>
      </p:pic>
      <p:sp>
        <p:nvSpPr>
          <p:cNvPr id="33" name="Text 26"/>
          <p:cNvSpPr/>
          <p:nvPr/>
        </p:nvSpPr>
        <p:spPr>
          <a:xfrm>
            <a:off x="9121140" y="3246120"/>
            <a:ext cx="2491740" cy="365760"/>
          </a:xfrm>
          <a:prstGeom prst="rect">
            <a:avLst/>
          </a:prstGeom>
          <a:noFill/>
          <a:ln/>
        </p:spPr>
        <p:txBody>
          <a:bodyPr wrap="square" lIns="0" tIns="0" rIns="0" bIns="0" rtlCol="0" anchor="ctr"/>
          <a:lstStyle/>
          <a:p>
            <a:pPr algn="ctr" indent="0" marL="0">
              <a:buNone/>
            </a:pPr>
            <a:r>
              <a:rPr lang="en-US" sz="1500" b="1" dirty="0">
                <a:solidFill>
                  <a:srgbClr val="0E2330"/>
                </a:solidFill>
                <a:latin typeface="Cambria" pitchFamily="34" charset="0"/>
                <a:ea typeface="Cambria" pitchFamily="34" charset="-122"/>
                <a:cs typeface="Cambria" pitchFamily="34" charset="-120"/>
              </a:rPr>
              <a:t>MarkdownCard</a:t>
            </a:r>
            <a:endParaRPr lang="en-US" sz="1500" dirty="0"/>
          </a:p>
        </p:txBody>
      </p:sp>
      <p:sp>
        <p:nvSpPr>
          <p:cNvPr id="34" name="Text 27"/>
          <p:cNvSpPr/>
          <p:nvPr/>
        </p:nvSpPr>
        <p:spPr>
          <a:xfrm>
            <a:off x="9212580" y="3611880"/>
            <a:ext cx="2308860" cy="365760"/>
          </a:xfrm>
          <a:prstGeom prst="rect">
            <a:avLst/>
          </a:prstGeom>
          <a:noFill/>
          <a:ln/>
        </p:spPr>
        <p:txBody>
          <a:bodyPr wrap="square" lIns="0" tIns="0" rIns="0" bIns="0" rtlCol="0" anchor="ctr"/>
          <a:lstStyle/>
          <a:p>
            <a:pPr algn="ctr" indent="0" marL="0">
              <a:buNone/>
            </a:pPr>
            <a:r>
              <a:rPr lang="en-US" sz="1150" dirty="0">
                <a:solidFill>
                  <a:srgbClr val="5B7383"/>
                </a:solidFill>
                <a:latin typeface="Calibri" pitchFamily="34" charset="0"/>
                <a:ea typeface="Calibri" pitchFamily="34" charset="-122"/>
                <a:cs typeface="Calibri" pitchFamily="34" charset="-120"/>
              </a:rPr>
              <a:t>rich prose blocks</a:t>
            </a:r>
            <a:endParaRPr lang="en-US" sz="1150" dirty="0"/>
          </a:p>
        </p:txBody>
      </p:sp>
      <p:sp>
        <p:nvSpPr>
          <p:cNvPr id="35" name="Shape 28"/>
          <p:cNvSpPr/>
          <p:nvPr/>
        </p:nvSpPr>
        <p:spPr>
          <a:xfrm>
            <a:off x="9395460" y="4069080"/>
            <a:ext cx="1943100" cy="0"/>
          </a:xfrm>
          <a:prstGeom prst="line">
            <a:avLst/>
          </a:prstGeom>
          <a:noFill/>
          <a:ln w="9525">
            <a:solidFill>
              <a:srgbClr val="CBD9E0"/>
            </a:solidFill>
            <a:prstDash val="solid"/>
          </a:ln>
        </p:spPr>
      </p:sp>
      <p:sp>
        <p:nvSpPr>
          <p:cNvPr id="36" name="Text 29"/>
          <p:cNvSpPr/>
          <p:nvPr/>
        </p:nvSpPr>
        <p:spPr>
          <a:xfrm>
            <a:off x="9212580" y="4160520"/>
            <a:ext cx="2308860" cy="685800"/>
          </a:xfrm>
          <a:prstGeom prst="rect">
            <a:avLst/>
          </a:prstGeom>
          <a:noFill/>
          <a:ln/>
        </p:spPr>
        <p:txBody>
          <a:bodyPr wrap="square" lIns="0" tIns="0" rIns="0" bIns="0" rtlCol="0" anchor="t"/>
          <a:lstStyle/>
          <a:p>
            <a:pPr algn="ctr" indent="0" marL="0">
              <a:buNone/>
            </a:pPr>
            <a:r>
              <a:rPr lang="en-US" sz="1100" i="1" dirty="0">
                <a:solidFill>
                  <a:srgbClr val="0E7C86"/>
                </a:solidFill>
                <a:latin typeface="Calibri" pitchFamily="34" charset="0"/>
                <a:ea typeface="Calibri" pitchFamily="34" charset="-122"/>
                <a:cs typeface="Calibri" pitchFamily="34" charset="-120"/>
              </a:rPr>
              <a:t>fare rules, policy text</a:t>
            </a:r>
            <a:endParaRPr lang="en-US" sz="1100" dirty="0"/>
          </a:p>
        </p:txBody>
      </p:sp>
      <p:sp>
        <p:nvSpPr>
          <p:cNvPr id="37" name="Text 30"/>
          <p:cNvSpPr/>
          <p:nvPr/>
        </p:nvSpPr>
        <p:spPr>
          <a:xfrm>
            <a:off x="548640" y="5120640"/>
            <a:ext cx="11064240" cy="548640"/>
          </a:xfrm>
          <a:prstGeom prst="rect">
            <a:avLst/>
          </a:prstGeom>
          <a:noFill/>
          <a:ln/>
        </p:spPr>
        <p:txBody>
          <a:bodyPr wrap="square" lIns="0" tIns="0" rIns="0" bIns="0" rtlCol="0" anchor="ctr"/>
          <a:lstStyle/>
          <a:p>
            <a:pPr algn="ctr" indent="0" marL="0">
              <a:buNone/>
            </a:pPr>
            <a:r>
              <a:rPr lang="en-US" sz="1250" dirty="0">
                <a:solidFill>
                  <a:srgbClr val="5B7383"/>
                </a:solidFill>
                <a:latin typeface="Calibri" pitchFamily="34" charset="0"/>
                <a:ea typeface="Calibri" pitchFamily="34" charset="-122"/>
                <a:cs typeface="Calibri" pitchFamily="34" charset="-120"/>
              </a:rPr>
              <a:t>These four are exactly the custom components the A2UI–Strands reference app ships. Match the component to the shape of the answer.</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PATTERN 2 OF 5 · GATE · THE BIG ONE</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Approval flows + tool-call visibility</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26</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dirty="0">
                <a:solidFill>
                  <a:srgbClr val="5B7383"/>
                </a:solidFill>
                <a:latin typeface="Calibri" pitchFamily="34" charset="0"/>
                <a:ea typeface="Calibri" pitchFamily="34" charset="-122"/>
                <a:cs typeface="Calibri" pitchFamily="34" charset="-120"/>
              </a:rPr>
              <a:t>Where UI stops being cosmetic and becomes a control. Two halves: show what is about to happen, then gate it.</a:t>
            </a:r>
            <a:endParaRPr lang="en-US" sz="1400" dirty="0"/>
          </a:p>
        </p:txBody>
      </p:sp>
      <p:sp>
        <p:nvSpPr>
          <p:cNvPr id="9" name="Shape 6"/>
          <p:cNvSpPr/>
          <p:nvPr/>
        </p:nvSpPr>
        <p:spPr>
          <a:xfrm>
            <a:off x="548640" y="2148840"/>
            <a:ext cx="5440680" cy="3337560"/>
          </a:xfrm>
          <a:prstGeom prst="roundRect">
            <a:avLst>
              <a:gd name="adj" fmla="val 3288"/>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0" name="Shape 7"/>
          <p:cNvSpPr/>
          <p:nvPr/>
        </p:nvSpPr>
        <p:spPr>
          <a:xfrm>
            <a:off x="777240" y="2377440"/>
            <a:ext cx="548640" cy="54864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1" name="Image 1" descr="preencoded.png">    </p:cNvPr>
          <p:cNvPicPr>
            <a:picLocks noChangeAspect="1"/>
          </p:cNvPicPr>
          <p:nvPr/>
        </p:nvPicPr>
        <p:blipFill>
          <a:blip r:embed="rId2"/>
          <a:stretch>
            <a:fillRect/>
          </a:stretch>
        </p:blipFill>
        <p:spPr>
          <a:xfrm>
            <a:off x="919886" y="2520086"/>
            <a:ext cx="263347" cy="263347"/>
          </a:xfrm>
          <a:prstGeom prst="rect">
            <a:avLst/>
          </a:prstGeom>
        </p:spPr>
      </p:pic>
      <p:sp>
        <p:nvSpPr>
          <p:cNvPr id="12" name="Text 8"/>
          <p:cNvSpPr/>
          <p:nvPr/>
        </p:nvSpPr>
        <p:spPr>
          <a:xfrm>
            <a:off x="1463040" y="2395728"/>
            <a:ext cx="4297680" cy="502920"/>
          </a:xfrm>
          <a:prstGeom prst="rect">
            <a:avLst/>
          </a:prstGeom>
          <a:noFill/>
          <a:ln/>
        </p:spPr>
        <p:txBody>
          <a:bodyPr wrap="square" lIns="0" tIns="0" rIns="0" bIns="0" rtlCol="0" anchor="ctr"/>
          <a:lstStyle/>
          <a:p>
            <a:pPr indent="0" marL="0">
              <a:buNone/>
            </a:pPr>
            <a:r>
              <a:rPr lang="en-US" sz="1700" b="1" dirty="0">
                <a:solidFill>
                  <a:srgbClr val="0E2330"/>
                </a:solidFill>
                <a:latin typeface="Cambria" pitchFamily="34" charset="0"/>
                <a:ea typeface="Cambria" pitchFamily="34" charset="-122"/>
                <a:cs typeface="Cambria" pitchFamily="34" charset="-120"/>
              </a:rPr>
              <a:t>1 . Visibility</a:t>
            </a:r>
            <a:endParaRPr lang="en-US" sz="1700" dirty="0"/>
          </a:p>
        </p:txBody>
      </p:sp>
      <p:sp>
        <p:nvSpPr>
          <p:cNvPr id="13" name="Text 9"/>
          <p:cNvSpPr/>
          <p:nvPr/>
        </p:nvSpPr>
        <p:spPr>
          <a:xfrm>
            <a:off x="777240" y="3017520"/>
            <a:ext cx="4983480" cy="54864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Surface the tool call and its arguments before anything runs.</a:t>
            </a:r>
            <a:endParaRPr lang="en-US" sz="1250" dirty="0"/>
          </a:p>
        </p:txBody>
      </p:sp>
      <p:sp>
        <p:nvSpPr>
          <p:cNvPr id="14" name="Shape 10"/>
          <p:cNvSpPr/>
          <p:nvPr/>
        </p:nvSpPr>
        <p:spPr>
          <a:xfrm>
            <a:off x="777240" y="3611880"/>
            <a:ext cx="4983480" cy="1691640"/>
          </a:xfrm>
          <a:prstGeom prst="roundRect">
            <a:avLst>
              <a:gd name="adj" fmla="val 4324"/>
            </a:avLst>
          </a:prstGeom>
          <a:solidFill>
            <a:srgbClr val="0A1B26"/>
          </a:solidFill>
          <a:ln/>
          <a:effectLst>
            <a:outerShdw sx="100000" sy="100000" kx="0" ky="0" algn="bl" rotWithShape="0" blurRad="88900" dist="38100" dir="5400000">
              <a:srgbClr val="0B2430">
                <a:alpha val="13000"/>
              </a:srgbClr>
            </a:outerShdw>
          </a:effectLst>
        </p:spPr>
      </p:sp>
      <p:sp>
        <p:nvSpPr>
          <p:cNvPr id="15" name="Text 11"/>
          <p:cNvSpPr/>
          <p:nvPr/>
        </p:nvSpPr>
        <p:spPr>
          <a:xfrm>
            <a:off x="978408" y="3721608"/>
            <a:ext cx="4581144" cy="274320"/>
          </a:xfrm>
          <a:prstGeom prst="rect">
            <a:avLst/>
          </a:prstGeom>
          <a:noFill/>
          <a:ln/>
        </p:spPr>
        <p:txBody>
          <a:bodyPr wrap="square" lIns="0" tIns="0" rIns="0" bIns="0" rtlCol="0" anchor="ctr"/>
          <a:lstStyle/>
          <a:p>
            <a:pPr indent="0" marL="0">
              <a:buNone/>
            </a:pPr>
            <a:r>
              <a:rPr lang="en-US" sz="1050" b="1" dirty="0">
                <a:solidFill>
                  <a:srgbClr val="5EEAD4"/>
                </a:solidFill>
                <a:latin typeface="Consolas" pitchFamily="34" charset="0"/>
                <a:ea typeface="Consolas" pitchFamily="34" charset="-122"/>
                <a:cs typeface="Consolas" pitchFamily="34" charset="-120"/>
              </a:rPr>
              <a:t>// what the agent intends</a:t>
            </a:r>
            <a:endParaRPr lang="en-US" sz="1050" dirty="0"/>
          </a:p>
        </p:txBody>
      </p:sp>
      <p:sp>
        <p:nvSpPr>
          <p:cNvPr id="16" name="Text 12"/>
          <p:cNvSpPr/>
          <p:nvPr/>
        </p:nvSpPr>
        <p:spPr>
          <a:xfrm>
            <a:off x="978408" y="4032504"/>
            <a:ext cx="4581144" cy="1143000"/>
          </a:xfrm>
          <a:prstGeom prst="rect">
            <a:avLst/>
          </a:prstGeom>
          <a:noFill/>
          <a:ln/>
        </p:spPr>
        <p:txBody>
          <a:bodyPr wrap="square" lIns="0" tIns="0" rIns="0" bIns="0" rtlCol="0" anchor="t"/>
          <a:lstStyle/>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tool: </a:t>
            </a:r>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book_flight</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args:</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flight: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"JX511"</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fare: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"11,800 INR"</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pnr: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"JX48Q2"</a:t>
            </a:r>
            <a:endParaRPr lang="en-US" sz="960" dirty="0"/>
          </a:p>
        </p:txBody>
      </p:sp>
      <p:sp>
        <p:nvSpPr>
          <p:cNvPr id="17" name="Shape 13"/>
          <p:cNvSpPr/>
          <p:nvPr/>
        </p:nvSpPr>
        <p:spPr>
          <a:xfrm>
            <a:off x="6172200" y="2148840"/>
            <a:ext cx="5440680" cy="3337560"/>
          </a:xfrm>
          <a:prstGeom prst="roundRect">
            <a:avLst>
              <a:gd name="adj" fmla="val 3288"/>
            </a:avLst>
          </a:prstGeom>
          <a:solidFill>
            <a:srgbClr val="0E2330"/>
          </a:solidFill>
          <a:ln/>
          <a:effectLst>
            <a:outerShdw sx="100000" sy="100000" kx="0" ky="0" algn="bl" rotWithShape="0" blurRad="88900" dist="38100" dir="5400000">
              <a:srgbClr val="0B2430">
                <a:alpha val="13000"/>
              </a:srgbClr>
            </a:outerShdw>
          </a:effectLst>
        </p:spPr>
      </p:sp>
      <p:sp>
        <p:nvSpPr>
          <p:cNvPr id="18" name="Shape 14"/>
          <p:cNvSpPr/>
          <p:nvPr/>
        </p:nvSpPr>
        <p:spPr>
          <a:xfrm>
            <a:off x="6400800" y="2377440"/>
            <a:ext cx="548640" cy="548640"/>
          </a:xfrm>
          <a:prstGeom prst="ellipse">
            <a:avLst/>
          </a:prstGeom>
          <a:solidFill>
            <a:srgbClr val="E8951C"/>
          </a:solidFill>
          <a:ln/>
          <a:effectLst>
            <a:outerShdw sx="100000" sy="100000" kx="0" ky="0" algn="bl" rotWithShape="0" blurRad="114300" dist="50800" dir="5400000">
              <a:srgbClr val="0B2430">
                <a:alpha val="10000"/>
              </a:srgbClr>
            </a:outerShdw>
          </a:effectLst>
        </p:spPr>
      </p:sp>
      <p:pic>
        <p:nvPicPr>
          <p:cNvPr id="19" name="Image 2" descr="preencoded.png">    </p:cNvPr>
          <p:cNvPicPr>
            <a:picLocks noChangeAspect="1"/>
          </p:cNvPicPr>
          <p:nvPr/>
        </p:nvPicPr>
        <p:blipFill>
          <a:blip r:embed="rId3"/>
          <a:stretch>
            <a:fillRect/>
          </a:stretch>
        </p:blipFill>
        <p:spPr>
          <a:xfrm>
            <a:off x="6543446" y="2520086"/>
            <a:ext cx="263347" cy="263347"/>
          </a:xfrm>
          <a:prstGeom prst="rect">
            <a:avLst/>
          </a:prstGeom>
        </p:spPr>
      </p:pic>
      <p:sp>
        <p:nvSpPr>
          <p:cNvPr id="20" name="Text 15"/>
          <p:cNvSpPr/>
          <p:nvPr/>
        </p:nvSpPr>
        <p:spPr>
          <a:xfrm>
            <a:off x="7086600" y="2395728"/>
            <a:ext cx="4297680" cy="50292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2 . The gate</a:t>
            </a:r>
            <a:endParaRPr lang="en-US" sz="1700" dirty="0"/>
          </a:p>
        </p:txBody>
      </p:sp>
      <p:sp>
        <p:nvSpPr>
          <p:cNvPr id="21" name="Text 16"/>
          <p:cNvSpPr/>
          <p:nvPr/>
        </p:nvSpPr>
        <p:spPr>
          <a:xfrm>
            <a:off x="6400800" y="3063240"/>
            <a:ext cx="5029200" cy="457200"/>
          </a:xfrm>
          <a:prstGeom prst="rect">
            <a:avLst/>
          </a:prstGeom>
          <a:noFill/>
          <a:ln/>
        </p:spPr>
        <p:txBody>
          <a:bodyPr wrap="square" lIns="0" tIns="0" rIns="0" bIns="0" rtlCol="0" anchor="ctr"/>
          <a:lstStyle/>
          <a:p>
            <a:pPr indent="0" marL="0">
              <a:buNone/>
            </a:pPr>
            <a:r>
              <a:rPr lang="en-US" sz="1500" i="1" dirty="0">
                <a:solidFill>
                  <a:srgbClr val="5EEAD4"/>
                </a:solidFill>
                <a:latin typeface="Cambria" pitchFamily="34" charset="0"/>
                <a:ea typeface="Cambria" pitchFamily="34" charset="-122"/>
                <a:cs typeface="Cambria" pitchFamily="34" charset="-120"/>
              </a:rPr>
              <a:t>“Rebook JX511 for 11,800 INR?”</a:t>
            </a:r>
            <a:endParaRPr lang="en-US" sz="1500" dirty="0"/>
          </a:p>
        </p:txBody>
      </p:sp>
      <p:sp>
        <p:nvSpPr>
          <p:cNvPr id="22" name="Shape 17"/>
          <p:cNvSpPr/>
          <p:nvPr/>
        </p:nvSpPr>
        <p:spPr>
          <a:xfrm>
            <a:off x="6400800" y="3657600"/>
            <a:ext cx="2377440" cy="658368"/>
          </a:xfrm>
          <a:prstGeom prst="roundRect">
            <a:avLst>
              <a:gd name="adj" fmla="val 13889"/>
            </a:avLst>
          </a:prstGeom>
          <a:solidFill>
            <a:srgbClr val="1C9C72"/>
          </a:solidFill>
          <a:ln/>
        </p:spPr>
      </p:sp>
      <p:sp>
        <p:nvSpPr>
          <p:cNvPr id="23" name="Text 18"/>
          <p:cNvSpPr/>
          <p:nvPr/>
        </p:nvSpPr>
        <p:spPr>
          <a:xfrm>
            <a:off x="6400800" y="3657600"/>
            <a:ext cx="237744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Approve</a:t>
            </a:r>
            <a:endParaRPr lang="en-US" sz="1400" dirty="0"/>
          </a:p>
        </p:txBody>
      </p:sp>
      <p:sp>
        <p:nvSpPr>
          <p:cNvPr id="24" name="Shape 19"/>
          <p:cNvSpPr/>
          <p:nvPr/>
        </p:nvSpPr>
        <p:spPr>
          <a:xfrm>
            <a:off x="9006840" y="3657600"/>
            <a:ext cx="2377440" cy="658368"/>
          </a:xfrm>
          <a:prstGeom prst="roundRect">
            <a:avLst>
              <a:gd name="adj" fmla="val 13889"/>
            </a:avLst>
          </a:prstGeom>
          <a:solidFill>
            <a:srgbClr val="1B4861"/>
          </a:solidFill>
          <a:ln/>
        </p:spPr>
      </p:sp>
      <p:sp>
        <p:nvSpPr>
          <p:cNvPr id="25" name="Text 20"/>
          <p:cNvSpPr/>
          <p:nvPr/>
        </p:nvSpPr>
        <p:spPr>
          <a:xfrm>
            <a:off x="9006840" y="3657600"/>
            <a:ext cx="2377440" cy="658368"/>
          </a:xfrm>
          <a:prstGeom prst="rect">
            <a:avLst/>
          </a:prstGeom>
          <a:noFill/>
          <a:ln/>
        </p:spPr>
        <p:txBody>
          <a:bodyPr wrap="square" lIns="0" tIns="0" rIns="0" bIns="0" rtlCol="0" anchor="ctr"/>
          <a:lstStyle/>
          <a:p>
            <a:pPr algn="ctr" indent="0" marL="0">
              <a:buNone/>
            </a:pPr>
            <a:r>
              <a:rPr lang="en-US" sz="1400" b="1" dirty="0">
                <a:solidFill>
                  <a:srgbClr val="C7D9E2"/>
                </a:solidFill>
                <a:latin typeface="Calibri" pitchFamily="34" charset="0"/>
                <a:ea typeface="Calibri" pitchFamily="34" charset="-122"/>
                <a:cs typeface="Calibri" pitchFamily="34" charset="-120"/>
              </a:rPr>
              <a:t>✕  Reject</a:t>
            </a:r>
            <a:endParaRPr lang="en-US" sz="1400" dirty="0"/>
          </a:p>
        </p:txBody>
      </p:sp>
      <p:sp>
        <p:nvSpPr>
          <p:cNvPr id="26" name="Text 21"/>
          <p:cNvSpPr/>
          <p:nvPr/>
        </p:nvSpPr>
        <p:spPr>
          <a:xfrm>
            <a:off x="6400800" y="4526280"/>
            <a:ext cx="5029200" cy="868680"/>
          </a:xfrm>
          <a:prstGeom prst="rect">
            <a:avLst/>
          </a:prstGeom>
          <a:noFill/>
          <a:ln/>
        </p:spPr>
        <p:txBody>
          <a:bodyPr wrap="square" lIns="0" tIns="0" rIns="0" bIns="0" rtlCol="0" anchor="t"/>
          <a:lstStyle/>
          <a:p>
            <a:pPr indent="0" marL="0">
              <a:buNone/>
            </a:pPr>
            <a:r>
              <a:rPr lang="en-US" sz="1200" b="1" dirty="0">
                <a:solidFill>
                  <a:srgbClr val="5EEAD4"/>
                </a:solidFill>
                <a:latin typeface="Calibri" pitchFamily="34" charset="0"/>
                <a:ea typeface="Calibri" pitchFamily="34" charset="-122"/>
                <a:cs typeface="Calibri" pitchFamily="34" charset="-120"/>
              </a:rPr>
              <a:t>Mechanism: </a:t>
            </a:r>
            <a:pPr indent="0" marL="0">
              <a:buNone/>
            </a:pPr>
            <a:r>
              <a:rPr lang="en-US" sz="1200" dirty="0">
                <a:solidFill>
                  <a:srgbClr val="D6E5EC"/>
                </a:solidFill>
                <a:latin typeface="Calibri" pitchFamily="34" charset="0"/>
                <a:ea typeface="Calibri" pitchFamily="34" charset="-122"/>
                <a:cs typeface="Calibri" pitchFamily="34" charset="-120"/>
              </a:rPr>
              <a:t>a Button with action { name, context }. The click returns a userAction the agent waits on.</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PATTERN 3 OF 5 · SAME AGENT, DIFFERENT SURFACE</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Role-based UI views</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27</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dirty="0">
                <a:solidFill>
                  <a:srgbClr val="5B7383"/>
                </a:solidFill>
                <a:latin typeface="Calibri" pitchFamily="34" charset="0"/>
                <a:ea typeface="Calibri" pitchFamily="34" charset="-122"/>
                <a:cs typeface="Calibri" pitchFamily="34" charset="-120"/>
              </a:rPr>
              <a:t>One agent serves three audiences. The role decides which components and which actions are even offered.</a:t>
            </a:r>
            <a:endParaRPr lang="en-US" sz="1400" dirty="0"/>
          </a:p>
        </p:txBody>
      </p:sp>
      <p:sp>
        <p:nvSpPr>
          <p:cNvPr id="9" name="Shape 6"/>
          <p:cNvSpPr/>
          <p:nvPr/>
        </p:nvSpPr>
        <p:spPr>
          <a:xfrm>
            <a:off x="548640" y="2148840"/>
            <a:ext cx="3444240" cy="2697480"/>
          </a:xfrm>
          <a:prstGeom prst="roundRect">
            <a:avLst>
              <a:gd name="adj" fmla="val 4068"/>
            </a:avLst>
          </a:prstGeom>
          <a:solidFill>
            <a:srgbClr val="0E7C86"/>
          </a:solidFill>
          <a:ln/>
          <a:effectLst>
            <a:outerShdw sx="100000" sy="100000" kx="0" ky="0" algn="bl" rotWithShape="0" blurRad="88900" dist="38100" dir="5400000">
              <a:srgbClr val="0B2430">
                <a:alpha val="13000"/>
              </a:srgbClr>
            </a:outerShdw>
          </a:effectLst>
        </p:spPr>
      </p:sp>
      <p:sp>
        <p:nvSpPr>
          <p:cNvPr id="10" name="Shape 7"/>
          <p:cNvSpPr/>
          <p:nvPr/>
        </p:nvSpPr>
        <p:spPr>
          <a:xfrm>
            <a:off x="804672" y="2395728"/>
            <a:ext cx="603504" cy="603504"/>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11" name="Image 1" descr="preencoded.png">    </p:cNvPr>
          <p:cNvPicPr>
            <a:picLocks noChangeAspect="1"/>
          </p:cNvPicPr>
          <p:nvPr/>
        </p:nvPicPr>
        <p:blipFill>
          <a:blip r:embed="rId2"/>
          <a:stretch>
            <a:fillRect/>
          </a:stretch>
        </p:blipFill>
        <p:spPr>
          <a:xfrm>
            <a:off x="961583" y="2552639"/>
            <a:ext cx="289682" cy="289682"/>
          </a:xfrm>
          <a:prstGeom prst="rect">
            <a:avLst/>
          </a:prstGeom>
        </p:spPr>
      </p:pic>
      <p:sp>
        <p:nvSpPr>
          <p:cNvPr id="12" name="Text 8"/>
          <p:cNvSpPr/>
          <p:nvPr/>
        </p:nvSpPr>
        <p:spPr>
          <a:xfrm>
            <a:off x="1508760" y="2395728"/>
            <a:ext cx="2346960" cy="60350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Customer</a:t>
            </a:r>
            <a:endParaRPr lang="en-US" sz="1700" dirty="0"/>
          </a:p>
        </p:txBody>
      </p:sp>
      <p:sp>
        <p:nvSpPr>
          <p:cNvPr id="13" name="Text 9"/>
          <p:cNvSpPr/>
          <p:nvPr/>
        </p:nvSpPr>
        <p:spPr>
          <a:xfrm>
            <a:off x="841248" y="3154680"/>
            <a:ext cx="2895600" cy="15544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EAF7F6"/>
                </a:solidFill>
                <a:latin typeface="Calibri" pitchFamily="34" charset="0"/>
                <a:ea typeface="Calibri" pitchFamily="34" charset="-122"/>
                <a:cs typeface="Calibri" pitchFamily="34" charset="-120"/>
              </a:rPr>
              <a:t>Flight options</a:t>
            </a:r>
            <a:endParaRPr lang="en-US" sz="1250" dirty="0"/>
          </a:p>
          <a:p>
            <a:pPr marL="177800" indent="-177800">
              <a:spcAft>
                <a:spcPts val="700"/>
              </a:spcAft>
              <a:buSzPct val="100000"/>
              <a:buChar char="•"/>
            </a:pPr>
            <a:r>
              <a:rPr lang="en-US" sz="1250" dirty="0">
                <a:solidFill>
                  <a:srgbClr val="EAF7F6"/>
                </a:solidFill>
                <a:latin typeface="Calibri" pitchFamily="34" charset="0"/>
                <a:ea typeface="Calibri" pitchFamily="34" charset="-122"/>
                <a:cs typeface="Calibri" pitchFamily="34" charset="-120"/>
              </a:rPr>
              <a:t>A Rebook button</a:t>
            </a:r>
            <a:endParaRPr lang="en-US" sz="1250" dirty="0"/>
          </a:p>
          <a:p>
            <a:pPr marL="177800" indent="-177800">
              <a:spcAft>
                <a:spcPts val="700"/>
              </a:spcAft>
              <a:buSzPct val="100000"/>
              <a:buChar char="•"/>
            </a:pPr>
            <a:r>
              <a:rPr lang="en-US" sz="1250" dirty="0">
                <a:solidFill>
                  <a:srgbClr val="EAF7F6"/>
                </a:solidFill>
                <a:latin typeface="Calibri" pitchFamily="34" charset="0"/>
                <a:ea typeface="Calibri" pitchFamily="34" charset="-122"/>
                <a:cs typeface="Calibri" pitchFamily="34" charset="-120"/>
              </a:rPr>
              <a:t>Nothing internal</a:t>
            </a:r>
            <a:endParaRPr lang="en-US" sz="1250" dirty="0"/>
          </a:p>
        </p:txBody>
      </p:sp>
      <p:sp>
        <p:nvSpPr>
          <p:cNvPr id="14" name="Shape 10"/>
          <p:cNvSpPr/>
          <p:nvPr/>
        </p:nvSpPr>
        <p:spPr>
          <a:xfrm>
            <a:off x="4358640" y="2148840"/>
            <a:ext cx="3444240" cy="2697480"/>
          </a:xfrm>
          <a:prstGeom prst="roundRect">
            <a:avLst>
              <a:gd name="adj" fmla="val 4068"/>
            </a:avLst>
          </a:prstGeom>
          <a:solidFill>
            <a:srgbClr val="1B4861"/>
          </a:solidFill>
          <a:ln/>
          <a:effectLst>
            <a:outerShdw sx="100000" sy="100000" kx="0" ky="0" algn="bl" rotWithShape="0" blurRad="88900" dist="38100" dir="5400000">
              <a:srgbClr val="0B2430">
                <a:alpha val="13000"/>
              </a:srgbClr>
            </a:outerShdw>
          </a:effectLst>
        </p:spPr>
      </p:sp>
      <p:sp>
        <p:nvSpPr>
          <p:cNvPr id="15" name="Shape 11"/>
          <p:cNvSpPr/>
          <p:nvPr/>
        </p:nvSpPr>
        <p:spPr>
          <a:xfrm>
            <a:off x="4614672" y="2395728"/>
            <a:ext cx="603504" cy="603504"/>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6" name="Image 2" descr="preencoded.png">    </p:cNvPr>
          <p:cNvPicPr>
            <a:picLocks noChangeAspect="1"/>
          </p:cNvPicPr>
          <p:nvPr/>
        </p:nvPicPr>
        <p:blipFill>
          <a:blip r:embed="rId3"/>
          <a:stretch>
            <a:fillRect/>
          </a:stretch>
        </p:blipFill>
        <p:spPr>
          <a:xfrm>
            <a:off x="4771583" y="2552639"/>
            <a:ext cx="289682" cy="289682"/>
          </a:xfrm>
          <a:prstGeom prst="rect">
            <a:avLst/>
          </a:prstGeom>
        </p:spPr>
      </p:pic>
      <p:sp>
        <p:nvSpPr>
          <p:cNvPr id="17" name="Text 12"/>
          <p:cNvSpPr/>
          <p:nvPr/>
        </p:nvSpPr>
        <p:spPr>
          <a:xfrm>
            <a:off x="5318760" y="2395728"/>
            <a:ext cx="2346960" cy="60350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Support rep</a:t>
            </a:r>
            <a:endParaRPr lang="en-US" sz="1700" dirty="0"/>
          </a:p>
        </p:txBody>
      </p:sp>
      <p:sp>
        <p:nvSpPr>
          <p:cNvPr id="18" name="Text 13"/>
          <p:cNvSpPr/>
          <p:nvPr/>
        </p:nvSpPr>
        <p:spPr>
          <a:xfrm>
            <a:off x="4651248" y="3154680"/>
            <a:ext cx="2895600" cy="15544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D6E5EC"/>
                </a:solidFill>
                <a:latin typeface="Calibri" pitchFamily="34" charset="0"/>
                <a:ea typeface="Calibri" pitchFamily="34" charset="-122"/>
                <a:cs typeface="Calibri" pitchFamily="34" charset="-120"/>
              </a:rPr>
              <a:t>Options + override</a:t>
            </a:r>
            <a:endParaRPr lang="en-US" sz="1250" dirty="0"/>
          </a:p>
          <a:p>
            <a:pPr marL="177800" indent="-177800">
              <a:spcAft>
                <a:spcPts val="700"/>
              </a:spcAft>
              <a:buSzPct val="100000"/>
              <a:buChar char="•"/>
            </a:pPr>
            <a:r>
              <a:rPr lang="en-US" sz="1250" dirty="0">
                <a:solidFill>
                  <a:srgbClr val="D6E5EC"/>
                </a:solidFill>
                <a:latin typeface="Calibri" pitchFamily="34" charset="0"/>
                <a:ea typeface="Calibri" pitchFamily="34" charset="-122"/>
                <a:cs typeface="Calibri" pitchFamily="34" charset="-120"/>
              </a:rPr>
              <a:t>Internal notes</a:t>
            </a:r>
            <a:endParaRPr lang="en-US" sz="1250" dirty="0"/>
          </a:p>
          <a:p>
            <a:pPr marL="177800" indent="-177800">
              <a:spcAft>
                <a:spcPts val="700"/>
              </a:spcAft>
              <a:buSzPct val="100000"/>
              <a:buChar char="•"/>
            </a:pPr>
            <a:r>
              <a:rPr lang="en-US" sz="1250" dirty="0">
                <a:solidFill>
                  <a:srgbClr val="D6E5EC"/>
                </a:solidFill>
                <a:latin typeface="Calibri" pitchFamily="34" charset="0"/>
                <a:ea typeface="Calibri" pitchFamily="34" charset="-122"/>
                <a:cs typeface="Calibri" pitchFamily="34" charset="-120"/>
              </a:rPr>
              <a:t>Manual fare entry</a:t>
            </a:r>
            <a:endParaRPr lang="en-US" sz="1250" dirty="0"/>
          </a:p>
        </p:txBody>
      </p:sp>
      <p:sp>
        <p:nvSpPr>
          <p:cNvPr id="19" name="Shape 14"/>
          <p:cNvSpPr/>
          <p:nvPr/>
        </p:nvSpPr>
        <p:spPr>
          <a:xfrm>
            <a:off x="8168640" y="2148840"/>
            <a:ext cx="3444240" cy="2697480"/>
          </a:xfrm>
          <a:prstGeom prst="roundRect">
            <a:avLst>
              <a:gd name="adj" fmla="val 4068"/>
            </a:avLst>
          </a:prstGeom>
          <a:solidFill>
            <a:srgbClr val="0E2330"/>
          </a:solidFill>
          <a:ln/>
          <a:effectLst>
            <a:outerShdw sx="100000" sy="100000" kx="0" ky="0" algn="bl" rotWithShape="0" blurRad="88900" dist="38100" dir="5400000">
              <a:srgbClr val="0B2430">
                <a:alpha val="13000"/>
              </a:srgbClr>
            </a:outerShdw>
          </a:effectLst>
        </p:spPr>
      </p:sp>
      <p:sp>
        <p:nvSpPr>
          <p:cNvPr id="20" name="Shape 15"/>
          <p:cNvSpPr/>
          <p:nvPr/>
        </p:nvSpPr>
        <p:spPr>
          <a:xfrm>
            <a:off x="8424672" y="2395728"/>
            <a:ext cx="603504" cy="603504"/>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21" name="Image 3" descr="preencoded.png">    </p:cNvPr>
          <p:cNvPicPr>
            <a:picLocks noChangeAspect="1"/>
          </p:cNvPicPr>
          <p:nvPr/>
        </p:nvPicPr>
        <p:blipFill>
          <a:blip r:embed="rId4"/>
          <a:stretch>
            <a:fillRect/>
          </a:stretch>
        </p:blipFill>
        <p:spPr>
          <a:xfrm>
            <a:off x="8581583" y="2552639"/>
            <a:ext cx="289682" cy="289682"/>
          </a:xfrm>
          <a:prstGeom prst="rect">
            <a:avLst/>
          </a:prstGeom>
        </p:spPr>
      </p:pic>
      <p:sp>
        <p:nvSpPr>
          <p:cNvPr id="22" name="Text 16"/>
          <p:cNvSpPr/>
          <p:nvPr/>
        </p:nvSpPr>
        <p:spPr>
          <a:xfrm>
            <a:off x="9128760" y="2395728"/>
            <a:ext cx="2346960" cy="603504"/>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Admin</a:t>
            </a:r>
            <a:endParaRPr lang="en-US" sz="1700" dirty="0"/>
          </a:p>
        </p:txBody>
      </p:sp>
      <p:sp>
        <p:nvSpPr>
          <p:cNvPr id="23" name="Text 17"/>
          <p:cNvSpPr/>
          <p:nvPr/>
        </p:nvSpPr>
        <p:spPr>
          <a:xfrm>
            <a:off x="8461248" y="3154680"/>
            <a:ext cx="2895600" cy="155448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C7D9E2"/>
                </a:solidFill>
                <a:latin typeface="Calibri" pitchFamily="34" charset="0"/>
                <a:ea typeface="Calibri" pitchFamily="34" charset="-122"/>
                <a:cs typeface="Calibri" pitchFamily="34" charset="-120"/>
              </a:rPr>
              <a:t>Traces + latency</a:t>
            </a:r>
            <a:endParaRPr lang="en-US" sz="1250" dirty="0"/>
          </a:p>
          <a:p>
            <a:pPr marL="177800" indent="-177800">
              <a:spcAft>
                <a:spcPts val="700"/>
              </a:spcAft>
              <a:buSzPct val="100000"/>
              <a:buChar char="•"/>
            </a:pPr>
            <a:r>
              <a:rPr lang="en-US" sz="1250" dirty="0">
                <a:solidFill>
                  <a:srgbClr val="C7D9E2"/>
                </a:solidFill>
                <a:latin typeface="Calibri" pitchFamily="34" charset="0"/>
                <a:ea typeface="Calibri" pitchFamily="34" charset="-122"/>
                <a:cs typeface="Calibri" pitchFamily="34" charset="-120"/>
              </a:rPr>
              <a:t>Token cost</a:t>
            </a:r>
            <a:endParaRPr lang="en-US" sz="1250" dirty="0"/>
          </a:p>
          <a:p>
            <a:pPr marL="177800" indent="-177800">
              <a:spcAft>
                <a:spcPts val="700"/>
              </a:spcAft>
              <a:buSzPct val="100000"/>
              <a:buChar char="•"/>
            </a:pPr>
            <a:r>
              <a:rPr lang="en-US" sz="1250" dirty="0">
                <a:solidFill>
                  <a:srgbClr val="C7D9E2"/>
                </a:solidFill>
                <a:latin typeface="Calibri" pitchFamily="34" charset="0"/>
                <a:ea typeface="Calibri" pitchFamily="34" charset="-122"/>
                <a:cs typeface="Calibri" pitchFamily="34" charset="-120"/>
              </a:rPr>
              <a:t>Full audit log</a:t>
            </a:r>
            <a:endParaRPr lang="en-US" sz="1250" dirty="0"/>
          </a:p>
        </p:txBody>
      </p:sp>
      <p:sp>
        <p:nvSpPr>
          <p:cNvPr id="24" name="Shape 18"/>
          <p:cNvSpPr/>
          <p:nvPr/>
        </p:nvSpPr>
        <p:spPr>
          <a:xfrm>
            <a:off x="548640" y="5029200"/>
            <a:ext cx="11064240" cy="868680"/>
          </a:xfrm>
          <a:prstGeom prst="roundRect">
            <a:avLst>
              <a:gd name="adj" fmla="val 12632"/>
            </a:avLst>
          </a:prstGeom>
          <a:solidFill>
            <a:srgbClr val="FCF3E4"/>
          </a:solidFill>
          <a:ln w="9525">
            <a:solidFill>
              <a:srgbClr val="F0D9A8"/>
            </a:solidFill>
            <a:prstDash val="solid"/>
          </a:ln>
        </p:spPr>
      </p:sp>
      <p:sp>
        <p:nvSpPr>
          <p:cNvPr id="25" name="Shape 19"/>
          <p:cNvSpPr/>
          <p:nvPr/>
        </p:nvSpPr>
        <p:spPr>
          <a:xfrm>
            <a:off x="777240" y="5193792"/>
            <a:ext cx="530352" cy="530352"/>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6" name="Image 4" descr="preencoded.png">    </p:cNvPr>
          <p:cNvPicPr>
            <a:picLocks noChangeAspect="1"/>
          </p:cNvPicPr>
          <p:nvPr/>
        </p:nvPicPr>
        <p:blipFill>
          <a:blip r:embed="rId5"/>
          <a:stretch>
            <a:fillRect/>
          </a:stretch>
        </p:blipFill>
        <p:spPr>
          <a:xfrm>
            <a:off x="915132" y="5331684"/>
            <a:ext cx="254569" cy="254569"/>
          </a:xfrm>
          <a:prstGeom prst="rect">
            <a:avLst/>
          </a:prstGeom>
        </p:spPr>
      </p:pic>
      <p:sp>
        <p:nvSpPr>
          <p:cNvPr id="27" name="Text 20"/>
          <p:cNvSpPr/>
          <p:nvPr/>
        </p:nvSpPr>
        <p:spPr>
          <a:xfrm>
            <a:off x="1463040" y="5029200"/>
            <a:ext cx="9966960" cy="868680"/>
          </a:xfrm>
          <a:prstGeom prst="rect">
            <a:avLst/>
          </a:prstGeom>
          <a:noFill/>
          <a:ln/>
        </p:spPr>
        <p:txBody>
          <a:bodyPr wrap="square" lIns="0" tIns="0" rIns="0" bIns="0" rtlCol="0" anchor="ctr"/>
          <a:lstStyle/>
          <a:p>
            <a:pPr indent="0" marL="0">
              <a:buNone/>
            </a:pPr>
            <a:r>
              <a:rPr lang="en-US" sz="1300" b="1" dirty="0">
                <a:solidFill>
                  <a:srgbClr val="E8951C"/>
                </a:solidFill>
                <a:latin typeface="Calibri" pitchFamily="34" charset="0"/>
                <a:ea typeface="Calibri" pitchFamily="34" charset="-122"/>
                <a:cs typeface="Calibri" pitchFamily="34" charset="-120"/>
              </a:rPr>
              <a:t>The hard rule:  </a:t>
            </a:r>
            <a:pPr indent="0" marL="0">
              <a:buNone/>
            </a:pPr>
            <a:r>
              <a:rPr lang="en-US" sz="1300" dirty="0">
                <a:solidFill>
                  <a:srgbClr val="12242E"/>
                </a:solidFill>
                <a:latin typeface="Calibri" pitchFamily="34" charset="0"/>
                <a:ea typeface="Calibri" pitchFamily="34" charset="-122"/>
                <a:cs typeface="Calibri" pitchFamily="34" charset="-120"/>
              </a:rPr>
              <a:t>enforce role on the server. Hiding a component in the UI is convenience, not security. AgentCore Identity carries custom claims for exactly this.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PATTERN 4 OF 5 · DISCOVER</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Registry UI: what can I talk to, and what can it draw?</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28</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828800"/>
            <a:ext cx="5852160" cy="3657600"/>
          </a:xfrm>
          <a:prstGeom prst="rect">
            <a:avLst/>
          </a:prstGeom>
          <a:noFill/>
          <a:ln/>
        </p:spPr>
        <p:txBody>
          <a:bodyPr wrap="square" lIns="0" tIns="0" rIns="0" bIns="0" rtlCol="0" anchor="t"/>
          <a:lstStyle/>
          <a:p>
            <a:pPr marL="203200" indent="-203200">
              <a:spcAft>
                <a:spcPts val="1200"/>
              </a:spcAft>
              <a:buSzPct val="100000"/>
              <a:buChar char="•"/>
            </a:pPr>
            <a:r>
              <a:rPr lang="en-US" sz="1400" b="1" dirty="0">
                <a:solidFill>
                  <a:srgbClr val="12242E"/>
                </a:solidFill>
                <a:latin typeface="Calibri" pitchFamily="34" charset="0"/>
                <a:ea typeface="Calibri" pitchFamily="34" charset="-122"/>
                <a:cs typeface="Calibri" pitchFamily="34" charset="-120"/>
              </a:rPr>
              <a:t>Discover what is available: agents, their tools, and the UI catalogs they support</a:t>
            </a:r>
            <a:endParaRPr lang="en-US" sz="1400" dirty="0"/>
          </a:p>
          <a:p>
            <a:pPr marL="203200" indent="-203200">
              <a:spcAft>
                <a:spcPts val="1200"/>
              </a:spcAft>
              <a:buSzPct val="100000"/>
              <a:buChar char="•"/>
            </a:pPr>
            <a:r>
              <a:rPr lang="en-US" sz="1400" dirty="0">
                <a:solidFill>
                  <a:srgbClr val="12242E"/>
                </a:solidFill>
                <a:latin typeface="Calibri" pitchFamily="34" charset="0"/>
                <a:ea typeface="Calibri" pitchFamily="34" charset="-122"/>
                <a:cs typeface="Calibri" pitchFamily="34" charset="-120"/>
              </a:rPr>
              <a:t>A2UI piece: an agent advertises supportedCatalogIds in its Agent Card</a:t>
            </a:r>
            <a:endParaRPr lang="en-US" sz="1400" dirty="0"/>
          </a:p>
          <a:p>
            <a:pPr marL="203200" indent="-203200">
              <a:spcAft>
                <a:spcPts val="1200"/>
              </a:spcAft>
              <a:buSzPct val="100000"/>
              <a:buChar char="•"/>
            </a:pPr>
            <a:r>
              <a:rPr lang="en-US" sz="1400" dirty="0">
                <a:solidFill>
                  <a:srgbClr val="12242E"/>
                </a:solidFill>
                <a:latin typeface="Calibri" pitchFamily="34" charset="0"/>
                <a:ea typeface="Calibri" pitchFamily="34" charset="-122"/>
                <a:cs typeface="Calibri" pitchFamily="34" charset="-120"/>
              </a:rPr>
              <a:t>Clients declare what they can render via a2uiClientCapabilities</a:t>
            </a:r>
            <a:endParaRPr lang="en-US" sz="1400" dirty="0"/>
          </a:p>
          <a:p>
            <a:pPr marL="203200" indent="-203200">
              <a:spcAft>
                <a:spcPts val="1200"/>
              </a:spcAft>
              <a:buSzPct val="100000"/>
              <a:buChar char="•"/>
            </a:pPr>
            <a:r>
              <a:rPr lang="en-US" sz="1400" dirty="0">
                <a:solidFill>
                  <a:srgbClr val="12242E"/>
                </a:solidFill>
                <a:latin typeface="Calibri" pitchFamily="34" charset="0"/>
                <a:ea typeface="Calibri" pitchFamily="34" charset="-122"/>
                <a:cs typeface="Calibri" pitchFamily="34" charset="-120"/>
              </a:rPr>
              <a:t>At scale, an orchestrator routes to sub-agents that may support different catalogs</a:t>
            </a:r>
            <a:endParaRPr lang="en-US" sz="1400" dirty="0"/>
          </a:p>
          <a:p>
            <a:pPr marL="203200" indent="-203200">
              <a:spcAft>
                <a:spcPts val="1200"/>
              </a:spcAft>
              <a:buSzPct val="100000"/>
              <a:buChar char="•"/>
            </a:pPr>
            <a:r>
              <a:rPr lang="en-US" sz="1400" dirty="0">
                <a:solidFill>
                  <a:srgbClr val="12242E"/>
                </a:solidFill>
                <a:latin typeface="Calibri" pitchFamily="34" charset="0"/>
                <a:ea typeface="Calibri" pitchFamily="34" charset="-122"/>
                <a:cs typeface="Calibri" pitchFamily="34" charset="-120"/>
              </a:rPr>
              <a:t>Catalog negotiation is the protocol-level version of this discovery</a:t>
            </a:r>
            <a:endParaRPr lang="en-US" sz="1400" dirty="0"/>
          </a:p>
        </p:txBody>
      </p:sp>
      <p:sp>
        <p:nvSpPr>
          <p:cNvPr id="9" name="Shape 6"/>
          <p:cNvSpPr/>
          <p:nvPr/>
        </p:nvSpPr>
        <p:spPr>
          <a:xfrm>
            <a:off x="6629400" y="1828800"/>
            <a:ext cx="4983480" cy="3063240"/>
          </a:xfrm>
          <a:prstGeom prst="roundRect">
            <a:avLst>
              <a:gd name="adj" fmla="val 2388"/>
            </a:avLst>
          </a:prstGeom>
          <a:solidFill>
            <a:srgbClr val="0A1B26"/>
          </a:solidFill>
          <a:ln/>
          <a:effectLst>
            <a:outerShdw sx="100000" sy="100000" kx="0" ky="0" algn="bl" rotWithShape="0" blurRad="88900" dist="38100" dir="5400000">
              <a:srgbClr val="0B2430">
                <a:alpha val="13000"/>
              </a:srgbClr>
            </a:outerShdw>
          </a:effectLst>
        </p:spPr>
      </p:sp>
      <p:sp>
        <p:nvSpPr>
          <p:cNvPr id="10" name="Text 7"/>
          <p:cNvSpPr/>
          <p:nvPr/>
        </p:nvSpPr>
        <p:spPr>
          <a:xfrm>
            <a:off x="6830568" y="1938528"/>
            <a:ext cx="4581144" cy="274320"/>
          </a:xfrm>
          <a:prstGeom prst="rect">
            <a:avLst/>
          </a:prstGeom>
          <a:noFill/>
          <a:ln/>
        </p:spPr>
        <p:txBody>
          <a:bodyPr wrap="square" lIns="0" tIns="0" rIns="0" bIns="0" rtlCol="0" anchor="ctr"/>
          <a:lstStyle/>
          <a:p>
            <a:pPr indent="0" marL="0">
              <a:buNone/>
            </a:pPr>
            <a:r>
              <a:rPr lang="en-US" sz="1050" b="1" dirty="0">
                <a:solidFill>
                  <a:srgbClr val="5EEAD4"/>
                </a:solidFill>
                <a:latin typeface="Consolas" pitchFamily="34" charset="0"/>
                <a:ea typeface="Consolas" pitchFamily="34" charset="-122"/>
                <a:cs typeface="Consolas" pitchFamily="34" charset="-120"/>
              </a:rPr>
              <a:t>// agent card (abridged)</a:t>
            </a:r>
            <a:endParaRPr lang="en-US" sz="1050" dirty="0"/>
          </a:p>
        </p:txBody>
      </p:sp>
      <p:sp>
        <p:nvSpPr>
          <p:cNvPr id="11" name="Text 8"/>
          <p:cNvSpPr/>
          <p:nvPr/>
        </p:nvSpPr>
        <p:spPr>
          <a:xfrm>
            <a:off x="6830568" y="2249424"/>
            <a:ext cx="4581144" cy="2514600"/>
          </a:xfrm>
          <a:prstGeom prst="rect">
            <a:avLst/>
          </a:prstGeom>
          <a:noFill/>
          <a:ln/>
        </p:spPr>
        <p:txBody>
          <a:bodyPr wrap="square" lIns="0" tIns="0" rIns="0" bIns="0" rtlCol="0" anchor="t"/>
          <a:lstStyle/>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name: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"TravelMind"</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a:t>
            </a:r>
            <a:endParaRPr lang="en-US" sz="960" dirty="0"/>
          </a:p>
          <a:p>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  supportedCatalogIds: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"a2ui.org/.../v0_8/</a:t>
            </a:r>
            <a:endParaRPr lang="en-US" sz="960" dirty="0"/>
          </a:p>
          <a:p>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       standard_catalog"</a:t>
            </a:r>
            <a:endParaRPr lang="en-US" sz="960" dirty="0"/>
          </a:p>
          <a:p>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  ],</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acceptsInlineCatalogs: </a:t>
            </a:r>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false</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a:t>
            </a:r>
            <a:endParaRPr lang="en-US" sz="960" dirty="0"/>
          </a:p>
        </p:txBody>
      </p:sp>
      <p:sp>
        <p:nvSpPr>
          <p:cNvPr id="12" name="Text 9"/>
          <p:cNvSpPr/>
          <p:nvPr/>
        </p:nvSpPr>
        <p:spPr>
          <a:xfrm>
            <a:off x="6629400" y="5074920"/>
            <a:ext cx="4983480" cy="457200"/>
          </a:xfrm>
          <a:prstGeom prst="rect">
            <a:avLst/>
          </a:prstGeom>
          <a:noFill/>
          <a:ln/>
        </p:spPr>
        <p:txBody>
          <a:bodyPr wrap="square" lIns="0" tIns="0" rIns="0" bIns="0" rtlCol="0" anchor="ctr"/>
          <a:lstStyle/>
          <a:p>
            <a:pPr algn="ctr" indent="0" marL="0">
              <a:buNone/>
            </a:pPr>
            <a:r>
              <a:rPr lang="en-US" sz="1200" i="1" dirty="0">
                <a:solidFill>
                  <a:srgbClr val="5B7383"/>
                </a:solidFill>
                <a:latin typeface="Calibri" pitchFamily="34" charset="0"/>
                <a:ea typeface="Calibri" pitchFamily="34" charset="-122"/>
                <a:cs typeface="Calibri" pitchFamily="34" charset="-120"/>
              </a:rPr>
              <a:t>Keep registry light unless you run many agents.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PATTERN 5 OF 5 · RECORD</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Observability admin UI: the record layer</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29</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828800"/>
            <a:ext cx="5852160" cy="3291840"/>
          </a:xfrm>
          <a:prstGeom prst="rect">
            <a:avLst/>
          </a:prstGeom>
          <a:noFill/>
          <a:ln/>
        </p:spPr>
        <p:txBody>
          <a:bodyPr wrap="square" lIns="0" tIns="0" rIns="0" bIns="0" rtlCol="0" anchor="t"/>
          <a:lstStyle/>
          <a:p>
            <a:pPr marL="203200" indent="-203200">
              <a:spcAft>
                <a:spcPts val="1300"/>
              </a:spcAft>
              <a:buSzPct val="100000"/>
              <a:buChar char="•"/>
            </a:pPr>
            <a:r>
              <a:rPr lang="en-US" sz="1400" b="1" dirty="0">
                <a:solidFill>
                  <a:srgbClr val="12242E"/>
                </a:solidFill>
                <a:latin typeface="Calibri" pitchFamily="34" charset="0"/>
                <a:ea typeface="Calibri" pitchFamily="34" charset="-122"/>
                <a:cs typeface="Calibri" pitchFamily="34" charset="-120"/>
              </a:rPr>
              <a:t>Traces, latency, token cost, and a full audit log of payloads + userActions</a:t>
            </a:r>
            <a:endParaRPr lang="en-US" sz="1400" dirty="0"/>
          </a:p>
          <a:p>
            <a:pPr marL="203200" indent="-203200">
              <a:spcAft>
                <a:spcPts val="1300"/>
              </a:spcAft>
              <a:buSzPct val="100000"/>
              <a:buChar char="•"/>
            </a:pPr>
            <a:r>
              <a:rPr lang="en-US" sz="1400" dirty="0">
                <a:solidFill>
                  <a:srgbClr val="12242E"/>
                </a:solidFill>
                <a:latin typeface="Calibri" pitchFamily="34" charset="0"/>
                <a:ea typeface="Calibri" pitchFamily="34" charset="-122"/>
                <a:cs typeface="Calibri" pitchFamily="34" charset="-120"/>
              </a:rPr>
              <a:t>This is the Streamlit admin view you build today</a:t>
            </a:r>
            <a:endParaRPr lang="en-US" sz="1400" dirty="0"/>
          </a:p>
          <a:p>
            <a:pPr marL="203200" indent="-203200">
              <a:spcAft>
                <a:spcPts val="1300"/>
              </a:spcAft>
              <a:buSzPct val="100000"/>
              <a:buChar char="•"/>
            </a:pPr>
            <a:r>
              <a:rPr lang="en-US" sz="1400" dirty="0">
                <a:solidFill>
                  <a:srgbClr val="12242E"/>
                </a:solidFill>
                <a:latin typeface="Calibri" pitchFamily="34" charset="0"/>
                <a:ea typeface="Calibri" pitchFamily="34" charset="-122"/>
                <a:cs typeface="Calibri" pitchFamily="34" charset="-120"/>
              </a:rPr>
              <a:t>If the agent generated the UI, you must reproduce exactly what the user saw and did</a:t>
            </a:r>
            <a:endParaRPr lang="en-US" sz="1400" dirty="0"/>
          </a:p>
          <a:p>
            <a:pPr marL="203200" indent="-203200">
              <a:spcAft>
                <a:spcPts val="1300"/>
              </a:spcAft>
              <a:buSzPct val="100000"/>
              <a:buChar char="•"/>
            </a:pPr>
            <a:r>
              <a:rPr lang="en-US" sz="1400" dirty="0">
                <a:solidFill>
                  <a:srgbClr val="12242E"/>
                </a:solidFill>
                <a:latin typeface="Calibri" pitchFamily="34" charset="0"/>
                <a:ea typeface="Calibri" pitchFamily="34" charset="-122"/>
                <a:cs typeface="Calibri" pitchFamily="34" charset="-120"/>
              </a:rPr>
              <a:t>Log the payload sent and the userAction received, with timestamp and role</a:t>
            </a:r>
            <a:endParaRPr lang="en-US" sz="1400" dirty="0"/>
          </a:p>
        </p:txBody>
      </p:sp>
      <p:sp>
        <p:nvSpPr>
          <p:cNvPr id="9" name="Shape 6"/>
          <p:cNvSpPr/>
          <p:nvPr/>
        </p:nvSpPr>
        <p:spPr>
          <a:xfrm>
            <a:off x="6629400" y="1828800"/>
            <a:ext cx="4983480" cy="3657600"/>
          </a:xfrm>
          <a:prstGeom prst="roundRect">
            <a:avLst>
              <a:gd name="adj" fmla="val 3000"/>
            </a:avLst>
          </a:prstGeom>
          <a:solidFill>
            <a:srgbClr val="0E2330"/>
          </a:solidFill>
          <a:ln/>
          <a:effectLst>
            <a:outerShdw sx="100000" sy="100000" kx="0" ky="0" algn="bl" rotWithShape="0" blurRad="88900" dist="38100" dir="5400000">
              <a:srgbClr val="0B2430">
                <a:alpha val="13000"/>
              </a:srgbClr>
            </a:outerShdw>
          </a:effectLst>
        </p:spPr>
      </p:sp>
      <p:sp>
        <p:nvSpPr>
          <p:cNvPr id="10" name="Shape 7"/>
          <p:cNvSpPr/>
          <p:nvPr/>
        </p:nvSpPr>
        <p:spPr>
          <a:xfrm>
            <a:off x="6858000" y="2057400"/>
            <a:ext cx="566928" cy="566928"/>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1" name="Image 1" descr="preencoded.png">    </p:cNvPr>
          <p:cNvPicPr>
            <a:picLocks noChangeAspect="1"/>
          </p:cNvPicPr>
          <p:nvPr/>
        </p:nvPicPr>
        <p:blipFill>
          <a:blip r:embed="rId2"/>
          <a:stretch>
            <a:fillRect/>
          </a:stretch>
        </p:blipFill>
        <p:spPr>
          <a:xfrm>
            <a:off x="7005401" y="2204801"/>
            <a:ext cx="272125" cy="272125"/>
          </a:xfrm>
          <a:prstGeom prst="rect">
            <a:avLst/>
          </a:prstGeom>
        </p:spPr>
      </p:pic>
      <p:sp>
        <p:nvSpPr>
          <p:cNvPr id="12" name="Text 8"/>
          <p:cNvSpPr/>
          <p:nvPr/>
        </p:nvSpPr>
        <p:spPr>
          <a:xfrm>
            <a:off x="7589520" y="2057400"/>
            <a:ext cx="3840480" cy="56692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On AWS: AgentCore Observability</a:t>
            </a:r>
            <a:endParaRPr lang="en-US" sz="1500" dirty="0"/>
          </a:p>
        </p:txBody>
      </p:sp>
      <p:sp>
        <p:nvSpPr>
          <p:cNvPr id="13" name="Text 9"/>
          <p:cNvSpPr/>
          <p:nvPr/>
        </p:nvSpPr>
        <p:spPr>
          <a:xfrm>
            <a:off x="6903720" y="2834640"/>
            <a:ext cx="4480560" cy="274320"/>
          </a:xfrm>
          <a:prstGeom prst="rect">
            <a:avLst/>
          </a:prstGeom>
          <a:noFill/>
          <a:ln/>
        </p:spPr>
        <p:txBody>
          <a:bodyPr wrap="square" lIns="0" tIns="0" rIns="0" bIns="0" rtlCol="0" anchor="ctr"/>
          <a:lstStyle/>
          <a:p>
            <a:pPr indent="0" marL="0">
              <a:buNone/>
            </a:pPr>
            <a:r>
              <a:rPr lang="en-US" sz="1300" b="1" dirty="0">
                <a:solidFill>
                  <a:srgbClr val="5EEAD4"/>
                </a:solidFill>
                <a:latin typeface="Consolas" pitchFamily="34" charset="0"/>
                <a:ea typeface="Consolas" pitchFamily="34" charset="-122"/>
                <a:cs typeface="Consolas" pitchFamily="34" charset="-120"/>
              </a:rPr>
              <a:t>CloudWatch</a:t>
            </a:r>
            <a:endParaRPr lang="en-US" sz="1300" dirty="0"/>
          </a:p>
        </p:txBody>
      </p:sp>
      <p:sp>
        <p:nvSpPr>
          <p:cNvPr id="14" name="Text 10"/>
          <p:cNvSpPr/>
          <p:nvPr/>
        </p:nvSpPr>
        <p:spPr>
          <a:xfrm>
            <a:off x="6903720" y="3108960"/>
            <a:ext cx="4480560" cy="274320"/>
          </a:xfrm>
          <a:prstGeom prst="rect">
            <a:avLst/>
          </a:prstGeom>
          <a:noFill/>
          <a:ln/>
        </p:spPr>
        <p:txBody>
          <a:bodyPr wrap="square" lIns="0" tIns="0" rIns="0" bIns="0" rtlCol="0" anchor="ctr"/>
          <a:lstStyle/>
          <a:p>
            <a:pPr indent="0" marL="0">
              <a:buNone/>
            </a:pPr>
            <a:r>
              <a:rPr lang="en-US" sz="1150" dirty="0">
                <a:solidFill>
                  <a:srgbClr val="AFC9D6"/>
                </a:solidFill>
                <a:latin typeface="Calibri" pitchFamily="34" charset="0"/>
                <a:ea typeface="Calibri" pitchFamily="34" charset="-122"/>
                <a:cs typeface="Calibri" pitchFamily="34" charset="-120"/>
              </a:rPr>
              <a:t>dashboards + metrics</a:t>
            </a:r>
            <a:endParaRPr lang="en-US" sz="1150" dirty="0"/>
          </a:p>
        </p:txBody>
      </p:sp>
      <p:sp>
        <p:nvSpPr>
          <p:cNvPr id="15" name="Text 11"/>
          <p:cNvSpPr/>
          <p:nvPr/>
        </p:nvSpPr>
        <p:spPr>
          <a:xfrm>
            <a:off x="6903720" y="3584448"/>
            <a:ext cx="4480560" cy="274320"/>
          </a:xfrm>
          <a:prstGeom prst="rect">
            <a:avLst/>
          </a:prstGeom>
          <a:noFill/>
          <a:ln/>
        </p:spPr>
        <p:txBody>
          <a:bodyPr wrap="square" lIns="0" tIns="0" rIns="0" bIns="0" rtlCol="0" anchor="ctr"/>
          <a:lstStyle/>
          <a:p>
            <a:pPr indent="0" marL="0">
              <a:buNone/>
            </a:pPr>
            <a:r>
              <a:rPr lang="en-US" sz="1300" b="1" dirty="0">
                <a:solidFill>
                  <a:srgbClr val="5EEAD4"/>
                </a:solidFill>
                <a:latin typeface="Consolas" pitchFamily="34" charset="0"/>
                <a:ea typeface="Consolas" pitchFamily="34" charset="-122"/>
                <a:cs typeface="Consolas" pitchFamily="34" charset="-120"/>
              </a:rPr>
              <a:t>OpenTelemetry</a:t>
            </a:r>
            <a:endParaRPr lang="en-US" sz="1300" dirty="0"/>
          </a:p>
        </p:txBody>
      </p:sp>
      <p:sp>
        <p:nvSpPr>
          <p:cNvPr id="16" name="Text 12"/>
          <p:cNvSpPr/>
          <p:nvPr/>
        </p:nvSpPr>
        <p:spPr>
          <a:xfrm>
            <a:off x="6903720" y="3858768"/>
            <a:ext cx="4480560" cy="274320"/>
          </a:xfrm>
          <a:prstGeom prst="rect">
            <a:avLst/>
          </a:prstGeom>
          <a:noFill/>
          <a:ln/>
        </p:spPr>
        <p:txBody>
          <a:bodyPr wrap="square" lIns="0" tIns="0" rIns="0" bIns="0" rtlCol="0" anchor="ctr"/>
          <a:lstStyle/>
          <a:p>
            <a:pPr indent="0" marL="0">
              <a:buNone/>
            </a:pPr>
            <a:r>
              <a:rPr lang="en-US" sz="1150" dirty="0">
                <a:solidFill>
                  <a:srgbClr val="AFC9D6"/>
                </a:solidFill>
                <a:latin typeface="Calibri" pitchFamily="34" charset="0"/>
                <a:ea typeface="Calibri" pitchFamily="34" charset="-122"/>
                <a:cs typeface="Calibri" pitchFamily="34" charset="-120"/>
              </a:rPr>
              <a:t>standard trace export</a:t>
            </a:r>
            <a:endParaRPr lang="en-US" sz="1150" dirty="0"/>
          </a:p>
        </p:txBody>
      </p:sp>
      <p:sp>
        <p:nvSpPr>
          <p:cNvPr id="17" name="Text 13"/>
          <p:cNvSpPr/>
          <p:nvPr/>
        </p:nvSpPr>
        <p:spPr>
          <a:xfrm>
            <a:off x="6903720" y="4334256"/>
            <a:ext cx="4480560" cy="274320"/>
          </a:xfrm>
          <a:prstGeom prst="rect">
            <a:avLst/>
          </a:prstGeom>
          <a:noFill/>
          <a:ln/>
        </p:spPr>
        <p:txBody>
          <a:bodyPr wrap="square" lIns="0" tIns="0" rIns="0" bIns="0" rtlCol="0" anchor="ctr"/>
          <a:lstStyle/>
          <a:p>
            <a:pPr indent="0" marL="0">
              <a:buNone/>
            </a:pPr>
            <a:r>
              <a:rPr lang="en-US" sz="1300" b="1" dirty="0">
                <a:solidFill>
                  <a:srgbClr val="5EEAD4"/>
                </a:solidFill>
                <a:latin typeface="Consolas" pitchFamily="34" charset="0"/>
                <a:ea typeface="Consolas" pitchFamily="34" charset="-122"/>
                <a:cs typeface="Consolas" pitchFamily="34" charset="-120"/>
              </a:rPr>
              <a:t>Trajectory inspection</a:t>
            </a:r>
            <a:endParaRPr lang="en-US" sz="1300" dirty="0"/>
          </a:p>
        </p:txBody>
      </p:sp>
      <p:sp>
        <p:nvSpPr>
          <p:cNvPr id="18" name="Text 14"/>
          <p:cNvSpPr/>
          <p:nvPr/>
        </p:nvSpPr>
        <p:spPr>
          <a:xfrm>
            <a:off x="6903720" y="4608576"/>
            <a:ext cx="4480560" cy="274320"/>
          </a:xfrm>
          <a:prstGeom prst="rect">
            <a:avLst/>
          </a:prstGeom>
          <a:noFill/>
          <a:ln/>
        </p:spPr>
        <p:txBody>
          <a:bodyPr wrap="square" lIns="0" tIns="0" rIns="0" bIns="0" rtlCol="0" anchor="ctr"/>
          <a:lstStyle/>
          <a:p>
            <a:pPr indent="0" marL="0">
              <a:buNone/>
            </a:pPr>
            <a:r>
              <a:rPr lang="en-US" sz="1150" dirty="0">
                <a:solidFill>
                  <a:srgbClr val="AFC9D6"/>
                </a:solidFill>
                <a:latin typeface="Calibri" pitchFamily="34" charset="0"/>
                <a:ea typeface="Calibri" pitchFamily="34" charset="-122"/>
                <a:cs typeface="Calibri" pitchFamily="34" charset="-120"/>
              </a:rPr>
              <a:t>step-by-step agent replay</a:t>
            </a:r>
            <a:endParaRPr lang="en-US" sz="1150" dirty="0"/>
          </a:p>
        </p:txBody>
      </p:sp>
      <p:sp>
        <p:nvSpPr>
          <p:cNvPr id="19" name="Text 15"/>
          <p:cNvSpPr/>
          <p:nvPr/>
        </p:nvSpPr>
        <p:spPr>
          <a:xfrm>
            <a:off x="6903720" y="5129784"/>
            <a:ext cx="4480560" cy="365760"/>
          </a:xfrm>
          <a:prstGeom prst="rect">
            <a:avLst/>
          </a:prstGeom>
          <a:noFill/>
          <a:ln/>
        </p:spPr>
        <p:txBody>
          <a:bodyPr wrap="square" lIns="0" tIns="0" rIns="0" bIns="0" rtlCol="0" anchor="ctr"/>
          <a:lstStyle/>
          <a:p>
            <a:pPr indent="0" marL="0">
              <a:buNone/>
            </a:pPr>
            <a:r>
              <a:rPr lang="en-US" sz="1200" i="1" dirty="0">
                <a:solidFill>
                  <a:srgbClr val="5EEAD4"/>
                </a:solidFill>
                <a:latin typeface="Calibri" pitchFamily="34" charset="0"/>
                <a:ea typeface="Calibri" pitchFamily="34" charset="-122"/>
                <a:cs typeface="Calibri" pitchFamily="34" charset="-120"/>
              </a:rPr>
              <a:t>Observability is non-negotiable in production.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2330"/>
        </a:solidFill>
      </p:bgPr>
    </p:bg>
    <p:spTree>
      <p:nvGrpSpPr>
        <p:cNvPr id="1" name=""/>
        <p:cNvGrpSpPr/>
        <p:nvPr/>
      </p:nvGrpSpPr>
      <p:grpSpPr>
        <a:xfrm>
          <a:off x="0" y="0"/>
          <a:ext cx="0" cy="0"/>
          <a:chOff x="0" y="0"/>
          <a:chExt cx="0" cy="0"/>
        </a:xfrm>
      </p:grpSpPr>
      <p:sp>
        <p:nvSpPr>
          <p:cNvPr id="2" name="Shape 0"/>
          <p:cNvSpPr/>
          <p:nvPr/>
        </p:nvSpPr>
        <p:spPr>
          <a:xfrm>
            <a:off x="8869680" y="2011680"/>
            <a:ext cx="2926080" cy="658368"/>
          </a:xfrm>
          <a:prstGeom prst="roundRect">
            <a:avLst>
              <a:gd name="adj" fmla="val 16667"/>
            </a:avLst>
          </a:prstGeom>
          <a:solidFill>
            <a:srgbClr val="13344A">
              <a:alpha val="80000"/>
            </a:srgbClr>
          </a:solidFill>
          <a:ln/>
        </p:spPr>
      </p:sp>
      <p:sp>
        <p:nvSpPr>
          <p:cNvPr id="3" name="Shape 1"/>
          <p:cNvSpPr/>
          <p:nvPr/>
        </p:nvSpPr>
        <p:spPr>
          <a:xfrm>
            <a:off x="9034272" y="2834640"/>
            <a:ext cx="2926080" cy="658368"/>
          </a:xfrm>
          <a:prstGeom prst="roundRect">
            <a:avLst>
              <a:gd name="adj" fmla="val 16667"/>
            </a:avLst>
          </a:prstGeom>
          <a:solidFill>
            <a:srgbClr val="13344A">
              <a:alpha val="68000"/>
            </a:srgbClr>
          </a:solidFill>
          <a:ln/>
        </p:spPr>
      </p:sp>
      <p:sp>
        <p:nvSpPr>
          <p:cNvPr id="4" name="Shape 2"/>
          <p:cNvSpPr/>
          <p:nvPr/>
        </p:nvSpPr>
        <p:spPr>
          <a:xfrm>
            <a:off x="9198864" y="3657600"/>
            <a:ext cx="2926080" cy="658368"/>
          </a:xfrm>
          <a:prstGeom prst="roundRect">
            <a:avLst>
              <a:gd name="adj" fmla="val 16667"/>
            </a:avLst>
          </a:prstGeom>
          <a:solidFill>
            <a:srgbClr val="13344A">
              <a:alpha val="56000"/>
            </a:srgbClr>
          </a:solidFill>
          <a:ln/>
        </p:spPr>
      </p:sp>
      <p:sp>
        <p:nvSpPr>
          <p:cNvPr id="5" name="Shape 3"/>
          <p:cNvSpPr/>
          <p:nvPr/>
        </p:nvSpPr>
        <p:spPr>
          <a:xfrm>
            <a:off x="822960" y="2148840"/>
            <a:ext cx="1005840" cy="100584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6" name="Image 0" descr="preencoded.png">    </p:cNvPr>
          <p:cNvPicPr>
            <a:picLocks noChangeAspect="1"/>
          </p:cNvPicPr>
          <p:nvPr/>
        </p:nvPicPr>
        <p:blipFill>
          <a:blip r:embed="rId1"/>
          <a:stretch>
            <a:fillRect/>
          </a:stretch>
        </p:blipFill>
        <p:spPr>
          <a:xfrm>
            <a:off x="1084478" y="2410358"/>
            <a:ext cx="482803" cy="482803"/>
          </a:xfrm>
          <a:prstGeom prst="rect">
            <a:avLst/>
          </a:prstGeom>
        </p:spPr>
      </p:pic>
      <p:sp>
        <p:nvSpPr>
          <p:cNvPr id="7" name="Text 4"/>
          <p:cNvSpPr/>
          <p:nvPr/>
        </p:nvSpPr>
        <p:spPr>
          <a:xfrm>
            <a:off x="2057400" y="2240280"/>
            <a:ext cx="73152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PART 4</a:t>
            </a:r>
            <a:endParaRPr lang="en-US" sz="1400" dirty="0"/>
          </a:p>
        </p:txBody>
      </p:sp>
      <p:sp>
        <p:nvSpPr>
          <p:cNvPr id="8" name="Text 5"/>
          <p:cNvSpPr/>
          <p:nvPr/>
        </p:nvSpPr>
        <p:spPr>
          <a:xfrm>
            <a:off x="2057400" y="2606040"/>
            <a:ext cx="7498080" cy="14630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Wiring it on AWS: Strands + AgentCore</a:t>
            </a:r>
            <a:endParaRPr lang="en-US" sz="3400" dirty="0"/>
          </a:p>
        </p:txBody>
      </p:sp>
      <p:sp>
        <p:nvSpPr>
          <p:cNvPr id="9" name="Text 6"/>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EEAD4"/>
                </a:solidFill>
                <a:latin typeface="Consolas" pitchFamily="34" charset="0"/>
                <a:ea typeface="Consolas" pitchFamily="34" charset="-122"/>
                <a:cs typeface="Consolas" pitchFamily="34" charset="-120"/>
              </a:rPr>
              <a:t>30</a:t>
            </a:r>
            <a:endParaRPr lang="en-US" sz="900" dirty="0"/>
          </a:p>
        </p:txBody>
      </p:sp>
      <p:sp>
        <p:nvSpPr>
          <p:cNvPr id="10" name="Text 7"/>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7FA6B6"/>
                </a:solidFill>
                <a:latin typeface="Calibri" pitchFamily="34" charset="0"/>
                <a:ea typeface="Calibri" pitchFamily="34" charset="-122"/>
                <a:cs typeface="Calibri" pitchFamily="34" charset="-120"/>
              </a:rPr>
              <a:t>A2UI · Agentic UI Layer</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REAL ARCHITECTURE</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How A2UI rides on a Strands agent</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31</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350" dirty="0">
                <a:solidFill>
                  <a:srgbClr val="5B7383"/>
                </a:solidFill>
                <a:latin typeface="Calibri" pitchFamily="34" charset="0"/>
                <a:ea typeface="Calibri" pitchFamily="34" charset="-122"/>
                <a:cs typeface="Calibri" pitchFamily="34" charset="-120"/>
              </a:rPr>
              <a:t>The trick worth remembering: A2UI is produced by a normal Strands tool, captured by a callback, and shipped inside an A2A message part.</a:t>
            </a:r>
            <a:endParaRPr lang="en-US" sz="1350" dirty="0"/>
          </a:p>
        </p:txBody>
      </p:sp>
      <p:sp>
        <p:nvSpPr>
          <p:cNvPr id="9" name="Shape 6"/>
          <p:cNvSpPr/>
          <p:nvPr/>
        </p:nvSpPr>
        <p:spPr>
          <a:xfrm>
            <a:off x="548640" y="2194560"/>
            <a:ext cx="2286000" cy="1051560"/>
          </a:xfrm>
          <a:prstGeom prst="roundRect">
            <a:avLst>
              <a:gd name="adj" fmla="val 8696"/>
            </a:avLst>
          </a:prstGeom>
          <a:solidFill>
            <a:srgbClr val="0E7C86"/>
          </a:solidFill>
          <a:ln/>
          <a:effectLst>
            <a:outerShdw sx="100000" sy="100000" kx="0" ky="0" algn="bl" rotWithShape="0" blurRad="114300" dist="50800" dir="5400000">
              <a:srgbClr val="0B2430">
                <a:alpha val="10000"/>
              </a:srgbClr>
            </a:outerShdw>
          </a:effectLst>
        </p:spPr>
      </p:sp>
      <p:sp>
        <p:nvSpPr>
          <p:cNvPr id="10" name="Text 7"/>
          <p:cNvSpPr/>
          <p:nvPr/>
        </p:nvSpPr>
        <p:spPr>
          <a:xfrm>
            <a:off x="658368" y="2304288"/>
            <a:ext cx="2066544"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Client</a:t>
            </a:r>
            <a:endParaRPr lang="en-US" sz="1350" dirty="0"/>
          </a:p>
        </p:txBody>
      </p:sp>
      <p:sp>
        <p:nvSpPr>
          <p:cNvPr id="11" name="Text 8"/>
          <p:cNvSpPr/>
          <p:nvPr/>
        </p:nvSpPr>
        <p:spPr>
          <a:xfrm>
            <a:off x="658368" y="2651760"/>
            <a:ext cx="2066544" cy="502920"/>
          </a:xfrm>
          <a:prstGeom prst="rect">
            <a:avLst/>
          </a:prstGeom>
          <a:noFill/>
          <a:ln/>
        </p:spPr>
        <p:txBody>
          <a:bodyPr wrap="square" lIns="0" tIns="0" rIns="0" bIns="0" rtlCol="0" anchor="t"/>
          <a:lstStyle/>
          <a:p>
            <a:pPr algn="ctr" indent="0" marL="0">
              <a:buNone/>
            </a:pPr>
            <a:r>
              <a:rPr lang="en-US" sz="1050" dirty="0">
                <a:solidFill>
                  <a:srgbClr val="EAF7F6"/>
                </a:solidFill>
                <a:latin typeface="Calibri" pitchFamily="34" charset="0"/>
                <a:ea typeface="Calibri" pitchFamily="34" charset="-122"/>
                <a:cs typeface="Calibri" pitchFamily="34" charset="-120"/>
              </a:rPr>
              <a:t>Angular or Streamlit renderer</a:t>
            </a:r>
            <a:endParaRPr lang="en-US" sz="1050" dirty="0"/>
          </a:p>
        </p:txBody>
      </p:sp>
      <p:sp>
        <p:nvSpPr>
          <p:cNvPr id="12" name="Shape 9"/>
          <p:cNvSpPr/>
          <p:nvPr/>
        </p:nvSpPr>
        <p:spPr>
          <a:xfrm>
            <a:off x="2880360" y="2715768"/>
            <a:ext cx="457200" cy="0"/>
          </a:xfrm>
          <a:prstGeom prst="line">
            <a:avLst/>
          </a:prstGeom>
          <a:noFill/>
          <a:ln w="31750">
            <a:solidFill>
              <a:srgbClr val="1B4861"/>
            </a:solidFill>
            <a:prstDash val="solid"/>
            <a:tailEnd type="triangle"/>
          </a:ln>
        </p:spPr>
      </p:sp>
      <p:sp>
        <p:nvSpPr>
          <p:cNvPr id="13" name="Shape 10"/>
          <p:cNvSpPr/>
          <p:nvPr/>
        </p:nvSpPr>
        <p:spPr>
          <a:xfrm>
            <a:off x="3429000" y="2194560"/>
            <a:ext cx="2286000" cy="1051560"/>
          </a:xfrm>
          <a:prstGeom prst="roundRect">
            <a:avLst>
              <a:gd name="adj" fmla="val 8696"/>
            </a:avLst>
          </a:prstGeom>
          <a:solidFill>
            <a:srgbClr val="0E2330"/>
          </a:solidFill>
          <a:ln/>
          <a:effectLst>
            <a:outerShdw sx="100000" sy="100000" kx="0" ky="0" algn="bl" rotWithShape="0" blurRad="114300" dist="50800" dir="5400000">
              <a:srgbClr val="0B2430">
                <a:alpha val="10000"/>
              </a:srgbClr>
            </a:outerShdw>
          </a:effectLst>
        </p:spPr>
      </p:sp>
      <p:sp>
        <p:nvSpPr>
          <p:cNvPr id="14" name="Text 11"/>
          <p:cNvSpPr/>
          <p:nvPr/>
        </p:nvSpPr>
        <p:spPr>
          <a:xfrm>
            <a:off x="3538728" y="2304288"/>
            <a:ext cx="2066544"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Strands agent</a:t>
            </a:r>
            <a:endParaRPr lang="en-US" sz="1350" dirty="0"/>
          </a:p>
        </p:txBody>
      </p:sp>
      <p:sp>
        <p:nvSpPr>
          <p:cNvPr id="15" name="Text 12"/>
          <p:cNvSpPr/>
          <p:nvPr/>
        </p:nvSpPr>
        <p:spPr>
          <a:xfrm>
            <a:off x="3538728" y="2651760"/>
            <a:ext cx="2066544" cy="502920"/>
          </a:xfrm>
          <a:prstGeom prst="rect">
            <a:avLst/>
          </a:prstGeom>
          <a:noFill/>
          <a:ln/>
        </p:spPr>
        <p:txBody>
          <a:bodyPr wrap="square" lIns="0" tIns="0" rIns="0" bIns="0" rtlCol="0" anchor="t"/>
          <a:lstStyle/>
          <a:p>
            <a:pPr algn="ctr" indent="0" marL="0">
              <a:buNone/>
            </a:pPr>
            <a:r>
              <a:rPr lang="en-US" sz="1050" dirty="0">
                <a:solidFill>
                  <a:srgbClr val="C7D9E2"/>
                </a:solidFill>
                <a:latin typeface="Calibri" pitchFamily="34" charset="0"/>
                <a:ea typeface="Calibri" pitchFamily="34" charset="-122"/>
                <a:cs typeface="Calibri" pitchFamily="34" charset="-120"/>
              </a:rPr>
              <a:t>Claude on Bedrock, the agent loop</a:t>
            </a:r>
            <a:endParaRPr lang="en-US" sz="1050" dirty="0"/>
          </a:p>
        </p:txBody>
      </p:sp>
      <p:sp>
        <p:nvSpPr>
          <p:cNvPr id="16" name="Shape 13"/>
          <p:cNvSpPr/>
          <p:nvPr/>
        </p:nvSpPr>
        <p:spPr>
          <a:xfrm>
            <a:off x="5760720" y="2715768"/>
            <a:ext cx="457200" cy="0"/>
          </a:xfrm>
          <a:prstGeom prst="line">
            <a:avLst/>
          </a:prstGeom>
          <a:noFill/>
          <a:ln w="31750">
            <a:solidFill>
              <a:srgbClr val="1B4861"/>
            </a:solidFill>
            <a:prstDash val="solid"/>
            <a:tailEnd type="triangle"/>
          </a:ln>
        </p:spPr>
      </p:sp>
      <p:sp>
        <p:nvSpPr>
          <p:cNvPr id="17" name="Shape 14"/>
          <p:cNvSpPr/>
          <p:nvPr/>
        </p:nvSpPr>
        <p:spPr>
          <a:xfrm>
            <a:off x="6309360" y="2194560"/>
            <a:ext cx="5303520" cy="1051560"/>
          </a:xfrm>
          <a:prstGeom prst="roundRect">
            <a:avLst>
              <a:gd name="adj" fmla="val 8696"/>
            </a:avLst>
          </a:prstGeom>
          <a:solidFill>
            <a:srgbClr val="F1F6F8"/>
          </a:solidFill>
          <a:ln/>
          <a:effectLst>
            <a:outerShdw sx="100000" sy="100000" kx="0" ky="0" algn="bl" rotWithShape="0" blurRad="114300" dist="50800" dir="5400000">
              <a:srgbClr val="0B2430">
                <a:alpha val="10000"/>
              </a:srgbClr>
            </a:outerShdw>
          </a:effectLst>
        </p:spPr>
      </p:sp>
      <p:sp>
        <p:nvSpPr>
          <p:cNvPr id="18" name="Text 15"/>
          <p:cNvSpPr/>
          <p:nvPr/>
        </p:nvSpPr>
        <p:spPr>
          <a:xfrm>
            <a:off x="6419088" y="2304288"/>
            <a:ext cx="5084064" cy="365760"/>
          </a:xfrm>
          <a:prstGeom prst="rect">
            <a:avLst/>
          </a:prstGeom>
          <a:noFill/>
          <a:ln/>
        </p:spPr>
        <p:txBody>
          <a:bodyPr wrap="square" lIns="0" tIns="0" rIns="0" bIns="0" rtlCol="0" anchor="ctr"/>
          <a:lstStyle/>
          <a:p>
            <a:pPr algn="ctr" indent="0" marL="0">
              <a:buNone/>
            </a:pPr>
            <a:r>
              <a:rPr lang="en-US" sz="1350" b="1" dirty="0">
                <a:solidFill>
                  <a:srgbClr val="0E2330"/>
                </a:solidFill>
                <a:latin typeface="Cambria" pitchFamily="34" charset="0"/>
                <a:ea typeface="Cambria" pitchFamily="34" charset="-122"/>
                <a:cs typeface="Cambria" pitchFamily="34" charset="-120"/>
              </a:rPr>
              <a:t>Tools</a:t>
            </a:r>
            <a:endParaRPr lang="en-US" sz="1350" dirty="0"/>
          </a:p>
        </p:txBody>
      </p:sp>
      <p:sp>
        <p:nvSpPr>
          <p:cNvPr id="19" name="Text 16"/>
          <p:cNvSpPr/>
          <p:nvPr/>
        </p:nvSpPr>
        <p:spPr>
          <a:xfrm>
            <a:off x="6446520" y="2670048"/>
            <a:ext cx="5029200" cy="502920"/>
          </a:xfrm>
          <a:prstGeom prst="rect">
            <a:avLst/>
          </a:prstGeom>
          <a:noFill/>
          <a:ln/>
        </p:spPr>
        <p:txBody>
          <a:bodyPr wrap="square" lIns="0" tIns="0" rIns="0" bIns="0" rtlCol="0" anchor="ctr"/>
          <a:lstStyle/>
          <a:p>
            <a:pPr algn="ctr" indent="0" marL="0">
              <a:buNone/>
            </a:pPr>
            <a:r>
              <a:rPr lang="en-US" sz="1050" b="1" dirty="0">
                <a:solidFill>
                  <a:srgbClr val="0E2330"/>
                </a:solidFill>
                <a:latin typeface="Calibri" pitchFamily="34" charset="0"/>
                <a:ea typeface="Calibri" pitchFamily="34" charset="-122"/>
                <a:cs typeface="Calibri" pitchFamily="34" charset="-120"/>
              </a:rPr>
              <a:t>aws_api </a:t>
            </a:r>
            <a:pPr algn="ctr" indent="0" marL="0">
              <a:buNone/>
            </a:pPr>
            <a:r>
              <a:rPr lang="en-US" sz="1050" dirty="0">
                <a:solidFill>
                  <a:srgbClr val="5B7383"/>
                </a:solidFill>
                <a:latin typeface="Calibri" pitchFamily="34" charset="0"/>
                <a:ea typeface="Calibri" pitchFamily="34" charset="-122"/>
                <a:cs typeface="Calibri" pitchFamily="34" charset="-120"/>
              </a:rPr>
              <a:t>(boto3)   </a:t>
            </a:r>
            <a:pPr algn="ctr" indent="0" marL="0">
              <a:buNone/>
            </a:pPr>
            <a:r>
              <a:rPr lang="en-US" sz="1050" b="1" dirty="0">
                <a:solidFill>
                  <a:srgbClr val="0E7C86"/>
                </a:solidFill>
                <a:latin typeface="Calibri" pitchFamily="34" charset="0"/>
                <a:ea typeface="Calibri" pitchFamily="34" charset="-122"/>
                <a:cs typeface="Calibri" pitchFamily="34" charset="-120"/>
              </a:rPr>
              <a:t>send_a2ui_to_client </a:t>
            </a:r>
            <a:pPr algn="ctr" indent="0" marL="0">
              <a:buNone/>
            </a:pPr>
            <a:r>
              <a:rPr lang="en-US" sz="1050" dirty="0">
                <a:solidFill>
                  <a:srgbClr val="5B7383"/>
                </a:solidFill>
                <a:latin typeface="Calibri" pitchFamily="34" charset="0"/>
                <a:ea typeface="Calibri" pitchFamily="34" charset="-122"/>
                <a:cs typeface="Calibri" pitchFamily="34" charset="-120"/>
              </a:rPr>
              <a:t>(emits JSON)   </a:t>
            </a:r>
            <a:pPr algn="ctr" indent="0" marL="0">
              <a:buNone/>
            </a:pPr>
            <a:r>
              <a:rPr lang="en-US" sz="1050" b="1" dirty="0">
                <a:solidFill>
                  <a:srgbClr val="0E2330"/>
                </a:solidFill>
                <a:latin typeface="Calibri" pitchFamily="34" charset="0"/>
                <a:ea typeface="Calibri" pitchFamily="34" charset="-122"/>
                <a:cs typeface="Calibri" pitchFamily="34" charset="-120"/>
              </a:rPr>
              <a:t>AWS Knowledge MCP</a:t>
            </a:r>
            <a:endParaRPr lang="en-US" sz="1050" dirty="0"/>
          </a:p>
        </p:txBody>
      </p:sp>
      <p:sp>
        <p:nvSpPr>
          <p:cNvPr id="20" name="Text 17"/>
          <p:cNvSpPr/>
          <p:nvPr/>
        </p:nvSpPr>
        <p:spPr>
          <a:xfrm>
            <a:off x="2651760" y="3200400"/>
            <a:ext cx="914400" cy="228600"/>
          </a:xfrm>
          <a:prstGeom prst="rect">
            <a:avLst/>
          </a:prstGeom>
          <a:noFill/>
          <a:ln/>
        </p:spPr>
        <p:txBody>
          <a:bodyPr wrap="square" lIns="0" tIns="0" rIns="0" bIns="0" rtlCol="0" anchor="ctr"/>
          <a:lstStyle/>
          <a:p>
            <a:pPr algn="ctr" indent="0" marL="0">
              <a:buNone/>
            </a:pPr>
            <a:r>
              <a:rPr lang="en-US" sz="800" dirty="0">
                <a:solidFill>
                  <a:srgbClr val="5B7383"/>
                </a:solidFill>
                <a:latin typeface="Consolas" pitchFamily="34" charset="0"/>
                <a:ea typeface="Consolas" pitchFamily="34" charset="-122"/>
                <a:cs typeface="Consolas" pitchFamily="34" charset="-120"/>
              </a:rPr>
              <a:t>A2A request</a:t>
            </a:r>
            <a:endParaRPr lang="en-US" sz="800" dirty="0"/>
          </a:p>
        </p:txBody>
      </p:sp>
      <p:sp>
        <p:nvSpPr>
          <p:cNvPr id="21" name="Shape 18"/>
          <p:cNvSpPr/>
          <p:nvPr/>
        </p:nvSpPr>
        <p:spPr>
          <a:xfrm>
            <a:off x="548640" y="3703320"/>
            <a:ext cx="11064240" cy="1783080"/>
          </a:xfrm>
          <a:prstGeom prst="roundRect">
            <a:avLst>
              <a:gd name="adj" fmla="val 6154"/>
            </a:avLst>
          </a:prstGeom>
          <a:solidFill>
            <a:srgbClr val="EAF4F4"/>
          </a:solidFill>
          <a:ln w="9525">
            <a:solidFill>
              <a:srgbClr val="BCE0DC"/>
            </a:solidFill>
            <a:prstDash val="solid"/>
          </a:ln>
        </p:spPr>
      </p:sp>
      <p:sp>
        <p:nvSpPr>
          <p:cNvPr id="22" name="Text 19"/>
          <p:cNvSpPr/>
          <p:nvPr/>
        </p:nvSpPr>
        <p:spPr>
          <a:xfrm>
            <a:off x="777240" y="3840480"/>
            <a:ext cx="5486400" cy="274320"/>
          </a:xfrm>
          <a:prstGeom prst="rect">
            <a:avLst/>
          </a:prstGeom>
          <a:noFill/>
          <a:ln/>
        </p:spPr>
        <p:txBody>
          <a:bodyPr wrap="square" lIns="0" tIns="0" rIns="0" bIns="0" rtlCol="0" anchor="ctr"/>
          <a:lstStyle/>
          <a:p>
            <a:pPr indent="0" marL="0">
              <a:buNone/>
            </a:pPr>
            <a:r>
              <a:rPr lang="en-US" sz="1050" b="1" spc="200" kern="0" dirty="0">
                <a:solidFill>
                  <a:srgbClr val="0E7C86"/>
                </a:solidFill>
                <a:latin typeface="Calibri" pitchFamily="34" charset="0"/>
                <a:ea typeface="Calibri" pitchFamily="34" charset="-122"/>
                <a:cs typeface="Calibri" pitchFamily="34" charset="-120"/>
              </a:rPr>
              <a:t>THE A2UI INJECTION PATH</a:t>
            </a:r>
            <a:endParaRPr lang="en-US" sz="1050" dirty="0"/>
          </a:p>
        </p:txBody>
      </p:sp>
      <p:sp>
        <p:nvSpPr>
          <p:cNvPr id="23" name="Shape 20"/>
          <p:cNvSpPr/>
          <p:nvPr/>
        </p:nvSpPr>
        <p:spPr>
          <a:xfrm>
            <a:off x="868680" y="4206240"/>
            <a:ext cx="2468880" cy="1097280"/>
          </a:xfrm>
          <a:prstGeom prst="roundRect">
            <a:avLst>
              <a:gd name="adj" fmla="val 8333"/>
            </a:avLst>
          </a:prstGeom>
          <a:solidFill>
            <a:srgbClr val="FFFFFF"/>
          </a:solidFill>
          <a:ln/>
          <a:effectLst>
            <a:outerShdw sx="100000" sy="100000" kx="0" ky="0" algn="bl" rotWithShape="0" blurRad="114300" dist="50800" dir="5400000">
              <a:srgbClr val="0B2430">
                <a:alpha val="10000"/>
              </a:srgbClr>
            </a:outerShdw>
          </a:effectLst>
        </p:spPr>
      </p:sp>
      <p:sp>
        <p:nvSpPr>
          <p:cNvPr id="24" name="Text 21"/>
          <p:cNvSpPr/>
          <p:nvPr/>
        </p:nvSpPr>
        <p:spPr>
          <a:xfrm>
            <a:off x="978408" y="4315968"/>
            <a:ext cx="2249424" cy="365760"/>
          </a:xfrm>
          <a:prstGeom prst="rect">
            <a:avLst/>
          </a:prstGeom>
          <a:noFill/>
          <a:ln/>
        </p:spPr>
        <p:txBody>
          <a:bodyPr wrap="square" lIns="0" tIns="0" rIns="0" bIns="0" rtlCol="0" anchor="ctr"/>
          <a:lstStyle/>
          <a:p>
            <a:pPr algn="ctr" indent="0" marL="0">
              <a:buNone/>
            </a:pPr>
            <a:r>
              <a:rPr lang="en-US" sz="1350" b="1" dirty="0">
                <a:solidFill>
                  <a:srgbClr val="0E2330"/>
                </a:solidFill>
                <a:latin typeface="Cambria" pitchFamily="34" charset="0"/>
                <a:ea typeface="Cambria" pitchFamily="34" charset="-122"/>
                <a:cs typeface="Cambria" pitchFamily="34" charset="-120"/>
              </a:rPr>
              <a:t>Callback handler</a:t>
            </a:r>
            <a:endParaRPr lang="en-US" sz="1350" dirty="0"/>
          </a:p>
        </p:txBody>
      </p:sp>
      <p:sp>
        <p:nvSpPr>
          <p:cNvPr id="25" name="Text 22"/>
          <p:cNvSpPr/>
          <p:nvPr/>
        </p:nvSpPr>
        <p:spPr>
          <a:xfrm>
            <a:off x="978408" y="4663440"/>
            <a:ext cx="2249424" cy="548640"/>
          </a:xfrm>
          <a:prstGeom prst="rect">
            <a:avLst/>
          </a:prstGeom>
          <a:noFill/>
          <a:ln/>
        </p:spPr>
        <p:txBody>
          <a:bodyPr wrap="square" lIns="0" tIns="0" rIns="0" bIns="0" rtlCol="0" anchor="t"/>
          <a:lstStyle/>
          <a:p>
            <a:pPr algn="ctr" indent="0" marL="0">
              <a:buNone/>
            </a:pPr>
            <a:r>
              <a:rPr lang="en-US" sz="1050" dirty="0">
                <a:solidFill>
                  <a:srgbClr val="5B7383"/>
                </a:solidFill>
                <a:latin typeface="Calibri" pitchFamily="34" charset="0"/>
                <a:ea typeface="Calibri" pitchFamily="34" charset="-122"/>
                <a:cs typeface="Calibri" pitchFamily="34" charset="-120"/>
              </a:rPr>
              <a:t>captures the A2UI JSON the tool produced</a:t>
            </a:r>
            <a:endParaRPr lang="en-US" sz="1050" dirty="0"/>
          </a:p>
        </p:txBody>
      </p:sp>
      <p:sp>
        <p:nvSpPr>
          <p:cNvPr id="26" name="Shape 23"/>
          <p:cNvSpPr/>
          <p:nvPr/>
        </p:nvSpPr>
        <p:spPr>
          <a:xfrm>
            <a:off x="3401568" y="4754880"/>
            <a:ext cx="457200" cy="0"/>
          </a:xfrm>
          <a:prstGeom prst="line">
            <a:avLst/>
          </a:prstGeom>
          <a:noFill/>
          <a:ln w="31750">
            <a:solidFill>
              <a:srgbClr val="0E7C86"/>
            </a:solidFill>
            <a:prstDash val="solid"/>
            <a:tailEnd type="triangle"/>
          </a:ln>
        </p:spPr>
      </p:sp>
      <p:sp>
        <p:nvSpPr>
          <p:cNvPr id="27" name="Shape 24"/>
          <p:cNvSpPr/>
          <p:nvPr/>
        </p:nvSpPr>
        <p:spPr>
          <a:xfrm>
            <a:off x="3950208" y="4206240"/>
            <a:ext cx="2468880" cy="1097280"/>
          </a:xfrm>
          <a:prstGeom prst="roundRect">
            <a:avLst>
              <a:gd name="adj" fmla="val 8333"/>
            </a:avLst>
          </a:prstGeom>
          <a:solidFill>
            <a:srgbClr val="FFFFFF"/>
          </a:solidFill>
          <a:ln/>
          <a:effectLst>
            <a:outerShdw sx="100000" sy="100000" kx="0" ky="0" algn="bl" rotWithShape="0" blurRad="114300" dist="50800" dir="5400000">
              <a:srgbClr val="0B2430">
                <a:alpha val="10000"/>
              </a:srgbClr>
            </a:outerShdw>
          </a:effectLst>
        </p:spPr>
      </p:sp>
      <p:sp>
        <p:nvSpPr>
          <p:cNvPr id="28" name="Text 25"/>
          <p:cNvSpPr/>
          <p:nvPr/>
        </p:nvSpPr>
        <p:spPr>
          <a:xfrm>
            <a:off x="4059936" y="4315968"/>
            <a:ext cx="2249424" cy="365760"/>
          </a:xfrm>
          <a:prstGeom prst="rect">
            <a:avLst/>
          </a:prstGeom>
          <a:noFill/>
          <a:ln/>
        </p:spPr>
        <p:txBody>
          <a:bodyPr wrap="square" lIns="0" tIns="0" rIns="0" bIns="0" rtlCol="0" anchor="ctr"/>
          <a:lstStyle/>
          <a:p>
            <a:pPr algn="ctr" indent="0" marL="0">
              <a:buNone/>
            </a:pPr>
            <a:r>
              <a:rPr lang="en-US" sz="1350" b="1" dirty="0">
                <a:solidFill>
                  <a:srgbClr val="0E2330"/>
                </a:solidFill>
                <a:latin typeface="Cambria" pitchFamily="34" charset="0"/>
                <a:ea typeface="Cambria" pitchFamily="34" charset="-122"/>
                <a:cs typeface="Cambria" pitchFamily="34" charset="-120"/>
              </a:rPr>
              <a:t>Executor</a:t>
            </a:r>
            <a:endParaRPr lang="en-US" sz="1350" dirty="0"/>
          </a:p>
        </p:txBody>
      </p:sp>
      <p:sp>
        <p:nvSpPr>
          <p:cNvPr id="29" name="Text 26"/>
          <p:cNvSpPr/>
          <p:nvPr/>
        </p:nvSpPr>
        <p:spPr>
          <a:xfrm>
            <a:off x="4059936" y="4663440"/>
            <a:ext cx="2249424" cy="548640"/>
          </a:xfrm>
          <a:prstGeom prst="rect">
            <a:avLst/>
          </a:prstGeom>
          <a:noFill/>
          <a:ln/>
        </p:spPr>
        <p:txBody>
          <a:bodyPr wrap="square" lIns="0" tIns="0" rIns="0" bIns="0" rtlCol="0" anchor="t"/>
          <a:lstStyle/>
          <a:p>
            <a:pPr algn="ctr" indent="0" marL="0">
              <a:buNone/>
            </a:pPr>
            <a:r>
              <a:rPr lang="en-US" sz="1050" dirty="0">
                <a:solidFill>
                  <a:srgbClr val="5B7383"/>
                </a:solidFill>
                <a:latin typeface="Calibri" pitchFamily="34" charset="0"/>
                <a:ea typeface="Calibri" pitchFamily="34" charset="-122"/>
                <a:cs typeface="Calibri" pitchFamily="34" charset="-120"/>
              </a:rPr>
              <a:t>injects it into the A2A response as a DataPart</a:t>
            </a:r>
            <a:endParaRPr lang="en-US" sz="1050" dirty="0"/>
          </a:p>
        </p:txBody>
      </p:sp>
      <p:sp>
        <p:nvSpPr>
          <p:cNvPr id="30" name="Shape 27"/>
          <p:cNvSpPr/>
          <p:nvPr/>
        </p:nvSpPr>
        <p:spPr>
          <a:xfrm>
            <a:off x="6483096" y="4754880"/>
            <a:ext cx="457200" cy="0"/>
          </a:xfrm>
          <a:prstGeom prst="line">
            <a:avLst/>
          </a:prstGeom>
          <a:noFill/>
          <a:ln w="31750">
            <a:solidFill>
              <a:srgbClr val="0E7C86"/>
            </a:solidFill>
            <a:prstDash val="solid"/>
            <a:tailEnd type="triangle"/>
          </a:ln>
        </p:spPr>
      </p:sp>
      <p:sp>
        <p:nvSpPr>
          <p:cNvPr id="31" name="Shape 28"/>
          <p:cNvSpPr/>
          <p:nvPr/>
        </p:nvSpPr>
        <p:spPr>
          <a:xfrm>
            <a:off x="7031736" y="4206240"/>
            <a:ext cx="2468880" cy="1097280"/>
          </a:xfrm>
          <a:prstGeom prst="roundRect">
            <a:avLst>
              <a:gd name="adj" fmla="val 8333"/>
            </a:avLst>
          </a:prstGeom>
          <a:solidFill>
            <a:srgbClr val="FFFFFF"/>
          </a:solidFill>
          <a:ln/>
          <a:effectLst>
            <a:outerShdw sx="100000" sy="100000" kx="0" ky="0" algn="bl" rotWithShape="0" blurRad="114300" dist="50800" dir="5400000">
              <a:srgbClr val="0B2430">
                <a:alpha val="10000"/>
              </a:srgbClr>
            </a:outerShdw>
          </a:effectLst>
        </p:spPr>
      </p:sp>
      <p:sp>
        <p:nvSpPr>
          <p:cNvPr id="32" name="Text 29"/>
          <p:cNvSpPr/>
          <p:nvPr/>
        </p:nvSpPr>
        <p:spPr>
          <a:xfrm>
            <a:off x="7141464" y="4315968"/>
            <a:ext cx="2249424" cy="365760"/>
          </a:xfrm>
          <a:prstGeom prst="rect">
            <a:avLst/>
          </a:prstGeom>
          <a:noFill/>
          <a:ln/>
        </p:spPr>
        <p:txBody>
          <a:bodyPr wrap="square" lIns="0" tIns="0" rIns="0" bIns="0" rtlCol="0" anchor="ctr"/>
          <a:lstStyle/>
          <a:p>
            <a:pPr algn="ctr" indent="0" marL="0">
              <a:buNone/>
            </a:pPr>
            <a:r>
              <a:rPr lang="en-US" sz="1350" b="1" dirty="0">
                <a:solidFill>
                  <a:srgbClr val="0E2330"/>
                </a:solidFill>
                <a:latin typeface="Cambria" pitchFamily="34" charset="0"/>
                <a:ea typeface="Cambria" pitchFamily="34" charset="-122"/>
                <a:cs typeface="Cambria" pitchFamily="34" charset="-120"/>
              </a:rPr>
              <a:t>SSE stream</a:t>
            </a:r>
            <a:endParaRPr lang="en-US" sz="1350" dirty="0"/>
          </a:p>
        </p:txBody>
      </p:sp>
      <p:sp>
        <p:nvSpPr>
          <p:cNvPr id="33" name="Text 30"/>
          <p:cNvSpPr/>
          <p:nvPr/>
        </p:nvSpPr>
        <p:spPr>
          <a:xfrm>
            <a:off x="7141464" y="4663440"/>
            <a:ext cx="2249424" cy="548640"/>
          </a:xfrm>
          <a:prstGeom prst="rect">
            <a:avLst/>
          </a:prstGeom>
          <a:noFill/>
          <a:ln/>
        </p:spPr>
        <p:txBody>
          <a:bodyPr wrap="square" lIns="0" tIns="0" rIns="0" bIns="0" rtlCol="0" anchor="t"/>
          <a:lstStyle/>
          <a:p>
            <a:pPr algn="ctr" indent="0" marL="0">
              <a:buNone/>
            </a:pPr>
            <a:r>
              <a:rPr lang="en-US" sz="1050" dirty="0">
                <a:solidFill>
                  <a:srgbClr val="5B7383"/>
                </a:solidFill>
                <a:latin typeface="Calibri" pitchFamily="34" charset="0"/>
                <a:ea typeface="Calibri" pitchFamily="34" charset="-122"/>
                <a:cs typeface="Calibri" pitchFamily="34" charset="-120"/>
              </a:rPr>
              <a:t>client receives it over the wire</a:t>
            </a:r>
            <a:endParaRPr lang="en-US" sz="1050" dirty="0"/>
          </a:p>
        </p:txBody>
      </p:sp>
      <p:sp>
        <p:nvSpPr>
          <p:cNvPr id="34" name="Shape 31"/>
          <p:cNvSpPr/>
          <p:nvPr/>
        </p:nvSpPr>
        <p:spPr>
          <a:xfrm>
            <a:off x="9564624" y="4754880"/>
            <a:ext cx="457200" cy="0"/>
          </a:xfrm>
          <a:prstGeom prst="line">
            <a:avLst/>
          </a:prstGeom>
          <a:noFill/>
          <a:ln w="31750">
            <a:solidFill>
              <a:srgbClr val="0E7C86"/>
            </a:solidFill>
            <a:prstDash val="solid"/>
            <a:tailEnd type="triangle"/>
          </a:ln>
        </p:spPr>
      </p:sp>
      <p:sp>
        <p:nvSpPr>
          <p:cNvPr id="35" name="Shape 32"/>
          <p:cNvSpPr/>
          <p:nvPr/>
        </p:nvSpPr>
        <p:spPr>
          <a:xfrm>
            <a:off x="10113264" y="4206240"/>
            <a:ext cx="1371600" cy="1097280"/>
          </a:xfrm>
          <a:prstGeom prst="roundRect">
            <a:avLst>
              <a:gd name="adj" fmla="val 8333"/>
            </a:avLst>
          </a:prstGeom>
          <a:solidFill>
            <a:srgbClr val="0E7C86"/>
          </a:solidFill>
          <a:ln/>
          <a:effectLst>
            <a:outerShdw sx="100000" sy="100000" kx="0" ky="0" algn="bl" rotWithShape="0" blurRad="114300" dist="50800" dir="5400000">
              <a:srgbClr val="0B2430">
                <a:alpha val="10000"/>
              </a:srgbClr>
            </a:outerShdw>
          </a:effectLst>
        </p:spPr>
      </p:sp>
      <p:sp>
        <p:nvSpPr>
          <p:cNvPr id="36" name="Text 33"/>
          <p:cNvSpPr/>
          <p:nvPr/>
        </p:nvSpPr>
        <p:spPr>
          <a:xfrm>
            <a:off x="10222992" y="4315968"/>
            <a:ext cx="1152144" cy="36576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Render</a:t>
            </a:r>
            <a:endParaRPr lang="en-US" sz="1350" dirty="0"/>
          </a:p>
        </p:txBody>
      </p:sp>
      <p:sp>
        <p:nvSpPr>
          <p:cNvPr id="37" name="Text 34"/>
          <p:cNvSpPr/>
          <p:nvPr/>
        </p:nvSpPr>
        <p:spPr>
          <a:xfrm>
            <a:off x="10222992" y="4663440"/>
            <a:ext cx="1152144" cy="548640"/>
          </a:xfrm>
          <a:prstGeom prst="rect">
            <a:avLst/>
          </a:prstGeom>
          <a:noFill/>
          <a:ln/>
        </p:spPr>
        <p:txBody>
          <a:bodyPr wrap="square" lIns="0" tIns="0" rIns="0" bIns="0" rtlCol="0" anchor="t"/>
          <a:lstStyle/>
          <a:p>
            <a:pPr algn="ctr" indent="0" marL="0">
              <a:buNone/>
            </a:pPr>
            <a:r>
              <a:rPr lang="en-US" sz="1050" dirty="0">
                <a:solidFill>
                  <a:srgbClr val="EAF7F6"/>
                </a:solidFill>
                <a:latin typeface="Calibri" pitchFamily="34" charset="0"/>
                <a:ea typeface="Calibri" pitchFamily="34" charset="-122"/>
                <a:cs typeface="Calibri" pitchFamily="34" charset="-120"/>
              </a:rPr>
              <a:t>natively</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IN CODE</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The pattern, in three moves</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32</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737360"/>
            <a:ext cx="6766560" cy="3794760"/>
          </a:xfrm>
          <a:prstGeom prst="roundRect">
            <a:avLst>
              <a:gd name="adj" fmla="val 1928"/>
            </a:avLst>
          </a:prstGeom>
          <a:solidFill>
            <a:srgbClr val="0A1B26"/>
          </a:solidFill>
          <a:ln/>
          <a:effectLst>
            <a:outerShdw sx="100000" sy="100000" kx="0" ky="0" algn="bl" rotWithShape="0" blurRad="88900" dist="38100" dir="5400000">
              <a:srgbClr val="0B2430">
                <a:alpha val="13000"/>
              </a:srgbClr>
            </a:outerShdw>
          </a:effectLst>
        </p:spPr>
      </p:sp>
      <p:sp>
        <p:nvSpPr>
          <p:cNvPr id="9" name="Text 6"/>
          <p:cNvSpPr/>
          <p:nvPr/>
        </p:nvSpPr>
        <p:spPr>
          <a:xfrm>
            <a:off x="749808" y="1847088"/>
            <a:ext cx="6364224" cy="274320"/>
          </a:xfrm>
          <a:prstGeom prst="rect">
            <a:avLst/>
          </a:prstGeom>
          <a:noFill/>
          <a:ln/>
        </p:spPr>
        <p:txBody>
          <a:bodyPr wrap="square" lIns="0" tIns="0" rIns="0" bIns="0" rtlCol="0" anchor="ctr"/>
          <a:lstStyle/>
          <a:p>
            <a:pPr indent="0" marL="0">
              <a:buNone/>
            </a:pPr>
            <a:r>
              <a:rPr lang="en-US" sz="1050" b="1" dirty="0">
                <a:solidFill>
                  <a:srgbClr val="5EEAD4"/>
                </a:solidFill>
                <a:latin typeface="Consolas" pitchFamily="34" charset="0"/>
                <a:ea typeface="Consolas" pitchFamily="34" charset="-122"/>
                <a:cs typeface="Consolas" pitchFamily="34" charset="-120"/>
              </a:rPr>
              <a:t># strands agent, simplified</a:t>
            </a:r>
            <a:endParaRPr lang="en-US" sz="1050" dirty="0"/>
          </a:p>
        </p:txBody>
      </p:sp>
      <p:sp>
        <p:nvSpPr>
          <p:cNvPr id="10" name="Text 7"/>
          <p:cNvSpPr/>
          <p:nvPr/>
        </p:nvSpPr>
        <p:spPr>
          <a:xfrm>
            <a:off x="749808" y="2157984"/>
            <a:ext cx="6364224" cy="3246120"/>
          </a:xfrm>
          <a:prstGeom prst="rect">
            <a:avLst/>
          </a:prstGeom>
          <a:noFill/>
          <a:ln/>
        </p:spPr>
        <p:txBody>
          <a:bodyPr wrap="square" lIns="0" tIns="0" rIns="0" bIns="0" rtlCol="0" anchor="t"/>
          <a:lstStyle/>
          <a:p>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@tool</a:t>
            </a:r>
            <a:endParaRPr lang="en-US" sz="960" dirty="0"/>
          </a:p>
          <a:p>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def </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render_ui</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(spec: dict) -&gt; dict:</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pPr indent="0" marL="0">
              <a:lnSpc>
                <a:spcPct val="106000"/>
              </a:lnSpc>
              <a:buNone/>
            </a:pPr>
            <a:r>
              <a:rPr lang="en-US" sz="960" dirty="0">
                <a:solidFill>
                  <a:srgbClr val="7895A6"/>
                </a:solidFill>
                <a:latin typeface="Consolas" pitchFamily="34" charset="0"/>
                <a:ea typeface="Consolas" pitchFamily="34" charset="-122"/>
                <a:cs typeface="Consolas" pitchFamily="34" charset="-120"/>
              </a:rPr>
              <a:t>"""Return a validated A2UI payload."""</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validate_a2ui(spec)        </a:t>
            </a:r>
            <a:pPr indent="0" marL="0">
              <a:lnSpc>
                <a:spcPct val="106000"/>
              </a:lnSpc>
              <a:buNone/>
            </a:pPr>
            <a:r>
              <a:rPr lang="en-US" sz="960" dirty="0">
                <a:solidFill>
                  <a:srgbClr val="7895A6"/>
                </a:solidFill>
                <a:latin typeface="Consolas" pitchFamily="34" charset="0"/>
                <a:ea typeface="Consolas" pitchFamily="34" charset="-122"/>
                <a:cs typeface="Consolas" pitchFamily="34" charset="-120"/>
              </a:rPr>
              <a:t># schema check</a:t>
            </a:r>
            <a:endParaRPr lang="en-US" sz="960" dirty="0"/>
          </a:p>
          <a:p>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    return </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spec</a:t>
            </a:r>
            <a:endParaRPr lang="en-US" sz="960" dirty="0"/>
          </a:p>
          <a:p>
            <a:pPr indent="0" marL="0">
              <a:lnSpc>
                <a:spcPct val="106000"/>
              </a:lnSpc>
              <a:buNone/>
            </a:pPr>
            <a:endParaRPr lang="en-US" sz="960" dirty="0"/>
          </a:p>
          <a:p>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def </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on_tool_result</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(event):</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pPr indent="0" marL="0">
              <a:lnSpc>
                <a:spcPct val="106000"/>
              </a:lnSpc>
              <a:buNone/>
            </a:pPr>
            <a:r>
              <a:rPr lang="en-US" sz="960" dirty="0">
                <a:solidFill>
                  <a:srgbClr val="7895A6"/>
                </a:solidFill>
                <a:latin typeface="Consolas" pitchFamily="34" charset="0"/>
                <a:ea typeface="Consolas" pitchFamily="34" charset="-122"/>
                <a:cs typeface="Consolas" pitchFamily="34" charset="-120"/>
              </a:rPr>
              <a:t># 2  callback captures the A2UI JSON</a:t>
            </a:r>
            <a:endParaRPr lang="en-US" sz="960" dirty="0"/>
          </a:p>
          <a:p>
            <a:pPr indent="0" marL="0">
              <a:lnSpc>
                <a:spcPct val="106000"/>
              </a:lnSpc>
              <a:buNone/>
            </a:pPr>
            <a:r>
              <a:rPr lang="en-US" sz="960" dirty="0">
                <a:solidFill>
                  <a:srgbClr val="5EEAD4"/>
                </a:solidFill>
                <a:latin typeface="Consolas" pitchFamily="34" charset="0"/>
                <a:ea typeface="Consolas" pitchFamily="34" charset="-122"/>
                <a:cs typeface="Consolas" pitchFamily="34" charset="-120"/>
              </a:rPr>
              <a:t>    if </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event.tool == </a:t>
            </a:r>
            <a:pPr indent="0" marL="0">
              <a:lnSpc>
                <a:spcPct val="106000"/>
              </a:lnSpc>
              <a:buNone/>
            </a:pPr>
            <a:r>
              <a:rPr lang="en-US" sz="960" dirty="0">
                <a:solidFill>
                  <a:srgbClr val="F4B86A"/>
                </a:solidFill>
                <a:latin typeface="Consolas" pitchFamily="34" charset="0"/>
                <a:ea typeface="Consolas" pitchFamily="34" charset="-122"/>
                <a:cs typeface="Consolas" pitchFamily="34" charset="-120"/>
              </a:rPr>
              <a:t>"render_ui"</a:t>
            </a:r>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stash_a2ui(event.result)</a:t>
            </a:r>
            <a:endParaRPr lang="en-US" sz="960" dirty="0"/>
          </a:p>
          <a:p>
            <a:pPr indent="0" marL="0">
              <a:lnSpc>
                <a:spcPct val="106000"/>
              </a:lnSpc>
              <a:buNone/>
            </a:pP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a:t>
            </a:r>
            <a:pPr indent="0" marL="0">
              <a:lnSpc>
                <a:spcPct val="106000"/>
              </a:lnSpc>
              <a:buNone/>
            </a:pPr>
            <a:r>
              <a:rPr lang="en-US" sz="960" dirty="0">
                <a:solidFill>
                  <a:srgbClr val="7895A6"/>
                </a:solidFill>
                <a:latin typeface="Consolas" pitchFamily="34" charset="0"/>
                <a:ea typeface="Consolas" pitchFamily="34" charset="-122"/>
                <a:cs typeface="Consolas" pitchFamily="34" charset="-120"/>
              </a:rPr>
              <a:t># 3  executor attaches it as a DataPart</a:t>
            </a:r>
            <a:endParaRPr lang="en-US" sz="960" dirty="0"/>
          </a:p>
          <a:p>
            <a:pPr indent="0" marL="0">
              <a:lnSpc>
                <a:spcPct val="106000"/>
              </a:lnSpc>
              <a:buNone/>
            </a:pPr>
            <a:r>
              <a:rPr lang="en-US" sz="960" dirty="0">
                <a:solidFill>
                  <a:srgbClr val="D9E6ED"/>
                </a:solidFill>
                <a:latin typeface="Consolas" pitchFamily="34" charset="0"/>
                <a:ea typeface="Consolas" pitchFamily="34" charset="-122"/>
                <a:cs typeface="Consolas" pitchFamily="34" charset="-120"/>
              </a:rPr>
              <a:t>    response.add_part(DataPart(stash))</a:t>
            </a:r>
            <a:endParaRPr lang="en-US" sz="960" dirty="0"/>
          </a:p>
        </p:txBody>
      </p:sp>
      <p:sp>
        <p:nvSpPr>
          <p:cNvPr id="11" name="Shape 8"/>
          <p:cNvSpPr/>
          <p:nvPr/>
        </p:nvSpPr>
        <p:spPr>
          <a:xfrm>
            <a:off x="7543800" y="1737360"/>
            <a:ext cx="4069080" cy="1170432"/>
          </a:xfrm>
          <a:prstGeom prst="roundRect">
            <a:avLst>
              <a:gd name="adj" fmla="val 7813"/>
            </a:avLst>
          </a:prstGeom>
          <a:solidFill>
            <a:srgbClr val="E9F4EF"/>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2" name="Shape 9"/>
          <p:cNvSpPr/>
          <p:nvPr/>
        </p:nvSpPr>
        <p:spPr>
          <a:xfrm>
            <a:off x="7744968" y="1938528"/>
            <a:ext cx="457200" cy="457200"/>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13" name="Image 1" descr="preencoded.png">    </p:cNvPr>
          <p:cNvPicPr>
            <a:picLocks noChangeAspect="1"/>
          </p:cNvPicPr>
          <p:nvPr/>
        </p:nvPicPr>
        <p:blipFill>
          <a:blip r:embed="rId2"/>
          <a:stretch>
            <a:fillRect/>
          </a:stretch>
        </p:blipFill>
        <p:spPr>
          <a:xfrm>
            <a:off x="7863840" y="2057400"/>
            <a:ext cx="219456" cy="219456"/>
          </a:xfrm>
          <a:prstGeom prst="rect">
            <a:avLst/>
          </a:prstGeom>
        </p:spPr>
      </p:pic>
      <p:sp>
        <p:nvSpPr>
          <p:cNvPr id="14" name="Text 10"/>
          <p:cNvSpPr/>
          <p:nvPr/>
        </p:nvSpPr>
        <p:spPr>
          <a:xfrm>
            <a:off x="8321040" y="1956816"/>
            <a:ext cx="3108960" cy="411480"/>
          </a:xfrm>
          <a:prstGeom prst="rect">
            <a:avLst/>
          </a:prstGeom>
          <a:noFill/>
          <a:ln/>
        </p:spPr>
        <p:txBody>
          <a:bodyPr wrap="square" lIns="0" tIns="0" rIns="0" bIns="0" rtlCol="0" anchor="ctr"/>
          <a:lstStyle/>
          <a:p>
            <a:pPr indent="0" marL="0">
              <a:buNone/>
            </a:pPr>
            <a:r>
              <a:rPr lang="en-US" sz="1400" b="1" dirty="0">
                <a:solidFill>
                  <a:srgbClr val="1C9C72"/>
                </a:solidFill>
                <a:latin typeface="Cambria" pitchFamily="34" charset="0"/>
                <a:ea typeface="Cambria" pitchFamily="34" charset="-122"/>
                <a:cs typeface="Cambria" pitchFamily="34" charset="-120"/>
              </a:rPr>
              <a:t>1 . Tool emits</a:t>
            </a:r>
            <a:endParaRPr lang="en-US" sz="1400" dirty="0"/>
          </a:p>
        </p:txBody>
      </p:sp>
      <p:sp>
        <p:nvSpPr>
          <p:cNvPr id="15" name="Text 11"/>
          <p:cNvSpPr/>
          <p:nvPr/>
        </p:nvSpPr>
        <p:spPr>
          <a:xfrm>
            <a:off x="7763256" y="2487168"/>
            <a:ext cx="3630168" cy="25603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2242E"/>
                </a:solidFill>
                <a:latin typeface="Calibri" pitchFamily="34" charset="0"/>
                <a:ea typeface="Calibri" pitchFamily="34" charset="-122"/>
                <a:cs typeface="Calibri" pitchFamily="34" charset="-120"/>
              </a:rPr>
              <a:t>A normal Strands tool returns validated A2UI JSON when a rich response fits.</a:t>
            </a:r>
            <a:endParaRPr lang="en-US" sz="1150" dirty="0"/>
          </a:p>
        </p:txBody>
      </p:sp>
      <p:sp>
        <p:nvSpPr>
          <p:cNvPr id="16" name="Shape 12"/>
          <p:cNvSpPr/>
          <p:nvPr/>
        </p:nvSpPr>
        <p:spPr>
          <a:xfrm>
            <a:off x="7543800" y="3035808"/>
            <a:ext cx="4069080" cy="1170432"/>
          </a:xfrm>
          <a:prstGeom prst="roundRect">
            <a:avLst>
              <a:gd name="adj" fmla="val 7813"/>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7" name="Shape 13"/>
          <p:cNvSpPr/>
          <p:nvPr/>
        </p:nvSpPr>
        <p:spPr>
          <a:xfrm>
            <a:off x="7744968" y="3236976"/>
            <a:ext cx="457200" cy="457200"/>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18" name="Image 2" descr="preencoded.png">    </p:cNvPr>
          <p:cNvPicPr>
            <a:picLocks noChangeAspect="1"/>
          </p:cNvPicPr>
          <p:nvPr/>
        </p:nvPicPr>
        <p:blipFill>
          <a:blip r:embed="rId3"/>
          <a:stretch>
            <a:fillRect/>
          </a:stretch>
        </p:blipFill>
        <p:spPr>
          <a:xfrm>
            <a:off x="7863840" y="3355848"/>
            <a:ext cx="219456" cy="219456"/>
          </a:xfrm>
          <a:prstGeom prst="rect">
            <a:avLst/>
          </a:prstGeom>
        </p:spPr>
      </p:pic>
      <p:sp>
        <p:nvSpPr>
          <p:cNvPr id="19" name="Text 14"/>
          <p:cNvSpPr/>
          <p:nvPr/>
        </p:nvSpPr>
        <p:spPr>
          <a:xfrm>
            <a:off x="8321040" y="3255264"/>
            <a:ext cx="3108960" cy="411480"/>
          </a:xfrm>
          <a:prstGeom prst="rect">
            <a:avLst/>
          </a:prstGeom>
          <a:noFill/>
          <a:ln/>
        </p:spPr>
        <p:txBody>
          <a:bodyPr wrap="square" lIns="0" tIns="0" rIns="0" bIns="0" rtlCol="0" anchor="ctr"/>
          <a:lstStyle/>
          <a:p>
            <a:pPr indent="0" marL="0">
              <a:buNone/>
            </a:pPr>
            <a:r>
              <a:rPr lang="en-US" sz="1400" b="1" dirty="0">
                <a:solidFill>
                  <a:srgbClr val="0E2330"/>
                </a:solidFill>
                <a:latin typeface="Cambria" pitchFamily="34" charset="0"/>
                <a:ea typeface="Cambria" pitchFamily="34" charset="-122"/>
                <a:cs typeface="Cambria" pitchFamily="34" charset="-120"/>
              </a:rPr>
              <a:t>2 . Handler captures</a:t>
            </a:r>
            <a:endParaRPr lang="en-US" sz="1400" dirty="0"/>
          </a:p>
        </p:txBody>
      </p:sp>
      <p:sp>
        <p:nvSpPr>
          <p:cNvPr id="20" name="Text 15"/>
          <p:cNvSpPr/>
          <p:nvPr/>
        </p:nvSpPr>
        <p:spPr>
          <a:xfrm>
            <a:off x="7763256" y="3785616"/>
            <a:ext cx="3630168" cy="256032"/>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2242E"/>
                </a:solidFill>
                <a:latin typeface="Calibri" pitchFamily="34" charset="0"/>
                <a:ea typeface="Calibri" pitchFamily="34" charset="-122"/>
                <a:cs typeface="Calibri" pitchFamily="34" charset="-120"/>
              </a:rPr>
              <a:t>The callback intercepts that tool's output and stashes the JSON.</a:t>
            </a:r>
            <a:endParaRPr lang="en-US" sz="1150" dirty="0"/>
          </a:p>
        </p:txBody>
      </p:sp>
      <p:sp>
        <p:nvSpPr>
          <p:cNvPr id="21" name="Shape 16"/>
          <p:cNvSpPr/>
          <p:nvPr/>
        </p:nvSpPr>
        <p:spPr>
          <a:xfrm>
            <a:off x="7543800" y="4334256"/>
            <a:ext cx="4069080" cy="1197864"/>
          </a:xfrm>
          <a:prstGeom prst="roundRect">
            <a:avLst>
              <a:gd name="adj" fmla="val 7634"/>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2" name="Shape 17"/>
          <p:cNvSpPr/>
          <p:nvPr/>
        </p:nvSpPr>
        <p:spPr>
          <a:xfrm>
            <a:off x="7744968" y="4535424"/>
            <a:ext cx="457200" cy="457200"/>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23" name="Image 3" descr="preencoded.png">    </p:cNvPr>
          <p:cNvPicPr>
            <a:picLocks noChangeAspect="1"/>
          </p:cNvPicPr>
          <p:nvPr/>
        </p:nvPicPr>
        <p:blipFill>
          <a:blip r:embed="rId4"/>
          <a:stretch>
            <a:fillRect/>
          </a:stretch>
        </p:blipFill>
        <p:spPr>
          <a:xfrm>
            <a:off x="7863840" y="4654296"/>
            <a:ext cx="219456" cy="219456"/>
          </a:xfrm>
          <a:prstGeom prst="rect">
            <a:avLst/>
          </a:prstGeom>
        </p:spPr>
      </p:pic>
      <p:sp>
        <p:nvSpPr>
          <p:cNvPr id="24" name="Text 18"/>
          <p:cNvSpPr/>
          <p:nvPr/>
        </p:nvSpPr>
        <p:spPr>
          <a:xfrm>
            <a:off x="8321040" y="4553712"/>
            <a:ext cx="3108960" cy="411480"/>
          </a:xfrm>
          <a:prstGeom prst="rect">
            <a:avLst/>
          </a:prstGeom>
          <a:noFill/>
          <a:ln/>
        </p:spPr>
        <p:txBody>
          <a:bodyPr wrap="square" lIns="0" tIns="0" rIns="0" bIns="0" rtlCol="0" anchor="ctr"/>
          <a:lstStyle/>
          <a:p>
            <a:pPr indent="0" marL="0">
              <a:buNone/>
            </a:pPr>
            <a:r>
              <a:rPr lang="en-US" sz="1400" b="1" dirty="0">
                <a:solidFill>
                  <a:srgbClr val="0E2330"/>
                </a:solidFill>
                <a:latin typeface="Cambria" pitchFamily="34" charset="0"/>
                <a:ea typeface="Cambria" pitchFamily="34" charset="-122"/>
                <a:cs typeface="Cambria" pitchFamily="34" charset="-120"/>
              </a:rPr>
              <a:t>3 . Server ships it</a:t>
            </a:r>
            <a:endParaRPr lang="en-US" sz="1400" dirty="0"/>
          </a:p>
        </p:txBody>
      </p:sp>
      <p:sp>
        <p:nvSpPr>
          <p:cNvPr id="25" name="Text 19"/>
          <p:cNvSpPr/>
          <p:nvPr/>
        </p:nvSpPr>
        <p:spPr>
          <a:xfrm>
            <a:off x="7763256" y="5084064"/>
            <a:ext cx="3630168" cy="283464"/>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rgbClr val="12242E"/>
                </a:solidFill>
                <a:latin typeface="Calibri" pitchFamily="34" charset="0"/>
                <a:ea typeface="Calibri" pitchFamily="34" charset="-122"/>
                <a:cs typeface="Calibri" pitchFamily="34" charset="-120"/>
              </a:rPr>
              <a:t>Attached to the A2A response as a DataPart. Notebook uses payload + Streamlit, not Angular.</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PRODUCTION HOME</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Where AgentCore fits the UI layer</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33</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3108960"/>
                <a:gridCol w="7955280"/>
              </a:tblGrid>
              <a:tr h="676656">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AgentCore service</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Role in the UI layer</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r>
              <a:tr h="676656">
                <a:tc>
                  <a:txBody>
                    <a:bodyPr/>
                    <a:lstStyle/>
                    <a:p>
                      <a:pPr algn="l" indent="0" marL="0">
                        <a:buNone/>
                      </a:pPr>
                      <a:r>
                        <a:rPr lang="en-US" sz="1300" b="1" dirty="0">
                          <a:solidFill>
                            <a:srgbClr val="12242E"/>
                          </a:solidFill>
                          <a:latin typeface="Calibri" pitchFamily="34" charset="0"/>
                          <a:ea typeface="Calibri" pitchFamily="34" charset="-122"/>
                          <a:cs typeface="Calibri" pitchFamily="34" charset="-120"/>
                        </a:rPr>
                        <a:t>Runtime</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Hosts the agent, supports A2A transport, 8-hour sessions, isolation</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676656">
                <a:tc>
                  <a:txBody>
                    <a:bodyPr/>
                    <a:lstStyle/>
                    <a:p>
                      <a:pPr algn="l" indent="0" marL="0">
                        <a:buNone/>
                      </a:pPr>
                      <a:r>
                        <a:rPr lang="en-US" sz="1300" b="1" dirty="0">
                          <a:solidFill>
                            <a:srgbClr val="12242E"/>
                          </a:solidFill>
                          <a:latin typeface="Calibri" pitchFamily="34" charset="0"/>
                          <a:ea typeface="Calibri" pitchFamily="34" charset="-122"/>
                          <a:cs typeface="Calibri" pitchFamily="34" charset="-120"/>
                        </a:rPr>
                        <a:t>Gateway</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Turns APIs, Lambda, and MCP into tools the agent calls</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r h="676656">
                <a:tc>
                  <a:txBody>
                    <a:bodyPr/>
                    <a:lstStyle/>
                    <a:p>
                      <a:pPr algn="l" indent="0" marL="0">
                        <a:buNone/>
                      </a:pPr>
                      <a:r>
                        <a:rPr lang="en-US" sz="1300" b="1" dirty="0">
                          <a:solidFill>
                            <a:srgbClr val="12242E"/>
                          </a:solidFill>
                          <a:latin typeface="Calibri" pitchFamily="34" charset="0"/>
                          <a:ea typeface="Calibri" pitchFamily="34" charset="-122"/>
                          <a:cs typeface="Calibri" pitchFamily="34" charset="-120"/>
                        </a:rPr>
                        <a:t>Identity</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Custom claims drive role-based views</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676656">
                <a:tc>
                  <a:txBody>
                    <a:bodyPr/>
                    <a:lstStyle/>
                    <a:p>
                      <a:pPr algn="l" indent="0" marL="0">
                        <a:buNone/>
                      </a:pPr>
                      <a:r>
                        <a:rPr lang="en-US" sz="1300" b="1" dirty="0">
                          <a:solidFill>
                            <a:srgbClr val="12242E"/>
                          </a:solidFill>
                          <a:latin typeface="Calibri" pitchFamily="34" charset="0"/>
                          <a:ea typeface="Calibri" pitchFamily="34" charset="-122"/>
                          <a:cs typeface="Calibri" pitchFamily="34" charset="-120"/>
                        </a:rPr>
                        <a:t>Observability</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CloudWatch + OpenTelemetry traces feed the admin UI</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r h="676656">
                <a:tc>
                  <a:txBody>
                    <a:bodyPr/>
                    <a:lstStyle/>
                    <a:p>
                      <a:pPr algn="l" indent="0" marL="0">
                        <a:buNone/>
                      </a:pPr>
                      <a:r>
                        <a:rPr lang="en-US" sz="1300" b="1" dirty="0">
                          <a:solidFill>
                            <a:srgbClr val="E8951C"/>
                          </a:solidFill>
                          <a:latin typeface="Calibri" pitchFamily="34" charset="0"/>
                          <a:ea typeface="Calibri" pitchFamily="34" charset="-122"/>
                          <a:cs typeface="Calibri" pitchFamily="34" charset="-120"/>
                        </a:rPr>
                        <a:t>Policy</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(preview) Intercepts every tool call; Cedar rules enforce approval gates server-side</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bl>
          </a:graphicData>
        </a:graphic>
      </p:graphicFrame>
      <p:sp>
        <p:nvSpPr>
          <p:cNvPr id="9" name="Text 5"/>
          <p:cNvSpPr/>
          <p:nvPr/>
        </p:nvSpPr>
        <p:spPr>
          <a:xfrm>
            <a:off x="548640" y="5623560"/>
            <a:ext cx="11064240" cy="365760"/>
          </a:xfrm>
          <a:prstGeom prst="rect">
            <a:avLst/>
          </a:prstGeom>
          <a:noFill/>
          <a:ln/>
        </p:spPr>
        <p:txBody>
          <a:bodyPr wrap="square" lIns="0" tIns="0" rIns="0" bIns="0" rtlCol="0" anchor="ctr"/>
          <a:lstStyle/>
          <a:p>
            <a:pPr algn="ctr" indent="0" marL="0">
              <a:buNone/>
            </a:pPr>
            <a:r>
              <a:rPr lang="en-US" sz="1200" b="1" dirty="0">
                <a:solidFill>
                  <a:srgbClr val="0E7C86"/>
                </a:solidFill>
                <a:latin typeface="Calibri" pitchFamily="34" charset="0"/>
                <a:ea typeface="Calibri" pitchFamily="34" charset="-122"/>
                <a:cs typeface="Calibri" pitchFamily="34" charset="-120"/>
              </a:rPr>
              <a:t>AgentCore went GA Oct 13, 2025  ·  </a:t>
            </a:r>
            <a:pPr algn="ctr" indent="0" marL="0">
              <a:buNone/>
            </a:pPr>
            <a:r>
              <a:rPr lang="en-US" sz="1200" dirty="0">
                <a:solidFill>
                  <a:srgbClr val="5B7383"/>
                </a:solidFill>
                <a:latin typeface="Calibri" pitchFamily="34" charset="0"/>
                <a:ea typeface="Calibri" pitchFamily="34" charset="-122"/>
                <a:cs typeface="Calibri" pitchFamily="34" charset="-120"/>
              </a:rPr>
              <a:t>Identity → roles  ·  Observability → admin UI  ·  Policy → approval enforcement  ·  Runtime → A2A transport</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CAPSTONE WIRING</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TravelMind, every layer in one breath</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34</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965960"/>
            <a:ext cx="2606040" cy="1417320"/>
          </a:xfrm>
          <a:prstGeom prst="roundRect">
            <a:avLst>
              <a:gd name="adj" fmla="val 7742"/>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9" name="Shape 6"/>
          <p:cNvSpPr/>
          <p:nvPr/>
        </p:nvSpPr>
        <p:spPr>
          <a:xfrm>
            <a:off x="731520" y="2148840"/>
            <a:ext cx="512064" cy="512064"/>
          </a:xfrm>
          <a:prstGeom prst="ellipse">
            <a:avLst/>
          </a:prstGeom>
          <a:solidFill>
            <a:srgbClr val="E8951C"/>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864657" y="2281977"/>
            <a:ext cx="245791" cy="245791"/>
          </a:xfrm>
          <a:prstGeom prst="rect">
            <a:avLst/>
          </a:prstGeom>
        </p:spPr>
      </p:pic>
      <p:sp>
        <p:nvSpPr>
          <p:cNvPr id="11" name="Shape 7"/>
          <p:cNvSpPr/>
          <p:nvPr/>
        </p:nvSpPr>
        <p:spPr>
          <a:xfrm>
            <a:off x="2651760" y="2112264"/>
            <a:ext cx="310896" cy="310896"/>
          </a:xfrm>
          <a:prstGeom prst="ellipse">
            <a:avLst/>
          </a:prstGeom>
          <a:solidFill>
            <a:srgbClr val="0E2330"/>
          </a:solidFill>
          <a:ln/>
        </p:spPr>
      </p:sp>
      <p:sp>
        <p:nvSpPr>
          <p:cNvPr id="12" name="Text 8"/>
          <p:cNvSpPr/>
          <p:nvPr/>
        </p:nvSpPr>
        <p:spPr>
          <a:xfrm>
            <a:off x="2651760" y="2112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3" name="Text 9"/>
          <p:cNvSpPr/>
          <p:nvPr/>
        </p:nvSpPr>
        <p:spPr>
          <a:xfrm>
            <a:off x="713232" y="2734056"/>
            <a:ext cx="2276856" cy="411480"/>
          </a:xfrm>
          <a:prstGeom prst="rect">
            <a:avLst/>
          </a:prstGeom>
          <a:noFill/>
          <a:ln/>
        </p:spPr>
        <p:txBody>
          <a:bodyPr wrap="square" lIns="0" tIns="0" rIns="0" bIns="0" rtlCol="0" anchor="t"/>
          <a:lstStyle/>
          <a:p>
            <a:pPr indent="0" marL="0">
              <a:buNone/>
            </a:pPr>
            <a:r>
              <a:rPr lang="en-US" sz="1200" b="1" dirty="0">
                <a:solidFill>
                  <a:srgbClr val="0E2330"/>
                </a:solidFill>
                <a:latin typeface="Calibri" pitchFamily="34" charset="0"/>
                <a:ea typeface="Calibri" pitchFamily="34" charset="-122"/>
                <a:cs typeface="Calibri" pitchFamily="34" charset="-120"/>
              </a:rPr>
              <a:t>User asks to rebook</a:t>
            </a:r>
            <a:endParaRPr lang="en-US" sz="1200" dirty="0"/>
          </a:p>
        </p:txBody>
      </p:sp>
      <p:sp>
        <p:nvSpPr>
          <p:cNvPr id="14" name="Text 10"/>
          <p:cNvSpPr/>
          <p:nvPr/>
        </p:nvSpPr>
        <p:spPr>
          <a:xfrm>
            <a:off x="713232" y="3081528"/>
            <a:ext cx="2276856" cy="256032"/>
          </a:xfrm>
          <a:prstGeom prst="rect">
            <a:avLst/>
          </a:prstGeom>
          <a:noFill/>
          <a:ln/>
        </p:spPr>
        <p:txBody>
          <a:bodyPr wrap="square" lIns="0" tIns="0" rIns="0" bIns="0" rtlCol="0" anchor="ctr"/>
          <a:lstStyle/>
          <a:p>
            <a:pPr indent="0" marL="0">
              <a:buNone/>
            </a:pPr>
            <a:r>
              <a:rPr lang="en-US" sz="950" dirty="0">
                <a:solidFill>
                  <a:srgbClr val="0E7C86"/>
                </a:solidFill>
                <a:latin typeface="Consolas" pitchFamily="34" charset="0"/>
                <a:ea typeface="Consolas" pitchFamily="34" charset="-122"/>
                <a:cs typeface="Consolas" pitchFamily="34" charset="-120"/>
              </a:rPr>
              <a:t>chat</a:t>
            </a:r>
            <a:endParaRPr lang="en-US" sz="950" dirty="0"/>
          </a:p>
        </p:txBody>
      </p:sp>
      <p:sp>
        <p:nvSpPr>
          <p:cNvPr id="15" name="Shape 11"/>
          <p:cNvSpPr/>
          <p:nvPr/>
        </p:nvSpPr>
        <p:spPr>
          <a:xfrm>
            <a:off x="3401568" y="1965960"/>
            <a:ext cx="2606040" cy="1417320"/>
          </a:xfrm>
          <a:prstGeom prst="roundRect">
            <a:avLst>
              <a:gd name="adj" fmla="val 7742"/>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6" name="Shape 12"/>
          <p:cNvSpPr/>
          <p:nvPr/>
        </p:nvSpPr>
        <p:spPr>
          <a:xfrm>
            <a:off x="3584448" y="2148840"/>
            <a:ext cx="512064" cy="512064"/>
          </a:xfrm>
          <a:prstGeom prst="ellipse">
            <a:avLst/>
          </a:prstGeom>
          <a:solidFill>
            <a:srgbClr val="1B4861"/>
          </a:solidFill>
          <a:ln/>
          <a:effectLst>
            <a:outerShdw sx="100000" sy="100000" kx="0" ky="0" algn="bl" rotWithShape="0" blurRad="114300" dist="50800" dir="5400000">
              <a:srgbClr val="0B2430">
                <a:alpha val="10000"/>
              </a:srgbClr>
            </a:outerShdw>
          </a:effectLst>
        </p:spPr>
      </p:sp>
      <p:pic>
        <p:nvPicPr>
          <p:cNvPr id="17" name="Image 2" descr="preencoded.png">    </p:cNvPr>
          <p:cNvPicPr>
            <a:picLocks noChangeAspect="1"/>
          </p:cNvPicPr>
          <p:nvPr/>
        </p:nvPicPr>
        <p:blipFill>
          <a:blip r:embed="rId3"/>
          <a:stretch>
            <a:fillRect/>
          </a:stretch>
        </p:blipFill>
        <p:spPr>
          <a:xfrm>
            <a:off x="3717585" y="2281977"/>
            <a:ext cx="245791" cy="245791"/>
          </a:xfrm>
          <a:prstGeom prst="rect">
            <a:avLst/>
          </a:prstGeom>
        </p:spPr>
      </p:pic>
      <p:sp>
        <p:nvSpPr>
          <p:cNvPr id="18" name="Shape 13"/>
          <p:cNvSpPr/>
          <p:nvPr/>
        </p:nvSpPr>
        <p:spPr>
          <a:xfrm>
            <a:off x="5504688" y="2112264"/>
            <a:ext cx="310896" cy="310896"/>
          </a:xfrm>
          <a:prstGeom prst="ellipse">
            <a:avLst/>
          </a:prstGeom>
          <a:solidFill>
            <a:srgbClr val="0E2330"/>
          </a:solidFill>
          <a:ln/>
        </p:spPr>
      </p:sp>
      <p:sp>
        <p:nvSpPr>
          <p:cNvPr id="19" name="Text 14"/>
          <p:cNvSpPr/>
          <p:nvPr/>
        </p:nvSpPr>
        <p:spPr>
          <a:xfrm>
            <a:off x="5504688" y="2112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0" name="Text 15"/>
          <p:cNvSpPr/>
          <p:nvPr/>
        </p:nvSpPr>
        <p:spPr>
          <a:xfrm>
            <a:off x="3566160" y="2734056"/>
            <a:ext cx="2276856" cy="411480"/>
          </a:xfrm>
          <a:prstGeom prst="rect">
            <a:avLst/>
          </a:prstGeom>
          <a:noFill/>
          <a:ln/>
        </p:spPr>
        <p:txBody>
          <a:bodyPr wrap="square" lIns="0" tIns="0" rIns="0" bIns="0" rtlCol="0" anchor="t"/>
          <a:lstStyle/>
          <a:p>
            <a:pPr indent="0" marL="0">
              <a:buNone/>
            </a:pPr>
            <a:r>
              <a:rPr lang="en-US" sz="1200" b="1" dirty="0">
                <a:solidFill>
                  <a:srgbClr val="0E2330"/>
                </a:solidFill>
                <a:latin typeface="Calibri" pitchFamily="34" charset="0"/>
                <a:ea typeface="Calibri" pitchFamily="34" charset="-122"/>
                <a:cs typeface="Calibri" pitchFamily="34" charset="-120"/>
              </a:rPr>
              <a:t>Agent searches (tool)</a:t>
            </a:r>
            <a:endParaRPr lang="en-US" sz="1200" dirty="0"/>
          </a:p>
        </p:txBody>
      </p:sp>
      <p:sp>
        <p:nvSpPr>
          <p:cNvPr id="21" name="Text 16"/>
          <p:cNvSpPr/>
          <p:nvPr/>
        </p:nvSpPr>
        <p:spPr>
          <a:xfrm>
            <a:off x="3566160" y="3081528"/>
            <a:ext cx="2276856" cy="256032"/>
          </a:xfrm>
          <a:prstGeom prst="rect">
            <a:avLst/>
          </a:prstGeom>
          <a:noFill/>
          <a:ln/>
        </p:spPr>
        <p:txBody>
          <a:bodyPr wrap="square" lIns="0" tIns="0" rIns="0" bIns="0" rtlCol="0" anchor="ctr"/>
          <a:lstStyle/>
          <a:p>
            <a:pPr indent="0" marL="0">
              <a:buNone/>
            </a:pPr>
            <a:r>
              <a:rPr lang="en-US" sz="950" dirty="0">
                <a:solidFill>
                  <a:srgbClr val="0E7C86"/>
                </a:solidFill>
                <a:latin typeface="Consolas" pitchFamily="34" charset="0"/>
                <a:ea typeface="Consolas" pitchFamily="34" charset="-122"/>
                <a:cs typeface="Consolas" pitchFamily="34" charset="-120"/>
              </a:rPr>
              <a:t>MCP / tool</a:t>
            </a:r>
            <a:endParaRPr lang="en-US" sz="950" dirty="0"/>
          </a:p>
        </p:txBody>
      </p:sp>
      <p:sp>
        <p:nvSpPr>
          <p:cNvPr id="22" name="Shape 17"/>
          <p:cNvSpPr/>
          <p:nvPr/>
        </p:nvSpPr>
        <p:spPr>
          <a:xfrm>
            <a:off x="6254496" y="1965960"/>
            <a:ext cx="2606040" cy="1417320"/>
          </a:xfrm>
          <a:prstGeom prst="roundRect">
            <a:avLst>
              <a:gd name="adj" fmla="val 7742"/>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3" name="Shape 18"/>
          <p:cNvSpPr/>
          <p:nvPr/>
        </p:nvSpPr>
        <p:spPr>
          <a:xfrm>
            <a:off x="6437376" y="2148840"/>
            <a:ext cx="512064" cy="512064"/>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24" name="Image 3" descr="preencoded.png">    </p:cNvPr>
          <p:cNvPicPr>
            <a:picLocks noChangeAspect="1"/>
          </p:cNvPicPr>
          <p:nvPr/>
        </p:nvPicPr>
        <p:blipFill>
          <a:blip r:embed="rId4"/>
          <a:stretch>
            <a:fillRect/>
          </a:stretch>
        </p:blipFill>
        <p:spPr>
          <a:xfrm>
            <a:off x="6570513" y="2281977"/>
            <a:ext cx="245791" cy="245791"/>
          </a:xfrm>
          <a:prstGeom prst="rect">
            <a:avLst/>
          </a:prstGeom>
        </p:spPr>
      </p:pic>
      <p:sp>
        <p:nvSpPr>
          <p:cNvPr id="25" name="Shape 19"/>
          <p:cNvSpPr/>
          <p:nvPr/>
        </p:nvSpPr>
        <p:spPr>
          <a:xfrm>
            <a:off x="8357616" y="2112264"/>
            <a:ext cx="310896" cy="310896"/>
          </a:xfrm>
          <a:prstGeom prst="ellipse">
            <a:avLst/>
          </a:prstGeom>
          <a:solidFill>
            <a:srgbClr val="0E2330"/>
          </a:solidFill>
          <a:ln/>
        </p:spPr>
      </p:sp>
      <p:sp>
        <p:nvSpPr>
          <p:cNvPr id="26" name="Text 20"/>
          <p:cNvSpPr/>
          <p:nvPr/>
        </p:nvSpPr>
        <p:spPr>
          <a:xfrm>
            <a:off x="8357616" y="2112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7" name="Text 21"/>
          <p:cNvSpPr/>
          <p:nvPr/>
        </p:nvSpPr>
        <p:spPr>
          <a:xfrm>
            <a:off x="6419088" y="2734056"/>
            <a:ext cx="2276856" cy="411480"/>
          </a:xfrm>
          <a:prstGeom prst="rect">
            <a:avLst/>
          </a:prstGeom>
          <a:noFill/>
          <a:ln/>
        </p:spPr>
        <p:txBody>
          <a:bodyPr wrap="square" lIns="0" tIns="0" rIns="0" bIns="0" rtlCol="0" anchor="t"/>
          <a:lstStyle/>
          <a:p>
            <a:pPr indent="0" marL="0">
              <a:buNone/>
            </a:pPr>
            <a:r>
              <a:rPr lang="en-US" sz="1200" b="1" dirty="0">
                <a:solidFill>
                  <a:srgbClr val="0E2330"/>
                </a:solidFill>
                <a:latin typeface="Calibri" pitchFamily="34" charset="0"/>
                <a:ea typeface="Calibri" pitchFamily="34" charset="-122"/>
                <a:cs typeface="Calibri" pitchFamily="34" charset="-120"/>
              </a:rPr>
              <a:t>Emits A2UI options Table</a:t>
            </a:r>
            <a:endParaRPr lang="en-US" sz="1200" dirty="0"/>
          </a:p>
        </p:txBody>
      </p:sp>
      <p:sp>
        <p:nvSpPr>
          <p:cNvPr id="28" name="Text 22"/>
          <p:cNvSpPr/>
          <p:nvPr/>
        </p:nvSpPr>
        <p:spPr>
          <a:xfrm>
            <a:off x="6419088" y="3081528"/>
            <a:ext cx="2276856" cy="256032"/>
          </a:xfrm>
          <a:prstGeom prst="rect">
            <a:avLst/>
          </a:prstGeom>
          <a:noFill/>
          <a:ln/>
        </p:spPr>
        <p:txBody>
          <a:bodyPr wrap="square" lIns="0" tIns="0" rIns="0" bIns="0" rtlCol="0" anchor="ctr"/>
          <a:lstStyle/>
          <a:p>
            <a:pPr indent="0" marL="0">
              <a:buNone/>
            </a:pPr>
            <a:r>
              <a:rPr lang="en-US" sz="950" dirty="0">
                <a:solidFill>
                  <a:srgbClr val="0E7C86"/>
                </a:solidFill>
                <a:latin typeface="Consolas" pitchFamily="34" charset="0"/>
                <a:ea typeface="Consolas" pitchFamily="34" charset="-122"/>
                <a:cs typeface="Consolas" pitchFamily="34" charset="-120"/>
              </a:rPr>
              <a:t>structured</a:t>
            </a:r>
            <a:endParaRPr lang="en-US" sz="950" dirty="0"/>
          </a:p>
        </p:txBody>
      </p:sp>
      <p:sp>
        <p:nvSpPr>
          <p:cNvPr id="29" name="Shape 23"/>
          <p:cNvSpPr/>
          <p:nvPr/>
        </p:nvSpPr>
        <p:spPr>
          <a:xfrm>
            <a:off x="9107424" y="1965960"/>
            <a:ext cx="2606040" cy="1417320"/>
          </a:xfrm>
          <a:prstGeom prst="roundRect">
            <a:avLst>
              <a:gd name="adj" fmla="val 7742"/>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30" name="Shape 24"/>
          <p:cNvSpPr/>
          <p:nvPr/>
        </p:nvSpPr>
        <p:spPr>
          <a:xfrm>
            <a:off x="9290304" y="2148840"/>
            <a:ext cx="512064" cy="512064"/>
          </a:xfrm>
          <a:prstGeom prst="ellipse">
            <a:avLst/>
          </a:prstGeom>
          <a:solidFill>
            <a:srgbClr val="E8951C"/>
          </a:solidFill>
          <a:ln/>
          <a:effectLst>
            <a:outerShdw sx="100000" sy="100000" kx="0" ky="0" algn="bl" rotWithShape="0" blurRad="114300" dist="50800" dir="5400000">
              <a:srgbClr val="0B2430">
                <a:alpha val="10000"/>
              </a:srgbClr>
            </a:outerShdw>
          </a:effectLst>
        </p:spPr>
      </p:sp>
      <p:pic>
        <p:nvPicPr>
          <p:cNvPr id="31" name="Image 4" descr="preencoded.png">    </p:cNvPr>
          <p:cNvPicPr>
            <a:picLocks noChangeAspect="1"/>
          </p:cNvPicPr>
          <p:nvPr/>
        </p:nvPicPr>
        <p:blipFill>
          <a:blip r:embed="rId5"/>
          <a:stretch>
            <a:fillRect/>
          </a:stretch>
        </p:blipFill>
        <p:spPr>
          <a:xfrm>
            <a:off x="9423441" y="2281977"/>
            <a:ext cx="245791" cy="245791"/>
          </a:xfrm>
          <a:prstGeom prst="rect">
            <a:avLst/>
          </a:prstGeom>
        </p:spPr>
      </p:pic>
      <p:sp>
        <p:nvSpPr>
          <p:cNvPr id="32" name="Shape 25"/>
          <p:cNvSpPr/>
          <p:nvPr/>
        </p:nvSpPr>
        <p:spPr>
          <a:xfrm>
            <a:off x="11210544" y="2112264"/>
            <a:ext cx="310896" cy="310896"/>
          </a:xfrm>
          <a:prstGeom prst="ellipse">
            <a:avLst/>
          </a:prstGeom>
          <a:solidFill>
            <a:srgbClr val="0E2330"/>
          </a:solidFill>
          <a:ln/>
        </p:spPr>
      </p:sp>
      <p:sp>
        <p:nvSpPr>
          <p:cNvPr id="33" name="Text 26"/>
          <p:cNvSpPr/>
          <p:nvPr/>
        </p:nvSpPr>
        <p:spPr>
          <a:xfrm>
            <a:off x="11210544" y="211226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34" name="Text 27"/>
          <p:cNvSpPr/>
          <p:nvPr/>
        </p:nvSpPr>
        <p:spPr>
          <a:xfrm>
            <a:off x="9272016" y="2734056"/>
            <a:ext cx="2276856" cy="411480"/>
          </a:xfrm>
          <a:prstGeom prst="rect">
            <a:avLst/>
          </a:prstGeom>
          <a:noFill/>
          <a:ln/>
        </p:spPr>
        <p:txBody>
          <a:bodyPr wrap="square" lIns="0" tIns="0" rIns="0" bIns="0" rtlCol="0" anchor="t"/>
          <a:lstStyle/>
          <a:p>
            <a:pPr indent="0" marL="0">
              <a:buNone/>
            </a:pPr>
            <a:r>
              <a:rPr lang="en-US" sz="1200" b="1" dirty="0">
                <a:solidFill>
                  <a:srgbClr val="0E2330"/>
                </a:solidFill>
                <a:latin typeface="Calibri" pitchFamily="34" charset="0"/>
                <a:ea typeface="Calibri" pitchFamily="34" charset="-122"/>
                <a:cs typeface="Calibri" pitchFamily="34" charset="-120"/>
              </a:rPr>
              <a:t>User taps Approve</a:t>
            </a:r>
            <a:endParaRPr lang="en-US" sz="1200" dirty="0"/>
          </a:p>
        </p:txBody>
      </p:sp>
      <p:sp>
        <p:nvSpPr>
          <p:cNvPr id="35" name="Text 28"/>
          <p:cNvSpPr/>
          <p:nvPr/>
        </p:nvSpPr>
        <p:spPr>
          <a:xfrm>
            <a:off x="9272016" y="3081528"/>
            <a:ext cx="2276856" cy="256032"/>
          </a:xfrm>
          <a:prstGeom prst="rect">
            <a:avLst/>
          </a:prstGeom>
          <a:noFill/>
          <a:ln/>
        </p:spPr>
        <p:txBody>
          <a:bodyPr wrap="square" lIns="0" tIns="0" rIns="0" bIns="0" rtlCol="0" anchor="ctr"/>
          <a:lstStyle/>
          <a:p>
            <a:pPr indent="0" marL="0">
              <a:buNone/>
            </a:pPr>
            <a:r>
              <a:rPr lang="en-US" sz="950" dirty="0">
                <a:solidFill>
                  <a:srgbClr val="0E7C86"/>
                </a:solidFill>
                <a:latin typeface="Consolas" pitchFamily="34" charset="0"/>
                <a:ea typeface="Consolas" pitchFamily="34" charset="-122"/>
                <a:cs typeface="Consolas" pitchFamily="34" charset="-120"/>
              </a:rPr>
              <a:t>approval</a:t>
            </a:r>
            <a:endParaRPr lang="en-US" sz="950" dirty="0"/>
          </a:p>
        </p:txBody>
      </p:sp>
      <p:sp>
        <p:nvSpPr>
          <p:cNvPr id="36" name="Shape 29"/>
          <p:cNvSpPr/>
          <p:nvPr/>
        </p:nvSpPr>
        <p:spPr>
          <a:xfrm>
            <a:off x="9107424" y="3886200"/>
            <a:ext cx="2606040" cy="1417320"/>
          </a:xfrm>
          <a:prstGeom prst="roundRect">
            <a:avLst>
              <a:gd name="adj" fmla="val 7742"/>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37" name="Shape 30"/>
          <p:cNvSpPr/>
          <p:nvPr/>
        </p:nvSpPr>
        <p:spPr>
          <a:xfrm>
            <a:off x="9290304" y="4069080"/>
            <a:ext cx="512064" cy="512064"/>
          </a:xfrm>
          <a:prstGeom prst="ellipse">
            <a:avLst/>
          </a:prstGeom>
          <a:solidFill>
            <a:srgbClr val="1B4861"/>
          </a:solidFill>
          <a:ln/>
          <a:effectLst>
            <a:outerShdw sx="100000" sy="100000" kx="0" ky="0" algn="bl" rotWithShape="0" blurRad="114300" dist="50800" dir="5400000">
              <a:srgbClr val="0B2430">
                <a:alpha val="10000"/>
              </a:srgbClr>
            </a:outerShdw>
          </a:effectLst>
        </p:spPr>
      </p:sp>
      <p:pic>
        <p:nvPicPr>
          <p:cNvPr id="38" name="Image 5" descr="preencoded.png">    </p:cNvPr>
          <p:cNvPicPr>
            <a:picLocks noChangeAspect="1"/>
          </p:cNvPicPr>
          <p:nvPr/>
        </p:nvPicPr>
        <p:blipFill>
          <a:blip r:embed="rId6"/>
          <a:stretch>
            <a:fillRect/>
          </a:stretch>
        </p:blipFill>
        <p:spPr>
          <a:xfrm>
            <a:off x="9423441" y="4202217"/>
            <a:ext cx="245791" cy="245791"/>
          </a:xfrm>
          <a:prstGeom prst="rect">
            <a:avLst/>
          </a:prstGeom>
        </p:spPr>
      </p:pic>
      <p:sp>
        <p:nvSpPr>
          <p:cNvPr id="39" name="Shape 31"/>
          <p:cNvSpPr/>
          <p:nvPr/>
        </p:nvSpPr>
        <p:spPr>
          <a:xfrm>
            <a:off x="11210544" y="4032504"/>
            <a:ext cx="310896" cy="310896"/>
          </a:xfrm>
          <a:prstGeom prst="ellipse">
            <a:avLst/>
          </a:prstGeom>
          <a:solidFill>
            <a:srgbClr val="0E2330"/>
          </a:solidFill>
          <a:ln/>
        </p:spPr>
      </p:sp>
      <p:sp>
        <p:nvSpPr>
          <p:cNvPr id="40" name="Text 32"/>
          <p:cNvSpPr/>
          <p:nvPr/>
        </p:nvSpPr>
        <p:spPr>
          <a:xfrm>
            <a:off x="11210544" y="40325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41" name="Text 33"/>
          <p:cNvSpPr/>
          <p:nvPr/>
        </p:nvSpPr>
        <p:spPr>
          <a:xfrm>
            <a:off x="9272016" y="4654296"/>
            <a:ext cx="2276856" cy="411480"/>
          </a:xfrm>
          <a:prstGeom prst="rect">
            <a:avLst/>
          </a:prstGeom>
          <a:noFill/>
          <a:ln/>
        </p:spPr>
        <p:txBody>
          <a:bodyPr wrap="square" lIns="0" tIns="0" rIns="0" bIns="0" rtlCol="0" anchor="t"/>
          <a:lstStyle/>
          <a:p>
            <a:pPr indent="0" marL="0">
              <a:buNone/>
            </a:pPr>
            <a:r>
              <a:rPr lang="en-US" sz="1200" b="1" dirty="0">
                <a:solidFill>
                  <a:srgbClr val="0E2330"/>
                </a:solidFill>
                <a:latin typeface="Calibri" pitchFamily="34" charset="0"/>
                <a:ea typeface="Calibri" pitchFamily="34" charset="-122"/>
                <a:cs typeface="Calibri" pitchFamily="34" charset="-120"/>
              </a:rPr>
              <a:t>Policy / handler authorizes</a:t>
            </a:r>
            <a:endParaRPr lang="en-US" sz="1200" dirty="0"/>
          </a:p>
        </p:txBody>
      </p:sp>
      <p:sp>
        <p:nvSpPr>
          <p:cNvPr id="42" name="Text 34"/>
          <p:cNvSpPr/>
          <p:nvPr/>
        </p:nvSpPr>
        <p:spPr>
          <a:xfrm>
            <a:off x="9272016" y="5001768"/>
            <a:ext cx="2276856" cy="256032"/>
          </a:xfrm>
          <a:prstGeom prst="rect">
            <a:avLst/>
          </a:prstGeom>
          <a:noFill/>
          <a:ln/>
        </p:spPr>
        <p:txBody>
          <a:bodyPr wrap="square" lIns="0" tIns="0" rIns="0" bIns="0" rtlCol="0" anchor="ctr"/>
          <a:lstStyle/>
          <a:p>
            <a:pPr indent="0" marL="0">
              <a:buNone/>
            </a:pPr>
            <a:r>
              <a:rPr lang="en-US" sz="950" dirty="0">
                <a:solidFill>
                  <a:srgbClr val="0E7C86"/>
                </a:solidFill>
                <a:latin typeface="Consolas" pitchFamily="34" charset="0"/>
                <a:ea typeface="Consolas" pitchFamily="34" charset="-122"/>
                <a:cs typeface="Consolas" pitchFamily="34" charset="-120"/>
              </a:rPr>
              <a:t>gate, server-side</a:t>
            </a:r>
            <a:endParaRPr lang="en-US" sz="950" dirty="0"/>
          </a:p>
        </p:txBody>
      </p:sp>
      <p:sp>
        <p:nvSpPr>
          <p:cNvPr id="43" name="Shape 35"/>
          <p:cNvSpPr/>
          <p:nvPr/>
        </p:nvSpPr>
        <p:spPr>
          <a:xfrm>
            <a:off x="6254496" y="3886200"/>
            <a:ext cx="2606040" cy="1417320"/>
          </a:xfrm>
          <a:prstGeom prst="roundRect">
            <a:avLst>
              <a:gd name="adj" fmla="val 7742"/>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44" name="Shape 36"/>
          <p:cNvSpPr/>
          <p:nvPr/>
        </p:nvSpPr>
        <p:spPr>
          <a:xfrm>
            <a:off x="6437376" y="4069080"/>
            <a:ext cx="512064" cy="512064"/>
          </a:xfrm>
          <a:prstGeom prst="ellipse">
            <a:avLst/>
          </a:prstGeom>
          <a:solidFill>
            <a:srgbClr val="1B4861"/>
          </a:solidFill>
          <a:ln/>
          <a:effectLst>
            <a:outerShdw sx="100000" sy="100000" kx="0" ky="0" algn="bl" rotWithShape="0" blurRad="114300" dist="50800" dir="5400000">
              <a:srgbClr val="0B2430">
                <a:alpha val="10000"/>
              </a:srgbClr>
            </a:outerShdw>
          </a:effectLst>
        </p:spPr>
      </p:sp>
      <p:pic>
        <p:nvPicPr>
          <p:cNvPr id="45" name="Image 6" descr="preencoded.png">    </p:cNvPr>
          <p:cNvPicPr>
            <a:picLocks noChangeAspect="1"/>
          </p:cNvPicPr>
          <p:nvPr/>
        </p:nvPicPr>
        <p:blipFill>
          <a:blip r:embed="rId7"/>
          <a:stretch>
            <a:fillRect/>
          </a:stretch>
        </p:blipFill>
        <p:spPr>
          <a:xfrm>
            <a:off x="6570513" y="4202217"/>
            <a:ext cx="245791" cy="245791"/>
          </a:xfrm>
          <a:prstGeom prst="rect">
            <a:avLst/>
          </a:prstGeom>
        </p:spPr>
      </p:pic>
      <p:sp>
        <p:nvSpPr>
          <p:cNvPr id="46" name="Shape 37"/>
          <p:cNvSpPr/>
          <p:nvPr/>
        </p:nvSpPr>
        <p:spPr>
          <a:xfrm>
            <a:off x="8357616" y="4032504"/>
            <a:ext cx="310896" cy="310896"/>
          </a:xfrm>
          <a:prstGeom prst="ellipse">
            <a:avLst/>
          </a:prstGeom>
          <a:solidFill>
            <a:srgbClr val="0E2330"/>
          </a:solidFill>
          <a:ln/>
        </p:spPr>
      </p:sp>
      <p:sp>
        <p:nvSpPr>
          <p:cNvPr id="47" name="Text 38"/>
          <p:cNvSpPr/>
          <p:nvPr/>
        </p:nvSpPr>
        <p:spPr>
          <a:xfrm>
            <a:off x="8357616" y="40325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48" name="Text 39"/>
          <p:cNvSpPr/>
          <p:nvPr/>
        </p:nvSpPr>
        <p:spPr>
          <a:xfrm>
            <a:off x="6419088" y="4654296"/>
            <a:ext cx="2276856" cy="411480"/>
          </a:xfrm>
          <a:prstGeom prst="rect">
            <a:avLst/>
          </a:prstGeom>
          <a:noFill/>
          <a:ln/>
        </p:spPr>
        <p:txBody>
          <a:bodyPr wrap="square" lIns="0" tIns="0" rIns="0" bIns="0" rtlCol="0" anchor="t"/>
          <a:lstStyle/>
          <a:p>
            <a:pPr indent="0" marL="0">
              <a:buNone/>
            </a:pPr>
            <a:r>
              <a:rPr lang="en-US" sz="1200" b="1" dirty="0">
                <a:solidFill>
                  <a:srgbClr val="0E2330"/>
                </a:solidFill>
                <a:latin typeface="Calibri" pitchFamily="34" charset="0"/>
                <a:ea typeface="Calibri" pitchFamily="34" charset="-122"/>
                <a:cs typeface="Calibri" pitchFamily="34" charset="-120"/>
              </a:rPr>
              <a:t>Booking tool runs</a:t>
            </a:r>
            <a:endParaRPr lang="en-US" sz="1200" dirty="0"/>
          </a:p>
        </p:txBody>
      </p:sp>
      <p:sp>
        <p:nvSpPr>
          <p:cNvPr id="49" name="Text 40"/>
          <p:cNvSpPr/>
          <p:nvPr/>
        </p:nvSpPr>
        <p:spPr>
          <a:xfrm>
            <a:off x="6419088" y="5001768"/>
            <a:ext cx="2276856" cy="256032"/>
          </a:xfrm>
          <a:prstGeom prst="rect">
            <a:avLst/>
          </a:prstGeom>
          <a:noFill/>
          <a:ln/>
        </p:spPr>
        <p:txBody>
          <a:bodyPr wrap="square" lIns="0" tIns="0" rIns="0" bIns="0" rtlCol="0" anchor="ctr"/>
          <a:lstStyle/>
          <a:p>
            <a:pPr indent="0" marL="0">
              <a:buNone/>
            </a:pPr>
            <a:r>
              <a:rPr lang="en-US" sz="950" dirty="0">
                <a:solidFill>
                  <a:srgbClr val="0E7C86"/>
                </a:solidFill>
                <a:latin typeface="Consolas" pitchFamily="34" charset="0"/>
                <a:ea typeface="Consolas" pitchFamily="34" charset="-122"/>
                <a:cs typeface="Consolas" pitchFamily="34" charset="-120"/>
              </a:rPr>
              <a:t>action</a:t>
            </a:r>
            <a:endParaRPr lang="en-US" sz="950" dirty="0"/>
          </a:p>
        </p:txBody>
      </p:sp>
      <p:sp>
        <p:nvSpPr>
          <p:cNvPr id="50" name="Shape 41"/>
          <p:cNvSpPr/>
          <p:nvPr/>
        </p:nvSpPr>
        <p:spPr>
          <a:xfrm>
            <a:off x="3401568" y="3886200"/>
            <a:ext cx="2606040" cy="1417320"/>
          </a:xfrm>
          <a:prstGeom prst="roundRect">
            <a:avLst>
              <a:gd name="adj" fmla="val 7742"/>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51" name="Shape 42"/>
          <p:cNvSpPr/>
          <p:nvPr/>
        </p:nvSpPr>
        <p:spPr>
          <a:xfrm>
            <a:off x="3584448" y="4069080"/>
            <a:ext cx="512064" cy="512064"/>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52" name="Image 7" descr="preencoded.png">    </p:cNvPr>
          <p:cNvPicPr>
            <a:picLocks noChangeAspect="1"/>
          </p:cNvPicPr>
          <p:nvPr/>
        </p:nvPicPr>
        <p:blipFill>
          <a:blip r:embed="rId8"/>
          <a:stretch>
            <a:fillRect/>
          </a:stretch>
        </p:blipFill>
        <p:spPr>
          <a:xfrm>
            <a:off x="3717585" y="4202217"/>
            <a:ext cx="245791" cy="245791"/>
          </a:xfrm>
          <a:prstGeom prst="rect">
            <a:avLst/>
          </a:prstGeom>
        </p:spPr>
      </p:pic>
      <p:sp>
        <p:nvSpPr>
          <p:cNvPr id="53" name="Shape 43"/>
          <p:cNvSpPr/>
          <p:nvPr/>
        </p:nvSpPr>
        <p:spPr>
          <a:xfrm>
            <a:off x="5504688" y="4032504"/>
            <a:ext cx="310896" cy="310896"/>
          </a:xfrm>
          <a:prstGeom prst="ellipse">
            <a:avLst/>
          </a:prstGeom>
          <a:solidFill>
            <a:srgbClr val="0E2330"/>
          </a:solidFill>
          <a:ln/>
        </p:spPr>
      </p:sp>
      <p:sp>
        <p:nvSpPr>
          <p:cNvPr id="54" name="Text 44"/>
          <p:cNvSpPr/>
          <p:nvPr/>
        </p:nvSpPr>
        <p:spPr>
          <a:xfrm>
            <a:off x="5504688" y="40325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7</a:t>
            </a:r>
            <a:endParaRPr lang="en-US" sz="1200" dirty="0"/>
          </a:p>
        </p:txBody>
      </p:sp>
      <p:sp>
        <p:nvSpPr>
          <p:cNvPr id="55" name="Text 45"/>
          <p:cNvSpPr/>
          <p:nvPr/>
        </p:nvSpPr>
        <p:spPr>
          <a:xfrm>
            <a:off x="3566160" y="4654296"/>
            <a:ext cx="2276856" cy="411480"/>
          </a:xfrm>
          <a:prstGeom prst="rect">
            <a:avLst/>
          </a:prstGeom>
          <a:noFill/>
          <a:ln/>
        </p:spPr>
        <p:txBody>
          <a:bodyPr wrap="square" lIns="0" tIns="0" rIns="0" bIns="0" rtlCol="0" anchor="t"/>
          <a:lstStyle/>
          <a:p>
            <a:pPr indent="0" marL="0">
              <a:buNone/>
            </a:pPr>
            <a:r>
              <a:rPr lang="en-US" sz="1200" b="1" dirty="0">
                <a:solidFill>
                  <a:srgbClr val="0E2330"/>
                </a:solidFill>
                <a:latin typeface="Calibri" pitchFamily="34" charset="0"/>
                <a:ea typeface="Calibri" pitchFamily="34" charset="-122"/>
                <a:cs typeface="Calibri" pitchFamily="34" charset="-120"/>
              </a:rPr>
              <a:t>Emits confirmation MetricCard</a:t>
            </a:r>
            <a:endParaRPr lang="en-US" sz="1200" dirty="0"/>
          </a:p>
        </p:txBody>
      </p:sp>
      <p:sp>
        <p:nvSpPr>
          <p:cNvPr id="56" name="Text 46"/>
          <p:cNvSpPr/>
          <p:nvPr/>
        </p:nvSpPr>
        <p:spPr>
          <a:xfrm>
            <a:off x="3566160" y="5001768"/>
            <a:ext cx="2276856" cy="256032"/>
          </a:xfrm>
          <a:prstGeom prst="rect">
            <a:avLst/>
          </a:prstGeom>
          <a:noFill/>
          <a:ln/>
        </p:spPr>
        <p:txBody>
          <a:bodyPr wrap="square" lIns="0" tIns="0" rIns="0" bIns="0" rtlCol="0" anchor="ctr"/>
          <a:lstStyle/>
          <a:p>
            <a:pPr indent="0" marL="0">
              <a:buNone/>
            </a:pPr>
            <a:r>
              <a:rPr lang="en-US" sz="950" dirty="0">
                <a:solidFill>
                  <a:srgbClr val="0E7C86"/>
                </a:solidFill>
                <a:latin typeface="Consolas" pitchFamily="34" charset="0"/>
                <a:ea typeface="Consolas" pitchFamily="34" charset="-122"/>
                <a:cs typeface="Consolas" pitchFamily="34" charset="-120"/>
              </a:rPr>
              <a:t>structured</a:t>
            </a:r>
            <a:endParaRPr lang="en-US" sz="950" dirty="0"/>
          </a:p>
        </p:txBody>
      </p:sp>
      <p:sp>
        <p:nvSpPr>
          <p:cNvPr id="57" name="Shape 47"/>
          <p:cNvSpPr/>
          <p:nvPr/>
        </p:nvSpPr>
        <p:spPr>
          <a:xfrm>
            <a:off x="548640" y="3886200"/>
            <a:ext cx="2606040" cy="1417320"/>
          </a:xfrm>
          <a:prstGeom prst="roundRect">
            <a:avLst>
              <a:gd name="adj" fmla="val 7742"/>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58" name="Shape 48"/>
          <p:cNvSpPr/>
          <p:nvPr/>
        </p:nvSpPr>
        <p:spPr>
          <a:xfrm>
            <a:off x="731520" y="4069080"/>
            <a:ext cx="512064" cy="512064"/>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59" name="Image 8" descr="preencoded.png">    </p:cNvPr>
          <p:cNvPicPr>
            <a:picLocks noChangeAspect="1"/>
          </p:cNvPicPr>
          <p:nvPr/>
        </p:nvPicPr>
        <p:blipFill>
          <a:blip r:embed="rId9"/>
          <a:stretch>
            <a:fillRect/>
          </a:stretch>
        </p:blipFill>
        <p:spPr>
          <a:xfrm>
            <a:off x="864657" y="4202217"/>
            <a:ext cx="245791" cy="245791"/>
          </a:xfrm>
          <a:prstGeom prst="rect">
            <a:avLst/>
          </a:prstGeom>
        </p:spPr>
      </p:pic>
      <p:sp>
        <p:nvSpPr>
          <p:cNvPr id="60" name="Shape 49"/>
          <p:cNvSpPr/>
          <p:nvPr/>
        </p:nvSpPr>
        <p:spPr>
          <a:xfrm>
            <a:off x="2651760" y="4032504"/>
            <a:ext cx="310896" cy="310896"/>
          </a:xfrm>
          <a:prstGeom prst="ellipse">
            <a:avLst/>
          </a:prstGeom>
          <a:solidFill>
            <a:srgbClr val="0E2330"/>
          </a:solidFill>
          <a:ln/>
        </p:spPr>
      </p:sp>
      <p:sp>
        <p:nvSpPr>
          <p:cNvPr id="61" name="Text 50"/>
          <p:cNvSpPr/>
          <p:nvPr/>
        </p:nvSpPr>
        <p:spPr>
          <a:xfrm>
            <a:off x="2651760" y="4032504"/>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8</a:t>
            </a:r>
            <a:endParaRPr lang="en-US" sz="1200" dirty="0"/>
          </a:p>
        </p:txBody>
      </p:sp>
      <p:sp>
        <p:nvSpPr>
          <p:cNvPr id="62" name="Text 51"/>
          <p:cNvSpPr/>
          <p:nvPr/>
        </p:nvSpPr>
        <p:spPr>
          <a:xfrm>
            <a:off x="713232" y="4654296"/>
            <a:ext cx="2276856" cy="411480"/>
          </a:xfrm>
          <a:prstGeom prst="rect">
            <a:avLst/>
          </a:prstGeom>
          <a:noFill/>
          <a:ln/>
        </p:spPr>
        <p:txBody>
          <a:bodyPr wrap="square" lIns="0" tIns="0" rIns="0" bIns="0" rtlCol="0" anchor="t"/>
          <a:lstStyle/>
          <a:p>
            <a:pPr indent="0" marL="0">
              <a:buNone/>
            </a:pPr>
            <a:r>
              <a:rPr lang="en-US" sz="1200" b="1" dirty="0">
                <a:solidFill>
                  <a:srgbClr val="0E2330"/>
                </a:solidFill>
                <a:latin typeface="Calibri" pitchFamily="34" charset="0"/>
                <a:ea typeface="Calibri" pitchFamily="34" charset="-122"/>
                <a:cs typeface="Calibri" pitchFamily="34" charset="-120"/>
              </a:rPr>
              <a:t>Logged to admin view</a:t>
            </a:r>
            <a:endParaRPr lang="en-US" sz="1200" dirty="0"/>
          </a:p>
        </p:txBody>
      </p:sp>
      <p:sp>
        <p:nvSpPr>
          <p:cNvPr id="63" name="Text 52"/>
          <p:cNvSpPr/>
          <p:nvPr/>
        </p:nvSpPr>
        <p:spPr>
          <a:xfrm>
            <a:off x="713232" y="5001768"/>
            <a:ext cx="2276856" cy="256032"/>
          </a:xfrm>
          <a:prstGeom prst="rect">
            <a:avLst/>
          </a:prstGeom>
          <a:noFill/>
          <a:ln/>
        </p:spPr>
        <p:txBody>
          <a:bodyPr wrap="square" lIns="0" tIns="0" rIns="0" bIns="0" rtlCol="0" anchor="ctr"/>
          <a:lstStyle/>
          <a:p>
            <a:pPr indent="0" marL="0">
              <a:buNone/>
            </a:pPr>
            <a:r>
              <a:rPr lang="en-US" sz="950" dirty="0">
                <a:solidFill>
                  <a:srgbClr val="0E7C86"/>
                </a:solidFill>
                <a:latin typeface="Consolas" pitchFamily="34" charset="0"/>
                <a:ea typeface="Consolas" pitchFamily="34" charset="-122"/>
                <a:cs typeface="Consolas" pitchFamily="34" charset="-120"/>
              </a:rPr>
              <a:t>observability</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2330"/>
        </a:solidFill>
      </p:bgPr>
    </p:bg>
    <p:spTree>
      <p:nvGrpSpPr>
        <p:cNvPr id="1" name=""/>
        <p:cNvGrpSpPr/>
        <p:nvPr/>
      </p:nvGrpSpPr>
      <p:grpSpPr>
        <a:xfrm>
          <a:off x="0" y="0"/>
          <a:ext cx="0" cy="0"/>
          <a:chOff x="0" y="0"/>
          <a:chExt cx="0" cy="0"/>
        </a:xfrm>
      </p:grpSpPr>
      <p:sp>
        <p:nvSpPr>
          <p:cNvPr id="2" name="Shape 0"/>
          <p:cNvSpPr/>
          <p:nvPr/>
        </p:nvSpPr>
        <p:spPr>
          <a:xfrm>
            <a:off x="8869680" y="2011680"/>
            <a:ext cx="2926080" cy="658368"/>
          </a:xfrm>
          <a:prstGeom prst="roundRect">
            <a:avLst>
              <a:gd name="adj" fmla="val 16667"/>
            </a:avLst>
          </a:prstGeom>
          <a:solidFill>
            <a:srgbClr val="13344A">
              <a:alpha val="80000"/>
            </a:srgbClr>
          </a:solidFill>
          <a:ln/>
        </p:spPr>
      </p:sp>
      <p:sp>
        <p:nvSpPr>
          <p:cNvPr id="3" name="Shape 1"/>
          <p:cNvSpPr/>
          <p:nvPr/>
        </p:nvSpPr>
        <p:spPr>
          <a:xfrm>
            <a:off x="9034272" y="2834640"/>
            <a:ext cx="2926080" cy="658368"/>
          </a:xfrm>
          <a:prstGeom prst="roundRect">
            <a:avLst>
              <a:gd name="adj" fmla="val 16667"/>
            </a:avLst>
          </a:prstGeom>
          <a:solidFill>
            <a:srgbClr val="13344A">
              <a:alpha val="68000"/>
            </a:srgbClr>
          </a:solidFill>
          <a:ln/>
        </p:spPr>
      </p:sp>
      <p:sp>
        <p:nvSpPr>
          <p:cNvPr id="4" name="Shape 2"/>
          <p:cNvSpPr/>
          <p:nvPr/>
        </p:nvSpPr>
        <p:spPr>
          <a:xfrm>
            <a:off x="9198864" y="3657600"/>
            <a:ext cx="2926080" cy="658368"/>
          </a:xfrm>
          <a:prstGeom prst="roundRect">
            <a:avLst>
              <a:gd name="adj" fmla="val 16667"/>
            </a:avLst>
          </a:prstGeom>
          <a:solidFill>
            <a:srgbClr val="13344A">
              <a:alpha val="56000"/>
            </a:srgbClr>
          </a:solidFill>
          <a:ln/>
        </p:spPr>
      </p:sp>
      <p:sp>
        <p:nvSpPr>
          <p:cNvPr id="5" name="Shape 3"/>
          <p:cNvSpPr/>
          <p:nvPr/>
        </p:nvSpPr>
        <p:spPr>
          <a:xfrm>
            <a:off x="822960" y="2148840"/>
            <a:ext cx="1005840" cy="100584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6" name="Image 0" descr="preencoded.png">    </p:cNvPr>
          <p:cNvPicPr>
            <a:picLocks noChangeAspect="1"/>
          </p:cNvPicPr>
          <p:nvPr/>
        </p:nvPicPr>
        <p:blipFill>
          <a:blip r:embed="rId1"/>
          <a:stretch>
            <a:fillRect/>
          </a:stretch>
        </p:blipFill>
        <p:spPr>
          <a:xfrm>
            <a:off x="1084478" y="2410358"/>
            <a:ext cx="482803" cy="482803"/>
          </a:xfrm>
          <a:prstGeom prst="rect">
            <a:avLst/>
          </a:prstGeom>
        </p:spPr>
      </p:pic>
      <p:sp>
        <p:nvSpPr>
          <p:cNvPr id="7" name="Text 4"/>
          <p:cNvSpPr/>
          <p:nvPr/>
        </p:nvSpPr>
        <p:spPr>
          <a:xfrm>
            <a:off x="2057400" y="2240280"/>
            <a:ext cx="73152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PART 5</a:t>
            </a:r>
            <a:endParaRPr lang="en-US" sz="1400" dirty="0"/>
          </a:p>
        </p:txBody>
      </p:sp>
      <p:sp>
        <p:nvSpPr>
          <p:cNvPr id="8" name="Text 5"/>
          <p:cNvSpPr/>
          <p:nvPr/>
        </p:nvSpPr>
        <p:spPr>
          <a:xfrm>
            <a:off x="2057400" y="2606040"/>
            <a:ext cx="7498080" cy="14630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Production decisions: when, and when not</a:t>
            </a:r>
            <a:endParaRPr lang="en-US" sz="3400" dirty="0"/>
          </a:p>
        </p:txBody>
      </p:sp>
      <p:sp>
        <p:nvSpPr>
          <p:cNvPr id="9" name="Text 6"/>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EEAD4"/>
                </a:solidFill>
                <a:latin typeface="Consolas" pitchFamily="34" charset="0"/>
                <a:ea typeface="Consolas" pitchFamily="34" charset="-122"/>
                <a:cs typeface="Consolas" pitchFamily="34" charset="-120"/>
              </a:rPr>
              <a:t>35</a:t>
            </a:r>
            <a:endParaRPr lang="en-US" sz="900" dirty="0"/>
          </a:p>
        </p:txBody>
      </p:sp>
      <p:sp>
        <p:nvSpPr>
          <p:cNvPr id="10" name="Text 7"/>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7FA6B6"/>
                </a:solidFill>
                <a:latin typeface="Calibri" pitchFamily="34" charset="0"/>
                <a:ea typeface="Calibri" pitchFamily="34" charset="-122"/>
                <a:cs typeface="Calibri" pitchFamily="34" charset="-120"/>
              </a:rPr>
              <a:t>A2UI · Agentic UI Layer</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CLEARING THE CONFUSION</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“A2UI vs AG-UI” is the wrong framing</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36</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dirty="0">
                <a:solidFill>
                  <a:srgbClr val="5B7383"/>
                </a:solidFill>
                <a:latin typeface="Calibri" pitchFamily="34" charset="0"/>
                <a:ea typeface="Calibri" pitchFamily="34" charset="-122"/>
                <a:cs typeface="Calibri" pitchFamily="34" charset="-120"/>
              </a:rPr>
              <a:t>They are layers, not competitors. The article titles oversell a rivalry that does not exist.</a:t>
            </a:r>
            <a:endParaRPr lang="en-US" sz="1400" dirty="0"/>
          </a:p>
        </p:txBody>
      </p:sp>
      <p:sp>
        <p:nvSpPr>
          <p:cNvPr id="9" name="Shape 6"/>
          <p:cNvSpPr/>
          <p:nvPr/>
        </p:nvSpPr>
        <p:spPr>
          <a:xfrm>
            <a:off x="548640" y="2194560"/>
            <a:ext cx="6766560" cy="1051560"/>
          </a:xfrm>
          <a:prstGeom prst="roundRect">
            <a:avLst>
              <a:gd name="adj" fmla="val 8696"/>
            </a:avLst>
          </a:prstGeom>
          <a:solidFill>
            <a:srgbClr val="0E2330"/>
          </a:solidFill>
          <a:ln/>
          <a:effectLst>
            <a:outerShdw sx="100000" sy="100000" kx="0" ky="0" algn="bl" rotWithShape="0" blurRad="114300" dist="50800" dir="5400000">
              <a:srgbClr val="0B2430">
                <a:alpha val="10000"/>
              </a:srgbClr>
            </a:outerShdw>
          </a:effectLst>
        </p:spPr>
      </p:sp>
      <p:sp>
        <p:nvSpPr>
          <p:cNvPr id="10" name="Text 7"/>
          <p:cNvSpPr/>
          <p:nvPr/>
        </p:nvSpPr>
        <p:spPr>
          <a:xfrm>
            <a:off x="777240" y="2194560"/>
            <a:ext cx="1645920" cy="1051560"/>
          </a:xfrm>
          <a:prstGeom prst="rect">
            <a:avLst/>
          </a:prstGeom>
          <a:noFill/>
          <a:ln/>
        </p:spPr>
        <p:txBody>
          <a:bodyPr wrap="square" lIns="0" tIns="0" rIns="0" bIns="0" rtlCol="0" anchor="ctr"/>
          <a:lstStyle/>
          <a:p>
            <a:pPr indent="0" marL="0">
              <a:buNone/>
            </a:pPr>
            <a:r>
              <a:rPr lang="en-US" sz="2200" b="1" dirty="0">
                <a:solidFill>
                  <a:srgbClr val="5EEAD4"/>
                </a:solidFill>
                <a:latin typeface="Cambria" pitchFamily="34" charset="0"/>
                <a:ea typeface="Cambria" pitchFamily="34" charset="-122"/>
                <a:cs typeface="Cambria" pitchFamily="34" charset="-120"/>
              </a:rPr>
              <a:t>AG-UI</a:t>
            </a:r>
            <a:endParaRPr lang="en-US" sz="2200" dirty="0"/>
          </a:p>
        </p:txBody>
      </p:sp>
      <p:sp>
        <p:nvSpPr>
          <p:cNvPr id="11" name="Text 8"/>
          <p:cNvSpPr/>
          <p:nvPr/>
        </p:nvSpPr>
        <p:spPr>
          <a:xfrm>
            <a:off x="2468880" y="2194560"/>
            <a:ext cx="4663440" cy="1051560"/>
          </a:xfrm>
          <a:prstGeom prst="rect">
            <a:avLst/>
          </a:prstGeom>
          <a:noFill/>
          <a:ln/>
        </p:spPr>
        <p:txBody>
          <a:bodyPr wrap="square" lIns="0" tIns="0" rIns="0" bIns="0" rtlCol="0" anchor="ctr"/>
          <a:lstStyle/>
          <a:p>
            <a:pPr indent="0" marL="0">
              <a:buNone/>
            </a:pPr>
            <a:r>
              <a:rPr lang="en-US" sz="1350" dirty="0">
                <a:solidFill>
                  <a:srgbClr val="D6E5EC"/>
                </a:solidFill>
                <a:latin typeface="Calibri" pitchFamily="34" charset="0"/>
                <a:ea typeface="Calibri" pitchFamily="34" charset="-122"/>
                <a:cs typeface="Calibri" pitchFamily="34" charset="-120"/>
              </a:rPr>
              <a:t>the pipe: transport + real-time state sync</a:t>
            </a:r>
            <a:endParaRPr lang="en-US" sz="1350" dirty="0"/>
          </a:p>
        </p:txBody>
      </p:sp>
      <p:sp>
        <p:nvSpPr>
          <p:cNvPr id="12" name="Shape 9"/>
          <p:cNvSpPr/>
          <p:nvPr/>
        </p:nvSpPr>
        <p:spPr>
          <a:xfrm>
            <a:off x="1280160" y="2395728"/>
            <a:ext cx="4754880" cy="640080"/>
          </a:xfrm>
          <a:prstGeom prst="roundRect">
            <a:avLst>
              <a:gd name="adj" fmla="val 11429"/>
            </a:avLst>
          </a:prstGeom>
          <a:solidFill>
            <a:srgbClr val="0E7C86"/>
          </a:solidFill>
          <a:ln/>
        </p:spPr>
      </p:sp>
      <p:sp>
        <p:nvSpPr>
          <p:cNvPr id="13" name="Text 10"/>
          <p:cNvSpPr/>
          <p:nvPr/>
        </p:nvSpPr>
        <p:spPr>
          <a:xfrm>
            <a:off x="1280160" y="2395728"/>
            <a:ext cx="4754880" cy="6400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A2UI  ·  the content: what to render</a:t>
            </a:r>
            <a:endParaRPr lang="en-US" sz="1250" dirty="0"/>
          </a:p>
        </p:txBody>
      </p:sp>
      <p:sp>
        <p:nvSpPr>
          <p:cNvPr id="14" name="Text 11"/>
          <p:cNvSpPr/>
          <p:nvPr/>
        </p:nvSpPr>
        <p:spPr>
          <a:xfrm>
            <a:off x="548640" y="3520440"/>
            <a:ext cx="6766560" cy="2103120"/>
          </a:xfrm>
          <a:prstGeom prst="rect">
            <a:avLst/>
          </a:prstGeom>
          <a:noFill/>
          <a:ln/>
        </p:spPr>
        <p:txBody>
          <a:bodyPr wrap="square" lIns="0" tIns="0" rIns="0" bIns="0" rtlCol="0" anchor="t"/>
          <a:lstStyle/>
          <a:p>
            <a:pPr marL="203200" indent="-203200">
              <a:spcAft>
                <a:spcPts val="1100"/>
              </a:spcAft>
              <a:buSzPct val="100000"/>
              <a:buChar char="•"/>
            </a:pPr>
            <a:r>
              <a:rPr lang="en-US" sz="1300" b="1" dirty="0">
                <a:solidFill>
                  <a:srgbClr val="12242E"/>
                </a:solidFill>
                <a:latin typeface="Calibri" pitchFamily="34" charset="0"/>
                <a:ea typeface="Calibri" pitchFamily="34" charset="-122"/>
                <a:cs typeface="Calibri" pitchFamily="34" charset="-120"/>
              </a:rPr>
              <a:t>A2UI rides on AG-UI, or on A2A for multi-agent</a:t>
            </a:r>
            <a:endParaRPr lang="en-US" sz="1300" dirty="0"/>
          </a:p>
          <a:p>
            <a:pPr marL="203200" indent="-203200">
              <a:spcAft>
                <a:spcPts val="1100"/>
              </a:spcAft>
              <a:buSzPct val="100000"/>
              <a:buChar char="•"/>
            </a:pPr>
            <a:r>
              <a:rPr lang="en-US" sz="1300" dirty="0">
                <a:solidFill>
                  <a:srgbClr val="12242E"/>
                </a:solidFill>
                <a:latin typeface="Calibri" pitchFamily="34" charset="0"/>
                <a:ea typeface="Calibri" pitchFamily="34" charset="-122"/>
                <a:cs typeface="Calibri" pitchFamily="34" charset="-120"/>
              </a:rPr>
              <a:t>AG-UI has day-zero A2UI compatibility</a:t>
            </a:r>
            <a:endParaRPr lang="en-US" sz="1300" dirty="0"/>
          </a:p>
          <a:p>
            <a:pPr marL="203200" indent="-203200">
              <a:spcAft>
                <a:spcPts val="1100"/>
              </a:spcAft>
              <a:buSzPct val="100000"/>
              <a:buChar char="•"/>
            </a:pPr>
            <a:r>
              <a:rPr lang="en-US" sz="1300" dirty="0">
                <a:solidFill>
                  <a:srgbClr val="12242E"/>
                </a:solidFill>
                <a:latin typeface="Calibri" pitchFamily="34" charset="0"/>
                <a:ea typeface="Calibri" pitchFamily="34" charset="-122"/>
                <a:cs typeface="Calibri" pitchFamily="34" charset="-120"/>
              </a:rPr>
              <a:t>In practice: MCP for tools, A2UI for the UI payload, AG-UI or A2A to stream it</a:t>
            </a:r>
            <a:endParaRPr lang="en-US" sz="1300" dirty="0"/>
          </a:p>
          <a:p>
            <a:pPr marL="203200" indent="-203200">
              <a:spcAft>
                <a:spcPts val="1100"/>
              </a:spcAft>
              <a:buSzPct val="100000"/>
              <a:buChar char="•"/>
            </a:pPr>
            <a:r>
              <a:rPr lang="en-US" sz="1300" dirty="0">
                <a:solidFill>
                  <a:srgbClr val="12242E"/>
                </a:solidFill>
                <a:latin typeface="Calibri" pitchFamily="34" charset="0"/>
                <a:ea typeface="Calibri" pitchFamily="34" charset="-122"/>
                <a:cs typeface="Calibri" pitchFamily="34" charset="-120"/>
              </a:rPr>
              <a:t>The only real “vs” is A2UI vs MCP Apps vs ChatKit, different approaches to the same goal</a:t>
            </a:r>
            <a:endParaRPr lang="en-US" sz="1300" dirty="0"/>
          </a:p>
        </p:txBody>
      </p:sp>
      <p:sp>
        <p:nvSpPr>
          <p:cNvPr id="15" name="Shape 12"/>
          <p:cNvSpPr/>
          <p:nvPr/>
        </p:nvSpPr>
        <p:spPr>
          <a:xfrm>
            <a:off x="7589520" y="2194560"/>
            <a:ext cx="4023360" cy="3429000"/>
          </a:xfrm>
          <a:prstGeom prst="roundRect">
            <a:avLst>
              <a:gd name="adj" fmla="val 3200"/>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6" name="Shape 13"/>
          <p:cNvSpPr/>
          <p:nvPr/>
        </p:nvSpPr>
        <p:spPr>
          <a:xfrm>
            <a:off x="7863840" y="2423160"/>
            <a:ext cx="566928" cy="566928"/>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7" name="Image 1" descr="preencoded.png">    </p:cNvPr>
          <p:cNvPicPr>
            <a:picLocks noChangeAspect="1"/>
          </p:cNvPicPr>
          <p:nvPr/>
        </p:nvPicPr>
        <p:blipFill>
          <a:blip r:embed="rId2"/>
          <a:stretch>
            <a:fillRect/>
          </a:stretch>
        </p:blipFill>
        <p:spPr>
          <a:xfrm>
            <a:off x="8011241" y="2570561"/>
            <a:ext cx="272125" cy="272125"/>
          </a:xfrm>
          <a:prstGeom prst="rect">
            <a:avLst/>
          </a:prstGeom>
        </p:spPr>
      </p:pic>
      <p:sp>
        <p:nvSpPr>
          <p:cNvPr id="18" name="Text 14"/>
          <p:cNvSpPr/>
          <p:nvPr/>
        </p:nvSpPr>
        <p:spPr>
          <a:xfrm>
            <a:off x="8595360" y="2423160"/>
            <a:ext cx="2834640" cy="566928"/>
          </a:xfrm>
          <a:prstGeom prst="rect">
            <a:avLst/>
          </a:prstGeom>
          <a:noFill/>
          <a:ln/>
        </p:spPr>
        <p:txBody>
          <a:bodyPr wrap="square" lIns="0" tIns="0" rIns="0" bIns="0" rtlCol="0" anchor="ctr"/>
          <a:lstStyle/>
          <a:p>
            <a:pPr indent="0" marL="0">
              <a:buNone/>
            </a:pPr>
            <a:r>
              <a:rPr lang="en-US" sz="1600" b="1" dirty="0">
                <a:solidFill>
                  <a:srgbClr val="0E2330"/>
                </a:solidFill>
                <a:latin typeface="Cambria" pitchFamily="34" charset="0"/>
                <a:ea typeface="Cambria" pitchFamily="34" charset="-122"/>
                <a:cs typeface="Cambria" pitchFamily="34" charset="-120"/>
              </a:rPr>
              <a:t>Think in layers</a:t>
            </a:r>
            <a:endParaRPr lang="en-US" sz="1600" dirty="0"/>
          </a:p>
        </p:txBody>
      </p:sp>
      <p:sp>
        <p:nvSpPr>
          <p:cNvPr id="19" name="Text 15"/>
          <p:cNvSpPr/>
          <p:nvPr/>
        </p:nvSpPr>
        <p:spPr>
          <a:xfrm>
            <a:off x="7863840" y="3200400"/>
            <a:ext cx="1371600" cy="292608"/>
          </a:xfrm>
          <a:prstGeom prst="rect">
            <a:avLst/>
          </a:prstGeom>
          <a:noFill/>
          <a:ln/>
        </p:spPr>
        <p:txBody>
          <a:bodyPr wrap="square" lIns="0" tIns="0" rIns="0" bIns="0" rtlCol="0" anchor="ctr"/>
          <a:lstStyle/>
          <a:p>
            <a:pPr indent="0" marL="0">
              <a:buNone/>
            </a:pPr>
            <a:r>
              <a:rPr lang="en-US" sz="1300" b="1" dirty="0">
                <a:solidFill>
                  <a:srgbClr val="0E7C86"/>
                </a:solidFill>
                <a:latin typeface="Consolas" pitchFamily="34" charset="0"/>
                <a:ea typeface="Consolas" pitchFamily="34" charset="-122"/>
                <a:cs typeface="Consolas" pitchFamily="34" charset="-120"/>
              </a:rPr>
              <a:t>MCP</a:t>
            </a:r>
            <a:endParaRPr lang="en-US" sz="1300" dirty="0"/>
          </a:p>
        </p:txBody>
      </p:sp>
      <p:sp>
        <p:nvSpPr>
          <p:cNvPr id="20" name="Text 16"/>
          <p:cNvSpPr/>
          <p:nvPr/>
        </p:nvSpPr>
        <p:spPr>
          <a:xfrm>
            <a:off x="9189720" y="3200400"/>
            <a:ext cx="2240280" cy="292608"/>
          </a:xfrm>
          <a:prstGeom prst="rect">
            <a:avLst/>
          </a:prstGeom>
          <a:noFill/>
          <a:ln/>
        </p:spPr>
        <p:txBody>
          <a:bodyPr wrap="square" lIns="0" tIns="0" rIns="0" bIns="0" rtlCol="0" anchor="ctr"/>
          <a:lstStyle/>
          <a:p>
            <a:pPr indent="0" marL="0">
              <a:buNone/>
            </a:pPr>
            <a:r>
              <a:rPr lang="en-US" sz="1200" dirty="0">
                <a:solidFill>
                  <a:srgbClr val="5B7383"/>
                </a:solidFill>
                <a:latin typeface="Calibri" pitchFamily="34" charset="0"/>
                <a:ea typeface="Calibri" pitchFamily="34" charset="-122"/>
                <a:cs typeface="Calibri" pitchFamily="34" charset="-120"/>
              </a:rPr>
              <a:t>tools &amp; data</a:t>
            </a:r>
            <a:endParaRPr lang="en-US" sz="1200" dirty="0"/>
          </a:p>
        </p:txBody>
      </p:sp>
      <p:sp>
        <p:nvSpPr>
          <p:cNvPr id="21" name="Text 17"/>
          <p:cNvSpPr/>
          <p:nvPr/>
        </p:nvSpPr>
        <p:spPr>
          <a:xfrm>
            <a:off x="7863840" y="3767328"/>
            <a:ext cx="1371600" cy="292608"/>
          </a:xfrm>
          <a:prstGeom prst="rect">
            <a:avLst/>
          </a:prstGeom>
          <a:noFill/>
          <a:ln/>
        </p:spPr>
        <p:txBody>
          <a:bodyPr wrap="square" lIns="0" tIns="0" rIns="0" bIns="0" rtlCol="0" anchor="ctr"/>
          <a:lstStyle/>
          <a:p>
            <a:pPr indent="0" marL="0">
              <a:buNone/>
            </a:pPr>
            <a:r>
              <a:rPr lang="en-US" sz="1300" b="1" dirty="0">
                <a:solidFill>
                  <a:srgbClr val="0E7C86"/>
                </a:solidFill>
                <a:latin typeface="Consolas" pitchFamily="34" charset="0"/>
                <a:ea typeface="Consolas" pitchFamily="34" charset="-122"/>
                <a:cs typeface="Consolas" pitchFamily="34" charset="-120"/>
              </a:rPr>
              <a:t>A2A</a:t>
            </a:r>
            <a:endParaRPr lang="en-US" sz="1300" dirty="0"/>
          </a:p>
        </p:txBody>
      </p:sp>
      <p:sp>
        <p:nvSpPr>
          <p:cNvPr id="22" name="Text 18"/>
          <p:cNvSpPr/>
          <p:nvPr/>
        </p:nvSpPr>
        <p:spPr>
          <a:xfrm>
            <a:off x="9189720" y="3767328"/>
            <a:ext cx="2240280" cy="292608"/>
          </a:xfrm>
          <a:prstGeom prst="rect">
            <a:avLst/>
          </a:prstGeom>
          <a:noFill/>
          <a:ln/>
        </p:spPr>
        <p:txBody>
          <a:bodyPr wrap="square" lIns="0" tIns="0" rIns="0" bIns="0" rtlCol="0" anchor="ctr"/>
          <a:lstStyle/>
          <a:p>
            <a:pPr indent="0" marL="0">
              <a:buNone/>
            </a:pPr>
            <a:r>
              <a:rPr lang="en-US" sz="1200" dirty="0">
                <a:solidFill>
                  <a:srgbClr val="5B7383"/>
                </a:solidFill>
                <a:latin typeface="Calibri" pitchFamily="34" charset="0"/>
                <a:ea typeface="Calibri" pitchFamily="34" charset="-122"/>
                <a:cs typeface="Calibri" pitchFamily="34" charset="-120"/>
              </a:rPr>
              <a:t>agent ↔ agent</a:t>
            </a:r>
            <a:endParaRPr lang="en-US" sz="1200" dirty="0"/>
          </a:p>
        </p:txBody>
      </p:sp>
      <p:sp>
        <p:nvSpPr>
          <p:cNvPr id="23" name="Text 19"/>
          <p:cNvSpPr/>
          <p:nvPr/>
        </p:nvSpPr>
        <p:spPr>
          <a:xfrm>
            <a:off x="7863840" y="4334256"/>
            <a:ext cx="1371600" cy="292608"/>
          </a:xfrm>
          <a:prstGeom prst="rect">
            <a:avLst/>
          </a:prstGeom>
          <a:noFill/>
          <a:ln/>
        </p:spPr>
        <p:txBody>
          <a:bodyPr wrap="square" lIns="0" tIns="0" rIns="0" bIns="0" rtlCol="0" anchor="ctr"/>
          <a:lstStyle/>
          <a:p>
            <a:pPr indent="0" marL="0">
              <a:buNone/>
            </a:pPr>
            <a:r>
              <a:rPr lang="en-US" sz="1300" b="1" dirty="0">
                <a:solidFill>
                  <a:srgbClr val="0E7C86"/>
                </a:solidFill>
                <a:latin typeface="Consolas" pitchFamily="34" charset="0"/>
                <a:ea typeface="Consolas" pitchFamily="34" charset="-122"/>
                <a:cs typeface="Consolas" pitchFamily="34" charset="-120"/>
              </a:rPr>
              <a:t>AG-UI</a:t>
            </a:r>
            <a:endParaRPr lang="en-US" sz="1300" dirty="0"/>
          </a:p>
        </p:txBody>
      </p:sp>
      <p:sp>
        <p:nvSpPr>
          <p:cNvPr id="24" name="Text 20"/>
          <p:cNvSpPr/>
          <p:nvPr/>
        </p:nvSpPr>
        <p:spPr>
          <a:xfrm>
            <a:off x="9189720" y="4334256"/>
            <a:ext cx="2240280" cy="292608"/>
          </a:xfrm>
          <a:prstGeom prst="rect">
            <a:avLst/>
          </a:prstGeom>
          <a:noFill/>
          <a:ln/>
        </p:spPr>
        <p:txBody>
          <a:bodyPr wrap="square" lIns="0" tIns="0" rIns="0" bIns="0" rtlCol="0" anchor="ctr"/>
          <a:lstStyle/>
          <a:p>
            <a:pPr indent="0" marL="0">
              <a:buNone/>
            </a:pPr>
            <a:r>
              <a:rPr lang="en-US" sz="1200" dirty="0">
                <a:solidFill>
                  <a:srgbClr val="5B7383"/>
                </a:solidFill>
                <a:latin typeface="Calibri" pitchFamily="34" charset="0"/>
                <a:ea typeface="Calibri" pitchFamily="34" charset="-122"/>
                <a:cs typeface="Calibri" pitchFamily="34" charset="-120"/>
              </a:rPr>
              <a:t>agent ↔ frontend</a:t>
            </a:r>
            <a:endParaRPr lang="en-US" sz="1200" dirty="0"/>
          </a:p>
        </p:txBody>
      </p:sp>
      <p:sp>
        <p:nvSpPr>
          <p:cNvPr id="25" name="Text 21"/>
          <p:cNvSpPr/>
          <p:nvPr/>
        </p:nvSpPr>
        <p:spPr>
          <a:xfrm>
            <a:off x="7863840" y="4901184"/>
            <a:ext cx="1371600" cy="292608"/>
          </a:xfrm>
          <a:prstGeom prst="rect">
            <a:avLst/>
          </a:prstGeom>
          <a:noFill/>
          <a:ln/>
        </p:spPr>
        <p:txBody>
          <a:bodyPr wrap="square" lIns="0" tIns="0" rIns="0" bIns="0" rtlCol="0" anchor="ctr"/>
          <a:lstStyle/>
          <a:p>
            <a:pPr indent="0" marL="0">
              <a:buNone/>
            </a:pPr>
            <a:r>
              <a:rPr lang="en-US" sz="1300" b="1" dirty="0">
                <a:solidFill>
                  <a:srgbClr val="0E7C86"/>
                </a:solidFill>
                <a:latin typeface="Consolas" pitchFamily="34" charset="0"/>
                <a:ea typeface="Consolas" pitchFamily="34" charset="-122"/>
                <a:cs typeface="Consolas" pitchFamily="34" charset="-120"/>
              </a:rPr>
              <a:t>A2UI</a:t>
            </a:r>
            <a:endParaRPr lang="en-US" sz="1300" dirty="0"/>
          </a:p>
        </p:txBody>
      </p:sp>
      <p:sp>
        <p:nvSpPr>
          <p:cNvPr id="26" name="Text 22"/>
          <p:cNvSpPr/>
          <p:nvPr/>
        </p:nvSpPr>
        <p:spPr>
          <a:xfrm>
            <a:off x="9189720" y="4901184"/>
            <a:ext cx="2240280" cy="292608"/>
          </a:xfrm>
          <a:prstGeom prst="rect">
            <a:avLst/>
          </a:prstGeom>
          <a:noFill/>
          <a:ln/>
        </p:spPr>
        <p:txBody>
          <a:bodyPr wrap="square" lIns="0" tIns="0" rIns="0" bIns="0" rtlCol="0" anchor="ctr"/>
          <a:lstStyle/>
          <a:p>
            <a:pPr indent="0" marL="0">
              <a:buNone/>
            </a:pPr>
            <a:r>
              <a:rPr lang="en-US" sz="1200" dirty="0">
                <a:solidFill>
                  <a:srgbClr val="5B7383"/>
                </a:solidFill>
                <a:latin typeface="Calibri" pitchFamily="34" charset="0"/>
                <a:ea typeface="Calibri" pitchFamily="34" charset="-122"/>
                <a:cs typeface="Calibri" pitchFamily="34" charset="-120"/>
              </a:rPr>
              <a:t>the UI itself</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THE REAL COMPARISON</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A2UI vs MCP Apps vs AG-UI vs ChatKit</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37</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92840" cy="914400"/>
        </p:xfrm>
        <a:graphic>
          <a:graphicData uri="http://schemas.openxmlformats.org/drawingml/2006/table">
            <a:tbl>
              <a:tblPr/>
              <a:tblGrid>
                <a:gridCol w="1965960"/>
                <a:gridCol w="2331720"/>
                <a:gridCol w="2331720"/>
                <a:gridCol w="2331720"/>
                <a:gridCol w="2331720"/>
              </a:tblGrid>
              <a:tr h="566928">
                <a:tc>
                  <a:txBody>
                    <a:bodyPr/>
                    <a:lstStyle/>
                    <a:p>
                      <a:pPr algn="l" indent="0" marL="0">
                        <a:buNone/>
                      </a:pPr>
                      <a:endParaRPr lang="en-US" sz="11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A2UI</a:t>
                      </a:r>
                      <a:endParaRPr lang="en-US" sz="11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MCP Apps</a:t>
                      </a:r>
                      <a:endParaRPr lang="en-US" sz="11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AG-UI</a:t>
                      </a:r>
                      <a:endParaRPr lang="en-US" sz="11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ChatKit</a:t>
                      </a:r>
                      <a:endParaRPr lang="en-US" sz="11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r>
              <a:tr h="566928">
                <a:tc>
                  <a:txBody>
                    <a:bodyPr/>
                    <a:lstStyle/>
                    <a:p>
                      <a:pPr algn="l" indent="0" marL="0">
                        <a:buNone/>
                      </a:pPr>
                      <a:r>
                        <a:rPr lang="en-US" sz="1050" b="1" dirty="0">
                          <a:solidFill>
                            <a:srgbClr val="12242E"/>
                          </a:solidFill>
                          <a:latin typeface="Calibri" pitchFamily="34" charset="0"/>
                          <a:ea typeface="Calibri" pitchFamily="34" charset="-122"/>
                          <a:cs typeface="Calibri" pitchFamily="34" charset="-120"/>
                        </a:rPr>
                        <a:t>Approach</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Declarative component blueprints</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Pre-built HTML via ui://</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Transport + state sync</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OpenAI-integrated UI</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566928">
                <a:tc>
                  <a:txBody>
                    <a:bodyPr/>
                    <a:lstStyle/>
                    <a:p>
                      <a:pPr algn="l" indent="0" marL="0">
                        <a:buNone/>
                      </a:pPr>
                      <a:r>
                        <a:rPr lang="en-US" sz="1050" b="1" dirty="0">
                          <a:solidFill>
                            <a:srgbClr val="12242E"/>
                          </a:solidFill>
                          <a:latin typeface="Calibri" pitchFamily="34" charset="0"/>
                          <a:ea typeface="Calibri" pitchFamily="34" charset="-122"/>
                          <a:cs typeface="Calibri" pitchFamily="34" charset="-120"/>
                        </a:rPr>
                        <a:t>Rendering</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Native widgets</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Sandboxed iframe</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Developer-defined</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OpenAI surfaces</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r h="566928">
                <a:tc>
                  <a:txBody>
                    <a:bodyPr/>
                    <a:lstStyle/>
                    <a:p>
                      <a:pPr algn="l" indent="0" marL="0">
                        <a:buNone/>
                      </a:pPr>
                      <a:r>
                        <a:rPr lang="en-US" sz="1050" b="1" dirty="0">
                          <a:solidFill>
                            <a:srgbClr val="12242E"/>
                          </a:solidFill>
                          <a:latin typeface="Calibri" pitchFamily="34" charset="0"/>
                          <a:ea typeface="Calibri" pitchFamily="34" charset="-122"/>
                          <a:cs typeface="Calibri" pitchFamily="34" charset="-120"/>
                        </a:rPr>
                        <a:t>Styling</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Host app controls</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Remote server controls</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Developer controls</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OpenAI ecosystem</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566928">
                <a:tc>
                  <a:txBody>
                    <a:bodyPr/>
                    <a:lstStyle/>
                    <a:p>
                      <a:pPr algn="l" indent="0" marL="0">
                        <a:buNone/>
                      </a:pPr>
                      <a:r>
                        <a:rPr lang="en-US" sz="1050" b="1" dirty="0">
                          <a:solidFill>
                            <a:srgbClr val="12242E"/>
                          </a:solidFill>
                          <a:latin typeface="Calibri" pitchFamily="34" charset="0"/>
                          <a:ea typeface="Calibri" pitchFamily="34" charset="-122"/>
                          <a:cs typeface="Calibri" pitchFamily="34" charset="-120"/>
                        </a:rPr>
                        <a:t>Security</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No code execution</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iframe isolation</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Trusted in-app code</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Platform-managed</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r h="566928">
                <a:tc>
                  <a:txBody>
                    <a:bodyPr/>
                    <a:lstStyle/>
                    <a:p>
                      <a:pPr algn="l" indent="0" marL="0">
                        <a:buNone/>
                      </a:pPr>
                      <a:r>
                        <a:rPr lang="en-US" sz="1050" b="1" dirty="0">
                          <a:solidFill>
                            <a:srgbClr val="12242E"/>
                          </a:solidFill>
                          <a:latin typeface="Calibri" pitchFamily="34" charset="0"/>
                          <a:ea typeface="Calibri" pitchFamily="34" charset="-122"/>
                          <a:cs typeface="Calibri" pitchFamily="34" charset="-120"/>
                        </a:rPr>
                        <a:t>Cross-platform</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Web, mobile, desktop</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Web (iframe)</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Framework-agnostic</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OpenAI clients</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566928">
                <a:tc>
                  <a:txBody>
                    <a:bodyPr/>
                    <a:lstStyle/>
                    <a:p>
                      <a:pPr algn="l" indent="0" marL="0">
                        <a:buNone/>
                      </a:pPr>
                      <a:r>
                        <a:rPr lang="en-US" sz="1050" b="1" dirty="0">
                          <a:solidFill>
                            <a:srgbClr val="12242E"/>
                          </a:solidFill>
                          <a:latin typeface="Calibri" pitchFamily="34" charset="0"/>
                          <a:ea typeface="Calibri" pitchFamily="34" charset="-122"/>
                          <a:cs typeface="Calibri" pitchFamily="34" charset="-120"/>
                        </a:rPr>
                        <a:t>LLM-generated UI</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Yes, streaming</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No, pre-built</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Via A2UI</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050" dirty="0">
                          <a:solidFill>
                            <a:srgbClr val="12242E"/>
                          </a:solidFill>
                          <a:latin typeface="Calibri" pitchFamily="34" charset="0"/>
                          <a:ea typeface="Calibri" pitchFamily="34" charset="-122"/>
                          <a:cs typeface="Calibri" pitchFamily="34" charset="-120"/>
                        </a:rPr>
                        <a:t>Declarative</a:t>
                      </a:r>
                      <a:endParaRPr lang="en-US" sz="10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bl>
          </a:graphicData>
        </a:graphic>
      </p:graphicFrame>
      <p:sp>
        <p:nvSpPr>
          <p:cNvPr id="9" name="Text 5"/>
          <p:cNvSpPr/>
          <p:nvPr/>
        </p:nvSpPr>
        <p:spPr>
          <a:xfrm>
            <a:off x="457200" y="5715000"/>
            <a:ext cx="11292840" cy="365760"/>
          </a:xfrm>
          <a:prstGeom prst="rect">
            <a:avLst/>
          </a:prstGeom>
          <a:noFill/>
          <a:ln/>
        </p:spPr>
        <p:txBody>
          <a:bodyPr wrap="square" lIns="0" tIns="0" rIns="0" bIns="0" rtlCol="0" anchor="ctr"/>
          <a:lstStyle/>
          <a:p>
            <a:pPr algn="ctr" indent="0" marL="0">
              <a:buNone/>
            </a:pPr>
            <a:r>
              <a:rPr lang="en-US" sz="1200" i="1" dirty="0">
                <a:solidFill>
                  <a:srgbClr val="5B7383"/>
                </a:solidFill>
                <a:latin typeface="Calibri" pitchFamily="34" charset="0"/>
                <a:ea typeface="Calibri" pitchFamily="34" charset="-122"/>
                <a:cs typeface="Calibri" pitchFamily="34" charset="-120"/>
              </a:rPr>
              <a:t>The axes that decide it: who controls styling, do you need code-free safety, and do you need cross-platform.</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DECISION · GREEN LIGHT</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When to reach for A2UI</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38</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dirty="0">
                <a:solidFill>
                  <a:srgbClr val="5B7383"/>
                </a:solidFill>
                <a:latin typeface="Calibri" pitchFamily="34" charset="0"/>
                <a:ea typeface="Calibri" pitchFamily="34" charset="-122"/>
                <a:cs typeface="Calibri" pitchFamily="34" charset="-120"/>
              </a:rPr>
              <a:t>If two or more of these are true, A2UI earns its keep.</a:t>
            </a:r>
            <a:endParaRPr lang="en-US" sz="1400" dirty="0"/>
          </a:p>
        </p:txBody>
      </p:sp>
      <p:sp>
        <p:nvSpPr>
          <p:cNvPr id="9" name="Shape 6"/>
          <p:cNvSpPr/>
          <p:nvPr/>
        </p:nvSpPr>
        <p:spPr>
          <a:xfrm>
            <a:off x="548640" y="2057400"/>
            <a:ext cx="11064240" cy="566928"/>
          </a:xfrm>
          <a:prstGeom prst="roundRect">
            <a:avLst>
              <a:gd name="adj" fmla="val 12903"/>
            </a:avLst>
          </a:prstGeom>
          <a:solidFill>
            <a:srgbClr val="E9F4EF"/>
          </a:solidFill>
          <a:ln w="9525">
            <a:solidFill>
              <a:srgbClr val="BFE0D2"/>
            </a:solidFill>
            <a:prstDash val="solid"/>
          </a:ln>
        </p:spPr>
      </p:sp>
      <p:sp>
        <p:nvSpPr>
          <p:cNvPr id="10" name="Shape 7"/>
          <p:cNvSpPr/>
          <p:nvPr/>
        </p:nvSpPr>
        <p:spPr>
          <a:xfrm>
            <a:off x="694944" y="2130552"/>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1" name="Image 1" descr="preencoded.png">    </p:cNvPr>
          <p:cNvPicPr>
            <a:picLocks noChangeAspect="1"/>
          </p:cNvPicPr>
          <p:nvPr/>
        </p:nvPicPr>
        <p:blipFill>
          <a:blip r:embed="rId2"/>
          <a:stretch>
            <a:fillRect/>
          </a:stretch>
        </p:blipFill>
        <p:spPr>
          <a:xfrm>
            <a:off x="804306" y="2239914"/>
            <a:ext cx="201900" cy="201900"/>
          </a:xfrm>
          <a:prstGeom prst="rect">
            <a:avLst/>
          </a:prstGeom>
        </p:spPr>
      </p:pic>
      <p:sp>
        <p:nvSpPr>
          <p:cNvPr id="12" name="Text 8"/>
          <p:cNvSpPr/>
          <p:nvPr/>
        </p:nvSpPr>
        <p:spPr>
          <a:xfrm>
            <a:off x="1298448" y="2057400"/>
            <a:ext cx="9509760" cy="566928"/>
          </a:xfrm>
          <a:prstGeom prst="rect">
            <a:avLst/>
          </a:prstGeom>
          <a:noFill/>
          <a:ln/>
        </p:spPr>
        <p:txBody>
          <a:bodyPr wrap="square" lIns="0" tIns="0" rIns="0" bIns="0" rtlCol="0" anchor="ctr"/>
          <a:lstStyle/>
          <a:p>
            <a:pPr indent="0" marL="0">
              <a:buNone/>
            </a:pPr>
            <a:r>
              <a:rPr lang="en-US" sz="1350" b="1" dirty="0">
                <a:solidFill>
                  <a:srgbClr val="12242E"/>
                </a:solidFill>
                <a:latin typeface="Calibri" pitchFamily="34" charset="0"/>
                <a:ea typeface="Calibri" pitchFamily="34" charset="-122"/>
                <a:cs typeface="Calibri" pitchFamily="34" charset="-120"/>
              </a:rPr>
              <a:t>The agent decides the UI at runtime, you cannot pre-build every screen</a:t>
            </a:r>
            <a:endParaRPr lang="en-US" sz="1350" dirty="0"/>
          </a:p>
        </p:txBody>
      </p:sp>
      <p:sp>
        <p:nvSpPr>
          <p:cNvPr id="13" name="Text 9"/>
          <p:cNvSpPr/>
          <p:nvPr/>
        </p:nvSpPr>
        <p:spPr>
          <a:xfrm>
            <a:off x="10058400" y="2057400"/>
            <a:ext cx="1463040" cy="566928"/>
          </a:xfrm>
          <a:prstGeom prst="rect">
            <a:avLst/>
          </a:prstGeom>
          <a:noFill/>
          <a:ln/>
        </p:spPr>
        <p:txBody>
          <a:bodyPr wrap="square" lIns="0" tIns="0" rIns="0" bIns="0" rtlCol="0" anchor="ctr"/>
          <a:lstStyle/>
          <a:p>
            <a:pPr algn="r" indent="0" marL="0">
              <a:buNone/>
            </a:pPr>
            <a:r>
              <a:rPr lang="en-US" sz="1000" i="1" dirty="0">
                <a:solidFill>
                  <a:srgbClr val="1C9C72"/>
                </a:solidFill>
                <a:latin typeface="Calibri" pitchFamily="34" charset="0"/>
                <a:ea typeface="Calibri" pitchFamily="34" charset="-122"/>
                <a:cs typeface="Calibri" pitchFamily="34" charset="-120"/>
              </a:rPr>
              <a:t>strongest reason</a:t>
            </a:r>
            <a:endParaRPr lang="en-US" sz="1000" dirty="0"/>
          </a:p>
        </p:txBody>
      </p:sp>
      <p:sp>
        <p:nvSpPr>
          <p:cNvPr id="14" name="Shape 10"/>
          <p:cNvSpPr/>
          <p:nvPr/>
        </p:nvSpPr>
        <p:spPr>
          <a:xfrm>
            <a:off x="548640" y="2715768"/>
            <a:ext cx="11064240" cy="566928"/>
          </a:xfrm>
          <a:prstGeom prst="roundRect">
            <a:avLst>
              <a:gd name="adj" fmla="val 12903"/>
            </a:avLst>
          </a:prstGeom>
          <a:solidFill>
            <a:srgbClr val="E9F4EF"/>
          </a:solidFill>
          <a:ln w="9525">
            <a:solidFill>
              <a:srgbClr val="BFE0D2"/>
            </a:solidFill>
            <a:prstDash val="solid"/>
          </a:ln>
        </p:spPr>
      </p:sp>
      <p:sp>
        <p:nvSpPr>
          <p:cNvPr id="15" name="Shape 11"/>
          <p:cNvSpPr/>
          <p:nvPr/>
        </p:nvSpPr>
        <p:spPr>
          <a:xfrm>
            <a:off x="694944" y="2788920"/>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6" name="Image 2" descr="preencoded.png">    </p:cNvPr>
          <p:cNvPicPr>
            <a:picLocks noChangeAspect="1"/>
          </p:cNvPicPr>
          <p:nvPr/>
        </p:nvPicPr>
        <p:blipFill>
          <a:blip r:embed="rId3"/>
          <a:stretch>
            <a:fillRect/>
          </a:stretch>
        </p:blipFill>
        <p:spPr>
          <a:xfrm>
            <a:off x="804306" y="2898282"/>
            <a:ext cx="201900" cy="201900"/>
          </a:xfrm>
          <a:prstGeom prst="rect">
            <a:avLst/>
          </a:prstGeom>
        </p:spPr>
      </p:pic>
      <p:sp>
        <p:nvSpPr>
          <p:cNvPr id="17" name="Text 12"/>
          <p:cNvSpPr/>
          <p:nvPr/>
        </p:nvSpPr>
        <p:spPr>
          <a:xfrm>
            <a:off x="1298448" y="2715768"/>
            <a:ext cx="9509760" cy="566928"/>
          </a:xfrm>
          <a:prstGeom prst="rect">
            <a:avLst/>
          </a:prstGeom>
          <a:noFill/>
          <a:ln/>
        </p:spPr>
        <p:txBody>
          <a:bodyPr wrap="square" lIns="0" tIns="0" rIns="0" bIns="0" rtlCol="0" anchor="ctr"/>
          <a:lstStyle/>
          <a:p>
            <a:pPr indent="0" marL="0">
              <a:buNone/>
            </a:pPr>
            <a:r>
              <a:rPr lang="en-US" sz="1350" b="1" dirty="0">
                <a:solidFill>
                  <a:srgbClr val="12242E"/>
                </a:solidFill>
                <a:latin typeface="Calibri" pitchFamily="34" charset="0"/>
                <a:ea typeface="Calibri" pitchFamily="34" charset="-122"/>
                <a:cs typeface="Calibri" pitchFamily="34" charset="-120"/>
              </a:rPr>
              <a:t>One agent response must render on web, mobile, and desktop</a:t>
            </a:r>
            <a:endParaRPr lang="en-US" sz="1350" dirty="0"/>
          </a:p>
        </p:txBody>
      </p:sp>
      <p:sp>
        <p:nvSpPr>
          <p:cNvPr id="18" name="Text 13"/>
          <p:cNvSpPr/>
          <p:nvPr/>
        </p:nvSpPr>
        <p:spPr>
          <a:xfrm>
            <a:off x="10058400" y="2715768"/>
            <a:ext cx="1463040" cy="566928"/>
          </a:xfrm>
          <a:prstGeom prst="rect">
            <a:avLst/>
          </a:prstGeom>
          <a:noFill/>
          <a:ln/>
        </p:spPr>
        <p:txBody>
          <a:bodyPr wrap="square" lIns="0" tIns="0" rIns="0" bIns="0" rtlCol="0" anchor="ctr"/>
          <a:lstStyle/>
          <a:p>
            <a:pPr algn="r" indent="0" marL="0">
              <a:buNone/>
            </a:pPr>
            <a:r>
              <a:rPr lang="en-US" sz="1000" i="1" dirty="0">
                <a:solidFill>
                  <a:srgbClr val="1C9C72"/>
                </a:solidFill>
                <a:latin typeface="Calibri" pitchFamily="34" charset="0"/>
                <a:ea typeface="Calibri" pitchFamily="34" charset="-122"/>
                <a:cs typeface="Calibri" pitchFamily="34" charset="-120"/>
              </a:rPr>
              <a:t>strongest reason</a:t>
            </a:r>
            <a:endParaRPr lang="en-US" sz="1000" dirty="0"/>
          </a:p>
        </p:txBody>
      </p:sp>
      <p:sp>
        <p:nvSpPr>
          <p:cNvPr id="19" name="Shape 14"/>
          <p:cNvSpPr/>
          <p:nvPr/>
        </p:nvSpPr>
        <p:spPr>
          <a:xfrm>
            <a:off x="548640" y="3374136"/>
            <a:ext cx="11064240" cy="566928"/>
          </a:xfrm>
          <a:prstGeom prst="roundRect">
            <a:avLst>
              <a:gd name="adj" fmla="val 12903"/>
            </a:avLst>
          </a:prstGeom>
          <a:solidFill>
            <a:srgbClr val="F1F6F8"/>
          </a:solidFill>
          <a:ln w="9525">
            <a:solidFill>
              <a:srgbClr val="CBD9E0"/>
            </a:solidFill>
            <a:prstDash val="solid"/>
          </a:ln>
        </p:spPr>
      </p:sp>
      <p:sp>
        <p:nvSpPr>
          <p:cNvPr id="20" name="Shape 15"/>
          <p:cNvSpPr/>
          <p:nvPr/>
        </p:nvSpPr>
        <p:spPr>
          <a:xfrm>
            <a:off x="694944" y="3447288"/>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1" name="Image 3" descr="preencoded.png">    </p:cNvPr>
          <p:cNvPicPr>
            <a:picLocks noChangeAspect="1"/>
          </p:cNvPicPr>
          <p:nvPr/>
        </p:nvPicPr>
        <p:blipFill>
          <a:blip r:embed="rId4"/>
          <a:stretch>
            <a:fillRect/>
          </a:stretch>
        </p:blipFill>
        <p:spPr>
          <a:xfrm>
            <a:off x="804306" y="3556650"/>
            <a:ext cx="201900" cy="201900"/>
          </a:xfrm>
          <a:prstGeom prst="rect">
            <a:avLst/>
          </a:prstGeom>
        </p:spPr>
      </p:pic>
      <p:sp>
        <p:nvSpPr>
          <p:cNvPr id="22" name="Text 16"/>
          <p:cNvSpPr/>
          <p:nvPr/>
        </p:nvSpPr>
        <p:spPr>
          <a:xfrm>
            <a:off x="1298448" y="3374136"/>
            <a:ext cx="9509760" cy="566928"/>
          </a:xfrm>
          <a:prstGeom prst="rect">
            <a:avLst/>
          </a:prstGeom>
          <a:noFill/>
          <a:ln/>
        </p:spPr>
        <p:txBody>
          <a:bodyPr wrap="square" lIns="0" tIns="0" rIns="0" bIns="0" rtlCol="0" anchor="ctr"/>
          <a:lstStyle/>
          <a:p>
            <a:pPr indent="0" marL="0">
              <a:buNone/>
            </a:pPr>
            <a:r>
              <a:rPr lang="en-US" sz="1350" dirty="0">
                <a:solidFill>
                  <a:srgbClr val="12242E"/>
                </a:solidFill>
                <a:latin typeface="Calibri" pitchFamily="34" charset="0"/>
                <a:ea typeface="Calibri" pitchFamily="34" charset="-122"/>
                <a:cs typeface="Calibri" pitchFamily="34" charset="-120"/>
              </a:rPr>
              <a:t>The agent output is untrusted or remote, so no code execution is allowed</a:t>
            </a:r>
            <a:endParaRPr lang="en-US" sz="1350" dirty="0"/>
          </a:p>
        </p:txBody>
      </p:sp>
      <p:sp>
        <p:nvSpPr>
          <p:cNvPr id="23" name="Shape 17"/>
          <p:cNvSpPr/>
          <p:nvPr/>
        </p:nvSpPr>
        <p:spPr>
          <a:xfrm>
            <a:off x="548640" y="4032504"/>
            <a:ext cx="11064240" cy="566928"/>
          </a:xfrm>
          <a:prstGeom prst="roundRect">
            <a:avLst>
              <a:gd name="adj" fmla="val 12903"/>
            </a:avLst>
          </a:prstGeom>
          <a:solidFill>
            <a:srgbClr val="F1F6F8"/>
          </a:solidFill>
          <a:ln w="9525">
            <a:solidFill>
              <a:srgbClr val="CBD9E0"/>
            </a:solidFill>
            <a:prstDash val="solid"/>
          </a:ln>
        </p:spPr>
      </p:sp>
      <p:sp>
        <p:nvSpPr>
          <p:cNvPr id="24" name="Shape 18"/>
          <p:cNvSpPr/>
          <p:nvPr/>
        </p:nvSpPr>
        <p:spPr>
          <a:xfrm>
            <a:off x="694944" y="4105656"/>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5" name="Image 4" descr="preencoded.png">    </p:cNvPr>
          <p:cNvPicPr>
            <a:picLocks noChangeAspect="1"/>
          </p:cNvPicPr>
          <p:nvPr/>
        </p:nvPicPr>
        <p:blipFill>
          <a:blip r:embed="rId5"/>
          <a:stretch>
            <a:fillRect/>
          </a:stretch>
        </p:blipFill>
        <p:spPr>
          <a:xfrm>
            <a:off x="804306" y="4215018"/>
            <a:ext cx="201900" cy="201900"/>
          </a:xfrm>
          <a:prstGeom prst="rect">
            <a:avLst/>
          </a:prstGeom>
        </p:spPr>
      </p:pic>
      <p:sp>
        <p:nvSpPr>
          <p:cNvPr id="26" name="Text 19"/>
          <p:cNvSpPr/>
          <p:nvPr/>
        </p:nvSpPr>
        <p:spPr>
          <a:xfrm>
            <a:off x="1298448" y="4032504"/>
            <a:ext cx="9509760" cy="566928"/>
          </a:xfrm>
          <a:prstGeom prst="rect">
            <a:avLst/>
          </a:prstGeom>
          <a:noFill/>
          <a:ln/>
        </p:spPr>
        <p:txBody>
          <a:bodyPr wrap="square" lIns="0" tIns="0" rIns="0" bIns="0" rtlCol="0" anchor="ctr"/>
          <a:lstStyle/>
          <a:p>
            <a:pPr indent="0" marL="0">
              <a:buNone/>
            </a:pPr>
            <a:r>
              <a:rPr lang="en-US" sz="1350" dirty="0">
                <a:solidFill>
                  <a:srgbClr val="12242E"/>
                </a:solidFill>
                <a:latin typeface="Calibri" pitchFamily="34" charset="0"/>
                <a:ea typeface="Calibri" pitchFamily="34" charset="-122"/>
                <a:cs typeface="Calibri" pitchFamily="34" charset="-120"/>
              </a:rPr>
              <a:t>Multi-agent: different agents render UI across trust boundaries</a:t>
            </a:r>
            <a:endParaRPr lang="en-US" sz="1350" dirty="0"/>
          </a:p>
        </p:txBody>
      </p:sp>
      <p:sp>
        <p:nvSpPr>
          <p:cNvPr id="27" name="Shape 20"/>
          <p:cNvSpPr/>
          <p:nvPr/>
        </p:nvSpPr>
        <p:spPr>
          <a:xfrm>
            <a:off x="548640" y="4690872"/>
            <a:ext cx="11064240" cy="566928"/>
          </a:xfrm>
          <a:prstGeom prst="roundRect">
            <a:avLst>
              <a:gd name="adj" fmla="val 12903"/>
            </a:avLst>
          </a:prstGeom>
          <a:solidFill>
            <a:srgbClr val="F1F6F8"/>
          </a:solidFill>
          <a:ln w="9525">
            <a:solidFill>
              <a:srgbClr val="CBD9E0"/>
            </a:solidFill>
            <a:prstDash val="solid"/>
          </a:ln>
        </p:spPr>
      </p:sp>
      <p:sp>
        <p:nvSpPr>
          <p:cNvPr id="28" name="Shape 21"/>
          <p:cNvSpPr/>
          <p:nvPr/>
        </p:nvSpPr>
        <p:spPr>
          <a:xfrm>
            <a:off x="694944" y="4764024"/>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9" name="Image 5" descr="preencoded.png">    </p:cNvPr>
          <p:cNvPicPr>
            <a:picLocks noChangeAspect="1"/>
          </p:cNvPicPr>
          <p:nvPr/>
        </p:nvPicPr>
        <p:blipFill>
          <a:blip r:embed="rId6"/>
          <a:stretch>
            <a:fillRect/>
          </a:stretch>
        </p:blipFill>
        <p:spPr>
          <a:xfrm>
            <a:off x="804306" y="4873386"/>
            <a:ext cx="201900" cy="201900"/>
          </a:xfrm>
          <a:prstGeom prst="rect">
            <a:avLst/>
          </a:prstGeom>
        </p:spPr>
      </p:pic>
      <p:sp>
        <p:nvSpPr>
          <p:cNvPr id="30" name="Text 22"/>
          <p:cNvSpPr/>
          <p:nvPr/>
        </p:nvSpPr>
        <p:spPr>
          <a:xfrm>
            <a:off x="1298448" y="4690872"/>
            <a:ext cx="9509760" cy="566928"/>
          </a:xfrm>
          <a:prstGeom prst="rect">
            <a:avLst/>
          </a:prstGeom>
          <a:noFill/>
          <a:ln/>
        </p:spPr>
        <p:txBody>
          <a:bodyPr wrap="square" lIns="0" tIns="0" rIns="0" bIns="0" rtlCol="0" anchor="ctr"/>
          <a:lstStyle/>
          <a:p>
            <a:pPr indent="0" marL="0">
              <a:buNone/>
            </a:pPr>
            <a:r>
              <a:rPr lang="en-US" sz="1350" dirty="0">
                <a:solidFill>
                  <a:srgbClr val="12242E"/>
                </a:solidFill>
                <a:latin typeface="Calibri" pitchFamily="34" charset="0"/>
                <a:ea typeface="Calibri" pitchFamily="34" charset="-122"/>
                <a:cs typeface="Calibri" pitchFamily="34" charset="-120"/>
              </a:rPr>
              <a:t>You want native look and feel matching your design system</a:t>
            </a:r>
            <a:endParaRPr lang="en-US" sz="1350" dirty="0"/>
          </a:p>
        </p:txBody>
      </p:sp>
      <p:sp>
        <p:nvSpPr>
          <p:cNvPr id="31" name="Shape 23"/>
          <p:cNvSpPr/>
          <p:nvPr/>
        </p:nvSpPr>
        <p:spPr>
          <a:xfrm>
            <a:off x="548640" y="5349240"/>
            <a:ext cx="11064240" cy="566928"/>
          </a:xfrm>
          <a:prstGeom prst="roundRect">
            <a:avLst>
              <a:gd name="adj" fmla="val 12903"/>
            </a:avLst>
          </a:prstGeom>
          <a:solidFill>
            <a:srgbClr val="F1F6F8"/>
          </a:solidFill>
          <a:ln w="9525">
            <a:solidFill>
              <a:srgbClr val="CBD9E0"/>
            </a:solidFill>
            <a:prstDash val="solid"/>
          </a:ln>
        </p:spPr>
      </p:sp>
      <p:sp>
        <p:nvSpPr>
          <p:cNvPr id="32" name="Shape 24"/>
          <p:cNvSpPr/>
          <p:nvPr/>
        </p:nvSpPr>
        <p:spPr>
          <a:xfrm>
            <a:off x="694944" y="5422392"/>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33" name="Image 6" descr="preencoded.png">    </p:cNvPr>
          <p:cNvPicPr>
            <a:picLocks noChangeAspect="1"/>
          </p:cNvPicPr>
          <p:nvPr/>
        </p:nvPicPr>
        <p:blipFill>
          <a:blip r:embed="rId7"/>
          <a:stretch>
            <a:fillRect/>
          </a:stretch>
        </p:blipFill>
        <p:spPr>
          <a:xfrm>
            <a:off x="804306" y="5531754"/>
            <a:ext cx="201900" cy="201900"/>
          </a:xfrm>
          <a:prstGeom prst="rect">
            <a:avLst/>
          </a:prstGeom>
        </p:spPr>
      </p:pic>
      <p:sp>
        <p:nvSpPr>
          <p:cNvPr id="34" name="Text 25"/>
          <p:cNvSpPr/>
          <p:nvPr/>
        </p:nvSpPr>
        <p:spPr>
          <a:xfrm>
            <a:off x="1298448" y="5349240"/>
            <a:ext cx="9509760" cy="566928"/>
          </a:xfrm>
          <a:prstGeom prst="rect">
            <a:avLst/>
          </a:prstGeom>
          <a:noFill/>
          <a:ln/>
        </p:spPr>
        <p:txBody>
          <a:bodyPr wrap="square" lIns="0" tIns="0" rIns="0" bIns="0" rtlCol="0" anchor="ctr"/>
          <a:lstStyle/>
          <a:p>
            <a:pPr indent="0" marL="0">
              <a:buNone/>
            </a:pPr>
            <a:r>
              <a:rPr lang="en-US" sz="1350" dirty="0">
                <a:solidFill>
                  <a:srgbClr val="12242E"/>
                </a:solidFill>
                <a:latin typeface="Calibri" pitchFamily="34" charset="0"/>
                <a:ea typeface="Calibri" pitchFamily="34" charset="-122"/>
                <a:cs typeface="Calibri" pitchFamily="34" charset="-120"/>
              </a:rPr>
              <a:t>Human-in-the-loop approvals where the agent proposes structured actions</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DECISION · STOP AND THINK</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When not to use A2UI</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39</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Text 5"/>
          <p:cNvSpPr/>
          <p:nvPr/>
        </p:nvSpPr>
        <p:spPr>
          <a:xfrm>
            <a:off x="548640" y="1554480"/>
            <a:ext cx="11064240" cy="457200"/>
          </a:xfrm>
          <a:prstGeom prst="rect">
            <a:avLst/>
          </a:prstGeom>
          <a:noFill/>
          <a:ln/>
        </p:spPr>
        <p:txBody>
          <a:bodyPr wrap="square" lIns="0" tIns="0" rIns="0" bIns="0" rtlCol="0" anchor="ctr"/>
          <a:lstStyle/>
          <a:p>
            <a:pPr indent="0" marL="0">
              <a:buNone/>
            </a:pPr>
            <a:r>
              <a:rPr lang="en-US" sz="1400" dirty="0">
                <a:solidFill>
                  <a:srgbClr val="5B7383"/>
                </a:solidFill>
                <a:latin typeface="Calibri" pitchFamily="34" charset="0"/>
                <a:ea typeface="Calibri" pitchFamily="34" charset="-122"/>
                <a:cs typeface="Calibri" pitchFamily="34" charset="-120"/>
              </a:rPr>
              <a:t>Be honest: most internal tools do not need A2UI. The overhead is a JSON layer + a renderer + a catalog to govern.</a:t>
            </a:r>
            <a:endParaRPr lang="en-US" sz="1400" dirty="0"/>
          </a:p>
        </p:txBody>
      </p:sp>
      <p:sp>
        <p:nvSpPr>
          <p:cNvPr id="9" name="Shape 6"/>
          <p:cNvSpPr/>
          <p:nvPr/>
        </p:nvSpPr>
        <p:spPr>
          <a:xfrm>
            <a:off x="548640" y="2057400"/>
            <a:ext cx="11064240" cy="566928"/>
          </a:xfrm>
          <a:prstGeom prst="roundRect">
            <a:avLst>
              <a:gd name="adj" fmla="val 12903"/>
            </a:avLst>
          </a:prstGeom>
          <a:solidFill>
            <a:srgbClr val="FCF3E4"/>
          </a:solidFill>
          <a:ln w="9525">
            <a:solidFill>
              <a:srgbClr val="F0D9A8"/>
            </a:solidFill>
            <a:prstDash val="solid"/>
          </a:ln>
        </p:spPr>
      </p:sp>
      <p:sp>
        <p:nvSpPr>
          <p:cNvPr id="10" name="Shape 7"/>
          <p:cNvSpPr/>
          <p:nvPr/>
        </p:nvSpPr>
        <p:spPr>
          <a:xfrm>
            <a:off x="694944" y="2130552"/>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1" name="Image 1" descr="preencoded.png">    </p:cNvPr>
          <p:cNvPicPr>
            <a:picLocks noChangeAspect="1"/>
          </p:cNvPicPr>
          <p:nvPr/>
        </p:nvPicPr>
        <p:blipFill>
          <a:blip r:embed="rId2"/>
          <a:stretch>
            <a:fillRect/>
          </a:stretch>
        </p:blipFill>
        <p:spPr>
          <a:xfrm>
            <a:off x="804306" y="2239914"/>
            <a:ext cx="201900" cy="201900"/>
          </a:xfrm>
          <a:prstGeom prst="rect">
            <a:avLst/>
          </a:prstGeom>
        </p:spPr>
      </p:pic>
      <p:sp>
        <p:nvSpPr>
          <p:cNvPr id="12" name="Text 8"/>
          <p:cNvSpPr/>
          <p:nvPr/>
        </p:nvSpPr>
        <p:spPr>
          <a:xfrm>
            <a:off x="1298448" y="2057400"/>
            <a:ext cx="5486400" cy="566928"/>
          </a:xfrm>
          <a:prstGeom prst="rect">
            <a:avLst/>
          </a:prstGeom>
          <a:noFill/>
          <a:ln/>
        </p:spPr>
        <p:txBody>
          <a:bodyPr wrap="square" lIns="0" tIns="0" rIns="0" bIns="0" rtlCol="0" anchor="ctr"/>
          <a:lstStyle/>
          <a:p>
            <a:pPr indent="0" marL="0">
              <a:buNone/>
            </a:pPr>
            <a:r>
              <a:rPr lang="en-US" sz="1350" b="1" dirty="0">
                <a:solidFill>
                  <a:srgbClr val="0E2330"/>
                </a:solidFill>
                <a:latin typeface="Calibri" pitchFamily="34" charset="0"/>
                <a:ea typeface="Calibri" pitchFamily="34" charset="-122"/>
                <a:cs typeface="Calibri" pitchFamily="34" charset="-120"/>
              </a:rPr>
              <a:t>The answer is prose, a summary, or Q&amp;A</a:t>
            </a:r>
            <a:endParaRPr lang="en-US" sz="1350" dirty="0"/>
          </a:p>
        </p:txBody>
      </p:sp>
      <p:sp>
        <p:nvSpPr>
          <p:cNvPr id="13" name="Text 9"/>
          <p:cNvSpPr/>
          <p:nvPr/>
        </p:nvSpPr>
        <p:spPr>
          <a:xfrm>
            <a:off x="6858000" y="2057400"/>
            <a:ext cx="4663440" cy="566928"/>
          </a:xfrm>
          <a:prstGeom prst="rect">
            <a:avLst/>
          </a:prstGeom>
          <a:noFill/>
          <a:ln/>
        </p:spPr>
        <p:txBody>
          <a:bodyPr wrap="square" lIns="0" tIns="0" rIns="0" bIns="0" rtlCol="0" anchor="ctr"/>
          <a:lstStyle/>
          <a:p>
            <a:pPr indent="0" marL="0">
              <a:buNone/>
            </a:pPr>
            <a:r>
              <a:rPr lang="en-US" sz="1250" b="1" dirty="0">
                <a:solidFill>
                  <a:srgbClr val="E8951C"/>
                </a:solidFill>
                <a:latin typeface="Calibri" pitchFamily="34" charset="0"/>
                <a:ea typeface="Calibri" pitchFamily="34" charset="-122"/>
                <a:cs typeface="Calibri" pitchFamily="34" charset="-120"/>
              </a:rPr>
              <a:t>→  </a:t>
            </a:r>
            <a:pPr indent="0" marL="0">
              <a:buNone/>
            </a:pPr>
            <a:r>
              <a:rPr lang="en-US" sz="1250" dirty="0">
                <a:solidFill>
                  <a:srgbClr val="12242E"/>
                </a:solidFill>
                <a:latin typeface="Calibri" pitchFamily="34" charset="0"/>
                <a:ea typeface="Calibri" pitchFamily="34" charset="-122"/>
                <a:cs typeface="Calibri" pitchFamily="34" charset="-120"/>
              </a:rPr>
              <a:t>markdown is enough</a:t>
            </a:r>
            <a:endParaRPr lang="en-US" sz="1250" dirty="0"/>
          </a:p>
        </p:txBody>
      </p:sp>
      <p:sp>
        <p:nvSpPr>
          <p:cNvPr id="14" name="Shape 10"/>
          <p:cNvSpPr/>
          <p:nvPr/>
        </p:nvSpPr>
        <p:spPr>
          <a:xfrm>
            <a:off x="548640" y="2715768"/>
            <a:ext cx="11064240" cy="566928"/>
          </a:xfrm>
          <a:prstGeom prst="roundRect">
            <a:avLst>
              <a:gd name="adj" fmla="val 12903"/>
            </a:avLst>
          </a:prstGeom>
          <a:solidFill>
            <a:srgbClr val="FCF3E4"/>
          </a:solidFill>
          <a:ln w="9525">
            <a:solidFill>
              <a:srgbClr val="F0D9A8"/>
            </a:solidFill>
            <a:prstDash val="solid"/>
          </a:ln>
        </p:spPr>
      </p:sp>
      <p:sp>
        <p:nvSpPr>
          <p:cNvPr id="15" name="Shape 11"/>
          <p:cNvSpPr/>
          <p:nvPr/>
        </p:nvSpPr>
        <p:spPr>
          <a:xfrm>
            <a:off x="694944" y="2788920"/>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6" name="Image 2" descr="preencoded.png">    </p:cNvPr>
          <p:cNvPicPr>
            <a:picLocks noChangeAspect="1"/>
          </p:cNvPicPr>
          <p:nvPr/>
        </p:nvPicPr>
        <p:blipFill>
          <a:blip r:embed="rId3"/>
          <a:stretch>
            <a:fillRect/>
          </a:stretch>
        </p:blipFill>
        <p:spPr>
          <a:xfrm>
            <a:off x="804306" y="2898282"/>
            <a:ext cx="201900" cy="201900"/>
          </a:xfrm>
          <a:prstGeom prst="rect">
            <a:avLst/>
          </a:prstGeom>
        </p:spPr>
      </p:pic>
      <p:sp>
        <p:nvSpPr>
          <p:cNvPr id="17" name="Text 12"/>
          <p:cNvSpPr/>
          <p:nvPr/>
        </p:nvSpPr>
        <p:spPr>
          <a:xfrm>
            <a:off x="1298448" y="2715768"/>
            <a:ext cx="5486400" cy="566928"/>
          </a:xfrm>
          <a:prstGeom prst="rect">
            <a:avLst/>
          </a:prstGeom>
          <a:noFill/>
          <a:ln/>
        </p:spPr>
        <p:txBody>
          <a:bodyPr wrap="square" lIns="0" tIns="0" rIns="0" bIns="0" rtlCol="0" anchor="ctr"/>
          <a:lstStyle/>
          <a:p>
            <a:pPr indent="0" marL="0">
              <a:buNone/>
            </a:pPr>
            <a:r>
              <a:rPr lang="en-US" sz="1350" b="1" dirty="0">
                <a:solidFill>
                  <a:srgbClr val="0E2330"/>
                </a:solidFill>
                <a:latin typeface="Calibri" pitchFamily="34" charset="0"/>
                <a:ea typeface="Calibri" pitchFamily="34" charset="-122"/>
                <a:cs typeface="Calibri" pitchFamily="34" charset="-120"/>
              </a:rPr>
              <a:t>The UI is fixed and you own both ends</a:t>
            </a:r>
            <a:endParaRPr lang="en-US" sz="1350" dirty="0"/>
          </a:p>
        </p:txBody>
      </p:sp>
      <p:sp>
        <p:nvSpPr>
          <p:cNvPr id="18" name="Text 13"/>
          <p:cNvSpPr/>
          <p:nvPr/>
        </p:nvSpPr>
        <p:spPr>
          <a:xfrm>
            <a:off x="6858000" y="2715768"/>
            <a:ext cx="4663440" cy="566928"/>
          </a:xfrm>
          <a:prstGeom prst="rect">
            <a:avLst/>
          </a:prstGeom>
          <a:noFill/>
          <a:ln/>
        </p:spPr>
        <p:txBody>
          <a:bodyPr wrap="square" lIns="0" tIns="0" rIns="0" bIns="0" rtlCol="0" anchor="ctr"/>
          <a:lstStyle/>
          <a:p>
            <a:pPr indent="0" marL="0">
              <a:buNone/>
            </a:pPr>
            <a:r>
              <a:rPr lang="en-US" sz="1250" b="1" dirty="0">
                <a:solidFill>
                  <a:srgbClr val="E8951C"/>
                </a:solidFill>
                <a:latin typeface="Calibri" pitchFamily="34" charset="0"/>
                <a:ea typeface="Calibri" pitchFamily="34" charset="-122"/>
                <a:cs typeface="Calibri" pitchFamily="34" charset="-120"/>
              </a:rPr>
              <a:t>→  </a:t>
            </a:r>
            <a:pPr indent="0" marL="0">
              <a:buNone/>
            </a:pPr>
            <a:r>
              <a:rPr lang="en-US" sz="1250" dirty="0">
                <a:solidFill>
                  <a:srgbClr val="12242E"/>
                </a:solidFill>
                <a:latin typeface="Calibri" pitchFamily="34" charset="0"/>
                <a:ea typeface="Calibri" pitchFamily="34" charset="-122"/>
                <a:cs typeface="Calibri" pitchFamily="34" charset="-120"/>
              </a:rPr>
              <a:t>build it directly</a:t>
            </a:r>
            <a:endParaRPr lang="en-US" sz="1250" dirty="0"/>
          </a:p>
        </p:txBody>
      </p:sp>
      <p:sp>
        <p:nvSpPr>
          <p:cNvPr id="19" name="Shape 14"/>
          <p:cNvSpPr/>
          <p:nvPr/>
        </p:nvSpPr>
        <p:spPr>
          <a:xfrm>
            <a:off x="548640" y="3374136"/>
            <a:ext cx="11064240" cy="566928"/>
          </a:xfrm>
          <a:prstGeom prst="roundRect">
            <a:avLst>
              <a:gd name="adj" fmla="val 12903"/>
            </a:avLst>
          </a:prstGeom>
          <a:solidFill>
            <a:srgbClr val="FCF3E4"/>
          </a:solidFill>
          <a:ln w="9525">
            <a:solidFill>
              <a:srgbClr val="F0D9A8"/>
            </a:solidFill>
            <a:prstDash val="solid"/>
          </a:ln>
        </p:spPr>
      </p:sp>
      <p:sp>
        <p:nvSpPr>
          <p:cNvPr id="20" name="Shape 15"/>
          <p:cNvSpPr/>
          <p:nvPr/>
        </p:nvSpPr>
        <p:spPr>
          <a:xfrm>
            <a:off x="694944" y="3447288"/>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1" name="Image 3" descr="preencoded.png">    </p:cNvPr>
          <p:cNvPicPr>
            <a:picLocks noChangeAspect="1"/>
          </p:cNvPicPr>
          <p:nvPr/>
        </p:nvPicPr>
        <p:blipFill>
          <a:blip r:embed="rId4"/>
          <a:stretch>
            <a:fillRect/>
          </a:stretch>
        </p:blipFill>
        <p:spPr>
          <a:xfrm>
            <a:off x="804306" y="3556650"/>
            <a:ext cx="201900" cy="201900"/>
          </a:xfrm>
          <a:prstGeom prst="rect">
            <a:avLst/>
          </a:prstGeom>
        </p:spPr>
      </p:pic>
      <p:sp>
        <p:nvSpPr>
          <p:cNvPr id="22" name="Text 16"/>
          <p:cNvSpPr/>
          <p:nvPr/>
        </p:nvSpPr>
        <p:spPr>
          <a:xfrm>
            <a:off x="1298448" y="3374136"/>
            <a:ext cx="5486400" cy="566928"/>
          </a:xfrm>
          <a:prstGeom prst="rect">
            <a:avLst/>
          </a:prstGeom>
          <a:noFill/>
          <a:ln/>
        </p:spPr>
        <p:txBody>
          <a:bodyPr wrap="square" lIns="0" tIns="0" rIns="0" bIns="0" rtlCol="0" anchor="ctr"/>
          <a:lstStyle/>
          <a:p>
            <a:pPr indent="0" marL="0">
              <a:buNone/>
            </a:pPr>
            <a:r>
              <a:rPr lang="en-US" sz="1350" b="1" dirty="0">
                <a:solidFill>
                  <a:srgbClr val="0E2330"/>
                </a:solidFill>
                <a:latin typeface="Calibri" pitchFamily="34" charset="0"/>
                <a:ea typeface="Calibri" pitchFamily="34" charset="-122"/>
                <a:cs typeface="Calibri" pitchFamily="34" charset="-120"/>
              </a:rPr>
              <a:t>Ultra-low-latency single widget</a:t>
            </a:r>
            <a:endParaRPr lang="en-US" sz="1350" dirty="0"/>
          </a:p>
        </p:txBody>
      </p:sp>
      <p:sp>
        <p:nvSpPr>
          <p:cNvPr id="23" name="Text 17"/>
          <p:cNvSpPr/>
          <p:nvPr/>
        </p:nvSpPr>
        <p:spPr>
          <a:xfrm>
            <a:off x="6858000" y="3374136"/>
            <a:ext cx="4663440" cy="566928"/>
          </a:xfrm>
          <a:prstGeom prst="rect">
            <a:avLst/>
          </a:prstGeom>
          <a:noFill/>
          <a:ln/>
        </p:spPr>
        <p:txBody>
          <a:bodyPr wrap="square" lIns="0" tIns="0" rIns="0" bIns="0" rtlCol="0" anchor="ctr"/>
          <a:lstStyle/>
          <a:p>
            <a:pPr indent="0" marL="0">
              <a:buNone/>
            </a:pPr>
            <a:r>
              <a:rPr lang="en-US" sz="1250" b="1" dirty="0">
                <a:solidFill>
                  <a:srgbClr val="E8951C"/>
                </a:solidFill>
                <a:latin typeface="Calibri" pitchFamily="34" charset="0"/>
                <a:ea typeface="Calibri" pitchFamily="34" charset="-122"/>
                <a:cs typeface="Calibri" pitchFamily="34" charset="-120"/>
              </a:rPr>
              <a:t>→  </a:t>
            </a:r>
            <a:pPr indent="0" marL="0">
              <a:buNone/>
            </a:pPr>
            <a:r>
              <a:rPr lang="en-US" sz="1250" dirty="0">
                <a:solidFill>
                  <a:srgbClr val="12242E"/>
                </a:solidFill>
                <a:latin typeface="Calibri" pitchFamily="34" charset="0"/>
                <a:ea typeface="Calibri" pitchFamily="34" charset="-122"/>
                <a:cs typeface="Calibri" pitchFamily="34" charset="-120"/>
              </a:rPr>
              <a:t>pre-built beats generate-then-render</a:t>
            </a:r>
            <a:endParaRPr lang="en-US" sz="1250" dirty="0"/>
          </a:p>
        </p:txBody>
      </p:sp>
      <p:sp>
        <p:nvSpPr>
          <p:cNvPr id="24" name="Shape 18"/>
          <p:cNvSpPr/>
          <p:nvPr/>
        </p:nvSpPr>
        <p:spPr>
          <a:xfrm>
            <a:off x="548640" y="4032504"/>
            <a:ext cx="11064240" cy="566928"/>
          </a:xfrm>
          <a:prstGeom prst="roundRect">
            <a:avLst>
              <a:gd name="adj" fmla="val 12903"/>
            </a:avLst>
          </a:prstGeom>
          <a:solidFill>
            <a:srgbClr val="FCF3E4"/>
          </a:solidFill>
          <a:ln w="9525">
            <a:solidFill>
              <a:srgbClr val="F0D9A8"/>
            </a:solidFill>
            <a:prstDash val="solid"/>
          </a:ln>
        </p:spPr>
      </p:sp>
      <p:sp>
        <p:nvSpPr>
          <p:cNvPr id="25" name="Shape 19"/>
          <p:cNvSpPr/>
          <p:nvPr/>
        </p:nvSpPr>
        <p:spPr>
          <a:xfrm>
            <a:off x="694944" y="4105656"/>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6" name="Image 4" descr="preencoded.png">    </p:cNvPr>
          <p:cNvPicPr>
            <a:picLocks noChangeAspect="1"/>
          </p:cNvPicPr>
          <p:nvPr/>
        </p:nvPicPr>
        <p:blipFill>
          <a:blip r:embed="rId5"/>
          <a:stretch>
            <a:fillRect/>
          </a:stretch>
        </p:blipFill>
        <p:spPr>
          <a:xfrm>
            <a:off x="804306" y="4215018"/>
            <a:ext cx="201900" cy="201900"/>
          </a:xfrm>
          <a:prstGeom prst="rect">
            <a:avLst/>
          </a:prstGeom>
        </p:spPr>
      </p:pic>
      <p:sp>
        <p:nvSpPr>
          <p:cNvPr id="27" name="Text 20"/>
          <p:cNvSpPr/>
          <p:nvPr/>
        </p:nvSpPr>
        <p:spPr>
          <a:xfrm>
            <a:off x="1298448" y="4032504"/>
            <a:ext cx="5486400" cy="566928"/>
          </a:xfrm>
          <a:prstGeom prst="rect">
            <a:avLst/>
          </a:prstGeom>
          <a:noFill/>
          <a:ln/>
        </p:spPr>
        <p:txBody>
          <a:bodyPr wrap="square" lIns="0" tIns="0" rIns="0" bIns="0" rtlCol="0" anchor="ctr"/>
          <a:lstStyle/>
          <a:p>
            <a:pPr indent="0" marL="0">
              <a:buNone/>
            </a:pPr>
            <a:r>
              <a:rPr lang="en-US" sz="1350" b="1" dirty="0">
                <a:solidFill>
                  <a:srgbClr val="0E2330"/>
                </a:solidFill>
                <a:latin typeface="Calibri" pitchFamily="34" charset="0"/>
                <a:ea typeface="Calibri" pitchFamily="34" charset="-122"/>
                <a:cs typeface="Calibri" pitchFamily="34" charset="-120"/>
              </a:rPr>
              <a:t>Tiny, stable component set</a:t>
            </a:r>
            <a:endParaRPr lang="en-US" sz="1350" dirty="0"/>
          </a:p>
        </p:txBody>
      </p:sp>
      <p:sp>
        <p:nvSpPr>
          <p:cNvPr id="28" name="Text 21"/>
          <p:cNvSpPr/>
          <p:nvPr/>
        </p:nvSpPr>
        <p:spPr>
          <a:xfrm>
            <a:off x="6858000" y="4032504"/>
            <a:ext cx="4663440" cy="566928"/>
          </a:xfrm>
          <a:prstGeom prst="rect">
            <a:avLst/>
          </a:prstGeom>
          <a:noFill/>
          <a:ln/>
        </p:spPr>
        <p:txBody>
          <a:bodyPr wrap="square" lIns="0" tIns="0" rIns="0" bIns="0" rtlCol="0" anchor="ctr"/>
          <a:lstStyle/>
          <a:p>
            <a:pPr indent="0" marL="0">
              <a:buNone/>
            </a:pPr>
            <a:r>
              <a:rPr lang="en-US" sz="1250" b="1" dirty="0">
                <a:solidFill>
                  <a:srgbClr val="E8951C"/>
                </a:solidFill>
                <a:latin typeface="Calibri" pitchFamily="34" charset="0"/>
                <a:ea typeface="Calibri" pitchFamily="34" charset="-122"/>
                <a:cs typeface="Calibri" pitchFamily="34" charset="-120"/>
              </a:rPr>
              <a:t>→  </a:t>
            </a:r>
            <a:pPr indent="0" marL="0">
              <a:buNone/>
            </a:pPr>
            <a:r>
              <a:rPr lang="en-US" sz="1250" dirty="0">
                <a:solidFill>
                  <a:srgbClr val="12242E"/>
                </a:solidFill>
                <a:latin typeface="Calibri" pitchFamily="34" charset="0"/>
                <a:ea typeface="Calibri" pitchFamily="34" charset="-122"/>
                <a:cs typeface="Calibri" pitchFamily="34" charset="-120"/>
              </a:rPr>
              <a:t>a catalog + negotiation is overkill</a:t>
            </a:r>
            <a:endParaRPr lang="en-US" sz="1250" dirty="0"/>
          </a:p>
        </p:txBody>
      </p:sp>
      <p:sp>
        <p:nvSpPr>
          <p:cNvPr id="29" name="Shape 22"/>
          <p:cNvSpPr/>
          <p:nvPr/>
        </p:nvSpPr>
        <p:spPr>
          <a:xfrm>
            <a:off x="548640" y="4690872"/>
            <a:ext cx="11064240" cy="566928"/>
          </a:xfrm>
          <a:prstGeom prst="roundRect">
            <a:avLst>
              <a:gd name="adj" fmla="val 12903"/>
            </a:avLst>
          </a:prstGeom>
          <a:solidFill>
            <a:srgbClr val="FCF3E4"/>
          </a:solidFill>
          <a:ln w="9525">
            <a:solidFill>
              <a:srgbClr val="F0D9A8"/>
            </a:solidFill>
            <a:prstDash val="solid"/>
          </a:ln>
        </p:spPr>
      </p:sp>
      <p:sp>
        <p:nvSpPr>
          <p:cNvPr id="30" name="Shape 23"/>
          <p:cNvSpPr/>
          <p:nvPr/>
        </p:nvSpPr>
        <p:spPr>
          <a:xfrm>
            <a:off x="694944" y="4764024"/>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31" name="Image 5" descr="preencoded.png">    </p:cNvPr>
          <p:cNvPicPr>
            <a:picLocks noChangeAspect="1"/>
          </p:cNvPicPr>
          <p:nvPr/>
        </p:nvPicPr>
        <p:blipFill>
          <a:blip r:embed="rId6"/>
          <a:stretch>
            <a:fillRect/>
          </a:stretch>
        </p:blipFill>
        <p:spPr>
          <a:xfrm>
            <a:off x="804306" y="4873386"/>
            <a:ext cx="201900" cy="201900"/>
          </a:xfrm>
          <a:prstGeom prst="rect">
            <a:avLst/>
          </a:prstGeom>
        </p:spPr>
      </p:pic>
      <p:sp>
        <p:nvSpPr>
          <p:cNvPr id="32" name="Text 24"/>
          <p:cNvSpPr/>
          <p:nvPr/>
        </p:nvSpPr>
        <p:spPr>
          <a:xfrm>
            <a:off x="1298448" y="4690872"/>
            <a:ext cx="5486400" cy="566928"/>
          </a:xfrm>
          <a:prstGeom prst="rect">
            <a:avLst/>
          </a:prstGeom>
          <a:noFill/>
          <a:ln/>
        </p:spPr>
        <p:txBody>
          <a:bodyPr wrap="square" lIns="0" tIns="0" rIns="0" bIns="0" rtlCol="0" anchor="ctr"/>
          <a:lstStyle/>
          <a:p>
            <a:pPr indent="0" marL="0">
              <a:buNone/>
            </a:pPr>
            <a:r>
              <a:rPr lang="en-US" sz="1350" b="1" dirty="0">
                <a:solidFill>
                  <a:srgbClr val="0E2330"/>
                </a:solidFill>
                <a:latin typeface="Calibri" pitchFamily="34" charset="0"/>
                <a:ea typeface="Calibri" pitchFamily="34" charset="-122"/>
                <a:cs typeface="Calibri" pitchFamily="34" charset="-120"/>
              </a:rPr>
              <a:t>Heavy client-side logic</a:t>
            </a:r>
            <a:endParaRPr lang="en-US" sz="1350" dirty="0"/>
          </a:p>
        </p:txBody>
      </p:sp>
      <p:sp>
        <p:nvSpPr>
          <p:cNvPr id="33" name="Text 25"/>
          <p:cNvSpPr/>
          <p:nvPr/>
        </p:nvSpPr>
        <p:spPr>
          <a:xfrm>
            <a:off x="6858000" y="4690872"/>
            <a:ext cx="4663440" cy="566928"/>
          </a:xfrm>
          <a:prstGeom prst="rect">
            <a:avLst/>
          </a:prstGeom>
          <a:noFill/>
          <a:ln/>
        </p:spPr>
        <p:txBody>
          <a:bodyPr wrap="square" lIns="0" tIns="0" rIns="0" bIns="0" rtlCol="0" anchor="ctr"/>
          <a:lstStyle/>
          <a:p>
            <a:pPr indent="0" marL="0">
              <a:buNone/>
            </a:pPr>
            <a:r>
              <a:rPr lang="en-US" sz="1250" b="1" dirty="0">
                <a:solidFill>
                  <a:srgbClr val="E8951C"/>
                </a:solidFill>
                <a:latin typeface="Calibri" pitchFamily="34" charset="0"/>
                <a:ea typeface="Calibri" pitchFamily="34" charset="-122"/>
                <a:cs typeface="Calibri" pitchFamily="34" charset="-120"/>
              </a:rPr>
              <a:t>→  </a:t>
            </a:r>
            <a:pPr indent="0" marL="0">
              <a:buNone/>
            </a:pPr>
            <a:r>
              <a:rPr lang="en-US" sz="1250" dirty="0">
                <a:solidFill>
                  <a:srgbClr val="12242E"/>
                </a:solidFill>
                <a:latin typeface="Calibri" pitchFamily="34" charset="0"/>
                <a:ea typeface="Calibri" pitchFamily="34" charset="-122"/>
                <a:cs typeface="Calibri" pitchFamily="34" charset="-120"/>
              </a:rPr>
              <a:t>A2UI is 1:1 binding, no transformers</a:t>
            </a:r>
            <a:endParaRPr lang="en-US" sz="1250" dirty="0"/>
          </a:p>
        </p:txBody>
      </p:sp>
      <p:sp>
        <p:nvSpPr>
          <p:cNvPr id="34" name="Shape 26"/>
          <p:cNvSpPr/>
          <p:nvPr/>
        </p:nvSpPr>
        <p:spPr>
          <a:xfrm>
            <a:off x="548640" y="5349240"/>
            <a:ext cx="11064240" cy="566928"/>
          </a:xfrm>
          <a:prstGeom prst="roundRect">
            <a:avLst>
              <a:gd name="adj" fmla="val 12903"/>
            </a:avLst>
          </a:prstGeom>
          <a:solidFill>
            <a:srgbClr val="FCF3E4"/>
          </a:solidFill>
          <a:ln w="9525">
            <a:solidFill>
              <a:srgbClr val="F0D9A8"/>
            </a:solidFill>
            <a:prstDash val="solid"/>
          </a:ln>
        </p:spPr>
      </p:sp>
      <p:sp>
        <p:nvSpPr>
          <p:cNvPr id="35" name="Shape 27"/>
          <p:cNvSpPr/>
          <p:nvPr/>
        </p:nvSpPr>
        <p:spPr>
          <a:xfrm>
            <a:off x="694944" y="5422392"/>
            <a:ext cx="420624" cy="420624"/>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36" name="Image 6" descr="preencoded.png">    </p:cNvPr>
          <p:cNvPicPr>
            <a:picLocks noChangeAspect="1"/>
          </p:cNvPicPr>
          <p:nvPr/>
        </p:nvPicPr>
        <p:blipFill>
          <a:blip r:embed="rId7"/>
          <a:stretch>
            <a:fillRect/>
          </a:stretch>
        </p:blipFill>
        <p:spPr>
          <a:xfrm>
            <a:off x="804306" y="5531754"/>
            <a:ext cx="201900" cy="201900"/>
          </a:xfrm>
          <a:prstGeom prst="rect">
            <a:avLst/>
          </a:prstGeom>
        </p:spPr>
      </p:pic>
      <p:sp>
        <p:nvSpPr>
          <p:cNvPr id="37" name="Text 28"/>
          <p:cNvSpPr/>
          <p:nvPr/>
        </p:nvSpPr>
        <p:spPr>
          <a:xfrm>
            <a:off x="1298448" y="5349240"/>
            <a:ext cx="5486400" cy="566928"/>
          </a:xfrm>
          <a:prstGeom prst="rect">
            <a:avLst/>
          </a:prstGeom>
          <a:noFill/>
          <a:ln/>
        </p:spPr>
        <p:txBody>
          <a:bodyPr wrap="square" lIns="0" tIns="0" rIns="0" bIns="0" rtlCol="0" anchor="ctr"/>
          <a:lstStyle/>
          <a:p>
            <a:pPr indent="0" marL="0">
              <a:buNone/>
            </a:pPr>
            <a:r>
              <a:rPr lang="en-US" sz="1350" b="1" dirty="0">
                <a:solidFill>
                  <a:srgbClr val="0E2330"/>
                </a:solidFill>
                <a:latin typeface="Calibri" pitchFamily="34" charset="0"/>
                <a:ea typeface="Calibri" pitchFamily="34" charset="-122"/>
                <a:cs typeface="Calibri" pitchFamily="34" charset="-120"/>
              </a:rPr>
              <a:t>You need a battle-tested stack today</a:t>
            </a:r>
            <a:endParaRPr lang="en-US" sz="1350" dirty="0"/>
          </a:p>
        </p:txBody>
      </p:sp>
      <p:sp>
        <p:nvSpPr>
          <p:cNvPr id="38" name="Text 29"/>
          <p:cNvSpPr/>
          <p:nvPr/>
        </p:nvSpPr>
        <p:spPr>
          <a:xfrm>
            <a:off x="6858000" y="5349240"/>
            <a:ext cx="4663440" cy="566928"/>
          </a:xfrm>
          <a:prstGeom prst="rect">
            <a:avLst/>
          </a:prstGeom>
          <a:noFill/>
          <a:ln/>
        </p:spPr>
        <p:txBody>
          <a:bodyPr wrap="square" lIns="0" tIns="0" rIns="0" bIns="0" rtlCol="0" anchor="ctr"/>
          <a:lstStyle/>
          <a:p>
            <a:pPr indent="0" marL="0">
              <a:buNone/>
            </a:pPr>
            <a:r>
              <a:rPr lang="en-US" sz="1250" b="1" dirty="0">
                <a:solidFill>
                  <a:srgbClr val="E8951C"/>
                </a:solidFill>
                <a:latin typeface="Calibri" pitchFamily="34" charset="0"/>
                <a:ea typeface="Calibri" pitchFamily="34" charset="-122"/>
                <a:cs typeface="Calibri" pitchFamily="34" charset="-120"/>
              </a:rPr>
              <a:t>→  </a:t>
            </a:r>
            <a:pPr indent="0" marL="0">
              <a:buNone/>
            </a:pPr>
            <a:r>
              <a:rPr lang="en-US" sz="1250" dirty="0">
                <a:solidFill>
                  <a:srgbClr val="12242E"/>
                </a:solidFill>
                <a:latin typeface="Calibri" pitchFamily="34" charset="0"/>
                <a:ea typeface="Calibri" pitchFamily="34" charset="-122"/>
                <a:cs typeface="Calibri" pitchFamily="34" charset="-120"/>
              </a:rPr>
              <a:t>the ecosystem is young (v0.8 / v0.9 moving)</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DECISION · YOU HAVE OTHER TOOLS</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When something you already learned wins</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40</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6766560"/>
                <a:gridCol w="4297680"/>
              </a:tblGrid>
              <a:tr h="71323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Situation</a:t>
                      </a:r>
                      <a:endParaRPr lang="en-US" sz="14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Better choice</a:t>
                      </a:r>
                      <a:endParaRPr lang="en-US" sz="14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0E7C86"/>
                    </a:solidFill>
                  </a:tcPr>
                </a:tc>
              </a:tr>
              <a:tr h="713232">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Internal dashboard, demo, one owner</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Plain Streamlit / Gradio</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713232">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The server should own the whole UI, web-only</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MCP Apps</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r h="713232">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Deep bespoke UX + real-time state, hand-built components</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Custom React + AG-UI</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713232">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Explanations, summaries, chat answers</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Plain text / markdown</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r h="713232">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OpenAI-only product surface</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2242E"/>
                          </a:solidFill>
                          <a:latin typeface="Calibri" pitchFamily="34" charset="0"/>
                          <a:ea typeface="Calibri" pitchFamily="34" charset="-122"/>
                          <a:cs typeface="Calibri" pitchFamily="34" charset="-120"/>
                        </a:rPr>
                        <a:t>ChatKit</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bl>
          </a:graphicData>
        </a:graphic>
      </p:graphicFrame>
      <p:sp>
        <p:nvSpPr>
          <p:cNvPr id="9" name="Text 5"/>
          <p:cNvSpPr/>
          <p:nvPr/>
        </p:nvSpPr>
        <p:spPr>
          <a:xfrm>
            <a:off x="548640" y="5669280"/>
            <a:ext cx="11064240" cy="365760"/>
          </a:xfrm>
          <a:prstGeom prst="rect">
            <a:avLst/>
          </a:prstGeom>
          <a:noFill/>
          <a:ln/>
        </p:spPr>
        <p:txBody>
          <a:bodyPr wrap="square" lIns="0" tIns="0" rIns="0" bIns="0" rtlCol="0" anchor="ctr"/>
          <a:lstStyle/>
          <a:p>
            <a:pPr algn="ctr" indent="0" marL="0">
              <a:buNone/>
            </a:pPr>
            <a:r>
              <a:rPr lang="en-US" sz="1200" i="1" dirty="0">
                <a:solidFill>
                  <a:srgbClr val="5B7383"/>
                </a:solidFill>
                <a:latin typeface="Calibri" pitchFamily="34" charset="0"/>
                <a:ea typeface="Calibri" pitchFamily="34" charset="-122"/>
                <a:cs typeface="Calibri" pitchFamily="34" charset="-120"/>
              </a:rPr>
              <a:t>Streamlit you used all bootcamp, still the fastest path for admin and internal. A2UI is one option, not the default.</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ASK THESE IN DESIGN REVIEWS</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Skeptic’s corner</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41</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828800"/>
            <a:ext cx="5486400" cy="1234440"/>
          </a:xfrm>
          <a:prstGeom prst="roundRect">
            <a:avLst>
              <a:gd name="adj" fmla="val 8889"/>
            </a:avLst>
          </a:prstGeom>
          <a:solidFill>
            <a:srgbClr val="0E2330"/>
          </a:solidFill>
          <a:ln/>
          <a:effectLst>
            <a:outerShdw sx="100000" sy="100000" kx="0" ky="0" algn="bl" rotWithShape="0" blurRad="114300" dist="50800" dir="5400000">
              <a:srgbClr val="0B2430">
                <a:alpha val="10000"/>
              </a:srgbClr>
            </a:outerShdw>
          </a:effectLst>
        </p:spPr>
      </p:sp>
      <p:sp>
        <p:nvSpPr>
          <p:cNvPr id="9" name="Text 6"/>
          <p:cNvSpPr/>
          <p:nvPr/>
        </p:nvSpPr>
        <p:spPr>
          <a:xfrm>
            <a:off x="731520" y="1993392"/>
            <a:ext cx="548640" cy="548640"/>
          </a:xfrm>
          <a:prstGeom prst="rect">
            <a:avLst/>
          </a:prstGeom>
          <a:noFill/>
          <a:ln/>
        </p:spPr>
        <p:txBody>
          <a:bodyPr wrap="square" lIns="0" tIns="0" rIns="0" bIns="0" rtlCol="0" anchor="ctr"/>
          <a:lstStyle/>
          <a:p>
            <a:pPr algn="ctr" indent="0" marL="0">
              <a:buNone/>
            </a:pPr>
            <a:r>
              <a:rPr lang="en-US" sz="2800" b="1" dirty="0">
                <a:solidFill>
                  <a:srgbClr val="E8951C"/>
                </a:solidFill>
                <a:latin typeface="Cambria" pitchFamily="34" charset="0"/>
                <a:ea typeface="Cambria" pitchFamily="34" charset="-122"/>
                <a:cs typeface="Cambria" pitchFamily="34" charset="-120"/>
              </a:rPr>
              <a:t>?</a:t>
            </a:r>
            <a:endParaRPr lang="en-US" sz="2800" dirty="0"/>
          </a:p>
        </p:txBody>
      </p:sp>
      <p:sp>
        <p:nvSpPr>
          <p:cNvPr id="10" name="Text 7"/>
          <p:cNvSpPr/>
          <p:nvPr/>
        </p:nvSpPr>
        <p:spPr>
          <a:xfrm>
            <a:off x="1417320" y="1938528"/>
            <a:ext cx="4434840" cy="1014984"/>
          </a:xfrm>
          <a:prstGeom prst="rect">
            <a:avLst/>
          </a:prstGeom>
          <a:noFill/>
          <a:ln/>
        </p:spPr>
        <p:txBody>
          <a:bodyPr wrap="square" lIns="0" tIns="0" rIns="0" bIns="0" rtlCol="0" anchor="ctr"/>
          <a:lstStyle/>
          <a:p>
            <a:pPr indent="0" marL="0">
              <a:buNone/>
            </a:pPr>
            <a:r>
              <a:rPr lang="en-US" sz="1300" dirty="0">
                <a:solidFill>
                  <a:srgbClr val="E5F0F5"/>
                </a:solidFill>
                <a:latin typeface="Calibri" pitchFamily="34" charset="0"/>
                <a:ea typeface="Calibri" pitchFamily="34" charset="-122"/>
                <a:cs typeface="Calibri" pitchFamily="34" charset="-120"/>
              </a:rPr>
              <a:t>Is generative UI a real solution, or a JSON middle-layer on a UI you could just build?</a:t>
            </a:r>
            <a:endParaRPr lang="en-US" sz="1300" dirty="0"/>
          </a:p>
        </p:txBody>
      </p:sp>
      <p:sp>
        <p:nvSpPr>
          <p:cNvPr id="11" name="Shape 8"/>
          <p:cNvSpPr/>
          <p:nvPr/>
        </p:nvSpPr>
        <p:spPr>
          <a:xfrm>
            <a:off x="6126480" y="1828800"/>
            <a:ext cx="5486400" cy="1234440"/>
          </a:xfrm>
          <a:prstGeom prst="roundRect">
            <a:avLst>
              <a:gd name="adj" fmla="val 8889"/>
            </a:avLst>
          </a:prstGeom>
          <a:solidFill>
            <a:srgbClr val="0E2330"/>
          </a:solidFill>
          <a:ln/>
          <a:effectLst>
            <a:outerShdw sx="100000" sy="100000" kx="0" ky="0" algn="bl" rotWithShape="0" blurRad="114300" dist="50800" dir="5400000">
              <a:srgbClr val="0B2430">
                <a:alpha val="10000"/>
              </a:srgbClr>
            </a:outerShdw>
          </a:effectLst>
        </p:spPr>
      </p:sp>
      <p:sp>
        <p:nvSpPr>
          <p:cNvPr id="12" name="Text 9"/>
          <p:cNvSpPr/>
          <p:nvPr/>
        </p:nvSpPr>
        <p:spPr>
          <a:xfrm>
            <a:off x="6309360" y="1993392"/>
            <a:ext cx="548640" cy="548640"/>
          </a:xfrm>
          <a:prstGeom prst="rect">
            <a:avLst/>
          </a:prstGeom>
          <a:noFill/>
          <a:ln/>
        </p:spPr>
        <p:txBody>
          <a:bodyPr wrap="square" lIns="0" tIns="0" rIns="0" bIns="0" rtlCol="0" anchor="ctr"/>
          <a:lstStyle/>
          <a:p>
            <a:pPr algn="ctr" indent="0" marL="0">
              <a:buNone/>
            </a:pPr>
            <a:r>
              <a:rPr lang="en-US" sz="2800" b="1" dirty="0">
                <a:solidFill>
                  <a:srgbClr val="E8951C"/>
                </a:solidFill>
                <a:latin typeface="Cambria" pitchFamily="34" charset="0"/>
                <a:ea typeface="Cambria" pitchFamily="34" charset="-122"/>
                <a:cs typeface="Cambria" pitchFamily="34" charset="-120"/>
              </a:rPr>
              <a:t>?</a:t>
            </a:r>
            <a:endParaRPr lang="en-US" sz="2800" dirty="0"/>
          </a:p>
        </p:txBody>
      </p:sp>
      <p:sp>
        <p:nvSpPr>
          <p:cNvPr id="13" name="Text 10"/>
          <p:cNvSpPr/>
          <p:nvPr/>
        </p:nvSpPr>
        <p:spPr>
          <a:xfrm>
            <a:off x="6995160" y="1938528"/>
            <a:ext cx="4434840" cy="1014984"/>
          </a:xfrm>
          <a:prstGeom prst="rect">
            <a:avLst/>
          </a:prstGeom>
          <a:noFill/>
          <a:ln/>
        </p:spPr>
        <p:txBody>
          <a:bodyPr wrap="square" lIns="0" tIns="0" rIns="0" bIns="0" rtlCol="0" anchor="ctr"/>
          <a:lstStyle/>
          <a:p>
            <a:pPr indent="0" marL="0">
              <a:buNone/>
            </a:pPr>
            <a:r>
              <a:rPr lang="en-US" sz="1300" dirty="0">
                <a:solidFill>
                  <a:srgbClr val="E5F0F5"/>
                </a:solidFill>
                <a:latin typeface="Calibri" pitchFamily="34" charset="0"/>
                <a:ea typeface="Calibri" pitchFamily="34" charset="-122"/>
                <a:cs typeface="Calibri" pitchFamily="34" charset="-120"/>
              </a:rPr>
              <a:t>v0.8 → v0.9 churn: are you betting on a spec still renaming its messages?</a:t>
            </a:r>
            <a:endParaRPr lang="en-US" sz="1300" dirty="0"/>
          </a:p>
        </p:txBody>
      </p:sp>
      <p:sp>
        <p:nvSpPr>
          <p:cNvPr id="14" name="Shape 11"/>
          <p:cNvSpPr/>
          <p:nvPr/>
        </p:nvSpPr>
        <p:spPr>
          <a:xfrm>
            <a:off x="548640" y="3200400"/>
            <a:ext cx="5486400" cy="1234440"/>
          </a:xfrm>
          <a:prstGeom prst="roundRect">
            <a:avLst>
              <a:gd name="adj" fmla="val 8889"/>
            </a:avLst>
          </a:prstGeom>
          <a:solidFill>
            <a:srgbClr val="0E2330"/>
          </a:solidFill>
          <a:ln/>
          <a:effectLst>
            <a:outerShdw sx="100000" sy="100000" kx="0" ky="0" algn="bl" rotWithShape="0" blurRad="114300" dist="50800" dir="5400000">
              <a:srgbClr val="0B2430">
                <a:alpha val="10000"/>
              </a:srgbClr>
            </a:outerShdw>
          </a:effectLst>
        </p:spPr>
      </p:sp>
      <p:sp>
        <p:nvSpPr>
          <p:cNvPr id="15" name="Text 12"/>
          <p:cNvSpPr/>
          <p:nvPr/>
        </p:nvSpPr>
        <p:spPr>
          <a:xfrm>
            <a:off x="731520" y="3364992"/>
            <a:ext cx="548640" cy="548640"/>
          </a:xfrm>
          <a:prstGeom prst="rect">
            <a:avLst/>
          </a:prstGeom>
          <a:noFill/>
          <a:ln/>
        </p:spPr>
        <p:txBody>
          <a:bodyPr wrap="square" lIns="0" tIns="0" rIns="0" bIns="0" rtlCol="0" anchor="ctr"/>
          <a:lstStyle/>
          <a:p>
            <a:pPr algn="ctr" indent="0" marL="0">
              <a:buNone/>
            </a:pPr>
            <a:r>
              <a:rPr lang="en-US" sz="2800" b="1" dirty="0">
                <a:solidFill>
                  <a:srgbClr val="E8951C"/>
                </a:solidFill>
                <a:latin typeface="Cambria" pitchFamily="34" charset="0"/>
                <a:ea typeface="Cambria" pitchFamily="34" charset="-122"/>
                <a:cs typeface="Cambria" pitchFamily="34" charset="-120"/>
              </a:rPr>
              <a:t>?</a:t>
            </a:r>
            <a:endParaRPr lang="en-US" sz="2800" dirty="0"/>
          </a:p>
        </p:txBody>
      </p:sp>
      <p:sp>
        <p:nvSpPr>
          <p:cNvPr id="16" name="Text 13"/>
          <p:cNvSpPr/>
          <p:nvPr/>
        </p:nvSpPr>
        <p:spPr>
          <a:xfrm>
            <a:off x="1417320" y="3310128"/>
            <a:ext cx="4434840" cy="1014984"/>
          </a:xfrm>
          <a:prstGeom prst="rect">
            <a:avLst/>
          </a:prstGeom>
          <a:noFill/>
          <a:ln/>
        </p:spPr>
        <p:txBody>
          <a:bodyPr wrap="square" lIns="0" tIns="0" rIns="0" bIns="0" rtlCol="0" anchor="ctr"/>
          <a:lstStyle/>
          <a:p>
            <a:pPr indent="0" marL="0">
              <a:buNone/>
            </a:pPr>
            <a:r>
              <a:rPr lang="en-US" sz="1300" dirty="0">
                <a:solidFill>
                  <a:srgbClr val="E5F0F5"/>
                </a:solidFill>
                <a:latin typeface="Calibri" pitchFamily="34" charset="0"/>
                <a:ea typeface="Calibri" pitchFamily="34" charset="-122"/>
                <a:cs typeface="Calibri" pitchFamily="34" charset="-120"/>
              </a:rPr>
              <a:t>Who owns and versions the catalog? Drift breaks agent ↔ renderer silently.</a:t>
            </a:r>
            <a:endParaRPr lang="en-US" sz="1300" dirty="0"/>
          </a:p>
        </p:txBody>
      </p:sp>
      <p:sp>
        <p:nvSpPr>
          <p:cNvPr id="17" name="Shape 14"/>
          <p:cNvSpPr/>
          <p:nvPr/>
        </p:nvSpPr>
        <p:spPr>
          <a:xfrm>
            <a:off x="6126480" y="3200400"/>
            <a:ext cx="5486400" cy="1234440"/>
          </a:xfrm>
          <a:prstGeom prst="roundRect">
            <a:avLst>
              <a:gd name="adj" fmla="val 8889"/>
            </a:avLst>
          </a:prstGeom>
          <a:solidFill>
            <a:srgbClr val="0E2330"/>
          </a:solidFill>
          <a:ln/>
          <a:effectLst>
            <a:outerShdw sx="100000" sy="100000" kx="0" ky="0" algn="bl" rotWithShape="0" blurRad="114300" dist="50800" dir="5400000">
              <a:srgbClr val="0B2430">
                <a:alpha val="10000"/>
              </a:srgbClr>
            </a:outerShdw>
          </a:effectLst>
        </p:spPr>
      </p:sp>
      <p:sp>
        <p:nvSpPr>
          <p:cNvPr id="18" name="Text 15"/>
          <p:cNvSpPr/>
          <p:nvPr/>
        </p:nvSpPr>
        <p:spPr>
          <a:xfrm>
            <a:off x="6309360" y="3364992"/>
            <a:ext cx="548640" cy="548640"/>
          </a:xfrm>
          <a:prstGeom prst="rect">
            <a:avLst/>
          </a:prstGeom>
          <a:noFill/>
          <a:ln/>
        </p:spPr>
        <p:txBody>
          <a:bodyPr wrap="square" lIns="0" tIns="0" rIns="0" bIns="0" rtlCol="0" anchor="ctr"/>
          <a:lstStyle/>
          <a:p>
            <a:pPr algn="ctr" indent="0" marL="0">
              <a:buNone/>
            </a:pPr>
            <a:r>
              <a:rPr lang="en-US" sz="2800" b="1" dirty="0">
                <a:solidFill>
                  <a:srgbClr val="E8951C"/>
                </a:solidFill>
                <a:latin typeface="Cambria" pitchFamily="34" charset="0"/>
                <a:ea typeface="Cambria" pitchFamily="34" charset="-122"/>
                <a:cs typeface="Cambria" pitchFamily="34" charset="-120"/>
              </a:rPr>
              <a:t>?</a:t>
            </a:r>
            <a:endParaRPr lang="en-US" sz="2800" dirty="0"/>
          </a:p>
        </p:txBody>
      </p:sp>
      <p:sp>
        <p:nvSpPr>
          <p:cNvPr id="19" name="Text 16"/>
          <p:cNvSpPr/>
          <p:nvPr/>
        </p:nvSpPr>
        <p:spPr>
          <a:xfrm>
            <a:off x="6995160" y="3310128"/>
            <a:ext cx="4434840" cy="1014984"/>
          </a:xfrm>
          <a:prstGeom prst="rect">
            <a:avLst/>
          </a:prstGeom>
          <a:noFill/>
          <a:ln/>
        </p:spPr>
        <p:txBody>
          <a:bodyPr wrap="square" lIns="0" tIns="0" rIns="0" bIns="0" rtlCol="0" anchor="ctr"/>
          <a:lstStyle/>
          <a:p>
            <a:pPr indent="0" marL="0">
              <a:buNone/>
            </a:pPr>
            <a:r>
              <a:rPr lang="en-US" sz="1300" dirty="0">
                <a:solidFill>
                  <a:srgbClr val="E5F0F5"/>
                </a:solidFill>
                <a:latin typeface="Calibri" pitchFamily="34" charset="0"/>
                <a:ea typeface="Calibri" pitchFamily="34" charset="-122"/>
                <a:cs typeface="Calibri" pitchFamily="34" charset="-120"/>
              </a:rPr>
              <a:t>Latency: every screen is now an LLM generation + stream + render. Does that fit your SLA?</a:t>
            </a:r>
            <a:endParaRPr lang="en-US" sz="1300" dirty="0"/>
          </a:p>
        </p:txBody>
      </p:sp>
      <p:sp>
        <p:nvSpPr>
          <p:cNvPr id="20" name="Shape 17"/>
          <p:cNvSpPr/>
          <p:nvPr/>
        </p:nvSpPr>
        <p:spPr>
          <a:xfrm>
            <a:off x="548640" y="4572000"/>
            <a:ext cx="11064240" cy="1005840"/>
          </a:xfrm>
          <a:prstGeom prst="roundRect">
            <a:avLst>
              <a:gd name="adj" fmla="val 10909"/>
            </a:avLst>
          </a:prstGeom>
          <a:solidFill>
            <a:srgbClr val="0E2330"/>
          </a:solidFill>
          <a:ln/>
          <a:effectLst>
            <a:outerShdw sx="100000" sy="100000" kx="0" ky="0" algn="bl" rotWithShape="0" blurRad="114300" dist="50800" dir="5400000">
              <a:srgbClr val="0B2430">
                <a:alpha val="10000"/>
              </a:srgbClr>
            </a:outerShdw>
          </a:effectLst>
        </p:spPr>
      </p:sp>
      <p:sp>
        <p:nvSpPr>
          <p:cNvPr id="21" name="Text 18"/>
          <p:cNvSpPr/>
          <p:nvPr/>
        </p:nvSpPr>
        <p:spPr>
          <a:xfrm>
            <a:off x="731520" y="4736592"/>
            <a:ext cx="548640" cy="548640"/>
          </a:xfrm>
          <a:prstGeom prst="rect">
            <a:avLst/>
          </a:prstGeom>
          <a:noFill/>
          <a:ln/>
        </p:spPr>
        <p:txBody>
          <a:bodyPr wrap="square" lIns="0" tIns="0" rIns="0" bIns="0" rtlCol="0" anchor="ctr"/>
          <a:lstStyle/>
          <a:p>
            <a:pPr algn="ctr" indent="0" marL="0">
              <a:buNone/>
            </a:pPr>
            <a:r>
              <a:rPr lang="en-US" sz="2800" b="1" dirty="0">
                <a:solidFill>
                  <a:srgbClr val="E8951C"/>
                </a:solidFill>
                <a:latin typeface="Cambria" pitchFamily="34" charset="0"/>
                <a:ea typeface="Cambria" pitchFamily="34" charset="-122"/>
                <a:cs typeface="Cambria" pitchFamily="34" charset="-120"/>
              </a:rPr>
              <a:t>?</a:t>
            </a:r>
            <a:endParaRPr lang="en-US" sz="2800" dirty="0"/>
          </a:p>
        </p:txBody>
      </p:sp>
      <p:sp>
        <p:nvSpPr>
          <p:cNvPr id="22" name="Text 19"/>
          <p:cNvSpPr/>
          <p:nvPr/>
        </p:nvSpPr>
        <p:spPr>
          <a:xfrm>
            <a:off x="1417320" y="4681728"/>
            <a:ext cx="10012680" cy="786384"/>
          </a:xfrm>
          <a:prstGeom prst="rect">
            <a:avLst/>
          </a:prstGeom>
          <a:noFill/>
          <a:ln/>
        </p:spPr>
        <p:txBody>
          <a:bodyPr wrap="square" lIns="0" tIns="0" rIns="0" bIns="0" rtlCol="0" anchor="ctr"/>
          <a:lstStyle/>
          <a:p>
            <a:pPr indent="0" marL="0">
              <a:buNone/>
            </a:pPr>
            <a:r>
              <a:rPr lang="en-US" sz="1300" dirty="0">
                <a:solidFill>
                  <a:srgbClr val="E5F0F5"/>
                </a:solidFill>
                <a:latin typeface="Calibri" pitchFamily="34" charset="0"/>
                <a:ea typeface="Calibri" pitchFamily="34" charset="-122"/>
                <a:cs typeface="Calibri" pitchFamily="34" charset="-120"/>
              </a:rPr>
              <a:t>Portability is the promise, renderer support is uneven. Did you test your target?</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E2330"/>
        </a:solidFill>
      </p:bgPr>
    </p:bg>
    <p:spTree>
      <p:nvGrpSpPr>
        <p:cNvPr id="1" name=""/>
        <p:cNvGrpSpPr/>
        <p:nvPr/>
      </p:nvGrpSpPr>
      <p:grpSpPr>
        <a:xfrm>
          <a:off x="0" y="0"/>
          <a:ext cx="0" cy="0"/>
          <a:chOff x="0" y="0"/>
          <a:chExt cx="0" cy="0"/>
        </a:xfrm>
      </p:grpSpPr>
      <p:sp>
        <p:nvSpPr>
          <p:cNvPr id="2" name="Shape 0"/>
          <p:cNvSpPr/>
          <p:nvPr/>
        </p:nvSpPr>
        <p:spPr>
          <a:xfrm>
            <a:off x="8869680" y="2011680"/>
            <a:ext cx="2926080" cy="658368"/>
          </a:xfrm>
          <a:prstGeom prst="roundRect">
            <a:avLst>
              <a:gd name="adj" fmla="val 16667"/>
            </a:avLst>
          </a:prstGeom>
          <a:solidFill>
            <a:srgbClr val="13344A">
              <a:alpha val="80000"/>
            </a:srgbClr>
          </a:solidFill>
          <a:ln/>
        </p:spPr>
      </p:sp>
      <p:sp>
        <p:nvSpPr>
          <p:cNvPr id="3" name="Shape 1"/>
          <p:cNvSpPr/>
          <p:nvPr/>
        </p:nvSpPr>
        <p:spPr>
          <a:xfrm>
            <a:off x="9034272" y="2834640"/>
            <a:ext cx="2926080" cy="658368"/>
          </a:xfrm>
          <a:prstGeom prst="roundRect">
            <a:avLst>
              <a:gd name="adj" fmla="val 16667"/>
            </a:avLst>
          </a:prstGeom>
          <a:solidFill>
            <a:srgbClr val="13344A">
              <a:alpha val="68000"/>
            </a:srgbClr>
          </a:solidFill>
          <a:ln/>
        </p:spPr>
      </p:sp>
      <p:sp>
        <p:nvSpPr>
          <p:cNvPr id="4" name="Shape 2"/>
          <p:cNvSpPr/>
          <p:nvPr/>
        </p:nvSpPr>
        <p:spPr>
          <a:xfrm>
            <a:off x="9198864" y="3657600"/>
            <a:ext cx="2926080" cy="658368"/>
          </a:xfrm>
          <a:prstGeom prst="roundRect">
            <a:avLst>
              <a:gd name="adj" fmla="val 16667"/>
            </a:avLst>
          </a:prstGeom>
          <a:solidFill>
            <a:srgbClr val="13344A">
              <a:alpha val="56000"/>
            </a:srgbClr>
          </a:solidFill>
          <a:ln/>
        </p:spPr>
      </p:sp>
      <p:sp>
        <p:nvSpPr>
          <p:cNvPr id="5" name="Shape 3"/>
          <p:cNvSpPr/>
          <p:nvPr/>
        </p:nvSpPr>
        <p:spPr>
          <a:xfrm>
            <a:off x="822960" y="2148840"/>
            <a:ext cx="1005840" cy="100584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6" name="Image 0" descr="preencoded.png">    </p:cNvPr>
          <p:cNvPicPr>
            <a:picLocks noChangeAspect="1"/>
          </p:cNvPicPr>
          <p:nvPr/>
        </p:nvPicPr>
        <p:blipFill>
          <a:blip r:embed="rId1"/>
          <a:stretch>
            <a:fillRect/>
          </a:stretch>
        </p:blipFill>
        <p:spPr>
          <a:xfrm>
            <a:off x="1084478" y="2410358"/>
            <a:ext cx="482803" cy="482803"/>
          </a:xfrm>
          <a:prstGeom prst="rect">
            <a:avLst/>
          </a:prstGeom>
        </p:spPr>
      </p:pic>
      <p:sp>
        <p:nvSpPr>
          <p:cNvPr id="7" name="Text 4"/>
          <p:cNvSpPr/>
          <p:nvPr/>
        </p:nvSpPr>
        <p:spPr>
          <a:xfrm>
            <a:off x="2057400" y="2240280"/>
            <a:ext cx="73152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PART 6</a:t>
            </a:r>
            <a:endParaRPr lang="en-US" sz="1400" dirty="0"/>
          </a:p>
        </p:txBody>
      </p:sp>
      <p:sp>
        <p:nvSpPr>
          <p:cNvPr id="8" name="Text 5"/>
          <p:cNvSpPr/>
          <p:nvPr/>
        </p:nvSpPr>
        <p:spPr>
          <a:xfrm>
            <a:off x="2057400" y="2606040"/>
            <a:ext cx="7498080" cy="14630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Surviving production</a:t>
            </a:r>
            <a:endParaRPr lang="en-US" sz="3400" dirty="0"/>
          </a:p>
        </p:txBody>
      </p:sp>
      <p:sp>
        <p:nvSpPr>
          <p:cNvPr id="9" name="Text 6"/>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EEAD4"/>
                </a:solidFill>
                <a:latin typeface="Consolas" pitchFamily="34" charset="0"/>
                <a:ea typeface="Consolas" pitchFamily="34" charset="-122"/>
                <a:cs typeface="Consolas" pitchFamily="34" charset="-120"/>
              </a:rPr>
              <a:t>42</a:t>
            </a:r>
            <a:endParaRPr lang="en-US" sz="900" dirty="0"/>
          </a:p>
        </p:txBody>
      </p:sp>
      <p:sp>
        <p:nvSpPr>
          <p:cNvPr id="10" name="Text 7"/>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7FA6B6"/>
                </a:solidFill>
                <a:latin typeface="Calibri" pitchFamily="34" charset="0"/>
                <a:ea typeface="Calibri" pitchFamily="34" charset="-122"/>
                <a:cs typeface="Calibri" pitchFamily="34" charset="-120"/>
              </a:rPr>
              <a:t>A2UI · Agentic UI Layer</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DEMO TO SYSTEM</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The production checklist</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43</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783080"/>
            <a:ext cx="11064240" cy="768096"/>
          </a:xfrm>
          <a:prstGeom prst="roundRect">
            <a:avLst>
              <a:gd name="adj" fmla="val 11905"/>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9" name="Shape 6"/>
          <p:cNvSpPr/>
          <p:nvPr/>
        </p:nvSpPr>
        <p:spPr>
          <a:xfrm>
            <a:off x="749808" y="1920240"/>
            <a:ext cx="493776" cy="493776"/>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878190" y="2048622"/>
            <a:ext cx="237012" cy="237012"/>
          </a:xfrm>
          <a:prstGeom prst="rect">
            <a:avLst/>
          </a:prstGeom>
        </p:spPr>
      </p:pic>
      <p:sp>
        <p:nvSpPr>
          <p:cNvPr id="11" name="Text 7"/>
          <p:cNvSpPr/>
          <p:nvPr/>
        </p:nvSpPr>
        <p:spPr>
          <a:xfrm>
            <a:off x="1417320" y="1783080"/>
            <a:ext cx="2743200" cy="768096"/>
          </a:xfrm>
          <a:prstGeom prst="rect">
            <a:avLst/>
          </a:prstGeom>
          <a:noFill/>
          <a:ln/>
        </p:spPr>
        <p:txBody>
          <a:bodyPr wrap="square" lIns="0" tIns="0" rIns="0" bIns="0" rtlCol="0" anchor="ctr"/>
          <a:lstStyle/>
          <a:p>
            <a:pPr indent="0" marL="0">
              <a:buNone/>
            </a:pPr>
            <a:r>
              <a:rPr lang="en-US" sz="1450" b="1" dirty="0">
                <a:solidFill>
                  <a:srgbClr val="0E2330"/>
                </a:solidFill>
                <a:latin typeface="Cambria" pitchFamily="34" charset="0"/>
                <a:ea typeface="Cambria" pitchFamily="34" charset="-122"/>
                <a:cs typeface="Cambria" pitchFamily="34" charset="-120"/>
              </a:rPr>
              <a:t>Catalog governance</a:t>
            </a:r>
            <a:endParaRPr lang="en-US" sz="1450" dirty="0"/>
          </a:p>
        </p:txBody>
      </p:sp>
      <p:sp>
        <p:nvSpPr>
          <p:cNvPr id="12" name="Text 8"/>
          <p:cNvSpPr/>
          <p:nvPr/>
        </p:nvSpPr>
        <p:spPr>
          <a:xfrm>
            <a:off x="4297680" y="1783080"/>
            <a:ext cx="7178040" cy="768096"/>
          </a:xfrm>
          <a:prstGeom prst="rect">
            <a:avLst/>
          </a:prstGeom>
          <a:noFill/>
          <a:ln/>
        </p:spPr>
        <p:txBody>
          <a:bodyPr wrap="square" lIns="0" tIns="0" rIns="0" bIns="0" rtlCol="0" anchor="ctr"/>
          <a:lstStyle/>
          <a:p>
            <a:pPr indent="0" marL="0">
              <a:buNone/>
            </a:pPr>
            <a:r>
              <a:rPr lang="en-US" sz="1250" dirty="0">
                <a:solidFill>
                  <a:srgbClr val="5B7383"/>
                </a:solidFill>
                <a:latin typeface="Calibri" pitchFamily="34" charset="0"/>
                <a:ea typeface="Calibri" pitchFamily="34" charset="-122"/>
                <a:cs typeface="Calibri" pitchFamily="34" charset="-120"/>
              </a:rPr>
              <a:t>Version catalogs, compile them into the server, assign a new catalogId on any breaking change.</a:t>
            </a:r>
            <a:endParaRPr lang="en-US" sz="1250" dirty="0"/>
          </a:p>
        </p:txBody>
      </p:sp>
      <p:sp>
        <p:nvSpPr>
          <p:cNvPr id="13" name="Shape 9"/>
          <p:cNvSpPr/>
          <p:nvPr/>
        </p:nvSpPr>
        <p:spPr>
          <a:xfrm>
            <a:off x="548640" y="2642616"/>
            <a:ext cx="11064240" cy="768096"/>
          </a:xfrm>
          <a:prstGeom prst="roundRect">
            <a:avLst>
              <a:gd name="adj" fmla="val 11905"/>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4" name="Shape 10"/>
          <p:cNvSpPr/>
          <p:nvPr/>
        </p:nvSpPr>
        <p:spPr>
          <a:xfrm>
            <a:off x="749808" y="2779776"/>
            <a:ext cx="493776" cy="493776"/>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5" name="Image 2" descr="preencoded.png">    </p:cNvPr>
          <p:cNvPicPr>
            <a:picLocks noChangeAspect="1"/>
          </p:cNvPicPr>
          <p:nvPr/>
        </p:nvPicPr>
        <p:blipFill>
          <a:blip r:embed="rId3"/>
          <a:stretch>
            <a:fillRect/>
          </a:stretch>
        </p:blipFill>
        <p:spPr>
          <a:xfrm>
            <a:off x="878190" y="2908158"/>
            <a:ext cx="237012" cy="237012"/>
          </a:xfrm>
          <a:prstGeom prst="rect">
            <a:avLst/>
          </a:prstGeom>
        </p:spPr>
      </p:pic>
      <p:sp>
        <p:nvSpPr>
          <p:cNvPr id="16" name="Text 11"/>
          <p:cNvSpPr/>
          <p:nvPr/>
        </p:nvSpPr>
        <p:spPr>
          <a:xfrm>
            <a:off x="1417320" y="2642616"/>
            <a:ext cx="2743200" cy="768096"/>
          </a:xfrm>
          <a:prstGeom prst="rect">
            <a:avLst/>
          </a:prstGeom>
          <a:noFill/>
          <a:ln/>
        </p:spPr>
        <p:txBody>
          <a:bodyPr wrap="square" lIns="0" tIns="0" rIns="0" bIns="0" rtlCol="0" anchor="ctr"/>
          <a:lstStyle/>
          <a:p>
            <a:pPr indent="0" marL="0">
              <a:buNone/>
            </a:pPr>
            <a:r>
              <a:rPr lang="en-US" sz="1450" b="1" dirty="0">
                <a:solidFill>
                  <a:srgbClr val="0E2330"/>
                </a:solidFill>
                <a:latin typeface="Cambria" pitchFamily="34" charset="0"/>
                <a:ea typeface="Cambria" pitchFamily="34" charset="-122"/>
                <a:cs typeface="Cambria" pitchFamily="34" charset="-120"/>
              </a:rPr>
              <a:t>Security</a:t>
            </a:r>
            <a:endParaRPr lang="en-US" sz="1450" dirty="0"/>
          </a:p>
        </p:txBody>
      </p:sp>
      <p:sp>
        <p:nvSpPr>
          <p:cNvPr id="17" name="Text 12"/>
          <p:cNvSpPr/>
          <p:nvPr/>
        </p:nvSpPr>
        <p:spPr>
          <a:xfrm>
            <a:off x="4297680" y="2642616"/>
            <a:ext cx="7178040" cy="768096"/>
          </a:xfrm>
          <a:prstGeom prst="rect">
            <a:avLst/>
          </a:prstGeom>
          <a:noFill/>
          <a:ln/>
        </p:spPr>
        <p:txBody>
          <a:bodyPr wrap="square" lIns="0" tIns="0" rIns="0" bIns="0" rtlCol="0" anchor="ctr"/>
          <a:lstStyle/>
          <a:p>
            <a:pPr indent="0" marL="0">
              <a:buNone/>
            </a:pPr>
            <a:r>
              <a:rPr lang="en-US" sz="1250" dirty="0">
                <a:solidFill>
                  <a:srgbClr val="5B7383"/>
                </a:solidFill>
                <a:latin typeface="Calibri" pitchFamily="34" charset="0"/>
                <a:ea typeface="Calibri" pitchFamily="34" charset="-122"/>
                <a:cs typeface="Calibri" pitchFamily="34" charset="-120"/>
              </a:rPr>
              <a:t>Catalog components only; validate every userAction server-side; treat client context as untrusted.</a:t>
            </a:r>
            <a:endParaRPr lang="en-US" sz="1250" dirty="0"/>
          </a:p>
        </p:txBody>
      </p:sp>
      <p:sp>
        <p:nvSpPr>
          <p:cNvPr id="18" name="Shape 13"/>
          <p:cNvSpPr/>
          <p:nvPr/>
        </p:nvSpPr>
        <p:spPr>
          <a:xfrm>
            <a:off x="548640" y="3502152"/>
            <a:ext cx="11064240" cy="768096"/>
          </a:xfrm>
          <a:prstGeom prst="roundRect">
            <a:avLst>
              <a:gd name="adj" fmla="val 11905"/>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9" name="Shape 14"/>
          <p:cNvSpPr/>
          <p:nvPr/>
        </p:nvSpPr>
        <p:spPr>
          <a:xfrm>
            <a:off x="749808" y="3639312"/>
            <a:ext cx="493776" cy="493776"/>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0" name="Image 3" descr="preencoded.png">    </p:cNvPr>
          <p:cNvPicPr>
            <a:picLocks noChangeAspect="1"/>
          </p:cNvPicPr>
          <p:nvPr/>
        </p:nvPicPr>
        <p:blipFill>
          <a:blip r:embed="rId4"/>
          <a:stretch>
            <a:fillRect/>
          </a:stretch>
        </p:blipFill>
        <p:spPr>
          <a:xfrm>
            <a:off x="878190" y="3767694"/>
            <a:ext cx="237012" cy="237012"/>
          </a:xfrm>
          <a:prstGeom prst="rect">
            <a:avLst/>
          </a:prstGeom>
        </p:spPr>
      </p:pic>
      <p:sp>
        <p:nvSpPr>
          <p:cNvPr id="21" name="Text 15"/>
          <p:cNvSpPr/>
          <p:nvPr/>
        </p:nvSpPr>
        <p:spPr>
          <a:xfrm>
            <a:off x="1417320" y="3502152"/>
            <a:ext cx="2743200" cy="768096"/>
          </a:xfrm>
          <a:prstGeom prst="rect">
            <a:avLst/>
          </a:prstGeom>
          <a:noFill/>
          <a:ln/>
        </p:spPr>
        <p:txBody>
          <a:bodyPr wrap="square" lIns="0" tIns="0" rIns="0" bIns="0" rtlCol="0" anchor="ctr"/>
          <a:lstStyle/>
          <a:p>
            <a:pPr indent="0" marL="0">
              <a:buNone/>
            </a:pPr>
            <a:r>
              <a:rPr lang="en-US" sz="1450" b="1" dirty="0">
                <a:solidFill>
                  <a:srgbClr val="0E2330"/>
                </a:solidFill>
                <a:latin typeface="Cambria" pitchFamily="34" charset="0"/>
                <a:ea typeface="Cambria" pitchFamily="34" charset="-122"/>
                <a:cs typeface="Cambria" pitchFamily="34" charset="-120"/>
              </a:rPr>
              <a:t>Versioning</a:t>
            </a:r>
            <a:endParaRPr lang="en-US" sz="1450" dirty="0"/>
          </a:p>
        </p:txBody>
      </p:sp>
      <p:sp>
        <p:nvSpPr>
          <p:cNvPr id="22" name="Text 16"/>
          <p:cNvSpPr/>
          <p:nvPr/>
        </p:nvSpPr>
        <p:spPr>
          <a:xfrm>
            <a:off x="4297680" y="3502152"/>
            <a:ext cx="7178040" cy="768096"/>
          </a:xfrm>
          <a:prstGeom prst="rect">
            <a:avLst/>
          </a:prstGeom>
          <a:noFill/>
          <a:ln/>
        </p:spPr>
        <p:txBody>
          <a:bodyPr wrap="square" lIns="0" tIns="0" rIns="0" bIns="0" rtlCol="0" anchor="ctr"/>
          <a:lstStyle/>
          <a:p>
            <a:pPr indent="0" marL="0">
              <a:buNone/>
            </a:pPr>
            <a:r>
              <a:rPr lang="en-US" sz="1250" dirty="0">
                <a:solidFill>
                  <a:srgbClr val="5B7383"/>
                </a:solidFill>
                <a:latin typeface="Calibri" pitchFamily="34" charset="0"/>
                <a:ea typeface="Calibri" pitchFamily="34" charset="-122"/>
                <a:cs typeface="Calibri" pitchFamily="34" charset="-120"/>
              </a:rPr>
              <a:t>Pin the protocol version (v0.8) and plan the v0.9 migration deliberately.</a:t>
            </a:r>
            <a:endParaRPr lang="en-US" sz="1250" dirty="0"/>
          </a:p>
        </p:txBody>
      </p:sp>
      <p:sp>
        <p:nvSpPr>
          <p:cNvPr id="23" name="Shape 17"/>
          <p:cNvSpPr/>
          <p:nvPr/>
        </p:nvSpPr>
        <p:spPr>
          <a:xfrm>
            <a:off x="548640" y="4361688"/>
            <a:ext cx="11064240" cy="768096"/>
          </a:xfrm>
          <a:prstGeom prst="roundRect">
            <a:avLst>
              <a:gd name="adj" fmla="val 11905"/>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4" name="Shape 18"/>
          <p:cNvSpPr/>
          <p:nvPr/>
        </p:nvSpPr>
        <p:spPr>
          <a:xfrm>
            <a:off x="749808" y="4498848"/>
            <a:ext cx="493776" cy="493776"/>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5" name="Image 4" descr="preencoded.png">    </p:cNvPr>
          <p:cNvPicPr>
            <a:picLocks noChangeAspect="1"/>
          </p:cNvPicPr>
          <p:nvPr/>
        </p:nvPicPr>
        <p:blipFill>
          <a:blip r:embed="rId5"/>
          <a:stretch>
            <a:fillRect/>
          </a:stretch>
        </p:blipFill>
        <p:spPr>
          <a:xfrm>
            <a:off x="878190" y="4627230"/>
            <a:ext cx="237012" cy="237012"/>
          </a:xfrm>
          <a:prstGeom prst="rect">
            <a:avLst/>
          </a:prstGeom>
        </p:spPr>
      </p:pic>
      <p:sp>
        <p:nvSpPr>
          <p:cNvPr id="26" name="Text 19"/>
          <p:cNvSpPr/>
          <p:nvPr/>
        </p:nvSpPr>
        <p:spPr>
          <a:xfrm>
            <a:off x="1417320" y="4361688"/>
            <a:ext cx="2743200" cy="768096"/>
          </a:xfrm>
          <a:prstGeom prst="rect">
            <a:avLst/>
          </a:prstGeom>
          <a:noFill/>
          <a:ln/>
        </p:spPr>
        <p:txBody>
          <a:bodyPr wrap="square" lIns="0" tIns="0" rIns="0" bIns="0" rtlCol="0" anchor="ctr"/>
          <a:lstStyle/>
          <a:p>
            <a:pPr indent="0" marL="0">
              <a:buNone/>
            </a:pPr>
            <a:r>
              <a:rPr lang="en-US" sz="1450" b="1" dirty="0">
                <a:solidFill>
                  <a:srgbClr val="0E2330"/>
                </a:solidFill>
                <a:latin typeface="Cambria" pitchFamily="34" charset="0"/>
                <a:ea typeface="Cambria" pitchFamily="34" charset="-122"/>
                <a:cs typeface="Cambria" pitchFamily="34" charset="-120"/>
              </a:rPr>
              <a:t>Audit</a:t>
            </a:r>
            <a:endParaRPr lang="en-US" sz="1450" dirty="0"/>
          </a:p>
        </p:txBody>
      </p:sp>
      <p:sp>
        <p:nvSpPr>
          <p:cNvPr id="27" name="Text 20"/>
          <p:cNvSpPr/>
          <p:nvPr/>
        </p:nvSpPr>
        <p:spPr>
          <a:xfrm>
            <a:off x="4297680" y="4361688"/>
            <a:ext cx="7178040" cy="768096"/>
          </a:xfrm>
          <a:prstGeom prst="rect">
            <a:avLst/>
          </a:prstGeom>
          <a:noFill/>
          <a:ln/>
        </p:spPr>
        <p:txBody>
          <a:bodyPr wrap="square" lIns="0" tIns="0" rIns="0" bIns="0" rtlCol="0" anchor="ctr"/>
          <a:lstStyle/>
          <a:p>
            <a:pPr indent="0" marL="0">
              <a:buNone/>
            </a:pPr>
            <a:r>
              <a:rPr lang="en-US" sz="1250" dirty="0">
                <a:solidFill>
                  <a:srgbClr val="5B7383"/>
                </a:solidFill>
                <a:latin typeface="Calibri" pitchFamily="34" charset="0"/>
                <a:ea typeface="Calibri" pitchFamily="34" charset="-122"/>
                <a:cs typeface="Calibri" pitchFamily="34" charset="-120"/>
              </a:rPr>
              <a:t>Persist the exact payload sent + the userAction received + timestamp + role.</a:t>
            </a:r>
            <a:endParaRPr lang="en-US" sz="1250" dirty="0"/>
          </a:p>
        </p:txBody>
      </p:sp>
      <p:sp>
        <p:nvSpPr>
          <p:cNvPr id="28" name="Shape 21"/>
          <p:cNvSpPr/>
          <p:nvPr/>
        </p:nvSpPr>
        <p:spPr>
          <a:xfrm>
            <a:off x="548640" y="5221224"/>
            <a:ext cx="11064240" cy="768096"/>
          </a:xfrm>
          <a:prstGeom prst="roundRect">
            <a:avLst>
              <a:gd name="adj" fmla="val 11905"/>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9" name="Shape 22"/>
          <p:cNvSpPr/>
          <p:nvPr/>
        </p:nvSpPr>
        <p:spPr>
          <a:xfrm>
            <a:off x="749808" y="5358384"/>
            <a:ext cx="493776" cy="493776"/>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30" name="Image 5" descr="preencoded.png">    </p:cNvPr>
          <p:cNvPicPr>
            <a:picLocks noChangeAspect="1"/>
          </p:cNvPicPr>
          <p:nvPr/>
        </p:nvPicPr>
        <p:blipFill>
          <a:blip r:embed="rId6"/>
          <a:stretch>
            <a:fillRect/>
          </a:stretch>
        </p:blipFill>
        <p:spPr>
          <a:xfrm>
            <a:off x="878190" y="5486766"/>
            <a:ext cx="237012" cy="237012"/>
          </a:xfrm>
          <a:prstGeom prst="rect">
            <a:avLst/>
          </a:prstGeom>
        </p:spPr>
      </p:pic>
      <p:sp>
        <p:nvSpPr>
          <p:cNvPr id="31" name="Text 23"/>
          <p:cNvSpPr/>
          <p:nvPr/>
        </p:nvSpPr>
        <p:spPr>
          <a:xfrm>
            <a:off x="1417320" y="5221224"/>
            <a:ext cx="2743200" cy="768096"/>
          </a:xfrm>
          <a:prstGeom prst="rect">
            <a:avLst/>
          </a:prstGeom>
          <a:noFill/>
          <a:ln/>
        </p:spPr>
        <p:txBody>
          <a:bodyPr wrap="square" lIns="0" tIns="0" rIns="0" bIns="0" rtlCol="0" anchor="ctr"/>
          <a:lstStyle/>
          <a:p>
            <a:pPr indent="0" marL="0">
              <a:buNone/>
            </a:pPr>
            <a:r>
              <a:rPr lang="en-US" sz="1450" b="1" dirty="0">
                <a:solidFill>
                  <a:srgbClr val="0E2330"/>
                </a:solidFill>
                <a:latin typeface="Cambria" pitchFamily="34" charset="0"/>
                <a:ea typeface="Cambria" pitchFamily="34" charset="-122"/>
                <a:cs typeface="Cambria" pitchFamily="34" charset="-120"/>
              </a:rPr>
              <a:t>Latency</a:t>
            </a:r>
            <a:endParaRPr lang="en-US" sz="1450" dirty="0"/>
          </a:p>
        </p:txBody>
      </p:sp>
      <p:sp>
        <p:nvSpPr>
          <p:cNvPr id="32" name="Text 24"/>
          <p:cNvSpPr/>
          <p:nvPr/>
        </p:nvSpPr>
        <p:spPr>
          <a:xfrm>
            <a:off x="4297680" y="5221224"/>
            <a:ext cx="7178040" cy="768096"/>
          </a:xfrm>
          <a:prstGeom prst="rect">
            <a:avLst/>
          </a:prstGeom>
          <a:noFill/>
          <a:ln/>
        </p:spPr>
        <p:txBody>
          <a:bodyPr wrap="square" lIns="0" tIns="0" rIns="0" bIns="0" rtlCol="0" anchor="ctr"/>
          <a:lstStyle/>
          <a:p>
            <a:pPr indent="0" marL="0">
              <a:buNone/>
            </a:pPr>
            <a:r>
              <a:rPr lang="en-US" sz="1250" dirty="0">
                <a:solidFill>
                  <a:srgbClr val="5B7383"/>
                </a:solidFill>
                <a:latin typeface="Calibri" pitchFamily="34" charset="0"/>
                <a:ea typeface="Calibri" pitchFamily="34" charset="-122"/>
                <a:cs typeface="Calibri" pitchFamily="34" charset="-120"/>
              </a:rPr>
              <a:t>Templatize stable UIs, stream progressively, and always wire a text fallback.</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WHAT IT FIXES, WHAT IT DOES NOT</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The security model, honestly</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44</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783080"/>
            <a:ext cx="5486400" cy="3703320"/>
          </a:xfrm>
          <a:prstGeom prst="roundRect">
            <a:avLst>
              <a:gd name="adj" fmla="val 2963"/>
            </a:avLst>
          </a:prstGeom>
          <a:solidFill>
            <a:srgbClr val="E9F4EF"/>
          </a:solidFill>
          <a:ln w="9525">
            <a:solidFill>
              <a:srgbClr val="BFE0D2"/>
            </a:solidFill>
            <a:prstDash val="solid"/>
          </a:ln>
        </p:spPr>
      </p:sp>
      <p:sp>
        <p:nvSpPr>
          <p:cNvPr id="9" name="Shape 6"/>
          <p:cNvSpPr/>
          <p:nvPr/>
        </p:nvSpPr>
        <p:spPr>
          <a:xfrm>
            <a:off x="777240" y="2011680"/>
            <a:ext cx="548640" cy="54864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919886" y="2154326"/>
            <a:ext cx="263347" cy="263347"/>
          </a:xfrm>
          <a:prstGeom prst="rect">
            <a:avLst/>
          </a:prstGeom>
        </p:spPr>
      </p:pic>
      <p:sp>
        <p:nvSpPr>
          <p:cNvPr id="11" name="Text 7"/>
          <p:cNvSpPr/>
          <p:nvPr/>
        </p:nvSpPr>
        <p:spPr>
          <a:xfrm>
            <a:off x="1463040" y="2029968"/>
            <a:ext cx="4389120" cy="502920"/>
          </a:xfrm>
          <a:prstGeom prst="rect">
            <a:avLst/>
          </a:prstGeom>
          <a:noFill/>
          <a:ln/>
        </p:spPr>
        <p:txBody>
          <a:bodyPr wrap="square" lIns="0" tIns="0" rIns="0" bIns="0" rtlCol="0" anchor="ctr"/>
          <a:lstStyle/>
          <a:p>
            <a:pPr indent="0" marL="0">
              <a:buNone/>
            </a:pPr>
            <a:r>
              <a:rPr lang="en-US" sz="1600" b="1" dirty="0">
                <a:solidFill>
                  <a:srgbClr val="1C9C72"/>
                </a:solidFill>
                <a:latin typeface="Cambria" pitchFamily="34" charset="0"/>
                <a:ea typeface="Cambria" pitchFamily="34" charset="-122"/>
                <a:cs typeface="Cambria" pitchFamily="34" charset="-120"/>
              </a:rPr>
              <a:t>What A2UI removes</a:t>
            </a:r>
            <a:endParaRPr lang="en-US" sz="1600" dirty="0"/>
          </a:p>
        </p:txBody>
      </p:sp>
      <p:sp>
        <p:nvSpPr>
          <p:cNvPr id="12" name="Text 8"/>
          <p:cNvSpPr/>
          <p:nvPr/>
        </p:nvSpPr>
        <p:spPr>
          <a:xfrm>
            <a:off x="868680" y="2697480"/>
            <a:ext cx="4937760" cy="274320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12242E"/>
                </a:solidFill>
                <a:latin typeface="Calibri" pitchFamily="34" charset="0"/>
                <a:ea typeface="Calibri" pitchFamily="34" charset="-122"/>
                <a:cs typeface="Calibri" pitchFamily="34" charset="-120"/>
              </a:rPr>
              <a:t>Catalog-bound: the agent can only name pre-approved components</a:t>
            </a:r>
            <a:endParaRPr lang="en-US" sz="1250" dirty="0"/>
          </a:p>
          <a:p>
            <a:pPr marL="203200" indent="-203200">
              <a:spcAft>
                <a:spcPts val="1000"/>
              </a:spcAft>
              <a:buSzPct val="100000"/>
              <a:buChar char="•"/>
            </a:pPr>
            <a:r>
              <a:rPr lang="en-US" sz="1250" dirty="0">
                <a:solidFill>
                  <a:srgbClr val="12242E"/>
                </a:solidFill>
                <a:latin typeface="Calibri" pitchFamily="34" charset="0"/>
                <a:ea typeface="Calibri" pitchFamily="34" charset="-122"/>
                <a:cs typeface="Calibri" pitchFamily="34" charset="-120"/>
              </a:rPr>
              <a:t>No arbitrary code reaches the client</a:t>
            </a:r>
            <a:endParaRPr lang="en-US" sz="1250" dirty="0"/>
          </a:p>
          <a:p>
            <a:pPr marL="203200" indent="-203200">
              <a:spcAft>
                <a:spcPts val="1000"/>
              </a:spcAft>
              <a:buSzPct val="100000"/>
              <a:buChar char="•"/>
            </a:pPr>
            <a:r>
              <a:rPr lang="en-US" sz="1250" dirty="0">
                <a:solidFill>
                  <a:srgbClr val="12242E"/>
                </a:solidFill>
                <a:latin typeface="Calibri" pitchFamily="34" charset="0"/>
                <a:ea typeface="Calibri" pitchFamily="34" charset="-122"/>
                <a:cs typeface="Calibri" pitchFamily="34" charset="-120"/>
              </a:rPr>
              <a:t>Safe to let a remote or untrusted agent draw UI in your app</a:t>
            </a:r>
            <a:endParaRPr lang="en-US" sz="1250" dirty="0"/>
          </a:p>
          <a:p>
            <a:pPr marL="203200" indent="-203200">
              <a:spcAft>
                <a:spcPts val="1000"/>
              </a:spcAft>
              <a:buSzPct val="100000"/>
              <a:buChar char="•"/>
            </a:pPr>
            <a:r>
              <a:rPr lang="en-US" sz="1250" dirty="0">
                <a:solidFill>
                  <a:srgbClr val="12242E"/>
                </a:solidFill>
                <a:latin typeface="Calibri" pitchFamily="34" charset="0"/>
                <a:ea typeface="Calibri" pitchFamily="34" charset="-122"/>
                <a:cs typeface="Calibri" pitchFamily="34" charset="-120"/>
              </a:rPr>
              <a:t>Catalogs are compiled into the server, not downloaded at runtime, blocking prompt injection</a:t>
            </a:r>
            <a:endParaRPr lang="en-US" sz="1250" dirty="0"/>
          </a:p>
        </p:txBody>
      </p:sp>
      <p:sp>
        <p:nvSpPr>
          <p:cNvPr id="13" name="Shape 9"/>
          <p:cNvSpPr/>
          <p:nvPr/>
        </p:nvSpPr>
        <p:spPr>
          <a:xfrm>
            <a:off x="6126480" y="1783080"/>
            <a:ext cx="5486400" cy="3703320"/>
          </a:xfrm>
          <a:prstGeom prst="roundRect">
            <a:avLst>
              <a:gd name="adj" fmla="val 2963"/>
            </a:avLst>
          </a:prstGeom>
          <a:solidFill>
            <a:srgbClr val="FCF3E4"/>
          </a:solidFill>
          <a:ln w="9525">
            <a:solidFill>
              <a:srgbClr val="F0D9A8"/>
            </a:solidFill>
            <a:prstDash val="solid"/>
          </a:ln>
        </p:spPr>
      </p:sp>
      <p:sp>
        <p:nvSpPr>
          <p:cNvPr id="14" name="Shape 10"/>
          <p:cNvSpPr/>
          <p:nvPr/>
        </p:nvSpPr>
        <p:spPr>
          <a:xfrm>
            <a:off x="6355080" y="2011680"/>
            <a:ext cx="548640" cy="548640"/>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5" name="Image 2" descr="preencoded.png">    </p:cNvPr>
          <p:cNvPicPr>
            <a:picLocks noChangeAspect="1"/>
          </p:cNvPicPr>
          <p:nvPr/>
        </p:nvPicPr>
        <p:blipFill>
          <a:blip r:embed="rId3"/>
          <a:stretch>
            <a:fillRect/>
          </a:stretch>
        </p:blipFill>
        <p:spPr>
          <a:xfrm>
            <a:off x="6497726" y="2154326"/>
            <a:ext cx="263347" cy="263347"/>
          </a:xfrm>
          <a:prstGeom prst="rect">
            <a:avLst/>
          </a:prstGeom>
        </p:spPr>
      </p:pic>
      <p:sp>
        <p:nvSpPr>
          <p:cNvPr id="16" name="Text 11"/>
          <p:cNvSpPr/>
          <p:nvPr/>
        </p:nvSpPr>
        <p:spPr>
          <a:xfrm>
            <a:off x="7040880" y="2029968"/>
            <a:ext cx="4389120" cy="502920"/>
          </a:xfrm>
          <a:prstGeom prst="rect">
            <a:avLst/>
          </a:prstGeom>
          <a:noFill/>
          <a:ln/>
        </p:spPr>
        <p:txBody>
          <a:bodyPr wrap="square" lIns="0" tIns="0" rIns="0" bIns="0" rtlCol="0" anchor="ctr"/>
          <a:lstStyle/>
          <a:p>
            <a:pPr indent="0" marL="0">
              <a:buNone/>
            </a:pPr>
            <a:r>
              <a:rPr lang="en-US" sz="1600" b="1" dirty="0">
                <a:solidFill>
                  <a:srgbClr val="E8951C"/>
                </a:solidFill>
                <a:latin typeface="Cambria" pitchFamily="34" charset="0"/>
                <a:ea typeface="Cambria" pitchFamily="34" charset="-122"/>
                <a:cs typeface="Cambria" pitchFamily="34" charset="-120"/>
              </a:rPr>
              <a:t>Still your job</a:t>
            </a:r>
            <a:endParaRPr lang="en-US" sz="1600" dirty="0"/>
          </a:p>
        </p:txBody>
      </p:sp>
      <p:sp>
        <p:nvSpPr>
          <p:cNvPr id="17" name="Text 12"/>
          <p:cNvSpPr/>
          <p:nvPr/>
        </p:nvSpPr>
        <p:spPr>
          <a:xfrm>
            <a:off x="6446520" y="2697480"/>
            <a:ext cx="4937760" cy="182880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12242E"/>
                </a:solidFill>
                <a:latin typeface="Calibri" pitchFamily="34" charset="0"/>
                <a:ea typeface="Calibri" pitchFamily="34" charset="-122"/>
                <a:cs typeface="Calibri" pitchFamily="34" charset="-120"/>
              </a:rPr>
              <a:t>Re-validate and re-authorize every userAction server-side</a:t>
            </a:r>
            <a:endParaRPr lang="en-US" sz="1250" dirty="0"/>
          </a:p>
          <a:p>
            <a:pPr marL="203200" indent="-203200">
              <a:spcAft>
                <a:spcPts val="1000"/>
              </a:spcAft>
              <a:buSzPct val="100000"/>
              <a:buChar char="•"/>
            </a:pPr>
            <a:r>
              <a:rPr lang="en-US" sz="1250" dirty="0">
                <a:solidFill>
                  <a:srgbClr val="12242E"/>
                </a:solidFill>
                <a:latin typeface="Calibri" pitchFamily="34" charset="0"/>
                <a:ea typeface="Calibri" pitchFamily="34" charset="-122"/>
                <a:cs typeface="Calibri" pitchFamily="34" charset="-120"/>
              </a:rPr>
              <a:t>Never trust client-sent context, it can be spoofed</a:t>
            </a:r>
            <a:endParaRPr lang="en-US" sz="1250" dirty="0"/>
          </a:p>
          <a:p>
            <a:pPr marL="203200" indent="-203200">
              <a:spcAft>
                <a:spcPts val="1000"/>
              </a:spcAft>
              <a:buSzPct val="100000"/>
              <a:buChar char="•"/>
            </a:pPr>
            <a:r>
              <a:rPr lang="en-US" sz="1250" dirty="0">
                <a:solidFill>
                  <a:srgbClr val="12242E"/>
                </a:solidFill>
                <a:latin typeface="Calibri" pitchFamily="34" charset="0"/>
                <a:ea typeface="Calibri" pitchFamily="34" charset="-122"/>
                <a:cs typeface="Calibri" pitchFamily="34" charset="-120"/>
              </a:rPr>
              <a:t>A2UI removes the UI-injection class, not the agent-security class</a:t>
            </a:r>
            <a:endParaRPr lang="en-US" sz="1250" dirty="0"/>
          </a:p>
        </p:txBody>
      </p:sp>
      <p:sp>
        <p:nvSpPr>
          <p:cNvPr id="18" name="Shape 13"/>
          <p:cNvSpPr/>
          <p:nvPr/>
        </p:nvSpPr>
        <p:spPr>
          <a:xfrm>
            <a:off x="6446520" y="4526280"/>
            <a:ext cx="4846320" cy="841248"/>
          </a:xfrm>
          <a:prstGeom prst="roundRect">
            <a:avLst>
              <a:gd name="adj" fmla="val 10870"/>
            </a:avLst>
          </a:prstGeom>
          <a:solidFill>
            <a:srgbClr val="0E2330"/>
          </a:solidFill>
          <a:ln/>
        </p:spPr>
      </p:sp>
      <p:sp>
        <p:nvSpPr>
          <p:cNvPr id="19" name="Text 14"/>
          <p:cNvSpPr/>
          <p:nvPr/>
        </p:nvSpPr>
        <p:spPr>
          <a:xfrm>
            <a:off x="6629400" y="4526280"/>
            <a:ext cx="4480560" cy="841248"/>
          </a:xfrm>
          <a:prstGeom prst="rect">
            <a:avLst/>
          </a:prstGeom>
          <a:noFill/>
          <a:ln/>
        </p:spPr>
        <p:txBody>
          <a:bodyPr wrap="square" lIns="0" tIns="0" rIns="0" bIns="0" rtlCol="0" anchor="ctr"/>
          <a:lstStyle/>
          <a:p>
            <a:pPr indent="0" marL="0">
              <a:buNone/>
            </a:pPr>
            <a:r>
              <a:rPr lang="en-US" sz="1150" b="1" dirty="0">
                <a:solidFill>
                  <a:srgbClr val="5EEAD4"/>
                </a:solidFill>
                <a:latin typeface="Calibri" pitchFamily="34" charset="0"/>
                <a:ea typeface="Calibri" pitchFamily="34" charset="-122"/>
                <a:cs typeface="Calibri" pitchFamily="34" charset="-120"/>
              </a:rPr>
              <a:t>Go deeper: </a:t>
            </a:r>
            <a:pPr indent="0" marL="0">
              <a:buNone/>
            </a:pPr>
            <a:r>
              <a:rPr lang="en-US" sz="1150" dirty="0">
                <a:solidFill>
                  <a:srgbClr val="D6E5EC"/>
                </a:solidFill>
                <a:latin typeface="Calibri" pitchFamily="34" charset="0"/>
                <a:ea typeface="Calibri" pitchFamily="34" charset="-122"/>
                <a:cs typeface="Calibri" pitchFamily="34" charset="-120"/>
              </a:rPr>
              <a:t>OWASP Securing Agentic Applications, MAESTRO threat modeling (Huang &amp; Habler).</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PLAN FOR THE BAD PATH</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Failure modes and graceful degradation</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45</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914400"/>
        </p:xfrm>
        <a:graphic>
          <a:graphicData uri="http://schemas.openxmlformats.org/drawingml/2006/table">
            <a:tbl>
              <a:tblPr/>
              <a:tblGrid>
                <a:gridCol w="5120640"/>
                <a:gridCol w="5943600"/>
              </a:tblGrid>
              <a:tr h="676656">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Failure</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E0593F"/>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Mitigation</a:t>
                      </a:r>
                      <a:endParaRPr lang="en-US" sz="135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E0593F"/>
                    </a:solidFill>
                  </a:tcPr>
                </a:tc>
              </a:tr>
              <a:tr h="676656">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LLM emits malformed A2UI JSON</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Schema-validate; on fail, render plain text</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676656">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Partial stream / dropped connection</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Buffer; require beginRendering before first paint</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r h="676656">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Component not in client catalog</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Negotiate catalogs; skip or placeholder unknown types</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r h="676656">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Version drift agent ↔ renderer</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Pin version; new catalogId on breaking change</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1F6F8"/>
                    </a:solidFill>
                  </a:tcPr>
                </a:tc>
              </a:tr>
              <a:tr h="676656">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Spoofed userAction context</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2242E"/>
                          </a:solidFill>
                          <a:latin typeface="Calibri" pitchFamily="34" charset="0"/>
                          <a:ea typeface="Calibri" pitchFamily="34" charset="-122"/>
                          <a:cs typeface="Calibri" pitchFamily="34" charset="-120"/>
                        </a:rPr>
                        <a:t>Re-validate and re-authorize server-side</a:t>
                      </a:r>
                      <a:endParaRPr lang="en-US" sz="1300" dirty="0">
                        <a:latin typeface="Calibri" charset="0"/>
                        <a:ea typeface="Calibri" charset="0"/>
                        <a:cs typeface="Calibri" charset="0"/>
                      </a:endParaRPr>
                    </a:p>
                  </a:txBody>
                  <a:tcPr marL="76200" marR="76200" marT="50800" marB="50800" anchor="ctr">
                    <a:lnL w="9525" cap="flat" cmpd="sng" algn="ctr">
                      <a:solidFill>
                        <a:srgbClr val="CBD9E0"/>
                      </a:solidFill>
                      <a:prstDash val="solid"/>
                      <a:round/>
                      <a:headEnd type="none" w="med" len="med"/>
                      <a:tailEnd type="none" w="med" len="med"/>
                    </a:lnL>
                    <a:lnR w="9525" cap="flat" cmpd="sng" algn="ctr">
                      <a:solidFill>
                        <a:srgbClr val="CBD9E0"/>
                      </a:solidFill>
                      <a:prstDash val="solid"/>
                      <a:round/>
                      <a:headEnd type="none" w="med" len="med"/>
                      <a:tailEnd type="none" w="med" len="med"/>
                    </a:lnR>
                    <a:lnT w="9525" cap="flat" cmpd="sng" algn="ctr">
                      <a:solidFill>
                        <a:srgbClr val="CBD9E0"/>
                      </a:solidFill>
                      <a:prstDash val="solid"/>
                      <a:round/>
                      <a:headEnd type="none" w="med" len="med"/>
                      <a:tailEnd type="none" w="med" len="med"/>
                    </a:lnT>
                    <a:lnB w="9525" cap="flat" cmpd="sng" algn="ctr">
                      <a:solidFill>
                        <a:srgbClr val="CBD9E0"/>
                      </a:solidFill>
                      <a:prstDash val="solid"/>
                      <a:round/>
                      <a:headEnd type="none" w="med" len="med"/>
                      <a:tailEnd type="none" w="med" len="med"/>
                    </a:lnB>
                    <a:solidFill>
                      <a:srgbClr val="FFFFFF"/>
                    </a:solidFill>
                  </a:tcPr>
                </a:tc>
              </a:tr>
            </a:tbl>
          </a:graphicData>
        </a:graphic>
      </p:graphicFrame>
      <p:sp>
        <p:nvSpPr>
          <p:cNvPr id="9" name="Text 5"/>
          <p:cNvSpPr/>
          <p:nvPr/>
        </p:nvSpPr>
        <p:spPr>
          <a:xfrm>
            <a:off x="548640" y="5669280"/>
            <a:ext cx="11064240" cy="365760"/>
          </a:xfrm>
          <a:prstGeom prst="rect">
            <a:avLst/>
          </a:prstGeom>
          <a:noFill/>
          <a:ln/>
        </p:spPr>
        <p:txBody>
          <a:bodyPr wrap="square" lIns="0" tIns="0" rIns="0" bIns="0" rtlCol="0" anchor="ctr"/>
          <a:lstStyle/>
          <a:p>
            <a:pPr algn="ctr" indent="0" marL="0">
              <a:buNone/>
            </a:pPr>
            <a:r>
              <a:rPr lang="en-US" sz="1200" i="1" dirty="0">
                <a:solidFill>
                  <a:srgbClr val="5B7383"/>
                </a:solidFill>
                <a:latin typeface="Calibri" pitchFamily="34" charset="0"/>
                <a:ea typeface="Calibri" pitchFamily="34" charset="-122"/>
                <a:cs typeface="Calibri" pitchFamily="34" charset="-120"/>
              </a:rPr>
              <a:t>Always have the text fallback wired. The agent should never leave the user with a blank surface.</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E2330"/>
        </a:solidFill>
      </p:bgPr>
    </p:bg>
    <p:spTree>
      <p:nvGrpSpPr>
        <p:cNvPr id="1" name=""/>
        <p:cNvGrpSpPr/>
        <p:nvPr/>
      </p:nvGrpSpPr>
      <p:grpSpPr>
        <a:xfrm>
          <a:off x="0" y="0"/>
          <a:ext cx="0" cy="0"/>
          <a:chOff x="0" y="0"/>
          <a:chExt cx="0" cy="0"/>
        </a:xfrm>
      </p:grpSpPr>
      <p:sp>
        <p:nvSpPr>
          <p:cNvPr id="2" name="Shape 0"/>
          <p:cNvSpPr/>
          <p:nvPr/>
        </p:nvSpPr>
        <p:spPr>
          <a:xfrm>
            <a:off x="8869680" y="2011680"/>
            <a:ext cx="2926080" cy="658368"/>
          </a:xfrm>
          <a:prstGeom prst="roundRect">
            <a:avLst>
              <a:gd name="adj" fmla="val 16667"/>
            </a:avLst>
          </a:prstGeom>
          <a:solidFill>
            <a:srgbClr val="13344A">
              <a:alpha val="80000"/>
            </a:srgbClr>
          </a:solidFill>
          <a:ln/>
        </p:spPr>
      </p:sp>
      <p:sp>
        <p:nvSpPr>
          <p:cNvPr id="3" name="Shape 1"/>
          <p:cNvSpPr/>
          <p:nvPr/>
        </p:nvSpPr>
        <p:spPr>
          <a:xfrm>
            <a:off x="9034272" y="2834640"/>
            <a:ext cx="2926080" cy="658368"/>
          </a:xfrm>
          <a:prstGeom prst="roundRect">
            <a:avLst>
              <a:gd name="adj" fmla="val 16667"/>
            </a:avLst>
          </a:prstGeom>
          <a:solidFill>
            <a:srgbClr val="13344A">
              <a:alpha val="68000"/>
            </a:srgbClr>
          </a:solidFill>
          <a:ln/>
        </p:spPr>
      </p:sp>
      <p:sp>
        <p:nvSpPr>
          <p:cNvPr id="4" name="Shape 2"/>
          <p:cNvSpPr/>
          <p:nvPr/>
        </p:nvSpPr>
        <p:spPr>
          <a:xfrm>
            <a:off x="9198864" y="3657600"/>
            <a:ext cx="2926080" cy="658368"/>
          </a:xfrm>
          <a:prstGeom prst="roundRect">
            <a:avLst>
              <a:gd name="adj" fmla="val 16667"/>
            </a:avLst>
          </a:prstGeom>
          <a:solidFill>
            <a:srgbClr val="13344A">
              <a:alpha val="56000"/>
            </a:srgbClr>
          </a:solidFill>
          <a:ln/>
        </p:spPr>
      </p:sp>
      <p:sp>
        <p:nvSpPr>
          <p:cNvPr id="5" name="Shape 3"/>
          <p:cNvSpPr/>
          <p:nvPr/>
        </p:nvSpPr>
        <p:spPr>
          <a:xfrm>
            <a:off x="822960" y="2148840"/>
            <a:ext cx="1005840" cy="100584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6" name="Image 0" descr="preencoded.png">    </p:cNvPr>
          <p:cNvPicPr>
            <a:picLocks noChangeAspect="1"/>
          </p:cNvPicPr>
          <p:nvPr/>
        </p:nvPicPr>
        <p:blipFill>
          <a:blip r:embed="rId1"/>
          <a:stretch>
            <a:fillRect/>
          </a:stretch>
        </p:blipFill>
        <p:spPr>
          <a:xfrm>
            <a:off x="1084478" y="2410358"/>
            <a:ext cx="482803" cy="482803"/>
          </a:xfrm>
          <a:prstGeom prst="rect">
            <a:avLst/>
          </a:prstGeom>
        </p:spPr>
      </p:pic>
      <p:sp>
        <p:nvSpPr>
          <p:cNvPr id="7" name="Text 4"/>
          <p:cNvSpPr/>
          <p:nvPr/>
        </p:nvSpPr>
        <p:spPr>
          <a:xfrm>
            <a:off x="2057400" y="2240280"/>
            <a:ext cx="7315200" cy="365760"/>
          </a:xfrm>
          <a:prstGeom prst="rect">
            <a:avLst/>
          </a:prstGeom>
          <a:noFill/>
          <a:ln/>
        </p:spPr>
        <p:txBody>
          <a:bodyPr wrap="square" lIns="0" tIns="0" rIns="0" bIns="0" rtlCol="0" anchor="ctr"/>
          <a:lstStyle/>
          <a:p>
            <a:pPr indent="0" marL="0">
              <a:buNone/>
            </a:pPr>
            <a:r>
              <a:rPr lang="en-US" sz="1400" b="1" spc="400" kern="0" dirty="0">
                <a:solidFill>
                  <a:srgbClr val="5EEAD4"/>
                </a:solidFill>
                <a:latin typeface="Calibri" pitchFamily="34" charset="0"/>
                <a:ea typeface="Calibri" pitchFamily="34" charset="-122"/>
                <a:cs typeface="Calibri" pitchFamily="34" charset="-120"/>
              </a:rPr>
              <a:t>PART 7</a:t>
            </a:r>
            <a:endParaRPr lang="en-US" sz="1400" dirty="0"/>
          </a:p>
        </p:txBody>
      </p:sp>
      <p:sp>
        <p:nvSpPr>
          <p:cNvPr id="8" name="Text 5"/>
          <p:cNvSpPr/>
          <p:nvPr/>
        </p:nvSpPr>
        <p:spPr>
          <a:xfrm>
            <a:off x="2057400" y="2606040"/>
            <a:ext cx="7498080" cy="146304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Build it: today’s hands-on</a:t>
            </a:r>
            <a:endParaRPr lang="en-US" sz="3400" dirty="0"/>
          </a:p>
        </p:txBody>
      </p:sp>
      <p:sp>
        <p:nvSpPr>
          <p:cNvPr id="9" name="Text 6"/>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EEAD4"/>
                </a:solidFill>
                <a:latin typeface="Consolas" pitchFamily="34" charset="0"/>
                <a:ea typeface="Consolas" pitchFamily="34" charset="-122"/>
                <a:cs typeface="Consolas" pitchFamily="34" charset="-120"/>
              </a:rPr>
              <a:t>46</a:t>
            </a:r>
            <a:endParaRPr lang="en-US" sz="900" dirty="0"/>
          </a:p>
        </p:txBody>
      </p:sp>
      <p:sp>
        <p:nvSpPr>
          <p:cNvPr id="10" name="Text 7"/>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7FA6B6"/>
                </a:solidFill>
                <a:latin typeface="Calibri" pitchFamily="34" charset="0"/>
                <a:ea typeface="Calibri" pitchFamily="34" charset="-122"/>
                <a:cs typeface="Calibri" pitchFamily="34" charset="-120"/>
              </a:rPr>
              <a:t>A2UI · Agentic UI Layer</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WHAT YOU BUILD NOW</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The four verbs, made real</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47</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783080"/>
            <a:ext cx="5349240" cy="1737360"/>
          </a:xfrm>
          <a:prstGeom prst="roundRect">
            <a:avLst>
              <a:gd name="adj" fmla="val 631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9" name="Shape 6"/>
          <p:cNvSpPr/>
          <p:nvPr/>
        </p:nvSpPr>
        <p:spPr>
          <a:xfrm>
            <a:off x="822960" y="2057400"/>
            <a:ext cx="658368" cy="658368"/>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994136" y="2228576"/>
            <a:ext cx="316017" cy="316017"/>
          </a:xfrm>
          <a:prstGeom prst="rect">
            <a:avLst/>
          </a:prstGeom>
        </p:spPr>
      </p:pic>
      <p:sp>
        <p:nvSpPr>
          <p:cNvPr id="11" name="Text 7"/>
          <p:cNvSpPr/>
          <p:nvPr/>
        </p:nvSpPr>
        <p:spPr>
          <a:xfrm>
            <a:off x="1691640" y="2057400"/>
            <a:ext cx="4023360" cy="457200"/>
          </a:xfrm>
          <a:prstGeom prst="rect">
            <a:avLst/>
          </a:prstGeom>
          <a:noFill/>
          <a:ln/>
        </p:spPr>
        <p:txBody>
          <a:bodyPr wrap="square" lIns="0" tIns="0" rIns="0" bIns="0" rtlCol="0" anchor="ctr"/>
          <a:lstStyle/>
          <a:p>
            <a:pPr indent="0" marL="0">
              <a:buNone/>
            </a:pPr>
            <a:r>
              <a:rPr lang="en-US" sz="2000" b="1" dirty="0">
                <a:solidFill>
                  <a:srgbClr val="0E2330"/>
                </a:solidFill>
                <a:latin typeface="Cambria" pitchFamily="34" charset="0"/>
                <a:ea typeface="Cambria" pitchFamily="34" charset="-122"/>
                <a:cs typeface="Cambria" pitchFamily="34" charset="-120"/>
              </a:rPr>
              <a:t>STRUCTURE</a:t>
            </a:r>
            <a:endParaRPr lang="en-US" sz="2000" dirty="0"/>
          </a:p>
        </p:txBody>
      </p:sp>
      <p:sp>
        <p:nvSpPr>
          <p:cNvPr id="12" name="Text 8"/>
          <p:cNvSpPr/>
          <p:nvPr/>
        </p:nvSpPr>
        <p:spPr>
          <a:xfrm>
            <a:off x="1691640" y="2624328"/>
            <a:ext cx="4069080" cy="77724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Take a plain-text TravelMind response and emit a structured A2UI payload.</a:t>
            </a:r>
            <a:endParaRPr lang="en-US" sz="1250" dirty="0"/>
          </a:p>
        </p:txBody>
      </p:sp>
      <p:sp>
        <p:nvSpPr>
          <p:cNvPr id="13" name="Shape 9"/>
          <p:cNvSpPr/>
          <p:nvPr/>
        </p:nvSpPr>
        <p:spPr>
          <a:xfrm>
            <a:off x="6263640" y="1783080"/>
            <a:ext cx="5349240" cy="1737360"/>
          </a:xfrm>
          <a:prstGeom prst="roundRect">
            <a:avLst>
              <a:gd name="adj" fmla="val 631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4" name="Shape 10"/>
          <p:cNvSpPr/>
          <p:nvPr/>
        </p:nvSpPr>
        <p:spPr>
          <a:xfrm>
            <a:off x="6537960" y="2057400"/>
            <a:ext cx="658368" cy="658368"/>
          </a:xfrm>
          <a:prstGeom prst="ellipse">
            <a:avLst/>
          </a:prstGeom>
          <a:solidFill>
            <a:srgbClr val="E8951C"/>
          </a:solidFill>
          <a:ln/>
          <a:effectLst>
            <a:outerShdw sx="100000" sy="100000" kx="0" ky="0" algn="bl" rotWithShape="0" blurRad="114300" dist="50800" dir="5400000">
              <a:srgbClr val="0B2430">
                <a:alpha val="10000"/>
              </a:srgbClr>
            </a:outerShdw>
          </a:effectLst>
        </p:spPr>
      </p:sp>
      <p:pic>
        <p:nvPicPr>
          <p:cNvPr id="15" name="Image 2" descr="preencoded.png">    </p:cNvPr>
          <p:cNvPicPr>
            <a:picLocks noChangeAspect="1"/>
          </p:cNvPicPr>
          <p:nvPr/>
        </p:nvPicPr>
        <p:blipFill>
          <a:blip r:embed="rId3"/>
          <a:stretch>
            <a:fillRect/>
          </a:stretch>
        </p:blipFill>
        <p:spPr>
          <a:xfrm>
            <a:off x="6709136" y="2228576"/>
            <a:ext cx="316017" cy="316017"/>
          </a:xfrm>
          <a:prstGeom prst="rect">
            <a:avLst/>
          </a:prstGeom>
        </p:spPr>
      </p:pic>
      <p:sp>
        <p:nvSpPr>
          <p:cNvPr id="16" name="Text 11"/>
          <p:cNvSpPr/>
          <p:nvPr/>
        </p:nvSpPr>
        <p:spPr>
          <a:xfrm>
            <a:off x="7406640" y="2057400"/>
            <a:ext cx="4023360" cy="457200"/>
          </a:xfrm>
          <a:prstGeom prst="rect">
            <a:avLst/>
          </a:prstGeom>
          <a:noFill/>
          <a:ln/>
        </p:spPr>
        <p:txBody>
          <a:bodyPr wrap="square" lIns="0" tIns="0" rIns="0" bIns="0" rtlCol="0" anchor="ctr"/>
          <a:lstStyle/>
          <a:p>
            <a:pPr indent="0" marL="0">
              <a:buNone/>
            </a:pPr>
            <a:r>
              <a:rPr lang="en-US" sz="2000" b="1" dirty="0">
                <a:solidFill>
                  <a:srgbClr val="0E2330"/>
                </a:solidFill>
                <a:latin typeface="Cambria" pitchFamily="34" charset="0"/>
                <a:ea typeface="Cambria" pitchFamily="34" charset="-122"/>
                <a:cs typeface="Cambria" pitchFamily="34" charset="-120"/>
              </a:rPr>
              <a:t>GATE</a:t>
            </a:r>
            <a:endParaRPr lang="en-US" sz="2000" dirty="0"/>
          </a:p>
        </p:txBody>
      </p:sp>
      <p:sp>
        <p:nvSpPr>
          <p:cNvPr id="17" name="Text 12"/>
          <p:cNvSpPr/>
          <p:nvPr/>
        </p:nvSpPr>
        <p:spPr>
          <a:xfrm>
            <a:off x="7406640" y="2624328"/>
            <a:ext cx="4069080" cy="77724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Add an approval panel (approve / reject) with the tool call shown.</a:t>
            </a:r>
            <a:endParaRPr lang="en-US" sz="1250" dirty="0"/>
          </a:p>
        </p:txBody>
      </p:sp>
      <p:sp>
        <p:nvSpPr>
          <p:cNvPr id="18" name="Shape 13"/>
          <p:cNvSpPr/>
          <p:nvPr/>
        </p:nvSpPr>
        <p:spPr>
          <a:xfrm>
            <a:off x="548640" y="3657600"/>
            <a:ext cx="5349240" cy="1737360"/>
          </a:xfrm>
          <a:prstGeom prst="roundRect">
            <a:avLst>
              <a:gd name="adj" fmla="val 631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9" name="Shape 14"/>
          <p:cNvSpPr/>
          <p:nvPr/>
        </p:nvSpPr>
        <p:spPr>
          <a:xfrm>
            <a:off x="822960" y="3931920"/>
            <a:ext cx="658368" cy="658368"/>
          </a:xfrm>
          <a:prstGeom prst="ellipse">
            <a:avLst/>
          </a:prstGeom>
          <a:solidFill>
            <a:srgbClr val="1B4861"/>
          </a:solidFill>
          <a:ln/>
          <a:effectLst>
            <a:outerShdw sx="100000" sy="100000" kx="0" ky="0" algn="bl" rotWithShape="0" blurRad="114300" dist="50800" dir="5400000">
              <a:srgbClr val="0B2430">
                <a:alpha val="10000"/>
              </a:srgbClr>
            </a:outerShdw>
          </a:effectLst>
        </p:spPr>
      </p:sp>
      <p:pic>
        <p:nvPicPr>
          <p:cNvPr id="20" name="Image 3" descr="preencoded.png">    </p:cNvPr>
          <p:cNvPicPr>
            <a:picLocks noChangeAspect="1"/>
          </p:cNvPicPr>
          <p:nvPr/>
        </p:nvPicPr>
        <p:blipFill>
          <a:blip r:embed="rId4"/>
          <a:stretch>
            <a:fillRect/>
          </a:stretch>
        </p:blipFill>
        <p:spPr>
          <a:xfrm>
            <a:off x="994136" y="4103096"/>
            <a:ext cx="316017" cy="316017"/>
          </a:xfrm>
          <a:prstGeom prst="rect">
            <a:avLst/>
          </a:prstGeom>
        </p:spPr>
      </p:pic>
      <p:sp>
        <p:nvSpPr>
          <p:cNvPr id="21" name="Text 15"/>
          <p:cNvSpPr/>
          <p:nvPr/>
        </p:nvSpPr>
        <p:spPr>
          <a:xfrm>
            <a:off x="1691640" y="3931920"/>
            <a:ext cx="4023360" cy="457200"/>
          </a:xfrm>
          <a:prstGeom prst="rect">
            <a:avLst/>
          </a:prstGeom>
          <a:noFill/>
          <a:ln/>
        </p:spPr>
        <p:txBody>
          <a:bodyPr wrap="square" lIns="0" tIns="0" rIns="0" bIns="0" rtlCol="0" anchor="ctr"/>
          <a:lstStyle/>
          <a:p>
            <a:pPr indent="0" marL="0">
              <a:buNone/>
            </a:pPr>
            <a:r>
              <a:rPr lang="en-US" sz="2000" b="1" dirty="0">
                <a:solidFill>
                  <a:srgbClr val="0E2330"/>
                </a:solidFill>
                <a:latin typeface="Cambria" pitchFamily="34" charset="0"/>
                <a:ea typeface="Cambria" pitchFamily="34" charset="-122"/>
                <a:cs typeface="Cambria" pitchFamily="34" charset="-120"/>
              </a:rPr>
              <a:t>RECORD</a:t>
            </a:r>
            <a:endParaRPr lang="en-US" sz="2000" dirty="0"/>
          </a:p>
        </p:txBody>
      </p:sp>
      <p:sp>
        <p:nvSpPr>
          <p:cNvPr id="22" name="Text 16"/>
          <p:cNvSpPr/>
          <p:nvPr/>
        </p:nvSpPr>
        <p:spPr>
          <a:xfrm>
            <a:off x="1691640" y="4498848"/>
            <a:ext cx="4069080" cy="77724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Write an audit log of every payload + userAction.</a:t>
            </a:r>
            <a:endParaRPr lang="en-US" sz="1250" dirty="0"/>
          </a:p>
        </p:txBody>
      </p:sp>
      <p:sp>
        <p:nvSpPr>
          <p:cNvPr id="23" name="Shape 17"/>
          <p:cNvSpPr/>
          <p:nvPr/>
        </p:nvSpPr>
        <p:spPr>
          <a:xfrm>
            <a:off x="6263640" y="3657600"/>
            <a:ext cx="5349240" cy="1737360"/>
          </a:xfrm>
          <a:prstGeom prst="roundRect">
            <a:avLst>
              <a:gd name="adj" fmla="val 6316"/>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4" name="Shape 18"/>
          <p:cNvSpPr/>
          <p:nvPr/>
        </p:nvSpPr>
        <p:spPr>
          <a:xfrm>
            <a:off x="6537960" y="3931920"/>
            <a:ext cx="658368" cy="658368"/>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25" name="Image 4" descr="preencoded.png">    </p:cNvPr>
          <p:cNvPicPr>
            <a:picLocks noChangeAspect="1"/>
          </p:cNvPicPr>
          <p:nvPr/>
        </p:nvPicPr>
        <p:blipFill>
          <a:blip r:embed="rId5"/>
          <a:stretch>
            <a:fillRect/>
          </a:stretch>
        </p:blipFill>
        <p:spPr>
          <a:xfrm>
            <a:off x="6709136" y="4103096"/>
            <a:ext cx="316017" cy="316017"/>
          </a:xfrm>
          <a:prstGeom prst="rect">
            <a:avLst/>
          </a:prstGeom>
        </p:spPr>
      </p:pic>
      <p:sp>
        <p:nvSpPr>
          <p:cNvPr id="26" name="Text 19"/>
          <p:cNvSpPr/>
          <p:nvPr/>
        </p:nvSpPr>
        <p:spPr>
          <a:xfrm>
            <a:off x="7406640" y="3931920"/>
            <a:ext cx="4023360" cy="457200"/>
          </a:xfrm>
          <a:prstGeom prst="rect">
            <a:avLst/>
          </a:prstGeom>
          <a:noFill/>
          <a:ln/>
        </p:spPr>
        <p:txBody>
          <a:bodyPr wrap="square" lIns="0" tIns="0" rIns="0" bIns="0" rtlCol="0" anchor="ctr"/>
          <a:lstStyle/>
          <a:p>
            <a:pPr indent="0" marL="0">
              <a:buNone/>
            </a:pPr>
            <a:r>
              <a:rPr lang="en-US" sz="2000" b="1" dirty="0">
                <a:solidFill>
                  <a:srgbClr val="0E2330"/>
                </a:solidFill>
                <a:latin typeface="Cambria" pitchFamily="34" charset="0"/>
                <a:ea typeface="Cambria" pitchFamily="34" charset="-122"/>
                <a:cs typeface="Cambria" pitchFamily="34" charset="-120"/>
              </a:rPr>
              <a:t>SHOW</a:t>
            </a:r>
            <a:endParaRPr lang="en-US" sz="2000" dirty="0"/>
          </a:p>
        </p:txBody>
      </p:sp>
      <p:sp>
        <p:nvSpPr>
          <p:cNvPr id="27" name="Text 20"/>
          <p:cNvSpPr/>
          <p:nvPr/>
        </p:nvSpPr>
        <p:spPr>
          <a:xfrm>
            <a:off x="7406640" y="4498848"/>
            <a:ext cx="4069080" cy="777240"/>
          </a:xfrm>
          <a:prstGeom prst="rect">
            <a:avLst/>
          </a:prstGeom>
          <a:noFill/>
          <a:ln/>
        </p:spPr>
        <p:txBody>
          <a:bodyPr wrap="square" lIns="0" tIns="0" rIns="0" bIns="0" rtlCol="0" anchor="t"/>
          <a:lstStyle/>
          <a:p>
            <a:pPr indent="0" marL="0">
              <a:buNone/>
            </a:pPr>
            <a:r>
              <a:rPr lang="en-US" sz="1250" dirty="0">
                <a:solidFill>
                  <a:srgbClr val="5B7383"/>
                </a:solidFill>
                <a:latin typeface="Calibri" pitchFamily="34" charset="0"/>
                <a:ea typeface="Calibri" pitchFamily="34" charset="-122"/>
                <a:cs typeface="Calibri" pitchFamily="34" charset="-120"/>
              </a:rPr>
              <a:t>Wire a Streamlit admin view over the running agent.</a:t>
            </a:r>
            <a:endParaRPr lang="en-US" sz="1250" dirty="0"/>
          </a:p>
        </p:txBody>
      </p:sp>
      <p:sp>
        <p:nvSpPr>
          <p:cNvPr id="28" name="Text 21"/>
          <p:cNvSpPr/>
          <p:nvPr/>
        </p:nvSpPr>
        <p:spPr>
          <a:xfrm>
            <a:off x="548640" y="5577840"/>
            <a:ext cx="11064240" cy="365760"/>
          </a:xfrm>
          <a:prstGeom prst="rect">
            <a:avLst/>
          </a:prstGeom>
          <a:noFill/>
          <a:ln/>
        </p:spPr>
        <p:txBody>
          <a:bodyPr wrap="square" lIns="0" tIns="0" rIns="0" bIns="0" rtlCol="0" anchor="ctr"/>
          <a:lstStyle/>
          <a:p>
            <a:pPr algn="ctr" indent="0" marL="0">
              <a:buNone/>
            </a:pPr>
            <a:r>
              <a:rPr lang="en-US" sz="1200" i="1" dirty="0">
                <a:solidFill>
                  <a:srgbClr val="5B7383"/>
                </a:solidFill>
                <a:latin typeface="Calibri" pitchFamily="34" charset="0"/>
                <a:ea typeface="Calibri" pitchFamily="34" charset="-122"/>
                <a:cs typeface="Calibri" pitchFamily="34" charset="-120"/>
              </a:rPr>
              <a:t>Keep it simple: the payload is the star, Streamlit is the admin lens.</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TWO NOTEBOOKS, ONE ANCHOR</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What you run end to end</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48</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783080"/>
            <a:ext cx="5440680" cy="3703320"/>
          </a:xfrm>
          <a:prstGeom prst="roundRect">
            <a:avLst>
              <a:gd name="adj" fmla="val 2963"/>
            </a:avLst>
          </a:prstGeom>
          <a:solidFill>
            <a:srgbClr val="0E2330"/>
          </a:solidFill>
          <a:ln/>
          <a:effectLst>
            <a:outerShdw sx="100000" sy="100000" kx="0" ky="0" algn="bl" rotWithShape="0" blurRad="88900" dist="38100" dir="5400000">
              <a:srgbClr val="0B2430">
                <a:alpha val="13000"/>
              </a:srgbClr>
            </a:outerShdw>
          </a:effectLst>
        </p:spPr>
      </p:sp>
      <p:sp>
        <p:nvSpPr>
          <p:cNvPr id="9" name="Shape 6"/>
          <p:cNvSpPr/>
          <p:nvPr/>
        </p:nvSpPr>
        <p:spPr>
          <a:xfrm>
            <a:off x="777240" y="2011680"/>
            <a:ext cx="2194560" cy="411480"/>
          </a:xfrm>
          <a:prstGeom prst="roundRect">
            <a:avLst>
              <a:gd name="adj" fmla="val 48889"/>
            </a:avLst>
          </a:prstGeom>
          <a:solidFill>
            <a:srgbClr val="0E7C86"/>
          </a:solidFill>
          <a:ln/>
        </p:spPr>
      </p:sp>
      <p:sp>
        <p:nvSpPr>
          <p:cNvPr id="10" name="Text 7"/>
          <p:cNvSpPr/>
          <p:nvPr/>
        </p:nvSpPr>
        <p:spPr>
          <a:xfrm>
            <a:off x="777240" y="2011680"/>
            <a:ext cx="21945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NOTEBOOK 1</a:t>
            </a:r>
            <a:endParaRPr lang="en-US" sz="1100" dirty="0"/>
          </a:p>
        </p:txBody>
      </p:sp>
      <p:sp>
        <p:nvSpPr>
          <p:cNvPr id="11" name="Text 8"/>
          <p:cNvSpPr/>
          <p:nvPr/>
        </p:nvSpPr>
        <p:spPr>
          <a:xfrm>
            <a:off x="777240" y="2606040"/>
            <a:ext cx="49834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A2UI through Strands</a:t>
            </a:r>
            <a:endParaRPr lang="en-US" sz="1800" dirty="0"/>
          </a:p>
        </p:txBody>
      </p:sp>
      <p:sp>
        <p:nvSpPr>
          <p:cNvPr id="12" name="Text 9"/>
          <p:cNvSpPr/>
          <p:nvPr/>
        </p:nvSpPr>
        <p:spPr>
          <a:xfrm>
            <a:off x="868680" y="3200400"/>
            <a:ext cx="4846320" cy="2194560"/>
          </a:xfrm>
          <a:prstGeom prst="rect">
            <a:avLst/>
          </a:prstGeom>
          <a:noFill/>
          <a:ln/>
        </p:spPr>
        <p:txBody>
          <a:bodyPr wrap="square" lIns="0" tIns="0" rIns="0" bIns="0" rtlCol="0" anchor="t"/>
          <a:lstStyle/>
          <a:p>
            <a:pPr marL="203200" indent="-203200">
              <a:spcAft>
                <a:spcPts val="1100"/>
              </a:spcAft>
              <a:buSzPct val="100000"/>
              <a:buChar char="•"/>
            </a:pPr>
            <a:r>
              <a:rPr lang="en-US" sz="1300" dirty="0">
                <a:solidFill>
                  <a:srgbClr val="D6E5EC"/>
                </a:solidFill>
                <a:latin typeface="Calibri" pitchFamily="34" charset="0"/>
                <a:ea typeface="Calibri" pitchFamily="34" charset="-122"/>
                <a:cs typeface="Calibri" pitchFamily="34" charset="-120"/>
              </a:rPr>
              <a:t>A render_ui tool emits validated A2UI</a:t>
            </a:r>
            <a:endParaRPr lang="en-US" sz="1300" dirty="0"/>
          </a:p>
          <a:p>
            <a:pPr marL="203200" indent="-203200">
              <a:spcAft>
                <a:spcPts val="1100"/>
              </a:spcAft>
              <a:buSzPct val="100000"/>
              <a:buChar char="•"/>
            </a:pPr>
            <a:r>
              <a:rPr lang="en-US" sz="1300" dirty="0">
                <a:solidFill>
                  <a:srgbClr val="D6E5EC"/>
                </a:solidFill>
                <a:latin typeface="Calibri" pitchFamily="34" charset="0"/>
                <a:ea typeface="Calibri" pitchFamily="34" charset="-122"/>
                <a:cs typeface="Calibri" pitchFamily="34" charset="-120"/>
              </a:rPr>
              <a:t>A callback handler captures it</a:t>
            </a:r>
            <a:endParaRPr lang="en-US" sz="1300" dirty="0"/>
          </a:p>
          <a:p>
            <a:pPr marL="203200" indent="-203200">
              <a:spcAft>
                <a:spcPts val="1100"/>
              </a:spcAft>
              <a:buSzPct val="100000"/>
              <a:buChar char="•"/>
            </a:pPr>
            <a:r>
              <a:rPr lang="en-US" sz="1300" dirty="0">
                <a:solidFill>
                  <a:srgbClr val="D6E5EC"/>
                </a:solidFill>
                <a:latin typeface="Calibri" pitchFamily="34" charset="0"/>
                <a:ea typeface="Calibri" pitchFamily="34" charset="-122"/>
                <a:cs typeface="Calibri" pitchFamily="34" charset="-120"/>
              </a:rPr>
              <a:t>You inspect the payload</a:t>
            </a:r>
            <a:endParaRPr lang="en-US" sz="1300" dirty="0"/>
          </a:p>
          <a:p>
            <a:pPr marL="203200" indent="-203200">
              <a:spcAft>
                <a:spcPts val="1100"/>
              </a:spcAft>
              <a:buSzPct val="100000"/>
              <a:buChar char="•"/>
            </a:pPr>
            <a:r>
              <a:rPr lang="en-US" sz="1300" dirty="0">
                <a:solidFill>
                  <a:srgbClr val="D6E5EC"/>
                </a:solidFill>
                <a:latin typeface="Calibri" pitchFamily="34" charset="0"/>
                <a:ea typeface="Calibri" pitchFamily="34" charset="-122"/>
                <a:cs typeface="Calibri" pitchFamily="34" charset="-120"/>
              </a:rPr>
              <a:t>Drive the Streamlit admin view</a:t>
            </a:r>
            <a:endParaRPr lang="en-US" sz="1300" dirty="0"/>
          </a:p>
        </p:txBody>
      </p:sp>
      <p:sp>
        <p:nvSpPr>
          <p:cNvPr id="13" name="Shape 10"/>
          <p:cNvSpPr/>
          <p:nvPr/>
        </p:nvSpPr>
        <p:spPr>
          <a:xfrm>
            <a:off x="6172200" y="1783080"/>
            <a:ext cx="5440680" cy="3703320"/>
          </a:xfrm>
          <a:prstGeom prst="roundRect">
            <a:avLst>
              <a:gd name="adj" fmla="val 2963"/>
            </a:avLst>
          </a:prstGeom>
          <a:solidFill>
            <a:srgbClr val="0E7C86"/>
          </a:solidFill>
          <a:ln/>
          <a:effectLst>
            <a:outerShdw sx="100000" sy="100000" kx="0" ky="0" algn="bl" rotWithShape="0" blurRad="88900" dist="38100" dir="5400000">
              <a:srgbClr val="0B2430">
                <a:alpha val="13000"/>
              </a:srgbClr>
            </a:outerShdw>
          </a:effectLst>
        </p:spPr>
      </p:sp>
      <p:sp>
        <p:nvSpPr>
          <p:cNvPr id="14" name="Shape 11"/>
          <p:cNvSpPr/>
          <p:nvPr/>
        </p:nvSpPr>
        <p:spPr>
          <a:xfrm>
            <a:off x="6400800" y="2011680"/>
            <a:ext cx="2194560" cy="411480"/>
          </a:xfrm>
          <a:prstGeom prst="roundRect">
            <a:avLst>
              <a:gd name="adj" fmla="val 48889"/>
            </a:avLst>
          </a:prstGeom>
          <a:solidFill>
            <a:srgbClr val="0E2330"/>
          </a:solidFill>
          <a:ln/>
        </p:spPr>
      </p:sp>
      <p:sp>
        <p:nvSpPr>
          <p:cNvPr id="15" name="Text 12"/>
          <p:cNvSpPr/>
          <p:nvPr/>
        </p:nvSpPr>
        <p:spPr>
          <a:xfrm>
            <a:off x="6400800" y="2011680"/>
            <a:ext cx="2194560" cy="411480"/>
          </a:xfrm>
          <a:prstGeom prst="rect">
            <a:avLst/>
          </a:prstGeom>
          <a:noFill/>
          <a:ln/>
        </p:spPr>
        <p:txBody>
          <a:bodyPr wrap="square" lIns="0" tIns="0" rIns="0" bIns="0" rtlCol="0" anchor="ctr"/>
          <a:lstStyle/>
          <a:p>
            <a:pPr algn="ctr" indent="0" marL="0">
              <a:buNone/>
            </a:pPr>
            <a:r>
              <a:rPr lang="en-US" sz="1100" b="1" dirty="0">
                <a:solidFill>
                  <a:srgbClr val="5EEAD4"/>
                </a:solidFill>
                <a:latin typeface="Calibri" pitchFamily="34" charset="0"/>
                <a:ea typeface="Calibri" pitchFamily="34" charset="-122"/>
                <a:cs typeface="Calibri" pitchFamily="34" charset="-120"/>
              </a:rPr>
              <a:t>NOTEBOOK 2</a:t>
            </a:r>
            <a:endParaRPr lang="en-US" sz="1100" dirty="0"/>
          </a:p>
        </p:txBody>
      </p:sp>
      <p:sp>
        <p:nvSpPr>
          <p:cNvPr id="16" name="Text 13"/>
          <p:cNvSpPr/>
          <p:nvPr/>
        </p:nvSpPr>
        <p:spPr>
          <a:xfrm>
            <a:off x="6400800" y="2606040"/>
            <a:ext cx="498348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A2UI with AgentCore</a:t>
            </a:r>
            <a:endParaRPr lang="en-US" sz="1800" dirty="0"/>
          </a:p>
        </p:txBody>
      </p:sp>
      <p:sp>
        <p:nvSpPr>
          <p:cNvPr id="17" name="Text 14"/>
          <p:cNvSpPr/>
          <p:nvPr/>
        </p:nvSpPr>
        <p:spPr>
          <a:xfrm>
            <a:off x="6492240" y="3200400"/>
            <a:ext cx="4846320" cy="2194560"/>
          </a:xfrm>
          <a:prstGeom prst="rect">
            <a:avLst/>
          </a:prstGeom>
          <a:noFill/>
          <a:ln/>
        </p:spPr>
        <p:txBody>
          <a:bodyPr wrap="square" lIns="0" tIns="0" rIns="0" bIns="0" rtlCol="0" anchor="t"/>
          <a:lstStyle/>
          <a:p>
            <a:pPr marL="203200" indent="-203200">
              <a:spcAft>
                <a:spcPts val="1100"/>
              </a:spcAft>
              <a:buSzPct val="100000"/>
              <a:buChar char="•"/>
            </a:pPr>
            <a:r>
              <a:rPr lang="en-US" sz="1300" dirty="0">
                <a:solidFill>
                  <a:srgbClr val="EAF7F6"/>
                </a:solidFill>
                <a:latin typeface="Calibri" pitchFamily="34" charset="0"/>
                <a:ea typeface="Calibri" pitchFamily="34" charset="-122"/>
                <a:cs typeface="Calibri" pitchFamily="34" charset="-120"/>
              </a:rPr>
              <a:t>Same agent, positioned for AgentCore Runtime</a:t>
            </a:r>
            <a:endParaRPr lang="en-US" sz="1300" dirty="0"/>
          </a:p>
          <a:p>
            <a:pPr marL="203200" indent="-203200">
              <a:spcAft>
                <a:spcPts val="1100"/>
              </a:spcAft>
              <a:buSzPct val="100000"/>
              <a:buChar char="•"/>
            </a:pPr>
            <a:r>
              <a:rPr lang="en-US" sz="1300" dirty="0">
                <a:solidFill>
                  <a:srgbClr val="EAF7F6"/>
                </a:solidFill>
                <a:latin typeface="Calibri" pitchFamily="34" charset="0"/>
                <a:ea typeface="Calibri" pitchFamily="34" charset="-122"/>
                <a:cs typeface="Calibri" pitchFamily="34" charset="-120"/>
              </a:rPr>
              <a:t>Observability for the admin view</a:t>
            </a:r>
            <a:endParaRPr lang="en-US" sz="1300" dirty="0"/>
          </a:p>
          <a:p>
            <a:pPr marL="203200" indent="-203200">
              <a:spcAft>
                <a:spcPts val="1100"/>
              </a:spcAft>
              <a:buSzPct val="100000"/>
              <a:buChar char="•"/>
            </a:pPr>
            <a:r>
              <a:rPr lang="en-US" sz="1300" dirty="0">
                <a:solidFill>
                  <a:srgbClr val="EAF7F6"/>
                </a:solidFill>
                <a:latin typeface="Calibri" pitchFamily="34" charset="0"/>
                <a:ea typeface="Calibri" pitchFamily="34" charset="-122"/>
                <a:cs typeface="Calibri" pitchFamily="34" charset="-120"/>
              </a:rPr>
              <a:t>Identity for role-based views</a:t>
            </a:r>
            <a:endParaRPr lang="en-US" sz="1300" dirty="0"/>
          </a:p>
          <a:p>
            <a:pPr marL="203200" indent="-203200">
              <a:spcAft>
                <a:spcPts val="1100"/>
              </a:spcAft>
              <a:buSzPct val="100000"/>
              <a:buChar char="•"/>
            </a:pPr>
            <a:r>
              <a:rPr lang="en-US" sz="1300" dirty="0">
                <a:solidFill>
                  <a:srgbClr val="EAF7F6"/>
                </a:solidFill>
                <a:latin typeface="Calibri" pitchFamily="34" charset="0"/>
                <a:ea typeface="Calibri" pitchFamily="34" charset="-122"/>
                <a:cs typeface="Calibri" pitchFamily="34" charset="-120"/>
              </a:rPr>
              <a:t>Policy as the approval gate</a:t>
            </a:r>
            <a:endParaRPr lang="en-US" sz="1300" dirty="0"/>
          </a:p>
        </p:txBody>
      </p:sp>
      <p:sp>
        <p:nvSpPr>
          <p:cNvPr id="18" name="Text 15"/>
          <p:cNvSpPr/>
          <p:nvPr/>
        </p:nvSpPr>
        <p:spPr>
          <a:xfrm>
            <a:off x="548640" y="5577840"/>
            <a:ext cx="11064240" cy="365760"/>
          </a:xfrm>
          <a:prstGeom prst="rect">
            <a:avLst/>
          </a:prstGeom>
          <a:noFill/>
          <a:ln/>
        </p:spPr>
        <p:txBody>
          <a:bodyPr wrap="square" lIns="0" tIns="0" rIns="0" bIns="0" rtlCol="0" anchor="ctr"/>
          <a:lstStyle/>
          <a:p>
            <a:pPr algn="ctr" indent="0" marL="0">
              <a:buNone/>
            </a:pPr>
            <a:r>
              <a:rPr lang="en-US" sz="1200" i="1" dirty="0">
                <a:solidFill>
                  <a:srgbClr val="5B7383"/>
                </a:solidFill>
                <a:latin typeface="Calibri" pitchFamily="34" charset="0"/>
                <a:ea typeface="Calibri" pitchFamily="34" charset="-122"/>
                <a:cs typeface="Calibri" pitchFamily="34" charset="-120"/>
              </a:rPr>
              <a:t>Same TravelMind anchor across both, so cognitive load stays low.</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IF YOU REMEMBER ONE SLIDE</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Key takeaways</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49</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1783080"/>
            <a:ext cx="11064240" cy="768096"/>
          </a:xfrm>
          <a:prstGeom prst="roundRect">
            <a:avLst>
              <a:gd name="adj" fmla="val 11905"/>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9" name="Shape 6"/>
          <p:cNvSpPr/>
          <p:nvPr/>
        </p:nvSpPr>
        <p:spPr>
          <a:xfrm>
            <a:off x="749808" y="1920240"/>
            <a:ext cx="493776" cy="493776"/>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878190" y="2048622"/>
            <a:ext cx="237012" cy="237012"/>
          </a:xfrm>
          <a:prstGeom prst="rect">
            <a:avLst/>
          </a:prstGeom>
        </p:spPr>
      </p:pic>
      <p:sp>
        <p:nvSpPr>
          <p:cNvPr id="11" name="Text 7"/>
          <p:cNvSpPr/>
          <p:nvPr/>
        </p:nvSpPr>
        <p:spPr>
          <a:xfrm>
            <a:off x="1463040" y="1783080"/>
            <a:ext cx="9966960" cy="768096"/>
          </a:xfrm>
          <a:prstGeom prst="rect">
            <a:avLst/>
          </a:prstGeom>
          <a:noFill/>
          <a:ln/>
        </p:spPr>
        <p:txBody>
          <a:bodyPr wrap="square" lIns="0" tIns="0" rIns="0" bIns="0" rtlCol="0" anchor="ctr"/>
          <a:lstStyle/>
          <a:p>
            <a:pPr indent="0" marL="0">
              <a:buNone/>
            </a:pPr>
            <a:r>
              <a:rPr lang="en-US" sz="1450" dirty="0">
                <a:solidFill>
                  <a:srgbClr val="12242E"/>
                </a:solidFill>
                <a:latin typeface="Calibri" pitchFamily="34" charset="0"/>
                <a:ea typeface="Calibri" pitchFamily="34" charset="-122"/>
                <a:cs typeface="Calibri" pitchFamily="34" charset="-120"/>
              </a:rPr>
              <a:t>A2UI = format. Renderer = pixels. Catalog = the trusted contract.</a:t>
            </a:r>
            <a:endParaRPr lang="en-US" sz="1450" dirty="0"/>
          </a:p>
        </p:txBody>
      </p:sp>
      <p:sp>
        <p:nvSpPr>
          <p:cNvPr id="12" name="Shape 8"/>
          <p:cNvSpPr/>
          <p:nvPr/>
        </p:nvSpPr>
        <p:spPr>
          <a:xfrm>
            <a:off x="548640" y="2642616"/>
            <a:ext cx="11064240" cy="768096"/>
          </a:xfrm>
          <a:prstGeom prst="roundRect">
            <a:avLst>
              <a:gd name="adj" fmla="val 11905"/>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3" name="Shape 9"/>
          <p:cNvSpPr/>
          <p:nvPr/>
        </p:nvSpPr>
        <p:spPr>
          <a:xfrm>
            <a:off x="749808" y="2779776"/>
            <a:ext cx="493776" cy="493776"/>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4" name="Image 2" descr="preencoded.png">    </p:cNvPr>
          <p:cNvPicPr>
            <a:picLocks noChangeAspect="1"/>
          </p:cNvPicPr>
          <p:nvPr/>
        </p:nvPicPr>
        <p:blipFill>
          <a:blip r:embed="rId3"/>
          <a:stretch>
            <a:fillRect/>
          </a:stretch>
        </p:blipFill>
        <p:spPr>
          <a:xfrm>
            <a:off x="878190" y="2908158"/>
            <a:ext cx="237012" cy="237012"/>
          </a:xfrm>
          <a:prstGeom prst="rect">
            <a:avLst/>
          </a:prstGeom>
        </p:spPr>
      </p:pic>
      <p:sp>
        <p:nvSpPr>
          <p:cNvPr id="15" name="Text 10"/>
          <p:cNvSpPr/>
          <p:nvPr/>
        </p:nvSpPr>
        <p:spPr>
          <a:xfrm>
            <a:off x="1463040" y="2642616"/>
            <a:ext cx="9966960" cy="768096"/>
          </a:xfrm>
          <a:prstGeom prst="rect">
            <a:avLst/>
          </a:prstGeom>
          <a:noFill/>
          <a:ln/>
        </p:spPr>
        <p:txBody>
          <a:bodyPr wrap="square" lIns="0" tIns="0" rIns="0" bIns="0" rtlCol="0" anchor="ctr"/>
          <a:lstStyle/>
          <a:p>
            <a:pPr indent="0" marL="0">
              <a:buNone/>
            </a:pPr>
            <a:r>
              <a:rPr lang="en-US" sz="1450" dirty="0">
                <a:solidFill>
                  <a:srgbClr val="12242E"/>
                </a:solidFill>
                <a:latin typeface="Calibri" pitchFamily="34" charset="0"/>
                <a:ea typeface="Calibri" pitchFamily="34" charset="-122"/>
                <a:cs typeface="Calibri" pitchFamily="34" charset="-120"/>
              </a:rPr>
              <a:t>It is a layer with MCP, A2A, AG-UI, not a competitor.</a:t>
            </a:r>
            <a:endParaRPr lang="en-US" sz="1450" dirty="0"/>
          </a:p>
        </p:txBody>
      </p:sp>
      <p:sp>
        <p:nvSpPr>
          <p:cNvPr id="16" name="Shape 11"/>
          <p:cNvSpPr/>
          <p:nvPr/>
        </p:nvSpPr>
        <p:spPr>
          <a:xfrm>
            <a:off x="548640" y="3502152"/>
            <a:ext cx="11064240" cy="768096"/>
          </a:xfrm>
          <a:prstGeom prst="roundRect">
            <a:avLst>
              <a:gd name="adj" fmla="val 11905"/>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17" name="Shape 12"/>
          <p:cNvSpPr/>
          <p:nvPr/>
        </p:nvSpPr>
        <p:spPr>
          <a:xfrm>
            <a:off x="749808" y="3639312"/>
            <a:ext cx="493776" cy="493776"/>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18" name="Image 3" descr="preencoded.png">    </p:cNvPr>
          <p:cNvPicPr>
            <a:picLocks noChangeAspect="1"/>
          </p:cNvPicPr>
          <p:nvPr/>
        </p:nvPicPr>
        <p:blipFill>
          <a:blip r:embed="rId4"/>
          <a:stretch>
            <a:fillRect/>
          </a:stretch>
        </p:blipFill>
        <p:spPr>
          <a:xfrm>
            <a:off x="878190" y="3767694"/>
            <a:ext cx="237012" cy="237012"/>
          </a:xfrm>
          <a:prstGeom prst="rect">
            <a:avLst/>
          </a:prstGeom>
        </p:spPr>
      </p:pic>
      <p:sp>
        <p:nvSpPr>
          <p:cNvPr id="19" name="Text 13"/>
          <p:cNvSpPr/>
          <p:nvPr/>
        </p:nvSpPr>
        <p:spPr>
          <a:xfrm>
            <a:off x="1463040" y="3502152"/>
            <a:ext cx="9966960" cy="768096"/>
          </a:xfrm>
          <a:prstGeom prst="rect">
            <a:avLst/>
          </a:prstGeom>
          <a:noFill/>
          <a:ln/>
        </p:spPr>
        <p:txBody>
          <a:bodyPr wrap="square" lIns="0" tIns="0" rIns="0" bIns="0" rtlCol="0" anchor="ctr"/>
          <a:lstStyle/>
          <a:p>
            <a:pPr indent="0" marL="0">
              <a:buNone/>
            </a:pPr>
            <a:r>
              <a:rPr lang="en-US" sz="1450" dirty="0">
                <a:solidFill>
                  <a:srgbClr val="12242E"/>
                </a:solidFill>
                <a:latin typeface="Calibri" pitchFamily="34" charset="0"/>
                <a:ea typeface="Calibri" pitchFamily="34" charset="-122"/>
                <a:cs typeface="Calibri" pitchFamily="34" charset="-120"/>
              </a:rPr>
              <a:t>Reach for it when UI is dynamic, cross-platform, or crosses a trust boundary.</a:t>
            </a:r>
            <a:endParaRPr lang="en-US" sz="1450" dirty="0"/>
          </a:p>
        </p:txBody>
      </p:sp>
      <p:sp>
        <p:nvSpPr>
          <p:cNvPr id="20" name="Shape 14"/>
          <p:cNvSpPr/>
          <p:nvPr/>
        </p:nvSpPr>
        <p:spPr>
          <a:xfrm>
            <a:off x="548640" y="4361688"/>
            <a:ext cx="11064240" cy="768096"/>
          </a:xfrm>
          <a:prstGeom prst="roundRect">
            <a:avLst>
              <a:gd name="adj" fmla="val 11905"/>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1" name="Shape 15"/>
          <p:cNvSpPr/>
          <p:nvPr/>
        </p:nvSpPr>
        <p:spPr>
          <a:xfrm>
            <a:off x="749808" y="4498848"/>
            <a:ext cx="493776" cy="493776"/>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2" name="Image 4" descr="preencoded.png">    </p:cNvPr>
          <p:cNvPicPr>
            <a:picLocks noChangeAspect="1"/>
          </p:cNvPicPr>
          <p:nvPr/>
        </p:nvPicPr>
        <p:blipFill>
          <a:blip r:embed="rId5"/>
          <a:stretch>
            <a:fillRect/>
          </a:stretch>
        </p:blipFill>
        <p:spPr>
          <a:xfrm>
            <a:off x="878190" y="4627230"/>
            <a:ext cx="237012" cy="237012"/>
          </a:xfrm>
          <a:prstGeom prst="rect">
            <a:avLst/>
          </a:prstGeom>
        </p:spPr>
      </p:pic>
      <p:sp>
        <p:nvSpPr>
          <p:cNvPr id="23" name="Text 16"/>
          <p:cNvSpPr/>
          <p:nvPr/>
        </p:nvSpPr>
        <p:spPr>
          <a:xfrm>
            <a:off x="1463040" y="4361688"/>
            <a:ext cx="9966960" cy="768096"/>
          </a:xfrm>
          <a:prstGeom prst="rect">
            <a:avLst/>
          </a:prstGeom>
          <a:noFill/>
          <a:ln/>
        </p:spPr>
        <p:txBody>
          <a:bodyPr wrap="square" lIns="0" tIns="0" rIns="0" bIns="0" rtlCol="0" anchor="ctr"/>
          <a:lstStyle/>
          <a:p>
            <a:pPr indent="0" marL="0">
              <a:buNone/>
            </a:pPr>
            <a:r>
              <a:rPr lang="en-US" sz="1450" dirty="0">
                <a:solidFill>
                  <a:srgbClr val="12242E"/>
                </a:solidFill>
                <a:latin typeface="Calibri" pitchFamily="34" charset="0"/>
                <a:ea typeface="Calibri" pitchFamily="34" charset="-122"/>
                <a:cs typeface="Calibri" pitchFamily="34" charset="-120"/>
              </a:rPr>
              <a:t>Skip it when prose, a fixed UI, or plain Streamlit will do.</a:t>
            </a:r>
            <a:endParaRPr lang="en-US" sz="1450" dirty="0"/>
          </a:p>
        </p:txBody>
      </p:sp>
      <p:sp>
        <p:nvSpPr>
          <p:cNvPr id="24" name="Shape 17"/>
          <p:cNvSpPr/>
          <p:nvPr/>
        </p:nvSpPr>
        <p:spPr>
          <a:xfrm>
            <a:off x="548640" y="5221224"/>
            <a:ext cx="11064240" cy="768096"/>
          </a:xfrm>
          <a:prstGeom prst="roundRect">
            <a:avLst>
              <a:gd name="adj" fmla="val 11905"/>
            </a:avLst>
          </a:prstGeom>
          <a:solidFill>
            <a:srgbClr val="F1F6F8"/>
          </a:solidFill>
          <a:ln w="9525">
            <a:solidFill>
              <a:srgbClr val="CBD9E0"/>
            </a:solidFill>
            <a:prstDash val="solid"/>
          </a:ln>
          <a:effectLst>
            <a:outerShdw sx="100000" sy="100000" kx="0" ky="0" algn="bl" rotWithShape="0" blurRad="114300" dist="50800" dir="5400000">
              <a:srgbClr val="0B2430">
                <a:alpha val="10000"/>
              </a:srgbClr>
            </a:outerShdw>
          </a:effectLst>
        </p:spPr>
      </p:sp>
      <p:sp>
        <p:nvSpPr>
          <p:cNvPr id="25" name="Shape 18"/>
          <p:cNvSpPr/>
          <p:nvPr/>
        </p:nvSpPr>
        <p:spPr>
          <a:xfrm>
            <a:off x="749808" y="5358384"/>
            <a:ext cx="493776" cy="493776"/>
          </a:xfrm>
          <a:prstGeom prst="ellipse">
            <a:avLst/>
          </a:prstGeom>
          <a:solidFill>
            <a:srgbClr val="FFFFFF"/>
          </a:solidFill>
          <a:ln/>
          <a:effectLst>
            <a:outerShdw sx="100000" sy="100000" kx="0" ky="0" algn="bl" rotWithShape="0" blurRad="114300" dist="50800" dir="5400000">
              <a:srgbClr val="0B2430">
                <a:alpha val="10000"/>
              </a:srgbClr>
            </a:outerShdw>
          </a:effectLst>
        </p:spPr>
      </p:sp>
      <p:pic>
        <p:nvPicPr>
          <p:cNvPr id="26" name="Image 5" descr="preencoded.png">    </p:cNvPr>
          <p:cNvPicPr>
            <a:picLocks noChangeAspect="1"/>
          </p:cNvPicPr>
          <p:nvPr/>
        </p:nvPicPr>
        <p:blipFill>
          <a:blip r:embed="rId6"/>
          <a:stretch>
            <a:fillRect/>
          </a:stretch>
        </p:blipFill>
        <p:spPr>
          <a:xfrm>
            <a:off x="878190" y="5486766"/>
            <a:ext cx="237012" cy="237012"/>
          </a:xfrm>
          <a:prstGeom prst="rect">
            <a:avLst/>
          </a:prstGeom>
        </p:spPr>
      </p:pic>
      <p:sp>
        <p:nvSpPr>
          <p:cNvPr id="27" name="Text 19"/>
          <p:cNvSpPr/>
          <p:nvPr/>
        </p:nvSpPr>
        <p:spPr>
          <a:xfrm>
            <a:off x="1463040" y="5221224"/>
            <a:ext cx="9966960" cy="768096"/>
          </a:xfrm>
          <a:prstGeom prst="rect">
            <a:avLst/>
          </a:prstGeom>
          <a:noFill/>
          <a:ln/>
        </p:spPr>
        <p:txBody>
          <a:bodyPr wrap="square" lIns="0" tIns="0" rIns="0" bIns="0" rtlCol="0" anchor="ctr"/>
          <a:lstStyle/>
          <a:p>
            <a:pPr indent="0" marL="0">
              <a:buNone/>
            </a:pPr>
            <a:r>
              <a:rPr lang="en-US" sz="1450" dirty="0">
                <a:solidFill>
                  <a:srgbClr val="12242E"/>
                </a:solidFill>
                <a:latin typeface="Calibri" pitchFamily="34" charset="0"/>
                <a:ea typeface="Calibri" pitchFamily="34" charset="-122"/>
                <a:cs typeface="Calibri" pitchFamily="34" charset="-120"/>
              </a:rPr>
              <a:t>In production: govern the catalog, pin the version, audit everything, always have a text fallback.</a:t>
            </a:r>
            <a:endParaRPr lang="en-US" sz="14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66928" cy="566928"/>
          </a:xfrm>
          <a:prstGeom prst="ellipse">
            <a:avLst/>
          </a:prstGeom>
          <a:solidFill>
            <a:srgbClr val="0E2330"/>
          </a:solidFill>
          <a:ln/>
          <a:effectLst>
            <a:outerShdw sx="100000" sy="100000" kx="0" ky="0" algn="bl" rotWithShape="0" blurRad="114300" dist="50800" dir="5400000">
              <a:srgbClr val="0B2430">
                <a:alpha val="10000"/>
              </a:srgbClr>
            </a:outerShdw>
          </a:effectLst>
        </p:spPr>
      </p:sp>
      <p:pic>
        <p:nvPicPr>
          <p:cNvPr id="3" name="Image 0" descr="preencoded.png">    </p:cNvPr>
          <p:cNvPicPr>
            <a:picLocks noChangeAspect="1"/>
          </p:cNvPicPr>
          <p:nvPr/>
        </p:nvPicPr>
        <p:blipFill>
          <a:blip r:embed="rId1"/>
          <a:stretch>
            <a:fillRect/>
          </a:stretch>
        </p:blipFill>
        <p:spPr>
          <a:xfrm>
            <a:off x="696041" y="604601"/>
            <a:ext cx="272125" cy="272125"/>
          </a:xfrm>
          <a:prstGeom prst="rect">
            <a:avLst/>
          </a:prstGeom>
        </p:spPr>
      </p:pic>
      <p:sp>
        <p:nvSpPr>
          <p:cNvPr id="4" name="Text 1"/>
          <p:cNvSpPr/>
          <p:nvPr/>
        </p:nvSpPr>
        <p:spPr>
          <a:xfrm>
            <a:off x="1298448" y="457200"/>
            <a:ext cx="7315200" cy="274320"/>
          </a:xfrm>
          <a:prstGeom prst="rect">
            <a:avLst/>
          </a:prstGeom>
          <a:noFill/>
          <a:ln/>
        </p:spPr>
        <p:txBody>
          <a:bodyPr wrap="square" lIns="0" tIns="0" rIns="0" bIns="0" rtlCol="0" anchor="ctr"/>
          <a:lstStyle/>
          <a:p>
            <a:pPr indent="0" marL="0">
              <a:buNone/>
            </a:pPr>
            <a:r>
              <a:rPr lang="en-US" sz="1100" b="1" spc="300" kern="0" dirty="0">
                <a:solidFill>
                  <a:srgbClr val="0E7C86"/>
                </a:solidFill>
                <a:latin typeface="Calibri" pitchFamily="34" charset="0"/>
                <a:ea typeface="Calibri" pitchFamily="34" charset="-122"/>
                <a:cs typeface="Calibri" pitchFamily="34" charset="-120"/>
              </a:rPr>
              <a:t>FORWARD VIEW</a:t>
            </a:r>
            <a:endParaRPr lang="en-US" sz="1100" dirty="0"/>
          </a:p>
        </p:txBody>
      </p:sp>
      <p:sp>
        <p:nvSpPr>
          <p:cNvPr id="5" name="Text 2"/>
          <p:cNvSpPr/>
          <p:nvPr/>
        </p:nvSpPr>
        <p:spPr>
          <a:xfrm>
            <a:off x="1298448" y="713232"/>
            <a:ext cx="10344607" cy="777240"/>
          </a:xfrm>
          <a:prstGeom prst="rect">
            <a:avLst/>
          </a:prstGeom>
          <a:noFill/>
          <a:ln/>
        </p:spPr>
        <p:txBody>
          <a:bodyPr wrap="square" lIns="0" tIns="0" rIns="0" bIns="0" rtlCol="0" anchor="t"/>
          <a:lstStyle/>
          <a:p>
            <a:pPr indent="0" marL="0">
              <a:buNone/>
            </a:pPr>
            <a:r>
              <a:rPr lang="en-US" sz="2700" b="1" dirty="0">
                <a:solidFill>
                  <a:srgbClr val="0E2330"/>
                </a:solidFill>
                <a:latin typeface="Cambria" pitchFamily="34" charset="0"/>
                <a:ea typeface="Cambria" pitchFamily="34" charset="-122"/>
                <a:cs typeface="Cambria" pitchFamily="34" charset="-120"/>
              </a:rPr>
              <a:t>Where this is going</a:t>
            </a:r>
            <a:endParaRPr lang="en-US" sz="2700" dirty="0"/>
          </a:p>
        </p:txBody>
      </p:sp>
      <p:sp>
        <p:nvSpPr>
          <p:cNvPr id="6" name="Text 3"/>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B7383"/>
                </a:solidFill>
                <a:latin typeface="Consolas" pitchFamily="34" charset="0"/>
                <a:ea typeface="Consolas" pitchFamily="34" charset="-122"/>
                <a:cs typeface="Consolas" pitchFamily="34" charset="-120"/>
              </a:rPr>
              <a:t>50</a:t>
            </a:r>
            <a:endParaRPr lang="en-US" sz="900" dirty="0"/>
          </a:p>
        </p:txBody>
      </p:sp>
      <p:sp>
        <p:nvSpPr>
          <p:cNvPr id="7" name="Text 4"/>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5B7383"/>
                </a:solidFill>
                <a:latin typeface="Calibri" pitchFamily="34" charset="0"/>
                <a:ea typeface="Calibri" pitchFamily="34" charset="-122"/>
                <a:cs typeface="Calibri" pitchFamily="34" charset="-120"/>
              </a:rPr>
              <a:t>A2UI · Agentic UI Layer</a:t>
            </a:r>
            <a:endParaRPr lang="en-US" sz="900" dirty="0"/>
          </a:p>
        </p:txBody>
      </p:sp>
      <p:sp>
        <p:nvSpPr>
          <p:cNvPr id="8" name="Shape 5"/>
          <p:cNvSpPr/>
          <p:nvPr/>
        </p:nvSpPr>
        <p:spPr>
          <a:xfrm>
            <a:off x="548640" y="2103120"/>
            <a:ext cx="3444240" cy="3108960"/>
          </a:xfrm>
          <a:prstGeom prst="roundRect">
            <a:avLst>
              <a:gd name="adj" fmla="val 3529"/>
            </a:avLst>
          </a:prstGeom>
          <a:solidFill>
            <a:srgbClr val="0E2330"/>
          </a:solidFill>
          <a:ln/>
          <a:effectLst>
            <a:outerShdw sx="100000" sy="100000" kx="0" ky="0" algn="bl" rotWithShape="0" blurRad="88900" dist="38100" dir="5400000">
              <a:srgbClr val="0B2430">
                <a:alpha val="13000"/>
              </a:srgbClr>
            </a:outerShdw>
          </a:effectLst>
        </p:spPr>
      </p:sp>
      <p:sp>
        <p:nvSpPr>
          <p:cNvPr id="9" name="Shape 6"/>
          <p:cNvSpPr/>
          <p:nvPr/>
        </p:nvSpPr>
        <p:spPr>
          <a:xfrm>
            <a:off x="1859280" y="2423160"/>
            <a:ext cx="822960" cy="82296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0" name="Image 1" descr="preencoded.png">    </p:cNvPr>
          <p:cNvPicPr>
            <a:picLocks noChangeAspect="1"/>
          </p:cNvPicPr>
          <p:nvPr/>
        </p:nvPicPr>
        <p:blipFill>
          <a:blip r:embed="rId2"/>
          <a:stretch>
            <a:fillRect/>
          </a:stretch>
        </p:blipFill>
        <p:spPr>
          <a:xfrm>
            <a:off x="2073250" y="2637130"/>
            <a:ext cx="395021" cy="395021"/>
          </a:xfrm>
          <a:prstGeom prst="rect">
            <a:avLst/>
          </a:prstGeom>
        </p:spPr>
      </p:pic>
      <p:sp>
        <p:nvSpPr>
          <p:cNvPr id="11" name="Text 7"/>
          <p:cNvSpPr/>
          <p:nvPr/>
        </p:nvSpPr>
        <p:spPr>
          <a:xfrm>
            <a:off x="731520" y="3429000"/>
            <a:ext cx="3078480" cy="640080"/>
          </a:xfrm>
          <a:prstGeom prst="rect">
            <a:avLst/>
          </a:prstGeom>
          <a:noFill/>
          <a:ln/>
        </p:spPr>
        <p:txBody>
          <a:bodyPr wrap="square" lIns="0" tIns="0" rIns="0" bIns="0" rtlCol="0" anchor="t"/>
          <a:lstStyle/>
          <a:p>
            <a:pPr algn="ctr" indent="0" marL="0">
              <a:buNone/>
            </a:pPr>
            <a:r>
              <a:rPr lang="en-US" sz="1600" b="1" dirty="0">
                <a:solidFill>
                  <a:srgbClr val="FFFFFF"/>
                </a:solidFill>
                <a:latin typeface="Cambria" pitchFamily="34" charset="0"/>
                <a:ea typeface="Cambria" pitchFamily="34" charset="-122"/>
                <a:cs typeface="Cambria" pitchFamily="34" charset="-120"/>
              </a:rPr>
              <a:t>Generative UI as default</a:t>
            </a:r>
            <a:endParaRPr lang="en-US" sz="1600" dirty="0"/>
          </a:p>
        </p:txBody>
      </p:sp>
      <p:sp>
        <p:nvSpPr>
          <p:cNvPr id="12" name="Text 8"/>
          <p:cNvSpPr/>
          <p:nvPr/>
        </p:nvSpPr>
        <p:spPr>
          <a:xfrm>
            <a:off x="777240" y="4069080"/>
            <a:ext cx="2987040" cy="1005840"/>
          </a:xfrm>
          <a:prstGeom prst="rect">
            <a:avLst/>
          </a:prstGeom>
          <a:noFill/>
          <a:ln/>
        </p:spPr>
        <p:txBody>
          <a:bodyPr wrap="square" lIns="0" tIns="0" rIns="0" bIns="0" rtlCol="0" anchor="t"/>
          <a:lstStyle/>
          <a:p>
            <a:pPr algn="ctr" indent="0" marL="0">
              <a:buNone/>
            </a:pPr>
            <a:r>
              <a:rPr lang="en-US" sz="1250" dirty="0">
                <a:solidFill>
                  <a:srgbClr val="C7D9E2"/>
                </a:solidFill>
                <a:latin typeface="Calibri" pitchFamily="34" charset="0"/>
                <a:ea typeface="Calibri" pitchFamily="34" charset="-122"/>
                <a:cs typeface="Calibri" pitchFamily="34" charset="-120"/>
              </a:rPr>
              <a:t>It is becoming a default agent surface, not a novelty bolt-on.</a:t>
            </a:r>
            <a:endParaRPr lang="en-US" sz="1250" dirty="0"/>
          </a:p>
        </p:txBody>
      </p:sp>
      <p:sp>
        <p:nvSpPr>
          <p:cNvPr id="13" name="Shape 9"/>
          <p:cNvSpPr/>
          <p:nvPr/>
        </p:nvSpPr>
        <p:spPr>
          <a:xfrm>
            <a:off x="4358640" y="2103120"/>
            <a:ext cx="3444240" cy="3108960"/>
          </a:xfrm>
          <a:prstGeom prst="roundRect">
            <a:avLst>
              <a:gd name="adj" fmla="val 3529"/>
            </a:avLst>
          </a:prstGeom>
          <a:solidFill>
            <a:srgbClr val="0E2330"/>
          </a:solidFill>
          <a:ln/>
          <a:effectLst>
            <a:outerShdw sx="100000" sy="100000" kx="0" ky="0" algn="bl" rotWithShape="0" blurRad="88900" dist="38100" dir="5400000">
              <a:srgbClr val="0B2430">
                <a:alpha val="13000"/>
              </a:srgbClr>
            </a:outerShdw>
          </a:effectLst>
        </p:spPr>
      </p:sp>
      <p:sp>
        <p:nvSpPr>
          <p:cNvPr id="14" name="Shape 10"/>
          <p:cNvSpPr/>
          <p:nvPr/>
        </p:nvSpPr>
        <p:spPr>
          <a:xfrm>
            <a:off x="5669280" y="2423160"/>
            <a:ext cx="822960" cy="82296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15" name="Image 2" descr="preencoded.png">    </p:cNvPr>
          <p:cNvPicPr>
            <a:picLocks noChangeAspect="1"/>
          </p:cNvPicPr>
          <p:nvPr/>
        </p:nvPicPr>
        <p:blipFill>
          <a:blip r:embed="rId3"/>
          <a:stretch>
            <a:fillRect/>
          </a:stretch>
        </p:blipFill>
        <p:spPr>
          <a:xfrm>
            <a:off x="5883250" y="2637130"/>
            <a:ext cx="395021" cy="395021"/>
          </a:xfrm>
          <a:prstGeom prst="rect">
            <a:avLst/>
          </a:prstGeom>
        </p:spPr>
      </p:pic>
      <p:sp>
        <p:nvSpPr>
          <p:cNvPr id="16" name="Text 11"/>
          <p:cNvSpPr/>
          <p:nvPr/>
        </p:nvSpPr>
        <p:spPr>
          <a:xfrm>
            <a:off x="4541520" y="3429000"/>
            <a:ext cx="3078480" cy="640080"/>
          </a:xfrm>
          <a:prstGeom prst="rect">
            <a:avLst/>
          </a:prstGeom>
          <a:noFill/>
          <a:ln/>
        </p:spPr>
        <p:txBody>
          <a:bodyPr wrap="square" lIns="0" tIns="0" rIns="0" bIns="0" rtlCol="0" anchor="t"/>
          <a:lstStyle/>
          <a:p>
            <a:pPr algn="ctr" indent="0" marL="0">
              <a:buNone/>
            </a:pPr>
            <a:r>
              <a:rPr lang="en-US" sz="1600" b="1" dirty="0">
                <a:solidFill>
                  <a:srgbClr val="FFFFFF"/>
                </a:solidFill>
                <a:latin typeface="Cambria" pitchFamily="34" charset="0"/>
                <a:ea typeface="Cambria" pitchFamily="34" charset="-122"/>
                <a:cs typeface="Cambria" pitchFamily="34" charset="-120"/>
              </a:rPr>
              <a:t>The stack is converging</a:t>
            </a:r>
            <a:endParaRPr lang="en-US" sz="1600" dirty="0"/>
          </a:p>
        </p:txBody>
      </p:sp>
      <p:sp>
        <p:nvSpPr>
          <p:cNvPr id="17" name="Text 12"/>
          <p:cNvSpPr/>
          <p:nvPr/>
        </p:nvSpPr>
        <p:spPr>
          <a:xfrm>
            <a:off x="4587240" y="4069080"/>
            <a:ext cx="2987040" cy="1005840"/>
          </a:xfrm>
          <a:prstGeom prst="rect">
            <a:avLst/>
          </a:prstGeom>
          <a:noFill/>
          <a:ln/>
        </p:spPr>
        <p:txBody>
          <a:bodyPr wrap="square" lIns="0" tIns="0" rIns="0" bIns="0" rtlCol="0" anchor="t"/>
          <a:lstStyle/>
          <a:p>
            <a:pPr algn="ctr" indent="0" marL="0">
              <a:buNone/>
            </a:pPr>
            <a:r>
              <a:rPr lang="en-US" sz="1250" dirty="0">
                <a:solidFill>
                  <a:srgbClr val="C7D9E2"/>
                </a:solidFill>
                <a:latin typeface="Calibri" pitchFamily="34" charset="0"/>
                <a:ea typeface="Calibri" pitchFamily="34" charset="-122"/>
                <a:cs typeface="Calibri" pitchFamily="34" charset="-120"/>
              </a:rPr>
              <a:t>MCP for tools, A2A for agents, AG-UI and A2UI for the human edge.</a:t>
            </a:r>
            <a:endParaRPr lang="en-US" sz="1250" dirty="0"/>
          </a:p>
        </p:txBody>
      </p:sp>
      <p:sp>
        <p:nvSpPr>
          <p:cNvPr id="18" name="Shape 13"/>
          <p:cNvSpPr/>
          <p:nvPr/>
        </p:nvSpPr>
        <p:spPr>
          <a:xfrm>
            <a:off x="8168640" y="2103120"/>
            <a:ext cx="3444240" cy="3108960"/>
          </a:xfrm>
          <a:prstGeom prst="roundRect">
            <a:avLst>
              <a:gd name="adj" fmla="val 3529"/>
            </a:avLst>
          </a:prstGeom>
          <a:solidFill>
            <a:srgbClr val="0E2330"/>
          </a:solidFill>
          <a:ln/>
          <a:effectLst>
            <a:outerShdw sx="100000" sy="100000" kx="0" ky="0" algn="bl" rotWithShape="0" blurRad="88900" dist="38100" dir="5400000">
              <a:srgbClr val="0B2430">
                <a:alpha val="13000"/>
              </a:srgbClr>
            </a:outerShdw>
          </a:effectLst>
        </p:spPr>
      </p:sp>
      <p:sp>
        <p:nvSpPr>
          <p:cNvPr id="19" name="Shape 14"/>
          <p:cNvSpPr/>
          <p:nvPr/>
        </p:nvSpPr>
        <p:spPr>
          <a:xfrm>
            <a:off x="9479280" y="2423160"/>
            <a:ext cx="822960" cy="82296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20" name="Image 3" descr="preencoded.png">    </p:cNvPr>
          <p:cNvPicPr>
            <a:picLocks noChangeAspect="1"/>
          </p:cNvPicPr>
          <p:nvPr/>
        </p:nvPicPr>
        <p:blipFill>
          <a:blip r:embed="rId4"/>
          <a:stretch>
            <a:fillRect/>
          </a:stretch>
        </p:blipFill>
        <p:spPr>
          <a:xfrm>
            <a:off x="9693250" y="2637130"/>
            <a:ext cx="395021" cy="395021"/>
          </a:xfrm>
          <a:prstGeom prst="rect">
            <a:avLst/>
          </a:prstGeom>
        </p:spPr>
      </p:pic>
      <p:sp>
        <p:nvSpPr>
          <p:cNvPr id="21" name="Text 15"/>
          <p:cNvSpPr/>
          <p:nvPr/>
        </p:nvSpPr>
        <p:spPr>
          <a:xfrm>
            <a:off x="8351520" y="3429000"/>
            <a:ext cx="3078480" cy="640080"/>
          </a:xfrm>
          <a:prstGeom prst="rect">
            <a:avLst/>
          </a:prstGeom>
          <a:noFill/>
          <a:ln/>
        </p:spPr>
        <p:txBody>
          <a:bodyPr wrap="square" lIns="0" tIns="0" rIns="0" bIns="0" rtlCol="0" anchor="t"/>
          <a:lstStyle/>
          <a:p>
            <a:pPr algn="ctr" indent="0" marL="0">
              <a:buNone/>
            </a:pPr>
            <a:r>
              <a:rPr lang="en-US" sz="1600" b="1" dirty="0">
                <a:solidFill>
                  <a:srgbClr val="FFFFFF"/>
                </a:solidFill>
                <a:latin typeface="Cambria" pitchFamily="34" charset="0"/>
                <a:ea typeface="Cambria" pitchFamily="34" charset="-122"/>
                <a:cs typeface="Cambria" pitchFamily="34" charset="-120"/>
              </a:rPr>
              <a:t>Bet on the layered model</a:t>
            </a:r>
            <a:endParaRPr lang="en-US" sz="1600" dirty="0"/>
          </a:p>
        </p:txBody>
      </p:sp>
      <p:sp>
        <p:nvSpPr>
          <p:cNvPr id="22" name="Text 16"/>
          <p:cNvSpPr/>
          <p:nvPr/>
        </p:nvSpPr>
        <p:spPr>
          <a:xfrm>
            <a:off x="8397240" y="4069080"/>
            <a:ext cx="2987040" cy="1005840"/>
          </a:xfrm>
          <a:prstGeom prst="rect">
            <a:avLst/>
          </a:prstGeom>
          <a:noFill/>
          <a:ln/>
        </p:spPr>
        <p:txBody>
          <a:bodyPr wrap="square" lIns="0" tIns="0" rIns="0" bIns="0" rtlCol="0" anchor="t"/>
          <a:lstStyle/>
          <a:p>
            <a:pPr algn="ctr" indent="0" marL="0">
              <a:buNone/>
            </a:pPr>
            <a:r>
              <a:rPr lang="en-US" sz="1250" dirty="0">
                <a:solidFill>
                  <a:srgbClr val="C7D9E2"/>
                </a:solidFill>
                <a:latin typeface="Calibri" pitchFamily="34" charset="0"/>
                <a:ea typeface="Calibri" pitchFamily="34" charset="-122"/>
                <a:cs typeface="Calibri" pitchFamily="34" charset="-120"/>
              </a:rPr>
              <a:t>Stay version-aware on the specs; know which layer a problem belongs to.</a:t>
            </a:r>
            <a:endParaRPr lang="en-US" sz="1250" dirty="0"/>
          </a:p>
        </p:txBody>
      </p:sp>
      <p:sp>
        <p:nvSpPr>
          <p:cNvPr id="23" name="Text 17"/>
          <p:cNvSpPr/>
          <p:nvPr/>
        </p:nvSpPr>
        <p:spPr>
          <a:xfrm>
            <a:off x="548640" y="5440680"/>
            <a:ext cx="11064240" cy="365760"/>
          </a:xfrm>
          <a:prstGeom prst="rect">
            <a:avLst/>
          </a:prstGeom>
          <a:noFill/>
          <a:ln/>
        </p:spPr>
        <p:txBody>
          <a:bodyPr wrap="square" lIns="0" tIns="0" rIns="0" bIns="0" rtlCol="0" anchor="ctr"/>
          <a:lstStyle/>
          <a:p>
            <a:pPr algn="ctr" indent="0" marL="0">
              <a:buNone/>
            </a:pPr>
            <a:r>
              <a:rPr lang="en-US" sz="1400" i="1" dirty="0">
                <a:solidFill>
                  <a:srgbClr val="0E7C86"/>
                </a:solidFill>
                <a:latin typeface="Cambria" pitchFamily="34" charset="0"/>
                <a:ea typeface="Cambria" pitchFamily="34" charset="-122"/>
                <a:cs typeface="Cambria" pitchFamily="34" charset="-120"/>
              </a:rPr>
              <a:t>The skill that lasts is knowing which layer a problem belongs to.</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E2330"/>
        </a:solidFill>
      </p:bgPr>
    </p:bg>
    <p:spTree>
      <p:nvGrpSpPr>
        <p:cNvPr id="1" name=""/>
        <p:cNvGrpSpPr/>
        <p:nvPr/>
      </p:nvGrpSpPr>
      <p:grpSpPr>
        <a:xfrm>
          <a:off x="0" y="0"/>
          <a:ext cx="0" cy="0"/>
          <a:chOff x="0" y="0"/>
          <a:chExt cx="0" cy="0"/>
        </a:xfrm>
      </p:grpSpPr>
      <p:sp>
        <p:nvSpPr>
          <p:cNvPr id="2" name="Shape 0"/>
          <p:cNvSpPr/>
          <p:nvPr/>
        </p:nvSpPr>
        <p:spPr>
          <a:xfrm>
            <a:off x="8138160" y="1188720"/>
            <a:ext cx="3383280" cy="676656"/>
          </a:xfrm>
          <a:prstGeom prst="roundRect">
            <a:avLst>
              <a:gd name="adj" fmla="val 13514"/>
            </a:avLst>
          </a:prstGeom>
          <a:solidFill>
            <a:srgbClr val="0E7C86">
              <a:alpha val="68000"/>
            </a:srgbClr>
          </a:solidFill>
          <a:ln/>
        </p:spPr>
      </p:sp>
      <p:sp>
        <p:nvSpPr>
          <p:cNvPr id="3" name="Shape 1"/>
          <p:cNvSpPr/>
          <p:nvPr/>
        </p:nvSpPr>
        <p:spPr>
          <a:xfrm>
            <a:off x="8284464" y="2057400"/>
            <a:ext cx="3383280" cy="676656"/>
          </a:xfrm>
          <a:prstGeom prst="roundRect">
            <a:avLst>
              <a:gd name="adj" fmla="val 13514"/>
            </a:avLst>
          </a:prstGeom>
          <a:solidFill>
            <a:srgbClr val="0E7C86">
              <a:alpha val="54000"/>
            </a:srgbClr>
          </a:solidFill>
          <a:ln/>
        </p:spPr>
      </p:sp>
      <p:sp>
        <p:nvSpPr>
          <p:cNvPr id="4" name="Shape 2"/>
          <p:cNvSpPr/>
          <p:nvPr/>
        </p:nvSpPr>
        <p:spPr>
          <a:xfrm>
            <a:off x="8430768" y="2926080"/>
            <a:ext cx="3383280" cy="676656"/>
          </a:xfrm>
          <a:prstGeom prst="roundRect">
            <a:avLst>
              <a:gd name="adj" fmla="val 13514"/>
            </a:avLst>
          </a:prstGeom>
          <a:solidFill>
            <a:srgbClr val="0E7C86">
              <a:alpha val="40000"/>
            </a:srgbClr>
          </a:solidFill>
          <a:ln/>
        </p:spPr>
      </p:sp>
      <p:sp>
        <p:nvSpPr>
          <p:cNvPr id="5" name="Shape 3"/>
          <p:cNvSpPr/>
          <p:nvPr/>
        </p:nvSpPr>
        <p:spPr>
          <a:xfrm>
            <a:off x="8577072" y="3794760"/>
            <a:ext cx="3383280" cy="676656"/>
          </a:xfrm>
          <a:prstGeom prst="roundRect">
            <a:avLst>
              <a:gd name="adj" fmla="val 13514"/>
            </a:avLst>
          </a:prstGeom>
          <a:solidFill>
            <a:srgbClr val="0E7C86">
              <a:alpha val="26000"/>
            </a:srgbClr>
          </a:solidFill>
          <a:ln/>
        </p:spPr>
      </p:sp>
      <p:sp>
        <p:nvSpPr>
          <p:cNvPr id="6" name="Shape 4"/>
          <p:cNvSpPr/>
          <p:nvPr/>
        </p:nvSpPr>
        <p:spPr>
          <a:xfrm>
            <a:off x="868680" y="1280160"/>
            <a:ext cx="914400" cy="914400"/>
          </a:xfrm>
          <a:prstGeom prst="ellipse">
            <a:avLst/>
          </a:prstGeom>
          <a:solidFill>
            <a:srgbClr val="0E7C86"/>
          </a:solidFill>
          <a:ln/>
          <a:effectLst>
            <a:outerShdw sx="100000" sy="100000" kx="0" ky="0" algn="bl" rotWithShape="0" blurRad="114300" dist="50800" dir="5400000">
              <a:srgbClr val="0B2430">
                <a:alpha val="10000"/>
              </a:srgbClr>
            </a:outerShdw>
          </a:effectLst>
        </p:spPr>
      </p:sp>
      <p:pic>
        <p:nvPicPr>
          <p:cNvPr id="7" name="Image 0" descr="preencoded.png">    </p:cNvPr>
          <p:cNvPicPr>
            <a:picLocks noChangeAspect="1"/>
          </p:cNvPicPr>
          <p:nvPr/>
        </p:nvPicPr>
        <p:blipFill>
          <a:blip r:embed="rId1"/>
          <a:stretch>
            <a:fillRect/>
          </a:stretch>
        </p:blipFill>
        <p:spPr>
          <a:xfrm>
            <a:off x="1106424" y="1517904"/>
            <a:ext cx="438912" cy="438912"/>
          </a:xfrm>
          <a:prstGeom prst="rect">
            <a:avLst/>
          </a:prstGeom>
        </p:spPr>
      </p:pic>
      <p:sp>
        <p:nvSpPr>
          <p:cNvPr id="8" name="Text 5"/>
          <p:cNvSpPr/>
          <p:nvPr/>
        </p:nvSpPr>
        <p:spPr>
          <a:xfrm>
            <a:off x="868680" y="2423160"/>
            <a:ext cx="7315200" cy="365760"/>
          </a:xfrm>
          <a:prstGeom prst="rect">
            <a:avLst/>
          </a:prstGeom>
          <a:noFill/>
          <a:ln/>
        </p:spPr>
        <p:txBody>
          <a:bodyPr wrap="square" lIns="0" tIns="0" rIns="0" bIns="0" rtlCol="0" anchor="ctr"/>
          <a:lstStyle/>
          <a:p>
            <a:pPr indent="0" marL="0">
              <a:buNone/>
            </a:pPr>
            <a:r>
              <a:rPr lang="en-US" sz="1300" b="1" spc="300" kern="0" dirty="0">
                <a:solidFill>
                  <a:srgbClr val="5EEAD4"/>
                </a:solidFill>
                <a:latin typeface="Calibri" pitchFamily="34" charset="0"/>
                <a:ea typeface="Calibri" pitchFamily="34" charset="-122"/>
                <a:cs typeface="Calibri" pitchFamily="34" charset="-120"/>
              </a:rPr>
              <a:t>RESOURCES</a:t>
            </a:r>
            <a:endParaRPr lang="en-US" sz="1300" dirty="0"/>
          </a:p>
        </p:txBody>
      </p:sp>
      <p:sp>
        <p:nvSpPr>
          <p:cNvPr id="9" name="Text 6"/>
          <p:cNvSpPr/>
          <p:nvPr/>
        </p:nvSpPr>
        <p:spPr>
          <a:xfrm>
            <a:off x="822960" y="2788920"/>
            <a:ext cx="73152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Go read the real thing</a:t>
            </a:r>
            <a:endParaRPr lang="en-US" sz="3400" dirty="0"/>
          </a:p>
        </p:txBody>
      </p:sp>
      <p:sp>
        <p:nvSpPr>
          <p:cNvPr id="10" name="Text 7"/>
          <p:cNvSpPr/>
          <p:nvPr/>
        </p:nvSpPr>
        <p:spPr>
          <a:xfrm>
            <a:off x="868680" y="3703320"/>
            <a:ext cx="4572000" cy="274320"/>
          </a:xfrm>
          <a:prstGeom prst="rect">
            <a:avLst/>
          </a:prstGeom>
          <a:noFill/>
          <a:ln/>
        </p:spPr>
        <p:txBody>
          <a:bodyPr wrap="square" lIns="0" tIns="0" rIns="0" bIns="0" rtlCol="0" anchor="ctr"/>
          <a:lstStyle/>
          <a:p>
            <a:pPr indent="0" marL="0">
              <a:buNone/>
            </a:pPr>
            <a:r>
              <a:rPr lang="en-US" sz="1250" b="1" dirty="0">
                <a:solidFill>
                  <a:srgbClr val="5EEAD4"/>
                </a:solidFill>
                <a:latin typeface="Consolas" pitchFamily="34" charset="0"/>
                <a:ea typeface="Consolas" pitchFamily="34" charset="-122"/>
                <a:cs typeface="Consolas" pitchFamily="34" charset="-120"/>
              </a:rPr>
              <a:t>a2ui.org</a:t>
            </a:r>
            <a:endParaRPr lang="en-US" sz="1250" dirty="0"/>
          </a:p>
        </p:txBody>
      </p:sp>
      <p:sp>
        <p:nvSpPr>
          <p:cNvPr id="11" name="Text 8"/>
          <p:cNvSpPr/>
          <p:nvPr/>
        </p:nvSpPr>
        <p:spPr>
          <a:xfrm>
            <a:off x="5577840" y="3703320"/>
            <a:ext cx="5760720" cy="274320"/>
          </a:xfrm>
          <a:prstGeom prst="rect">
            <a:avLst/>
          </a:prstGeom>
          <a:noFill/>
          <a:ln/>
        </p:spPr>
        <p:txBody>
          <a:bodyPr wrap="square" lIns="0" tIns="0" rIns="0" bIns="0" rtlCol="0" anchor="ctr"/>
          <a:lstStyle/>
          <a:p>
            <a:pPr indent="0" marL="0">
              <a:buNone/>
            </a:pPr>
            <a:r>
              <a:rPr lang="en-US" sz="1200" dirty="0">
                <a:solidFill>
                  <a:srgbClr val="AFC9D6"/>
                </a:solidFill>
                <a:latin typeface="Calibri" pitchFamily="34" charset="0"/>
                <a:ea typeface="Calibri" pitchFamily="34" charset="-122"/>
                <a:cs typeface="Calibri" pitchFamily="34" charset="-120"/>
              </a:rPr>
              <a:t>the spec, v0.8 stable and v0.9 draft</a:t>
            </a:r>
            <a:endParaRPr lang="en-US" sz="1200" dirty="0"/>
          </a:p>
        </p:txBody>
      </p:sp>
      <p:sp>
        <p:nvSpPr>
          <p:cNvPr id="12" name="Text 9"/>
          <p:cNvSpPr/>
          <p:nvPr/>
        </p:nvSpPr>
        <p:spPr>
          <a:xfrm>
            <a:off x="868680" y="4123944"/>
            <a:ext cx="4572000" cy="274320"/>
          </a:xfrm>
          <a:prstGeom prst="rect">
            <a:avLst/>
          </a:prstGeom>
          <a:noFill/>
          <a:ln/>
        </p:spPr>
        <p:txBody>
          <a:bodyPr wrap="square" lIns="0" tIns="0" rIns="0" bIns="0" rtlCol="0" anchor="ctr"/>
          <a:lstStyle/>
          <a:p>
            <a:pPr indent="0" marL="0">
              <a:buNone/>
            </a:pPr>
            <a:r>
              <a:rPr lang="en-US" sz="1250" b="1" dirty="0">
                <a:solidFill>
                  <a:srgbClr val="5EEAD4"/>
                </a:solidFill>
                <a:latin typeface="Consolas" pitchFamily="34" charset="0"/>
                <a:ea typeface="Consolas" pitchFamily="34" charset="-122"/>
                <a:cs typeface="Consolas" pitchFamily="34" charset="-120"/>
              </a:rPr>
              <a:t>a2ui.sh</a:t>
            </a:r>
            <a:endParaRPr lang="en-US" sz="1250" dirty="0"/>
          </a:p>
        </p:txBody>
      </p:sp>
      <p:sp>
        <p:nvSpPr>
          <p:cNvPr id="13" name="Text 10"/>
          <p:cNvSpPr/>
          <p:nvPr/>
        </p:nvSpPr>
        <p:spPr>
          <a:xfrm>
            <a:off x="5577840" y="4123944"/>
            <a:ext cx="5760720" cy="274320"/>
          </a:xfrm>
          <a:prstGeom prst="rect">
            <a:avLst/>
          </a:prstGeom>
          <a:noFill/>
          <a:ln/>
        </p:spPr>
        <p:txBody>
          <a:bodyPr wrap="square" lIns="0" tIns="0" rIns="0" bIns="0" rtlCol="0" anchor="ctr"/>
          <a:lstStyle/>
          <a:p>
            <a:pPr indent="0" marL="0">
              <a:buNone/>
            </a:pPr>
            <a:r>
              <a:rPr lang="en-US" sz="1200" dirty="0">
                <a:solidFill>
                  <a:srgbClr val="AFC9D6"/>
                </a:solidFill>
                <a:latin typeface="Calibri" pitchFamily="34" charset="0"/>
                <a:ea typeface="Calibri" pitchFamily="34" charset="-122"/>
                <a:cs typeface="Calibri" pitchFamily="34" charset="-120"/>
              </a:rPr>
              <a:t>community articles and the four-protocol model</a:t>
            </a:r>
            <a:endParaRPr lang="en-US" sz="1200" dirty="0"/>
          </a:p>
        </p:txBody>
      </p:sp>
      <p:sp>
        <p:nvSpPr>
          <p:cNvPr id="14" name="Text 11"/>
          <p:cNvSpPr/>
          <p:nvPr/>
        </p:nvSpPr>
        <p:spPr>
          <a:xfrm>
            <a:off x="868680" y="4544568"/>
            <a:ext cx="4572000" cy="274320"/>
          </a:xfrm>
          <a:prstGeom prst="rect">
            <a:avLst/>
          </a:prstGeom>
          <a:noFill/>
          <a:ln/>
        </p:spPr>
        <p:txBody>
          <a:bodyPr wrap="square" lIns="0" tIns="0" rIns="0" bIns="0" rtlCol="0" anchor="ctr"/>
          <a:lstStyle/>
          <a:p>
            <a:pPr indent="0" marL="0">
              <a:buNone/>
            </a:pPr>
            <a:r>
              <a:rPr lang="en-US" sz="1250" b="1" dirty="0">
                <a:solidFill>
                  <a:srgbClr val="5EEAD4"/>
                </a:solidFill>
                <a:latin typeface="Consolas" pitchFamily="34" charset="0"/>
                <a:ea typeface="Consolas" pitchFamily="34" charset="-122"/>
                <a:cs typeface="Consolas" pitchFamily="34" charset="-120"/>
              </a:rPr>
              <a:t>github.com/Yuma-Noguchi/a2ui-strands-agent</a:t>
            </a:r>
            <a:endParaRPr lang="en-US" sz="1250" dirty="0"/>
          </a:p>
        </p:txBody>
      </p:sp>
      <p:sp>
        <p:nvSpPr>
          <p:cNvPr id="15" name="Text 12"/>
          <p:cNvSpPr/>
          <p:nvPr/>
        </p:nvSpPr>
        <p:spPr>
          <a:xfrm>
            <a:off x="5577840" y="4544568"/>
            <a:ext cx="5760720" cy="274320"/>
          </a:xfrm>
          <a:prstGeom prst="rect">
            <a:avLst/>
          </a:prstGeom>
          <a:noFill/>
          <a:ln/>
        </p:spPr>
        <p:txBody>
          <a:bodyPr wrap="square" lIns="0" tIns="0" rIns="0" bIns="0" rtlCol="0" anchor="ctr"/>
          <a:lstStyle/>
          <a:p>
            <a:pPr indent="0" marL="0">
              <a:buNone/>
            </a:pPr>
            <a:r>
              <a:rPr lang="en-US" sz="1200" dirty="0">
                <a:solidFill>
                  <a:srgbClr val="AFC9D6"/>
                </a:solidFill>
                <a:latin typeface="Calibri" pitchFamily="34" charset="0"/>
                <a:ea typeface="Calibri" pitchFamily="34" charset="-122"/>
                <a:cs typeface="Calibri" pitchFamily="34" charset="-120"/>
              </a:rPr>
              <a:t>the Strands reference implementation</a:t>
            </a:r>
            <a:endParaRPr lang="en-US" sz="1200" dirty="0"/>
          </a:p>
        </p:txBody>
      </p:sp>
      <p:sp>
        <p:nvSpPr>
          <p:cNvPr id="16" name="Text 13"/>
          <p:cNvSpPr/>
          <p:nvPr/>
        </p:nvSpPr>
        <p:spPr>
          <a:xfrm>
            <a:off x="868680" y="4965192"/>
            <a:ext cx="4572000" cy="274320"/>
          </a:xfrm>
          <a:prstGeom prst="rect">
            <a:avLst/>
          </a:prstGeom>
          <a:noFill/>
          <a:ln/>
        </p:spPr>
        <p:txBody>
          <a:bodyPr wrap="square" lIns="0" tIns="0" rIns="0" bIns="0" rtlCol="0" anchor="ctr"/>
          <a:lstStyle/>
          <a:p>
            <a:pPr indent="0" marL="0">
              <a:buNone/>
            </a:pPr>
            <a:r>
              <a:rPr lang="en-US" sz="1250" b="1" dirty="0">
                <a:solidFill>
                  <a:srgbClr val="5EEAD4"/>
                </a:solidFill>
                <a:latin typeface="Consolas" pitchFamily="34" charset="0"/>
                <a:ea typeface="Consolas" pitchFamily="34" charset="-122"/>
                <a:cs typeface="Consolas" pitchFamily="34" charset="-120"/>
              </a:rPr>
              <a:t>docs.ag-ui.com</a:t>
            </a:r>
            <a:endParaRPr lang="en-US" sz="1250" dirty="0"/>
          </a:p>
        </p:txBody>
      </p:sp>
      <p:sp>
        <p:nvSpPr>
          <p:cNvPr id="17" name="Text 14"/>
          <p:cNvSpPr/>
          <p:nvPr/>
        </p:nvSpPr>
        <p:spPr>
          <a:xfrm>
            <a:off x="5577840" y="4965192"/>
            <a:ext cx="5760720" cy="274320"/>
          </a:xfrm>
          <a:prstGeom prst="rect">
            <a:avLst/>
          </a:prstGeom>
          <a:noFill/>
          <a:ln/>
        </p:spPr>
        <p:txBody>
          <a:bodyPr wrap="square" lIns="0" tIns="0" rIns="0" bIns="0" rtlCol="0" anchor="ctr"/>
          <a:lstStyle/>
          <a:p>
            <a:pPr indent="0" marL="0">
              <a:buNone/>
            </a:pPr>
            <a:r>
              <a:rPr lang="en-US" sz="1200" dirty="0">
                <a:solidFill>
                  <a:srgbClr val="AFC9D6"/>
                </a:solidFill>
                <a:latin typeface="Calibri" pitchFamily="34" charset="0"/>
                <a:ea typeface="Calibri" pitchFamily="34" charset="-122"/>
                <a:cs typeface="Calibri" pitchFamily="34" charset="-120"/>
              </a:rPr>
              <a:t>the AG-UI transport layer</a:t>
            </a:r>
            <a:endParaRPr lang="en-US" sz="1200" dirty="0"/>
          </a:p>
        </p:txBody>
      </p:sp>
      <p:sp>
        <p:nvSpPr>
          <p:cNvPr id="18" name="Text 15"/>
          <p:cNvSpPr/>
          <p:nvPr/>
        </p:nvSpPr>
        <p:spPr>
          <a:xfrm>
            <a:off x="868680" y="5385816"/>
            <a:ext cx="4572000" cy="274320"/>
          </a:xfrm>
          <a:prstGeom prst="rect">
            <a:avLst/>
          </a:prstGeom>
          <a:noFill/>
          <a:ln/>
        </p:spPr>
        <p:txBody>
          <a:bodyPr wrap="square" lIns="0" tIns="0" rIns="0" bIns="0" rtlCol="0" anchor="ctr"/>
          <a:lstStyle/>
          <a:p>
            <a:pPr indent="0" marL="0">
              <a:buNone/>
            </a:pPr>
            <a:r>
              <a:rPr lang="en-US" sz="1250" b="1" dirty="0">
                <a:solidFill>
                  <a:srgbClr val="5EEAD4"/>
                </a:solidFill>
                <a:latin typeface="Consolas" pitchFamily="34" charset="0"/>
                <a:ea typeface="Consolas" pitchFamily="34" charset="-122"/>
                <a:cs typeface="Consolas" pitchFamily="34" charset="-120"/>
              </a:rPr>
              <a:t>AWS docs</a:t>
            </a:r>
            <a:endParaRPr lang="en-US" sz="1250" dirty="0"/>
          </a:p>
        </p:txBody>
      </p:sp>
      <p:sp>
        <p:nvSpPr>
          <p:cNvPr id="19" name="Text 16"/>
          <p:cNvSpPr/>
          <p:nvPr/>
        </p:nvSpPr>
        <p:spPr>
          <a:xfrm>
            <a:off x="5577840" y="5385816"/>
            <a:ext cx="5760720" cy="274320"/>
          </a:xfrm>
          <a:prstGeom prst="rect">
            <a:avLst/>
          </a:prstGeom>
          <a:noFill/>
          <a:ln/>
        </p:spPr>
        <p:txBody>
          <a:bodyPr wrap="square" lIns="0" tIns="0" rIns="0" bIns="0" rtlCol="0" anchor="ctr"/>
          <a:lstStyle/>
          <a:p>
            <a:pPr indent="0" marL="0">
              <a:buNone/>
            </a:pPr>
            <a:r>
              <a:rPr lang="en-US" sz="1200" dirty="0">
                <a:solidFill>
                  <a:srgbClr val="AFC9D6"/>
                </a:solidFill>
                <a:latin typeface="Calibri" pitchFamily="34" charset="0"/>
                <a:ea typeface="Calibri" pitchFamily="34" charset="-122"/>
                <a:cs typeface="Calibri" pitchFamily="34" charset="-120"/>
              </a:rPr>
              <a:t>AgentCore, GA Oct 2025</a:t>
            </a:r>
            <a:endParaRPr lang="en-US" sz="1200" dirty="0"/>
          </a:p>
        </p:txBody>
      </p:sp>
      <p:sp>
        <p:nvSpPr>
          <p:cNvPr id="20" name="Text 17"/>
          <p:cNvSpPr/>
          <p:nvPr/>
        </p:nvSpPr>
        <p:spPr>
          <a:xfrm>
            <a:off x="868680" y="5806440"/>
            <a:ext cx="4572000" cy="274320"/>
          </a:xfrm>
          <a:prstGeom prst="rect">
            <a:avLst/>
          </a:prstGeom>
          <a:noFill/>
          <a:ln/>
        </p:spPr>
        <p:txBody>
          <a:bodyPr wrap="square" lIns="0" tIns="0" rIns="0" bIns="0" rtlCol="0" anchor="ctr"/>
          <a:lstStyle/>
          <a:p>
            <a:pPr indent="0" marL="0">
              <a:buNone/>
            </a:pPr>
            <a:r>
              <a:rPr lang="en-US" sz="1250" b="1" dirty="0">
                <a:solidFill>
                  <a:srgbClr val="5EEAD4"/>
                </a:solidFill>
                <a:latin typeface="Consolas" pitchFamily="34" charset="0"/>
                <a:ea typeface="Consolas" pitchFamily="34" charset="-122"/>
                <a:cs typeface="Consolas" pitchFamily="34" charset="-120"/>
              </a:rPr>
              <a:t>Huang &amp; Habler</a:t>
            </a:r>
            <a:endParaRPr lang="en-US" sz="1250" dirty="0"/>
          </a:p>
        </p:txBody>
      </p:sp>
      <p:sp>
        <p:nvSpPr>
          <p:cNvPr id="21" name="Text 18"/>
          <p:cNvSpPr/>
          <p:nvPr/>
        </p:nvSpPr>
        <p:spPr>
          <a:xfrm>
            <a:off x="5577840" y="5806440"/>
            <a:ext cx="5760720" cy="274320"/>
          </a:xfrm>
          <a:prstGeom prst="rect">
            <a:avLst/>
          </a:prstGeom>
          <a:noFill/>
          <a:ln/>
        </p:spPr>
        <p:txBody>
          <a:bodyPr wrap="square" lIns="0" tIns="0" rIns="0" bIns="0" rtlCol="0" anchor="ctr"/>
          <a:lstStyle/>
          <a:p>
            <a:pPr indent="0" marL="0">
              <a:buNone/>
            </a:pPr>
            <a:r>
              <a:rPr lang="en-US" sz="1200" dirty="0">
                <a:solidFill>
                  <a:srgbClr val="AFC9D6"/>
                </a:solidFill>
                <a:latin typeface="Calibri" pitchFamily="34" charset="0"/>
                <a:ea typeface="Calibri" pitchFamily="34" charset="-122"/>
                <a:cs typeface="Calibri" pitchFamily="34" charset="-120"/>
              </a:rPr>
              <a:t>“AG-UI and A2UI Protocols Explained”, security / MAESTRO</a:t>
            </a:r>
            <a:endParaRPr lang="en-US" sz="1200" dirty="0"/>
          </a:p>
        </p:txBody>
      </p:sp>
      <p:sp>
        <p:nvSpPr>
          <p:cNvPr id="22" name="Text 19"/>
          <p:cNvSpPr/>
          <p:nvPr/>
        </p:nvSpPr>
        <p:spPr>
          <a:xfrm>
            <a:off x="868680" y="6263640"/>
            <a:ext cx="7315200" cy="365760"/>
          </a:xfrm>
          <a:prstGeom prst="rect">
            <a:avLst/>
          </a:prstGeom>
          <a:noFill/>
          <a:ln/>
        </p:spPr>
        <p:txBody>
          <a:bodyPr wrap="square" lIns="0" tIns="0" rIns="0" bIns="0" rtlCol="0" anchor="ctr"/>
          <a:lstStyle/>
          <a:p>
            <a:pPr indent="0" marL="0">
              <a:buNone/>
            </a:pPr>
            <a:r>
              <a:rPr lang="en-US" sz="1600" b="1" i="1" dirty="0">
                <a:solidFill>
                  <a:srgbClr val="0E7C86"/>
                </a:solidFill>
                <a:latin typeface="Cambria" pitchFamily="34" charset="0"/>
                <a:ea typeface="Cambria" pitchFamily="34" charset="-122"/>
                <a:cs typeface="Cambria" pitchFamily="34" charset="-120"/>
              </a:rPr>
              <a:t>Thank you. Questions?</a:t>
            </a:r>
            <a:endParaRPr lang="en-US" sz="1600" dirty="0"/>
          </a:p>
        </p:txBody>
      </p:sp>
      <p:sp>
        <p:nvSpPr>
          <p:cNvPr id="23" name="Text 20"/>
          <p:cNvSpPr/>
          <p:nvPr/>
        </p:nvSpPr>
        <p:spPr>
          <a:xfrm>
            <a:off x="11323015" y="6400800"/>
            <a:ext cx="548640" cy="274320"/>
          </a:xfrm>
          <a:prstGeom prst="rect">
            <a:avLst/>
          </a:prstGeom>
          <a:noFill/>
          <a:ln/>
        </p:spPr>
        <p:txBody>
          <a:bodyPr wrap="square" lIns="0" tIns="0" rIns="0" bIns="0" rtlCol="0" anchor="ctr"/>
          <a:lstStyle/>
          <a:p>
            <a:pPr algn="r" indent="0" marL="0">
              <a:buNone/>
            </a:pPr>
            <a:r>
              <a:rPr lang="en-US" sz="900" dirty="0">
                <a:solidFill>
                  <a:srgbClr val="5EEAD4"/>
                </a:solidFill>
                <a:latin typeface="Consolas" pitchFamily="34" charset="0"/>
                <a:ea typeface="Consolas" pitchFamily="34" charset="-122"/>
                <a:cs typeface="Consolas" pitchFamily="34" charset="-120"/>
              </a:rPr>
              <a:t>51</a:t>
            </a:r>
            <a:endParaRPr lang="en-US" sz="900" dirty="0"/>
          </a:p>
        </p:txBody>
      </p:sp>
      <p:sp>
        <p:nvSpPr>
          <p:cNvPr id="24" name="Text 21"/>
          <p:cNvSpPr/>
          <p:nvPr/>
        </p:nvSpPr>
        <p:spPr>
          <a:xfrm>
            <a:off x="548640" y="6400800"/>
            <a:ext cx="4572000" cy="274320"/>
          </a:xfrm>
          <a:prstGeom prst="rect">
            <a:avLst/>
          </a:prstGeom>
          <a:noFill/>
          <a:ln/>
        </p:spPr>
        <p:txBody>
          <a:bodyPr wrap="square" lIns="0" tIns="0" rIns="0" bIns="0" rtlCol="0" anchor="ctr"/>
          <a:lstStyle/>
          <a:p>
            <a:pPr algn="l" indent="0" marL="0">
              <a:buNone/>
            </a:pPr>
            <a:r>
              <a:rPr lang="en-US" sz="900" dirty="0">
                <a:solidFill>
                  <a:srgbClr val="7FA6B6"/>
                </a:solidFill>
                <a:latin typeface="Calibri" pitchFamily="34" charset="0"/>
                <a:ea typeface="Calibri" pitchFamily="34" charset="-122"/>
                <a:cs typeface="Calibri" pitchFamily="34" charset="-120"/>
              </a:rPr>
              <a:t>A2UI · Agentic UI Layer</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UI Layer for AI Agents — A2UI</dc:title>
  <dc:subject>PptxGenJS Presentation</dc:subject>
  <dc:creator>Agentic AI Practitioner Bootcamp</dc:creator>
  <cp:lastModifiedBy>Agentic AI Practitioner Bootcamp</cp:lastModifiedBy>
  <cp:revision>1</cp:revision>
  <dcterms:created xsi:type="dcterms:W3CDTF">2026-06-09T04:41:14Z</dcterms:created>
  <dcterms:modified xsi:type="dcterms:W3CDTF">2026-06-09T04:41:14Z</dcterms:modified>
</cp:coreProperties>
</file>