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We built single agents, gave them tools and MCP, then Swarm, Graph and Workflow to make several agents cooperate inside one program. Today we cross the last boundary: agents that live in different processes, frameworks, even companies, talking over a standard wire. Everything in this deck was verified on strands-agents 1.42.0.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new thing to the known. The key word is in-process. Everything they learned shares one memory space and one runtime. A2A is the network layer for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why-should-I-care slide. The pain is integration sprawl and framework lock-in. Make it concrete with TravelMind plus named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to three verbs. If they remember nothing else, they remember discover, communicate, coordinate.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common confusion. Drill it. MCP is down to tools. A2A is across to agents. AWS positions both as first-class on AgentCore for exactly this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Founders care about lock-in. The ACP merge is the strongest single signal of staying power. AWS being a founding member is why AgentCore support is real, not bolted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map directly to the four core objects on the next slide and to what Strands gives you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building blocks. Everything in the SDK is just creating, sending or reading these four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well-known path is the whole trick of discovery. A client that knows only the base URL can fetch the card and learn everything else. Point out protocolVersion 0.3.0 and streaming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to a real design choice. TravelMind answering what is my baggage allowance is a Message. Rebook me across three carriers is a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what-actually-goes-over-the-wire slide for the advanced folks. The bare-Python folks can ignore the JSON; the SDK writes it for them. Both groups served by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three roles. Server is you publish. A2AAgent is you call one known agent. ToolProvider is your agent decides which agents to call. The next slides are one per role plus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auto-skill behavior, it is the wow of the Strands wrapper. Verified live in 1.42.0. Default port 9000 matters later for AgentCore.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fact-check payoff. The official docs example uses event[data]; the real SDK uses this structure. We verified by reading the source. Teach the correct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dynamic-routing path. Contrast with A2AAgent (you name the agent) vs ToolProvider (the model names the agent). Three tools, verified by introspection.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flavors of consumption now on the table. This one is for when the topology is fixed and you want determinism.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 expectations and prevent a real bug: someone will try A2AAgent in a Swarm. State the limitation plainly. This is verified from the Strands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consolidation slide before the decision. Everyone should be able to place all six on one mental map after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they photograph. The bias line is the senior-engineer takeaway: do not reach for A2A because it is new; reach for it when a real boundary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is a real scenario. Tie to TravelMind plus named internal teams to keep it grounded.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a thoughtful architect from a hype-follower. This is the pause. Spend time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slide 5 with a concrete combined picture. This is the architecture they will actually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Pure reinforcement through the running example. If they can do this table cold, they understand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AgentCore as the answer to now make it real. This is where their AgentCore training from earlier in the bootcamp pays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port-9000 match is the punchline: near-zero code change from laptop to cloud. AgentCore now hosts MCP, A2A and, since Mar 2026, AG-UI. Three protocols, one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exact code was executed in prep: ping returns healthy, card serves with protocolVersion 0.3.0. The serve_at_root True handles load-balancer path prefixes.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configure, one deploy, an ARN comes back. Session isolation header is the multi-tenant safety net. Mention both the pip toolkit and the newer npm CLI so they are not surprised by either in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424 ties directly to the 424 orchestration errors debugged earlier in the bootcamp. Same family. The HTTP 200 with an error body point catches people who only check status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proves the cross-framework promise is not theoretical, AWS runs it. The mapping to TravelMind makes it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save you a debugging session slide. Every row is something we verified or that AWS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keep one slide, keep this one. It is the whole deck in five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tees up the two notebooks (the next deliverables). Close on the point-at-a-teammate exercise, it makes the magic tangible.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Authoritative sources only. The DZone architecture article was read but its code samples are illustrative pseudo-code, not the real SDK, so it is intentionally not cited for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slideLayout" Target="../slideLayouts/slideLayout1.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2011680" y="4206240"/>
            <a:ext cx="5486400" cy="5486400"/>
          </a:xfrm>
          <a:prstGeom prst="oval">
            <a:avLst/>
          </a:prstGeom>
          <a:solidFill>
            <a:srgbClr val="0D9488">
              <a:alpha val="10000"/>
            </a:srgbClr>
          </a:solidFill>
          <a:ln/>
        </p:spPr>
      </p:sp>
      <p:sp>
        <p:nvSpPr>
          <p:cNvPr id="3" name="Shape 1"/>
          <p:cNvSpPr/>
          <p:nvPr/>
        </p:nvSpPr>
        <p:spPr>
          <a:xfrm>
            <a:off x="8961120" y="-2194560"/>
            <a:ext cx="5943600" cy="5943600"/>
          </a:xfrm>
          <a:prstGeom prst="oval">
            <a:avLst/>
          </a:prstGeom>
          <a:solidFill>
            <a:srgbClr val="2563EB">
              <a:alpha val="8000"/>
            </a:srgbClr>
          </a:solidFill>
          <a:ln/>
        </p:spPr>
      </p:sp>
      <p:pic>
        <p:nvPicPr>
          <p:cNvPr id="4" name="Image 0" descr="preencoded.png">    </p:cNvPr>
          <p:cNvPicPr>
            <a:picLocks noChangeAspect="1"/>
          </p:cNvPicPr>
          <p:nvPr/>
        </p:nvPicPr>
        <p:blipFill>
          <a:blip r:embed="rId1">
            <a:alphaModFix amt="92000"/>
          </a:blip>
          <a:stretch>
            <a:fillRect/>
          </a:stretch>
        </p:blipFill>
        <p:spPr>
          <a:xfrm>
            <a:off x="7680960" y="457200"/>
            <a:ext cx="4206240" cy="5330952"/>
          </a:xfrm>
          <a:prstGeom prst="rect">
            <a:avLst/>
          </a:prstGeom>
        </p:spPr>
      </p:pic>
      <p:sp>
        <p:nvSpPr>
          <p:cNvPr id="5" name="Shape 2"/>
          <p:cNvSpPr/>
          <p:nvPr/>
        </p:nvSpPr>
        <p:spPr>
          <a:xfrm>
            <a:off x="566928" y="1371600"/>
            <a:ext cx="3383280" cy="329184"/>
          </a:xfrm>
          <a:prstGeom prst="roundRect">
            <a:avLst>
              <a:gd name="adj" fmla="val 50000"/>
            </a:avLst>
          </a:prstGeom>
          <a:solidFill>
            <a:srgbClr val="13304F"/>
          </a:solidFill>
          <a:ln/>
        </p:spPr>
      </p:sp>
      <p:sp>
        <p:nvSpPr>
          <p:cNvPr id="6" name="Text 3"/>
          <p:cNvSpPr/>
          <p:nvPr/>
        </p:nvSpPr>
        <p:spPr>
          <a:xfrm>
            <a:off x="566928" y="1371600"/>
            <a:ext cx="3383280" cy="329184"/>
          </a:xfrm>
          <a:prstGeom prst="rect">
            <a:avLst/>
          </a:prstGeom>
          <a:noFill/>
          <a:ln/>
        </p:spPr>
        <p:txBody>
          <a:bodyPr wrap="square" lIns="0" tIns="0" rIns="0" bIns="0" rtlCol="0" anchor="ctr"/>
          <a:lstStyle/>
          <a:p>
            <a:pPr algn="ctr" indent="0" marL="0">
              <a:buNone/>
            </a:pPr>
            <a:r>
              <a:rPr lang="en-US" sz="1100" b="1" dirty="0">
                <a:solidFill>
                  <a:srgbClr val="14B8A6"/>
                </a:solidFill>
                <a:latin typeface="Calibri" pitchFamily="34" charset="0"/>
                <a:ea typeface="Calibri" pitchFamily="34" charset="-122"/>
                <a:cs typeface="Calibri" pitchFamily="34" charset="-120"/>
              </a:rPr>
              <a:t>VERIFIED ON STRANDS-AGENTS 1.42.0</a:t>
            </a:r>
            <a:endParaRPr lang="en-US" sz="1100" dirty="0"/>
          </a:p>
        </p:txBody>
      </p:sp>
      <p:sp>
        <p:nvSpPr>
          <p:cNvPr id="7" name="Text 4"/>
          <p:cNvSpPr/>
          <p:nvPr/>
        </p:nvSpPr>
        <p:spPr>
          <a:xfrm>
            <a:off x="548640" y="1920240"/>
            <a:ext cx="768096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Agent-to-Agent (A2A)</a:t>
            </a:r>
            <a:endParaRPr lang="en-US" sz="4800" dirty="0"/>
          </a:p>
        </p:txBody>
      </p:sp>
      <p:sp>
        <p:nvSpPr>
          <p:cNvPr id="8" name="Text 5"/>
          <p:cNvSpPr/>
          <p:nvPr/>
        </p:nvSpPr>
        <p:spPr>
          <a:xfrm>
            <a:off x="566928" y="2880360"/>
            <a:ext cx="7498080" cy="640080"/>
          </a:xfrm>
          <a:prstGeom prst="rect">
            <a:avLst/>
          </a:prstGeom>
          <a:noFill/>
          <a:ln/>
        </p:spPr>
        <p:txBody>
          <a:bodyPr wrap="square" lIns="0" tIns="0" rIns="0" bIns="0" rtlCol="0" anchor="ctr"/>
          <a:lstStyle/>
          <a:p>
            <a:pPr indent="0" marL="0">
              <a:buNone/>
            </a:pPr>
            <a:r>
              <a:rPr lang="en-US" sz="2600" i="1" dirty="0">
                <a:solidFill>
                  <a:srgbClr val="14B8A6"/>
                </a:solidFill>
                <a:latin typeface="Cambria" pitchFamily="34" charset="0"/>
                <a:ea typeface="Cambria" pitchFamily="34" charset="-122"/>
                <a:cs typeface="Cambria" pitchFamily="34" charset="-120"/>
              </a:rPr>
              <a:t>When your agents stop working alone</a:t>
            </a:r>
            <a:endParaRPr lang="en-US" sz="2600" dirty="0"/>
          </a:p>
        </p:txBody>
      </p:sp>
      <p:sp>
        <p:nvSpPr>
          <p:cNvPr id="9" name="Text 6"/>
          <p:cNvSpPr/>
          <p:nvPr/>
        </p:nvSpPr>
        <p:spPr>
          <a:xfrm>
            <a:off x="566928" y="3657600"/>
            <a:ext cx="7040880" cy="731520"/>
          </a:xfrm>
          <a:prstGeom prst="rect">
            <a:avLst/>
          </a:prstGeom>
          <a:noFill/>
          <a:ln/>
        </p:spPr>
        <p:txBody>
          <a:bodyPr wrap="square" lIns="0" tIns="0" rIns="0" bIns="0" rtlCol="0" anchor="ctr"/>
          <a:lstStyle/>
          <a:p>
            <a:pPr indent="0" marL="0">
              <a:lnSpc>
                <a:spcPct val="110000"/>
              </a:lnSpc>
              <a:buNone/>
            </a:pPr>
            <a:r>
              <a:rPr lang="en-US" sz="1500" dirty="0">
                <a:solidFill>
                  <a:srgbClr val="AAB7C8"/>
                </a:solidFill>
                <a:latin typeface="Calibri" pitchFamily="34" charset="0"/>
                <a:ea typeface="Calibri" pitchFamily="34" charset="-122"/>
                <a:cs typeface="Calibri" pitchFamily="34" charset="-120"/>
              </a:rPr>
              <a:t>From protocol fundamentals to production on AWS, built on Strands plus Amazon Bedrock AgentCore.</a:t>
            </a:r>
            <a:endParaRPr lang="en-US" sz="1500" dirty="0"/>
          </a:p>
        </p:txBody>
      </p:sp>
      <p:sp>
        <p:nvSpPr>
          <p:cNvPr id="10" name="Shape 7"/>
          <p:cNvSpPr/>
          <p:nvPr/>
        </p:nvSpPr>
        <p:spPr>
          <a:xfrm>
            <a:off x="585216" y="4572000"/>
            <a:ext cx="2926080" cy="0"/>
          </a:xfrm>
          <a:prstGeom prst="line">
            <a:avLst/>
          </a:prstGeom>
          <a:noFill/>
          <a:ln w="25400">
            <a:solidFill>
              <a:srgbClr val="0D9488"/>
            </a:solidFill>
            <a:prstDash val="solid"/>
          </a:ln>
        </p:spPr>
      </p:sp>
      <p:sp>
        <p:nvSpPr>
          <p:cNvPr id="11" name="Text 8"/>
          <p:cNvSpPr/>
          <p:nvPr/>
        </p:nvSpPr>
        <p:spPr>
          <a:xfrm>
            <a:off x="566928" y="4709160"/>
            <a:ext cx="7040880" cy="5486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Every code snippet here was run, not recalled. Anchor use case: TravelMind airline support.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0 · FRAMING</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Where A2A sits in your journey</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4023360"/>
                <a:gridCol w="7068312"/>
              </a:tblGrid>
              <a:tr h="47548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You already built</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it gave you</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r>
              <a:tr h="475488">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Single agent + tools</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One brain, local capabilities</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MCP</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A standard socket for tools and data</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75488">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Agents-as-Tools</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One agent calls another, in-process</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Swarm</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Peers self-organize and hand off, in-process</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75488">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Graph / Workflow</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Deterministic multi-agent pipelines, in-process</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algn="l" indent="0" marL="0">
                        <a:buNone/>
                      </a:pPr>
                      <a:r>
                        <a:rPr lang="en-US" sz="1300" b="1" dirty="0">
                          <a:solidFill>
                            <a:srgbClr val="0F172A"/>
                          </a:solidFill>
                          <a:latin typeface="Calibri" pitchFamily="34" charset="0"/>
                          <a:ea typeface="Calibri" pitchFamily="34" charset="-122"/>
                          <a:cs typeface="Calibri" pitchFamily="34" charset="-120"/>
                        </a:rPr>
                        <a:t>A2A  (today)</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c>
                  <a:txBody>
                    <a:bodyPr/>
                    <a:lstStyle/>
                    <a:p>
                      <a:pPr algn="l" indent="0" marL="0">
                        <a:buNone/>
                      </a:pPr>
                      <a:r>
                        <a:rPr lang="en-US" sz="1300" b="1" dirty="0">
                          <a:solidFill>
                            <a:srgbClr val="0F172A"/>
                          </a:solidFill>
                          <a:latin typeface="Calibri" pitchFamily="34" charset="0"/>
                          <a:ea typeface="Calibri" pitchFamily="34" charset="-122"/>
                          <a:cs typeface="Calibri" pitchFamily="34" charset="-120"/>
                        </a:rPr>
                        <a:t>Agents talk across process, framework and org boundaries</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r>
            </a:tbl>
          </a:graphicData>
        </a:graphic>
      </p:graphicFrame>
      <p:sp>
        <p:nvSpPr>
          <p:cNvPr id="6" name="Shape 2"/>
          <p:cNvSpPr/>
          <p:nvPr/>
        </p:nvSpPr>
        <p:spPr>
          <a:xfrm>
            <a:off x="548640" y="5074920"/>
            <a:ext cx="11091672" cy="868680"/>
          </a:xfrm>
          <a:prstGeom prst="roundRect">
            <a:avLst>
              <a:gd name="adj" fmla="val 8421"/>
            </a:avLst>
          </a:prstGeom>
          <a:solidFill>
            <a:srgbClr val="E6FBF6"/>
          </a:solidFill>
          <a:ln/>
          <a:effectLst>
            <a:outerShdw sx="100000" sy="100000" kx="0" ky="0" algn="bl" rotWithShape="0" blurRad="88900" dist="38100" dir="5400000">
              <a:srgbClr val="0F172A">
                <a:alpha val="9000"/>
              </a:srgbClr>
            </a:outerShdw>
          </a:effectLst>
        </p:spPr>
      </p:sp>
      <p:sp>
        <p:nvSpPr>
          <p:cNvPr id="7" name="Text 3"/>
          <p:cNvSpPr/>
          <p:nvPr/>
        </p:nvSpPr>
        <p:spPr>
          <a:xfrm>
            <a:off x="731520" y="5129784"/>
            <a:ext cx="10725912" cy="758952"/>
          </a:xfrm>
          <a:prstGeom prst="rect">
            <a:avLst/>
          </a:prstGeom>
          <a:noFill/>
          <a:ln/>
        </p:spPr>
        <p:txBody>
          <a:bodyPr wrap="square" lIns="0" tIns="0" rIns="0" bIns="0" rtlCol="0" anchor="ctr"/>
          <a:lstStyle/>
          <a:p>
            <a:pPr algn="l" indent="0" marL="0">
              <a:lnSpc>
                <a:spcPct val="104000"/>
              </a:lnSpc>
              <a:buNone/>
            </a:pPr>
            <a:r>
              <a:rPr lang="en-US" sz="1250" b="1" dirty="0">
                <a:solidFill>
                  <a:srgbClr val="0D9488"/>
                </a:solidFill>
                <a:latin typeface="Calibri" pitchFamily="34" charset="0"/>
                <a:ea typeface="Calibri" pitchFamily="34" charset="-122"/>
                <a:cs typeface="Calibri" pitchFamily="34" charset="-120"/>
              </a:rPr>
              <a:t>The one-line takeaway: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every pattern so far lives inside one Python program. A2A is the first one that does not have to. It is the network layer for agents.</a:t>
            </a:r>
            <a:endParaRPr lang="en-US" sz="1250" dirty="0"/>
          </a:p>
        </p:txBody>
      </p:sp>
      <p:sp>
        <p:nvSpPr>
          <p:cNvPr id="8" name="Text 4"/>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9" name="Text 5"/>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0 · FRAMING</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The problem A2A solves: the island</a:t>
            </a:r>
            <a:endParaRPr lang="en-US" sz="2800" dirty="0"/>
          </a:p>
        </p:txBody>
      </p:sp>
      <p:sp>
        <p:nvSpPr>
          <p:cNvPr id="5" name="Text 2"/>
          <p:cNvSpPr/>
          <p:nvPr/>
        </p:nvSpPr>
        <p:spPr>
          <a:xfrm>
            <a:off x="548640" y="1517904"/>
            <a:ext cx="5212080" cy="1737360"/>
          </a:xfrm>
          <a:prstGeom prst="rect">
            <a:avLst/>
          </a:prstGeom>
          <a:noFill/>
          <a:ln/>
        </p:spPr>
        <p:txBody>
          <a:bodyPr wrap="square" lIns="0" tIns="0" rIns="0" bIns="0" rtlCol="0" anchor="t"/>
          <a:lstStyle/>
          <a:p>
            <a:pPr indent="0" marL="0">
              <a:lnSpc>
                <a:spcPct val="112000"/>
              </a:lnSpc>
              <a:buNone/>
            </a:pPr>
            <a:r>
              <a:rPr lang="en-US" sz="1300" b="1" dirty="0">
                <a:solidFill>
                  <a:srgbClr val="0F172A"/>
                </a:solidFill>
              </a:rPr>
              <a:t>Your TravelMind support agent is brilliant. It still cannot talk to:</a:t>
            </a:r>
            <a:endParaRPr lang="en-US" sz="1300" dirty="0"/>
          </a:p>
          <a:p>
            <a:pPr marL="342900" indent="-342900">
              <a:lnSpc>
                <a:spcPct val="112000"/>
              </a:lnSpc>
              <a:buSzPct val="100000"/>
              <a:buChar char="•"/>
            </a:pPr>
            <a:r>
              <a:rPr lang="en-US" sz="1200" dirty="0">
                <a:solidFill>
                  <a:srgbClr val="475569"/>
                </a:solidFill>
              </a:rPr>
              <a:t>the Payments team refund agent (different codebase, different deploy)</a:t>
            </a:r>
            <a:endParaRPr lang="en-US" sz="1300" dirty="0"/>
          </a:p>
          <a:p>
            <a:pPr marL="342900" indent="-342900">
              <a:lnSpc>
                <a:spcPct val="112000"/>
              </a:lnSpc>
              <a:buSzPct val="100000"/>
              <a:buChar char="•"/>
            </a:pPr>
            <a:r>
              <a:rPr lang="en-US" sz="1200" dirty="0">
                <a:solidFill>
                  <a:srgbClr val="475569"/>
                </a:solidFill>
              </a:rPr>
              <a:t>a partner airline rebooking agent (LangGraph, not Strands)</a:t>
            </a:r>
            <a:endParaRPr lang="en-US" sz="1300" dirty="0"/>
          </a:p>
          <a:p>
            <a:pPr marL="342900" indent="-342900">
              <a:lnSpc>
                <a:spcPct val="112000"/>
              </a:lnSpc>
              <a:buSzPct val="100000"/>
              <a:buChar char="•"/>
            </a:pPr>
            <a:r>
              <a:rPr lang="en-US" sz="1200" dirty="0">
                <a:solidFill>
                  <a:srgbClr val="475569"/>
                </a:solidFill>
              </a:rPr>
              <a:t>a fraud-scoring agent owned by Risk (separate VPC, separate release cadence)</a:t>
            </a:r>
            <a:endParaRPr lang="en-US" sz="1300" dirty="0"/>
          </a:p>
        </p:txBody>
      </p:sp>
      <p:sp>
        <p:nvSpPr>
          <p:cNvPr id="6" name="Shape 3"/>
          <p:cNvSpPr/>
          <p:nvPr/>
        </p:nvSpPr>
        <p:spPr>
          <a:xfrm>
            <a:off x="548640" y="3200400"/>
            <a:ext cx="5212080" cy="868680"/>
          </a:xfrm>
          <a:prstGeom prst="roundRect">
            <a:avLst>
              <a:gd name="adj" fmla="val 8421"/>
            </a:avLst>
          </a:prstGeom>
          <a:solidFill>
            <a:srgbClr val="FDECEC"/>
          </a:solidFill>
          <a:ln/>
          <a:effectLst>
            <a:outerShdw sx="100000" sy="100000" kx="0" ky="0" algn="bl" rotWithShape="0" blurRad="88900" dist="38100" dir="5400000">
              <a:srgbClr val="0F172A">
                <a:alpha val="9000"/>
              </a:srgbClr>
            </a:outerShdw>
          </a:effectLst>
        </p:spPr>
      </p:sp>
      <p:sp>
        <p:nvSpPr>
          <p:cNvPr id="7" name="Text 4"/>
          <p:cNvSpPr/>
          <p:nvPr/>
        </p:nvSpPr>
        <p:spPr>
          <a:xfrm>
            <a:off x="731520" y="3255264"/>
            <a:ext cx="4846320" cy="758952"/>
          </a:xfrm>
          <a:prstGeom prst="rect">
            <a:avLst/>
          </a:prstGeom>
          <a:noFill/>
          <a:ln/>
        </p:spPr>
        <p:txBody>
          <a:bodyPr wrap="square" lIns="0" tIns="0" rIns="0" bIns="0" rtlCol="0" anchor="ctr"/>
          <a:lstStyle/>
          <a:p>
            <a:pPr algn="l" indent="0" marL="0">
              <a:lnSpc>
                <a:spcPct val="104000"/>
              </a:lnSpc>
              <a:buNone/>
            </a:pPr>
            <a:r>
              <a:rPr lang="en-US" sz="1250" b="1" dirty="0">
                <a:solidFill>
                  <a:srgbClr val="B91C1C"/>
                </a:solidFill>
                <a:latin typeface="Calibri" pitchFamily="34" charset="0"/>
                <a:ea typeface="Calibri" pitchFamily="34" charset="-122"/>
                <a:cs typeface="Calibri" pitchFamily="34" charset="-120"/>
              </a:rPr>
              <a:t>Before A2A: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bespoke REST glue for every pair. N agents means up to N×(N−1) custom integrations.</a:t>
            </a:r>
            <a:endParaRPr lang="en-US" sz="1250" dirty="0"/>
          </a:p>
        </p:txBody>
      </p:sp>
      <p:sp>
        <p:nvSpPr>
          <p:cNvPr id="8" name="Shape 5"/>
          <p:cNvSpPr/>
          <p:nvPr/>
        </p:nvSpPr>
        <p:spPr>
          <a:xfrm>
            <a:off x="548640" y="4206240"/>
            <a:ext cx="5212080" cy="868680"/>
          </a:xfrm>
          <a:prstGeom prst="roundRect">
            <a:avLst>
              <a:gd name="adj" fmla="val 8421"/>
            </a:avLst>
          </a:prstGeom>
          <a:solidFill>
            <a:srgbClr val="E7F7ED"/>
          </a:solidFill>
          <a:ln/>
          <a:effectLst>
            <a:outerShdw sx="100000" sy="100000" kx="0" ky="0" algn="bl" rotWithShape="0" blurRad="88900" dist="38100" dir="5400000">
              <a:srgbClr val="0F172A">
                <a:alpha val="9000"/>
              </a:srgbClr>
            </a:outerShdw>
          </a:effectLst>
        </p:spPr>
      </p:sp>
      <p:sp>
        <p:nvSpPr>
          <p:cNvPr id="9" name="Text 6"/>
          <p:cNvSpPr/>
          <p:nvPr/>
        </p:nvSpPr>
        <p:spPr>
          <a:xfrm>
            <a:off x="731520" y="4261104"/>
            <a:ext cx="4846320" cy="758952"/>
          </a:xfrm>
          <a:prstGeom prst="rect">
            <a:avLst/>
          </a:prstGeom>
          <a:noFill/>
          <a:ln/>
        </p:spPr>
        <p:txBody>
          <a:bodyPr wrap="square" lIns="0" tIns="0" rIns="0" bIns="0" rtlCol="0" anchor="ctr"/>
          <a:lstStyle/>
          <a:p>
            <a:pPr algn="l" indent="0" marL="0">
              <a:lnSpc>
                <a:spcPct val="104000"/>
              </a:lnSpc>
              <a:buNone/>
            </a:pPr>
            <a:r>
              <a:rPr lang="en-US" sz="1250" b="1" dirty="0">
                <a:solidFill>
                  <a:srgbClr val="15803D"/>
                </a:solidFill>
                <a:latin typeface="Calibri" pitchFamily="34" charset="0"/>
                <a:ea typeface="Calibri" pitchFamily="34" charset="-122"/>
                <a:cs typeface="Calibri" pitchFamily="34" charset="-120"/>
              </a:rPr>
              <a:t>After A2A: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one shared protocol. Each agent speaks it once. Any agent can discover and call any other.</a:t>
            </a:r>
            <a:endParaRPr lang="en-US" sz="1250" dirty="0"/>
          </a:p>
        </p:txBody>
      </p:sp>
      <p:sp>
        <p:nvSpPr>
          <p:cNvPr id="10" name="Shape 7"/>
          <p:cNvSpPr/>
          <p:nvPr/>
        </p:nvSpPr>
        <p:spPr>
          <a:xfrm>
            <a:off x="6062472" y="1490472"/>
            <a:ext cx="5614416" cy="2730673"/>
          </a:xfrm>
          <a:prstGeom prst="roundRect">
            <a:avLst>
              <a:gd name="adj" fmla="val 2009"/>
            </a:avLst>
          </a:prstGeom>
          <a:solidFill>
            <a:srgbClr val="FFFFFF"/>
          </a:solidFill>
          <a:ln/>
          <a:effectLst>
            <a:outerShdw sx="100000" sy="100000" kx="0" ky="0" algn="bl" rotWithShape="0" blurRad="127000" dist="38100" dir="5400000">
              <a:srgbClr val="0F172A">
                <a:alpha val="12000"/>
              </a:srgbClr>
            </a:outerShdw>
          </a:effectLst>
        </p:spPr>
      </p:sp>
      <p:pic>
        <p:nvPicPr>
          <p:cNvPr id="11" name="Image 1" descr="/home/claude/a2a_deck/diagrams/island_vs_connected.png">    </p:cNvPr>
          <p:cNvPicPr>
            <a:picLocks noChangeAspect="1"/>
          </p:cNvPicPr>
          <p:nvPr/>
        </p:nvPicPr>
        <p:blipFill>
          <a:blip r:embed="rId2"/>
          <a:stretch>
            <a:fillRect/>
          </a:stretch>
        </p:blipFill>
        <p:spPr>
          <a:xfrm>
            <a:off x="6126480" y="1554480"/>
            <a:ext cx="5486400" cy="2602657"/>
          </a:xfrm>
          <a:prstGeom prst="rect">
            <a:avLst/>
          </a:prstGeom>
        </p:spPr>
      </p:pic>
      <p:sp>
        <p:nvSpPr>
          <p:cNvPr id="12" name="Shape 8"/>
          <p:cNvSpPr/>
          <p:nvPr/>
        </p:nvSpPr>
        <p:spPr>
          <a:xfrm>
            <a:off x="548640" y="5230368"/>
            <a:ext cx="11091672" cy="841248"/>
          </a:xfrm>
          <a:prstGeom prst="roundRect">
            <a:avLst>
              <a:gd name="adj" fmla="val 8696"/>
            </a:avLst>
          </a:prstGeom>
          <a:solidFill>
            <a:srgbClr val="FEF6E7"/>
          </a:solidFill>
          <a:ln/>
          <a:effectLst>
            <a:outerShdw sx="100000" sy="100000" kx="0" ky="0" algn="bl" rotWithShape="0" blurRad="88900" dist="38100" dir="5400000">
              <a:srgbClr val="0F172A">
                <a:alpha val="9000"/>
              </a:srgbClr>
            </a:outerShdw>
          </a:effectLst>
        </p:spPr>
      </p:sp>
      <p:sp>
        <p:nvSpPr>
          <p:cNvPr id="13" name="Text 9"/>
          <p:cNvSpPr/>
          <p:nvPr/>
        </p:nvSpPr>
        <p:spPr>
          <a:xfrm>
            <a:off x="731520" y="5285232"/>
            <a:ext cx="10725912" cy="731520"/>
          </a:xfrm>
          <a:prstGeom prst="rect">
            <a:avLst/>
          </a:prstGeom>
          <a:noFill/>
          <a:ln/>
        </p:spPr>
        <p:txBody>
          <a:bodyPr wrap="square" lIns="0" tIns="0" rIns="0" bIns="0" rtlCol="0" anchor="ctr"/>
          <a:lstStyle/>
          <a:p>
            <a:pPr algn="l" indent="0" marL="0">
              <a:lnSpc>
                <a:spcPct val="104000"/>
              </a:lnSpc>
              <a:buNone/>
            </a:pPr>
            <a:r>
              <a:rPr lang="en-US" sz="1250" b="1" dirty="0">
                <a:solidFill>
                  <a:srgbClr val="B45309"/>
                </a:solidFill>
                <a:latin typeface="Calibri" pitchFamily="34" charset="0"/>
                <a:ea typeface="Calibri" pitchFamily="34" charset="-122"/>
                <a:cs typeface="Calibri" pitchFamily="34" charset="-120"/>
              </a:rPr>
              <a:t>Skeptic: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“Can I just expose a REST endpoint and call it?” You can, then reinvent discovery, capability description, task lifecycle, streaming and auth for every pair, forever. A2A is that contract, written once by 150+ companies.</a:t>
            </a:r>
            <a:endParaRPr lang="en-US" sz="1250" dirty="0"/>
          </a:p>
        </p:txBody>
      </p:sp>
      <p:sp>
        <p:nvSpPr>
          <p:cNvPr id="14" name="Text 10"/>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15" name="Text 11"/>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2011680" y="4206240"/>
            <a:ext cx="5486400" cy="5486400"/>
          </a:xfrm>
          <a:prstGeom prst="oval">
            <a:avLst/>
          </a:prstGeom>
          <a:solidFill>
            <a:srgbClr val="0D9488">
              <a:alpha val="10000"/>
            </a:srgbClr>
          </a:solidFill>
          <a:ln/>
        </p:spPr>
      </p:sp>
      <p:sp>
        <p:nvSpPr>
          <p:cNvPr id="3" name="Shape 1"/>
          <p:cNvSpPr/>
          <p:nvPr/>
        </p:nvSpPr>
        <p:spPr>
          <a:xfrm>
            <a:off x="8961120" y="-2194560"/>
            <a:ext cx="5943600" cy="5943600"/>
          </a:xfrm>
          <a:prstGeom prst="oval">
            <a:avLst/>
          </a:prstGeom>
          <a:solidFill>
            <a:srgbClr val="2563EB">
              <a:alpha val="8000"/>
            </a:srgbClr>
          </a:solidFill>
          <a:ln/>
        </p:spPr>
      </p:sp>
      <p:pic>
        <p:nvPicPr>
          <p:cNvPr id="4" name="Image 0" descr="preencoded.png">    </p:cNvPr>
          <p:cNvPicPr>
            <a:picLocks noChangeAspect="1"/>
          </p:cNvPicPr>
          <p:nvPr/>
        </p:nvPicPr>
        <p:blipFill>
          <a:blip r:embed="rId1">
            <a:alphaModFix amt="90000"/>
          </a:blip>
          <a:stretch>
            <a:fillRect/>
          </a:stretch>
        </p:blipFill>
        <p:spPr>
          <a:xfrm>
            <a:off x="7955280" y="822960"/>
            <a:ext cx="3931920" cy="4983480"/>
          </a:xfrm>
          <a:prstGeom prst="rect">
            <a:avLst/>
          </a:prstGeom>
        </p:spPr>
      </p:pic>
      <p:sp>
        <p:nvSpPr>
          <p:cNvPr id="5" name="Text 2"/>
          <p:cNvSpPr/>
          <p:nvPr/>
        </p:nvSpPr>
        <p:spPr>
          <a:xfrm>
            <a:off x="548640" y="1737360"/>
            <a:ext cx="2194560" cy="1463040"/>
          </a:xfrm>
          <a:prstGeom prst="rect">
            <a:avLst/>
          </a:prstGeom>
          <a:noFill/>
          <a:ln/>
        </p:spPr>
        <p:txBody>
          <a:bodyPr wrap="square" lIns="0" tIns="0" rIns="0" bIns="0" rtlCol="0" anchor="ctr"/>
          <a:lstStyle/>
          <a:p>
            <a:pPr indent="0" marL="0">
              <a:buNone/>
            </a:pPr>
            <a:r>
              <a:rPr lang="en-US" sz="9600" b="1" dirty="0">
                <a:solidFill>
                  <a:srgbClr val="0D9488"/>
                </a:solidFill>
                <a:latin typeface="Cambria" pitchFamily="34" charset="0"/>
                <a:ea typeface="Cambria" pitchFamily="34" charset="-122"/>
                <a:cs typeface="Cambria" pitchFamily="34" charset="-120"/>
              </a:rPr>
              <a:t>01</a:t>
            </a:r>
            <a:endParaRPr lang="en-US" sz="9600" dirty="0"/>
          </a:p>
        </p:txBody>
      </p:sp>
      <p:sp>
        <p:nvSpPr>
          <p:cNvPr id="6" name="Text 3"/>
          <p:cNvSpPr/>
          <p:nvPr/>
        </p:nvSpPr>
        <p:spPr>
          <a:xfrm>
            <a:off x="566928" y="3246120"/>
            <a:ext cx="77724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Mental Model</a:t>
            </a:r>
            <a:endParaRPr lang="en-US" sz="4000" dirty="0"/>
          </a:p>
        </p:txBody>
      </p:sp>
      <p:sp>
        <p:nvSpPr>
          <p:cNvPr id="7" name="Text 4"/>
          <p:cNvSpPr/>
          <p:nvPr/>
        </p:nvSpPr>
        <p:spPr>
          <a:xfrm>
            <a:off x="566928" y="4206240"/>
            <a:ext cx="7132320" cy="731520"/>
          </a:xfrm>
          <a:prstGeom prst="rect">
            <a:avLst/>
          </a:prstGeom>
          <a:noFill/>
          <a:ln/>
        </p:spPr>
        <p:txBody>
          <a:bodyPr wrap="square" lIns="0" tIns="0" rIns="0" bIns="0" rtlCol="0" anchor="ctr"/>
          <a:lstStyle/>
          <a:p>
            <a:pPr indent="0" marL="0">
              <a:lnSpc>
                <a:spcPct val="110000"/>
              </a:lnSpc>
              <a:buNone/>
            </a:pPr>
            <a:r>
              <a:rPr lang="en-US" sz="1500" dirty="0">
                <a:solidFill>
                  <a:srgbClr val="AAB7C8"/>
                </a:solidFill>
                <a:latin typeface="Calibri" pitchFamily="34" charset="0"/>
                <a:ea typeface="Calibri" pitchFamily="34" charset="-122"/>
                <a:cs typeface="Calibri" pitchFamily="34" charset="-120"/>
              </a:rPr>
              <a:t>One open standard. Three verbs. Four nouns. The cleanest line you will ever draw between MCP and A2A.</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1 · MENTAL MODEL</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What is A2A, in one breath</a:t>
            </a:r>
            <a:endParaRPr lang="en-US" sz="2800" dirty="0"/>
          </a:p>
        </p:txBody>
      </p:sp>
      <p:sp>
        <p:nvSpPr>
          <p:cNvPr id="5" name="Shape 2"/>
          <p:cNvSpPr/>
          <p:nvPr/>
        </p:nvSpPr>
        <p:spPr>
          <a:xfrm>
            <a:off x="548640" y="1517904"/>
            <a:ext cx="11091672" cy="1143000"/>
          </a:xfrm>
          <a:prstGeom prst="roundRect">
            <a:avLst>
              <a:gd name="adj" fmla="val 6400"/>
            </a:avLst>
          </a:prstGeom>
          <a:solidFill>
            <a:srgbClr val="0F2540"/>
          </a:solidFill>
          <a:ln/>
          <a:effectLst>
            <a:outerShdw sx="100000" sy="100000" kx="0" ky="0" algn="bl" rotWithShape="0" blurRad="114300" dist="38100" dir="5400000">
              <a:srgbClr val="0F172A">
                <a:alpha val="14000"/>
              </a:srgbClr>
            </a:outerShdw>
          </a:effectLst>
        </p:spPr>
      </p:sp>
      <p:sp>
        <p:nvSpPr>
          <p:cNvPr id="6" name="Text 3"/>
          <p:cNvSpPr/>
          <p:nvPr/>
        </p:nvSpPr>
        <p:spPr>
          <a:xfrm>
            <a:off x="822960" y="1554480"/>
            <a:ext cx="10515600" cy="1069848"/>
          </a:xfrm>
          <a:prstGeom prst="rect">
            <a:avLst/>
          </a:prstGeom>
          <a:noFill/>
          <a:ln/>
        </p:spPr>
        <p:txBody>
          <a:bodyPr wrap="square" lIns="0" tIns="0" rIns="0" bIns="0" rtlCol="0" anchor="ctr"/>
          <a:lstStyle/>
          <a:p>
            <a:pPr algn="l" indent="0" marL="0">
              <a:lnSpc>
                <a:spcPct val="108000"/>
              </a:lnSpc>
              <a:buNone/>
            </a:pPr>
            <a:r>
              <a:rPr lang="en-US" sz="1800" i="1" dirty="0">
                <a:solidFill>
                  <a:srgbClr val="FFFFFF"/>
                </a:solidFill>
                <a:latin typeface="Cambria" pitchFamily="34" charset="0"/>
                <a:ea typeface="Cambria" pitchFamily="34" charset="-122"/>
                <a:cs typeface="Cambria" pitchFamily="34" charset="-120"/>
              </a:rPr>
              <a:t>An open standard for how AI agents discover each other, exchange messages and coordinate work, regardless of who built them or what framework they run on.</a:t>
            </a:r>
            <a:endParaRPr lang="en-US" sz="1800" dirty="0"/>
          </a:p>
        </p:txBody>
      </p:sp>
      <p:sp>
        <p:nvSpPr>
          <p:cNvPr id="7" name="Shape 4"/>
          <p:cNvSpPr/>
          <p:nvPr/>
        </p:nvSpPr>
        <p:spPr>
          <a:xfrm>
            <a:off x="548640" y="2926080"/>
            <a:ext cx="3453384" cy="1874520"/>
          </a:xfrm>
          <a:prstGeom prst="roundRect">
            <a:avLst>
              <a:gd name="adj" fmla="val 3902"/>
            </a:avLst>
          </a:prstGeom>
          <a:solidFill>
            <a:srgbClr val="E6FBF6"/>
          </a:solidFill>
          <a:ln/>
          <a:effectLst>
            <a:outerShdw sx="100000" sy="100000" kx="0" ky="0" algn="bl" rotWithShape="0" blurRad="101600" dist="38100" dir="5400000">
              <a:srgbClr val="0F172A">
                <a:alpha val="10000"/>
              </a:srgbClr>
            </a:outerShdw>
          </a:effectLst>
        </p:spPr>
      </p:sp>
      <p:sp>
        <p:nvSpPr>
          <p:cNvPr id="8" name="Shape 5"/>
          <p:cNvSpPr/>
          <p:nvPr/>
        </p:nvSpPr>
        <p:spPr>
          <a:xfrm>
            <a:off x="768096" y="3145536"/>
            <a:ext cx="603504" cy="603504"/>
          </a:xfrm>
          <a:prstGeom prst="oval">
            <a:avLst/>
          </a:prstGeom>
          <a:solidFill>
            <a:srgbClr val="FFFFFF"/>
          </a:solidFill>
          <a:ln/>
        </p:spPr>
      </p:sp>
      <p:pic>
        <p:nvPicPr>
          <p:cNvPr id="9" name="Image 1" descr="preencoded.png">    </p:cNvPr>
          <p:cNvPicPr>
            <a:picLocks noChangeAspect="1"/>
          </p:cNvPicPr>
          <p:nvPr/>
        </p:nvPicPr>
        <p:blipFill>
          <a:blip r:embed="rId2"/>
          <a:stretch>
            <a:fillRect/>
          </a:stretch>
        </p:blipFill>
        <p:spPr>
          <a:xfrm>
            <a:off x="900867" y="3278307"/>
            <a:ext cx="337962" cy="337962"/>
          </a:xfrm>
          <a:prstGeom prst="rect">
            <a:avLst/>
          </a:prstGeom>
        </p:spPr>
      </p:pic>
      <p:sp>
        <p:nvSpPr>
          <p:cNvPr id="10" name="Text 6"/>
          <p:cNvSpPr/>
          <p:nvPr/>
        </p:nvSpPr>
        <p:spPr>
          <a:xfrm>
            <a:off x="768096" y="3877056"/>
            <a:ext cx="301447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Discover</a:t>
            </a:r>
            <a:endParaRPr lang="en-US" sz="1400" dirty="0"/>
          </a:p>
        </p:txBody>
      </p:sp>
      <p:sp>
        <p:nvSpPr>
          <p:cNvPr id="11" name="Text 7"/>
          <p:cNvSpPr/>
          <p:nvPr/>
        </p:nvSpPr>
        <p:spPr>
          <a:xfrm>
            <a:off x="768096" y="4261104"/>
            <a:ext cx="3014472" cy="39319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Agents find each other by reading a published Agent Card. No prior arrangement.</a:t>
            </a:r>
            <a:endParaRPr lang="en-US" sz="1150" dirty="0"/>
          </a:p>
        </p:txBody>
      </p:sp>
      <p:sp>
        <p:nvSpPr>
          <p:cNvPr id="12" name="Shape 8"/>
          <p:cNvSpPr/>
          <p:nvPr/>
        </p:nvSpPr>
        <p:spPr>
          <a:xfrm>
            <a:off x="4367784" y="2926080"/>
            <a:ext cx="3453384" cy="1874520"/>
          </a:xfrm>
          <a:prstGeom prst="roundRect">
            <a:avLst>
              <a:gd name="adj" fmla="val 3902"/>
            </a:avLst>
          </a:prstGeom>
          <a:solidFill>
            <a:srgbClr val="E6FBF6"/>
          </a:solidFill>
          <a:ln/>
          <a:effectLst>
            <a:outerShdw sx="100000" sy="100000" kx="0" ky="0" algn="bl" rotWithShape="0" blurRad="101600" dist="38100" dir="5400000">
              <a:srgbClr val="0F172A">
                <a:alpha val="10000"/>
              </a:srgbClr>
            </a:outerShdw>
          </a:effectLst>
        </p:spPr>
      </p:sp>
      <p:sp>
        <p:nvSpPr>
          <p:cNvPr id="13" name="Shape 9"/>
          <p:cNvSpPr/>
          <p:nvPr/>
        </p:nvSpPr>
        <p:spPr>
          <a:xfrm>
            <a:off x="4587240" y="3145536"/>
            <a:ext cx="603504" cy="603504"/>
          </a:xfrm>
          <a:prstGeom prst="oval">
            <a:avLst/>
          </a:prstGeom>
          <a:solidFill>
            <a:srgbClr val="FFFFFF"/>
          </a:solidFill>
          <a:ln/>
        </p:spPr>
      </p:sp>
      <p:pic>
        <p:nvPicPr>
          <p:cNvPr id="14" name="Image 2" descr="preencoded.png">    </p:cNvPr>
          <p:cNvPicPr>
            <a:picLocks noChangeAspect="1"/>
          </p:cNvPicPr>
          <p:nvPr/>
        </p:nvPicPr>
        <p:blipFill>
          <a:blip r:embed="rId3"/>
          <a:stretch>
            <a:fillRect/>
          </a:stretch>
        </p:blipFill>
        <p:spPr>
          <a:xfrm>
            <a:off x="4720011" y="3278307"/>
            <a:ext cx="337962" cy="337962"/>
          </a:xfrm>
          <a:prstGeom prst="rect">
            <a:avLst/>
          </a:prstGeom>
        </p:spPr>
      </p:pic>
      <p:sp>
        <p:nvSpPr>
          <p:cNvPr id="15" name="Text 10"/>
          <p:cNvSpPr/>
          <p:nvPr/>
        </p:nvSpPr>
        <p:spPr>
          <a:xfrm>
            <a:off x="4587240" y="3877056"/>
            <a:ext cx="301447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Communicate</a:t>
            </a:r>
            <a:endParaRPr lang="en-US" sz="1400" dirty="0"/>
          </a:p>
        </p:txBody>
      </p:sp>
      <p:sp>
        <p:nvSpPr>
          <p:cNvPr id="16" name="Text 11"/>
          <p:cNvSpPr/>
          <p:nvPr/>
        </p:nvSpPr>
        <p:spPr>
          <a:xfrm>
            <a:off x="4587240" y="4261104"/>
            <a:ext cx="3014472" cy="39319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One standard message format. Send a request, get a reply, regardless of stack.</a:t>
            </a:r>
            <a:endParaRPr lang="en-US" sz="1150" dirty="0"/>
          </a:p>
        </p:txBody>
      </p:sp>
      <p:sp>
        <p:nvSpPr>
          <p:cNvPr id="17" name="Shape 12"/>
          <p:cNvSpPr/>
          <p:nvPr/>
        </p:nvSpPr>
        <p:spPr>
          <a:xfrm>
            <a:off x="8186928" y="2926080"/>
            <a:ext cx="3453384" cy="1874520"/>
          </a:xfrm>
          <a:prstGeom prst="roundRect">
            <a:avLst>
              <a:gd name="adj" fmla="val 3902"/>
            </a:avLst>
          </a:prstGeom>
          <a:solidFill>
            <a:srgbClr val="E6FBF6"/>
          </a:solidFill>
          <a:ln/>
          <a:effectLst>
            <a:outerShdw sx="100000" sy="100000" kx="0" ky="0" algn="bl" rotWithShape="0" blurRad="101600" dist="38100" dir="5400000">
              <a:srgbClr val="0F172A">
                <a:alpha val="10000"/>
              </a:srgbClr>
            </a:outerShdw>
          </a:effectLst>
        </p:spPr>
      </p:sp>
      <p:sp>
        <p:nvSpPr>
          <p:cNvPr id="18" name="Shape 13"/>
          <p:cNvSpPr/>
          <p:nvPr/>
        </p:nvSpPr>
        <p:spPr>
          <a:xfrm>
            <a:off x="8406384" y="3145536"/>
            <a:ext cx="603504" cy="603504"/>
          </a:xfrm>
          <a:prstGeom prst="oval">
            <a:avLst/>
          </a:prstGeom>
          <a:solidFill>
            <a:srgbClr val="FFFFFF"/>
          </a:solidFill>
          <a:ln/>
        </p:spPr>
      </p:sp>
      <p:pic>
        <p:nvPicPr>
          <p:cNvPr id="19" name="Image 3" descr="preencoded.png">    </p:cNvPr>
          <p:cNvPicPr>
            <a:picLocks noChangeAspect="1"/>
          </p:cNvPicPr>
          <p:nvPr/>
        </p:nvPicPr>
        <p:blipFill>
          <a:blip r:embed="rId4"/>
          <a:stretch>
            <a:fillRect/>
          </a:stretch>
        </p:blipFill>
        <p:spPr>
          <a:xfrm>
            <a:off x="8539155" y="3278307"/>
            <a:ext cx="337962" cy="337962"/>
          </a:xfrm>
          <a:prstGeom prst="rect">
            <a:avLst/>
          </a:prstGeom>
        </p:spPr>
      </p:pic>
      <p:sp>
        <p:nvSpPr>
          <p:cNvPr id="20" name="Text 14"/>
          <p:cNvSpPr/>
          <p:nvPr/>
        </p:nvSpPr>
        <p:spPr>
          <a:xfrm>
            <a:off x="8406384" y="3877056"/>
            <a:ext cx="301447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Coordinate</a:t>
            </a:r>
            <a:endParaRPr lang="en-US" sz="1400" dirty="0"/>
          </a:p>
        </p:txBody>
      </p:sp>
      <p:sp>
        <p:nvSpPr>
          <p:cNvPr id="21" name="Text 15"/>
          <p:cNvSpPr/>
          <p:nvPr/>
        </p:nvSpPr>
        <p:spPr>
          <a:xfrm>
            <a:off x="8406384" y="4261104"/>
            <a:ext cx="3014472" cy="39319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Track long jobs, stream progress, hand off work between peers.</a:t>
            </a:r>
            <a:endParaRPr lang="en-US" sz="1150" dirty="0"/>
          </a:p>
        </p:txBody>
      </p:sp>
      <p:sp>
        <p:nvSpPr>
          <p:cNvPr id="22" name="Shape 16"/>
          <p:cNvSpPr/>
          <p:nvPr/>
        </p:nvSpPr>
        <p:spPr>
          <a:xfrm>
            <a:off x="548640" y="5074920"/>
            <a:ext cx="11091672" cy="841248"/>
          </a:xfrm>
          <a:prstGeom prst="roundRect">
            <a:avLst>
              <a:gd name="adj" fmla="val 8696"/>
            </a:avLst>
          </a:prstGeom>
          <a:solidFill>
            <a:srgbClr val="EEF3FE"/>
          </a:solidFill>
          <a:ln/>
          <a:effectLst>
            <a:outerShdw sx="100000" sy="100000" kx="0" ky="0" algn="bl" rotWithShape="0" blurRad="88900" dist="38100" dir="5400000">
              <a:srgbClr val="0F172A">
                <a:alpha val="9000"/>
              </a:srgbClr>
            </a:outerShdw>
          </a:effectLst>
        </p:spPr>
      </p:sp>
      <p:sp>
        <p:nvSpPr>
          <p:cNvPr id="23" name="Text 17"/>
          <p:cNvSpPr/>
          <p:nvPr/>
        </p:nvSpPr>
        <p:spPr>
          <a:xfrm>
            <a:off x="731520" y="5129784"/>
            <a:ext cx="10725912" cy="731520"/>
          </a:xfrm>
          <a:prstGeom prst="rect">
            <a:avLst/>
          </a:prstGeom>
          <a:noFill/>
          <a:ln/>
        </p:spPr>
        <p:txBody>
          <a:bodyPr wrap="square" lIns="0" tIns="0" rIns="0" bIns="0" rtlCol="0" anchor="ctr"/>
          <a:lstStyle/>
          <a:p>
            <a:pPr algn="l" indent="0" marL="0">
              <a:lnSpc>
                <a:spcPct val="104000"/>
              </a:lnSpc>
              <a:buNone/>
            </a:pPr>
            <a:r>
              <a:rPr lang="en-US" sz="1250" b="1" dirty="0">
                <a:solidFill>
                  <a:srgbClr val="2563EB"/>
                </a:solidFill>
                <a:latin typeface="Calibri" pitchFamily="34" charset="0"/>
                <a:ea typeface="Calibri" pitchFamily="34" charset="-122"/>
                <a:cs typeface="Calibri" pitchFamily="34" charset="-120"/>
              </a:rPr>
              <a:t>The analogy: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it is to agents what HTTP is to web servers. Nobody asks what language a website is written in before loading it. A2A makes agents that boring to connect to, on purpose.</a:t>
            </a:r>
            <a:endParaRPr lang="en-US" sz="1250" dirty="0"/>
          </a:p>
        </p:txBody>
      </p:sp>
      <p:sp>
        <p:nvSpPr>
          <p:cNvPr id="24" name="Text 18"/>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25" name="Text 19"/>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1 · MENTAL MODEL</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MCP vs A2A: the cleanest line you will ever draw</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6766560" cy="914400"/>
        </p:xfrm>
        <a:graphic>
          <a:graphicData uri="http://schemas.openxmlformats.org/drawingml/2006/table">
            <a:tbl>
              <a:tblPr/>
              <a:tblGrid>
                <a:gridCol w="3383280"/>
                <a:gridCol w="3383280"/>
              </a:tblGrid>
              <a:tr h="56692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MCP</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A2A</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r>
              <a:tr h="566928">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Connects an agent to tools and data</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Connects an agent to other agents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66928">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The other end is passive: a function, API, DB</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The other end is an agent: it reasons, plans, has its own tools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566928">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“Give me the weather for BLR”</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“Handle this rebooking, I trust your judgment”</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66928">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Vertical: agent reaches down to capabilities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Horizontal: agent reaches across to peers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bl>
          </a:graphicData>
        </a:graphic>
      </p:graphicFrame>
      <p:sp>
        <p:nvSpPr>
          <p:cNvPr id="6" name="Shape 2"/>
          <p:cNvSpPr/>
          <p:nvPr/>
        </p:nvSpPr>
        <p:spPr>
          <a:xfrm>
            <a:off x="7360920" y="1828800"/>
            <a:ext cx="566928" cy="566928"/>
          </a:xfrm>
          <a:prstGeom prst="oval">
            <a:avLst/>
          </a:prstGeom>
          <a:solidFill>
            <a:srgbClr val="EEF3FE"/>
          </a:solidFill>
          <a:ln/>
        </p:spPr>
      </p:sp>
      <p:pic>
        <p:nvPicPr>
          <p:cNvPr id="7" name="Image 1" descr="preencoded.png">    </p:cNvPr>
          <p:cNvPicPr>
            <a:picLocks noChangeAspect="1"/>
          </p:cNvPicPr>
          <p:nvPr/>
        </p:nvPicPr>
        <p:blipFill>
          <a:blip r:embed="rId2"/>
          <a:stretch>
            <a:fillRect/>
          </a:stretch>
        </p:blipFill>
        <p:spPr>
          <a:xfrm>
            <a:off x="7485644" y="1953524"/>
            <a:ext cx="317480" cy="317480"/>
          </a:xfrm>
          <a:prstGeom prst="rect">
            <a:avLst/>
          </a:prstGeom>
        </p:spPr>
      </p:pic>
      <p:sp>
        <p:nvSpPr>
          <p:cNvPr id="8" name="Text 3"/>
          <p:cNvSpPr/>
          <p:nvPr/>
        </p:nvSpPr>
        <p:spPr>
          <a:xfrm>
            <a:off x="7040880" y="2432304"/>
            <a:ext cx="1554480" cy="27432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MCP = down to tools</a:t>
            </a:r>
            <a:endParaRPr lang="en-US" sz="1000" dirty="0"/>
          </a:p>
        </p:txBody>
      </p:sp>
      <p:sp>
        <p:nvSpPr>
          <p:cNvPr id="9" name="Shape 4"/>
          <p:cNvSpPr/>
          <p:nvPr/>
        </p:nvSpPr>
        <p:spPr>
          <a:xfrm>
            <a:off x="9235440" y="1828800"/>
            <a:ext cx="566928" cy="566928"/>
          </a:xfrm>
          <a:prstGeom prst="oval">
            <a:avLst/>
          </a:prstGeom>
          <a:solidFill>
            <a:srgbClr val="E6FBF6"/>
          </a:solidFill>
          <a:ln/>
        </p:spPr>
      </p:sp>
      <p:pic>
        <p:nvPicPr>
          <p:cNvPr id="10" name="Image 2" descr="preencoded.png">    </p:cNvPr>
          <p:cNvPicPr>
            <a:picLocks noChangeAspect="1"/>
          </p:cNvPicPr>
          <p:nvPr/>
        </p:nvPicPr>
        <p:blipFill>
          <a:blip r:embed="rId3"/>
          <a:stretch>
            <a:fillRect/>
          </a:stretch>
        </p:blipFill>
        <p:spPr>
          <a:xfrm>
            <a:off x="9360164" y="1953524"/>
            <a:ext cx="317480" cy="317480"/>
          </a:xfrm>
          <a:prstGeom prst="rect">
            <a:avLst/>
          </a:prstGeom>
        </p:spPr>
      </p:pic>
      <p:sp>
        <p:nvSpPr>
          <p:cNvPr id="11" name="Text 5"/>
          <p:cNvSpPr/>
          <p:nvPr/>
        </p:nvSpPr>
        <p:spPr>
          <a:xfrm>
            <a:off x="8778240" y="2432304"/>
            <a:ext cx="2011680" cy="274320"/>
          </a:xfrm>
          <a:prstGeom prst="rect">
            <a:avLst/>
          </a:prstGeom>
          <a:noFill/>
          <a:ln/>
        </p:spPr>
        <p:txBody>
          <a:bodyPr wrap="square" lIns="0" tIns="0" rIns="0" bIns="0"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A2A = across to agents</a:t>
            </a:r>
            <a:endParaRPr lang="en-US" sz="1000" dirty="0"/>
          </a:p>
        </p:txBody>
      </p:sp>
      <p:sp>
        <p:nvSpPr>
          <p:cNvPr id="12" name="Shape 6"/>
          <p:cNvSpPr/>
          <p:nvPr/>
        </p:nvSpPr>
        <p:spPr>
          <a:xfrm>
            <a:off x="7388352" y="2907792"/>
            <a:ext cx="4288536" cy="1961652"/>
          </a:xfrm>
          <a:prstGeom prst="roundRect">
            <a:avLst>
              <a:gd name="adj" fmla="val 2797"/>
            </a:avLst>
          </a:prstGeom>
          <a:solidFill>
            <a:srgbClr val="FFFFFF"/>
          </a:solidFill>
          <a:ln/>
          <a:effectLst>
            <a:outerShdw sx="100000" sy="100000" kx="0" ky="0" algn="bl" rotWithShape="0" blurRad="127000" dist="38100" dir="5400000">
              <a:srgbClr val="0F172A">
                <a:alpha val="12000"/>
              </a:srgbClr>
            </a:outerShdw>
          </a:effectLst>
        </p:spPr>
      </p:sp>
      <p:pic>
        <p:nvPicPr>
          <p:cNvPr id="13" name="Image 3" descr="/home/claude/a2a_deck/diagrams/mcp_vs_a2a.png">    </p:cNvPr>
          <p:cNvPicPr>
            <a:picLocks noChangeAspect="1"/>
          </p:cNvPicPr>
          <p:nvPr/>
        </p:nvPicPr>
        <p:blipFill>
          <a:blip r:embed="rId4"/>
          <a:stretch>
            <a:fillRect/>
          </a:stretch>
        </p:blipFill>
        <p:spPr>
          <a:xfrm>
            <a:off x="7452360" y="2971800"/>
            <a:ext cx="4160520" cy="1833636"/>
          </a:xfrm>
          <a:prstGeom prst="rect">
            <a:avLst/>
          </a:prstGeom>
        </p:spPr>
      </p:pic>
      <p:sp>
        <p:nvSpPr>
          <p:cNvPr id="14" name="Shape 7"/>
          <p:cNvSpPr/>
          <p:nvPr/>
        </p:nvSpPr>
        <p:spPr>
          <a:xfrm>
            <a:off x="548640" y="5257800"/>
            <a:ext cx="11091672" cy="822960"/>
          </a:xfrm>
          <a:prstGeom prst="roundRect">
            <a:avLst>
              <a:gd name="adj" fmla="val 8889"/>
            </a:avLst>
          </a:prstGeom>
          <a:solidFill>
            <a:srgbClr val="E6FBF6"/>
          </a:solidFill>
          <a:ln/>
          <a:effectLst>
            <a:outerShdw sx="100000" sy="100000" kx="0" ky="0" algn="bl" rotWithShape="0" blurRad="88900" dist="38100" dir="5400000">
              <a:srgbClr val="0F172A">
                <a:alpha val="9000"/>
              </a:srgbClr>
            </a:outerShdw>
          </a:effectLst>
        </p:spPr>
      </p:sp>
      <p:sp>
        <p:nvSpPr>
          <p:cNvPr id="15" name="Text 8"/>
          <p:cNvSpPr/>
          <p:nvPr/>
        </p:nvSpPr>
        <p:spPr>
          <a:xfrm>
            <a:off x="731520" y="5312664"/>
            <a:ext cx="10725912" cy="713232"/>
          </a:xfrm>
          <a:prstGeom prst="rect">
            <a:avLst/>
          </a:prstGeom>
          <a:noFill/>
          <a:ln/>
        </p:spPr>
        <p:txBody>
          <a:bodyPr wrap="square" lIns="0" tIns="0" rIns="0" bIns="0" rtlCol="0" anchor="ctr"/>
          <a:lstStyle/>
          <a:p>
            <a:pPr algn="l" indent="0" marL="0">
              <a:lnSpc>
                <a:spcPct val="104000"/>
              </a:lnSpc>
              <a:buNone/>
            </a:pPr>
            <a:r>
              <a:rPr lang="en-US" sz="1250" b="1" dirty="0">
                <a:solidFill>
                  <a:srgbClr val="0D9488"/>
                </a:solidFill>
                <a:latin typeface="Calibri" pitchFamily="34" charset="0"/>
                <a:ea typeface="Calibri" pitchFamily="34" charset="-122"/>
                <a:cs typeface="Calibri" pitchFamily="34" charset="-120"/>
              </a:rPr>
              <a:t>Punchline: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they are complementary, not rivals. A real system uses both. Your A2A agent calls peers over A2A and uses its own tools over MCP.</a:t>
            </a:r>
            <a:endParaRPr lang="en-US" sz="1250" dirty="0"/>
          </a:p>
        </p:txBody>
      </p:sp>
      <p:sp>
        <p:nvSpPr>
          <p:cNvPr id="16" name="Text 9"/>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17" name="Text 10"/>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1 · MENTAL MODEL</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How A2A became a standard, and why that matters</a:t>
            </a:r>
            <a:endParaRPr lang="en-US" sz="2800" dirty="0"/>
          </a:p>
        </p:txBody>
      </p:sp>
      <p:sp>
        <p:nvSpPr>
          <p:cNvPr id="5" name="Shape 2"/>
          <p:cNvSpPr/>
          <p:nvPr/>
        </p:nvSpPr>
        <p:spPr>
          <a:xfrm>
            <a:off x="914400" y="2084832"/>
            <a:ext cx="10268712" cy="0"/>
          </a:xfrm>
          <a:prstGeom prst="line">
            <a:avLst/>
          </a:prstGeom>
          <a:noFill/>
          <a:ln w="25400">
            <a:solidFill>
              <a:srgbClr val="E2E8F0"/>
            </a:solidFill>
            <a:prstDash val="solid"/>
          </a:ln>
        </p:spPr>
      </p:sp>
      <p:sp>
        <p:nvSpPr>
          <p:cNvPr id="6" name="Shape 3"/>
          <p:cNvSpPr/>
          <p:nvPr/>
        </p:nvSpPr>
        <p:spPr>
          <a:xfrm>
            <a:off x="548640" y="1783080"/>
            <a:ext cx="603504" cy="603504"/>
          </a:xfrm>
          <a:prstGeom prst="oval">
            <a:avLst/>
          </a:prstGeom>
          <a:solidFill>
            <a:srgbClr val="E6FBF6"/>
          </a:solidFill>
          <a:ln/>
        </p:spPr>
      </p:sp>
      <p:pic>
        <p:nvPicPr>
          <p:cNvPr id="7" name="Image 1" descr="preencoded.png">    </p:cNvPr>
          <p:cNvPicPr>
            <a:picLocks noChangeAspect="1"/>
          </p:cNvPicPr>
          <p:nvPr/>
        </p:nvPicPr>
        <p:blipFill>
          <a:blip r:embed="rId2"/>
          <a:stretch>
            <a:fillRect/>
          </a:stretch>
        </p:blipFill>
        <p:spPr>
          <a:xfrm>
            <a:off x="681411" y="1915851"/>
            <a:ext cx="337962" cy="337962"/>
          </a:xfrm>
          <a:prstGeom prst="rect">
            <a:avLst/>
          </a:prstGeom>
        </p:spPr>
      </p:pic>
      <p:sp>
        <p:nvSpPr>
          <p:cNvPr id="8" name="Text 4"/>
          <p:cNvSpPr/>
          <p:nvPr/>
        </p:nvSpPr>
        <p:spPr>
          <a:xfrm>
            <a:off x="548640" y="2496312"/>
            <a:ext cx="2587752" cy="292608"/>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Apr 9, 2025</a:t>
            </a:r>
            <a:endParaRPr lang="en-US" sz="1300" dirty="0"/>
          </a:p>
        </p:txBody>
      </p:sp>
      <p:sp>
        <p:nvSpPr>
          <p:cNvPr id="9" name="Text 5"/>
          <p:cNvSpPr/>
          <p:nvPr/>
        </p:nvSpPr>
        <p:spPr>
          <a:xfrm>
            <a:off x="548640" y="2807208"/>
            <a:ext cx="2496312" cy="1188720"/>
          </a:xfrm>
          <a:prstGeom prst="rect">
            <a:avLst/>
          </a:prstGeom>
          <a:noFill/>
          <a:ln/>
        </p:spPr>
        <p:txBody>
          <a:bodyPr wrap="square" lIns="0" tIns="0" rIns="0" bIns="0" rtlCol="0" anchor="t"/>
          <a:lstStyle/>
          <a:p>
            <a:pPr indent="0" marL="0">
              <a:lnSpc>
                <a:spcPct val="106000"/>
              </a:lnSpc>
              <a:buNone/>
            </a:pPr>
            <a:r>
              <a:rPr lang="en-US" sz="1150" dirty="0">
                <a:solidFill>
                  <a:srgbClr val="475569"/>
                </a:solidFill>
                <a:latin typeface="Calibri" pitchFamily="34" charset="0"/>
                <a:ea typeface="Calibri" pitchFamily="34" charset="-122"/>
                <a:cs typeface="Calibri" pitchFamily="34" charset="-120"/>
              </a:rPr>
              <a:t>Google announces A2A with 50+ founding partners.</a:t>
            </a:r>
            <a:endParaRPr lang="en-US" sz="1150" dirty="0"/>
          </a:p>
        </p:txBody>
      </p:sp>
      <p:sp>
        <p:nvSpPr>
          <p:cNvPr id="10" name="Shape 6"/>
          <p:cNvSpPr/>
          <p:nvPr/>
        </p:nvSpPr>
        <p:spPr>
          <a:xfrm>
            <a:off x="3346704" y="1783080"/>
            <a:ext cx="603504" cy="603504"/>
          </a:xfrm>
          <a:prstGeom prst="oval">
            <a:avLst/>
          </a:prstGeom>
          <a:solidFill>
            <a:srgbClr val="E6FBF6"/>
          </a:solidFill>
          <a:ln/>
        </p:spPr>
      </p:sp>
      <p:pic>
        <p:nvPicPr>
          <p:cNvPr id="11" name="Image 2" descr="preencoded.png">    </p:cNvPr>
          <p:cNvPicPr>
            <a:picLocks noChangeAspect="1"/>
          </p:cNvPicPr>
          <p:nvPr/>
        </p:nvPicPr>
        <p:blipFill>
          <a:blip r:embed="rId3"/>
          <a:stretch>
            <a:fillRect/>
          </a:stretch>
        </p:blipFill>
        <p:spPr>
          <a:xfrm>
            <a:off x="3479475" y="1915851"/>
            <a:ext cx="337962" cy="337962"/>
          </a:xfrm>
          <a:prstGeom prst="rect">
            <a:avLst/>
          </a:prstGeom>
        </p:spPr>
      </p:pic>
      <p:sp>
        <p:nvSpPr>
          <p:cNvPr id="12" name="Text 7"/>
          <p:cNvSpPr/>
          <p:nvPr/>
        </p:nvSpPr>
        <p:spPr>
          <a:xfrm>
            <a:off x="3346704" y="2496312"/>
            <a:ext cx="2587752" cy="292608"/>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Jun 23, 2025</a:t>
            </a:r>
            <a:endParaRPr lang="en-US" sz="1300" dirty="0"/>
          </a:p>
        </p:txBody>
      </p:sp>
      <p:sp>
        <p:nvSpPr>
          <p:cNvPr id="13" name="Text 8"/>
          <p:cNvSpPr/>
          <p:nvPr/>
        </p:nvSpPr>
        <p:spPr>
          <a:xfrm>
            <a:off x="3346704" y="2807208"/>
            <a:ext cx="2496312" cy="1188720"/>
          </a:xfrm>
          <a:prstGeom prst="rect">
            <a:avLst/>
          </a:prstGeom>
          <a:noFill/>
          <a:ln/>
        </p:spPr>
        <p:txBody>
          <a:bodyPr wrap="square" lIns="0" tIns="0" rIns="0" bIns="0" rtlCol="0" anchor="t"/>
          <a:lstStyle/>
          <a:p>
            <a:pPr indent="0" marL="0">
              <a:lnSpc>
                <a:spcPct val="106000"/>
              </a:lnSpc>
              <a:buNone/>
            </a:pPr>
            <a:r>
              <a:rPr lang="en-US" sz="1150" dirty="0">
                <a:solidFill>
                  <a:srgbClr val="475569"/>
                </a:solidFill>
                <a:latin typeface="Calibri" pitchFamily="34" charset="0"/>
                <a:ea typeface="Calibri" pitchFamily="34" charset="-122"/>
                <a:cs typeface="Calibri" pitchFamily="34" charset="-120"/>
              </a:rPr>
              <a:t>Donated to the Linux Foundation. LF members include AWS, Cisco, Google, Microsoft, Salesforce, SAP.</a:t>
            </a:r>
            <a:endParaRPr lang="en-US" sz="1150" dirty="0"/>
          </a:p>
        </p:txBody>
      </p:sp>
      <p:sp>
        <p:nvSpPr>
          <p:cNvPr id="14" name="Shape 9"/>
          <p:cNvSpPr/>
          <p:nvPr/>
        </p:nvSpPr>
        <p:spPr>
          <a:xfrm>
            <a:off x="6144768" y="1783080"/>
            <a:ext cx="603504" cy="603504"/>
          </a:xfrm>
          <a:prstGeom prst="oval">
            <a:avLst/>
          </a:prstGeom>
          <a:solidFill>
            <a:srgbClr val="E6FBF6"/>
          </a:solidFill>
          <a:ln/>
        </p:spPr>
      </p:sp>
      <p:pic>
        <p:nvPicPr>
          <p:cNvPr id="15" name="Image 3" descr="preencoded.png">    </p:cNvPr>
          <p:cNvPicPr>
            <a:picLocks noChangeAspect="1"/>
          </p:cNvPicPr>
          <p:nvPr/>
        </p:nvPicPr>
        <p:blipFill>
          <a:blip r:embed="rId4"/>
          <a:stretch>
            <a:fillRect/>
          </a:stretch>
        </p:blipFill>
        <p:spPr>
          <a:xfrm>
            <a:off x="6277539" y="1915851"/>
            <a:ext cx="337962" cy="337962"/>
          </a:xfrm>
          <a:prstGeom prst="rect">
            <a:avLst/>
          </a:prstGeom>
        </p:spPr>
      </p:pic>
      <p:sp>
        <p:nvSpPr>
          <p:cNvPr id="16" name="Text 10"/>
          <p:cNvSpPr/>
          <p:nvPr/>
        </p:nvSpPr>
        <p:spPr>
          <a:xfrm>
            <a:off x="6144768" y="2496312"/>
            <a:ext cx="2587752" cy="292608"/>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Aug 2025</a:t>
            </a:r>
            <a:endParaRPr lang="en-US" sz="1300" dirty="0"/>
          </a:p>
        </p:txBody>
      </p:sp>
      <p:sp>
        <p:nvSpPr>
          <p:cNvPr id="17" name="Text 11"/>
          <p:cNvSpPr/>
          <p:nvPr/>
        </p:nvSpPr>
        <p:spPr>
          <a:xfrm>
            <a:off x="6144768" y="2807208"/>
            <a:ext cx="2496312" cy="1188720"/>
          </a:xfrm>
          <a:prstGeom prst="rect">
            <a:avLst/>
          </a:prstGeom>
          <a:noFill/>
          <a:ln/>
        </p:spPr>
        <p:txBody>
          <a:bodyPr wrap="square" lIns="0" tIns="0" rIns="0" bIns="0" rtlCol="0" anchor="t"/>
          <a:lstStyle/>
          <a:p>
            <a:pPr indent="0" marL="0">
              <a:lnSpc>
                <a:spcPct val="106000"/>
              </a:lnSpc>
              <a:buNone/>
            </a:pPr>
            <a:r>
              <a:rPr lang="en-US" sz="1150" dirty="0">
                <a:solidFill>
                  <a:srgbClr val="475569"/>
                </a:solidFill>
                <a:latin typeface="Calibri" pitchFamily="34" charset="0"/>
                <a:ea typeface="Calibri" pitchFamily="34" charset="-122"/>
                <a:cs typeface="Calibri" pitchFamily="34" charset="-120"/>
              </a:rPr>
              <a:t>IBM's competing ACP protocol merges into A2A.</a:t>
            </a:r>
            <a:endParaRPr lang="en-US" sz="1150" dirty="0"/>
          </a:p>
        </p:txBody>
      </p:sp>
      <p:sp>
        <p:nvSpPr>
          <p:cNvPr id="18" name="Shape 12"/>
          <p:cNvSpPr/>
          <p:nvPr/>
        </p:nvSpPr>
        <p:spPr>
          <a:xfrm>
            <a:off x="8942832" y="1783080"/>
            <a:ext cx="603504" cy="603504"/>
          </a:xfrm>
          <a:prstGeom prst="oval">
            <a:avLst/>
          </a:prstGeom>
          <a:solidFill>
            <a:srgbClr val="E6FBF6"/>
          </a:solidFill>
          <a:ln/>
        </p:spPr>
      </p:sp>
      <p:pic>
        <p:nvPicPr>
          <p:cNvPr id="19" name="Image 4" descr="preencoded.png">    </p:cNvPr>
          <p:cNvPicPr>
            <a:picLocks noChangeAspect="1"/>
          </p:cNvPicPr>
          <p:nvPr/>
        </p:nvPicPr>
        <p:blipFill>
          <a:blip r:embed="rId5"/>
          <a:stretch>
            <a:fillRect/>
          </a:stretch>
        </p:blipFill>
        <p:spPr>
          <a:xfrm>
            <a:off x="9075603" y="1915851"/>
            <a:ext cx="337962" cy="337962"/>
          </a:xfrm>
          <a:prstGeom prst="rect">
            <a:avLst/>
          </a:prstGeom>
        </p:spPr>
      </p:pic>
      <p:sp>
        <p:nvSpPr>
          <p:cNvPr id="20" name="Text 13"/>
          <p:cNvSpPr/>
          <p:nvPr/>
        </p:nvSpPr>
        <p:spPr>
          <a:xfrm>
            <a:off x="8942832" y="2496312"/>
            <a:ext cx="2587752" cy="292608"/>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Mid-2025 on</a:t>
            </a:r>
            <a:endParaRPr lang="en-US" sz="1300" dirty="0"/>
          </a:p>
        </p:txBody>
      </p:sp>
      <p:sp>
        <p:nvSpPr>
          <p:cNvPr id="21" name="Text 14"/>
          <p:cNvSpPr/>
          <p:nvPr/>
        </p:nvSpPr>
        <p:spPr>
          <a:xfrm>
            <a:off x="8942832" y="2807208"/>
            <a:ext cx="2496312" cy="1188720"/>
          </a:xfrm>
          <a:prstGeom prst="rect">
            <a:avLst/>
          </a:prstGeom>
          <a:noFill/>
          <a:ln/>
        </p:spPr>
        <p:txBody>
          <a:bodyPr wrap="square" lIns="0" tIns="0" rIns="0" bIns="0" rtlCol="0" anchor="t"/>
          <a:lstStyle/>
          <a:p>
            <a:pPr indent="0" marL="0">
              <a:lnSpc>
                <a:spcPct val="106000"/>
              </a:lnSpc>
              <a:buNone/>
            </a:pPr>
            <a:r>
              <a:rPr lang="en-US" sz="1150" dirty="0">
                <a:solidFill>
                  <a:srgbClr val="475569"/>
                </a:solidFill>
                <a:latin typeface="Calibri" pitchFamily="34" charset="0"/>
                <a:ea typeface="Calibri" pitchFamily="34" charset="-122"/>
                <a:cs typeface="Calibri" pitchFamily="34" charset="-120"/>
              </a:rPr>
              <a:t>150+ organizations supporting and growing.</a:t>
            </a:r>
            <a:endParaRPr lang="en-US" sz="1150" dirty="0"/>
          </a:p>
        </p:txBody>
      </p:sp>
      <p:sp>
        <p:nvSpPr>
          <p:cNvPr id="22" name="Shape 15"/>
          <p:cNvSpPr/>
          <p:nvPr/>
        </p:nvSpPr>
        <p:spPr>
          <a:xfrm>
            <a:off x="548640" y="4160520"/>
            <a:ext cx="11091672" cy="868680"/>
          </a:xfrm>
          <a:prstGeom prst="roundRect">
            <a:avLst>
              <a:gd name="adj" fmla="val 8421"/>
            </a:avLst>
          </a:prstGeom>
          <a:solidFill>
            <a:srgbClr val="EEF3FE"/>
          </a:solidFill>
          <a:ln/>
          <a:effectLst>
            <a:outerShdw sx="100000" sy="100000" kx="0" ky="0" algn="bl" rotWithShape="0" blurRad="88900" dist="38100" dir="5400000">
              <a:srgbClr val="0F172A">
                <a:alpha val="9000"/>
              </a:srgbClr>
            </a:outerShdw>
          </a:effectLst>
        </p:spPr>
      </p:sp>
      <p:sp>
        <p:nvSpPr>
          <p:cNvPr id="23" name="Text 16"/>
          <p:cNvSpPr/>
          <p:nvPr/>
        </p:nvSpPr>
        <p:spPr>
          <a:xfrm>
            <a:off x="731520" y="4215384"/>
            <a:ext cx="10725912" cy="758952"/>
          </a:xfrm>
          <a:prstGeom prst="rect">
            <a:avLst/>
          </a:prstGeom>
          <a:noFill/>
          <a:ln/>
        </p:spPr>
        <p:txBody>
          <a:bodyPr wrap="square" lIns="0" tIns="0" rIns="0" bIns="0" rtlCol="0" anchor="ctr"/>
          <a:lstStyle/>
          <a:p>
            <a:pPr algn="l" indent="0" marL="0">
              <a:lnSpc>
                <a:spcPct val="104000"/>
              </a:lnSpc>
              <a:buNone/>
            </a:pPr>
            <a:r>
              <a:rPr lang="en-US" sz="1250" b="1" dirty="0">
                <a:solidFill>
                  <a:srgbClr val="2563EB"/>
                </a:solidFill>
                <a:latin typeface="Calibri" pitchFamily="34" charset="0"/>
                <a:ea typeface="Calibri" pitchFamily="34" charset="-122"/>
                <a:cs typeface="Calibri" pitchFamily="34" charset="-120"/>
              </a:rPr>
              <a:t>Why governance matters: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a protocol owned by one vendor is a lock-in risk. Neutral governance is why AWS, Google and Microsoft can all commit without handing a rival the keys.</a:t>
            </a:r>
            <a:endParaRPr lang="en-US" sz="1250" dirty="0"/>
          </a:p>
        </p:txBody>
      </p:sp>
      <p:sp>
        <p:nvSpPr>
          <p:cNvPr id="24" name="Shape 17"/>
          <p:cNvSpPr/>
          <p:nvPr/>
        </p:nvSpPr>
        <p:spPr>
          <a:xfrm>
            <a:off x="548640" y="5166360"/>
            <a:ext cx="11091672" cy="896112"/>
          </a:xfrm>
          <a:prstGeom prst="roundRect">
            <a:avLst>
              <a:gd name="adj" fmla="val 8163"/>
            </a:avLst>
          </a:prstGeom>
          <a:solidFill>
            <a:srgbClr val="FEF6E7"/>
          </a:solidFill>
          <a:ln/>
          <a:effectLst>
            <a:outerShdw sx="100000" sy="100000" kx="0" ky="0" algn="bl" rotWithShape="0" blurRad="88900" dist="38100" dir="5400000">
              <a:srgbClr val="0F172A">
                <a:alpha val="9000"/>
              </a:srgbClr>
            </a:outerShdw>
          </a:effectLst>
        </p:spPr>
      </p:sp>
      <p:sp>
        <p:nvSpPr>
          <p:cNvPr id="25" name="Text 18"/>
          <p:cNvSpPr/>
          <p:nvPr/>
        </p:nvSpPr>
        <p:spPr>
          <a:xfrm>
            <a:off x="731520" y="5221224"/>
            <a:ext cx="10725912" cy="786384"/>
          </a:xfrm>
          <a:prstGeom prst="rect">
            <a:avLst/>
          </a:prstGeom>
          <a:noFill/>
          <a:ln/>
        </p:spPr>
        <p:txBody>
          <a:bodyPr wrap="square" lIns="0" tIns="0" rIns="0" bIns="0" rtlCol="0" anchor="ctr"/>
          <a:lstStyle/>
          <a:p>
            <a:pPr algn="l" indent="0" marL="0">
              <a:lnSpc>
                <a:spcPct val="104000"/>
              </a:lnSpc>
              <a:buNone/>
            </a:pPr>
            <a:r>
              <a:rPr lang="en-US" sz="1250" b="1" dirty="0">
                <a:solidFill>
                  <a:srgbClr val="B45309"/>
                </a:solidFill>
                <a:latin typeface="Calibri" pitchFamily="34" charset="0"/>
                <a:ea typeface="Calibri" pitchFamily="34" charset="-122"/>
                <a:cs typeface="Calibri" pitchFamily="34" charset="-120"/>
              </a:rPr>
              <a:t>Skeptic: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“Is this just hype that will fade?” Its largest competitor, IBM ACP, folded into it rather than fight. That is the opposite of a fad.</a:t>
            </a:r>
            <a:endParaRPr lang="en-US" sz="1250" dirty="0"/>
          </a:p>
        </p:txBody>
      </p:sp>
      <p:sp>
        <p:nvSpPr>
          <p:cNvPr id="26" name="Text 19"/>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27" name="Text 20"/>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1 · MENTAL MODEL</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The four pillars of A2A</a:t>
            </a:r>
            <a:endParaRPr lang="en-US" sz="2800" dirty="0"/>
          </a:p>
        </p:txBody>
      </p:sp>
      <p:sp>
        <p:nvSpPr>
          <p:cNvPr id="5" name="Shape 2"/>
          <p:cNvSpPr/>
          <p:nvPr/>
        </p:nvSpPr>
        <p:spPr>
          <a:xfrm>
            <a:off x="548640" y="1554480"/>
            <a:ext cx="2532888" cy="2331720"/>
          </a:xfrm>
          <a:prstGeom prst="roundRect">
            <a:avLst>
              <a:gd name="adj" fmla="val 3137"/>
            </a:avLst>
          </a:prstGeom>
          <a:solidFill>
            <a:srgbClr val="F8FAFC"/>
          </a:solidFill>
          <a:ln/>
          <a:effectLst>
            <a:outerShdw sx="100000" sy="100000" kx="0" ky="0" algn="bl" rotWithShape="0" blurRad="101600" dist="38100" dir="5400000">
              <a:srgbClr val="0F172A">
                <a:alpha val="10000"/>
              </a:srgbClr>
            </a:outerShdw>
          </a:effectLst>
        </p:spPr>
      </p:sp>
      <p:sp>
        <p:nvSpPr>
          <p:cNvPr id="6" name="Shape 3"/>
          <p:cNvSpPr/>
          <p:nvPr/>
        </p:nvSpPr>
        <p:spPr>
          <a:xfrm>
            <a:off x="768096" y="1773936"/>
            <a:ext cx="603504" cy="603504"/>
          </a:xfrm>
          <a:prstGeom prst="oval">
            <a:avLst/>
          </a:prstGeom>
          <a:solidFill>
            <a:srgbClr val="E6FBF6"/>
          </a:solidFill>
          <a:ln/>
        </p:spPr>
      </p:sp>
      <p:pic>
        <p:nvPicPr>
          <p:cNvPr id="7" name="Image 1" descr="preencoded.png">    </p:cNvPr>
          <p:cNvPicPr>
            <a:picLocks noChangeAspect="1"/>
          </p:cNvPicPr>
          <p:nvPr/>
        </p:nvPicPr>
        <p:blipFill>
          <a:blip r:embed="rId2"/>
          <a:stretch>
            <a:fillRect/>
          </a:stretch>
        </p:blipFill>
        <p:spPr>
          <a:xfrm>
            <a:off x="900867" y="1906707"/>
            <a:ext cx="337962" cy="337962"/>
          </a:xfrm>
          <a:prstGeom prst="rect">
            <a:avLst/>
          </a:prstGeom>
        </p:spPr>
      </p:pic>
      <p:sp>
        <p:nvSpPr>
          <p:cNvPr id="8" name="Text 4"/>
          <p:cNvSpPr/>
          <p:nvPr/>
        </p:nvSpPr>
        <p:spPr>
          <a:xfrm>
            <a:off x="768096" y="2505456"/>
            <a:ext cx="2093976"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Discovery</a:t>
            </a:r>
            <a:endParaRPr lang="en-US" sz="1400" dirty="0"/>
          </a:p>
        </p:txBody>
      </p:sp>
      <p:sp>
        <p:nvSpPr>
          <p:cNvPr id="9" name="Text 5"/>
          <p:cNvSpPr/>
          <p:nvPr/>
        </p:nvSpPr>
        <p:spPr>
          <a:xfrm>
            <a:off x="768096" y="2889504"/>
            <a:ext cx="2093976" cy="85039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Agents advertise identity and capabilities; others find them. The Agent Card.</a:t>
            </a:r>
            <a:endParaRPr lang="en-US" sz="1150" dirty="0"/>
          </a:p>
        </p:txBody>
      </p:sp>
      <p:sp>
        <p:nvSpPr>
          <p:cNvPr id="10" name="Shape 6"/>
          <p:cNvSpPr/>
          <p:nvPr/>
        </p:nvSpPr>
        <p:spPr>
          <a:xfrm>
            <a:off x="3401568" y="1554480"/>
            <a:ext cx="2532888" cy="2331720"/>
          </a:xfrm>
          <a:prstGeom prst="roundRect">
            <a:avLst>
              <a:gd name="adj" fmla="val 3137"/>
            </a:avLst>
          </a:prstGeom>
          <a:solidFill>
            <a:srgbClr val="F8FAFC"/>
          </a:solidFill>
          <a:ln/>
          <a:effectLst>
            <a:outerShdw sx="100000" sy="100000" kx="0" ky="0" algn="bl" rotWithShape="0" blurRad="101600" dist="38100" dir="5400000">
              <a:srgbClr val="0F172A">
                <a:alpha val="10000"/>
              </a:srgbClr>
            </a:outerShdw>
          </a:effectLst>
        </p:spPr>
      </p:sp>
      <p:sp>
        <p:nvSpPr>
          <p:cNvPr id="11" name="Shape 7"/>
          <p:cNvSpPr/>
          <p:nvPr/>
        </p:nvSpPr>
        <p:spPr>
          <a:xfrm>
            <a:off x="3621024" y="1773936"/>
            <a:ext cx="603504" cy="603504"/>
          </a:xfrm>
          <a:prstGeom prst="oval">
            <a:avLst/>
          </a:prstGeom>
          <a:solidFill>
            <a:srgbClr val="E6FBF6"/>
          </a:solidFill>
          <a:ln/>
        </p:spPr>
      </p:sp>
      <p:pic>
        <p:nvPicPr>
          <p:cNvPr id="12" name="Image 2" descr="preencoded.png">    </p:cNvPr>
          <p:cNvPicPr>
            <a:picLocks noChangeAspect="1"/>
          </p:cNvPicPr>
          <p:nvPr/>
        </p:nvPicPr>
        <p:blipFill>
          <a:blip r:embed="rId3"/>
          <a:stretch>
            <a:fillRect/>
          </a:stretch>
        </p:blipFill>
        <p:spPr>
          <a:xfrm>
            <a:off x="3753795" y="1906707"/>
            <a:ext cx="337962" cy="337962"/>
          </a:xfrm>
          <a:prstGeom prst="rect">
            <a:avLst/>
          </a:prstGeom>
        </p:spPr>
      </p:pic>
      <p:sp>
        <p:nvSpPr>
          <p:cNvPr id="13" name="Text 8"/>
          <p:cNvSpPr/>
          <p:nvPr/>
        </p:nvSpPr>
        <p:spPr>
          <a:xfrm>
            <a:off x="3621024" y="2505456"/>
            <a:ext cx="2093976"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Messaging</a:t>
            </a:r>
            <a:endParaRPr lang="en-US" sz="1400" dirty="0"/>
          </a:p>
        </p:txBody>
      </p:sp>
      <p:sp>
        <p:nvSpPr>
          <p:cNvPr id="14" name="Text 9"/>
          <p:cNvSpPr/>
          <p:nvPr/>
        </p:nvSpPr>
        <p:spPr>
          <a:xfrm>
            <a:off x="3621024" y="2889504"/>
            <a:ext cx="2093976" cy="85039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One standard format for requests and responses. JSON-RPC 2.0 over HTTP.</a:t>
            </a:r>
            <a:endParaRPr lang="en-US" sz="1150" dirty="0"/>
          </a:p>
        </p:txBody>
      </p:sp>
      <p:sp>
        <p:nvSpPr>
          <p:cNvPr id="15" name="Shape 10"/>
          <p:cNvSpPr/>
          <p:nvPr/>
        </p:nvSpPr>
        <p:spPr>
          <a:xfrm>
            <a:off x="6254496" y="1554480"/>
            <a:ext cx="2532888" cy="2331720"/>
          </a:xfrm>
          <a:prstGeom prst="roundRect">
            <a:avLst>
              <a:gd name="adj" fmla="val 3137"/>
            </a:avLst>
          </a:prstGeom>
          <a:solidFill>
            <a:srgbClr val="F8FAFC"/>
          </a:solidFill>
          <a:ln/>
          <a:effectLst>
            <a:outerShdw sx="100000" sy="100000" kx="0" ky="0" algn="bl" rotWithShape="0" blurRad="101600" dist="38100" dir="5400000">
              <a:srgbClr val="0F172A">
                <a:alpha val="10000"/>
              </a:srgbClr>
            </a:outerShdw>
          </a:effectLst>
        </p:spPr>
      </p:sp>
      <p:sp>
        <p:nvSpPr>
          <p:cNvPr id="16" name="Shape 11"/>
          <p:cNvSpPr/>
          <p:nvPr/>
        </p:nvSpPr>
        <p:spPr>
          <a:xfrm>
            <a:off x="6473952" y="1773936"/>
            <a:ext cx="603504" cy="603504"/>
          </a:xfrm>
          <a:prstGeom prst="oval">
            <a:avLst/>
          </a:prstGeom>
          <a:solidFill>
            <a:srgbClr val="E6FBF6"/>
          </a:solidFill>
          <a:ln/>
        </p:spPr>
      </p:sp>
      <p:pic>
        <p:nvPicPr>
          <p:cNvPr id="17" name="Image 3" descr="preencoded.png">    </p:cNvPr>
          <p:cNvPicPr>
            <a:picLocks noChangeAspect="1"/>
          </p:cNvPicPr>
          <p:nvPr/>
        </p:nvPicPr>
        <p:blipFill>
          <a:blip r:embed="rId4"/>
          <a:stretch>
            <a:fillRect/>
          </a:stretch>
        </p:blipFill>
        <p:spPr>
          <a:xfrm>
            <a:off x="6606723" y="1906707"/>
            <a:ext cx="337962" cy="337962"/>
          </a:xfrm>
          <a:prstGeom prst="rect">
            <a:avLst/>
          </a:prstGeom>
        </p:spPr>
      </p:pic>
      <p:sp>
        <p:nvSpPr>
          <p:cNvPr id="18" name="Text 12"/>
          <p:cNvSpPr/>
          <p:nvPr/>
        </p:nvSpPr>
        <p:spPr>
          <a:xfrm>
            <a:off x="6473952" y="2505456"/>
            <a:ext cx="2093976"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Coordination</a:t>
            </a:r>
            <a:endParaRPr lang="en-US" sz="1400" dirty="0"/>
          </a:p>
        </p:txBody>
      </p:sp>
      <p:sp>
        <p:nvSpPr>
          <p:cNvPr id="19" name="Text 13"/>
          <p:cNvSpPr/>
          <p:nvPr/>
        </p:nvSpPr>
        <p:spPr>
          <a:xfrm>
            <a:off x="6473952" y="2889504"/>
            <a:ext cx="2093976" cy="85039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Track long-running work, stream progress, hand off tasks. Tasks plus streaming.</a:t>
            </a:r>
            <a:endParaRPr lang="en-US" sz="1150" dirty="0"/>
          </a:p>
        </p:txBody>
      </p:sp>
      <p:sp>
        <p:nvSpPr>
          <p:cNvPr id="20" name="Shape 14"/>
          <p:cNvSpPr/>
          <p:nvPr/>
        </p:nvSpPr>
        <p:spPr>
          <a:xfrm>
            <a:off x="9107424" y="1554480"/>
            <a:ext cx="2532888" cy="2331720"/>
          </a:xfrm>
          <a:prstGeom prst="roundRect">
            <a:avLst>
              <a:gd name="adj" fmla="val 3137"/>
            </a:avLst>
          </a:prstGeom>
          <a:solidFill>
            <a:srgbClr val="F8FAFC"/>
          </a:solidFill>
          <a:ln/>
          <a:effectLst>
            <a:outerShdw sx="100000" sy="100000" kx="0" ky="0" algn="bl" rotWithShape="0" blurRad="101600" dist="38100" dir="5400000">
              <a:srgbClr val="0F172A">
                <a:alpha val="10000"/>
              </a:srgbClr>
            </a:outerShdw>
          </a:effectLst>
        </p:spPr>
      </p:sp>
      <p:sp>
        <p:nvSpPr>
          <p:cNvPr id="21" name="Shape 15"/>
          <p:cNvSpPr/>
          <p:nvPr/>
        </p:nvSpPr>
        <p:spPr>
          <a:xfrm>
            <a:off x="9326880" y="1773936"/>
            <a:ext cx="603504" cy="603504"/>
          </a:xfrm>
          <a:prstGeom prst="oval">
            <a:avLst/>
          </a:prstGeom>
          <a:solidFill>
            <a:srgbClr val="E6FBF6"/>
          </a:solidFill>
          <a:ln/>
        </p:spPr>
      </p:sp>
      <p:pic>
        <p:nvPicPr>
          <p:cNvPr id="22" name="Image 4" descr="preencoded.png">    </p:cNvPr>
          <p:cNvPicPr>
            <a:picLocks noChangeAspect="1"/>
          </p:cNvPicPr>
          <p:nvPr/>
        </p:nvPicPr>
        <p:blipFill>
          <a:blip r:embed="rId5"/>
          <a:stretch>
            <a:fillRect/>
          </a:stretch>
        </p:blipFill>
        <p:spPr>
          <a:xfrm>
            <a:off x="9459651" y="1906707"/>
            <a:ext cx="337962" cy="337962"/>
          </a:xfrm>
          <a:prstGeom prst="rect">
            <a:avLst/>
          </a:prstGeom>
        </p:spPr>
      </p:pic>
      <p:sp>
        <p:nvSpPr>
          <p:cNvPr id="23" name="Text 16"/>
          <p:cNvSpPr/>
          <p:nvPr/>
        </p:nvSpPr>
        <p:spPr>
          <a:xfrm>
            <a:off x="9326880" y="2505456"/>
            <a:ext cx="2093976"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Security</a:t>
            </a:r>
            <a:endParaRPr lang="en-US" sz="1400" dirty="0"/>
          </a:p>
        </p:txBody>
      </p:sp>
      <p:sp>
        <p:nvSpPr>
          <p:cNvPr id="24" name="Text 17"/>
          <p:cNvSpPr/>
          <p:nvPr/>
        </p:nvSpPr>
        <p:spPr>
          <a:xfrm>
            <a:off x="9326880" y="2889504"/>
            <a:ext cx="2093976" cy="85039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Authenticate and authorize every call. OAuth 2.0 or IAM SigV4 in production.</a:t>
            </a:r>
            <a:endParaRPr lang="en-US" sz="1150" dirty="0"/>
          </a:p>
        </p:txBody>
      </p:sp>
      <p:sp>
        <p:nvSpPr>
          <p:cNvPr id="25" name="Shape 18"/>
          <p:cNvSpPr/>
          <p:nvPr/>
        </p:nvSpPr>
        <p:spPr>
          <a:xfrm>
            <a:off x="548640" y="4160520"/>
            <a:ext cx="11091672" cy="960120"/>
          </a:xfrm>
          <a:prstGeom prst="roundRect">
            <a:avLst>
              <a:gd name="adj" fmla="val 7619"/>
            </a:avLst>
          </a:prstGeom>
          <a:solidFill>
            <a:srgbClr val="F1F5F9"/>
          </a:solidFill>
          <a:ln/>
          <a:effectLst>
            <a:outerShdw sx="100000" sy="100000" kx="0" ky="0" algn="bl" rotWithShape="0" blurRad="88900" dist="38100" dir="5400000">
              <a:srgbClr val="0F172A">
                <a:alpha val="9000"/>
              </a:srgbClr>
            </a:outerShdw>
          </a:effectLst>
        </p:spPr>
      </p:sp>
      <p:sp>
        <p:nvSpPr>
          <p:cNvPr id="26" name="Text 19"/>
          <p:cNvSpPr/>
          <p:nvPr/>
        </p:nvSpPr>
        <p:spPr>
          <a:xfrm>
            <a:off x="731520" y="4215384"/>
            <a:ext cx="10725912" cy="850392"/>
          </a:xfrm>
          <a:prstGeom prst="rect">
            <a:avLst/>
          </a:prstGeom>
          <a:noFill/>
          <a:ln/>
        </p:spPr>
        <p:txBody>
          <a:bodyPr wrap="square" lIns="0" tIns="0" rIns="0" bIns="0" rtlCol="0" anchor="ctr"/>
          <a:lstStyle/>
          <a:p>
            <a:pPr algn="l" indent="0" marL="0">
              <a:lnSpc>
                <a:spcPct val="104000"/>
              </a:lnSpc>
              <a:buNone/>
            </a:pPr>
            <a:r>
              <a:rPr lang="en-US" sz="1250" b="1" dirty="0">
                <a:solidFill>
                  <a:srgbClr val="475569"/>
                </a:solidFill>
                <a:latin typeface="Calibri" pitchFamily="34" charset="0"/>
                <a:ea typeface="Calibri" pitchFamily="34" charset="-122"/>
                <a:cs typeface="Calibri" pitchFamily="34" charset="-120"/>
              </a:rPr>
              <a:t>Transport reality: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HTTP for the wire, JSON-RPC 2.0 for the message shape. Nothing exotic. Your existing infra already knows how to route, load-balance and secure HTTP.</a:t>
            </a:r>
            <a:endParaRPr lang="en-US" sz="1250" dirty="0"/>
          </a:p>
        </p:txBody>
      </p:sp>
      <p:sp>
        <p:nvSpPr>
          <p:cNvPr id="27" name="Text 20"/>
          <p:cNvSpPr/>
          <p:nvPr/>
        </p:nvSpPr>
        <p:spPr>
          <a:xfrm>
            <a:off x="548640" y="5349240"/>
            <a:ext cx="11091672" cy="5486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These four pillars map one-to-one onto the four core objects on the next slide, and onto what Strands gives you for free.</a:t>
            </a:r>
            <a:endParaRPr lang="en-US" sz="1200" dirty="0"/>
          </a:p>
        </p:txBody>
      </p:sp>
      <p:sp>
        <p:nvSpPr>
          <p:cNvPr id="28" name="Text 21"/>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29" name="Text 22"/>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1 · MENTAL MODEL</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The four nouns of A2A</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103120"/>
                <a:gridCol w="4572000"/>
                <a:gridCol w="4416552"/>
              </a:tblGrid>
              <a:tr h="60350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Object</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What it is</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TravelMind example</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r>
              <a:tr h="603504">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Agent Card</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JSON metadata: name, capabilities, skills, endpoint, auth</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“I am the Rebooking Agent, I speak text, here is my URL”</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603504">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Message</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A single request/response turn (role + parts)</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“Rebook PNR JX48Q2 to the next BLR flight”</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603504">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Task</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A long-running unit with a lifecycle and progress</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“Process this refund” (minutes, streams updates)</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603504">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Artifact</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The output a Task produces</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the refund confirmation plus receipt</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bl>
          </a:graphicData>
        </a:graphic>
      </p:graphicFrame>
      <p:sp>
        <p:nvSpPr>
          <p:cNvPr id="6" name="Shape 2"/>
          <p:cNvSpPr/>
          <p:nvPr/>
        </p:nvSpPr>
        <p:spPr>
          <a:xfrm>
            <a:off x="548640" y="4526280"/>
            <a:ext cx="11091672" cy="1371600"/>
          </a:xfrm>
          <a:prstGeom prst="roundRect">
            <a:avLst>
              <a:gd name="adj" fmla="val 5333"/>
            </a:avLst>
          </a:prstGeom>
          <a:solidFill>
            <a:srgbClr val="0F2540"/>
          </a:solidFill>
          <a:ln/>
          <a:effectLst>
            <a:outerShdw sx="100000" sy="100000" kx="0" ky="0" algn="bl" rotWithShape="0" blurRad="114300" dist="38100" dir="5400000">
              <a:srgbClr val="0F172A">
                <a:alpha val="13000"/>
              </a:srgbClr>
            </a:outerShdw>
          </a:effectLst>
        </p:spPr>
      </p:sp>
      <p:sp>
        <p:nvSpPr>
          <p:cNvPr id="7" name="Text 3"/>
          <p:cNvSpPr/>
          <p:nvPr/>
        </p:nvSpPr>
        <p:spPr>
          <a:xfrm>
            <a:off x="822960" y="4663440"/>
            <a:ext cx="10515600" cy="320040"/>
          </a:xfrm>
          <a:prstGeom prst="rect">
            <a:avLst/>
          </a:prstGeom>
          <a:noFill/>
          <a:ln/>
        </p:spPr>
        <p:txBody>
          <a:bodyPr wrap="square" lIns="0" tIns="0" rIns="0" bIns="0"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Mental shortcut</a:t>
            </a:r>
            <a:endParaRPr lang="en-US" sz="1200" dirty="0"/>
          </a:p>
        </p:txBody>
      </p:sp>
      <p:sp>
        <p:nvSpPr>
          <p:cNvPr id="8" name="Text 4"/>
          <p:cNvSpPr/>
          <p:nvPr/>
        </p:nvSpPr>
        <p:spPr>
          <a:xfrm>
            <a:off x="822960" y="5029200"/>
            <a:ext cx="1051560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Card</a:t>
            </a:r>
            <a:pPr indent="0" marL="0">
              <a:buNone/>
            </a:pPr>
            <a:r>
              <a:rPr lang="en-US" sz="1500" dirty="0">
                <a:solidFill>
                  <a:srgbClr val="AAB7C8"/>
                </a:solidFill>
                <a:latin typeface="Calibri" pitchFamily="34" charset="0"/>
                <a:ea typeface="Calibri" pitchFamily="34" charset="-122"/>
                <a:cs typeface="Calibri" pitchFamily="34" charset="-120"/>
              </a:rPr>
              <a:t> = who you are.    </a:t>
            </a:r>
            <a:pPr indent="0" marL="0">
              <a:buNone/>
            </a:pPr>
            <a:r>
              <a:rPr lang="en-US" sz="1500" b="1" dirty="0">
                <a:solidFill>
                  <a:srgbClr val="FFFFFF"/>
                </a:solidFill>
                <a:latin typeface="Calibri" pitchFamily="34" charset="0"/>
                <a:ea typeface="Calibri" pitchFamily="34" charset="-122"/>
                <a:cs typeface="Calibri" pitchFamily="34" charset="-120"/>
              </a:rPr>
              <a:t>Message</a:t>
            </a:r>
            <a:pPr indent="0" marL="0">
              <a:buNone/>
            </a:pPr>
            <a:r>
              <a:rPr lang="en-US" sz="1500" dirty="0">
                <a:solidFill>
                  <a:srgbClr val="AAB7C8"/>
                </a:solidFill>
                <a:latin typeface="Calibri" pitchFamily="34" charset="0"/>
                <a:ea typeface="Calibri" pitchFamily="34" charset="-122"/>
                <a:cs typeface="Calibri" pitchFamily="34" charset="-120"/>
              </a:rPr>
              <a:t> = a quick exchange.    </a:t>
            </a:r>
            <a:pPr indent="0" marL="0">
              <a:buNone/>
            </a:pPr>
            <a:r>
              <a:rPr lang="en-US" sz="1500" b="1" dirty="0">
                <a:solidFill>
                  <a:srgbClr val="FFFFFF"/>
                </a:solidFill>
                <a:latin typeface="Calibri" pitchFamily="34" charset="0"/>
                <a:ea typeface="Calibri" pitchFamily="34" charset="-122"/>
                <a:cs typeface="Calibri" pitchFamily="34" charset="-120"/>
              </a:rPr>
              <a:t>Task</a:t>
            </a:r>
            <a:pPr indent="0" marL="0">
              <a:buNone/>
            </a:pPr>
            <a:r>
              <a:rPr lang="en-US" sz="1500" dirty="0">
                <a:solidFill>
                  <a:srgbClr val="AAB7C8"/>
                </a:solidFill>
                <a:latin typeface="Calibri" pitchFamily="34" charset="0"/>
                <a:ea typeface="Calibri" pitchFamily="34" charset="-122"/>
                <a:cs typeface="Calibri" pitchFamily="34" charset="-120"/>
              </a:rPr>
              <a:t> = a job you track.    </a:t>
            </a:r>
            <a:pPr indent="0" marL="0">
              <a:buNone/>
            </a:pPr>
            <a:r>
              <a:rPr lang="en-US" sz="1500" b="1" dirty="0">
                <a:solidFill>
                  <a:srgbClr val="FFFFFF"/>
                </a:solidFill>
                <a:latin typeface="Calibri" pitchFamily="34" charset="0"/>
                <a:ea typeface="Calibri" pitchFamily="34" charset="-122"/>
                <a:cs typeface="Calibri" pitchFamily="34" charset="-120"/>
              </a:rPr>
              <a:t>Artifact</a:t>
            </a:r>
            <a:pPr indent="0" marL="0">
              <a:buNone/>
            </a:pPr>
            <a:r>
              <a:rPr lang="en-US" sz="1500" dirty="0">
                <a:solidFill>
                  <a:srgbClr val="AAB7C8"/>
                </a:solidFill>
                <a:latin typeface="Calibri" pitchFamily="34" charset="0"/>
                <a:ea typeface="Calibri" pitchFamily="34" charset="-122"/>
                <a:cs typeface="Calibri" pitchFamily="34" charset="-120"/>
              </a:rPr>
              <a:t> = the job's result.</a:t>
            </a:r>
            <a:endParaRPr lang="en-US" sz="1500" dirty="0"/>
          </a:p>
        </p:txBody>
      </p:sp>
      <p:sp>
        <p:nvSpPr>
          <p:cNvPr id="9" name="Text 5"/>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10" name="Text 6"/>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2011680" y="4206240"/>
            <a:ext cx="5486400" cy="5486400"/>
          </a:xfrm>
          <a:prstGeom prst="oval">
            <a:avLst/>
          </a:prstGeom>
          <a:solidFill>
            <a:srgbClr val="0D9488">
              <a:alpha val="10000"/>
            </a:srgbClr>
          </a:solidFill>
          <a:ln/>
        </p:spPr>
      </p:sp>
      <p:sp>
        <p:nvSpPr>
          <p:cNvPr id="3" name="Shape 1"/>
          <p:cNvSpPr/>
          <p:nvPr/>
        </p:nvSpPr>
        <p:spPr>
          <a:xfrm>
            <a:off x="8961120" y="-2194560"/>
            <a:ext cx="5943600" cy="5943600"/>
          </a:xfrm>
          <a:prstGeom prst="oval">
            <a:avLst/>
          </a:prstGeom>
          <a:solidFill>
            <a:srgbClr val="2563EB">
              <a:alpha val="8000"/>
            </a:srgbClr>
          </a:solidFill>
          <a:ln/>
        </p:spPr>
      </p:sp>
      <p:pic>
        <p:nvPicPr>
          <p:cNvPr id="4" name="Image 0" descr="preencoded.png">    </p:cNvPr>
          <p:cNvPicPr>
            <a:picLocks noChangeAspect="1"/>
          </p:cNvPicPr>
          <p:nvPr/>
        </p:nvPicPr>
        <p:blipFill>
          <a:blip r:embed="rId1">
            <a:alphaModFix amt="90000"/>
          </a:blip>
          <a:stretch>
            <a:fillRect/>
          </a:stretch>
        </p:blipFill>
        <p:spPr>
          <a:xfrm>
            <a:off x="7955280" y="822960"/>
            <a:ext cx="3931920" cy="4983480"/>
          </a:xfrm>
          <a:prstGeom prst="rect">
            <a:avLst/>
          </a:prstGeom>
        </p:spPr>
      </p:pic>
      <p:sp>
        <p:nvSpPr>
          <p:cNvPr id="5" name="Text 2"/>
          <p:cNvSpPr/>
          <p:nvPr/>
        </p:nvSpPr>
        <p:spPr>
          <a:xfrm>
            <a:off x="548640" y="1737360"/>
            <a:ext cx="2194560" cy="1463040"/>
          </a:xfrm>
          <a:prstGeom prst="rect">
            <a:avLst/>
          </a:prstGeom>
          <a:noFill/>
          <a:ln/>
        </p:spPr>
        <p:txBody>
          <a:bodyPr wrap="square" lIns="0" tIns="0" rIns="0" bIns="0" rtlCol="0" anchor="ctr"/>
          <a:lstStyle/>
          <a:p>
            <a:pPr indent="0" marL="0">
              <a:buNone/>
            </a:pPr>
            <a:r>
              <a:rPr lang="en-US" sz="9600" b="1" dirty="0">
                <a:solidFill>
                  <a:srgbClr val="0D9488"/>
                </a:solidFill>
                <a:latin typeface="Cambria" pitchFamily="34" charset="0"/>
                <a:ea typeface="Cambria" pitchFamily="34" charset="-122"/>
                <a:cs typeface="Cambria" pitchFamily="34" charset="-120"/>
              </a:rPr>
              <a:t>02</a:t>
            </a:r>
            <a:endParaRPr lang="en-US" sz="9600" dirty="0"/>
          </a:p>
        </p:txBody>
      </p:sp>
      <p:sp>
        <p:nvSpPr>
          <p:cNvPr id="6" name="Text 3"/>
          <p:cNvSpPr/>
          <p:nvPr/>
        </p:nvSpPr>
        <p:spPr>
          <a:xfrm>
            <a:off x="566928" y="3246120"/>
            <a:ext cx="77724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How It Works</a:t>
            </a:r>
            <a:endParaRPr lang="en-US" sz="4000" dirty="0"/>
          </a:p>
        </p:txBody>
      </p:sp>
      <p:sp>
        <p:nvSpPr>
          <p:cNvPr id="7" name="Text 4"/>
          <p:cNvSpPr/>
          <p:nvPr/>
        </p:nvSpPr>
        <p:spPr>
          <a:xfrm>
            <a:off x="566928" y="4206240"/>
            <a:ext cx="7132320" cy="731520"/>
          </a:xfrm>
          <a:prstGeom prst="rect">
            <a:avLst/>
          </a:prstGeom>
          <a:noFill/>
          <a:ln/>
        </p:spPr>
        <p:txBody>
          <a:bodyPr wrap="square" lIns="0" tIns="0" rIns="0" bIns="0" rtlCol="0" anchor="ctr"/>
          <a:lstStyle/>
          <a:p>
            <a:pPr indent="0" marL="0">
              <a:lnSpc>
                <a:spcPct val="110000"/>
              </a:lnSpc>
              <a:buNone/>
            </a:pPr>
            <a:r>
              <a:rPr lang="en-US" sz="1500" dirty="0">
                <a:solidFill>
                  <a:srgbClr val="AAB7C8"/>
                </a:solidFill>
                <a:latin typeface="Calibri" pitchFamily="34" charset="0"/>
                <a:ea typeface="Calibri" pitchFamily="34" charset="-122"/>
                <a:cs typeface="Calibri" pitchFamily="34" charset="-120"/>
              </a:rPr>
              <a:t>The Agent Card, the message-versus-task choice, and the full discover-send-work-return handshake on the wire.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2 · HOW IT WORKS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The Agent Card: an agent's business card</a:t>
            </a:r>
            <a:endParaRPr lang="en-US" sz="2800" dirty="0"/>
          </a:p>
        </p:txBody>
      </p:sp>
      <p:sp>
        <p:nvSpPr>
          <p:cNvPr id="5" name="Text 2"/>
          <p:cNvSpPr/>
          <p:nvPr/>
        </p:nvSpPr>
        <p:spPr>
          <a:xfrm>
            <a:off x="548640" y="1517904"/>
            <a:ext cx="5120640" cy="868680"/>
          </a:xfrm>
          <a:prstGeom prst="rect">
            <a:avLst/>
          </a:prstGeom>
          <a:noFill/>
          <a:ln/>
        </p:spPr>
        <p:txBody>
          <a:bodyPr wrap="square" lIns="0" tIns="0" rIns="0" bIns="0" rtlCol="0" anchor="t"/>
          <a:lstStyle/>
          <a:p>
            <a:pPr indent="0" marL="0">
              <a:lnSpc>
                <a:spcPct val="115000"/>
              </a:lnSpc>
              <a:buNone/>
            </a:pPr>
            <a:r>
              <a:rPr lang="en-US" sz="1300" dirty="0">
                <a:solidFill>
                  <a:srgbClr val="0F172A"/>
                </a:solidFill>
              </a:rPr>
              <a:t>Served at a fixed, well-known path, so discovery needs zero prior arrangement:</a:t>
            </a:r>
            <a:endParaRPr lang="en-US" sz="1300" dirty="0"/>
          </a:p>
          <a:p>
            <a:pPr indent="0" marL="0">
              <a:lnSpc>
                <a:spcPct val="115000"/>
              </a:lnSpc>
              <a:buNone/>
            </a:pPr>
            <a:r>
              <a:rPr lang="en-US" sz="1300" b="1" dirty="0">
                <a:solidFill>
                  <a:srgbClr val="0D9488"/>
                </a:solidFill>
                <a:latin typeface="Courier New" pitchFamily="34" charset="0"/>
                <a:ea typeface="Courier New" pitchFamily="34" charset="-122"/>
                <a:cs typeface="Courier New" pitchFamily="34" charset="-120"/>
              </a:rPr>
              <a:t>GET /.well-known/agent-card.json</a:t>
            </a:r>
            <a:endParaRPr lang="en-US" sz="1300" dirty="0"/>
          </a:p>
        </p:txBody>
      </p:sp>
      <p:sp>
        <p:nvSpPr>
          <p:cNvPr id="6" name="Shape 3"/>
          <p:cNvSpPr/>
          <p:nvPr/>
        </p:nvSpPr>
        <p:spPr>
          <a:xfrm>
            <a:off x="548640" y="2514600"/>
            <a:ext cx="5120640" cy="1371600"/>
          </a:xfrm>
          <a:prstGeom prst="roundRect">
            <a:avLst>
              <a:gd name="adj" fmla="val 5333"/>
            </a:avLst>
          </a:prstGeom>
          <a:solidFill>
            <a:srgbClr val="F1F5F9"/>
          </a:solidFill>
          <a:ln/>
          <a:effectLst>
            <a:outerShdw sx="100000" sy="100000" kx="0" ky="0" algn="bl" rotWithShape="0" blurRad="88900" dist="38100" dir="5400000">
              <a:srgbClr val="0F172A">
                <a:alpha val="9000"/>
              </a:srgbClr>
            </a:outerShdw>
          </a:effectLst>
        </p:spPr>
      </p:sp>
      <p:sp>
        <p:nvSpPr>
          <p:cNvPr id="7" name="Text 4"/>
          <p:cNvSpPr/>
          <p:nvPr/>
        </p:nvSpPr>
        <p:spPr>
          <a:xfrm>
            <a:off x="731520" y="2569464"/>
            <a:ext cx="4754880" cy="1261872"/>
          </a:xfrm>
          <a:prstGeom prst="rect">
            <a:avLst/>
          </a:prstGeom>
          <a:noFill/>
          <a:ln/>
        </p:spPr>
        <p:txBody>
          <a:bodyPr wrap="square" lIns="0" tIns="0" rIns="0" bIns="0" rtlCol="0" anchor="ctr"/>
          <a:lstStyle/>
          <a:p>
            <a:pPr algn="l" indent="0" marL="0">
              <a:lnSpc>
                <a:spcPct val="104000"/>
              </a:lnSpc>
              <a:buNone/>
            </a:pPr>
            <a:r>
              <a:rPr lang="en-US" sz="1250" b="1" dirty="0">
                <a:solidFill>
                  <a:srgbClr val="475569"/>
                </a:solidFill>
                <a:latin typeface="Calibri" pitchFamily="34" charset="0"/>
                <a:ea typeface="Calibri" pitchFamily="34" charset="-122"/>
                <a:cs typeface="Calibri" pitchFamily="34" charset="-120"/>
              </a:rPr>
              <a:t>Compatibility note: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Strands 1.42 serves the card at /.well-known/agent-card.json (current spec) and /.well-known/agent.json (legacy alias), so older clients keep working.</a:t>
            </a:r>
            <a:endParaRPr lang="en-US" sz="1250" dirty="0"/>
          </a:p>
        </p:txBody>
      </p:sp>
      <p:sp>
        <p:nvSpPr>
          <p:cNvPr id="8" name="Shape 5"/>
          <p:cNvSpPr/>
          <p:nvPr/>
        </p:nvSpPr>
        <p:spPr>
          <a:xfrm>
            <a:off x="548640" y="4023360"/>
            <a:ext cx="5120640" cy="1325880"/>
          </a:xfrm>
          <a:prstGeom prst="roundRect">
            <a:avLst>
              <a:gd name="adj" fmla="val 5517"/>
            </a:avLst>
          </a:prstGeom>
          <a:solidFill>
            <a:srgbClr val="E6FBF6"/>
          </a:solidFill>
          <a:ln/>
          <a:effectLst>
            <a:outerShdw sx="100000" sy="100000" kx="0" ky="0" algn="bl" rotWithShape="0" blurRad="88900" dist="38100" dir="5400000">
              <a:srgbClr val="0F172A">
                <a:alpha val="9000"/>
              </a:srgbClr>
            </a:outerShdw>
          </a:effectLst>
        </p:spPr>
      </p:sp>
      <p:sp>
        <p:nvSpPr>
          <p:cNvPr id="9" name="Text 6"/>
          <p:cNvSpPr/>
          <p:nvPr/>
        </p:nvSpPr>
        <p:spPr>
          <a:xfrm>
            <a:off x="731520" y="4078224"/>
            <a:ext cx="4754880" cy="1216152"/>
          </a:xfrm>
          <a:prstGeom prst="rect">
            <a:avLst/>
          </a:prstGeom>
          <a:noFill/>
          <a:ln/>
        </p:spPr>
        <p:txBody>
          <a:bodyPr wrap="square" lIns="0" tIns="0" rIns="0" bIns="0" rtlCol="0" anchor="ctr"/>
          <a:lstStyle/>
          <a:p>
            <a:pPr algn="l" indent="0" marL="0">
              <a:lnSpc>
                <a:spcPct val="104000"/>
              </a:lnSpc>
              <a:buNone/>
            </a:pPr>
            <a:r>
              <a:rPr lang="en-US" sz="1250" b="1" dirty="0">
                <a:solidFill>
                  <a:srgbClr val="0D9488"/>
                </a:solidFill>
                <a:latin typeface="Calibri" pitchFamily="34" charset="0"/>
                <a:ea typeface="Calibri" pitchFamily="34" charset="-122"/>
                <a:cs typeface="Calibri" pitchFamily="34" charset="-120"/>
              </a:rPr>
              <a:t>Why it works: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a client that knows only the base URL fetches the card and learns everything else. Note protocolVersion 0.3.0 and streaming:true.</a:t>
            </a:r>
            <a:endParaRPr lang="en-US" sz="1250" dirty="0"/>
          </a:p>
        </p:txBody>
      </p:sp>
      <p:sp>
        <p:nvSpPr>
          <p:cNvPr id="10" name="Text 7"/>
          <p:cNvSpPr/>
          <p:nvPr/>
        </p:nvSpPr>
        <p:spPr>
          <a:xfrm>
            <a:off x="5943600" y="1481328"/>
            <a:ext cx="566928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Real card from a Strands A2AServer (captured live)</a:t>
            </a:r>
            <a:endParaRPr lang="en-US" sz="1100" dirty="0"/>
          </a:p>
        </p:txBody>
      </p:sp>
      <p:sp>
        <p:nvSpPr>
          <p:cNvPr id="11" name="Shape 8"/>
          <p:cNvSpPr/>
          <p:nvPr/>
        </p:nvSpPr>
        <p:spPr>
          <a:xfrm>
            <a:off x="5943600" y="1783080"/>
            <a:ext cx="5696712" cy="3566160"/>
          </a:xfrm>
          <a:prstGeom prst="roundRect">
            <a:avLst>
              <a:gd name="adj" fmla="val 1538"/>
            </a:avLst>
          </a:prstGeom>
          <a:solidFill>
            <a:srgbClr val="0B1220"/>
          </a:solidFill>
          <a:ln/>
          <a:effectLst>
            <a:outerShdw sx="100000" sy="100000" kx="0" ky="0" algn="bl" rotWithShape="0" blurRad="139700" dist="38100" dir="5400000">
              <a:srgbClr val="0F172A">
                <a:alpha val="22000"/>
              </a:srgbClr>
            </a:outerShdw>
          </a:effectLst>
        </p:spPr>
      </p:sp>
      <p:sp>
        <p:nvSpPr>
          <p:cNvPr id="12" name="Text 9"/>
          <p:cNvSpPr/>
          <p:nvPr/>
        </p:nvSpPr>
        <p:spPr>
          <a:xfrm>
            <a:off x="6126480" y="1911096"/>
            <a:ext cx="5330952" cy="3310128"/>
          </a:xfrm>
          <a:prstGeom prst="rect">
            <a:avLst/>
          </a:prstGeom>
          <a:noFill/>
          <a:ln/>
        </p:spPr>
        <p:txBody>
          <a:bodyPr wrap="square" lIns="0" tIns="0" rIns="0" bIns="0" rtlCol="0" anchor="t"/>
          <a:lstStyle/>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"name": "Calculator Agent",</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"description": "Basic arithmetic operations.",</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"protocolVersion": "0.3.0",</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"preferredTransport": "JSONRPC",</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"capabilities": { "streaming": true },</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"defaultInputModes": ["text"],</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"defaultOutputModes": ["text"],</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"skills": [],</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"url": "http://127.0.0.1:9000/",</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"version": "0.0.1"</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a:t>
            </a:r>
            <a:endParaRPr lang="en-US" sz="1200" dirty="0"/>
          </a:p>
        </p:txBody>
      </p:sp>
      <p:sp>
        <p:nvSpPr>
          <p:cNvPr id="13" name="Text 10"/>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14" name="Text 11"/>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2 · HOW IT WORKS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Message vs Task: synchronous vs async</a:t>
            </a:r>
            <a:endParaRPr lang="en-US" sz="2800" dirty="0"/>
          </a:p>
        </p:txBody>
      </p:sp>
      <p:sp>
        <p:nvSpPr>
          <p:cNvPr id="5" name="Shape 2"/>
          <p:cNvSpPr/>
          <p:nvPr/>
        </p:nvSpPr>
        <p:spPr>
          <a:xfrm>
            <a:off x="484632" y="1453896"/>
            <a:ext cx="6620256" cy="3207826"/>
          </a:xfrm>
          <a:prstGeom prst="roundRect">
            <a:avLst>
              <a:gd name="adj" fmla="val 1710"/>
            </a:avLst>
          </a:prstGeom>
          <a:solidFill>
            <a:srgbClr val="FFFFFF"/>
          </a:solidFill>
          <a:ln/>
          <a:effectLst>
            <a:outerShdw sx="100000" sy="100000" kx="0" ky="0" algn="bl" rotWithShape="0" blurRad="127000" dist="38100" dir="5400000">
              <a:srgbClr val="0F172A">
                <a:alpha val="12000"/>
              </a:srgbClr>
            </a:outerShdw>
          </a:effectLst>
        </p:spPr>
      </p:sp>
      <p:pic>
        <p:nvPicPr>
          <p:cNvPr id="6" name="Image 1" descr="/home/claude/a2a_deck/diagrams/msg_vs_task.png">    </p:cNvPr>
          <p:cNvPicPr>
            <a:picLocks noChangeAspect="1"/>
          </p:cNvPicPr>
          <p:nvPr/>
        </p:nvPicPr>
        <p:blipFill>
          <a:blip r:embed="rId2"/>
          <a:stretch>
            <a:fillRect/>
          </a:stretch>
        </p:blipFill>
        <p:spPr>
          <a:xfrm>
            <a:off x="548640" y="1517904"/>
            <a:ext cx="6492240" cy="3079810"/>
          </a:xfrm>
          <a:prstGeom prst="rect">
            <a:avLst/>
          </a:prstGeom>
        </p:spPr>
      </p:pic>
      <p:sp>
        <p:nvSpPr>
          <p:cNvPr id="7" name="Shape 3"/>
          <p:cNvSpPr/>
          <p:nvPr/>
        </p:nvSpPr>
        <p:spPr>
          <a:xfrm>
            <a:off x="7269480" y="1517904"/>
            <a:ext cx="4370832" cy="1417320"/>
          </a:xfrm>
          <a:prstGeom prst="roundRect">
            <a:avLst>
              <a:gd name="adj" fmla="val 5161"/>
            </a:avLst>
          </a:prstGeom>
          <a:solidFill>
            <a:srgbClr val="E6FBF6"/>
          </a:solidFill>
          <a:ln/>
          <a:effectLst>
            <a:outerShdw sx="100000" sy="100000" kx="0" ky="0" algn="bl" rotWithShape="0" blurRad="88900" dist="38100" dir="5400000">
              <a:srgbClr val="0F172A">
                <a:alpha val="9000"/>
              </a:srgbClr>
            </a:outerShdw>
          </a:effectLst>
        </p:spPr>
      </p:sp>
      <p:sp>
        <p:nvSpPr>
          <p:cNvPr id="8" name="Text 4"/>
          <p:cNvSpPr/>
          <p:nvPr/>
        </p:nvSpPr>
        <p:spPr>
          <a:xfrm>
            <a:off x="7452360" y="1627632"/>
            <a:ext cx="4041648" cy="1207008"/>
          </a:xfrm>
          <a:prstGeom prst="rect">
            <a:avLst/>
          </a:prstGeom>
          <a:noFill/>
          <a:ln/>
        </p:spPr>
        <p:txBody>
          <a:bodyPr wrap="square" lIns="0" tIns="0" rIns="0" bIns="0" rtlCol="0" anchor="t"/>
          <a:lstStyle/>
          <a:p>
            <a:pPr indent="0" marL="0">
              <a:lnSpc>
                <a:spcPct val="106000"/>
              </a:lnSpc>
              <a:buNone/>
            </a:pPr>
            <a:r>
              <a:rPr lang="en-US" sz="1300" b="1" dirty="0">
                <a:solidFill>
                  <a:srgbClr val="0D9488"/>
                </a:solidFill>
              </a:rPr>
              <a:t>Message  (synchronous)
</a:t>
            </a:r>
            <a:endParaRPr lang="en-US" sz="1300" dirty="0"/>
          </a:p>
          <a:p>
            <a:pPr indent="0" marL="0">
              <a:lnSpc>
                <a:spcPct val="106000"/>
              </a:lnSpc>
              <a:buNone/>
            </a:pPr>
            <a:r>
              <a:rPr lang="en-US" sz="1150" dirty="0">
                <a:solidFill>
                  <a:srgbClr val="0F172A"/>
                </a:solidFill>
              </a:rPr>
              <a:t>Client sends, agent processes now, agent returns the answer. Best for quick queries.</a:t>
            </a:r>
            <a:endParaRPr lang="en-US" sz="1300" dirty="0"/>
          </a:p>
          <a:p>
            <a:pPr indent="0" marL="0">
              <a:lnSpc>
                <a:spcPct val="106000"/>
              </a:lnSpc>
              <a:buNone/>
            </a:pPr>
            <a:r>
              <a:rPr lang="en-US" sz="1150" dirty="0">
                <a:solidFill>
                  <a:srgbClr val="0F172A"/>
                </a:solidFill>
              </a:rPr>
              <a:t>“What is 25 × 47?” → “1,175.” Done.</a:t>
            </a:r>
            <a:endParaRPr lang="en-US" sz="1300" dirty="0"/>
          </a:p>
        </p:txBody>
      </p:sp>
      <p:sp>
        <p:nvSpPr>
          <p:cNvPr id="9" name="Shape 5"/>
          <p:cNvSpPr/>
          <p:nvPr/>
        </p:nvSpPr>
        <p:spPr>
          <a:xfrm>
            <a:off x="7269480" y="3035808"/>
            <a:ext cx="4370832" cy="1691640"/>
          </a:xfrm>
          <a:prstGeom prst="roundRect">
            <a:avLst>
              <a:gd name="adj" fmla="val 4324"/>
            </a:avLst>
          </a:prstGeom>
          <a:solidFill>
            <a:srgbClr val="EEF3FE"/>
          </a:solidFill>
          <a:ln/>
          <a:effectLst>
            <a:outerShdw sx="100000" sy="100000" kx="0" ky="0" algn="bl" rotWithShape="0" blurRad="88900" dist="38100" dir="5400000">
              <a:srgbClr val="0F172A">
                <a:alpha val="9000"/>
              </a:srgbClr>
            </a:outerShdw>
          </a:effectLst>
        </p:spPr>
      </p:sp>
      <p:sp>
        <p:nvSpPr>
          <p:cNvPr id="10" name="Text 6"/>
          <p:cNvSpPr/>
          <p:nvPr/>
        </p:nvSpPr>
        <p:spPr>
          <a:xfrm>
            <a:off x="7452360" y="3145536"/>
            <a:ext cx="4041648" cy="1481328"/>
          </a:xfrm>
          <a:prstGeom prst="rect">
            <a:avLst/>
          </a:prstGeom>
          <a:noFill/>
          <a:ln/>
        </p:spPr>
        <p:txBody>
          <a:bodyPr wrap="square" lIns="0" tIns="0" rIns="0" bIns="0" rtlCol="0" anchor="t"/>
          <a:lstStyle/>
          <a:p>
            <a:pPr indent="0" marL="0">
              <a:lnSpc>
                <a:spcPct val="105000"/>
              </a:lnSpc>
              <a:buNone/>
            </a:pPr>
            <a:r>
              <a:rPr lang="en-US" sz="1300" b="1" dirty="0">
                <a:solidFill>
                  <a:srgbClr val="2563EB"/>
                </a:solidFill>
              </a:rPr>
              <a:t>Task  (asynchronous)
</a:t>
            </a:r>
            <a:endParaRPr lang="en-US" sz="1300" dirty="0"/>
          </a:p>
          <a:p>
            <a:pPr indent="0" marL="0">
              <a:lnSpc>
                <a:spcPct val="105000"/>
              </a:lnSpc>
              <a:buNone/>
            </a:pPr>
            <a:r>
              <a:rPr lang="en-US" sz="1150" dirty="0">
                <a:solidFill>
                  <a:srgbClr val="0F172A"/>
                </a:solidFill>
              </a:rPr>
              <a:t>Client sends, agent returns a task ID immediately, works in the background, then pushes the result to a webhook. Best for long or multi-step work.</a:t>
            </a:r>
            <a:endParaRPr lang="en-US" sz="1300" dirty="0"/>
          </a:p>
          <a:p>
            <a:pPr indent="0" marL="0">
              <a:lnSpc>
                <a:spcPct val="105000"/>
              </a:lnSpc>
              <a:buNone/>
            </a:pPr>
            <a:r>
              <a:rPr lang="en-US" sz="1150" dirty="0">
                <a:solidFill>
                  <a:srgbClr val="0F172A"/>
                </a:solidFill>
              </a:rPr>
              <a:t>“Process this refund” → task-123 → ...work... → webhook: “done + artifact.”</a:t>
            </a:r>
            <a:endParaRPr lang="en-US" sz="1300" dirty="0"/>
          </a:p>
        </p:txBody>
      </p:sp>
      <p:sp>
        <p:nvSpPr>
          <p:cNvPr id="11" name="Shape 7"/>
          <p:cNvSpPr/>
          <p:nvPr/>
        </p:nvSpPr>
        <p:spPr>
          <a:xfrm>
            <a:off x="548640" y="5257800"/>
            <a:ext cx="11091672" cy="822960"/>
          </a:xfrm>
          <a:prstGeom prst="roundRect">
            <a:avLst>
              <a:gd name="adj" fmla="val 8889"/>
            </a:avLst>
          </a:prstGeom>
          <a:solidFill>
            <a:srgbClr val="FEF6E7"/>
          </a:solidFill>
          <a:ln/>
          <a:effectLst>
            <a:outerShdw sx="100000" sy="100000" kx="0" ky="0" algn="bl" rotWithShape="0" blurRad="88900" dist="38100" dir="5400000">
              <a:srgbClr val="0F172A">
                <a:alpha val="9000"/>
              </a:srgbClr>
            </a:outerShdw>
          </a:effectLst>
        </p:spPr>
      </p:sp>
      <p:sp>
        <p:nvSpPr>
          <p:cNvPr id="12" name="Text 8"/>
          <p:cNvSpPr/>
          <p:nvPr/>
        </p:nvSpPr>
        <p:spPr>
          <a:xfrm>
            <a:off x="731520" y="5312664"/>
            <a:ext cx="10725912" cy="713232"/>
          </a:xfrm>
          <a:prstGeom prst="rect">
            <a:avLst/>
          </a:prstGeom>
          <a:noFill/>
          <a:ln/>
        </p:spPr>
        <p:txBody>
          <a:bodyPr wrap="square" lIns="0" tIns="0" rIns="0" bIns="0" rtlCol="0" anchor="ctr"/>
          <a:lstStyle/>
          <a:p>
            <a:pPr algn="l" indent="0" marL="0">
              <a:lnSpc>
                <a:spcPct val="104000"/>
              </a:lnSpc>
              <a:buNone/>
            </a:pPr>
            <a:r>
              <a:rPr lang="en-US" sz="1250" b="1" dirty="0">
                <a:solidFill>
                  <a:srgbClr val="B45309"/>
                </a:solidFill>
                <a:latin typeface="Calibri" pitchFamily="34" charset="0"/>
                <a:ea typeface="Calibri" pitchFamily="34" charset="-122"/>
                <a:cs typeface="Calibri" pitchFamily="34" charset="-120"/>
              </a:rPr>
              <a:t>Rule of thumb: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under a few seconds, use a Message. Long, multi-step, or fire-and-check-later, use a Task with push notifications.</a:t>
            </a:r>
            <a:endParaRPr lang="en-US" sz="1250" dirty="0"/>
          </a:p>
        </p:txBody>
      </p:sp>
      <p:sp>
        <p:nvSpPr>
          <p:cNvPr id="13" name="Text 9"/>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14" name="Text 10"/>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2 · HOW IT WORKS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The full handshake, end to end</a:t>
            </a:r>
            <a:endParaRPr lang="en-US" sz="2800" dirty="0"/>
          </a:p>
        </p:txBody>
      </p:sp>
      <p:sp>
        <p:nvSpPr>
          <p:cNvPr id="5" name="Shape 2"/>
          <p:cNvSpPr/>
          <p:nvPr/>
        </p:nvSpPr>
        <p:spPr>
          <a:xfrm>
            <a:off x="484632" y="1417320"/>
            <a:ext cx="6528816" cy="2676105"/>
          </a:xfrm>
          <a:prstGeom prst="roundRect">
            <a:avLst>
              <a:gd name="adj" fmla="val 2050"/>
            </a:avLst>
          </a:prstGeom>
          <a:solidFill>
            <a:srgbClr val="FFFFFF"/>
          </a:solidFill>
          <a:ln/>
          <a:effectLst>
            <a:outerShdw sx="100000" sy="100000" kx="0" ky="0" algn="bl" rotWithShape="0" blurRad="127000" dist="38100" dir="5400000">
              <a:srgbClr val="0F172A">
                <a:alpha val="12000"/>
              </a:srgbClr>
            </a:outerShdw>
          </a:effectLst>
        </p:spPr>
      </p:sp>
      <p:pic>
        <p:nvPicPr>
          <p:cNvPr id="6" name="Image 1" descr="/home/claude/a2a_deck/diagrams/handshake.png">    </p:cNvPr>
          <p:cNvPicPr>
            <a:picLocks noChangeAspect="1"/>
          </p:cNvPicPr>
          <p:nvPr/>
        </p:nvPicPr>
        <p:blipFill>
          <a:blip r:embed="rId2"/>
          <a:stretch>
            <a:fillRect/>
          </a:stretch>
        </p:blipFill>
        <p:spPr>
          <a:xfrm>
            <a:off x="548640" y="1481328"/>
            <a:ext cx="6400800" cy="2548089"/>
          </a:xfrm>
          <a:prstGeom prst="rect">
            <a:avLst/>
          </a:prstGeom>
        </p:spPr>
      </p:pic>
      <p:sp>
        <p:nvSpPr>
          <p:cNvPr id="7" name="Shape 3"/>
          <p:cNvSpPr/>
          <p:nvPr/>
        </p:nvSpPr>
        <p:spPr>
          <a:xfrm>
            <a:off x="7315200" y="1517904"/>
            <a:ext cx="384048" cy="384048"/>
          </a:xfrm>
          <a:prstGeom prst="oval">
            <a:avLst/>
          </a:prstGeom>
          <a:solidFill>
            <a:srgbClr val="0D9488"/>
          </a:solidFill>
          <a:ln/>
        </p:spPr>
      </p:sp>
      <p:sp>
        <p:nvSpPr>
          <p:cNvPr id="8" name="Text 4"/>
          <p:cNvSpPr/>
          <p:nvPr/>
        </p:nvSpPr>
        <p:spPr>
          <a:xfrm>
            <a:off x="7315200" y="15179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5"/>
          <p:cNvSpPr/>
          <p:nvPr/>
        </p:nvSpPr>
        <p:spPr>
          <a:xfrm>
            <a:off x="7818120" y="1499616"/>
            <a:ext cx="3840480" cy="457200"/>
          </a:xfrm>
          <a:prstGeom prst="rect">
            <a:avLst/>
          </a:prstGeom>
          <a:noFill/>
          <a:ln/>
        </p:spPr>
        <p:txBody>
          <a:bodyPr wrap="square" lIns="0" tIns="0" rIns="0" bIns="0" rtlCol="0" anchor="ctr"/>
          <a:lstStyle/>
          <a:p>
            <a:pPr indent="0" marL="0">
              <a:lnSpc>
                <a:spcPct val="100000"/>
              </a:lnSpc>
              <a:buNone/>
            </a:pPr>
            <a:r>
              <a:rPr lang="en-US" sz="1200" b="1" dirty="0">
                <a:solidFill>
                  <a:srgbClr val="0F172A"/>
                </a:solidFill>
              </a:rPr>
              <a:t>Discover  </a:t>
            </a:r>
            <a:pPr indent="0" marL="0">
              <a:lnSpc>
                <a:spcPct val="100000"/>
              </a:lnSpc>
              <a:buNone/>
            </a:pPr>
            <a:r>
              <a:rPr lang="en-US" sz="1100" dirty="0">
                <a:solidFill>
                  <a:srgbClr val="475569"/>
                </a:solidFill>
              </a:rPr>
              <a:t>client GETs /.well-known/agent-card.json</a:t>
            </a:r>
            <a:endParaRPr lang="en-US" sz="1200" dirty="0"/>
          </a:p>
        </p:txBody>
      </p:sp>
      <p:sp>
        <p:nvSpPr>
          <p:cNvPr id="10" name="Shape 6"/>
          <p:cNvSpPr/>
          <p:nvPr/>
        </p:nvSpPr>
        <p:spPr>
          <a:xfrm>
            <a:off x="7315200" y="2084832"/>
            <a:ext cx="384048" cy="384048"/>
          </a:xfrm>
          <a:prstGeom prst="oval">
            <a:avLst/>
          </a:prstGeom>
          <a:solidFill>
            <a:srgbClr val="0D9488"/>
          </a:solidFill>
          <a:ln/>
        </p:spPr>
      </p:sp>
      <p:sp>
        <p:nvSpPr>
          <p:cNvPr id="11" name="Text 7"/>
          <p:cNvSpPr/>
          <p:nvPr/>
        </p:nvSpPr>
        <p:spPr>
          <a:xfrm>
            <a:off x="7315200" y="20848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8"/>
          <p:cNvSpPr/>
          <p:nvPr/>
        </p:nvSpPr>
        <p:spPr>
          <a:xfrm>
            <a:off x="7818120" y="2066544"/>
            <a:ext cx="3840480" cy="457200"/>
          </a:xfrm>
          <a:prstGeom prst="rect">
            <a:avLst/>
          </a:prstGeom>
          <a:noFill/>
          <a:ln/>
        </p:spPr>
        <p:txBody>
          <a:bodyPr wrap="square" lIns="0" tIns="0" rIns="0" bIns="0" rtlCol="0" anchor="ctr"/>
          <a:lstStyle/>
          <a:p>
            <a:pPr indent="0" marL="0">
              <a:lnSpc>
                <a:spcPct val="100000"/>
              </a:lnSpc>
              <a:buNone/>
            </a:pPr>
            <a:r>
              <a:rPr lang="en-US" sz="1200" b="1" dirty="0">
                <a:solidFill>
                  <a:srgbClr val="0F172A"/>
                </a:solidFill>
              </a:rPr>
              <a:t>Send  </a:t>
            </a:r>
            <a:pPr indent="0" marL="0">
              <a:lnSpc>
                <a:spcPct val="100000"/>
              </a:lnSpc>
              <a:buNone/>
            </a:pPr>
            <a:r>
              <a:rPr lang="en-US" sz="1100" dirty="0">
                <a:solidFill>
                  <a:srgbClr val="475569"/>
                </a:solidFill>
              </a:rPr>
              <a:t>client POSTs a JSON-RPC message/send</a:t>
            </a:r>
            <a:endParaRPr lang="en-US" sz="1200" dirty="0"/>
          </a:p>
        </p:txBody>
      </p:sp>
      <p:sp>
        <p:nvSpPr>
          <p:cNvPr id="13" name="Shape 9"/>
          <p:cNvSpPr/>
          <p:nvPr/>
        </p:nvSpPr>
        <p:spPr>
          <a:xfrm>
            <a:off x="7315200" y="2651760"/>
            <a:ext cx="384048" cy="384048"/>
          </a:xfrm>
          <a:prstGeom prst="oval">
            <a:avLst/>
          </a:prstGeom>
          <a:solidFill>
            <a:srgbClr val="0D9488"/>
          </a:solidFill>
          <a:ln/>
        </p:spPr>
      </p:sp>
      <p:sp>
        <p:nvSpPr>
          <p:cNvPr id="14" name="Text 10"/>
          <p:cNvSpPr/>
          <p:nvPr/>
        </p:nvSpPr>
        <p:spPr>
          <a:xfrm>
            <a:off x="7315200" y="2651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1"/>
          <p:cNvSpPr/>
          <p:nvPr/>
        </p:nvSpPr>
        <p:spPr>
          <a:xfrm>
            <a:off x="7818120" y="2633472"/>
            <a:ext cx="3840480" cy="457200"/>
          </a:xfrm>
          <a:prstGeom prst="rect">
            <a:avLst/>
          </a:prstGeom>
          <a:noFill/>
          <a:ln/>
        </p:spPr>
        <p:txBody>
          <a:bodyPr wrap="square" lIns="0" tIns="0" rIns="0" bIns="0" rtlCol="0" anchor="ctr"/>
          <a:lstStyle/>
          <a:p>
            <a:pPr indent="0" marL="0">
              <a:lnSpc>
                <a:spcPct val="100000"/>
              </a:lnSpc>
              <a:buNone/>
            </a:pPr>
            <a:r>
              <a:rPr lang="en-US" sz="1200" b="1" dirty="0">
                <a:solidFill>
                  <a:srgbClr val="0F172A"/>
                </a:solidFill>
              </a:rPr>
              <a:t>Work  </a:t>
            </a:r>
            <a:pPr indent="0" marL="0">
              <a:lnSpc>
                <a:spcPct val="100000"/>
              </a:lnSpc>
              <a:buNone/>
            </a:pPr>
            <a:r>
              <a:rPr lang="en-US" sz="1100" dirty="0">
                <a:solidFill>
                  <a:srgbClr val="475569"/>
                </a:solidFill>
              </a:rPr>
              <a:t>agent reasons, may call its own MCP tools, may stream</a:t>
            </a:r>
            <a:endParaRPr lang="en-US" sz="1200" dirty="0"/>
          </a:p>
        </p:txBody>
      </p:sp>
      <p:sp>
        <p:nvSpPr>
          <p:cNvPr id="16" name="Shape 12"/>
          <p:cNvSpPr/>
          <p:nvPr/>
        </p:nvSpPr>
        <p:spPr>
          <a:xfrm>
            <a:off x="7315200" y="3218688"/>
            <a:ext cx="384048" cy="384048"/>
          </a:xfrm>
          <a:prstGeom prst="oval">
            <a:avLst/>
          </a:prstGeom>
          <a:solidFill>
            <a:srgbClr val="0D9488"/>
          </a:solidFill>
          <a:ln/>
        </p:spPr>
      </p:sp>
      <p:sp>
        <p:nvSpPr>
          <p:cNvPr id="17" name="Text 13"/>
          <p:cNvSpPr/>
          <p:nvPr/>
        </p:nvSpPr>
        <p:spPr>
          <a:xfrm>
            <a:off x="7315200" y="32186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4"/>
          <p:cNvSpPr/>
          <p:nvPr/>
        </p:nvSpPr>
        <p:spPr>
          <a:xfrm>
            <a:off x="7818120" y="3200400"/>
            <a:ext cx="3840480" cy="457200"/>
          </a:xfrm>
          <a:prstGeom prst="rect">
            <a:avLst/>
          </a:prstGeom>
          <a:noFill/>
          <a:ln/>
        </p:spPr>
        <p:txBody>
          <a:bodyPr wrap="square" lIns="0" tIns="0" rIns="0" bIns="0" rtlCol="0" anchor="ctr"/>
          <a:lstStyle/>
          <a:p>
            <a:pPr indent="0" marL="0">
              <a:lnSpc>
                <a:spcPct val="100000"/>
              </a:lnSpc>
              <a:buNone/>
            </a:pPr>
            <a:r>
              <a:rPr lang="en-US" sz="1200" b="1" dirty="0">
                <a:solidFill>
                  <a:srgbClr val="0F172A"/>
                </a:solidFill>
              </a:rPr>
              <a:t>Return  </a:t>
            </a:r>
            <a:pPr indent="0" marL="0">
              <a:lnSpc>
                <a:spcPct val="100000"/>
              </a:lnSpc>
              <a:buNone/>
            </a:pPr>
            <a:r>
              <a:rPr lang="en-US" sz="1100" dirty="0">
                <a:solidFill>
                  <a:srgbClr val="475569"/>
                </a:solidFill>
              </a:rPr>
              <a:t>agent responds, or completes a Task and emits an Artifact</a:t>
            </a:r>
            <a:endParaRPr lang="en-US" sz="1200" dirty="0"/>
          </a:p>
        </p:txBody>
      </p:sp>
      <p:sp>
        <p:nvSpPr>
          <p:cNvPr id="19" name="Text 15"/>
          <p:cNvSpPr/>
          <p:nvPr/>
        </p:nvSpPr>
        <p:spPr>
          <a:xfrm>
            <a:off x="548640" y="3840480"/>
            <a:ext cx="64008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Raw JSON-RPC on the wire (verified format):</a:t>
            </a:r>
            <a:endParaRPr lang="en-US" sz="1100" dirty="0"/>
          </a:p>
        </p:txBody>
      </p:sp>
      <p:sp>
        <p:nvSpPr>
          <p:cNvPr id="20" name="Shape 16"/>
          <p:cNvSpPr/>
          <p:nvPr/>
        </p:nvSpPr>
        <p:spPr>
          <a:xfrm>
            <a:off x="548640" y="4160520"/>
            <a:ext cx="11091672" cy="1783080"/>
          </a:xfrm>
          <a:prstGeom prst="roundRect">
            <a:avLst>
              <a:gd name="adj" fmla="val 3077"/>
            </a:avLst>
          </a:prstGeom>
          <a:solidFill>
            <a:srgbClr val="0B1220"/>
          </a:solidFill>
          <a:ln/>
          <a:effectLst>
            <a:outerShdw sx="100000" sy="100000" kx="0" ky="0" algn="bl" rotWithShape="0" blurRad="139700" dist="38100" dir="5400000">
              <a:srgbClr val="0F172A">
                <a:alpha val="22000"/>
              </a:srgbClr>
            </a:outerShdw>
          </a:effectLst>
        </p:spPr>
      </p:sp>
      <p:sp>
        <p:nvSpPr>
          <p:cNvPr id="21" name="Text 17"/>
          <p:cNvSpPr/>
          <p:nvPr/>
        </p:nvSpPr>
        <p:spPr>
          <a:xfrm>
            <a:off x="731520" y="4288536"/>
            <a:ext cx="10725912" cy="1527048"/>
          </a:xfrm>
          <a:prstGeom prst="rect">
            <a:avLst/>
          </a:prstGeom>
          <a:noFill/>
          <a:ln/>
        </p:spPr>
        <p:txBody>
          <a:bodyPr wrap="square" lIns="0" tIns="0" rIns="0" bIns="0" rtlCol="0" anchor="t"/>
          <a:lstStyle/>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"jsonrpc": "2.0", "id": "req-001", "method": "message/send",</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"params": { "message": {</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"role": "user",</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"parts": [{ "kind": "text", "text": "what is 101 * 11?" }],</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"messageId": "..." } } }</a:t>
            </a:r>
            <a:endParaRPr lang="en-US" sz="1150" dirty="0"/>
          </a:p>
        </p:txBody>
      </p:sp>
      <p:sp>
        <p:nvSpPr>
          <p:cNvPr id="22" name="Text 18"/>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23" name="Text 19"/>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2011680" y="4206240"/>
            <a:ext cx="5486400" cy="5486400"/>
          </a:xfrm>
          <a:prstGeom prst="oval">
            <a:avLst/>
          </a:prstGeom>
          <a:solidFill>
            <a:srgbClr val="0D9488">
              <a:alpha val="10000"/>
            </a:srgbClr>
          </a:solidFill>
          <a:ln/>
        </p:spPr>
      </p:sp>
      <p:sp>
        <p:nvSpPr>
          <p:cNvPr id="3" name="Shape 1"/>
          <p:cNvSpPr/>
          <p:nvPr/>
        </p:nvSpPr>
        <p:spPr>
          <a:xfrm>
            <a:off x="8961120" y="-2194560"/>
            <a:ext cx="5943600" cy="5943600"/>
          </a:xfrm>
          <a:prstGeom prst="oval">
            <a:avLst/>
          </a:prstGeom>
          <a:solidFill>
            <a:srgbClr val="2563EB">
              <a:alpha val="8000"/>
            </a:srgbClr>
          </a:solidFill>
          <a:ln/>
        </p:spPr>
      </p:sp>
      <p:pic>
        <p:nvPicPr>
          <p:cNvPr id="4" name="Image 0" descr="preencoded.png">    </p:cNvPr>
          <p:cNvPicPr>
            <a:picLocks noChangeAspect="1"/>
          </p:cNvPicPr>
          <p:nvPr/>
        </p:nvPicPr>
        <p:blipFill>
          <a:blip r:embed="rId1">
            <a:alphaModFix amt="90000"/>
          </a:blip>
          <a:stretch>
            <a:fillRect/>
          </a:stretch>
        </p:blipFill>
        <p:spPr>
          <a:xfrm>
            <a:off x="7955280" y="822960"/>
            <a:ext cx="3931920" cy="4983480"/>
          </a:xfrm>
          <a:prstGeom prst="rect">
            <a:avLst/>
          </a:prstGeom>
        </p:spPr>
      </p:pic>
      <p:sp>
        <p:nvSpPr>
          <p:cNvPr id="5" name="Text 2"/>
          <p:cNvSpPr/>
          <p:nvPr/>
        </p:nvSpPr>
        <p:spPr>
          <a:xfrm>
            <a:off x="548640" y="1737360"/>
            <a:ext cx="2194560" cy="1463040"/>
          </a:xfrm>
          <a:prstGeom prst="rect">
            <a:avLst/>
          </a:prstGeom>
          <a:noFill/>
          <a:ln/>
        </p:spPr>
        <p:txBody>
          <a:bodyPr wrap="square" lIns="0" tIns="0" rIns="0" bIns="0" rtlCol="0" anchor="ctr"/>
          <a:lstStyle/>
          <a:p>
            <a:pPr indent="0" marL="0">
              <a:buNone/>
            </a:pPr>
            <a:r>
              <a:rPr lang="en-US" sz="9600" b="1" dirty="0">
                <a:solidFill>
                  <a:srgbClr val="0D9488"/>
                </a:solidFill>
                <a:latin typeface="Cambria" pitchFamily="34" charset="0"/>
                <a:ea typeface="Cambria" pitchFamily="34" charset="-122"/>
                <a:cs typeface="Cambria" pitchFamily="34" charset="-120"/>
              </a:rPr>
              <a:t>03</a:t>
            </a:r>
            <a:endParaRPr lang="en-US" sz="9600" dirty="0"/>
          </a:p>
        </p:txBody>
      </p:sp>
      <p:sp>
        <p:nvSpPr>
          <p:cNvPr id="6" name="Text 3"/>
          <p:cNvSpPr/>
          <p:nvPr/>
        </p:nvSpPr>
        <p:spPr>
          <a:xfrm>
            <a:off x="566928" y="3246120"/>
            <a:ext cx="77724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A2A in Strands</a:t>
            </a:r>
            <a:endParaRPr lang="en-US" sz="4000" dirty="0"/>
          </a:p>
        </p:txBody>
      </p:sp>
      <p:sp>
        <p:nvSpPr>
          <p:cNvPr id="7" name="Text 4"/>
          <p:cNvSpPr/>
          <p:nvPr/>
        </p:nvSpPr>
        <p:spPr>
          <a:xfrm>
            <a:off x="566928" y="4206240"/>
            <a:ext cx="7132320" cy="731520"/>
          </a:xfrm>
          <a:prstGeom prst="rect">
            <a:avLst/>
          </a:prstGeom>
          <a:noFill/>
          <a:ln/>
        </p:spPr>
        <p:txBody>
          <a:bodyPr wrap="square" lIns="0" tIns="0" rIns="0" bIns="0" rtlCol="0" anchor="ctr"/>
          <a:lstStyle/>
          <a:p>
            <a:pPr indent="0" marL="0">
              <a:lnSpc>
                <a:spcPct val="110000"/>
              </a:lnSpc>
              <a:buNone/>
            </a:pPr>
            <a:r>
              <a:rPr lang="en-US" sz="1500" dirty="0">
                <a:solidFill>
                  <a:srgbClr val="AAB7C8"/>
                </a:solidFill>
                <a:latin typeface="Calibri" pitchFamily="34" charset="0"/>
                <a:ea typeface="Calibri" pitchFamily="34" charset="-122"/>
                <a:cs typeface="Calibri" pitchFamily="34" charset="-120"/>
              </a:rPr>
              <a:t>Three building blocks, hands-on. Publish a server, consume a peer, and let an orchestrator route. Every snippet runs.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3 · A2A IN STRANDS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Strands gives you three building blocks</a:t>
            </a:r>
            <a:endParaRPr lang="en-US" sz="2800" dirty="0"/>
          </a:p>
        </p:txBody>
      </p:sp>
      <p:sp>
        <p:nvSpPr>
          <p:cNvPr id="5" name="Shape 2"/>
          <p:cNvSpPr/>
          <p:nvPr/>
        </p:nvSpPr>
        <p:spPr>
          <a:xfrm>
            <a:off x="548640" y="1554480"/>
            <a:ext cx="3483864" cy="2286000"/>
          </a:xfrm>
          <a:prstGeom prst="roundRect">
            <a:avLst>
              <a:gd name="adj" fmla="val 3200"/>
            </a:avLst>
          </a:prstGeom>
          <a:solidFill>
            <a:srgbClr val="F8FAFC"/>
          </a:solidFill>
          <a:ln/>
          <a:effectLst>
            <a:outerShdw sx="100000" sy="100000" kx="0" ky="0" algn="bl" rotWithShape="0" blurRad="101600" dist="38100" dir="5400000">
              <a:srgbClr val="0F172A">
                <a:alpha val="10000"/>
              </a:srgbClr>
            </a:outerShdw>
          </a:effectLst>
        </p:spPr>
      </p:sp>
      <p:sp>
        <p:nvSpPr>
          <p:cNvPr id="6" name="Shape 3"/>
          <p:cNvSpPr/>
          <p:nvPr/>
        </p:nvSpPr>
        <p:spPr>
          <a:xfrm>
            <a:off x="768096" y="1773936"/>
            <a:ext cx="603504" cy="603504"/>
          </a:xfrm>
          <a:prstGeom prst="oval">
            <a:avLst/>
          </a:prstGeom>
          <a:solidFill>
            <a:srgbClr val="E6FBF6"/>
          </a:solidFill>
          <a:ln/>
        </p:spPr>
      </p:sp>
      <p:pic>
        <p:nvPicPr>
          <p:cNvPr id="7" name="Image 1" descr="preencoded.png">    </p:cNvPr>
          <p:cNvPicPr>
            <a:picLocks noChangeAspect="1"/>
          </p:cNvPicPr>
          <p:nvPr/>
        </p:nvPicPr>
        <p:blipFill>
          <a:blip r:embed="rId2"/>
          <a:stretch>
            <a:fillRect/>
          </a:stretch>
        </p:blipFill>
        <p:spPr>
          <a:xfrm>
            <a:off x="900867" y="1906707"/>
            <a:ext cx="337962" cy="337962"/>
          </a:xfrm>
          <a:prstGeom prst="rect">
            <a:avLst/>
          </a:prstGeom>
        </p:spPr>
      </p:pic>
      <p:sp>
        <p:nvSpPr>
          <p:cNvPr id="8" name="Text 4"/>
          <p:cNvSpPr/>
          <p:nvPr/>
        </p:nvSpPr>
        <p:spPr>
          <a:xfrm>
            <a:off x="768096" y="2505456"/>
            <a:ext cx="304495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A2AServer</a:t>
            </a:r>
            <a:endParaRPr lang="en-US" sz="1400" dirty="0"/>
          </a:p>
        </p:txBody>
      </p:sp>
      <p:sp>
        <p:nvSpPr>
          <p:cNvPr id="9" name="Text 5"/>
          <p:cNvSpPr/>
          <p:nvPr/>
        </p:nvSpPr>
        <p:spPr>
          <a:xfrm>
            <a:off x="768096" y="2889504"/>
            <a:ext cx="3044952" cy="80467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Wrap any Strands agent, expose it over A2A. The supply side: you publish.</a:t>
            </a:r>
            <a:endParaRPr lang="en-US" sz="1150" dirty="0"/>
          </a:p>
        </p:txBody>
      </p:sp>
      <p:sp>
        <p:nvSpPr>
          <p:cNvPr id="10" name="Shape 6"/>
          <p:cNvSpPr/>
          <p:nvPr/>
        </p:nvSpPr>
        <p:spPr>
          <a:xfrm>
            <a:off x="4352544" y="1554480"/>
            <a:ext cx="3483864" cy="2286000"/>
          </a:xfrm>
          <a:prstGeom prst="roundRect">
            <a:avLst>
              <a:gd name="adj" fmla="val 3200"/>
            </a:avLst>
          </a:prstGeom>
          <a:solidFill>
            <a:srgbClr val="F8FAFC"/>
          </a:solidFill>
          <a:ln/>
          <a:effectLst>
            <a:outerShdw sx="100000" sy="100000" kx="0" ky="0" algn="bl" rotWithShape="0" blurRad="101600" dist="38100" dir="5400000">
              <a:srgbClr val="0F172A">
                <a:alpha val="10000"/>
              </a:srgbClr>
            </a:outerShdw>
          </a:effectLst>
        </p:spPr>
      </p:sp>
      <p:sp>
        <p:nvSpPr>
          <p:cNvPr id="11" name="Shape 7"/>
          <p:cNvSpPr/>
          <p:nvPr/>
        </p:nvSpPr>
        <p:spPr>
          <a:xfrm>
            <a:off x="4572000" y="1773936"/>
            <a:ext cx="603504" cy="603504"/>
          </a:xfrm>
          <a:prstGeom prst="oval">
            <a:avLst/>
          </a:prstGeom>
          <a:solidFill>
            <a:srgbClr val="E6FBF6"/>
          </a:solidFill>
          <a:ln/>
        </p:spPr>
      </p:sp>
      <p:pic>
        <p:nvPicPr>
          <p:cNvPr id="12" name="Image 2" descr="preencoded.png">    </p:cNvPr>
          <p:cNvPicPr>
            <a:picLocks noChangeAspect="1"/>
          </p:cNvPicPr>
          <p:nvPr/>
        </p:nvPicPr>
        <p:blipFill>
          <a:blip r:embed="rId3"/>
          <a:stretch>
            <a:fillRect/>
          </a:stretch>
        </p:blipFill>
        <p:spPr>
          <a:xfrm>
            <a:off x="4704771" y="1906707"/>
            <a:ext cx="337962" cy="337962"/>
          </a:xfrm>
          <a:prstGeom prst="rect">
            <a:avLst/>
          </a:prstGeom>
        </p:spPr>
      </p:pic>
      <p:sp>
        <p:nvSpPr>
          <p:cNvPr id="13" name="Text 8"/>
          <p:cNvSpPr/>
          <p:nvPr/>
        </p:nvSpPr>
        <p:spPr>
          <a:xfrm>
            <a:off x="4572000" y="2505456"/>
            <a:ext cx="304495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A2AAgent</a:t>
            </a:r>
            <a:endParaRPr lang="en-US" sz="1400" dirty="0"/>
          </a:p>
        </p:txBody>
      </p:sp>
      <p:sp>
        <p:nvSpPr>
          <p:cNvPr id="14" name="Text 9"/>
          <p:cNvSpPr/>
          <p:nvPr/>
        </p:nvSpPr>
        <p:spPr>
          <a:xfrm>
            <a:off x="4572000" y="2889504"/>
            <a:ext cx="3044952" cy="80467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Call a remote A2A agent as if it were local. The simplest consumer: you name the agent.</a:t>
            </a:r>
            <a:endParaRPr lang="en-US" sz="1150" dirty="0"/>
          </a:p>
        </p:txBody>
      </p:sp>
      <p:sp>
        <p:nvSpPr>
          <p:cNvPr id="15" name="Shape 10"/>
          <p:cNvSpPr/>
          <p:nvPr/>
        </p:nvSpPr>
        <p:spPr>
          <a:xfrm>
            <a:off x="8156448" y="1554480"/>
            <a:ext cx="3483864" cy="2286000"/>
          </a:xfrm>
          <a:prstGeom prst="roundRect">
            <a:avLst>
              <a:gd name="adj" fmla="val 3200"/>
            </a:avLst>
          </a:prstGeom>
          <a:solidFill>
            <a:srgbClr val="F8FAFC"/>
          </a:solidFill>
          <a:ln/>
          <a:effectLst>
            <a:outerShdw sx="100000" sy="100000" kx="0" ky="0" algn="bl" rotWithShape="0" blurRad="101600" dist="38100" dir="5400000">
              <a:srgbClr val="0F172A">
                <a:alpha val="10000"/>
              </a:srgbClr>
            </a:outerShdw>
          </a:effectLst>
        </p:spPr>
      </p:sp>
      <p:sp>
        <p:nvSpPr>
          <p:cNvPr id="16" name="Shape 11"/>
          <p:cNvSpPr/>
          <p:nvPr/>
        </p:nvSpPr>
        <p:spPr>
          <a:xfrm>
            <a:off x="8375904" y="1773936"/>
            <a:ext cx="603504" cy="603504"/>
          </a:xfrm>
          <a:prstGeom prst="oval">
            <a:avLst/>
          </a:prstGeom>
          <a:solidFill>
            <a:srgbClr val="E6FBF6"/>
          </a:solidFill>
          <a:ln/>
        </p:spPr>
      </p:sp>
      <p:pic>
        <p:nvPicPr>
          <p:cNvPr id="17" name="Image 3" descr="preencoded.png">    </p:cNvPr>
          <p:cNvPicPr>
            <a:picLocks noChangeAspect="1"/>
          </p:cNvPicPr>
          <p:nvPr/>
        </p:nvPicPr>
        <p:blipFill>
          <a:blip r:embed="rId4"/>
          <a:stretch>
            <a:fillRect/>
          </a:stretch>
        </p:blipFill>
        <p:spPr>
          <a:xfrm>
            <a:off x="8508675" y="1906707"/>
            <a:ext cx="337962" cy="337962"/>
          </a:xfrm>
          <a:prstGeom prst="rect">
            <a:avLst/>
          </a:prstGeom>
        </p:spPr>
      </p:pic>
      <p:sp>
        <p:nvSpPr>
          <p:cNvPr id="18" name="Text 12"/>
          <p:cNvSpPr/>
          <p:nvPr/>
        </p:nvSpPr>
        <p:spPr>
          <a:xfrm>
            <a:off x="8375904" y="2505456"/>
            <a:ext cx="304495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A2AClientToolProvider</a:t>
            </a:r>
            <a:endParaRPr lang="en-US" sz="1400" dirty="0"/>
          </a:p>
        </p:txBody>
      </p:sp>
      <p:sp>
        <p:nvSpPr>
          <p:cNvPr id="19" name="Text 13"/>
          <p:cNvSpPr/>
          <p:nvPr/>
        </p:nvSpPr>
        <p:spPr>
          <a:xfrm>
            <a:off x="8375904" y="2889504"/>
            <a:ext cx="3044952" cy="80467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Give an orchestrator tools to discover and call A2A agents in natural language. The model names the agent.</a:t>
            </a:r>
            <a:endParaRPr lang="en-US" sz="1150" dirty="0"/>
          </a:p>
        </p:txBody>
      </p:sp>
      <p:sp>
        <p:nvSpPr>
          <p:cNvPr id="20" name="Text 14"/>
          <p:cNvSpPr/>
          <p:nvPr/>
        </p:nvSpPr>
        <p:spPr>
          <a:xfrm>
            <a:off x="548640" y="4114800"/>
            <a:ext cx="2743200" cy="274320"/>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Install</a:t>
            </a:r>
            <a:endParaRPr lang="en-US" sz="1100" dirty="0"/>
          </a:p>
        </p:txBody>
      </p:sp>
      <p:sp>
        <p:nvSpPr>
          <p:cNvPr id="21" name="Shape 15"/>
          <p:cNvSpPr/>
          <p:nvPr/>
        </p:nvSpPr>
        <p:spPr>
          <a:xfrm>
            <a:off x="548640" y="4389120"/>
            <a:ext cx="11091672" cy="914400"/>
          </a:xfrm>
          <a:prstGeom prst="roundRect">
            <a:avLst>
              <a:gd name="adj" fmla="val 6000"/>
            </a:avLst>
          </a:prstGeom>
          <a:solidFill>
            <a:srgbClr val="0B1220"/>
          </a:solidFill>
          <a:ln/>
          <a:effectLst>
            <a:outerShdw sx="100000" sy="100000" kx="0" ky="0" algn="bl" rotWithShape="0" blurRad="139700" dist="38100" dir="5400000">
              <a:srgbClr val="0F172A">
                <a:alpha val="22000"/>
              </a:srgbClr>
            </a:outerShdw>
          </a:effectLst>
        </p:spPr>
      </p:sp>
      <p:sp>
        <p:nvSpPr>
          <p:cNvPr id="22" name="Text 16"/>
          <p:cNvSpPr/>
          <p:nvPr/>
        </p:nvSpPr>
        <p:spPr>
          <a:xfrm>
            <a:off x="731520" y="4517136"/>
            <a:ext cx="10725912" cy="658368"/>
          </a:xfrm>
          <a:prstGeom prst="rect">
            <a:avLst/>
          </a:prstGeom>
          <a:noFill/>
          <a:ln/>
        </p:spPr>
        <p:txBody>
          <a:bodyPr wrap="square" lIns="0" tIns="0" rIns="0" bIns="0" rtlCol="0" anchor="t"/>
          <a:lstStyle/>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pip install 'strands-agents[a2a]'              # server + A2AAgent client</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pip install 'strands-agents-tools[a2a_client]'  # the client tool provider</a:t>
            </a:r>
            <a:endParaRPr lang="en-US" sz="1200" dirty="0"/>
          </a:p>
        </p:txBody>
      </p:sp>
      <p:sp>
        <p:nvSpPr>
          <p:cNvPr id="23" name="Text 17"/>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24" name="Text 18"/>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3 · A2A IN STRANDS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Build a server in 6 lines (tools become skills, free)</a:t>
            </a:r>
            <a:endParaRPr lang="en-US" sz="2800" dirty="0"/>
          </a:p>
        </p:txBody>
      </p:sp>
      <p:sp>
        <p:nvSpPr>
          <p:cNvPr id="5" name="Shape 2"/>
          <p:cNvSpPr/>
          <p:nvPr/>
        </p:nvSpPr>
        <p:spPr>
          <a:xfrm>
            <a:off x="548640" y="1517904"/>
            <a:ext cx="6583680" cy="3611880"/>
          </a:xfrm>
          <a:prstGeom prst="roundRect">
            <a:avLst>
              <a:gd name="adj" fmla="val 1519"/>
            </a:avLst>
          </a:prstGeom>
          <a:solidFill>
            <a:srgbClr val="0B1220"/>
          </a:solidFill>
          <a:ln/>
          <a:effectLst>
            <a:outerShdw sx="100000" sy="100000" kx="0" ky="0" algn="bl" rotWithShape="0" blurRad="139700" dist="38100" dir="5400000">
              <a:srgbClr val="0F172A">
                <a:alpha val="22000"/>
              </a:srgbClr>
            </a:outerShdw>
          </a:effectLst>
        </p:spPr>
      </p:sp>
      <p:sp>
        <p:nvSpPr>
          <p:cNvPr id="6" name="Text 3"/>
          <p:cNvSpPr/>
          <p:nvPr/>
        </p:nvSpPr>
        <p:spPr>
          <a:xfrm>
            <a:off x="731520" y="1645920"/>
            <a:ext cx="6217920" cy="3355848"/>
          </a:xfrm>
          <a:prstGeom prst="rect">
            <a:avLst/>
          </a:prstGeom>
          <a:noFill/>
          <a:ln/>
        </p:spPr>
        <p:txBody>
          <a:bodyPr wrap="square" lIns="0" tIns="0" rIns="0" bIns="0" rtlCol="0" anchor="t"/>
          <a:lstStyle/>
          <a:p>
            <a:pPr algn="l" indent="0" marL="0">
              <a:lnSpc>
                <a:spcPct val="105000"/>
              </a:lnSpc>
              <a:buNone/>
            </a:pPr>
            <a:r>
              <a:rPr lang="en-US" sz="1250" dirty="0">
                <a:solidFill>
                  <a:srgbClr val="E6EDF6"/>
                </a:solidFill>
                <a:latin typeface="Courier New" pitchFamily="34" charset="0"/>
                <a:ea typeface="Courier New" pitchFamily="34" charset="-122"/>
                <a:cs typeface="Courier New" pitchFamily="34" charset="-120"/>
              </a:rPr>
              <a:t>from strands import Agent</a:t>
            </a:r>
            <a:endParaRPr lang="en-US" sz="1250" dirty="0"/>
          </a:p>
          <a:p>
            <a:pPr algn="l" indent="0" marL="0">
              <a:lnSpc>
                <a:spcPct val="105000"/>
              </a:lnSpc>
              <a:buNone/>
            </a:pPr>
            <a:r>
              <a:rPr lang="en-US" sz="1250" dirty="0">
                <a:solidFill>
                  <a:srgbClr val="E6EDF6"/>
                </a:solidFill>
                <a:latin typeface="Courier New" pitchFamily="34" charset="0"/>
                <a:ea typeface="Courier New" pitchFamily="34" charset="-122"/>
                <a:cs typeface="Courier New" pitchFamily="34" charset="-120"/>
              </a:rPr>
              <a:t>from strands.multiagent.a2a import A2AServer</a:t>
            </a:r>
            <a:endParaRPr lang="en-US" sz="1250" dirty="0"/>
          </a:p>
          <a:p>
            <a:pPr algn="l" indent="0" marL="0">
              <a:lnSpc>
                <a:spcPct val="105000"/>
              </a:lnSpc>
              <a:buNone/>
            </a:pPr>
            <a:r>
              <a:rPr lang="en-US" sz="1250" dirty="0">
                <a:solidFill>
                  <a:srgbClr val="E6EDF6"/>
                </a:solidFill>
                <a:latin typeface="Courier New" pitchFamily="34" charset="0"/>
                <a:ea typeface="Courier New" pitchFamily="34" charset="-122"/>
                <a:cs typeface="Courier New" pitchFamily="34" charset="-120"/>
              </a:rPr>
              <a:t>from strands_tools import calculator</a:t>
            </a:r>
            <a:endParaRPr lang="en-US" sz="1250" dirty="0"/>
          </a:p>
          <a:p>
            <a:pPr algn="l" indent="0" marL="0">
              <a:lnSpc>
                <a:spcPct val="105000"/>
              </a:lnSpc>
              <a:buNone/>
            </a:pPr>
            <a:r>
              <a:rPr lang="en-US" sz="1250" dirty="0">
                <a:solidFill>
                  <a:srgbClr val="E6EDF6"/>
                </a:solidFill>
                <a:latin typeface="Courier New" pitchFamily="34" charset="0"/>
                <a:ea typeface="Courier New" pitchFamily="34" charset="-122"/>
                <a:cs typeface="Courier New" pitchFamily="34" charset="-120"/>
              </a:rPr>
              <a:t> </a:t>
            </a:r>
            <a:endParaRPr lang="en-US" sz="1250" dirty="0"/>
          </a:p>
          <a:p>
            <a:pPr algn="l" indent="0" marL="0">
              <a:lnSpc>
                <a:spcPct val="105000"/>
              </a:lnSpc>
              <a:buNone/>
            </a:pPr>
            <a:r>
              <a:rPr lang="en-US" sz="1250" dirty="0">
                <a:solidFill>
                  <a:srgbClr val="E6EDF6"/>
                </a:solidFill>
                <a:latin typeface="Courier New" pitchFamily="34" charset="0"/>
                <a:ea typeface="Courier New" pitchFamily="34" charset="-122"/>
                <a:cs typeface="Courier New" pitchFamily="34" charset="-120"/>
              </a:rPr>
              <a:t>agent = Agent(</a:t>
            </a:r>
            <a:endParaRPr lang="en-US" sz="1250" dirty="0"/>
          </a:p>
          <a:p>
            <a:pPr algn="l" indent="0" marL="0">
              <a:lnSpc>
                <a:spcPct val="105000"/>
              </a:lnSpc>
              <a:buNone/>
            </a:pPr>
            <a:r>
              <a:rPr lang="en-US" sz="1250" dirty="0">
                <a:solidFill>
                  <a:srgbClr val="E6EDF6"/>
                </a:solidFill>
                <a:latin typeface="Courier New" pitchFamily="34" charset="0"/>
                <a:ea typeface="Courier New" pitchFamily="34" charset="-122"/>
                <a:cs typeface="Courier New" pitchFamily="34" charset="-120"/>
              </a:rPr>
              <a:t>    name="Calculator Agent",</a:t>
            </a:r>
            <a:endParaRPr lang="en-US" sz="1250" dirty="0"/>
          </a:p>
          <a:p>
            <a:pPr algn="l" indent="0" marL="0">
              <a:lnSpc>
                <a:spcPct val="105000"/>
              </a:lnSpc>
              <a:buNone/>
            </a:pPr>
            <a:r>
              <a:rPr lang="en-US" sz="1250" dirty="0">
                <a:solidFill>
                  <a:srgbClr val="E6EDF6"/>
                </a:solidFill>
                <a:latin typeface="Courier New" pitchFamily="34" charset="0"/>
                <a:ea typeface="Courier New" pitchFamily="34" charset="-122"/>
                <a:cs typeface="Courier New" pitchFamily="34" charset="-120"/>
              </a:rPr>
              <a:t>    description="Performs basic arithmetic.",</a:t>
            </a:r>
            <a:endParaRPr lang="en-US" sz="1250" dirty="0"/>
          </a:p>
          <a:p>
            <a:pPr algn="l" indent="0" marL="0">
              <a:lnSpc>
                <a:spcPct val="105000"/>
              </a:lnSpc>
              <a:buNone/>
            </a:pPr>
            <a:r>
              <a:rPr lang="en-US" sz="1250" dirty="0">
                <a:solidFill>
                  <a:srgbClr val="E6EDF6"/>
                </a:solidFill>
                <a:latin typeface="Courier New" pitchFamily="34" charset="0"/>
                <a:ea typeface="Courier New" pitchFamily="34" charset="-122"/>
                <a:cs typeface="Courier New" pitchFamily="34" charset="-120"/>
              </a:rPr>
              <a:t>    tools=[calculator],</a:t>
            </a:r>
            <a:endParaRPr lang="en-US" sz="1250" dirty="0"/>
          </a:p>
          <a:p>
            <a:pPr algn="l" indent="0" marL="0">
              <a:lnSpc>
                <a:spcPct val="105000"/>
              </a:lnSpc>
              <a:buNone/>
            </a:pPr>
            <a:r>
              <a:rPr lang="en-US" sz="1250" dirty="0">
                <a:solidFill>
                  <a:srgbClr val="E6EDF6"/>
                </a:solidFill>
                <a:latin typeface="Courier New" pitchFamily="34" charset="0"/>
                <a:ea typeface="Courier New" pitchFamily="34" charset="-122"/>
                <a:cs typeface="Courier New" pitchFamily="34" charset="-120"/>
              </a:rPr>
              <a:t>    callback_handler=None,</a:t>
            </a:r>
            <a:endParaRPr lang="en-US" sz="1250" dirty="0"/>
          </a:p>
          <a:p>
            <a:pPr algn="l" indent="0" marL="0">
              <a:lnSpc>
                <a:spcPct val="105000"/>
              </a:lnSpc>
              <a:buNone/>
            </a:pPr>
            <a:r>
              <a:rPr lang="en-US" sz="1250" dirty="0">
                <a:solidFill>
                  <a:srgbClr val="E6EDF6"/>
                </a:solidFill>
                <a:latin typeface="Courier New" pitchFamily="34" charset="0"/>
                <a:ea typeface="Courier New" pitchFamily="34" charset="-122"/>
                <a:cs typeface="Courier New" pitchFamily="34" charset="-120"/>
              </a:rPr>
              <a:t>)</a:t>
            </a:r>
            <a:endParaRPr lang="en-US" sz="1250" dirty="0"/>
          </a:p>
          <a:p>
            <a:pPr algn="l" indent="0" marL="0">
              <a:lnSpc>
                <a:spcPct val="105000"/>
              </a:lnSpc>
              <a:buNone/>
            </a:pPr>
            <a:r>
              <a:rPr lang="en-US" sz="1250" dirty="0">
                <a:solidFill>
                  <a:srgbClr val="E6EDF6"/>
                </a:solidFill>
                <a:latin typeface="Courier New" pitchFamily="34" charset="0"/>
                <a:ea typeface="Courier New" pitchFamily="34" charset="-122"/>
                <a:cs typeface="Courier New" pitchFamily="34" charset="-120"/>
              </a:rPr>
              <a:t>A2AServer(agent=agent).serve()   # defaults: 127.0.0.1:9000, streaming on</a:t>
            </a:r>
            <a:endParaRPr lang="en-US" sz="1250" dirty="0"/>
          </a:p>
        </p:txBody>
      </p:sp>
      <p:sp>
        <p:nvSpPr>
          <p:cNvPr id="7" name="Shape 4"/>
          <p:cNvSpPr/>
          <p:nvPr/>
        </p:nvSpPr>
        <p:spPr>
          <a:xfrm>
            <a:off x="7360920" y="1517904"/>
            <a:ext cx="4279392" cy="2148840"/>
          </a:xfrm>
          <a:prstGeom prst="roundRect">
            <a:avLst>
              <a:gd name="adj" fmla="val 3404"/>
            </a:avLst>
          </a:prstGeom>
          <a:solidFill>
            <a:srgbClr val="E6FBF6"/>
          </a:solidFill>
          <a:ln/>
          <a:effectLst>
            <a:outerShdw sx="100000" sy="100000" kx="0" ky="0" algn="bl" rotWithShape="0" blurRad="88900" dist="38100" dir="5400000">
              <a:srgbClr val="0F172A">
                <a:alpha val="9000"/>
              </a:srgbClr>
            </a:outerShdw>
          </a:effectLst>
        </p:spPr>
      </p:sp>
      <p:sp>
        <p:nvSpPr>
          <p:cNvPr id="8" name="Shape 5"/>
          <p:cNvSpPr/>
          <p:nvPr/>
        </p:nvSpPr>
        <p:spPr>
          <a:xfrm>
            <a:off x="7562088" y="1719072"/>
            <a:ext cx="548640" cy="548640"/>
          </a:xfrm>
          <a:prstGeom prst="oval">
            <a:avLst/>
          </a:prstGeom>
          <a:solidFill>
            <a:srgbClr val="FFFFFF"/>
          </a:solidFill>
          <a:ln/>
        </p:spPr>
      </p:sp>
      <p:pic>
        <p:nvPicPr>
          <p:cNvPr id="9" name="Image 1" descr="preencoded.png">    </p:cNvPr>
          <p:cNvPicPr>
            <a:picLocks noChangeAspect="1"/>
          </p:cNvPicPr>
          <p:nvPr/>
        </p:nvPicPr>
        <p:blipFill>
          <a:blip r:embed="rId2"/>
          <a:stretch>
            <a:fillRect/>
          </a:stretch>
        </p:blipFill>
        <p:spPr>
          <a:xfrm>
            <a:off x="7682789" y="1839773"/>
            <a:ext cx="307238" cy="307238"/>
          </a:xfrm>
          <a:prstGeom prst="rect">
            <a:avLst/>
          </a:prstGeom>
        </p:spPr>
      </p:pic>
      <p:sp>
        <p:nvSpPr>
          <p:cNvPr id="10" name="Text 6"/>
          <p:cNvSpPr/>
          <p:nvPr/>
        </p:nvSpPr>
        <p:spPr>
          <a:xfrm>
            <a:off x="8229600" y="1810512"/>
            <a:ext cx="3291840" cy="365760"/>
          </a:xfrm>
          <a:prstGeom prst="rect">
            <a:avLst/>
          </a:prstGeom>
          <a:noFill/>
          <a:ln/>
        </p:spPr>
        <p:txBody>
          <a:bodyPr wrap="square" lIns="0" tIns="0" rIns="0" bIns="0" rtlCol="0" anchor="ctr"/>
          <a:lstStyle/>
          <a:p>
            <a:pPr indent="0" marL="0">
              <a:buNone/>
            </a:pPr>
            <a:r>
              <a:rPr lang="en-US" sz="1350" b="1" dirty="0">
                <a:solidFill>
                  <a:srgbClr val="0D9488"/>
                </a:solidFill>
                <a:latin typeface="Calibri" pitchFamily="34" charset="0"/>
                <a:ea typeface="Calibri" pitchFamily="34" charset="-122"/>
                <a:cs typeface="Calibri" pitchFamily="34" charset="-120"/>
              </a:rPr>
              <a:t>The payoff</a:t>
            </a:r>
            <a:endParaRPr lang="en-US" sz="1350" dirty="0"/>
          </a:p>
        </p:txBody>
      </p:sp>
      <p:sp>
        <p:nvSpPr>
          <p:cNvPr id="11" name="Text 7"/>
          <p:cNvSpPr/>
          <p:nvPr/>
        </p:nvSpPr>
        <p:spPr>
          <a:xfrm>
            <a:off x="7562088" y="2395728"/>
            <a:ext cx="3877056" cy="1188720"/>
          </a:xfrm>
          <a:prstGeom prst="rect">
            <a:avLst/>
          </a:prstGeom>
          <a:noFill/>
          <a:ln/>
        </p:spPr>
        <p:txBody>
          <a:bodyPr wrap="square" lIns="0" tIns="0" rIns="0" bIns="0" rtlCol="0" anchor="t"/>
          <a:lstStyle/>
          <a:p>
            <a:pPr indent="0" marL="0">
              <a:lnSpc>
                <a:spcPct val="108000"/>
              </a:lnSpc>
              <a:buNone/>
            </a:pPr>
            <a:r>
              <a:rPr lang="en-US" sz="1200" dirty="0">
                <a:solidFill>
                  <a:srgbClr val="0F172A"/>
                </a:solidFill>
                <a:latin typeface="Calibri" pitchFamily="34" charset="0"/>
                <a:ea typeface="Calibri" pitchFamily="34" charset="-122"/>
                <a:cs typeface="Calibri" pitchFamily="34" charset="-120"/>
              </a:rPr>
              <a:t>Every tool you attach is auto-published as an A2A skill in the card. You do not hand-write skill metadata. Add http_request as a tool, and the card grows an http_request skill automatically.</a:t>
            </a:r>
            <a:endParaRPr lang="en-US" sz="1200" dirty="0"/>
          </a:p>
        </p:txBody>
      </p:sp>
      <p:sp>
        <p:nvSpPr>
          <p:cNvPr id="12" name="Shape 8"/>
          <p:cNvSpPr/>
          <p:nvPr/>
        </p:nvSpPr>
        <p:spPr>
          <a:xfrm>
            <a:off x="7360920" y="3840480"/>
            <a:ext cx="4279392" cy="1463040"/>
          </a:xfrm>
          <a:prstGeom prst="roundRect">
            <a:avLst>
              <a:gd name="adj" fmla="val 5000"/>
            </a:avLst>
          </a:prstGeom>
          <a:solidFill>
            <a:srgbClr val="EEF3FE"/>
          </a:solidFill>
          <a:ln/>
          <a:effectLst>
            <a:outerShdw sx="100000" sy="100000" kx="0" ky="0" algn="bl" rotWithShape="0" blurRad="88900" dist="38100" dir="5400000">
              <a:srgbClr val="0F172A">
                <a:alpha val="9000"/>
              </a:srgbClr>
            </a:outerShdw>
          </a:effectLst>
        </p:spPr>
      </p:sp>
      <p:sp>
        <p:nvSpPr>
          <p:cNvPr id="13" name="Text 9"/>
          <p:cNvSpPr/>
          <p:nvPr/>
        </p:nvSpPr>
        <p:spPr>
          <a:xfrm>
            <a:off x="7543800" y="3895344"/>
            <a:ext cx="3913632" cy="1353312"/>
          </a:xfrm>
          <a:prstGeom prst="rect">
            <a:avLst/>
          </a:prstGeom>
          <a:noFill/>
          <a:ln/>
        </p:spPr>
        <p:txBody>
          <a:bodyPr wrap="square" lIns="0" tIns="0" rIns="0" bIns="0" rtlCol="0" anchor="ctr"/>
          <a:lstStyle/>
          <a:p>
            <a:pPr algn="l" indent="0" marL="0">
              <a:lnSpc>
                <a:spcPct val="104000"/>
              </a:lnSpc>
              <a:buNone/>
            </a:pPr>
            <a:r>
              <a:rPr lang="en-US" sz="1250" b="1" dirty="0">
                <a:solidFill>
                  <a:srgbClr val="2563EB"/>
                </a:solidFill>
                <a:latin typeface="Calibri" pitchFamily="34" charset="0"/>
                <a:ea typeface="Calibri" pitchFamily="34" charset="-122"/>
                <a:cs typeface="Calibri" pitchFamily="34" charset="-120"/>
              </a:rPr>
              <a:t>Why port 9000 matters: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this default lines up exactly with what AgentCore expects in production. The server you test on your laptop is already shaped for the cloud. We use this later.</a:t>
            </a:r>
            <a:endParaRPr lang="en-US" sz="1250" dirty="0"/>
          </a:p>
        </p:txBody>
      </p:sp>
      <p:sp>
        <p:nvSpPr>
          <p:cNvPr id="14" name="Text 10"/>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15" name="Text 11"/>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3 · A2A IN STRANDS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Consume a remote agent: A2AAgent</a:t>
            </a:r>
            <a:endParaRPr lang="en-US" sz="2800" dirty="0"/>
          </a:p>
        </p:txBody>
      </p:sp>
      <p:sp>
        <p:nvSpPr>
          <p:cNvPr id="5" name="Shape 2"/>
          <p:cNvSpPr/>
          <p:nvPr/>
        </p:nvSpPr>
        <p:spPr>
          <a:xfrm>
            <a:off x="548640" y="1517904"/>
            <a:ext cx="6903720" cy="4160520"/>
          </a:xfrm>
          <a:prstGeom prst="roundRect">
            <a:avLst>
              <a:gd name="adj" fmla="val 1319"/>
            </a:avLst>
          </a:prstGeom>
          <a:solidFill>
            <a:srgbClr val="0B1220"/>
          </a:solidFill>
          <a:ln/>
          <a:effectLst>
            <a:outerShdw sx="100000" sy="100000" kx="0" ky="0" algn="bl" rotWithShape="0" blurRad="139700" dist="38100" dir="5400000">
              <a:srgbClr val="0F172A">
                <a:alpha val="22000"/>
              </a:srgbClr>
            </a:outerShdw>
          </a:effectLst>
        </p:spPr>
      </p:sp>
      <p:sp>
        <p:nvSpPr>
          <p:cNvPr id="6" name="Text 3"/>
          <p:cNvSpPr/>
          <p:nvPr/>
        </p:nvSpPr>
        <p:spPr>
          <a:xfrm>
            <a:off x="731520" y="1645920"/>
            <a:ext cx="6537960" cy="3904488"/>
          </a:xfrm>
          <a:prstGeom prst="rect">
            <a:avLst/>
          </a:prstGeom>
          <a:noFill/>
          <a:ln/>
        </p:spPr>
        <p:txBody>
          <a:bodyPr wrap="square" lIns="0" tIns="0" rIns="0" bIns="0" rtlCol="0" anchor="t"/>
          <a:lstStyle/>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from strands.agent.a2a_agent import A2AAgent</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remote = A2AAgent(endpoint="http://localhost:9000")</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a:t>
            </a:r>
            <a:endParaRPr lang="en-US" sz="1150" dirty="0"/>
          </a:p>
          <a:p>
            <a:pPr algn="l" indent="0" marL="0">
              <a:lnSpc>
                <a:spcPct val="105000"/>
              </a:lnSpc>
              <a:buNone/>
            </a:pPr>
            <a:r>
              <a:rPr lang="en-US" sz="1150" dirty="0">
                <a:solidFill>
                  <a:srgbClr val="7C8BA1"/>
                </a:solidFill>
                <a:latin typeface="Courier New" pitchFamily="34" charset="0"/>
                <a:ea typeface="Courier New" pitchFamily="34" charset="-122"/>
                <a:cs typeface="Courier New" pitchFamily="34" charset="-120"/>
              </a:rPr>
              <a:t># 1) Synchronous, call it like a local agent</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result = remote("Show me 10 ^ 6")</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print(result.message)        # {'role':'assistant', 'content':[...]}</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a:t>
            </a:r>
            <a:endParaRPr lang="en-US" sz="1150" dirty="0"/>
          </a:p>
          <a:p>
            <a:pPr algn="l" indent="0" marL="0">
              <a:lnSpc>
                <a:spcPct val="105000"/>
              </a:lnSpc>
              <a:buNone/>
            </a:pPr>
            <a:r>
              <a:rPr lang="en-US" sz="1150" dirty="0">
                <a:solidFill>
                  <a:srgbClr val="7C8BA1"/>
                </a:solidFill>
                <a:latin typeface="Courier New" pitchFamily="34" charset="0"/>
                <a:ea typeface="Courier New" pitchFamily="34" charset="-122"/>
                <a:cs typeface="Courier New" pitchFamily="34" charset="-120"/>
              </a:rPr>
              <a:t># 2) Inspect who you are talking to</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card = await remote.get_agent_card()</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print(card.name, card.skills)</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a:t>
            </a:r>
            <a:endParaRPr lang="en-US" sz="1150" dirty="0"/>
          </a:p>
          <a:p>
            <a:pPr algn="l" indent="0" marL="0">
              <a:lnSpc>
                <a:spcPct val="105000"/>
              </a:lnSpc>
              <a:buNone/>
            </a:pPr>
            <a:r>
              <a:rPr lang="en-US" sz="1150" dirty="0">
                <a:solidFill>
                  <a:srgbClr val="7C8BA1"/>
                </a:solidFill>
                <a:latin typeface="Courier New" pitchFamily="34" charset="0"/>
                <a:ea typeface="Courier New" pitchFamily="34" charset="-122"/>
                <a:cs typeface="Courier New" pitchFamily="34" charset="-120"/>
              </a:rPr>
              <a:t># 3) Stream the response</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async for event in remote.stream_async("Explain quantum computing"):</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if event.get("type") == "a2a_stream":</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                  # protocol event (message / task update)</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elif "result" in event:</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print(event["result"].message)   # AgentResult, emitted last</a:t>
            </a:r>
            <a:endParaRPr lang="en-US" sz="1150" dirty="0"/>
          </a:p>
        </p:txBody>
      </p:sp>
      <p:sp>
        <p:nvSpPr>
          <p:cNvPr id="7" name="Shape 4"/>
          <p:cNvSpPr/>
          <p:nvPr/>
        </p:nvSpPr>
        <p:spPr>
          <a:xfrm>
            <a:off x="7680960" y="1517904"/>
            <a:ext cx="3959352" cy="4160520"/>
          </a:xfrm>
          <a:prstGeom prst="roundRect">
            <a:avLst>
              <a:gd name="adj" fmla="val 1848"/>
            </a:avLst>
          </a:prstGeom>
          <a:solidFill>
            <a:srgbClr val="FEF6E7"/>
          </a:solidFill>
          <a:ln/>
          <a:effectLst>
            <a:outerShdw sx="100000" sy="100000" kx="0" ky="0" algn="bl" rotWithShape="0" blurRad="101600" dist="38100" dir="5400000">
              <a:srgbClr val="0F172A">
                <a:alpha val="10000"/>
              </a:srgbClr>
            </a:outerShdw>
          </a:effectLst>
        </p:spPr>
      </p:sp>
      <p:sp>
        <p:nvSpPr>
          <p:cNvPr id="8" name="Shape 5"/>
          <p:cNvSpPr/>
          <p:nvPr/>
        </p:nvSpPr>
        <p:spPr>
          <a:xfrm>
            <a:off x="7882128" y="1719072"/>
            <a:ext cx="548640" cy="548640"/>
          </a:xfrm>
          <a:prstGeom prst="oval">
            <a:avLst/>
          </a:prstGeom>
          <a:solidFill>
            <a:srgbClr val="FFFFFF"/>
          </a:solidFill>
          <a:ln/>
        </p:spPr>
      </p:sp>
      <p:pic>
        <p:nvPicPr>
          <p:cNvPr id="9" name="Image 1" descr="preencoded.png">    </p:cNvPr>
          <p:cNvPicPr>
            <a:picLocks noChangeAspect="1"/>
          </p:cNvPicPr>
          <p:nvPr/>
        </p:nvPicPr>
        <p:blipFill>
          <a:blip r:embed="rId2"/>
          <a:stretch>
            <a:fillRect/>
          </a:stretch>
        </p:blipFill>
        <p:spPr>
          <a:xfrm>
            <a:off x="8002829" y="1839773"/>
            <a:ext cx="307238" cy="307238"/>
          </a:xfrm>
          <a:prstGeom prst="rect">
            <a:avLst/>
          </a:prstGeom>
        </p:spPr>
      </p:pic>
      <p:sp>
        <p:nvSpPr>
          <p:cNvPr id="10" name="Text 6"/>
          <p:cNvSpPr/>
          <p:nvPr/>
        </p:nvSpPr>
        <p:spPr>
          <a:xfrm>
            <a:off x="8549640" y="1737360"/>
            <a:ext cx="3017520" cy="502920"/>
          </a:xfrm>
          <a:prstGeom prst="rect">
            <a:avLst/>
          </a:prstGeom>
          <a:noFill/>
          <a:ln/>
        </p:spPr>
        <p:txBody>
          <a:bodyPr wrap="square" lIns="0" tIns="0" rIns="0" bIns="0" rtlCol="0" anchor="ctr"/>
          <a:lstStyle/>
          <a:p>
            <a:pPr indent="0" marL="0">
              <a:buNone/>
            </a:pPr>
            <a:r>
              <a:rPr lang="en-US" sz="1300" b="1" dirty="0">
                <a:solidFill>
                  <a:srgbClr val="B45309"/>
                </a:solidFill>
                <a:latin typeface="Calibri" pitchFamily="34" charset="0"/>
                <a:ea typeface="Calibri" pitchFamily="34" charset="-122"/>
                <a:cs typeface="Calibri" pitchFamily="34" charset="-120"/>
              </a:rPr>
              <a:t>Gotcha worth its own line</a:t>
            </a:r>
            <a:endParaRPr lang="en-US" sz="1300" dirty="0"/>
          </a:p>
        </p:txBody>
      </p:sp>
      <p:sp>
        <p:nvSpPr>
          <p:cNvPr id="11" name="Text 7"/>
          <p:cNvSpPr/>
          <p:nvPr/>
        </p:nvSpPr>
        <p:spPr>
          <a:xfrm>
            <a:off x="7882128" y="2377440"/>
            <a:ext cx="3611880" cy="3200400"/>
          </a:xfrm>
          <a:prstGeom prst="rect">
            <a:avLst/>
          </a:prstGeom>
          <a:noFill/>
          <a:ln/>
        </p:spPr>
        <p:txBody>
          <a:bodyPr wrap="square" lIns="0" tIns="0" rIns="0" bIns="0" rtlCol="0" anchor="t"/>
          <a:lstStyle/>
          <a:p>
            <a:pPr indent="0" marL="0">
              <a:lnSpc>
                <a:spcPct val="110000"/>
              </a:lnSpc>
              <a:buNone/>
            </a:pPr>
            <a:r>
              <a:rPr lang="en-US" sz="1200" dirty="0">
                <a:solidFill>
                  <a:srgbClr val="0F172A"/>
                </a:solidFill>
              </a:rPr>
              <a:t>In 1.42.0 the stream yields </a:t>
            </a:r>
            <a:pPr indent="0" marL="0">
              <a:lnSpc>
                <a:spcPct val="110000"/>
              </a:lnSpc>
              <a:buNone/>
            </a:pPr>
            <a:r>
              <a:rPr lang="en-US" sz="1100" dirty="0">
                <a:solidFill>
                  <a:srgbClr val="B45309"/>
                </a:solidFill>
                <a:latin typeface="Courier New" pitchFamily="34" charset="0"/>
                <a:ea typeface="Courier New" pitchFamily="34" charset="-122"/>
                <a:cs typeface="Courier New" pitchFamily="34" charset="-120"/>
              </a:rPr>
              <a:t>{"type":"a2a_stream", ...}</a:t>
            </a:r>
            <a:pPr indent="0" marL="0">
              <a:lnSpc>
                <a:spcPct val="110000"/>
              </a:lnSpc>
              <a:buNone/>
            </a:pPr>
            <a:r>
              <a:rPr lang="en-US" sz="1200" dirty="0">
                <a:solidFill>
                  <a:srgbClr val="0F172A"/>
                </a:solidFill>
              </a:rPr>
              <a:t> events, then a final </a:t>
            </a:r>
            <a:pPr indent="0" marL="0">
              <a:lnSpc>
                <a:spcPct val="110000"/>
              </a:lnSpc>
              <a:buNone/>
            </a:pPr>
            <a:r>
              <a:rPr lang="en-US" sz="1100" dirty="0">
                <a:solidFill>
                  <a:srgbClr val="B45309"/>
                </a:solidFill>
                <a:latin typeface="Courier New" pitchFamily="34" charset="0"/>
                <a:ea typeface="Courier New" pitchFamily="34" charset="-122"/>
                <a:cs typeface="Courier New" pitchFamily="34" charset="-120"/>
              </a:rPr>
              <a:t>{"result": ...}</a:t>
            </a:r>
            <a:pPr indent="0" marL="0">
              <a:lnSpc>
                <a:spcPct val="110000"/>
              </a:lnSpc>
              <a:buNone/>
            </a:pPr>
            <a:r>
              <a:rPr lang="en-US" sz="1200" dirty="0">
                <a:solidFill>
                  <a:srgbClr val="0F172A"/>
                </a:solidFill>
              </a:rPr>
              <a:t>.</a:t>
            </a:r>
            <a:endParaRPr lang="en-US" sz="1200" dirty="0"/>
          </a:p>
          <a:p>
            <a:pPr indent="0" marL="0">
              <a:lnSpc>
                <a:spcPct val="110000"/>
              </a:lnSpc>
              <a:buNone/>
            </a:pPr>
            <a:endParaRPr lang="en-US" sz="1200" dirty="0"/>
          </a:p>
          <a:p>
            <a:pPr indent="0" marL="0">
              <a:lnSpc>
                <a:spcPct val="110000"/>
              </a:lnSpc>
              <a:buNone/>
            </a:pPr>
            <a:r>
              <a:rPr lang="en-US" sz="1200" dirty="0">
                <a:solidFill>
                  <a:srgbClr val="0F172A"/>
                </a:solidFill>
              </a:rPr>
              <a:t>Older blog snippets that read </a:t>
            </a:r>
            <a:endParaRPr lang="en-US" sz="1200" dirty="0"/>
          </a:p>
          <a:p>
            <a:pPr indent="0" marL="0">
              <a:lnSpc>
                <a:spcPct val="110000"/>
              </a:lnSpc>
              <a:buNone/>
            </a:pPr>
            <a:r>
              <a:rPr lang="en-US" sz="1100" dirty="0">
                <a:solidFill>
                  <a:srgbClr val="B91C1C"/>
                </a:solidFill>
                <a:latin typeface="Courier New" pitchFamily="34" charset="0"/>
                <a:ea typeface="Courier New" pitchFamily="34" charset="-122"/>
                <a:cs typeface="Courier New" pitchFamily="34" charset="-120"/>
              </a:rPr>
              <a:t>event["data"]</a:t>
            </a:r>
            <a:pPr indent="0" marL="0">
              <a:lnSpc>
                <a:spcPct val="110000"/>
              </a:lnSpc>
              <a:buNone/>
            </a:pPr>
            <a:r>
              <a:rPr lang="en-US" sz="1200" dirty="0">
                <a:solidFill>
                  <a:srgbClr val="0F172A"/>
                </a:solidFill>
              </a:rPr>
              <a:t> are stale and will silently print nothing. We verified the correct shape by reading the source.</a:t>
            </a:r>
            <a:endParaRPr lang="en-US" sz="1200" dirty="0"/>
          </a:p>
        </p:txBody>
      </p:sp>
      <p:sp>
        <p:nvSpPr>
          <p:cNvPr id="12" name="Text 8"/>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13" name="Text 9"/>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3 · A2A IN STRANDS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Let the orchestrator pick: A2AClientToolProvider</a:t>
            </a:r>
            <a:endParaRPr lang="en-US" sz="2800" dirty="0"/>
          </a:p>
        </p:txBody>
      </p:sp>
      <p:sp>
        <p:nvSpPr>
          <p:cNvPr id="5" name="Shape 2"/>
          <p:cNvSpPr/>
          <p:nvPr/>
        </p:nvSpPr>
        <p:spPr>
          <a:xfrm>
            <a:off x="548640" y="1517904"/>
            <a:ext cx="6126480" cy="2331720"/>
          </a:xfrm>
          <a:prstGeom prst="roundRect">
            <a:avLst>
              <a:gd name="adj" fmla="val 2353"/>
            </a:avLst>
          </a:prstGeom>
          <a:solidFill>
            <a:srgbClr val="0B1220"/>
          </a:solidFill>
          <a:ln/>
          <a:effectLst>
            <a:outerShdw sx="100000" sy="100000" kx="0" ky="0" algn="bl" rotWithShape="0" blurRad="139700" dist="38100" dir="5400000">
              <a:srgbClr val="0F172A">
                <a:alpha val="22000"/>
              </a:srgbClr>
            </a:outerShdw>
          </a:effectLst>
        </p:spPr>
      </p:sp>
      <p:sp>
        <p:nvSpPr>
          <p:cNvPr id="6" name="Text 3"/>
          <p:cNvSpPr/>
          <p:nvPr/>
        </p:nvSpPr>
        <p:spPr>
          <a:xfrm>
            <a:off x="731520" y="1645920"/>
            <a:ext cx="5760720" cy="2075688"/>
          </a:xfrm>
          <a:prstGeom prst="rect">
            <a:avLst/>
          </a:prstGeom>
          <a:noFill/>
          <a:ln/>
        </p:spPr>
        <p:txBody>
          <a:bodyPr wrap="square" lIns="0" tIns="0" rIns="0" bIns="0" rtlCol="0" anchor="t"/>
          <a:lstStyle/>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from strands import Agent</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from strands_tools.a2a_client import A2AClientToolProvider</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provider = A2AClientToolProvider(</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known_agent_urls=["http://127.0.0.1:9000"]   # optional seed list</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orchestrator = Agent(tools=provider.tools)</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orchestrator("Find an agent that can do math and compute 25 * 47")</a:t>
            </a:r>
            <a:endParaRPr lang="en-US" sz="1200" dirty="0"/>
          </a:p>
        </p:txBody>
      </p:sp>
      <p:sp>
        <p:nvSpPr>
          <p:cNvPr id="7" name="Text 4"/>
          <p:cNvSpPr/>
          <p:nvPr/>
        </p:nvSpPr>
        <p:spPr>
          <a:xfrm>
            <a:off x="6766560" y="1517904"/>
            <a:ext cx="484632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It injects exactly three tools into your agent:</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766560" y="1874520"/>
          <a:ext cx="4873752" cy="914400"/>
        </p:xfrm>
        <a:graphic>
          <a:graphicData uri="http://schemas.openxmlformats.org/drawingml/2006/table">
            <a:tbl>
              <a:tblPr/>
              <a:tblGrid>
                <a:gridCol w="2331720"/>
                <a:gridCol w="2542032"/>
              </a:tblGrid>
              <a:tr h="56692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Tool</a:t>
                      </a:r>
                      <a:endParaRPr lang="en-US" sz="10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Job</a:t>
                      </a:r>
                      <a:endParaRPr lang="en-US" sz="10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r>
              <a:tr h="566928">
                <a:tc>
                  <a:txBody>
                    <a:bodyPr/>
                    <a:lstStyle/>
                    <a:p>
                      <a:pPr algn="l" indent="0" marL="0">
                        <a:buNone/>
                      </a:pPr>
                      <a:r>
                        <a:rPr lang="en-US" sz="1050" dirty="0">
                          <a:solidFill>
                            <a:srgbClr val="0F172A"/>
                          </a:solidFill>
                          <a:latin typeface="Calibri" pitchFamily="34" charset="0"/>
                          <a:ea typeface="Calibri" pitchFamily="34" charset="-122"/>
                          <a:cs typeface="Calibri" pitchFamily="34" charset="-120"/>
                        </a:rPr>
                        <a:t>a2a_discover_agent</a:t>
                      </a:r>
                      <a:endParaRPr lang="en-US" sz="10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F172A"/>
                          </a:solidFill>
                          <a:latin typeface="Calibri" pitchFamily="34" charset="0"/>
                          <a:ea typeface="Calibri" pitchFamily="34" charset="-122"/>
                          <a:cs typeface="Calibri" pitchFamily="34" charset="-120"/>
                        </a:rPr>
                        <a:t>Fetch a remote agent's card and capabilities</a:t>
                      </a:r>
                      <a:endParaRPr lang="en-US" sz="10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66928">
                <a:tc>
                  <a:txBody>
                    <a:bodyPr/>
                    <a:lstStyle/>
                    <a:p>
                      <a:pPr algn="l" indent="0" marL="0">
                        <a:buNone/>
                      </a:pPr>
                      <a:r>
                        <a:rPr lang="en-US" sz="1050" dirty="0">
                          <a:solidFill>
                            <a:srgbClr val="0F172A"/>
                          </a:solidFill>
                          <a:latin typeface="Calibri" pitchFamily="34" charset="0"/>
                          <a:ea typeface="Calibri" pitchFamily="34" charset="-122"/>
                          <a:cs typeface="Calibri" pitchFamily="34" charset="-120"/>
                        </a:rPr>
                        <a:t>a2a_list_discovered_agents</a:t>
                      </a:r>
                      <a:endParaRPr lang="en-US" sz="10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050" dirty="0">
                          <a:solidFill>
                            <a:srgbClr val="0F172A"/>
                          </a:solidFill>
                          <a:latin typeface="Calibri" pitchFamily="34" charset="0"/>
                          <a:ea typeface="Calibri" pitchFamily="34" charset="-122"/>
                          <a:cs typeface="Calibri" pitchFamily="34" charset="-120"/>
                        </a:rPr>
                        <a:t>List everything discovered so far</a:t>
                      </a:r>
                      <a:endParaRPr lang="en-US" sz="10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566928">
                <a:tc>
                  <a:txBody>
                    <a:bodyPr/>
                    <a:lstStyle/>
                    <a:p>
                      <a:pPr algn="l" indent="0" marL="0">
                        <a:buNone/>
                      </a:pPr>
                      <a:r>
                        <a:rPr lang="en-US" sz="1050" dirty="0">
                          <a:solidFill>
                            <a:srgbClr val="0F172A"/>
                          </a:solidFill>
                          <a:latin typeface="Calibri" pitchFamily="34" charset="0"/>
                          <a:ea typeface="Calibri" pitchFamily="34" charset="-122"/>
                          <a:cs typeface="Calibri" pitchFamily="34" charset="-120"/>
                        </a:rPr>
                        <a:t>a2a_send_message</a:t>
                      </a:r>
                      <a:endParaRPr lang="en-US" sz="10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F172A"/>
                          </a:solidFill>
                          <a:latin typeface="Calibri" pitchFamily="34" charset="0"/>
                          <a:ea typeface="Calibri" pitchFamily="34" charset="-122"/>
                          <a:cs typeface="Calibri" pitchFamily="34" charset="-120"/>
                        </a:rPr>
                        <a:t>Send a message to a chosen agent, get the reply</a:t>
                      </a:r>
                      <a:endParaRPr lang="en-US" sz="10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4114800"/>
            <a:ext cx="11091672" cy="914400"/>
          </a:xfrm>
          <a:prstGeom prst="roundRect">
            <a:avLst>
              <a:gd name="adj" fmla="val 8000"/>
            </a:avLst>
          </a:prstGeom>
          <a:solidFill>
            <a:srgbClr val="E6FBF6"/>
          </a:solidFill>
          <a:ln/>
          <a:effectLst>
            <a:outerShdw sx="100000" sy="100000" kx="0" ky="0" algn="bl" rotWithShape="0" blurRad="88900" dist="38100" dir="5400000">
              <a:srgbClr val="0F172A">
                <a:alpha val="9000"/>
              </a:srgbClr>
            </a:outerShdw>
          </a:effectLst>
        </p:spPr>
      </p:sp>
      <p:sp>
        <p:nvSpPr>
          <p:cNvPr id="10" name="Text 6"/>
          <p:cNvSpPr/>
          <p:nvPr/>
        </p:nvSpPr>
        <p:spPr>
          <a:xfrm>
            <a:off x="731520" y="4169664"/>
            <a:ext cx="10725912" cy="804672"/>
          </a:xfrm>
          <a:prstGeom prst="rect">
            <a:avLst/>
          </a:prstGeom>
          <a:noFill/>
          <a:ln/>
        </p:spPr>
        <p:txBody>
          <a:bodyPr wrap="square" lIns="0" tIns="0" rIns="0" bIns="0" rtlCol="0" anchor="ctr"/>
          <a:lstStyle/>
          <a:p>
            <a:pPr algn="l" indent="0" marL="0">
              <a:lnSpc>
                <a:spcPct val="104000"/>
              </a:lnSpc>
              <a:buNone/>
            </a:pPr>
            <a:r>
              <a:rPr lang="en-US" sz="1250" b="1" dirty="0">
                <a:solidFill>
                  <a:srgbClr val="0D9488"/>
                </a:solidFill>
                <a:latin typeface="Calibri" pitchFamily="34" charset="0"/>
                <a:ea typeface="Calibri" pitchFamily="34" charset="-122"/>
                <a:cs typeface="Calibri" pitchFamily="34" charset="-120"/>
              </a:rPr>
              <a:t>What this buys you: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the orchestrator reads cards, decides who is fit, and routes, in natural language. Contrast: A2AAgent means you name the agent. ToolProvider means the model names the agent.</a:t>
            </a:r>
            <a:endParaRPr lang="en-US" sz="1250" dirty="0"/>
          </a:p>
        </p:txBody>
      </p:sp>
      <p:sp>
        <p:nvSpPr>
          <p:cNvPr id="11" name="Text 7"/>
          <p:cNvSpPr/>
          <p:nvPr/>
        </p:nvSpPr>
        <p:spPr>
          <a:xfrm>
            <a:off x="548640" y="5166360"/>
            <a:ext cx="10972800" cy="36576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Three tools, verified by introspection of strands-agents-tools 0.8.0.</a:t>
            </a:r>
            <a:endParaRPr lang="en-US" sz="1100" dirty="0"/>
          </a:p>
        </p:txBody>
      </p:sp>
      <p:sp>
        <p:nvSpPr>
          <p:cNvPr id="12" name="Text 8"/>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13" name="Text 9"/>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3 · A2A IN STRANDS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A2AAgent as a tool in your own orchestrator</a:t>
            </a:r>
            <a:endParaRPr lang="en-US" sz="2800" dirty="0"/>
          </a:p>
        </p:txBody>
      </p:sp>
      <p:sp>
        <p:nvSpPr>
          <p:cNvPr id="5" name="Text 2"/>
          <p:cNvSpPr/>
          <p:nvPr/>
        </p:nvSpPr>
        <p:spPr>
          <a:xfrm>
            <a:off x="548640" y="1481328"/>
            <a:ext cx="10972800" cy="32004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When you want explicit control, wrap a known remote agent as a normal tool:</a:t>
            </a:r>
            <a:endParaRPr lang="en-US" sz="1300" dirty="0"/>
          </a:p>
        </p:txBody>
      </p:sp>
      <p:sp>
        <p:nvSpPr>
          <p:cNvPr id="6" name="Shape 3"/>
          <p:cNvSpPr/>
          <p:nvPr/>
        </p:nvSpPr>
        <p:spPr>
          <a:xfrm>
            <a:off x="548640" y="1874520"/>
            <a:ext cx="6858000" cy="3200400"/>
          </a:xfrm>
          <a:prstGeom prst="roundRect">
            <a:avLst>
              <a:gd name="adj" fmla="val 1714"/>
            </a:avLst>
          </a:prstGeom>
          <a:solidFill>
            <a:srgbClr val="0B1220"/>
          </a:solidFill>
          <a:ln/>
          <a:effectLst>
            <a:outerShdw sx="100000" sy="100000" kx="0" ky="0" algn="bl" rotWithShape="0" blurRad="139700" dist="38100" dir="5400000">
              <a:srgbClr val="0F172A">
                <a:alpha val="22000"/>
              </a:srgbClr>
            </a:outerShdw>
          </a:effectLst>
        </p:spPr>
      </p:sp>
      <p:sp>
        <p:nvSpPr>
          <p:cNvPr id="7" name="Text 4"/>
          <p:cNvSpPr/>
          <p:nvPr/>
        </p:nvSpPr>
        <p:spPr>
          <a:xfrm>
            <a:off x="731520" y="2002536"/>
            <a:ext cx="6492240" cy="2944368"/>
          </a:xfrm>
          <a:prstGeom prst="rect">
            <a:avLst/>
          </a:prstGeom>
          <a:noFill/>
          <a:ln/>
        </p:spPr>
        <p:txBody>
          <a:bodyPr wrap="square" lIns="0" tIns="0" rIns="0" bIns="0" rtlCol="0" anchor="t"/>
          <a:lstStyle/>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from strands import Agent, tool</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from strands.agent.a2a_agent import A2AAgent</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calc = A2AAgent(endpoint="http://calculator-service:9000", name="calculator")</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@tool</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def calculate(expression: str) -&gt; str:</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"""Perform a mathematical calculation."""</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return str(calc(expression).message["content"][0]["text"])</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orchestrator = Agent(</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system_prompt="Use the calculate tool for any math.",</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tools=[calculate],</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a:t>
            </a:r>
            <a:endParaRPr lang="en-US" sz="1200" dirty="0"/>
          </a:p>
        </p:txBody>
      </p:sp>
      <p:sp>
        <p:nvSpPr>
          <p:cNvPr id="8" name="Shape 5"/>
          <p:cNvSpPr/>
          <p:nvPr/>
        </p:nvSpPr>
        <p:spPr>
          <a:xfrm>
            <a:off x="7635240" y="1874520"/>
            <a:ext cx="4005072" cy="1508760"/>
          </a:xfrm>
          <a:prstGeom prst="roundRect">
            <a:avLst>
              <a:gd name="adj" fmla="val 4848"/>
            </a:avLst>
          </a:prstGeom>
          <a:solidFill>
            <a:srgbClr val="E6FBF6"/>
          </a:solidFill>
          <a:ln/>
          <a:effectLst>
            <a:outerShdw sx="100000" sy="100000" kx="0" ky="0" algn="bl" rotWithShape="0" blurRad="88900" dist="38100" dir="5400000">
              <a:srgbClr val="0F172A">
                <a:alpha val="9000"/>
              </a:srgbClr>
            </a:outerShdw>
          </a:effectLst>
        </p:spPr>
      </p:sp>
      <p:sp>
        <p:nvSpPr>
          <p:cNvPr id="9" name="Shape 6"/>
          <p:cNvSpPr/>
          <p:nvPr/>
        </p:nvSpPr>
        <p:spPr>
          <a:xfrm>
            <a:off x="7836408" y="2075688"/>
            <a:ext cx="548640" cy="548640"/>
          </a:xfrm>
          <a:prstGeom prst="oval">
            <a:avLst/>
          </a:prstGeom>
          <a:solidFill>
            <a:srgbClr val="FFFFFF"/>
          </a:solidFill>
          <a:ln/>
        </p:spPr>
      </p:sp>
      <p:pic>
        <p:nvPicPr>
          <p:cNvPr id="10" name="Image 1" descr="preencoded.png">    </p:cNvPr>
          <p:cNvPicPr>
            <a:picLocks noChangeAspect="1"/>
          </p:cNvPicPr>
          <p:nvPr/>
        </p:nvPicPr>
        <p:blipFill>
          <a:blip r:embed="rId2"/>
          <a:stretch>
            <a:fillRect/>
          </a:stretch>
        </p:blipFill>
        <p:spPr>
          <a:xfrm>
            <a:off x="7957109" y="2196389"/>
            <a:ext cx="307238" cy="307238"/>
          </a:xfrm>
          <a:prstGeom prst="rect">
            <a:avLst/>
          </a:prstGeom>
        </p:spPr>
      </p:pic>
      <p:sp>
        <p:nvSpPr>
          <p:cNvPr id="11" name="Text 7"/>
          <p:cNvSpPr/>
          <p:nvPr/>
        </p:nvSpPr>
        <p:spPr>
          <a:xfrm>
            <a:off x="8503920" y="2121408"/>
            <a:ext cx="2926080" cy="45720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A2AAgent</a:t>
            </a:r>
            <a:endParaRPr lang="en-US" sz="1300" dirty="0"/>
          </a:p>
        </p:txBody>
      </p:sp>
      <p:sp>
        <p:nvSpPr>
          <p:cNvPr id="12" name="Text 8"/>
          <p:cNvSpPr/>
          <p:nvPr/>
        </p:nvSpPr>
        <p:spPr>
          <a:xfrm>
            <a:off x="7836408" y="2697480"/>
            <a:ext cx="3657600" cy="640080"/>
          </a:xfrm>
          <a:prstGeom prst="rect">
            <a:avLst/>
          </a:prstGeom>
          <a:noFill/>
          <a:ln/>
        </p:spPr>
        <p:txBody>
          <a:bodyPr wrap="square" lIns="0" tIns="0" rIns="0" bIns="0" rtlCol="0" anchor="t"/>
          <a:lstStyle/>
          <a:p>
            <a:pPr indent="0" marL="0">
              <a:lnSpc>
                <a:spcPct val="106000"/>
              </a:lnSpc>
              <a:buNone/>
            </a:pPr>
            <a:r>
              <a:rPr lang="en-US" sz="1200" dirty="0">
                <a:solidFill>
                  <a:srgbClr val="0F172A"/>
                </a:solidFill>
                <a:latin typeface="Calibri" pitchFamily="34" charset="0"/>
                <a:ea typeface="Calibri" pitchFamily="34" charset="-122"/>
                <a:cs typeface="Calibri" pitchFamily="34" charset="-120"/>
              </a:rPr>
              <a:t>“I know exactly which agent, and when.” Fixed topology, deterministic routing.</a:t>
            </a:r>
            <a:endParaRPr lang="en-US" sz="1200" dirty="0"/>
          </a:p>
        </p:txBody>
      </p:sp>
      <p:sp>
        <p:nvSpPr>
          <p:cNvPr id="13" name="Shape 9"/>
          <p:cNvSpPr/>
          <p:nvPr/>
        </p:nvSpPr>
        <p:spPr>
          <a:xfrm>
            <a:off x="7635240" y="3566160"/>
            <a:ext cx="4005072" cy="1508760"/>
          </a:xfrm>
          <a:prstGeom prst="roundRect">
            <a:avLst>
              <a:gd name="adj" fmla="val 4848"/>
            </a:avLst>
          </a:prstGeom>
          <a:solidFill>
            <a:srgbClr val="EEF3FE"/>
          </a:solidFill>
          <a:ln/>
          <a:effectLst>
            <a:outerShdw sx="100000" sy="100000" kx="0" ky="0" algn="bl" rotWithShape="0" blurRad="88900" dist="38100" dir="5400000">
              <a:srgbClr val="0F172A">
                <a:alpha val="9000"/>
              </a:srgbClr>
            </a:outerShdw>
          </a:effectLst>
        </p:spPr>
      </p:sp>
      <p:sp>
        <p:nvSpPr>
          <p:cNvPr id="14" name="Shape 10"/>
          <p:cNvSpPr/>
          <p:nvPr/>
        </p:nvSpPr>
        <p:spPr>
          <a:xfrm>
            <a:off x="7836408" y="3767328"/>
            <a:ext cx="548640" cy="548640"/>
          </a:xfrm>
          <a:prstGeom prst="oval">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7957109" y="3888029"/>
            <a:ext cx="307238" cy="307238"/>
          </a:xfrm>
          <a:prstGeom prst="rect">
            <a:avLst/>
          </a:prstGeom>
        </p:spPr>
      </p:pic>
      <p:sp>
        <p:nvSpPr>
          <p:cNvPr id="16" name="Text 11"/>
          <p:cNvSpPr/>
          <p:nvPr/>
        </p:nvSpPr>
        <p:spPr>
          <a:xfrm>
            <a:off x="8503920" y="3813048"/>
            <a:ext cx="2926080" cy="457200"/>
          </a:xfrm>
          <a:prstGeom prst="rect">
            <a:avLst/>
          </a:prstGeom>
          <a:noFill/>
          <a:ln/>
        </p:spPr>
        <p:txBody>
          <a:bodyPr wrap="square" lIns="0" tIns="0" rIns="0" bIns="0"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ToolProvider</a:t>
            </a:r>
            <a:endParaRPr lang="en-US" sz="1300" dirty="0"/>
          </a:p>
        </p:txBody>
      </p:sp>
      <p:sp>
        <p:nvSpPr>
          <p:cNvPr id="17" name="Text 12"/>
          <p:cNvSpPr/>
          <p:nvPr/>
        </p:nvSpPr>
        <p:spPr>
          <a:xfrm>
            <a:off x="7836408" y="4389120"/>
            <a:ext cx="3657600" cy="640080"/>
          </a:xfrm>
          <a:prstGeom prst="rect">
            <a:avLst/>
          </a:prstGeom>
          <a:noFill/>
          <a:ln/>
        </p:spPr>
        <p:txBody>
          <a:bodyPr wrap="square" lIns="0" tIns="0" rIns="0" bIns="0" rtlCol="0" anchor="t"/>
          <a:lstStyle/>
          <a:p>
            <a:pPr indent="0" marL="0">
              <a:lnSpc>
                <a:spcPct val="106000"/>
              </a:lnSpc>
              <a:buNone/>
            </a:pPr>
            <a:r>
              <a:rPr lang="en-US" sz="1200" dirty="0">
                <a:solidFill>
                  <a:srgbClr val="0F172A"/>
                </a:solidFill>
                <a:latin typeface="Calibri" pitchFamily="34" charset="0"/>
                <a:ea typeface="Calibri" pitchFamily="34" charset="-122"/>
                <a:cs typeface="Calibri" pitchFamily="34" charset="-120"/>
              </a:rPr>
              <a:t>“Let the model decide.” Dynamic discovery and routing. Pick per use case.</a:t>
            </a:r>
            <a:endParaRPr lang="en-US" sz="1200" dirty="0"/>
          </a:p>
        </p:txBody>
      </p:sp>
      <p:sp>
        <p:nvSpPr>
          <p:cNvPr id="18" name="Text 13"/>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19" name="Text 14"/>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3 · A2A IN STRANDS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A2A inside Strands multi-agent patterns</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468880"/>
                <a:gridCol w="3840480"/>
                <a:gridCol w="4782312"/>
              </a:tblGrid>
              <a:tr h="54864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Pattern</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Remote A2A agent supported?</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Use it when</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r>
              <a:tr h="548640">
                <a:tc>
                  <a:txBody>
                    <a:bodyPr/>
                    <a:lstStyle/>
                    <a:p>
                      <a:pPr algn="l" indent="0" marL="0">
                        <a:buNone/>
                      </a:pPr>
                      <a:r>
                        <a:rPr lang="en-US" sz="1250" b="1" dirty="0">
                          <a:solidFill>
                            <a:srgbClr val="0F172A"/>
                          </a:solidFill>
                          <a:latin typeface="Calibri" pitchFamily="34" charset="0"/>
                          <a:ea typeface="Calibri" pitchFamily="34" charset="-122"/>
                          <a:cs typeface="Calibri" pitchFamily="34" charset="-120"/>
                        </a:rPr>
                        <a:t>As a tool</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F172A"/>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Orchestrator calls a fixed remote specialist</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48640">
                <a:tc>
                  <a:txBody>
                    <a:bodyPr/>
                    <a:lstStyle/>
                    <a:p>
                      <a:pPr algn="l" indent="0" marL="0">
                        <a:buNone/>
                      </a:pPr>
                      <a:r>
                        <a:rPr lang="en-US" sz="1250" b="1" dirty="0">
                          <a:solidFill>
                            <a:srgbClr val="0F172A"/>
                          </a:solidFill>
                          <a:latin typeface="Calibri" pitchFamily="34" charset="0"/>
                          <a:ea typeface="Calibri" pitchFamily="34" charset="-122"/>
                          <a:cs typeface="Calibri" pitchFamily="34" charset="-120"/>
                        </a:rPr>
                        <a:t>Graph</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50" dirty="0">
                          <a:solidFill>
                            <a:srgbClr val="0F172A"/>
                          </a:solidFill>
                          <a:latin typeface="Calibri" pitchFamily="34" charset="0"/>
                          <a:ea typeface="Calibri" pitchFamily="34" charset="-122"/>
                          <a:cs typeface="Calibri" pitchFamily="34" charset="-120"/>
                        </a:rPr>
                        <a:t>Yes (Python)</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A deterministic pipeline with one or more remote nodes</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548640">
                <a:tc>
                  <a:txBody>
                    <a:bodyPr/>
                    <a:lstStyle/>
                    <a:p>
                      <a:pPr algn="l" indent="0" marL="0">
                        <a:buNone/>
                      </a:pPr>
                      <a:r>
                        <a:rPr lang="en-US" sz="1250" b="1" dirty="0">
                          <a:solidFill>
                            <a:srgbClr val="0F172A"/>
                          </a:solidFill>
                          <a:latin typeface="Calibri" pitchFamily="34" charset="0"/>
                          <a:ea typeface="Calibri" pitchFamily="34" charset="-122"/>
                          <a:cs typeface="Calibri" pitchFamily="34" charset="-120"/>
                        </a:rPr>
                        <a:t>Swarm</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F172A"/>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handoff needs capabilities A2A does not yet expose</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3611880"/>
            <a:ext cx="11091672" cy="1051560"/>
          </a:xfrm>
          <a:prstGeom prst="roundRect">
            <a:avLst>
              <a:gd name="adj" fmla="val 6957"/>
            </a:avLst>
          </a:prstGeom>
          <a:solidFill>
            <a:srgbClr val="FEF6E7"/>
          </a:solidFill>
          <a:ln/>
          <a:effectLst>
            <a:outerShdw sx="100000" sy="100000" kx="0" ky="0" algn="bl" rotWithShape="0" blurRad="88900" dist="38100" dir="5400000">
              <a:srgbClr val="0F172A">
                <a:alpha val="9000"/>
              </a:srgbClr>
            </a:outerShdw>
          </a:effectLst>
        </p:spPr>
      </p:sp>
      <p:sp>
        <p:nvSpPr>
          <p:cNvPr id="7" name="Text 3"/>
          <p:cNvSpPr/>
          <p:nvPr/>
        </p:nvSpPr>
        <p:spPr>
          <a:xfrm>
            <a:off x="731520" y="3666744"/>
            <a:ext cx="10725912" cy="941832"/>
          </a:xfrm>
          <a:prstGeom prst="rect">
            <a:avLst/>
          </a:prstGeom>
          <a:noFill/>
          <a:ln/>
        </p:spPr>
        <p:txBody>
          <a:bodyPr wrap="square" lIns="0" tIns="0" rIns="0" bIns="0" rtlCol="0" anchor="ctr"/>
          <a:lstStyle/>
          <a:p>
            <a:pPr algn="l" indent="0" marL="0">
              <a:lnSpc>
                <a:spcPct val="104000"/>
              </a:lnSpc>
              <a:buNone/>
            </a:pPr>
            <a:r>
              <a:rPr lang="en-US" sz="1250" b="1" dirty="0">
                <a:solidFill>
                  <a:srgbClr val="B45309"/>
                </a:solidFill>
                <a:latin typeface="Calibri" pitchFamily="34" charset="0"/>
                <a:ea typeface="Calibri" pitchFamily="34" charset="-122"/>
                <a:cs typeface="Calibri" pitchFamily="34" charset="-120"/>
              </a:rPr>
              <a:t>The honest caveat: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you cannot drop a remote A2A agent into a Swarm today. Swarm handoffs rely on shared tool-based control that the A2A wire does not carry. For remote peers, use Graph or the tool pattern.</a:t>
            </a:r>
            <a:endParaRPr lang="en-US" sz="1250" dirty="0"/>
          </a:p>
        </p:txBody>
      </p:sp>
      <p:sp>
        <p:nvSpPr>
          <p:cNvPr id="8" name="Shape 4"/>
          <p:cNvSpPr/>
          <p:nvPr/>
        </p:nvSpPr>
        <p:spPr>
          <a:xfrm>
            <a:off x="548640" y="4800600"/>
            <a:ext cx="11091672" cy="960120"/>
          </a:xfrm>
          <a:prstGeom prst="roundRect">
            <a:avLst>
              <a:gd name="adj" fmla="val 7619"/>
            </a:avLst>
          </a:prstGeom>
          <a:solidFill>
            <a:srgbClr val="F1F5F9"/>
          </a:solidFill>
          <a:ln/>
          <a:effectLst>
            <a:outerShdw sx="100000" sy="100000" kx="0" ky="0" algn="bl" rotWithShape="0" blurRad="88900" dist="38100" dir="5400000">
              <a:srgbClr val="0F172A">
                <a:alpha val="9000"/>
              </a:srgbClr>
            </a:outerShdw>
          </a:effectLst>
        </p:spPr>
      </p:sp>
      <p:sp>
        <p:nvSpPr>
          <p:cNvPr id="9" name="Text 5"/>
          <p:cNvSpPr/>
          <p:nvPr/>
        </p:nvSpPr>
        <p:spPr>
          <a:xfrm>
            <a:off x="731520" y="4855464"/>
            <a:ext cx="10725912" cy="850392"/>
          </a:xfrm>
          <a:prstGeom prst="rect">
            <a:avLst/>
          </a:prstGeom>
          <a:noFill/>
          <a:ln/>
        </p:spPr>
        <p:txBody>
          <a:bodyPr wrap="square" lIns="0" tIns="0" rIns="0" bIns="0" rtlCol="0" anchor="ctr"/>
          <a:lstStyle/>
          <a:p>
            <a:pPr algn="l" indent="0" marL="0">
              <a:lnSpc>
                <a:spcPct val="104000"/>
              </a:lnSpc>
              <a:buNone/>
            </a:pPr>
            <a:r>
              <a:rPr lang="en-US" sz="1250" b="1" dirty="0">
                <a:solidFill>
                  <a:srgbClr val="475569"/>
                </a:solidFill>
                <a:latin typeface="Calibri" pitchFamily="34" charset="0"/>
                <a:ea typeface="Calibri" pitchFamily="34" charset="-122"/>
                <a:cs typeface="Calibri" pitchFamily="34" charset="-120"/>
              </a:rPr>
              <a:t>Skeptic: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“So A2A replaces Swarm and Graph?” No. Those orchestrate agents you own in one process. A2A reaches agents you do not. Different jobs.</a:t>
            </a:r>
            <a:endParaRPr lang="en-US" sz="1250" dirty="0"/>
          </a:p>
        </p:txBody>
      </p:sp>
      <p:sp>
        <p:nvSpPr>
          <p:cNvPr id="10" name="Text 6"/>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11" name="Text 7"/>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2011680" y="4206240"/>
            <a:ext cx="5486400" cy="5486400"/>
          </a:xfrm>
          <a:prstGeom prst="oval">
            <a:avLst/>
          </a:prstGeom>
          <a:solidFill>
            <a:srgbClr val="0D9488">
              <a:alpha val="10000"/>
            </a:srgbClr>
          </a:solidFill>
          <a:ln/>
        </p:spPr>
      </p:sp>
      <p:sp>
        <p:nvSpPr>
          <p:cNvPr id="3" name="Shape 1"/>
          <p:cNvSpPr/>
          <p:nvPr/>
        </p:nvSpPr>
        <p:spPr>
          <a:xfrm>
            <a:off x="8961120" y="-2194560"/>
            <a:ext cx="5943600" cy="5943600"/>
          </a:xfrm>
          <a:prstGeom prst="oval">
            <a:avLst/>
          </a:prstGeom>
          <a:solidFill>
            <a:srgbClr val="2563EB">
              <a:alpha val="8000"/>
            </a:srgbClr>
          </a:solidFill>
          <a:ln/>
        </p:spPr>
      </p:sp>
      <p:pic>
        <p:nvPicPr>
          <p:cNvPr id="4" name="Image 0" descr="preencoded.png">    </p:cNvPr>
          <p:cNvPicPr>
            <a:picLocks noChangeAspect="1"/>
          </p:cNvPicPr>
          <p:nvPr/>
        </p:nvPicPr>
        <p:blipFill>
          <a:blip r:embed="rId1">
            <a:alphaModFix amt="90000"/>
          </a:blip>
          <a:stretch>
            <a:fillRect/>
          </a:stretch>
        </p:blipFill>
        <p:spPr>
          <a:xfrm>
            <a:off x="7955280" y="822960"/>
            <a:ext cx="3931920" cy="4983480"/>
          </a:xfrm>
          <a:prstGeom prst="rect">
            <a:avLst/>
          </a:prstGeom>
        </p:spPr>
      </p:pic>
      <p:sp>
        <p:nvSpPr>
          <p:cNvPr id="5" name="Text 2"/>
          <p:cNvSpPr/>
          <p:nvPr/>
        </p:nvSpPr>
        <p:spPr>
          <a:xfrm>
            <a:off x="548640" y="1737360"/>
            <a:ext cx="2194560" cy="1463040"/>
          </a:xfrm>
          <a:prstGeom prst="rect">
            <a:avLst/>
          </a:prstGeom>
          <a:noFill/>
          <a:ln/>
        </p:spPr>
        <p:txBody>
          <a:bodyPr wrap="square" lIns="0" tIns="0" rIns="0" bIns="0" rtlCol="0" anchor="ctr"/>
          <a:lstStyle/>
          <a:p>
            <a:pPr indent="0" marL="0">
              <a:buNone/>
            </a:pPr>
            <a:r>
              <a:rPr lang="en-US" sz="9600" b="1" dirty="0">
                <a:solidFill>
                  <a:srgbClr val="0D9488"/>
                </a:solidFill>
                <a:latin typeface="Cambria" pitchFamily="34" charset="0"/>
                <a:ea typeface="Cambria" pitchFamily="34" charset="-122"/>
                <a:cs typeface="Cambria" pitchFamily="34" charset="-120"/>
              </a:rPr>
              <a:t>04</a:t>
            </a:r>
            <a:endParaRPr lang="en-US" sz="9600" dirty="0"/>
          </a:p>
        </p:txBody>
      </p:sp>
      <p:sp>
        <p:nvSpPr>
          <p:cNvPr id="6" name="Text 3"/>
          <p:cNvSpPr/>
          <p:nvPr/>
        </p:nvSpPr>
        <p:spPr>
          <a:xfrm>
            <a:off x="566928" y="3246120"/>
            <a:ext cx="86868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Big Decision</a:t>
            </a:r>
            <a:endParaRPr lang="en-US" sz="4000" dirty="0"/>
          </a:p>
        </p:txBody>
      </p:sp>
      <p:sp>
        <p:nvSpPr>
          <p:cNvPr id="7" name="Text 4"/>
          <p:cNvSpPr/>
          <p:nvPr/>
        </p:nvSpPr>
        <p:spPr>
          <a:xfrm>
            <a:off x="566928" y="4206240"/>
            <a:ext cx="7132320" cy="731520"/>
          </a:xfrm>
          <a:prstGeom prst="rect">
            <a:avLst/>
          </a:prstGeom>
          <a:noFill/>
          <a:ln/>
        </p:spPr>
        <p:txBody>
          <a:bodyPr wrap="square" lIns="0" tIns="0" rIns="0" bIns="0" rtlCol="0" anchor="ctr"/>
          <a:lstStyle/>
          <a:p>
            <a:pPr indent="0" marL="0">
              <a:lnSpc>
                <a:spcPct val="110000"/>
              </a:lnSpc>
              <a:buNone/>
            </a:pPr>
            <a:r>
              <a:rPr lang="en-US" sz="1500" dirty="0">
                <a:solidFill>
                  <a:srgbClr val="AAB7C8"/>
                </a:solidFill>
                <a:latin typeface="Calibri" pitchFamily="34" charset="0"/>
                <a:ea typeface="Calibri" pitchFamily="34" charset="-122"/>
                <a:cs typeface="Calibri" pitchFamily="34" charset="-120"/>
              </a:rPr>
              <a:t>When A2A is the right call, when it is the wrong one, and how it sits next to everything else in your toolbox.</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4 · THE BIG DECISION</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Your multi-agent toolbox, all at once</a:t>
            </a:r>
            <a:endParaRPr lang="en-US" sz="2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468880"/>
                <a:gridCol w="3383280"/>
                <a:gridCol w="2743200"/>
                <a:gridCol w="2496312"/>
              </a:tblGrid>
              <a:tr h="45720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Pattern</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Scope</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Coupling</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Picks the next agent</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r>
              <a:tr h="457200">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Agents-as-Tools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One process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Tight</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Orchestrator (you)</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Swarm</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One process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Tight, shared context</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Agents themselves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Graph</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One process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Explicit edges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The graph (deterministic)</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Workflow</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One process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Sequential</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The pipeline</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MCP</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Agent → tool</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Not agents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You</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A2A</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Across processes / frameworks / orgs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Loose, over a wire</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Orchestrator or model</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r>
            </a:tbl>
          </a:graphicData>
        </a:graphic>
      </p:graphicFrame>
      <p:sp>
        <p:nvSpPr>
          <p:cNvPr id="6" name="Shape 2"/>
          <p:cNvSpPr/>
          <p:nvPr/>
        </p:nvSpPr>
        <p:spPr>
          <a:xfrm>
            <a:off x="548640" y="5074920"/>
            <a:ext cx="11091672" cy="822960"/>
          </a:xfrm>
          <a:prstGeom prst="roundRect">
            <a:avLst>
              <a:gd name="adj" fmla="val 8889"/>
            </a:avLst>
          </a:prstGeom>
          <a:solidFill>
            <a:srgbClr val="E6FBF6"/>
          </a:solidFill>
          <a:ln/>
          <a:effectLst>
            <a:outerShdw sx="100000" sy="100000" kx="0" ky="0" algn="bl" rotWithShape="0" blurRad="88900" dist="38100" dir="5400000">
              <a:srgbClr val="0F172A">
                <a:alpha val="9000"/>
              </a:srgbClr>
            </a:outerShdw>
          </a:effectLst>
        </p:spPr>
      </p:sp>
      <p:sp>
        <p:nvSpPr>
          <p:cNvPr id="7" name="Text 3"/>
          <p:cNvSpPr/>
          <p:nvPr/>
        </p:nvSpPr>
        <p:spPr>
          <a:xfrm>
            <a:off x="731520" y="5129784"/>
            <a:ext cx="10725912" cy="713232"/>
          </a:xfrm>
          <a:prstGeom prst="rect">
            <a:avLst/>
          </a:prstGeom>
          <a:noFill/>
          <a:ln/>
        </p:spPr>
        <p:txBody>
          <a:bodyPr wrap="square" lIns="0" tIns="0" rIns="0" bIns="0" rtlCol="0" anchor="ctr"/>
          <a:lstStyle/>
          <a:p>
            <a:pPr algn="l" indent="0" marL="0">
              <a:lnSpc>
                <a:spcPct val="104000"/>
              </a:lnSpc>
              <a:buNone/>
            </a:pPr>
            <a:r>
              <a:rPr lang="en-US" sz="1250" b="1" dirty="0">
                <a:solidFill>
                  <a:srgbClr val="0D9488"/>
                </a:solidFill>
                <a:latin typeface="Calibri" pitchFamily="34" charset="0"/>
                <a:ea typeface="Calibri" pitchFamily="34" charset="-122"/>
                <a:cs typeface="Calibri" pitchFamily="34" charset="-120"/>
              </a:rPr>
              <a:t>One sentence: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the first five live in your codebase. A2A is the one that crosses the wall.</a:t>
            </a:r>
            <a:endParaRPr lang="en-US" sz="1250" dirty="0"/>
          </a:p>
        </p:txBody>
      </p:sp>
      <p:sp>
        <p:nvSpPr>
          <p:cNvPr id="8" name="Text 4"/>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9" name="Text 5"/>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4 · THE BIG DECISION</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THE decision: in-process pattern or A2A?</a:t>
            </a:r>
            <a:endParaRPr lang="en-US" sz="2800" dirty="0"/>
          </a:p>
        </p:txBody>
      </p:sp>
      <p:sp>
        <p:nvSpPr>
          <p:cNvPr id="5" name="Shape 2"/>
          <p:cNvSpPr/>
          <p:nvPr/>
        </p:nvSpPr>
        <p:spPr>
          <a:xfrm>
            <a:off x="484632" y="1399032"/>
            <a:ext cx="7443216" cy="3906528"/>
          </a:xfrm>
          <a:prstGeom prst="roundRect">
            <a:avLst>
              <a:gd name="adj" fmla="val 1404"/>
            </a:avLst>
          </a:prstGeom>
          <a:solidFill>
            <a:srgbClr val="FFFFFF"/>
          </a:solidFill>
          <a:ln/>
          <a:effectLst>
            <a:outerShdw sx="100000" sy="100000" kx="0" ky="0" algn="bl" rotWithShape="0" blurRad="127000" dist="38100" dir="5400000">
              <a:srgbClr val="0F172A">
                <a:alpha val="12000"/>
              </a:srgbClr>
            </a:outerShdw>
          </a:effectLst>
        </p:spPr>
      </p:sp>
      <p:pic>
        <p:nvPicPr>
          <p:cNvPr id="6" name="Image 1" descr="/home/claude/a2a_deck/diagrams/decision_tree.png">    </p:cNvPr>
          <p:cNvPicPr>
            <a:picLocks noChangeAspect="1"/>
          </p:cNvPicPr>
          <p:nvPr/>
        </p:nvPicPr>
        <p:blipFill>
          <a:blip r:embed="rId2"/>
          <a:stretch>
            <a:fillRect/>
          </a:stretch>
        </p:blipFill>
        <p:spPr>
          <a:xfrm>
            <a:off x="548640" y="1463040"/>
            <a:ext cx="7315200" cy="3778512"/>
          </a:xfrm>
          <a:prstGeom prst="rect">
            <a:avLst/>
          </a:prstGeom>
        </p:spPr>
      </p:pic>
      <p:sp>
        <p:nvSpPr>
          <p:cNvPr id="7" name="Shape 3"/>
          <p:cNvSpPr/>
          <p:nvPr/>
        </p:nvSpPr>
        <p:spPr>
          <a:xfrm>
            <a:off x="8092440" y="1517904"/>
            <a:ext cx="3547872" cy="3246120"/>
          </a:xfrm>
          <a:prstGeom prst="roundRect">
            <a:avLst>
              <a:gd name="adj" fmla="val 2254"/>
            </a:avLst>
          </a:prstGeom>
          <a:solidFill>
            <a:srgbClr val="F8FAFC"/>
          </a:solidFill>
          <a:ln/>
          <a:effectLst>
            <a:outerShdw sx="100000" sy="100000" kx="0" ky="0" algn="bl" rotWithShape="0" blurRad="88900" dist="38100" dir="5400000">
              <a:srgbClr val="0F172A">
                <a:alpha val="9000"/>
              </a:srgbClr>
            </a:outerShdw>
          </a:effectLst>
        </p:spPr>
      </p:sp>
      <p:sp>
        <p:nvSpPr>
          <p:cNvPr id="8" name="Shape 4"/>
          <p:cNvSpPr/>
          <p:nvPr/>
        </p:nvSpPr>
        <p:spPr>
          <a:xfrm>
            <a:off x="8293608" y="1719072"/>
            <a:ext cx="548640" cy="548640"/>
          </a:xfrm>
          <a:prstGeom prst="oval">
            <a:avLst/>
          </a:prstGeom>
          <a:solidFill>
            <a:srgbClr val="E6FBF6"/>
          </a:solidFill>
          <a:ln/>
        </p:spPr>
      </p:sp>
      <p:pic>
        <p:nvPicPr>
          <p:cNvPr id="9" name="Image 2" descr="preencoded.png">    </p:cNvPr>
          <p:cNvPicPr>
            <a:picLocks noChangeAspect="1"/>
          </p:cNvPicPr>
          <p:nvPr/>
        </p:nvPicPr>
        <p:blipFill>
          <a:blip r:embed="rId3"/>
          <a:stretch>
            <a:fillRect/>
          </a:stretch>
        </p:blipFill>
        <p:spPr>
          <a:xfrm>
            <a:off x="8414309" y="1839773"/>
            <a:ext cx="307238" cy="307238"/>
          </a:xfrm>
          <a:prstGeom prst="rect">
            <a:avLst/>
          </a:prstGeom>
        </p:spPr>
      </p:pic>
      <p:sp>
        <p:nvSpPr>
          <p:cNvPr id="10" name="Text 5"/>
          <p:cNvSpPr/>
          <p:nvPr/>
        </p:nvSpPr>
        <p:spPr>
          <a:xfrm>
            <a:off x="8961120" y="1755648"/>
            <a:ext cx="2560320" cy="45720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Read it top down</a:t>
            </a:r>
            <a:endParaRPr lang="en-US" sz="1300" dirty="0"/>
          </a:p>
        </p:txBody>
      </p:sp>
      <p:sp>
        <p:nvSpPr>
          <p:cNvPr id="11" name="Text 6"/>
          <p:cNvSpPr/>
          <p:nvPr/>
        </p:nvSpPr>
        <p:spPr>
          <a:xfrm>
            <a:off x="8293608" y="2395728"/>
            <a:ext cx="3200400" cy="2331720"/>
          </a:xfrm>
          <a:prstGeom prst="rect">
            <a:avLst/>
          </a:prstGeom>
          <a:noFill/>
          <a:ln/>
        </p:spPr>
        <p:txBody>
          <a:bodyPr wrap="square" lIns="0" tIns="0" rIns="0" bIns="0" rtlCol="0" anchor="t"/>
          <a:lstStyle/>
          <a:p>
            <a:pPr indent="0" marL="0">
              <a:lnSpc>
                <a:spcPct val="108000"/>
              </a:lnSpc>
              <a:buNone/>
            </a:pPr>
            <a:r>
              <a:rPr lang="en-US" sz="1150" b="1" dirty="0">
                <a:solidFill>
                  <a:srgbClr val="0F172A"/>
                </a:solidFill>
              </a:rPr>
              <a:t>Tool or agent? </a:t>
            </a:r>
            <a:endParaRPr lang="en-US" sz="1150" dirty="0"/>
          </a:p>
          <a:p>
            <a:pPr indent="0" marL="0">
              <a:lnSpc>
                <a:spcPct val="108000"/>
              </a:lnSpc>
              <a:buNone/>
            </a:pPr>
            <a:r>
              <a:rPr lang="en-US" sz="1100" dirty="0">
                <a:solidFill>
                  <a:srgbClr val="475569"/>
                </a:solidFill>
              </a:rPr>
              <a:t>Tool → MCP. Agent → keep going.
</a:t>
            </a:r>
            <a:endParaRPr lang="en-US" sz="1150" dirty="0"/>
          </a:p>
          <a:p>
            <a:pPr indent="0" marL="0">
              <a:lnSpc>
                <a:spcPct val="108000"/>
              </a:lnSpc>
              <a:buNone/>
            </a:pPr>
            <a:r>
              <a:rPr lang="en-US" sz="1150" b="1" dirty="0">
                <a:solidFill>
                  <a:srgbClr val="0F172A"/>
                </a:solidFill>
              </a:rPr>
              <a:t>One codebase you own? </a:t>
            </a:r>
            <a:endParaRPr lang="en-US" sz="1150" dirty="0"/>
          </a:p>
          <a:p>
            <a:pPr indent="0" marL="0">
              <a:lnSpc>
                <a:spcPct val="108000"/>
              </a:lnSpc>
              <a:buNone/>
            </a:pPr>
            <a:r>
              <a:rPr lang="en-US" sz="1100" dirty="0">
                <a:solidFill>
                  <a:srgbClr val="475569"/>
                </a:solidFill>
              </a:rPr>
              <a:t>Yes → Swarm / Graph / Workflow / Agents-as-Tools.
</a:t>
            </a:r>
            <a:endParaRPr lang="en-US" sz="1150" dirty="0"/>
          </a:p>
          <a:p>
            <a:pPr indent="0" marL="0">
              <a:lnSpc>
                <a:spcPct val="108000"/>
              </a:lnSpc>
              <a:buNone/>
            </a:pPr>
            <a:r>
              <a:rPr lang="en-US" sz="1150" b="1" dirty="0">
                <a:solidFill>
                  <a:srgbClr val="0F172A"/>
                </a:solidFill>
              </a:rPr>
              <a:t>Different process / framework / team? </a:t>
            </a:r>
            <a:endParaRPr lang="en-US" sz="1150" dirty="0"/>
          </a:p>
          <a:p>
            <a:pPr indent="0" marL="0">
              <a:lnSpc>
                <a:spcPct val="108000"/>
              </a:lnSpc>
              <a:buNone/>
            </a:pPr>
            <a:r>
              <a:rPr lang="en-US" sz="1100" dirty="0">
                <a:solidFill>
                  <a:srgbClr val="475569"/>
                </a:solidFill>
              </a:rPr>
              <a:t>Yes → A2A.</a:t>
            </a:r>
            <a:endParaRPr lang="en-US" sz="1150" dirty="0"/>
          </a:p>
        </p:txBody>
      </p:sp>
      <p:sp>
        <p:nvSpPr>
          <p:cNvPr id="12" name="Shape 7"/>
          <p:cNvSpPr/>
          <p:nvPr/>
        </p:nvSpPr>
        <p:spPr>
          <a:xfrm>
            <a:off x="548640" y="5349240"/>
            <a:ext cx="11091672" cy="822960"/>
          </a:xfrm>
          <a:prstGeom prst="roundRect">
            <a:avLst>
              <a:gd name="adj" fmla="val 8889"/>
            </a:avLst>
          </a:prstGeom>
          <a:solidFill>
            <a:srgbClr val="FEF6E7"/>
          </a:solidFill>
          <a:ln/>
          <a:effectLst>
            <a:outerShdw sx="100000" sy="100000" kx="0" ky="0" algn="bl" rotWithShape="0" blurRad="88900" dist="38100" dir="5400000">
              <a:srgbClr val="0F172A">
                <a:alpha val="9000"/>
              </a:srgbClr>
            </a:outerShdw>
          </a:effectLst>
        </p:spPr>
      </p:sp>
      <p:sp>
        <p:nvSpPr>
          <p:cNvPr id="13" name="Text 8"/>
          <p:cNvSpPr/>
          <p:nvPr/>
        </p:nvSpPr>
        <p:spPr>
          <a:xfrm>
            <a:off x="731520" y="5404104"/>
            <a:ext cx="10725912" cy="713232"/>
          </a:xfrm>
          <a:prstGeom prst="rect">
            <a:avLst/>
          </a:prstGeom>
          <a:noFill/>
          <a:ln/>
        </p:spPr>
        <p:txBody>
          <a:bodyPr wrap="square" lIns="0" tIns="0" rIns="0" bIns="0" rtlCol="0" anchor="ctr"/>
          <a:lstStyle/>
          <a:p>
            <a:pPr algn="l" indent="0" marL="0">
              <a:lnSpc>
                <a:spcPct val="104000"/>
              </a:lnSpc>
              <a:buNone/>
            </a:pPr>
            <a:r>
              <a:rPr lang="en-US" sz="1250" b="1" dirty="0">
                <a:solidFill>
                  <a:srgbClr val="B45309"/>
                </a:solidFill>
                <a:latin typeface="Calibri" pitchFamily="34" charset="0"/>
                <a:ea typeface="Calibri" pitchFamily="34" charset="-122"/>
                <a:cs typeface="Calibri" pitchFamily="34" charset="-120"/>
              </a:rPr>
              <a:t>Default bias: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stay in-process until a boundary forces you out. The network hop is not free.</a:t>
            </a:r>
            <a:endParaRPr lang="en-US" sz="1250" dirty="0"/>
          </a:p>
        </p:txBody>
      </p:sp>
      <p:sp>
        <p:nvSpPr>
          <p:cNvPr id="14" name="Text 9"/>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15" name="Text 10"/>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Shape 0"/>
          <p:cNvSpPr/>
          <p:nvPr/>
        </p:nvSpPr>
        <p:spPr>
          <a:xfrm>
            <a:off x="10774375" y="365760"/>
            <a:ext cx="548640" cy="548640"/>
          </a:xfrm>
          <a:prstGeom prst="oval">
            <a:avLst/>
          </a:prstGeom>
          <a:solidFill>
            <a:srgbClr val="E7F7ED"/>
          </a:solidFill>
          <a:ln/>
        </p:spPr>
      </p:sp>
      <p:pic>
        <p:nvPicPr>
          <p:cNvPr id="4" name="Image 1" descr="preencoded.png">    </p:cNvPr>
          <p:cNvPicPr>
            <a:picLocks noChangeAspect="1"/>
          </p:cNvPicPr>
          <p:nvPr/>
        </p:nvPicPr>
        <p:blipFill>
          <a:blip r:embed="rId2"/>
          <a:stretch>
            <a:fillRect/>
          </a:stretch>
        </p:blipFill>
        <p:spPr>
          <a:xfrm>
            <a:off x="10895076" y="486461"/>
            <a:ext cx="307238" cy="307238"/>
          </a:xfrm>
          <a:prstGeom prst="rect">
            <a:avLst/>
          </a:prstGeom>
        </p:spPr>
      </p:pic>
      <p:sp>
        <p:nvSpPr>
          <p:cNvPr id="5" name="Text 1"/>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4 · THE BIG DECISION</a:t>
            </a:r>
            <a:endParaRPr lang="en-US" sz="1200" dirty="0"/>
          </a:p>
        </p:txBody>
      </p:sp>
      <p:sp>
        <p:nvSpPr>
          <p:cNvPr id="6" name="Text 2"/>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When A2A is the right call</a:t>
            </a:r>
            <a:endParaRPr lang="en-US" sz="2800" dirty="0"/>
          </a:p>
        </p:txBody>
      </p:sp>
      <p:sp>
        <p:nvSpPr>
          <p:cNvPr id="7" name="Shape 3"/>
          <p:cNvSpPr/>
          <p:nvPr/>
        </p:nvSpPr>
        <p:spPr>
          <a:xfrm>
            <a:off x="548640" y="1517904"/>
            <a:ext cx="5362956" cy="1691640"/>
          </a:xfrm>
          <a:prstGeom prst="roundRect">
            <a:avLst>
              <a:gd name="adj" fmla="val 4324"/>
            </a:avLst>
          </a:prstGeom>
          <a:solidFill>
            <a:srgbClr val="F8FAFC"/>
          </a:solidFill>
          <a:ln/>
          <a:effectLst>
            <a:outerShdw sx="100000" sy="100000" kx="0" ky="0" algn="bl" rotWithShape="0" blurRad="101600" dist="38100" dir="5400000">
              <a:srgbClr val="0F172A">
                <a:alpha val="10000"/>
              </a:srgbClr>
            </a:outerShdw>
          </a:effectLst>
        </p:spPr>
      </p:sp>
      <p:sp>
        <p:nvSpPr>
          <p:cNvPr id="8" name="Shape 4"/>
          <p:cNvSpPr/>
          <p:nvPr/>
        </p:nvSpPr>
        <p:spPr>
          <a:xfrm>
            <a:off x="768096" y="1737360"/>
            <a:ext cx="603504" cy="603504"/>
          </a:xfrm>
          <a:prstGeom prst="oval">
            <a:avLst/>
          </a:prstGeom>
          <a:solidFill>
            <a:srgbClr val="E6FBF6"/>
          </a:solidFill>
          <a:ln/>
        </p:spPr>
      </p:sp>
      <p:pic>
        <p:nvPicPr>
          <p:cNvPr id="9" name="Image 2" descr="preencoded.png">    </p:cNvPr>
          <p:cNvPicPr>
            <a:picLocks noChangeAspect="1"/>
          </p:cNvPicPr>
          <p:nvPr/>
        </p:nvPicPr>
        <p:blipFill>
          <a:blip r:embed="rId3"/>
          <a:stretch>
            <a:fillRect/>
          </a:stretch>
        </p:blipFill>
        <p:spPr>
          <a:xfrm>
            <a:off x="900867" y="1870131"/>
            <a:ext cx="337962" cy="337962"/>
          </a:xfrm>
          <a:prstGeom prst="rect">
            <a:avLst/>
          </a:prstGeom>
        </p:spPr>
      </p:pic>
      <p:sp>
        <p:nvSpPr>
          <p:cNvPr id="10" name="Text 5"/>
          <p:cNvSpPr/>
          <p:nvPr/>
        </p:nvSpPr>
        <p:spPr>
          <a:xfrm>
            <a:off x="768096" y="2468880"/>
            <a:ext cx="4924044"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Cross-team ownership</a:t>
            </a:r>
            <a:endParaRPr lang="en-US" sz="1400" dirty="0"/>
          </a:p>
        </p:txBody>
      </p:sp>
      <p:sp>
        <p:nvSpPr>
          <p:cNvPr id="11" name="Text 6"/>
          <p:cNvSpPr/>
          <p:nvPr/>
        </p:nvSpPr>
        <p:spPr>
          <a:xfrm>
            <a:off x="768096" y="2852928"/>
            <a:ext cx="4924044" cy="21031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Payments owns the refund agent, Support owns TravelMind. Each ships on its own schedule. A2A integrates them without sharing a repo.</a:t>
            </a:r>
            <a:endParaRPr lang="en-US" sz="1150" dirty="0"/>
          </a:p>
        </p:txBody>
      </p:sp>
      <p:sp>
        <p:nvSpPr>
          <p:cNvPr id="12" name="Shape 7"/>
          <p:cNvSpPr/>
          <p:nvPr/>
        </p:nvSpPr>
        <p:spPr>
          <a:xfrm>
            <a:off x="6277356" y="1517904"/>
            <a:ext cx="5362956" cy="1691640"/>
          </a:xfrm>
          <a:prstGeom prst="roundRect">
            <a:avLst>
              <a:gd name="adj" fmla="val 4324"/>
            </a:avLst>
          </a:prstGeom>
          <a:solidFill>
            <a:srgbClr val="F8FAFC"/>
          </a:solidFill>
          <a:ln/>
          <a:effectLst>
            <a:outerShdw sx="100000" sy="100000" kx="0" ky="0" algn="bl" rotWithShape="0" blurRad="101600" dist="38100" dir="5400000">
              <a:srgbClr val="0F172A">
                <a:alpha val="10000"/>
              </a:srgbClr>
            </a:outerShdw>
          </a:effectLst>
        </p:spPr>
      </p:sp>
      <p:sp>
        <p:nvSpPr>
          <p:cNvPr id="13" name="Shape 8"/>
          <p:cNvSpPr/>
          <p:nvPr/>
        </p:nvSpPr>
        <p:spPr>
          <a:xfrm>
            <a:off x="6496812" y="1737360"/>
            <a:ext cx="603504" cy="603504"/>
          </a:xfrm>
          <a:prstGeom prst="oval">
            <a:avLst/>
          </a:prstGeom>
          <a:solidFill>
            <a:srgbClr val="E6FBF6"/>
          </a:solidFill>
          <a:ln/>
        </p:spPr>
      </p:sp>
      <p:pic>
        <p:nvPicPr>
          <p:cNvPr id="14" name="Image 3" descr="preencoded.png">    </p:cNvPr>
          <p:cNvPicPr>
            <a:picLocks noChangeAspect="1"/>
          </p:cNvPicPr>
          <p:nvPr/>
        </p:nvPicPr>
        <p:blipFill>
          <a:blip r:embed="rId4"/>
          <a:stretch>
            <a:fillRect/>
          </a:stretch>
        </p:blipFill>
        <p:spPr>
          <a:xfrm>
            <a:off x="6629583" y="1870131"/>
            <a:ext cx="337962" cy="337962"/>
          </a:xfrm>
          <a:prstGeom prst="rect">
            <a:avLst/>
          </a:prstGeom>
        </p:spPr>
      </p:pic>
      <p:sp>
        <p:nvSpPr>
          <p:cNvPr id="15" name="Text 9"/>
          <p:cNvSpPr/>
          <p:nvPr/>
        </p:nvSpPr>
        <p:spPr>
          <a:xfrm>
            <a:off x="6496812" y="2468880"/>
            <a:ext cx="4924044"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Cross-framework</a:t>
            </a:r>
            <a:endParaRPr lang="en-US" sz="1400" dirty="0"/>
          </a:p>
        </p:txBody>
      </p:sp>
      <p:sp>
        <p:nvSpPr>
          <p:cNvPr id="16" name="Text 10"/>
          <p:cNvSpPr/>
          <p:nvPr/>
        </p:nvSpPr>
        <p:spPr>
          <a:xfrm>
            <a:off x="6496812" y="2852928"/>
            <a:ext cx="4924044" cy="21031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Your Strands agent must call a partner's LangGraph or Google ADK agent. A2A is the only thing they both speak.</a:t>
            </a:r>
            <a:endParaRPr lang="en-US" sz="1150" dirty="0"/>
          </a:p>
        </p:txBody>
      </p:sp>
      <p:sp>
        <p:nvSpPr>
          <p:cNvPr id="17" name="Shape 11"/>
          <p:cNvSpPr/>
          <p:nvPr/>
        </p:nvSpPr>
        <p:spPr>
          <a:xfrm>
            <a:off x="548640" y="3346704"/>
            <a:ext cx="5362956" cy="1691640"/>
          </a:xfrm>
          <a:prstGeom prst="roundRect">
            <a:avLst>
              <a:gd name="adj" fmla="val 4324"/>
            </a:avLst>
          </a:prstGeom>
          <a:solidFill>
            <a:srgbClr val="F8FAFC"/>
          </a:solidFill>
          <a:ln/>
          <a:effectLst>
            <a:outerShdw sx="100000" sy="100000" kx="0" ky="0" algn="bl" rotWithShape="0" blurRad="101600" dist="38100" dir="5400000">
              <a:srgbClr val="0F172A">
                <a:alpha val="10000"/>
              </a:srgbClr>
            </a:outerShdw>
          </a:effectLst>
        </p:spPr>
      </p:sp>
      <p:sp>
        <p:nvSpPr>
          <p:cNvPr id="18" name="Shape 12"/>
          <p:cNvSpPr/>
          <p:nvPr/>
        </p:nvSpPr>
        <p:spPr>
          <a:xfrm>
            <a:off x="768096" y="3566160"/>
            <a:ext cx="603504" cy="603504"/>
          </a:xfrm>
          <a:prstGeom prst="oval">
            <a:avLst/>
          </a:prstGeom>
          <a:solidFill>
            <a:srgbClr val="E6FBF6"/>
          </a:solidFill>
          <a:ln/>
        </p:spPr>
      </p:sp>
      <p:pic>
        <p:nvPicPr>
          <p:cNvPr id="19" name="Image 4" descr="preencoded.png">    </p:cNvPr>
          <p:cNvPicPr>
            <a:picLocks noChangeAspect="1"/>
          </p:cNvPicPr>
          <p:nvPr/>
        </p:nvPicPr>
        <p:blipFill>
          <a:blip r:embed="rId5"/>
          <a:stretch>
            <a:fillRect/>
          </a:stretch>
        </p:blipFill>
        <p:spPr>
          <a:xfrm>
            <a:off x="900867" y="3698931"/>
            <a:ext cx="337962" cy="337962"/>
          </a:xfrm>
          <a:prstGeom prst="rect">
            <a:avLst/>
          </a:prstGeom>
        </p:spPr>
      </p:pic>
      <p:sp>
        <p:nvSpPr>
          <p:cNvPr id="20" name="Text 13"/>
          <p:cNvSpPr/>
          <p:nvPr/>
        </p:nvSpPr>
        <p:spPr>
          <a:xfrm>
            <a:off x="768096" y="4297680"/>
            <a:ext cx="4924044"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Independent lifecycle and scale</a:t>
            </a:r>
            <a:endParaRPr lang="en-US" sz="1400" dirty="0"/>
          </a:p>
        </p:txBody>
      </p:sp>
      <p:sp>
        <p:nvSpPr>
          <p:cNvPr id="21" name="Text 14"/>
          <p:cNvSpPr/>
          <p:nvPr/>
        </p:nvSpPr>
        <p:spPr>
          <a:xfrm>
            <a:off x="768096" y="4681728"/>
            <a:ext cx="4924044" cy="21031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The fraud agent gets 100x your traffic and scales alone. Separate deploy, separate autoscaling, one contract.</a:t>
            </a:r>
            <a:endParaRPr lang="en-US" sz="1150" dirty="0"/>
          </a:p>
        </p:txBody>
      </p:sp>
      <p:sp>
        <p:nvSpPr>
          <p:cNvPr id="22" name="Shape 15"/>
          <p:cNvSpPr/>
          <p:nvPr/>
        </p:nvSpPr>
        <p:spPr>
          <a:xfrm>
            <a:off x="6277356" y="3346704"/>
            <a:ext cx="5362956" cy="1691640"/>
          </a:xfrm>
          <a:prstGeom prst="roundRect">
            <a:avLst>
              <a:gd name="adj" fmla="val 4324"/>
            </a:avLst>
          </a:prstGeom>
          <a:solidFill>
            <a:srgbClr val="F8FAFC"/>
          </a:solidFill>
          <a:ln/>
          <a:effectLst>
            <a:outerShdw sx="100000" sy="100000" kx="0" ky="0" algn="bl" rotWithShape="0" blurRad="101600" dist="38100" dir="5400000">
              <a:srgbClr val="0F172A">
                <a:alpha val="10000"/>
              </a:srgbClr>
            </a:outerShdw>
          </a:effectLst>
        </p:spPr>
      </p:sp>
      <p:sp>
        <p:nvSpPr>
          <p:cNvPr id="23" name="Shape 16"/>
          <p:cNvSpPr/>
          <p:nvPr/>
        </p:nvSpPr>
        <p:spPr>
          <a:xfrm>
            <a:off x="6496812" y="3566160"/>
            <a:ext cx="603504" cy="603504"/>
          </a:xfrm>
          <a:prstGeom prst="oval">
            <a:avLst/>
          </a:prstGeom>
          <a:solidFill>
            <a:srgbClr val="E6FBF6"/>
          </a:solidFill>
          <a:ln/>
        </p:spPr>
      </p:sp>
      <p:pic>
        <p:nvPicPr>
          <p:cNvPr id="24" name="Image 5" descr="preencoded.png">    </p:cNvPr>
          <p:cNvPicPr>
            <a:picLocks noChangeAspect="1"/>
          </p:cNvPicPr>
          <p:nvPr/>
        </p:nvPicPr>
        <p:blipFill>
          <a:blip r:embed="rId6"/>
          <a:stretch>
            <a:fillRect/>
          </a:stretch>
        </p:blipFill>
        <p:spPr>
          <a:xfrm>
            <a:off x="6629583" y="3698931"/>
            <a:ext cx="337962" cy="337962"/>
          </a:xfrm>
          <a:prstGeom prst="rect">
            <a:avLst/>
          </a:prstGeom>
        </p:spPr>
      </p:pic>
      <p:sp>
        <p:nvSpPr>
          <p:cNvPr id="25" name="Text 17"/>
          <p:cNvSpPr/>
          <p:nvPr/>
        </p:nvSpPr>
        <p:spPr>
          <a:xfrm>
            <a:off x="6496812" y="4297680"/>
            <a:ext cx="4924044"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Agent marketplace / discovery</a:t>
            </a:r>
            <a:endParaRPr lang="en-US" sz="1400" dirty="0"/>
          </a:p>
        </p:txBody>
      </p:sp>
      <p:sp>
        <p:nvSpPr>
          <p:cNvPr id="26" name="Text 18"/>
          <p:cNvSpPr/>
          <p:nvPr/>
        </p:nvSpPr>
        <p:spPr>
          <a:xfrm>
            <a:off x="6496812" y="4681728"/>
            <a:ext cx="4924044" cy="21031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Add a vendor's agent by URL, read its card, use it. No SDK coupling at all.</a:t>
            </a:r>
            <a:endParaRPr lang="en-US" sz="1150" dirty="0"/>
          </a:p>
        </p:txBody>
      </p:sp>
      <p:sp>
        <p:nvSpPr>
          <p:cNvPr id="27" name="Shape 19"/>
          <p:cNvSpPr/>
          <p:nvPr/>
        </p:nvSpPr>
        <p:spPr>
          <a:xfrm>
            <a:off x="548640" y="5230368"/>
            <a:ext cx="11091672" cy="822960"/>
          </a:xfrm>
          <a:prstGeom prst="roundRect">
            <a:avLst>
              <a:gd name="adj" fmla="val 8889"/>
            </a:avLst>
          </a:prstGeom>
          <a:solidFill>
            <a:srgbClr val="E7F7ED"/>
          </a:solidFill>
          <a:ln/>
          <a:effectLst>
            <a:outerShdw sx="100000" sy="100000" kx="0" ky="0" algn="bl" rotWithShape="0" blurRad="88900" dist="38100" dir="5400000">
              <a:srgbClr val="0F172A">
                <a:alpha val="9000"/>
              </a:srgbClr>
            </a:outerShdw>
          </a:effectLst>
        </p:spPr>
      </p:sp>
      <p:sp>
        <p:nvSpPr>
          <p:cNvPr id="28" name="Text 20"/>
          <p:cNvSpPr/>
          <p:nvPr/>
        </p:nvSpPr>
        <p:spPr>
          <a:xfrm>
            <a:off x="731520" y="5285232"/>
            <a:ext cx="10725912" cy="713232"/>
          </a:xfrm>
          <a:prstGeom prst="rect">
            <a:avLst/>
          </a:prstGeom>
          <a:noFill/>
          <a:ln/>
        </p:spPr>
        <p:txBody>
          <a:bodyPr wrap="square" lIns="0" tIns="0" rIns="0" bIns="0" rtlCol="0" anchor="ctr"/>
          <a:lstStyle/>
          <a:p>
            <a:pPr algn="l" indent="0" marL="0">
              <a:lnSpc>
                <a:spcPct val="104000"/>
              </a:lnSpc>
              <a:buNone/>
            </a:pPr>
            <a:r>
              <a:rPr lang="en-US" sz="1250" b="1" dirty="0">
                <a:solidFill>
                  <a:srgbClr val="15803D"/>
                </a:solidFill>
                <a:latin typeface="Calibri" pitchFamily="34" charset="0"/>
                <a:ea typeface="Calibri" pitchFamily="34" charset="-122"/>
                <a:cs typeface="Calibri" pitchFamily="34" charset="-120"/>
              </a:rPr>
              <a:t>Common thread: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a boundary you do not control, whether team, framework, deploy or org, sits between the agents.</a:t>
            </a:r>
            <a:endParaRPr lang="en-US" sz="1250" dirty="0"/>
          </a:p>
        </p:txBody>
      </p:sp>
      <p:sp>
        <p:nvSpPr>
          <p:cNvPr id="29" name="Text 21"/>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30" name="Text 22"/>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Shape 0"/>
          <p:cNvSpPr/>
          <p:nvPr/>
        </p:nvSpPr>
        <p:spPr>
          <a:xfrm>
            <a:off x="10774375" y="365760"/>
            <a:ext cx="548640" cy="548640"/>
          </a:xfrm>
          <a:prstGeom prst="oval">
            <a:avLst/>
          </a:prstGeom>
          <a:solidFill>
            <a:srgbClr val="FDECEC"/>
          </a:solidFill>
          <a:ln/>
        </p:spPr>
      </p:sp>
      <p:pic>
        <p:nvPicPr>
          <p:cNvPr id="4" name="Image 1" descr="preencoded.png">    </p:cNvPr>
          <p:cNvPicPr>
            <a:picLocks noChangeAspect="1"/>
          </p:cNvPicPr>
          <p:nvPr/>
        </p:nvPicPr>
        <p:blipFill>
          <a:blip r:embed="rId2"/>
          <a:stretch>
            <a:fillRect/>
          </a:stretch>
        </p:blipFill>
        <p:spPr>
          <a:xfrm>
            <a:off x="10895076" y="486461"/>
            <a:ext cx="307238" cy="307238"/>
          </a:xfrm>
          <a:prstGeom prst="rect">
            <a:avLst/>
          </a:prstGeom>
        </p:spPr>
      </p:pic>
      <p:sp>
        <p:nvSpPr>
          <p:cNvPr id="5" name="Text 1"/>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4 · THE BIG DECISION</a:t>
            </a:r>
            <a:endParaRPr lang="en-US" sz="1200" dirty="0"/>
          </a:p>
        </p:txBody>
      </p:sp>
      <p:sp>
        <p:nvSpPr>
          <p:cNvPr id="6" name="Text 2"/>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When A2A is the wrong call</a:t>
            </a:r>
            <a:endParaRPr lang="en-US" sz="2800" dirty="0"/>
          </a:p>
        </p:txBody>
      </p:sp>
      <p:sp>
        <p:nvSpPr>
          <p:cNvPr id="7" name="Shape 3"/>
          <p:cNvSpPr/>
          <p:nvPr/>
        </p:nvSpPr>
        <p:spPr>
          <a:xfrm>
            <a:off x="548640" y="1517904"/>
            <a:ext cx="3483864" cy="2331720"/>
          </a:xfrm>
          <a:prstGeom prst="roundRect">
            <a:avLst>
              <a:gd name="adj" fmla="val 3137"/>
            </a:avLst>
          </a:prstGeom>
          <a:solidFill>
            <a:srgbClr val="F8FAFC"/>
          </a:solidFill>
          <a:ln/>
          <a:effectLst>
            <a:outerShdw sx="100000" sy="100000" kx="0" ky="0" algn="bl" rotWithShape="0" blurRad="101600" dist="38100" dir="5400000">
              <a:srgbClr val="0F172A">
                <a:alpha val="10000"/>
              </a:srgbClr>
            </a:outerShdw>
          </a:effectLst>
        </p:spPr>
      </p:sp>
      <p:sp>
        <p:nvSpPr>
          <p:cNvPr id="8" name="Shape 4"/>
          <p:cNvSpPr/>
          <p:nvPr/>
        </p:nvSpPr>
        <p:spPr>
          <a:xfrm>
            <a:off x="768096" y="1737360"/>
            <a:ext cx="603504" cy="603504"/>
          </a:xfrm>
          <a:prstGeom prst="oval">
            <a:avLst/>
          </a:prstGeom>
          <a:solidFill>
            <a:srgbClr val="FDECEC"/>
          </a:solidFill>
          <a:ln/>
        </p:spPr>
      </p:sp>
      <p:pic>
        <p:nvPicPr>
          <p:cNvPr id="9" name="Image 2" descr="preencoded.png">    </p:cNvPr>
          <p:cNvPicPr>
            <a:picLocks noChangeAspect="1"/>
          </p:cNvPicPr>
          <p:nvPr/>
        </p:nvPicPr>
        <p:blipFill>
          <a:blip r:embed="rId3"/>
          <a:stretch>
            <a:fillRect/>
          </a:stretch>
        </p:blipFill>
        <p:spPr>
          <a:xfrm>
            <a:off x="900867" y="1870131"/>
            <a:ext cx="337962" cy="337962"/>
          </a:xfrm>
          <a:prstGeom prst="rect">
            <a:avLst/>
          </a:prstGeom>
        </p:spPr>
      </p:pic>
      <p:sp>
        <p:nvSpPr>
          <p:cNvPr id="10" name="Text 5"/>
          <p:cNvSpPr/>
          <p:nvPr/>
        </p:nvSpPr>
        <p:spPr>
          <a:xfrm>
            <a:off x="768096" y="2468880"/>
            <a:ext cx="304495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One codebase you control</a:t>
            </a:r>
            <a:endParaRPr lang="en-US" sz="1400" dirty="0"/>
          </a:p>
        </p:txBody>
      </p:sp>
      <p:sp>
        <p:nvSpPr>
          <p:cNvPr id="11" name="Text 6"/>
          <p:cNvSpPr/>
          <p:nvPr/>
        </p:nvSpPr>
        <p:spPr>
          <a:xfrm>
            <a:off x="768096" y="2852928"/>
            <a:ext cx="3044952" cy="85039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All agents in the same service. A2A adds a network hop, serialization and auth for zero benefit. Use Agents-as-Tools or Graph.</a:t>
            </a:r>
            <a:endParaRPr lang="en-US" sz="1150" dirty="0"/>
          </a:p>
        </p:txBody>
      </p:sp>
      <p:sp>
        <p:nvSpPr>
          <p:cNvPr id="12" name="Shape 7"/>
          <p:cNvSpPr/>
          <p:nvPr/>
        </p:nvSpPr>
        <p:spPr>
          <a:xfrm>
            <a:off x="4352544" y="1517904"/>
            <a:ext cx="3483864" cy="2331720"/>
          </a:xfrm>
          <a:prstGeom prst="roundRect">
            <a:avLst>
              <a:gd name="adj" fmla="val 3137"/>
            </a:avLst>
          </a:prstGeom>
          <a:solidFill>
            <a:srgbClr val="F8FAFC"/>
          </a:solidFill>
          <a:ln/>
          <a:effectLst>
            <a:outerShdw sx="100000" sy="100000" kx="0" ky="0" algn="bl" rotWithShape="0" blurRad="101600" dist="38100" dir="5400000">
              <a:srgbClr val="0F172A">
                <a:alpha val="10000"/>
              </a:srgbClr>
            </a:outerShdw>
          </a:effectLst>
        </p:spPr>
      </p:sp>
      <p:sp>
        <p:nvSpPr>
          <p:cNvPr id="13" name="Shape 8"/>
          <p:cNvSpPr/>
          <p:nvPr/>
        </p:nvSpPr>
        <p:spPr>
          <a:xfrm>
            <a:off x="4572000" y="1737360"/>
            <a:ext cx="603504" cy="603504"/>
          </a:xfrm>
          <a:prstGeom prst="oval">
            <a:avLst/>
          </a:prstGeom>
          <a:solidFill>
            <a:srgbClr val="FDECEC"/>
          </a:solidFill>
          <a:ln/>
        </p:spPr>
      </p:sp>
      <p:pic>
        <p:nvPicPr>
          <p:cNvPr id="14" name="Image 3" descr="preencoded.png">    </p:cNvPr>
          <p:cNvPicPr>
            <a:picLocks noChangeAspect="1"/>
          </p:cNvPicPr>
          <p:nvPr/>
        </p:nvPicPr>
        <p:blipFill>
          <a:blip r:embed="rId4"/>
          <a:stretch>
            <a:fillRect/>
          </a:stretch>
        </p:blipFill>
        <p:spPr>
          <a:xfrm>
            <a:off x="4704771" y="1870131"/>
            <a:ext cx="337962" cy="337962"/>
          </a:xfrm>
          <a:prstGeom prst="rect">
            <a:avLst/>
          </a:prstGeom>
        </p:spPr>
      </p:pic>
      <p:sp>
        <p:nvSpPr>
          <p:cNvPr id="15" name="Text 9"/>
          <p:cNvSpPr/>
          <p:nvPr/>
        </p:nvSpPr>
        <p:spPr>
          <a:xfrm>
            <a:off x="4572000" y="2468880"/>
            <a:ext cx="304495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You need a tool, not an agent</a:t>
            </a:r>
            <a:endParaRPr lang="en-US" sz="1400" dirty="0"/>
          </a:p>
        </p:txBody>
      </p:sp>
      <p:sp>
        <p:nvSpPr>
          <p:cNvPr id="16" name="Text 10"/>
          <p:cNvSpPr/>
          <p:nvPr/>
        </p:nvSpPr>
        <p:spPr>
          <a:xfrm>
            <a:off x="4572000" y="2852928"/>
            <a:ext cx="3044952" cy="85039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Fetching weather, querying a DB, calling a REST API. That is MCP. Wrapping a passive API as an agent is cargo-culting.</a:t>
            </a:r>
            <a:endParaRPr lang="en-US" sz="1150" dirty="0"/>
          </a:p>
        </p:txBody>
      </p:sp>
      <p:sp>
        <p:nvSpPr>
          <p:cNvPr id="17" name="Shape 11"/>
          <p:cNvSpPr/>
          <p:nvPr/>
        </p:nvSpPr>
        <p:spPr>
          <a:xfrm>
            <a:off x="8156448" y="1517904"/>
            <a:ext cx="3483864" cy="2331720"/>
          </a:xfrm>
          <a:prstGeom prst="roundRect">
            <a:avLst>
              <a:gd name="adj" fmla="val 3137"/>
            </a:avLst>
          </a:prstGeom>
          <a:solidFill>
            <a:srgbClr val="F8FAFC"/>
          </a:solidFill>
          <a:ln/>
          <a:effectLst>
            <a:outerShdw sx="100000" sy="100000" kx="0" ky="0" algn="bl" rotWithShape="0" blurRad="101600" dist="38100" dir="5400000">
              <a:srgbClr val="0F172A">
                <a:alpha val="10000"/>
              </a:srgbClr>
            </a:outerShdw>
          </a:effectLst>
        </p:spPr>
      </p:sp>
      <p:sp>
        <p:nvSpPr>
          <p:cNvPr id="18" name="Shape 12"/>
          <p:cNvSpPr/>
          <p:nvPr/>
        </p:nvSpPr>
        <p:spPr>
          <a:xfrm>
            <a:off x="8375904" y="1737360"/>
            <a:ext cx="603504" cy="603504"/>
          </a:xfrm>
          <a:prstGeom prst="oval">
            <a:avLst/>
          </a:prstGeom>
          <a:solidFill>
            <a:srgbClr val="FDECEC"/>
          </a:solidFill>
          <a:ln/>
        </p:spPr>
      </p:sp>
      <p:pic>
        <p:nvPicPr>
          <p:cNvPr id="19" name="Image 4" descr="preencoded.png">    </p:cNvPr>
          <p:cNvPicPr>
            <a:picLocks noChangeAspect="1"/>
          </p:cNvPicPr>
          <p:nvPr/>
        </p:nvPicPr>
        <p:blipFill>
          <a:blip r:embed="rId5"/>
          <a:stretch>
            <a:fillRect/>
          </a:stretch>
        </p:blipFill>
        <p:spPr>
          <a:xfrm>
            <a:off x="8508675" y="1870131"/>
            <a:ext cx="337962" cy="337962"/>
          </a:xfrm>
          <a:prstGeom prst="rect">
            <a:avLst/>
          </a:prstGeom>
        </p:spPr>
      </p:pic>
      <p:sp>
        <p:nvSpPr>
          <p:cNvPr id="20" name="Text 13"/>
          <p:cNvSpPr/>
          <p:nvPr/>
        </p:nvSpPr>
        <p:spPr>
          <a:xfrm>
            <a:off x="8375904" y="2468880"/>
            <a:ext cx="304495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Ultra-low-latency or tight shared state</a:t>
            </a:r>
            <a:endParaRPr lang="en-US" sz="1400" dirty="0"/>
          </a:p>
        </p:txBody>
      </p:sp>
      <p:sp>
        <p:nvSpPr>
          <p:cNvPr id="21" name="Text 14"/>
          <p:cNvSpPr/>
          <p:nvPr/>
        </p:nvSpPr>
        <p:spPr>
          <a:xfrm>
            <a:off x="8375904" y="2852928"/>
            <a:ext cx="3044952" cy="85039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Sub-100ms loops, or agents mutating shared memory every step. The wire kills you. Stay in-process.</a:t>
            </a:r>
            <a:endParaRPr lang="en-US" sz="1150" dirty="0"/>
          </a:p>
        </p:txBody>
      </p:sp>
      <p:sp>
        <p:nvSpPr>
          <p:cNvPr id="22" name="Shape 15"/>
          <p:cNvSpPr/>
          <p:nvPr/>
        </p:nvSpPr>
        <p:spPr>
          <a:xfrm>
            <a:off x="548640" y="4114800"/>
            <a:ext cx="11091672" cy="914400"/>
          </a:xfrm>
          <a:prstGeom prst="roundRect">
            <a:avLst>
              <a:gd name="adj" fmla="val 8000"/>
            </a:avLst>
          </a:prstGeom>
          <a:solidFill>
            <a:srgbClr val="FDECEC"/>
          </a:solidFill>
          <a:ln/>
          <a:effectLst>
            <a:outerShdw sx="100000" sy="100000" kx="0" ky="0" algn="bl" rotWithShape="0" blurRad="88900" dist="38100" dir="5400000">
              <a:srgbClr val="0F172A">
                <a:alpha val="9000"/>
              </a:srgbClr>
            </a:outerShdw>
          </a:effectLst>
        </p:spPr>
      </p:sp>
      <p:sp>
        <p:nvSpPr>
          <p:cNvPr id="23" name="Text 16"/>
          <p:cNvSpPr/>
          <p:nvPr/>
        </p:nvSpPr>
        <p:spPr>
          <a:xfrm>
            <a:off x="731520" y="4169664"/>
            <a:ext cx="10725912" cy="804672"/>
          </a:xfrm>
          <a:prstGeom prst="rect">
            <a:avLst/>
          </a:prstGeom>
          <a:noFill/>
          <a:ln/>
        </p:spPr>
        <p:txBody>
          <a:bodyPr wrap="square" lIns="0" tIns="0" rIns="0" bIns="0" rtlCol="0" anchor="ctr"/>
          <a:lstStyle/>
          <a:p>
            <a:pPr algn="l" indent="0" marL="0">
              <a:lnSpc>
                <a:spcPct val="104000"/>
              </a:lnSpc>
              <a:buNone/>
            </a:pPr>
            <a:r>
              <a:rPr lang="en-US" sz="1250" b="1" dirty="0">
                <a:solidFill>
                  <a:srgbClr val="B91C1C"/>
                </a:solidFill>
                <a:latin typeface="Calibri" pitchFamily="34" charset="0"/>
                <a:ea typeface="Calibri" pitchFamily="34" charset="-122"/>
                <a:cs typeface="Calibri" pitchFamily="34" charset="-120"/>
              </a:rPr>
              <a:t>The bill you are signing: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an extra HTTP round trip, JSON serialization, auth handshakes, a service to operate, and version skew between card and client.</a:t>
            </a:r>
            <a:endParaRPr lang="en-US" sz="1250" dirty="0"/>
          </a:p>
        </p:txBody>
      </p:sp>
      <p:sp>
        <p:nvSpPr>
          <p:cNvPr id="24" name="Shape 17"/>
          <p:cNvSpPr/>
          <p:nvPr/>
        </p:nvSpPr>
        <p:spPr>
          <a:xfrm>
            <a:off x="548640" y="5138928"/>
            <a:ext cx="11091672" cy="914400"/>
          </a:xfrm>
          <a:prstGeom prst="roundRect">
            <a:avLst>
              <a:gd name="adj" fmla="val 8000"/>
            </a:avLst>
          </a:prstGeom>
          <a:solidFill>
            <a:srgbClr val="FEF6E7"/>
          </a:solidFill>
          <a:ln/>
          <a:effectLst>
            <a:outerShdw sx="100000" sy="100000" kx="0" ky="0" algn="bl" rotWithShape="0" blurRad="88900" dist="38100" dir="5400000">
              <a:srgbClr val="0F172A">
                <a:alpha val="9000"/>
              </a:srgbClr>
            </a:outerShdw>
          </a:effectLst>
        </p:spPr>
      </p:sp>
      <p:sp>
        <p:nvSpPr>
          <p:cNvPr id="25" name="Text 18"/>
          <p:cNvSpPr/>
          <p:nvPr/>
        </p:nvSpPr>
        <p:spPr>
          <a:xfrm>
            <a:off x="731520" y="5193792"/>
            <a:ext cx="10725912" cy="804672"/>
          </a:xfrm>
          <a:prstGeom prst="rect">
            <a:avLst/>
          </a:prstGeom>
          <a:noFill/>
          <a:ln/>
        </p:spPr>
        <p:txBody>
          <a:bodyPr wrap="square" lIns="0" tIns="0" rIns="0" bIns="0" rtlCol="0" anchor="ctr"/>
          <a:lstStyle/>
          <a:p>
            <a:pPr algn="l" indent="0" marL="0">
              <a:lnSpc>
                <a:spcPct val="104000"/>
              </a:lnSpc>
              <a:buNone/>
            </a:pPr>
            <a:r>
              <a:rPr lang="en-US" sz="1250" b="1" dirty="0">
                <a:solidFill>
                  <a:srgbClr val="B45309"/>
                </a:solidFill>
                <a:latin typeface="Calibri" pitchFamily="34" charset="0"/>
                <a:ea typeface="Calibri" pitchFamily="34" charset="-122"/>
                <a:cs typeface="Calibri" pitchFamily="34" charset="-120"/>
              </a:rPr>
              <a:t>Skeptic: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“If A2A is the future, why not use it everywhere?” Because distributed is a cost you pay, not a feature you earn. Microservices taught us this. Same lesson, new layer.</a:t>
            </a:r>
            <a:endParaRPr lang="en-US" sz="1250" dirty="0"/>
          </a:p>
        </p:txBody>
      </p:sp>
      <p:sp>
        <p:nvSpPr>
          <p:cNvPr id="26" name="Text 19"/>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27" name="Text 20"/>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4 · THE BIG DECISION</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A2A and MCP together: the real architecture</a:t>
            </a:r>
            <a:endParaRPr lang="en-US" sz="2800" dirty="0"/>
          </a:p>
        </p:txBody>
      </p:sp>
      <p:sp>
        <p:nvSpPr>
          <p:cNvPr id="5" name="Shape 2"/>
          <p:cNvSpPr/>
          <p:nvPr/>
        </p:nvSpPr>
        <p:spPr>
          <a:xfrm>
            <a:off x="484632" y="1490472"/>
            <a:ext cx="6254496" cy="2828095"/>
          </a:xfrm>
          <a:prstGeom prst="roundRect">
            <a:avLst>
              <a:gd name="adj" fmla="val 1940"/>
            </a:avLst>
          </a:prstGeom>
          <a:solidFill>
            <a:srgbClr val="FFFFFF"/>
          </a:solidFill>
          <a:ln/>
          <a:effectLst>
            <a:outerShdw sx="100000" sy="100000" kx="0" ky="0" algn="bl" rotWithShape="0" blurRad="127000" dist="38100" dir="5400000">
              <a:srgbClr val="0F172A">
                <a:alpha val="12000"/>
              </a:srgbClr>
            </a:outerShdw>
          </a:effectLst>
        </p:spPr>
      </p:sp>
      <p:pic>
        <p:nvPicPr>
          <p:cNvPr id="6" name="Image 1" descr="/home/claude/a2a_deck/diagrams/a2a_mcp_together.png">    </p:cNvPr>
          <p:cNvPicPr>
            <a:picLocks noChangeAspect="1"/>
          </p:cNvPicPr>
          <p:nvPr/>
        </p:nvPicPr>
        <p:blipFill>
          <a:blip r:embed="rId2"/>
          <a:stretch>
            <a:fillRect/>
          </a:stretch>
        </p:blipFill>
        <p:spPr>
          <a:xfrm>
            <a:off x="548640" y="1554480"/>
            <a:ext cx="6126480" cy="2700079"/>
          </a:xfrm>
          <a:prstGeom prst="rect">
            <a:avLst/>
          </a:prstGeom>
        </p:spPr>
      </p:pic>
      <p:sp>
        <p:nvSpPr>
          <p:cNvPr id="7" name="Shape 3"/>
          <p:cNvSpPr/>
          <p:nvPr/>
        </p:nvSpPr>
        <p:spPr>
          <a:xfrm>
            <a:off x="6903720" y="1554480"/>
            <a:ext cx="4736592" cy="1463040"/>
          </a:xfrm>
          <a:prstGeom prst="roundRect">
            <a:avLst>
              <a:gd name="adj" fmla="val 5000"/>
            </a:avLst>
          </a:prstGeom>
          <a:solidFill>
            <a:srgbClr val="E6FBF6"/>
          </a:solidFill>
          <a:ln/>
          <a:effectLst>
            <a:outerShdw sx="100000" sy="100000" kx="0" ky="0" algn="bl" rotWithShape="0" blurRad="88900" dist="38100" dir="5400000">
              <a:srgbClr val="0F172A">
                <a:alpha val="9000"/>
              </a:srgbClr>
            </a:outerShdw>
          </a:effectLst>
        </p:spPr>
      </p:sp>
      <p:sp>
        <p:nvSpPr>
          <p:cNvPr id="8" name="Shape 4"/>
          <p:cNvSpPr/>
          <p:nvPr/>
        </p:nvSpPr>
        <p:spPr>
          <a:xfrm>
            <a:off x="7104888" y="1755648"/>
            <a:ext cx="530352" cy="530352"/>
          </a:xfrm>
          <a:prstGeom prst="oval">
            <a:avLst/>
          </a:prstGeom>
          <a:solidFill>
            <a:srgbClr val="FFFFFF"/>
          </a:solidFill>
          <a:ln/>
        </p:spPr>
      </p:sp>
      <p:pic>
        <p:nvPicPr>
          <p:cNvPr id="9" name="Image 2" descr="preencoded.png">    </p:cNvPr>
          <p:cNvPicPr>
            <a:picLocks noChangeAspect="1"/>
          </p:cNvPicPr>
          <p:nvPr/>
        </p:nvPicPr>
        <p:blipFill>
          <a:blip r:embed="rId3"/>
          <a:stretch>
            <a:fillRect/>
          </a:stretch>
        </p:blipFill>
        <p:spPr>
          <a:xfrm>
            <a:off x="7221565" y="1872325"/>
            <a:ext cx="296997" cy="296997"/>
          </a:xfrm>
          <a:prstGeom prst="rect">
            <a:avLst/>
          </a:prstGeom>
        </p:spPr>
      </p:pic>
      <p:sp>
        <p:nvSpPr>
          <p:cNvPr id="10" name="Text 5"/>
          <p:cNvSpPr/>
          <p:nvPr/>
        </p:nvSpPr>
        <p:spPr>
          <a:xfrm>
            <a:off x="7754112" y="1792224"/>
            <a:ext cx="3657600" cy="45720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Horizontal: A2A</a:t>
            </a:r>
            <a:endParaRPr lang="en-US" sz="1300" dirty="0"/>
          </a:p>
        </p:txBody>
      </p:sp>
      <p:sp>
        <p:nvSpPr>
          <p:cNvPr id="11" name="Text 6"/>
          <p:cNvSpPr/>
          <p:nvPr/>
        </p:nvSpPr>
        <p:spPr>
          <a:xfrm>
            <a:off x="7104888" y="2377440"/>
            <a:ext cx="4370832" cy="594360"/>
          </a:xfrm>
          <a:prstGeom prst="rect">
            <a:avLst/>
          </a:prstGeom>
          <a:noFill/>
          <a:ln/>
        </p:spPr>
        <p:txBody>
          <a:bodyPr wrap="square" lIns="0" tIns="0" rIns="0" bIns="0" rtlCol="0" anchor="t"/>
          <a:lstStyle/>
          <a:p>
            <a:pPr indent="0" marL="0">
              <a:lnSpc>
                <a:spcPct val="106000"/>
              </a:lnSpc>
              <a:buNone/>
            </a:pPr>
            <a:r>
              <a:rPr lang="en-US" sz="1200" dirty="0">
                <a:solidFill>
                  <a:srgbClr val="0F172A"/>
                </a:solidFill>
                <a:latin typeface="Calibri" pitchFamily="34" charset="0"/>
                <a:ea typeface="Calibri" pitchFamily="34" charset="-122"/>
                <a:cs typeface="Calibri" pitchFamily="34" charset="-120"/>
              </a:rPr>
              <a:t>The TravelMind orchestrator talks to the Refund and Rebooking agents over A2A, across teams.</a:t>
            </a:r>
            <a:endParaRPr lang="en-US" sz="1200" dirty="0"/>
          </a:p>
        </p:txBody>
      </p:sp>
      <p:sp>
        <p:nvSpPr>
          <p:cNvPr id="12" name="Shape 7"/>
          <p:cNvSpPr/>
          <p:nvPr/>
        </p:nvSpPr>
        <p:spPr>
          <a:xfrm>
            <a:off x="6903720" y="3154680"/>
            <a:ext cx="4736592" cy="1463040"/>
          </a:xfrm>
          <a:prstGeom prst="roundRect">
            <a:avLst>
              <a:gd name="adj" fmla="val 5000"/>
            </a:avLst>
          </a:prstGeom>
          <a:solidFill>
            <a:srgbClr val="EEF3FE"/>
          </a:solidFill>
          <a:ln/>
          <a:effectLst>
            <a:outerShdw sx="100000" sy="100000" kx="0" ky="0" algn="bl" rotWithShape="0" blurRad="88900" dist="38100" dir="5400000">
              <a:srgbClr val="0F172A">
                <a:alpha val="9000"/>
              </a:srgbClr>
            </a:outerShdw>
          </a:effectLst>
        </p:spPr>
      </p:sp>
      <p:sp>
        <p:nvSpPr>
          <p:cNvPr id="13" name="Shape 8"/>
          <p:cNvSpPr/>
          <p:nvPr/>
        </p:nvSpPr>
        <p:spPr>
          <a:xfrm>
            <a:off x="7104888" y="3355848"/>
            <a:ext cx="530352" cy="530352"/>
          </a:xfrm>
          <a:prstGeom prst="oval">
            <a:avLst/>
          </a:prstGeom>
          <a:solidFill>
            <a:srgbClr val="FFFFFF"/>
          </a:solidFill>
          <a:ln/>
        </p:spPr>
      </p:sp>
      <p:pic>
        <p:nvPicPr>
          <p:cNvPr id="14" name="Image 3" descr="preencoded.png">    </p:cNvPr>
          <p:cNvPicPr>
            <a:picLocks noChangeAspect="1"/>
          </p:cNvPicPr>
          <p:nvPr/>
        </p:nvPicPr>
        <p:blipFill>
          <a:blip r:embed="rId4"/>
          <a:stretch>
            <a:fillRect/>
          </a:stretch>
        </p:blipFill>
        <p:spPr>
          <a:xfrm>
            <a:off x="7221565" y="3472525"/>
            <a:ext cx="296997" cy="296997"/>
          </a:xfrm>
          <a:prstGeom prst="rect">
            <a:avLst/>
          </a:prstGeom>
        </p:spPr>
      </p:pic>
      <p:sp>
        <p:nvSpPr>
          <p:cNvPr id="15" name="Text 9"/>
          <p:cNvSpPr/>
          <p:nvPr/>
        </p:nvSpPr>
        <p:spPr>
          <a:xfrm>
            <a:off x="7754112" y="3392424"/>
            <a:ext cx="3657600" cy="457200"/>
          </a:xfrm>
          <a:prstGeom prst="rect">
            <a:avLst/>
          </a:prstGeom>
          <a:noFill/>
          <a:ln/>
        </p:spPr>
        <p:txBody>
          <a:bodyPr wrap="square" lIns="0" tIns="0" rIns="0" bIns="0"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Vertical: MCP</a:t>
            </a:r>
            <a:endParaRPr lang="en-US" sz="1300" dirty="0"/>
          </a:p>
        </p:txBody>
      </p:sp>
      <p:sp>
        <p:nvSpPr>
          <p:cNvPr id="16" name="Text 10"/>
          <p:cNvSpPr/>
          <p:nvPr/>
        </p:nvSpPr>
        <p:spPr>
          <a:xfrm>
            <a:off x="7104888" y="3977640"/>
            <a:ext cx="4370832" cy="594360"/>
          </a:xfrm>
          <a:prstGeom prst="rect">
            <a:avLst/>
          </a:prstGeom>
          <a:noFill/>
          <a:ln/>
        </p:spPr>
        <p:txBody>
          <a:bodyPr wrap="square" lIns="0" tIns="0" rIns="0" bIns="0" rtlCol="0" anchor="t"/>
          <a:lstStyle/>
          <a:p>
            <a:pPr indent="0" marL="0">
              <a:lnSpc>
                <a:spcPct val="106000"/>
              </a:lnSpc>
              <a:buNone/>
            </a:pPr>
            <a:r>
              <a:rPr lang="en-US" sz="1200" dirty="0">
                <a:solidFill>
                  <a:srgbClr val="0F172A"/>
                </a:solidFill>
                <a:latin typeface="Calibri" pitchFamily="34" charset="0"/>
                <a:ea typeface="Calibri" pitchFamily="34" charset="-122"/>
                <a:cs typeface="Calibri" pitchFamily="34" charset="-120"/>
              </a:rPr>
              <a:t>Each of those agents internally uses MCP to hit its own database, the GDS API and a pricing service.</a:t>
            </a:r>
            <a:endParaRPr lang="en-US" sz="1200" dirty="0"/>
          </a:p>
        </p:txBody>
      </p:sp>
      <p:sp>
        <p:nvSpPr>
          <p:cNvPr id="17" name="Shape 11"/>
          <p:cNvSpPr/>
          <p:nvPr/>
        </p:nvSpPr>
        <p:spPr>
          <a:xfrm>
            <a:off x="548640" y="5212080"/>
            <a:ext cx="11091672" cy="841248"/>
          </a:xfrm>
          <a:prstGeom prst="roundRect">
            <a:avLst>
              <a:gd name="adj" fmla="val 8696"/>
            </a:avLst>
          </a:prstGeom>
          <a:solidFill>
            <a:srgbClr val="E6FBF6"/>
          </a:solidFill>
          <a:ln/>
          <a:effectLst>
            <a:outerShdw sx="100000" sy="100000" kx="0" ky="0" algn="bl" rotWithShape="0" blurRad="88900" dist="38100" dir="5400000">
              <a:srgbClr val="0F172A">
                <a:alpha val="9000"/>
              </a:srgbClr>
            </a:outerShdw>
          </a:effectLst>
        </p:spPr>
      </p:sp>
      <p:sp>
        <p:nvSpPr>
          <p:cNvPr id="18" name="Text 12"/>
          <p:cNvSpPr/>
          <p:nvPr/>
        </p:nvSpPr>
        <p:spPr>
          <a:xfrm>
            <a:off x="731520" y="5266944"/>
            <a:ext cx="10725912" cy="731520"/>
          </a:xfrm>
          <a:prstGeom prst="rect">
            <a:avLst/>
          </a:prstGeom>
          <a:noFill/>
          <a:ln/>
        </p:spPr>
        <p:txBody>
          <a:bodyPr wrap="square" lIns="0" tIns="0" rIns="0" bIns="0" rtlCol="0" anchor="ctr"/>
          <a:lstStyle/>
          <a:p>
            <a:pPr algn="l" indent="0" marL="0">
              <a:lnSpc>
                <a:spcPct val="104000"/>
              </a:lnSpc>
              <a:buNone/>
            </a:pPr>
            <a:r>
              <a:rPr lang="en-US" sz="1250" b="1" dirty="0">
                <a:solidFill>
                  <a:srgbClr val="0D9488"/>
                </a:solidFill>
                <a:latin typeface="Calibri" pitchFamily="34" charset="0"/>
                <a:ea typeface="Calibri" pitchFamily="34" charset="-122"/>
                <a:cs typeface="Calibri" pitchFamily="34" charset="-120"/>
              </a:rPr>
              <a:t>Both, always, in a serious system: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A2A is the horizontal mesh between agents. MCP is each agent's vertical reach to its tools.</a:t>
            </a:r>
            <a:endParaRPr lang="en-US" sz="1250" dirty="0"/>
          </a:p>
        </p:txBody>
      </p:sp>
      <p:sp>
        <p:nvSpPr>
          <p:cNvPr id="19" name="Text 13"/>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20" name="Text 14"/>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4 · THE BIG DECISION</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Three quick scenarios, mapped</a:t>
            </a:r>
            <a:endParaRPr lang="en-US" sz="2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5486400"/>
                <a:gridCol w="2743200"/>
                <a:gridCol w="2862072"/>
              </a:tblGrid>
              <a:tr h="56692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Scenario</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Right choice</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r>
              <a:tr h="566928">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TravelMind needs current weather at the destination</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MCP tool</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It is data, not an agent</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66928">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TravelMind delegates a refund to the Payments team's agent</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A2A</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Different team, different deploy</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566928">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TravelMind has three sub-skills (FAQ, baggage, status) you own</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Agents-as-Tools or Graph</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One codebase, no boundary</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66928">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Strands orchestrator must call a partner's LangGraph agent</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A2A</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Only shared language across frameworks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bl>
          </a:graphicData>
        </a:graphic>
      </p:graphicFrame>
      <p:sp>
        <p:nvSpPr>
          <p:cNvPr id="6" name="Shape 2"/>
          <p:cNvSpPr/>
          <p:nvPr/>
        </p:nvSpPr>
        <p:spPr>
          <a:xfrm>
            <a:off x="548640" y="5029200"/>
            <a:ext cx="11091672" cy="868680"/>
          </a:xfrm>
          <a:prstGeom prst="roundRect">
            <a:avLst>
              <a:gd name="adj" fmla="val 8421"/>
            </a:avLst>
          </a:prstGeom>
          <a:solidFill>
            <a:srgbClr val="E6FBF6"/>
          </a:solidFill>
          <a:ln/>
          <a:effectLst>
            <a:outerShdw sx="100000" sy="100000" kx="0" ky="0" algn="bl" rotWithShape="0" blurRad="88900" dist="38100" dir="5400000">
              <a:srgbClr val="0F172A">
                <a:alpha val="9000"/>
              </a:srgbClr>
            </a:outerShdw>
          </a:effectLst>
        </p:spPr>
      </p:sp>
      <p:sp>
        <p:nvSpPr>
          <p:cNvPr id="7" name="Text 3"/>
          <p:cNvSpPr/>
          <p:nvPr/>
        </p:nvSpPr>
        <p:spPr>
          <a:xfrm>
            <a:off x="731520" y="5084064"/>
            <a:ext cx="10725912" cy="758952"/>
          </a:xfrm>
          <a:prstGeom prst="rect">
            <a:avLst/>
          </a:prstGeom>
          <a:noFill/>
          <a:ln/>
        </p:spPr>
        <p:txBody>
          <a:bodyPr wrap="square" lIns="0" tIns="0" rIns="0" bIns="0" rtlCol="0" anchor="ctr"/>
          <a:lstStyle/>
          <a:p>
            <a:pPr algn="l" indent="0" marL="0">
              <a:lnSpc>
                <a:spcPct val="104000"/>
              </a:lnSpc>
              <a:buNone/>
            </a:pPr>
            <a:r>
              <a:rPr lang="en-US" sz="1250" b="1" dirty="0">
                <a:solidFill>
                  <a:srgbClr val="0D9488"/>
                </a:solidFill>
                <a:latin typeface="Calibri" pitchFamily="34" charset="0"/>
                <a:ea typeface="Calibri" pitchFamily="34" charset="-122"/>
                <a:cs typeface="Calibri" pitchFamily="34" charset="-120"/>
              </a:rPr>
              <a:t>The rule: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same product, four different correct answers. The pattern follows the boundary, not the brand.</a:t>
            </a:r>
            <a:endParaRPr lang="en-US" sz="1250" dirty="0"/>
          </a:p>
        </p:txBody>
      </p:sp>
      <p:sp>
        <p:nvSpPr>
          <p:cNvPr id="8" name="Text 4"/>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9" name="Text 5"/>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2011680" y="4206240"/>
            <a:ext cx="5486400" cy="5486400"/>
          </a:xfrm>
          <a:prstGeom prst="oval">
            <a:avLst/>
          </a:prstGeom>
          <a:solidFill>
            <a:srgbClr val="0D9488">
              <a:alpha val="10000"/>
            </a:srgbClr>
          </a:solidFill>
          <a:ln/>
        </p:spPr>
      </p:sp>
      <p:sp>
        <p:nvSpPr>
          <p:cNvPr id="3" name="Shape 1"/>
          <p:cNvSpPr/>
          <p:nvPr/>
        </p:nvSpPr>
        <p:spPr>
          <a:xfrm>
            <a:off x="8961120" y="-2194560"/>
            <a:ext cx="5943600" cy="5943600"/>
          </a:xfrm>
          <a:prstGeom prst="oval">
            <a:avLst/>
          </a:prstGeom>
          <a:solidFill>
            <a:srgbClr val="2563EB">
              <a:alpha val="8000"/>
            </a:srgbClr>
          </a:solidFill>
          <a:ln/>
        </p:spPr>
      </p:sp>
      <p:pic>
        <p:nvPicPr>
          <p:cNvPr id="4" name="Image 0" descr="preencoded.png">    </p:cNvPr>
          <p:cNvPicPr>
            <a:picLocks noChangeAspect="1"/>
          </p:cNvPicPr>
          <p:nvPr/>
        </p:nvPicPr>
        <p:blipFill>
          <a:blip r:embed="rId1">
            <a:alphaModFix amt="90000"/>
          </a:blip>
          <a:stretch>
            <a:fillRect/>
          </a:stretch>
        </p:blipFill>
        <p:spPr>
          <a:xfrm>
            <a:off x="7955280" y="822960"/>
            <a:ext cx="3931920" cy="4983480"/>
          </a:xfrm>
          <a:prstGeom prst="rect">
            <a:avLst/>
          </a:prstGeom>
        </p:spPr>
      </p:pic>
      <p:sp>
        <p:nvSpPr>
          <p:cNvPr id="5" name="Text 2"/>
          <p:cNvSpPr/>
          <p:nvPr/>
        </p:nvSpPr>
        <p:spPr>
          <a:xfrm>
            <a:off x="548640" y="1737360"/>
            <a:ext cx="2194560" cy="1463040"/>
          </a:xfrm>
          <a:prstGeom prst="rect">
            <a:avLst/>
          </a:prstGeom>
          <a:noFill/>
          <a:ln/>
        </p:spPr>
        <p:txBody>
          <a:bodyPr wrap="square" lIns="0" tIns="0" rIns="0" bIns="0" rtlCol="0" anchor="ctr"/>
          <a:lstStyle/>
          <a:p>
            <a:pPr indent="0" marL="0">
              <a:buNone/>
            </a:pPr>
            <a:r>
              <a:rPr lang="en-US" sz="9600" b="1" dirty="0">
                <a:solidFill>
                  <a:srgbClr val="0D9488"/>
                </a:solidFill>
                <a:latin typeface="Cambria" pitchFamily="34" charset="0"/>
                <a:ea typeface="Cambria" pitchFamily="34" charset="-122"/>
                <a:cs typeface="Cambria" pitchFamily="34" charset="-120"/>
              </a:rPr>
              <a:t>05</a:t>
            </a:r>
            <a:endParaRPr lang="en-US" sz="9600" dirty="0"/>
          </a:p>
        </p:txBody>
      </p:sp>
      <p:sp>
        <p:nvSpPr>
          <p:cNvPr id="6" name="Text 3"/>
          <p:cNvSpPr/>
          <p:nvPr/>
        </p:nvSpPr>
        <p:spPr>
          <a:xfrm>
            <a:off x="566928" y="3246120"/>
            <a:ext cx="96012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Production on AWS</a:t>
            </a:r>
            <a:endParaRPr lang="en-US" sz="4000" dirty="0"/>
          </a:p>
        </p:txBody>
      </p:sp>
      <p:sp>
        <p:nvSpPr>
          <p:cNvPr id="7" name="Text 4"/>
          <p:cNvSpPr/>
          <p:nvPr/>
        </p:nvSpPr>
        <p:spPr>
          <a:xfrm>
            <a:off x="566928" y="4206240"/>
            <a:ext cx="7315200" cy="822960"/>
          </a:xfrm>
          <a:prstGeom prst="rect">
            <a:avLst/>
          </a:prstGeom>
          <a:noFill/>
          <a:ln/>
        </p:spPr>
        <p:txBody>
          <a:bodyPr wrap="square" lIns="0" tIns="0" rIns="0" bIns="0" rtlCol="0" anchor="ctr"/>
          <a:lstStyle/>
          <a:p>
            <a:pPr indent="0" marL="0">
              <a:lnSpc>
                <a:spcPct val="110000"/>
              </a:lnSpc>
              <a:buNone/>
            </a:pPr>
            <a:r>
              <a:rPr lang="en-US" sz="1500" dirty="0">
                <a:solidFill>
                  <a:srgbClr val="AAB7C8"/>
                </a:solidFill>
                <a:latin typeface="Calibri" pitchFamily="34" charset="0"/>
                <a:ea typeface="Calibri" pitchFamily="34" charset="-122"/>
                <a:cs typeface="Calibri" pitchFamily="34" charset="-120"/>
              </a:rPr>
              <a:t>From localhost:9000 to a managed endpoint. AgentCore Runtime as a transparent proxy, the deploy flow, and the errors that will bite.</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5 · PRODUCTION ON AWS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From localhost to production: the gap</a:t>
            </a:r>
            <a:endParaRPr lang="en-US" sz="2800" dirty="0"/>
          </a:p>
        </p:txBody>
      </p:sp>
      <p:sp>
        <p:nvSpPr>
          <p:cNvPr id="5" name="Text 2"/>
          <p:cNvSpPr/>
          <p:nvPr/>
        </p:nvSpPr>
        <p:spPr>
          <a:xfrm>
            <a:off x="548640" y="1517904"/>
            <a:ext cx="11091672" cy="365760"/>
          </a:xfrm>
          <a:prstGeom prst="rect">
            <a:avLst/>
          </a:prstGeom>
          <a:noFill/>
          <a:ln/>
        </p:spPr>
        <p:txBody>
          <a:bodyPr wrap="square" lIns="0" tIns="0" rIns="0" bIns="0" rtlCol="0" anchor="ctr"/>
          <a:lstStyle/>
          <a:p>
            <a:pPr indent="0" marL="0">
              <a:buNone/>
            </a:pPr>
            <a:r>
              <a:rPr lang="en-US" sz="1300" dirty="0">
                <a:solidFill>
                  <a:srgbClr val="0F172A"/>
                </a:solidFill>
              </a:rPr>
              <a:t>Your </a:t>
            </a:r>
            <a:pPr indent="0" marL="0">
              <a:buNone/>
            </a:pPr>
            <a:r>
              <a:rPr lang="en-US" sz="1200" dirty="0">
                <a:solidFill>
                  <a:srgbClr val="0D9488"/>
                </a:solidFill>
                <a:latin typeface="Courier New" pitchFamily="34" charset="0"/>
                <a:ea typeface="Courier New" pitchFamily="34" charset="-122"/>
                <a:cs typeface="Courier New" pitchFamily="34" charset="-120"/>
              </a:rPr>
              <a:t>A2AServer().serve()</a:t>
            </a:r>
            <a:pPr indent="0" marL="0">
              <a:buNone/>
            </a:pPr>
            <a:r>
              <a:rPr lang="en-US" sz="1300" dirty="0">
                <a:solidFill>
                  <a:srgbClr val="0F172A"/>
                </a:solidFill>
              </a:rPr>
              <a:t> runs on 127.0.0.1:9000. To put it in front of real traffic you need:</a:t>
            </a:r>
            <a:endParaRPr lang="en-US" sz="1300" dirty="0"/>
          </a:p>
        </p:txBody>
      </p:sp>
      <p:sp>
        <p:nvSpPr>
          <p:cNvPr id="6" name="Shape 3"/>
          <p:cNvSpPr/>
          <p:nvPr/>
        </p:nvSpPr>
        <p:spPr>
          <a:xfrm>
            <a:off x="548640" y="2011680"/>
            <a:ext cx="2532888" cy="2148840"/>
          </a:xfrm>
          <a:prstGeom prst="roundRect">
            <a:avLst>
              <a:gd name="adj" fmla="val 3404"/>
            </a:avLst>
          </a:prstGeom>
          <a:solidFill>
            <a:srgbClr val="F8FAFC"/>
          </a:solidFill>
          <a:ln/>
          <a:effectLst>
            <a:outerShdw sx="100000" sy="100000" kx="0" ky="0" algn="bl" rotWithShape="0" blurRad="101600" dist="38100" dir="5400000">
              <a:srgbClr val="0F172A">
                <a:alpha val="10000"/>
              </a:srgbClr>
            </a:outerShdw>
          </a:effectLst>
        </p:spPr>
      </p:sp>
      <p:sp>
        <p:nvSpPr>
          <p:cNvPr id="7" name="Shape 4"/>
          <p:cNvSpPr/>
          <p:nvPr/>
        </p:nvSpPr>
        <p:spPr>
          <a:xfrm>
            <a:off x="768096" y="2231136"/>
            <a:ext cx="603504" cy="603504"/>
          </a:xfrm>
          <a:prstGeom prst="oval">
            <a:avLst/>
          </a:prstGeom>
          <a:solidFill>
            <a:srgbClr val="E6FBF6"/>
          </a:solidFill>
          <a:ln/>
        </p:spPr>
      </p:sp>
      <p:pic>
        <p:nvPicPr>
          <p:cNvPr id="8" name="Image 1" descr="preencoded.png">    </p:cNvPr>
          <p:cNvPicPr>
            <a:picLocks noChangeAspect="1"/>
          </p:cNvPicPr>
          <p:nvPr/>
        </p:nvPicPr>
        <p:blipFill>
          <a:blip r:embed="rId2"/>
          <a:stretch>
            <a:fillRect/>
          </a:stretch>
        </p:blipFill>
        <p:spPr>
          <a:xfrm>
            <a:off x="900867" y="2363907"/>
            <a:ext cx="337962" cy="337962"/>
          </a:xfrm>
          <a:prstGeom prst="rect">
            <a:avLst/>
          </a:prstGeom>
        </p:spPr>
      </p:pic>
      <p:sp>
        <p:nvSpPr>
          <p:cNvPr id="9" name="Text 5"/>
          <p:cNvSpPr/>
          <p:nvPr/>
        </p:nvSpPr>
        <p:spPr>
          <a:xfrm>
            <a:off x="768096" y="2962656"/>
            <a:ext cx="2093976"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Authentication</a:t>
            </a:r>
            <a:endParaRPr lang="en-US" sz="1400" dirty="0"/>
          </a:p>
        </p:txBody>
      </p:sp>
      <p:sp>
        <p:nvSpPr>
          <p:cNvPr id="10" name="Text 6"/>
          <p:cNvSpPr/>
          <p:nvPr/>
        </p:nvSpPr>
        <p:spPr>
          <a:xfrm>
            <a:off x="768096" y="3346704"/>
            <a:ext cx="2093976" cy="66751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Not “anyone on the network can call it.”</a:t>
            </a:r>
            <a:endParaRPr lang="en-US" sz="1150" dirty="0"/>
          </a:p>
        </p:txBody>
      </p:sp>
      <p:sp>
        <p:nvSpPr>
          <p:cNvPr id="11" name="Shape 7"/>
          <p:cNvSpPr/>
          <p:nvPr/>
        </p:nvSpPr>
        <p:spPr>
          <a:xfrm>
            <a:off x="3401568" y="2011680"/>
            <a:ext cx="2532888" cy="2148840"/>
          </a:xfrm>
          <a:prstGeom prst="roundRect">
            <a:avLst>
              <a:gd name="adj" fmla="val 3404"/>
            </a:avLst>
          </a:prstGeom>
          <a:solidFill>
            <a:srgbClr val="F8FAFC"/>
          </a:solidFill>
          <a:ln/>
          <a:effectLst>
            <a:outerShdw sx="100000" sy="100000" kx="0" ky="0" algn="bl" rotWithShape="0" blurRad="101600" dist="38100" dir="5400000">
              <a:srgbClr val="0F172A">
                <a:alpha val="10000"/>
              </a:srgbClr>
            </a:outerShdw>
          </a:effectLst>
        </p:spPr>
      </p:sp>
      <p:sp>
        <p:nvSpPr>
          <p:cNvPr id="12" name="Shape 8"/>
          <p:cNvSpPr/>
          <p:nvPr/>
        </p:nvSpPr>
        <p:spPr>
          <a:xfrm>
            <a:off x="3621024" y="2231136"/>
            <a:ext cx="603504" cy="603504"/>
          </a:xfrm>
          <a:prstGeom prst="oval">
            <a:avLst/>
          </a:prstGeom>
          <a:solidFill>
            <a:srgbClr val="E6FBF6"/>
          </a:solidFill>
          <a:ln/>
        </p:spPr>
      </p:sp>
      <p:pic>
        <p:nvPicPr>
          <p:cNvPr id="13" name="Image 2" descr="preencoded.png">    </p:cNvPr>
          <p:cNvPicPr>
            <a:picLocks noChangeAspect="1"/>
          </p:cNvPicPr>
          <p:nvPr/>
        </p:nvPicPr>
        <p:blipFill>
          <a:blip r:embed="rId3"/>
          <a:stretch>
            <a:fillRect/>
          </a:stretch>
        </p:blipFill>
        <p:spPr>
          <a:xfrm>
            <a:off x="3753795" y="2363907"/>
            <a:ext cx="337962" cy="337962"/>
          </a:xfrm>
          <a:prstGeom prst="rect">
            <a:avLst/>
          </a:prstGeom>
        </p:spPr>
      </p:pic>
      <p:sp>
        <p:nvSpPr>
          <p:cNvPr id="14" name="Text 9"/>
          <p:cNvSpPr/>
          <p:nvPr/>
        </p:nvSpPr>
        <p:spPr>
          <a:xfrm>
            <a:off x="3621024" y="2962656"/>
            <a:ext cx="2093976"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Scale and isolation</a:t>
            </a:r>
            <a:endParaRPr lang="en-US" sz="1400" dirty="0"/>
          </a:p>
        </p:txBody>
      </p:sp>
      <p:sp>
        <p:nvSpPr>
          <p:cNvPr id="15" name="Text 10"/>
          <p:cNvSpPr/>
          <p:nvPr/>
        </p:nvSpPr>
        <p:spPr>
          <a:xfrm>
            <a:off x="3621024" y="3346704"/>
            <a:ext cx="2093976" cy="66751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Many concurrent sessions, no cross-talk.</a:t>
            </a:r>
            <a:endParaRPr lang="en-US" sz="1150" dirty="0"/>
          </a:p>
        </p:txBody>
      </p:sp>
      <p:sp>
        <p:nvSpPr>
          <p:cNvPr id="16" name="Shape 11"/>
          <p:cNvSpPr/>
          <p:nvPr/>
        </p:nvSpPr>
        <p:spPr>
          <a:xfrm>
            <a:off x="6254496" y="2011680"/>
            <a:ext cx="2532888" cy="2148840"/>
          </a:xfrm>
          <a:prstGeom prst="roundRect">
            <a:avLst>
              <a:gd name="adj" fmla="val 3404"/>
            </a:avLst>
          </a:prstGeom>
          <a:solidFill>
            <a:srgbClr val="F8FAFC"/>
          </a:solidFill>
          <a:ln/>
          <a:effectLst>
            <a:outerShdw sx="100000" sy="100000" kx="0" ky="0" algn="bl" rotWithShape="0" blurRad="101600" dist="38100" dir="5400000">
              <a:srgbClr val="0F172A">
                <a:alpha val="10000"/>
              </a:srgbClr>
            </a:outerShdw>
          </a:effectLst>
        </p:spPr>
      </p:sp>
      <p:sp>
        <p:nvSpPr>
          <p:cNvPr id="17" name="Shape 12"/>
          <p:cNvSpPr/>
          <p:nvPr/>
        </p:nvSpPr>
        <p:spPr>
          <a:xfrm>
            <a:off x="6473952" y="2231136"/>
            <a:ext cx="603504" cy="603504"/>
          </a:xfrm>
          <a:prstGeom prst="oval">
            <a:avLst/>
          </a:prstGeom>
          <a:solidFill>
            <a:srgbClr val="E6FBF6"/>
          </a:solidFill>
          <a:ln/>
        </p:spPr>
      </p:sp>
      <p:pic>
        <p:nvPicPr>
          <p:cNvPr id="18" name="Image 3" descr="preencoded.png">    </p:cNvPr>
          <p:cNvPicPr>
            <a:picLocks noChangeAspect="1"/>
          </p:cNvPicPr>
          <p:nvPr/>
        </p:nvPicPr>
        <p:blipFill>
          <a:blip r:embed="rId4"/>
          <a:stretch>
            <a:fillRect/>
          </a:stretch>
        </p:blipFill>
        <p:spPr>
          <a:xfrm>
            <a:off x="6606723" y="2363907"/>
            <a:ext cx="337962" cy="337962"/>
          </a:xfrm>
          <a:prstGeom prst="rect">
            <a:avLst/>
          </a:prstGeom>
        </p:spPr>
      </p:pic>
      <p:sp>
        <p:nvSpPr>
          <p:cNvPr id="19" name="Text 13"/>
          <p:cNvSpPr/>
          <p:nvPr/>
        </p:nvSpPr>
        <p:spPr>
          <a:xfrm>
            <a:off x="6473952" y="2962656"/>
            <a:ext cx="2093976"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Discovery at a real URL</a:t>
            </a:r>
            <a:endParaRPr lang="en-US" sz="1400" dirty="0"/>
          </a:p>
        </p:txBody>
      </p:sp>
      <p:sp>
        <p:nvSpPr>
          <p:cNvPr id="20" name="Text 14"/>
          <p:cNvSpPr/>
          <p:nvPr/>
        </p:nvSpPr>
        <p:spPr>
          <a:xfrm>
            <a:off x="6473952" y="3346704"/>
            <a:ext cx="2093976" cy="66751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A stable, secured public endpoint.</a:t>
            </a:r>
            <a:endParaRPr lang="en-US" sz="1150" dirty="0"/>
          </a:p>
        </p:txBody>
      </p:sp>
      <p:sp>
        <p:nvSpPr>
          <p:cNvPr id="21" name="Shape 15"/>
          <p:cNvSpPr/>
          <p:nvPr/>
        </p:nvSpPr>
        <p:spPr>
          <a:xfrm>
            <a:off x="9107424" y="2011680"/>
            <a:ext cx="2532888" cy="2148840"/>
          </a:xfrm>
          <a:prstGeom prst="roundRect">
            <a:avLst>
              <a:gd name="adj" fmla="val 3404"/>
            </a:avLst>
          </a:prstGeom>
          <a:solidFill>
            <a:srgbClr val="F8FAFC"/>
          </a:solidFill>
          <a:ln/>
          <a:effectLst>
            <a:outerShdw sx="100000" sy="100000" kx="0" ky="0" algn="bl" rotWithShape="0" blurRad="101600" dist="38100" dir="5400000">
              <a:srgbClr val="0F172A">
                <a:alpha val="10000"/>
              </a:srgbClr>
            </a:outerShdw>
          </a:effectLst>
        </p:spPr>
      </p:sp>
      <p:sp>
        <p:nvSpPr>
          <p:cNvPr id="22" name="Shape 16"/>
          <p:cNvSpPr/>
          <p:nvPr/>
        </p:nvSpPr>
        <p:spPr>
          <a:xfrm>
            <a:off x="9326880" y="2231136"/>
            <a:ext cx="603504" cy="603504"/>
          </a:xfrm>
          <a:prstGeom prst="oval">
            <a:avLst/>
          </a:prstGeom>
          <a:solidFill>
            <a:srgbClr val="E6FBF6"/>
          </a:solidFill>
          <a:ln/>
        </p:spPr>
      </p:sp>
      <p:pic>
        <p:nvPicPr>
          <p:cNvPr id="23" name="Image 4" descr="preencoded.png">    </p:cNvPr>
          <p:cNvPicPr>
            <a:picLocks noChangeAspect="1"/>
          </p:cNvPicPr>
          <p:nvPr/>
        </p:nvPicPr>
        <p:blipFill>
          <a:blip r:embed="rId5"/>
          <a:stretch>
            <a:fillRect/>
          </a:stretch>
        </p:blipFill>
        <p:spPr>
          <a:xfrm>
            <a:off x="9459651" y="2363907"/>
            <a:ext cx="337962" cy="337962"/>
          </a:xfrm>
          <a:prstGeom prst="rect">
            <a:avLst/>
          </a:prstGeom>
        </p:spPr>
      </p:pic>
      <p:sp>
        <p:nvSpPr>
          <p:cNvPr id="24" name="Text 17"/>
          <p:cNvSpPr/>
          <p:nvPr/>
        </p:nvSpPr>
        <p:spPr>
          <a:xfrm>
            <a:off x="9326880" y="2962656"/>
            <a:ext cx="2093976"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Operations</a:t>
            </a:r>
            <a:endParaRPr lang="en-US" sz="1400" dirty="0"/>
          </a:p>
        </p:txBody>
      </p:sp>
      <p:sp>
        <p:nvSpPr>
          <p:cNvPr id="25" name="Text 18"/>
          <p:cNvSpPr/>
          <p:nvPr/>
        </p:nvSpPr>
        <p:spPr>
          <a:xfrm>
            <a:off x="9326880" y="3346704"/>
            <a:ext cx="2093976" cy="66751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Logs, retries, lifecycle, error semantics.</a:t>
            </a:r>
            <a:endParaRPr lang="en-US" sz="1150" dirty="0"/>
          </a:p>
        </p:txBody>
      </p:sp>
      <p:sp>
        <p:nvSpPr>
          <p:cNvPr id="26" name="Shape 19"/>
          <p:cNvSpPr/>
          <p:nvPr/>
        </p:nvSpPr>
        <p:spPr>
          <a:xfrm>
            <a:off x="548640" y="4434840"/>
            <a:ext cx="11091672" cy="1325880"/>
          </a:xfrm>
          <a:prstGeom prst="roundRect">
            <a:avLst>
              <a:gd name="adj" fmla="val 5517"/>
            </a:avLst>
          </a:prstGeom>
          <a:solidFill>
            <a:srgbClr val="0F2540"/>
          </a:solidFill>
          <a:ln/>
          <a:effectLst>
            <a:outerShdw sx="100000" sy="100000" kx="0" ky="0" algn="bl" rotWithShape="0" blurRad="114300" dist="38100" dir="5400000">
              <a:srgbClr val="0F172A">
                <a:alpha val="13000"/>
              </a:srgbClr>
            </a:outerShdw>
          </a:effectLst>
        </p:spPr>
      </p:sp>
      <p:sp>
        <p:nvSpPr>
          <p:cNvPr id="27" name="Shape 20"/>
          <p:cNvSpPr/>
          <p:nvPr/>
        </p:nvSpPr>
        <p:spPr>
          <a:xfrm>
            <a:off x="777240" y="4663440"/>
            <a:ext cx="566928" cy="566928"/>
          </a:xfrm>
          <a:prstGeom prst="oval">
            <a:avLst/>
          </a:prstGeom>
          <a:solidFill>
            <a:srgbClr val="13304F"/>
          </a:solidFill>
          <a:ln/>
        </p:spPr>
      </p:sp>
      <p:pic>
        <p:nvPicPr>
          <p:cNvPr id="28" name="Image 5" descr="preencoded.png">    </p:cNvPr>
          <p:cNvPicPr>
            <a:picLocks noChangeAspect="1"/>
          </p:cNvPicPr>
          <p:nvPr/>
        </p:nvPicPr>
        <p:blipFill>
          <a:blip r:embed="rId6"/>
          <a:stretch>
            <a:fillRect/>
          </a:stretch>
        </p:blipFill>
        <p:spPr>
          <a:xfrm>
            <a:off x="901964" y="4788164"/>
            <a:ext cx="317480" cy="317480"/>
          </a:xfrm>
          <a:prstGeom prst="rect">
            <a:avLst/>
          </a:prstGeom>
        </p:spPr>
      </p:pic>
      <p:sp>
        <p:nvSpPr>
          <p:cNvPr id="29" name="Text 21"/>
          <p:cNvSpPr/>
          <p:nvPr/>
        </p:nvSpPr>
        <p:spPr>
          <a:xfrm>
            <a:off x="1508760" y="4617720"/>
            <a:ext cx="98755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You could build all of this yourself.</a:t>
            </a:r>
            <a:endParaRPr lang="en-US" sz="1400" dirty="0"/>
          </a:p>
        </p:txBody>
      </p:sp>
      <p:sp>
        <p:nvSpPr>
          <p:cNvPr id="30" name="Text 22"/>
          <p:cNvSpPr/>
          <p:nvPr/>
        </p:nvSpPr>
        <p:spPr>
          <a:xfrm>
            <a:off x="1508760" y="5029200"/>
            <a:ext cx="9875520" cy="548640"/>
          </a:xfrm>
          <a:prstGeom prst="rect">
            <a:avLst/>
          </a:prstGeom>
          <a:noFill/>
          <a:ln/>
        </p:spPr>
        <p:txBody>
          <a:bodyPr wrap="square" lIns="0" tIns="0" rIns="0" bIns="0" rtlCol="0" anchor="ctr"/>
          <a:lstStyle/>
          <a:p>
            <a:pPr indent="0" marL="0">
              <a:lnSpc>
                <a:spcPct val="105000"/>
              </a:lnSpc>
              <a:buNone/>
            </a:pPr>
            <a:r>
              <a:rPr lang="en-US" sz="1300" dirty="0">
                <a:solidFill>
                  <a:srgbClr val="AAB7C8"/>
                </a:solidFill>
                <a:latin typeface="Calibri" pitchFamily="34" charset="0"/>
                <a:ea typeface="Calibri" pitchFamily="34" charset="-122"/>
                <a:cs typeface="Calibri" pitchFamily="34" charset="-120"/>
              </a:rPr>
              <a:t>Or you deploy the same server to Amazon Bedrock AgentCore Runtime and get every line of it managed.</a:t>
            </a:r>
            <a:endParaRPr lang="en-US" sz="1300" dirty="0"/>
          </a:p>
        </p:txBody>
      </p:sp>
      <p:sp>
        <p:nvSpPr>
          <p:cNvPr id="31" name="Text 23"/>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32" name="Text 24"/>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5 · PRODUCTION ON AWS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AgentCore Runtime + A2A: a transparent proxy</a:t>
            </a:r>
            <a:endParaRPr lang="en-US" sz="2800" dirty="0"/>
          </a:p>
        </p:txBody>
      </p:sp>
      <p:sp>
        <p:nvSpPr>
          <p:cNvPr id="5" name="Text 2"/>
          <p:cNvSpPr/>
          <p:nvPr/>
        </p:nvSpPr>
        <p:spPr>
          <a:xfrm>
            <a:off x="548640" y="1481328"/>
            <a:ext cx="5760720" cy="1280160"/>
          </a:xfrm>
          <a:prstGeom prst="rect">
            <a:avLst/>
          </a:prstGeom>
          <a:noFill/>
          <a:ln/>
        </p:spPr>
        <p:txBody>
          <a:bodyPr wrap="square" lIns="0" tIns="0" rIns="0" bIns="0" rtlCol="0" anchor="t"/>
          <a:lstStyle/>
          <a:p>
            <a:pPr indent="0" marL="0">
              <a:lnSpc>
                <a:spcPct val="110000"/>
              </a:lnSpc>
              <a:buNone/>
            </a:pPr>
            <a:r>
              <a:rPr lang="en-US" sz="1250" dirty="0">
                <a:solidFill>
                  <a:srgbClr val="0F172A"/>
                </a:solidFill>
              </a:rPr>
              <a:t>Announced Nov 2025: Bedrock AgentCore Runtime natively hosts A2A servers. It acts as a </a:t>
            </a:r>
            <a:pPr indent="0" marL="0">
              <a:lnSpc>
                <a:spcPct val="110000"/>
              </a:lnSpc>
              <a:buNone/>
            </a:pPr>
            <a:r>
              <a:rPr lang="en-US" sz="1250" b="1" dirty="0">
                <a:solidFill>
                  <a:srgbClr val="0D9488"/>
                </a:solidFill>
              </a:rPr>
              <a:t>transparent proxy</a:t>
            </a:r>
            <a:pPr indent="0" marL="0">
              <a:lnSpc>
                <a:spcPct val="110000"/>
              </a:lnSpc>
              <a:buNone/>
            </a:pPr>
            <a:r>
              <a:rPr lang="en-US" sz="1250" dirty="0">
                <a:solidFill>
                  <a:srgbClr val="0F172A"/>
                </a:solidFill>
              </a:rPr>
              <a:t>. Your JSON-RPC payloads pass through to your container unmodified, while AgentCore adds auth, scaling and session isolation around them.</a:t>
            </a:r>
            <a:endParaRPr lang="en-US" sz="1250" dirty="0"/>
          </a:p>
        </p:txBody>
      </p:sp>
      <p:sp>
        <p:nvSpPr>
          <p:cNvPr id="6" name="Shape 3"/>
          <p:cNvSpPr/>
          <p:nvPr/>
        </p:nvSpPr>
        <p:spPr>
          <a:xfrm>
            <a:off x="548640" y="2788920"/>
            <a:ext cx="5760720" cy="1417320"/>
          </a:xfrm>
          <a:prstGeom prst="roundRect">
            <a:avLst>
              <a:gd name="adj" fmla="val 5161"/>
            </a:avLst>
          </a:prstGeom>
          <a:solidFill>
            <a:srgbClr val="E6FBF6"/>
          </a:solidFill>
          <a:ln/>
          <a:effectLst>
            <a:outerShdw sx="100000" sy="100000" kx="0" ky="0" algn="bl" rotWithShape="0" blurRad="88900" dist="38100" dir="5400000">
              <a:srgbClr val="0F172A">
                <a:alpha val="9000"/>
              </a:srgbClr>
            </a:outerShdw>
          </a:effectLst>
        </p:spPr>
      </p:sp>
      <p:sp>
        <p:nvSpPr>
          <p:cNvPr id="7" name="Text 4"/>
          <p:cNvSpPr/>
          <p:nvPr/>
        </p:nvSpPr>
        <p:spPr>
          <a:xfrm>
            <a:off x="731520" y="2843784"/>
            <a:ext cx="5394960" cy="1307592"/>
          </a:xfrm>
          <a:prstGeom prst="rect">
            <a:avLst/>
          </a:prstGeom>
          <a:noFill/>
          <a:ln/>
        </p:spPr>
        <p:txBody>
          <a:bodyPr wrap="square" lIns="0" tIns="0" rIns="0" bIns="0" rtlCol="0" anchor="ctr"/>
          <a:lstStyle/>
          <a:p>
            <a:pPr algn="l" indent="0" marL="0">
              <a:lnSpc>
                <a:spcPct val="104000"/>
              </a:lnSpc>
              <a:buNone/>
            </a:pPr>
            <a:r>
              <a:rPr lang="en-US" sz="1250" b="1" dirty="0">
                <a:solidFill>
                  <a:srgbClr val="0D9488"/>
                </a:solidFill>
                <a:latin typeface="Calibri" pitchFamily="34" charset="0"/>
                <a:ea typeface="Calibri" pitchFamily="34" charset="-122"/>
                <a:cs typeface="Calibri" pitchFamily="34" charset="-120"/>
              </a:rPr>
              <a:t>The lucky alignment: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AgentCore expects an A2A server on port 9000 at root path /. That is exactly the Strands A2AServer default. The server you tested locally is already shaped for production.</a:t>
            </a:r>
            <a:endParaRPr lang="en-US" sz="12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4434840"/>
          <a:ext cx="5760720" cy="914400"/>
        </p:xfrm>
        <a:graphic>
          <a:graphicData uri="http://schemas.openxmlformats.org/drawingml/2006/table">
            <a:tbl>
              <a:tblPr/>
              <a:tblGrid>
                <a:gridCol w="2194560"/>
                <a:gridCol w="1554480"/>
                <a:gridCol w="2011680"/>
              </a:tblGrid>
              <a:tr h="4572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Protocol</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Port</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Mount path</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r>
              <a:tr h="457200">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HTTP</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8080</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/invocations</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MCP</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8000</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/mcp</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A2A</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9000</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r>
            </a:tbl>
          </a:graphicData>
        </a:graphic>
      </p:graphicFrame>
      <p:sp>
        <p:nvSpPr>
          <p:cNvPr id="9" name="Shape 5"/>
          <p:cNvSpPr/>
          <p:nvPr/>
        </p:nvSpPr>
        <p:spPr>
          <a:xfrm>
            <a:off x="6519672" y="1856232"/>
            <a:ext cx="5157216" cy="2344499"/>
          </a:xfrm>
          <a:prstGeom prst="roundRect">
            <a:avLst>
              <a:gd name="adj" fmla="val 2340"/>
            </a:avLst>
          </a:prstGeom>
          <a:solidFill>
            <a:srgbClr val="FFFFFF"/>
          </a:solidFill>
          <a:ln/>
          <a:effectLst>
            <a:outerShdw sx="100000" sy="100000" kx="0" ky="0" algn="bl" rotWithShape="0" blurRad="127000" dist="38100" dir="5400000">
              <a:srgbClr val="0F172A">
                <a:alpha val="12000"/>
              </a:srgbClr>
            </a:outerShdw>
          </a:effectLst>
        </p:spPr>
      </p:sp>
      <p:pic>
        <p:nvPicPr>
          <p:cNvPr id="10" name="Image 1" descr="/home/claude/a2a_deck/diagrams/agentcore_proxy.png">    </p:cNvPr>
          <p:cNvPicPr>
            <a:picLocks noChangeAspect="1"/>
          </p:cNvPicPr>
          <p:nvPr/>
        </p:nvPicPr>
        <p:blipFill>
          <a:blip r:embed="rId2"/>
          <a:stretch>
            <a:fillRect/>
          </a:stretch>
        </p:blipFill>
        <p:spPr>
          <a:xfrm>
            <a:off x="6583680" y="1920240"/>
            <a:ext cx="5029200" cy="2216483"/>
          </a:xfrm>
          <a:prstGeom prst="rect">
            <a:avLst/>
          </a:prstGeom>
        </p:spPr>
      </p:pic>
      <p:sp>
        <p:nvSpPr>
          <p:cNvPr id="11" name="Text 6"/>
          <p:cNvSpPr/>
          <p:nvPr/>
        </p:nvSpPr>
        <p:spPr>
          <a:xfrm>
            <a:off x="6583680" y="4206240"/>
            <a:ext cx="5029200" cy="45720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client → AgentCore (auth + isolation + scale) → your A2A container (port 9000)</a:t>
            </a:r>
            <a:endParaRPr lang="en-US" sz="1100" dirty="0"/>
          </a:p>
        </p:txBody>
      </p:sp>
      <p:sp>
        <p:nvSpPr>
          <p:cNvPr id="12" name="Text 7"/>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13" name="Text 8"/>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5 · PRODUCTION ON AWS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The AgentCore-ready server (runs locally too)</a:t>
            </a:r>
            <a:endParaRPr lang="en-US" sz="2800" dirty="0"/>
          </a:p>
        </p:txBody>
      </p:sp>
      <p:sp>
        <p:nvSpPr>
          <p:cNvPr id="5" name="Shape 2"/>
          <p:cNvSpPr/>
          <p:nvPr/>
        </p:nvSpPr>
        <p:spPr>
          <a:xfrm>
            <a:off x="548640" y="1417320"/>
            <a:ext cx="6903720" cy="4892040"/>
          </a:xfrm>
          <a:prstGeom prst="roundRect">
            <a:avLst>
              <a:gd name="adj" fmla="val 1121"/>
            </a:avLst>
          </a:prstGeom>
          <a:solidFill>
            <a:srgbClr val="0B1220"/>
          </a:solidFill>
          <a:ln/>
          <a:effectLst>
            <a:outerShdw sx="100000" sy="100000" kx="0" ky="0" algn="bl" rotWithShape="0" blurRad="139700" dist="38100" dir="5400000">
              <a:srgbClr val="0F172A">
                <a:alpha val="22000"/>
              </a:srgbClr>
            </a:outerShdw>
          </a:effectLst>
        </p:spPr>
      </p:sp>
      <p:sp>
        <p:nvSpPr>
          <p:cNvPr id="6" name="Text 3"/>
          <p:cNvSpPr/>
          <p:nvPr/>
        </p:nvSpPr>
        <p:spPr>
          <a:xfrm>
            <a:off x="731520" y="1545336"/>
            <a:ext cx="6537960" cy="4636008"/>
          </a:xfrm>
          <a:prstGeom prst="rect">
            <a:avLst/>
          </a:prstGeom>
          <a:noFill/>
          <a:ln/>
        </p:spPr>
        <p:txBody>
          <a:bodyPr wrap="square" lIns="0" tIns="0" rIns="0" bIns="0" rtlCol="0" anchor="t"/>
          <a:lstStyle/>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import os</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from strands import Agent</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from strands.multiagent.a2a import A2AServer</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from strands_tools.calculator import calculator</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from fastapi import FastAPI</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import uvicorn</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runtime_url = os.environ.get(</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"AGENTCORE_RUNTIME_URL", "http://127.0.0.1:9000/")</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agent = Agent(name="Calculator Agent", description="Arithmetic.",</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tools=[calculator], callback_handler=None)</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a2a_server = A2AServer(agent=agent, http_url=runtime_url, serve_at_root=True)</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app = FastAPI()</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@app.get("/ping")</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def ping(): return {"status": "healthy"}</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app.mount("/", a2a_server.to_fastapi_app())</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if __name__ == "__main__":</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uvicorn.run(app, host="0.0.0.0", port=9000)</a:t>
            </a:r>
            <a:endParaRPr lang="en-US" sz="1000" dirty="0"/>
          </a:p>
        </p:txBody>
      </p:sp>
      <p:sp>
        <p:nvSpPr>
          <p:cNvPr id="7" name="Shape 4"/>
          <p:cNvSpPr/>
          <p:nvPr/>
        </p:nvSpPr>
        <p:spPr>
          <a:xfrm>
            <a:off x="7680960" y="1481328"/>
            <a:ext cx="3959352" cy="2148840"/>
          </a:xfrm>
          <a:prstGeom prst="roundRect">
            <a:avLst>
              <a:gd name="adj" fmla="val 3404"/>
            </a:avLst>
          </a:prstGeom>
          <a:solidFill>
            <a:srgbClr val="E6FBF6"/>
          </a:solidFill>
          <a:ln/>
          <a:effectLst>
            <a:outerShdw sx="100000" sy="100000" kx="0" ky="0" algn="bl" rotWithShape="0" blurRad="88900" dist="38100" dir="5400000">
              <a:srgbClr val="0F172A">
                <a:alpha val="9000"/>
              </a:srgbClr>
            </a:outerShdw>
          </a:effectLst>
        </p:spPr>
      </p:sp>
      <p:sp>
        <p:nvSpPr>
          <p:cNvPr id="8" name="Text 5"/>
          <p:cNvSpPr/>
          <p:nvPr/>
        </p:nvSpPr>
        <p:spPr>
          <a:xfrm>
            <a:off x="7882128" y="1627632"/>
            <a:ext cx="3566160" cy="36576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Two production touches</a:t>
            </a:r>
            <a:endParaRPr lang="en-US" sz="1300" dirty="0"/>
          </a:p>
        </p:txBody>
      </p:sp>
      <p:sp>
        <p:nvSpPr>
          <p:cNvPr id="9" name="Text 6"/>
          <p:cNvSpPr/>
          <p:nvPr/>
        </p:nvSpPr>
        <p:spPr>
          <a:xfrm>
            <a:off x="7882128" y="2011680"/>
            <a:ext cx="3611880" cy="1554480"/>
          </a:xfrm>
          <a:prstGeom prst="rect">
            <a:avLst/>
          </a:prstGeom>
          <a:noFill/>
          <a:ln/>
        </p:spPr>
        <p:txBody>
          <a:bodyPr wrap="square" lIns="0" tIns="0" rIns="0" bIns="0" rtlCol="0" anchor="t"/>
          <a:lstStyle/>
          <a:p>
            <a:pPr indent="0" marL="0">
              <a:lnSpc>
                <a:spcPct val="108000"/>
              </a:lnSpc>
              <a:buNone/>
            </a:pPr>
            <a:r>
              <a:rPr lang="en-US" sz="1100" dirty="0">
                <a:solidFill>
                  <a:srgbClr val="0D9488"/>
                </a:solidFill>
                <a:latin typeface="Courier New" pitchFamily="34" charset="0"/>
                <a:ea typeface="Courier New" pitchFamily="34" charset="-122"/>
                <a:cs typeface="Courier New" pitchFamily="34" charset="-120"/>
              </a:rPr>
              <a:t>http_url</a:t>
            </a:r>
            <a:pPr indent="0" marL="0">
              <a:lnSpc>
                <a:spcPct val="108000"/>
              </a:lnSpc>
              <a:buNone/>
            </a:pPr>
            <a:r>
              <a:rPr lang="en-US" sz="1200" dirty="0">
                <a:solidFill>
                  <a:srgbClr val="0F172A"/>
                </a:solidFill>
              </a:rPr>
              <a:t> from the AGENTCORE_RUNTIME_URL env var, so the card advertises the right public URL.
</a:t>
            </a:r>
            <a:pPr indent="0" marL="0">
              <a:lnSpc>
                <a:spcPct val="108000"/>
              </a:lnSpc>
              <a:buNone/>
            </a:pPr>
            <a:r>
              <a:rPr lang="en-US" sz="1100" dirty="0">
                <a:solidFill>
                  <a:srgbClr val="0D9488"/>
                </a:solidFill>
                <a:latin typeface="Courier New" pitchFamily="34" charset="0"/>
                <a:ea typeface="Courier New" pitchFamily="34" charset="-122"/>
                <a:cs typeface="Courier New" pitchFamily="34" charset="-120"/>
              </a:rPr>
              <a:t>/ping</a:t>
            </a:r>
            <a:pPr indent="0" marL="0">
              <a:lnSpc>
                <a:spcPct val="108000"/>
              </a:lnSpc>
              <a:buNone/>
            </a:pPr>
            <a:r>
              <a:rPr lang="en-US" sz="1200" dirty="0">
                <a:solidFill>
                  <a:srgbClr val="0F172A"/>
                </a:solidFill>
              </a:rPr>
              <a:t> health check, and serve_at_root handles load-balancer path prefixes.</a:t>
            </a:r>
            <a:endParaRPr lang="en-US" sz="1100" dirty="0"/>
          </a:p>
        </p:txBody>
      </p:sp>
      <p:sp>
        <p:nvSpPr>
          <p:cNvPr id="10" name="Shape 7"/>
          <p:cNvSpPr/>
          <p:nvPr/>
        </p:nvSpPr>
        <p:spPr>
          <a:xfrm>
            <a:off x="7680960" y="3794760"/>
            <a:ext cx="3959352" cy="1508760"/>
          </a:xfrm>
          <a:prstGeom prst="roundRect">
            <a:avLst>
              <a:gd name="adj" fmla="val 4848"/>
            </a:avLst>
          </a:prstGeom>
          <a:solidFill>
            <a:srgbClr val="E7F7ED"/>
          </a:solidFill>
          <a:ln/>
          <a:effectLst>
            <a:outerShdw sx="100000" sy="100000" kx="0" ky="0" algn="bl" rotWithShape="0" blurRad="88900" dist="38100" dir="5400000">
              <a:srgbClr val="0F172A">
                <a:alpha val="9000"/>
              </a:srgbClr>
            </a:outerShdw>
          </a:effectLst>
        </p:spPr>
      </p:sp>
      <p:sp>
        <p:nvSpPr>
          <p:cNvPr id="11" name="Text 8"/>
          <p:cNvSpPr/>
          <p:nvPr/>
        </p:nvSpPr>
        <p:spPr>
          <a:xfrm>
            <a:off x="7863840" y="3849624"/>
            <a:ext cx="3593592" cy="1399032"/>
          </a:xfrm>
          <a:prstGeom prst="rect">
            <a:avLst/>
          </a:prstGeom>
          <a:noFill/>
          <a:ln/>
        </p:spPr>
        <p:txBody>
          <a:bodyPr wrap="square" lIns="0" tIns="0" rIns="0" bIns="0" rtlCol="0" anchor="ctr"/>
          <a:lstStyle/>
          <a:p>
            <a:pPr algn="l" indent="0" marL="0">
              <a:lnSpc>
                <a:spcPct val="104000"/>
              </a:lnSpc>
              <a:buNone/>
            </a:pPr>
            <a:r>
              <a:rPr lang="en-US" sz="1250" b="1" dirty="0">
                <a:solidFill>
                  <a:srgbClr val="15803D"/>
                </a:solidFill>
                <a:latin typeface="Calibri" pitchFamily="34" charset="0"/>
                <a:ea typeface="Calibri" pitchFamily="34" charset="-122"/>
                <a:cs typeface="Calibri" pitchFamily="34" charset="-120"/>
              </a:rPr>
              <a:t>Verified: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this exact code runs locally. /ping returns healthy and the card serves with protocolVersion 0.3.0. Same artifact ships to AgentCore.</a:t>
            </a:r>
            <a:endParaRPr lang="en-US" sz="1250" dirty="0"/>
          </a:p>
        </p:txBody>
      </p:sp>
      <p:sp>
        <p:nvSpPr>
          <p:cNvPr id="12" name="Text 9"/>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13" name="Text 10"/>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Shape 0"/>
          <p:cNvSpPr/>
          <p:nvPr/>
        </p:nvSpPr>
        <p:spPr>
          <a:xfrm>
            <a:off x="10774375" y="365760"/>
            <a:ext cx="548640" cy="548640"/>
          </a:xfrm>
          <a:prstGeom prst="oval">
            <a:avLst/>
          </a:prstGeom>
          <a:solidFill>
            <a:srgbClr val="E6FBF6"/>
          </a:solidFill>
          <a:ln/>
        </p:spPr>
      </p:sp>
      <p:pic>
        <p:nvPicPr>
          <p:cNvPr id="4" name="Image 1" descr="preencoded.png">    </p:cNvPr>
          <p:cNvPicPr>
            <a:picLocks noChangeAspect="1"/>
          </p:cNvPicPr>
          <p:nvPr/>
        </p:nvPicPr>
        <p:blipFill>
          <a:blip r:embed="rId2"/>
          <a:stretch>
            <a:fillRect/>
          </a:stretch>
        </p:blipFill>
        <p:spPr>
          <a:xfrm>
            <a:off x="10895076" y="486461"/>
            <a:ext cx="307238" cy="307238"/>
          </a:xfrm>
          <a:prstGeom prst="rect">
            <a:avLst/>
          </a:prstGeom>
        </p:spPr>
      </p:pic>
      <p:sp>
        <p:nvSpPr>
          <p:cNvPr id="5" name="Text 1"/>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5 · PRODUCTION ON AWS</a:t>
            </a:r>
            <a:endParaRPr lang="en-US" sz="1200" dirty="0"/>
          </a:p>
        </p:txBody>
      </p:sp>
      <p:sp>
        <p:nvSpPr>
          <p:cNvPr id="6" name="Text 2"/>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Deploy it</a:t>
            </a:r>
            <a:endParaRPr lang="en-US" sz="2800" dirty="0"/>
          </a:p>
        </p:txBody>
      </p:sp>
      <p:sp>
        <p:nvSpPr>
          <p:cNvPr id="7" name="Shape 3"/>
          <p:cNvSpPr/>
          <p:nvPr/>
        </p:nvSpPr>
        <p:spPr>
          <a:xfrm>
            <a:off x="548640" y="1481328"/>
            <a:ext cx="6309360" cy="2468880"/>
          </a:xfrm>
          <a:prstGeom prst="roundRect">
            <a:avLst>
              <a:gd name="adj" fmla="val 2222"/>
            </a:avLst>
          </a:prstGeom>
          <a:solidFill>
            <a:srgbClr val="0B1220"/>
          </a:solidFill>
          <a:ln/>
          <a:effectLst>
            <a:outerShdw sx="100000" sy="100000" kx="0" ky="0" algn="bl" rotWithShape="0" blurRad="139700" dist="38100" dir="5400000">
              <a:srgbClr val="0F172A">
                <a:alpha val="22000"/>
              </a:srgbClr>
            </a:outerShdw>
          </a:effectLst>
        </p:spPr>
      </p:sp>
      <p:sp>
        <p:nvSpPr>
          <p:cNvPr id="8" name="Text 4"/>
          <p:cNvSpPr/>
          <p:nvPr/>
        </p:nvSpPr>
        <p:spPr>
          <a:xfrm>
            <a:off x="731520" y="1609344"/>
            <a:ext cx="5943600" cy="2212848"/>
          </a:xfrm>
          <a:prstGeom prst="rect">
            <a:avLst/>
          </a:prstGeom>
          <a:noFill/>
          <a:ln/>
        </p:spPr>
        <p:txBody>
          <a:bodyPr wrap="square" lIns="0" tIns="0" rIns="0" bIns="0" rtlCol="0" anchor="t"/>
          <a:lstStyle/>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pip install bedrock-agentcore-starter-toolkit</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a:t>
            </a:r>
            <a:endParaRPr lang="en-US" sz="1000" dirty="0"/>
          </a:p>
          <a:p>
            <a:pPr algn="l" indent="0" marL="0">
              <a:lnSpc>
                <a:spcPct val="105000"/>
              </a:lnSpc>
              <a:buNone/>
            </a:pPr>
            <a:r>
              <a:rPr lang="en-US" sz="1000" dirty="0">
                <a:solidFill>
                  <a:srgbClr val="7C8BA1"/>
                </a:solidFill>
                <a:latin typeface="Courier New" pitchFamily="34" charset="0"/>
                <a:ea typeface="Courier New" pitchFamily="34" charset="-122"/>
                <a:cs typeface="Courier New" pitchFamily="34" charset="-120"/>
              </a:rPr>
              <a:t># requirements.txt:</a:t>
            </a:r>
            <a:endParaRPr lang="en-US" sz="1000" dirty="0"/>
          </a:p>
          <a:p>
            <a:pPr algn="l" indent="0" marL="0">
              <a:lnSpc>
                <a:spcPct val="105000"/>
              </a:lnSpc>
              <a:buNone/>
            </a:pPr>
            <a:r>
              <a:rPr lang="en-US" sz="1000" dirty="0">
                <a:solidFill>
                  <a:srgbClr val="7C8BA1"/>
                </a:solidFill>
                <a:latin typeface="Courier New" pitchFamily="34" charset="0"/>
                <a:ea typeface="Courier New" pitchFamily="34" charset="-122"/>
                <a:cs typeface="Courier New" pitchFamily="34" charset="-120"/>
              </a:rPr>
              <a:t>#   strands-agents[a2a]</a:t>
            </a:r>
            <a:endParaRPr lang="en-US" sz="1000" dirty="0"/>
          </a:p>
          <a:p>
            <a:pPr algn="l" indent="0" marL="0">
              <a:lnSpc>
                <a:spcPct val="105000"/>
              </a:lnSpc>
              <a:buNone/>
            </a:pPr>
            <a:r>
              <a:rPr lang="en-US" sz="1000" dirty="0">
                <a:solidFill>
                  <a:srgbClr val="7C8BA1"/>
                </a:solidFill>
                <a:latin typeface="Courier New" pitchFamily="34" charset="0"/>
                <a:ea typeface="Courier New" pitchFamily="34" charset="-122"/>
                <a:cs typeface="Courier New" pitchFamily="34" charset="-120"/>
              </a:rPr>
              <a:t>#   bedrock-agentcore</a:t>
            </a:r>
            <a:endParaRPr lang="en-US" sz="1000" dirty="0"/>
          </a:p>
          <a:p>
            <a:pPr algn="l" indent="0" marL="0">
              <a:lnSpc>
                <a:spcPct val="105000"/>
              </a:lnSpc>
              <a:buNone/>
            </a:pPr>
            <a:r>
              <a:rPr lang="en-US" sz="1000" dirty="0">
                <a:solidFill>
                  <a:srgbClr val="7C8BA1"/>
                </a:solidFill>
                <a:latin typeface="Courier New" pitchFamily="34" charset="0"/>
                <a:ea typeface="Courier New" pitchFamily="34" charset="-122"/>
                <a:cs typeface="Courier New" pitchFamily="34" charset="-120"/>
              </a:rPr>
              <a:t>#   strands-agents-tools</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agentcore configure -e my_a2a_server.py --protocol A2A</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agentcore deploy</a:t>
            </a:r>
            <a:endParaRPr lang="en-US" sz="1000" dirty="0"/>
          </a:p>
          <a:p>
            <a:pPr algn="l" indent="0" marL="0">
              <a:lnSpc>
                <a:spcPct val="105000"/>
              </a:lnSpc>
              <a:buNone/>
            </a:pPr>
            <a:r>
              <a:rPr lang="en-US" sz="1000" dirty="0">
                <a:solidFill>
                  <a:srgbClr val="7C8BA1"/>
                </a:solidFill>
                <a:latin typeface="Courier New" pitchFamily="34" charset="0"/>
                <a:ea typeface="Courier New" pitchFamily="34" charset="-122"/>
                <a:cs typeface="Courier New" pitchFamily="34" charset="-120"/>
              </a:rPr>
              <a:t># returns an ARN:</a:t>
            </a:r>
            <a:endParaRPr lang="en-US" sz="1000" dirty="0"/>
          </a:p>
          <a:p>
            <a:pPr algn="l" indent="0" marL="0">
              <a:lnSpc>
                <a:spcPct val="105000"/>
              </a:lnSpc>
              <a:buNone/>
            </a:pPr>
            <a:r>
              <a:rPr lang="en-US" sz="1000" dirty="0">
                <a:solidFill>
                  <a:srgbClr val="7C8BA1"/>
                </a:solidFill>
                <a:latin typeface="Courier New" pitchFamily="34" charset="0"/>
                <a:ea typeface="Courier New" pitchFamily="34" charset="-122"/>
                <a:cs typeface="Courier New" pitchFamily="34" charset="-120"/>
              </a:rPr>
              <a:t># arn:aws:bedrock-agentcore:us-west-2:ACCOUNT:runtime/my_a2a_server-xyz123</a:t>
            </a:r>
            <a:endParaRPr lang="en-US" sz="1000" dirty="0"/>
          </a:p>
        </p:txBody>
      </p:sp>
      <p:sp>
        <p:nvSpPr>
          <p:cNvPr id="9" name="Shape 5"/>
          <p:cNvSpPr/>
          <p:nvPr/>
        </p:nvSpPr>
        <p:spPr>
          <a:xfrm>
            <a:off x="6949440" y="1481328"/>
            <a:ext cx="4690872" cy="1554480"/>
          </a:xfrm>
          <a:prstGeom prst="roundRect">
            <a:avLst>
              <a:gd name="adj" fmla="val 4706"/>
            </a:avLst>
          </a:prstGeom>
          <a:solidFill>
            <a:srgbClr val="EEF3FE"/>
          </a:solidFill>
          <a:ln/>
          <a:effectLst>
            <a:outerShdw sx="100000" sy="100000" kx="0" ky="0" algn="bl" rotWithShape="0" blurRad="88900" dist="38100" dir="5400000">
              <a:srgbClr val="0F172A">
                <a:alpha val="9000"/>
              </a:srgbClr>
            </a:outerShdw>
          </a:effectLst>
        </p:spPr>
      </p:sp>
      <p:sp>
        <p:nvSpPr>
          <p:cNvPr id="10" name="Text 6"/>
          <p:cNvSpPr/>
          <p:nvPr/>
        </p:nvSpPr>
        <p:spPr>
          <a:xfrm>
            <a:off x="7132320" y="1536192"/>
            <a:ext cx="4325112" cy="1444752"/>
          </a:xfrm>
          <a:prstGeom prst="rect">
            <a:avLst/>
          </a:prstGeom>
          <a:noFill/>
          <a:ln/>
        </p:spPr>
        <p:txBody>
          <a:bodyPr wrap="square" lIns="0" tIns="0" rIns="0" bIns="0" rtlCol="0" anchor="ctr"/>
          <a:lstStyle/>
          <a:p>
            <a:pPr algn="l" indent="0" marL="0">
              <a:lnSpc>
                <a:spcPct val="104000"/>
              </a:lnSpc>
              <a:buNone/>
            </a:pPr>
            <a:r>
              <a:rPr lang="en-US" sz="1250" b="1" dirty="0">
                <a:solidFill>
                  <a:srgbClr val="2563EB"/>
                </a:solidFill>
                <a:latin typeface="Calibri" pitchFamily="34" charset="0"/>
                <a:ea typeface="Calibri" pitchFamily="34" charset="-122"/>
                <a:cs typeface="Calibri" pitchFamily="34" charset="-120"/>
              </a:rPr>
              <a:t>Auth: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configure a Cognito user pool (OAuth 2.0) or use IAM SigV4. AgentCore injects a per-session header (X-Amzn-Bedrock-AgentCore-Runtime-Session-Id) so concurrent callers never bleed into each other.</a:t>
            </a:r>
            <a:endParaRPr lang="en-US" sz="1250" dirty="0"/>
          </a:p>
        </p:txBody>
      </p:sp>
      <p:sp>
        <p:nvSpPr>
          <p:cNvPr id="11" name="Shape 7"/>
          <p:cNvSpPr/>
          <p:nvPr/>
        </p:nvSpPr>
        <p:spPr>
          <a:xfrm>
            <a:off x="6949440" y="3154680"/>
            <a:ext cx="4690872" cy="1371600"/>
          </a:xfrm>
          <a:prstGeom prst="roundRect">
            <a:avLst>
              <a:gd name="adj" fmla="val 5333"/>
            </a:avLst>
          </a:prstGeom>
          <a:solidFill>
            <a:srgbClr val="F1F5F9"/>
          </a:solidFill>
          <a:ln/>
          <a:effectLst>
            <a:outerShdw sx="100000" sy="100000" kx="0" ky="0" algn="bl" rotWithShape="0" blurRad="88900" dist="38100" dir="5400000">
              <a:srgbClr val="0F172A">
                <a:alpha val="9000"/>
              </a:srgbClr>
            </a:outerShdw>
          </a:effectLst>
        </p:spPr>
      </p:sp>
      <p:sp>
        <p:nvSpPr>
          <p:cNvPr id="12" name="Text 8"/>
          <p:cNvSpPr/>
          <p:nvPr/>
        </p:nvSpPr>
        <p:spPr>
          <a:xfrm>
            <a:off x="7132320" y="3209544"/>
            <a:ext cx="4325112" cy="1261872"/>
          </a:xfrm>
          <a:prstGeom prst="rect">
            <a:avLst/>
          </a:prstGeom>
          <a:noFill/>
          <a:ln/>
        </p:spPr>
        <p:txBody>
          <a:bodyPr wrap="square" lIns="0" tIns="0" rIns="0" bIns="0" rtlCol="0" anchor="ctr"/>
          <a:lstStyle/>
          <a:p>
            <a:pPr algn="l" indent="0" marL="0">
              <a:lnSpc>
                <a:spcPct val="104000"/>
              </a:lnSpc>
              <a:buNone/>
            </a:pPr>
            <a:r>
              <a:rPr lang="en-US" sz="1250" b="1" dirty="0">
                <a:solidFill>
                  <a:srgbClr val="475569"/>
                </a:solidFill>
                <a:latin typeface="Calibri" pitchFamily="34" charset="0"/>
                <a:ea typeface="Calibri" pitchFamily="34" charset="-122"/>
                <a:cs typeface="Calibri" pitchFamily="34" charset="-120"/>
              </a:rPr>
              <a:t>Newer path: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the AgentCore CLI (npm install -g @aws/agentcore) is now AWS's recommended tooling, with hot reload and broader framework support.</a:t>
            </a:r>
            <a:endParaRPr lang="en-US" sz="1250" dirty="0"/>
          </a:p>
        </p:txBody>
      </p:sp>
      <p:sp>
        <p:nvSpPr>
          <p:cNvPr id="13" name="Text 9"/>
          <p:cNvSpPr/>
          <p:nvPr/>
        </p:nvSpPr>
        <p:spPr>
          <a:xfrm>
            <a:off x="548640" y="4160520"/>
            <a:ext cx="6766560" cy="45720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One configure, one deploy, an ARN comes back. Session isolation is the multi-tenant safety net.</a:t>
            </a:r>
            <a:endParaRPr lang="en-US" sz="1150" dirty="0"/>
          </a:p>
        </p:txBody>
      </p:sp>
      <p:sp>
        <p:nvSpPr>
          <p:cNvPr id="14" name="Text 10"/>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15" name="Text 11"/>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5 · PRODUCTION ON AWS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Production concerns that will bite you</a:t>
            </a:r>
            <a:endParaRPr lang="en-US" sz="2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3017520"/>
                <a:gridCol w="3657600"/>
                <a:gridCol w="4416552"/>
              </a:tblGrid>
              <a:tr h="47548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Symptom</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Likely cause</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Move</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r>
              <a:tr h="475488">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403</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Auth method mismatch (SigV4 vs OAuth)</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Match the scheme the agent was configured with</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404,  -32501</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Wrong ARN or path</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Re-check the runtime ARN and /invocations URL</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75488">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400,  -32502</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Malformed JSON-RPC</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Validate request shape against the spec</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429,  -32503</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Throttling / quota</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Backoff and retry with jitter</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75488">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424,  -32505 RuntimeClientError</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Runtime client error</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Check CloudWatch logs (you have seen this one)</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r>
            </a:tbl>
          </a:graphicData>
        </a:graphic>
      </p:graphicFrame>
      <p:sp>
        <p:nvSpPr>
          <p:cNvPr id="6" name="Shape 2"/>
          <p:cNvSpPr/>
          <p:nvPr/>
        </p:nvSpPr>
        <p:spPr>
          <a:xfrm>
            <a:off x="548640" y="4983480"/>
            <a:ext cx="11091672" cy="914400"/>
          </a:xfrm>
          <a:prstGeom prst="roundRect">
            <a:avLst>
              <a:gd name="adj" fmla="val 8000"/>
            </a:avLst>
          </a:prstGeom>
          <a:solidFill>
            <a:srgbClr val="FEF6E7"/>
          </a:solidFill>
          <a:ln/>
          <a:effectLst>
            <a:outerShdw sx="100000" sy="100000" kx="0" ky="0" algn="bl" rotWithShape="0" blurRad="88900" dist="38100" dir="5400000">
              <a:srgbClr val="0F172A">
                <a:alpha val="9000"/>
              </a:srgbClr>
            </a:outerShdw>
          </a:effectLst>
        </p:spPr>
      </p:sp>
      <p:sp>
        <p:nvSpPr>
          <p:cNvPr id="7" name="Text 3"/>
          <p:cNvSpPr/>
          <p:nvPr/>
        </p:nvSpPr>
        <p:spPr>
          <a:xfrm>
            <a:off x="731520" y="5038344"/>
            <a:ext cx="10725912" cy="804672"/>
          </a:xfrm>
          <a:prstGeom prst="rect">
            <a:avLst/>
          </a:prstGeom>
          <a:noFill/>
          <a:ln/>
        </p:spPr>
        <p:txBody>
          <a:bodyPr wrap="square" lIns="0" tIns="0" rIns="0" bIns="0" rtlCol="0" anchor="ctr"/>
          <a:lstStyle/>
          <a:p>
            <a:pPr algn="l" indent="0" marL="0">
              <a:lnSpc>
                <a:spcPct val="104000"/>
              </a:lnSpc>
              <a:buNone/>
            </a:pPr>
            <a:r>
              <a:rPr lang="en-US" sz="1250" b="1" dirty="0">
                <a:solidFill>
                  <a:srgbClr val="B45309"/>
                </a:solidFill>
                <a:latin typeface="Calibri" pitchFamily="34" charset="0"/>
                <a:ea typeface="Calibri" pitchFamily="34" charset="-122"/>
                <a:cs typeface="Calibri" pitchFamily="34" charset="-120"/>
              </a:rPr>
              <a:t>The trap: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A2A returns errors as JSON-RPC error objects with HTTP 200. Do not trust the HTTP status alone. Read the JSON-RPC error.code.</a:t>
            </a:r>
            <a:endParaRPr lang="en-US" sz="1250" dirty="0"/>
          </a:p>
        </p:txBody>
      </p:sp>
      <p:sp>
        <p:nvSpPr>
          <p:cNvPr id="8" name="Text 4"/>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9" name="Text 5"/>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5 · PRODUCTION ON AWS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Reference architecture: incident response (AWS's own demo)</a:t>
            </a:r>
            <a:endParaRPr lang="en-US" sz="2800" dirty="0"/>
          </a:p>
        </p:txBody>
      </p:sp>
      <p:sp>
        <p:nvSpPr>
          <p:cNvPr id="5" name="Shape 2"/>
          <p:cNvSpPr/>
          <p:nvPr/>
        </p:nvSpPr>
        <p:spPr>
          <a:xfrm>
            <a:off x="484632" y="1453896"/>
            <a:ext cx="6163056" cy="2787796"/>
          </a:xfrm>
          <a:prstGeom prst="roundRect">
            <a:avLst>
              <a:gd name="adj" fmla="val 1968"/>
            </a:avLst>
          </a:prstGeom>
          <a:solidFill>
            <a:srgbClr val="FFFFFF"/>
          </a:solidFill>
          <a:ln/>
          <a:effectLst>
            <a:outerShdw sx="100000" sy="100000" kx="0" ky="0" algn="bl" rotWithShape="0" blurRad="127000" dist="38100" dir="5400000">
              <a:srgbClr val="0F172A">
                <a:alpha val="12000"/>
              </a:srgbClr>
            </a:outerShdw>
          </a:effectLst>
        </p:spPr>
      </p:sp>
      <p:pic>
        <p:nvPicPr>
          <p:cNvPr id="6" name="Image 1" descr="/home/claude/a2a_deck/diagrams/ref_arch.png">    </p:cNvPr>
          <p:cNvPicPr>
            <a:picLocks noChangeAspect="1"/>
          </p:cNvPicPr>
          <p:nvPr/>
        </p:nvPicPr>
        <p:blipFill>
          <a:blip r:embed="rId2"/>
          <a:stretch>
            <a:fillRect/>
          </a:stretch>
        </p:blipFill>
        <p:spPr>
          <a:xfrm>
            <a:off x="548640" y="1517904"/>
            <a:ext cx="6035040" cy="2659780"/>
          </a:xfrm>
          <a:prstGeom prst="rect">
            <a:avLst/>
          </a:prstGeom>
        </p:spPr>
      </p:pic>
      <p:sp>
        <p:nvSpPr>
          <p:cNvPr id="7" name="Shape 3"/>
          <p:cNvSpPr/>
          <p:nvPr/>
        </p:nvSpPr>
        <p:spPr>
          <a:xfrm>
            <a:off x="6812280" y="1554480"/>
            <a:ext cx="4828032" cy="749808"/>
          </a:xfrm>
          <a:prstGeom prst="roundRect">
            <a:avLst>
              <a:gd name="adj" fmla="val 7317"/>
            </a:avLst>
          </a:prstGeom>
          <a:solidFill>
            <a:srgbClr val="F8FAFC"/>
          </a:solidFill>
          <a:ln/>
          <a:effectLst>
            <a:outerShdw sx="100000" sy="100000" kx="0" ky="0" algn="bl" rotWithShape="0" blurRad="76200" dist="38100" dir="5400000">
              <a:srgbClr val="0F172A">
                <a:alpha val="8000"/>
              </a:srgbClr>
            </a:outerShdw>
          </a:effectLst>
        </p:spPr>
      </p:sp>
      <p:sp>
        <p:nvSpPr>
          <p:cNvPr id="8" name="Shape 4"/>
          <p:cNvSpPr/>
          <p:nvPr/>
        </p:nvSpPr>
        <p:spPr>
          <a:xfrm>
            <a:off x="6949440" y="1655064"/>
            <a:ext cx="548640" cy="548640"/>
          </a:xfrm>
          <a:prstGeom prst="oval">
            <a:avLst/>
          </a:prstGeom>
          <a:solidFill>
            <a:srgbClr val="E6FBF6"/>
          </a:solidFill>
          <a:ln/>
        </p:spPr>
      </p:sp>
      <p:pic>
        <p:nvPicPr>
          <p:cNvPr id="9" name="Image 2" descr="preencoded.png">    </p:cNvPr>
          <p:cNvPicPr>
            <a:picLocks noChangeAspect="1"/>
          </p:cNvPicPr>
          <p:nvPr/>
        </p:nvPicPr>
        <p:blipFill>
          <a:blip r:embed="rId3"/>
          <a:stretch>
            <a:fillRect/>
          </a:stretch>
        </p:blipFill>
        <p:spPr>
          <a:xfrm>
            <a:off x="7070141" y="1775765"/>
            <a:ext cx="307238" cy="307238"/>
          </a:xfrm>
          <a:prstGeom prst="rect">
            <a:avLst/>
          </a:prstGeom>
        </p:spPr>
      </p:pic>
      <p:sp>
        <p:nvSpPr>
          <p:cNvPr id="10" name="Text 5"/>
          <p:cNvSpPr/>
          <p:nvPr/>
        </p:nvSpPr>
        <p:spPr>
          <a:xfrm>
            <a:off x="7607808" y="1645920"/>
            <a:ext cx="3931920" cy="320040"/>
          </a:xfrm>
          <a:prstGeom prst="rect">
            <a:avLst/>
          </a:prstGeom>
          <a:noFill/>
          <a:ln/>
        </p:spPr>
        <p:txBody>
          <a:bodyPr wrap="square" lIns="0" tIns="0" rIns="0" bIns="0" rtlCol="0" anchor="ctr"/>
          <a:lstStyle/>
          <a:p>
            <a:pPr indent="0" marL="0">
              <a:buNone/>
            </a:pPr>
            <a:r>
              <a:rPr lang="en-US" sz="1250" b="1" dirty="0">
                <a:solidFill>
                  <a:srgbClr val="0F172A"/>
                </a:solidFill>
              </a:rPr>
              <a:t>Host agent  </a:t>
            </a:r>
            <a:pPr indent="0" marL="0">
              <a:buNone/>
            </a:pPr>
            <a:r>
              <a:rPr lang="en-US" sz="1100" b="1" dirty="0">
                <a:solidFill>
                  <a:srgbClr val="0D9488"/>
                </a:solidFill>
              </a:rPr>
              <a:t>(Google ADK)</a:t>
            </a:r>
            <a:endParaRPr lang="en-US" sz="1250" dirty="0"/>
          </a:p>
        </p:txBody>
      </p:sp>
      <p:sp>
        <p:nvSpPr>
          <p:cNvPr id="11" name="Text 6"/>
          <p:cNvSpPr/>
          <p:nvPr/>
        </p:nvSpPr>
        <p:spPr>
          <a:xfrm>
            <a:off x="7607808" y="1956816"/>
            <a:ext cx="3931920" cy="29260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receives the alert, orchestrates</a:t>
            </a:r>
            <a:endParaRPr lang="en-US" sz="1100" dirty="0"/>
          </a:p>
        </p:txBody>
      </p:sp>
      <p:sp>
        <p:nvSpPr>
          <p:cNvPr id="12" name="Shape 7"/>
          <p:cNvSpPr/>
          <p:nvPr/>
        </p:nvSpPr>
        <p:spPr>
          <a:xfrm>
            <a:off x="6812280" y="2414016"/>
            <a:ext cx="4828032" cy="749808"/>
          </a:xfrm>
          <a:prstGeom prst="roundRect">
            <a:avLst>
              <a:gd name="adj" fmla="val 7317"/>
            </a:avLst>
          </a:prstGeom>
          <a:solidFill>
            <a:srgbClr val="F8FAFC"/>
          </a:solidFill>
          <a:ln/>
          <a:effectLst>
            <a:outerShdw sx="100000" sy="100000" kx="0" ky="0" algn="bl" rotWithShape="0" blurRad="76200" dist="38100" dir="5400000">
              <a:srgbClr val="0F172A">
                <a:alpha val="8000"/>
              </a:srgbClr>
            </a:outerShdw>
          </a:effectLst>
        </p:spPr>
      </p:sp>
      <p:sp>
        <p:nvSpPr>
          <p:cNvPr id="13" name="Shape 8"/>
          <p:cNvSpPr/>
          <p:nvPr/>
        </p:nvSpPr>
        <p:spPr>
          <a:xfrm>
            <a:off x="6949440" y="2514600"/>
            <a:ext cx="548640" cy="548640"/>
          </a:xfrm>
          <a:prstGeom prst="oval">
            <a:avLst/>
          </a:prstGeom>
          <a:solidFill>
            <a:srgbClr val="E6FBF6"/>
          </a:solidFill>
          <a:ln/>
        </p:spPr>
      </p:sp>
      <p:pic>
        <p:nvPicPr>
          <p:cNvPr id="14" name="Image 3" descr="preencoded.png">    </p:cNvPr>
          <p:cNvPicPr>
            <a:picLocks noChangeAspect="1"/>
          </p:cNvPicPr>
          <p:nvPr/>
        </p:nvPicPr>
        <p:blipFill>
          <a:blip r:embed="rId4"/>
          <a:stretch>
            <a:fillRect/>
          </a:stretch>
        </p:blipFill>
        <p:spPr>
          <a:xfrm>
            <a:off x="7070141" y="2635301"/>
            <a:ext cx="307238" cy="307238"/>
          </a:xfrm>
          <a:prstGeom prst="rect">
            <a:avLst/>
          </a:prstGeom>
        </p:spPr>
      </p:pic>
      <p:sp>
        <p:nvSpPr>
          <p:cNvPr id="15" name="Text 9"/>
          <p:cNvSpPr/>
          <p:nvPr/>
        </p:nvSpPr>
        <p:spPr>
          <a:xfrm>
            <a:off x="7607808" y="2505456"/>
            <a:ext cx="3931920" cy="320040"/>
          </a:xfrm>
          <a:prstGeom prst="rect">
            <a:avLst/>
          </a:prstGeom>
          <a:noFill/>
          <a:ln/>
        </p:spPr>
        <p:txBody>
          <a:bodyPr wrap="square" lIns="0" tIns="0" rIns="0" bIns="0" rtlCol="0" anchor="ctr"/>
          <a:lstStyle/>
          <a:p>
            <a:pPr indent="0" marL="0">
              <a:buNone/>
            </a:pPr>
            <a:r>
              <a:rPr lang="en-US" sz="1250" b="1" dirty="0">
                <a:solidFill>
                  <a:srgbClr val="0F172A"/>
                </a:solidFill>
              </a:rPr>
              <a:t>Monitoring agent  </a:t>
            </a:r>
            <a:pPr indent="0" marL="0">
              <a:buNone/>
            </a:pPr>
            <a:r>
              <a:rPr lang="en-US" sz="1100" b="1" dirty="0">
                <a:solidFill>
                  <a:srgbClr val="0D9488"/>
                </a:solidFill>
              </a:rPr>
              <a:t>(Strands)</a:t>
            </a:r>
            <a:endParaRPr lang="en-US" sz="1250" dirty="0"/>
          </a:p>
        </p:txBody>
      </p:sp>
      <p:sp>
        <p:nvSpPr>
          <p:cNvPr id="16" name="Text 10"/>
          <p:cNvSpPr/>
          <p:nvPr/>
        </p:nvSpPr>
        <p:spPr>
          <a:xfrm>
            <a:off x="7607808" y="2816352"/>
            <a:ext cx="3931920" cy="29260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pulls metrics, diagnoses</a:t>
            </a:r>
            <a:endParaRPr lang="en-US" sz="1100" dirty="0"/>
          </a:p>
        </p:txBody>
      </p:sp>
      <p:sp>
        <p:nvSpPr>
          <p:cNvPr id="17" name="Shape 11"/>
          <p:cNvSpPr/>
          <p:nvPr/>
        </p:nvSpPr>
        <p:spPr>
          <a:xfrm>
            <a:off x="6812280" y="3273552"/>
            <a:ext cx="4828032" cy="749808"/>
          </a:xfrm>
          <a:prstGeom prst="roundRect">
            <a:avLst>
              <a:gd name="adj" fmla="val 7317"/>
            </a:avLst>
          </a:prstGeom>
          <a:solidFill>
            <a:srgbClr val="F8FAFC"/>
          </a:solidFill>
          <a:ln/>
          <a:effectLst>
            <a:outerShdw sx="100000" sy="100000" kx="0" ky="0" algn="bl" rotWithShape="0" blurRad="76200" dist="38100" dir="5400000">
              <a:srgbClr val="0F172A">
                <a:alpha val="8000"/>
              </a:srgbClr>
            </a:outerShdw>
          </a:effectLst>
        </p:spPr>
      </p:sp>
      <p:sp>
        <p:nvSpPr>
          <p:cNvPr id="18" name="Shape 12"/>
          <p:cNvSpPr/>
          <p:nvPr/>
        </p:nvSpPr>
        <p:spPr>
          <a:xfrm>
            <a:off x="6949440" y="3374136"/>
            <a:ext cx="548640" cy="548640"/>
          </a:xfrm>
          <a:prstGeom prst="oval">
            <a:avLst/>
          </a:prstGeom>
          <a:solidFill>
            <a:srgbClr val="E6FBF6"/>
          </a:solidFill>
          <a:ln/>
        </p:spPr>
      </p:sp>
      <p:pic>
        <p:nvPicPr>
          <p:cNvPr id="19" name="Image 4" descr="preencoded.png">    </p:cNvPr>
          <p:cNvPicPr>
            <a:picLocks noChangeAspect="1"/>
          </p:cNvPicPr>
          <p:nvPr/>
        </p:nvPicPr>
        <p:blipFill>
          <a:blip r:embed="rId5"/>
          <a:stretch>
            <a:fillRect/>
          </a:stretch>
        </p:blipFill>
        <p:spPr>
          <a:xfrm>
            <a:off x="7070141" y="3494837"/>
            <a:ext cx="307238" cy="307238"/>
          </a:xfrm>
          <a:prstGeom prst="rect">
            <a:avLst/>
          </a:prstGeom>
        </p:spPr>
      </p:pic>
      <p:sp>
        <p:nvSpPr>
          <p:cNvPr id="20" name="Text 13"/>
          <p:cNvSpPr/>
          <p:nvPr/>
        </p:nvSpPr>
        <p:spPr>
          <a:xfrm>
            <a:off x="7607808" y="3364992"/>
            <a:ext cx="3931920" cy="320040"/>
          </a:xfrm>
          <a:prstGeom prst="rect">
            <a:avLst/>
          </a:prstGeom>
          <a:noFill/>
          <a:ln/>
        </p:spPr>
        <p:txBody>
          <a:bodyPr wrap="square" lIns="0" tIns="0" rIns="0" bIns="0" rtlCol="0" anchor="ctr"/>
          <a:lstStyle/>
          <a:p>
            <a:pPr indent="0" marL="0">
              <a:buNone/>
            </a:pPr>
            <a:r>
              <a:rPr lang="en-US" sz="1250" b="1" dirty="0">
                <a:solidFill>
                  <a:srgbClr val="0F172A"/>
                </a:solidFill>
              </a:rPr>
              <a:t>Operations agent  </a:t>
            </a:r>
            <a:pPr indent="0" marL="0">
              <a:buNone/>
            </a:pPr>
            <a:r>
              <a:rPr lang="en-US" sz="1100" b="1" dirty="0">
                <a:solidFill>
                  <a:srgbClr val="0D9488"/>
                </a:solidFill>
              </a:rPr>
              <a:t>(OpenAI Agents SDK)</a:t>
            </a:r>
            <a:endParaRPr lang="en-US" sz="1250" dirty="0"/>
          </a:p>
        </p:txBody>
      </p:sp>
      <p:sp>
        <p:nvSpPr>
          <p:cNvPr id="21" name="Text 14"/>
          <p:cNvSpPr/>
          <p:nvPr/>
        </p:nvSpPr>
        <p:spPr>
          <a:xfrm>
            <a:off x="7607808" y="3675888"/>
            <a:ext cx="3931920" cy="29260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executes the remediation</a:t>
            </a:r>
            <a:endParaRPr lang="en-US" sz="1100" dirty="0"/>
          </a:p>
        </p:txBody>
      </p:sp>
      <p:sp>
        <p:nvSpPr>
          <p:cNvPr id="22" name="Shape 15"/>
          <p:cNvSpPr/>
          <p:nvPr/>
        </p:nvSpPr>
        <p:spPr>
          <a:xfrm>
            <a:off x="6812280" y="4160520"/>
            <a:ext cx="4828032" cy="1143000"/>
          </a:xfrm>
          <a:prstGeom prst="roundRect">
            <a:avLst>
              <a:gd name="adj" fmla="val 6400"/>
            </a:avLst>
          </a:prstGeom>
          <a:solidFill>
            <a:srgbClr val="E6FBF6"/>
          </a:solidFill>
          <a:ln/>
          <a:effectLst>
            <a:outerShdw sx="100000" sy="100000" kx="0" ky="0" algn="bl" rotWithShape="0" blurRad="88900" dist="38100" dir="5400000">
              <a:srgbClr val="0F172A">
                <a:alpha val="9000"/>
              </a:srgbClr>
            </a:outerShdw>
          </a:effectLst>
        </p:spPr>
      </p:sp>
      <p:sp>
        <p:nvSpPr>
          <p:cNvPr id="23" name="Text 16"/>
          <p:cNvSpPr/>
          <p:nvPr/>
        </p:nvSpPr>
        <p:spPr>
          <a:xfrm>
            <a:off x="6995160" y="4215384"/>
            <a:ext cx="4462272" cy="1033272"/>
          </a:xfrm>
          <a:prstGeom prst="rect">
            <a:avLst/>
          </a:prstGeom>
          <a:noFill/>
          <a:ln/>
        </p:spPr>
        <p:txBody>
          <a:bodyPr wrap="square" lIns="0" tIns="0" rIns="0" bIns="0" rtlCol="0" anchor="ctr"/>
          <a:lstStyle/>
          <a:p>
            <a:pPr algn="l" indent="0" marL="0">
              <a:lnSpc>
                <a:spcPct val="104000"/>
              </a:lnSpc>
              <a:buNone/>
            </a:pPr>
            <a:r>
              <a:rPr lang="en-US" sz="1250" b="1" dirty="0">
                <a:solidFill>
                  <a:srgbClr val="0D9488"/>
                </a:solidFill>
                <a:latin typeface="Calibri" pitchFamily="34" charset="0"/>
                <a:ea typeface="Calibri" pitchFamily="34" charset="-122"/>
                <a:cs typeface="Calibri" pitchFamily="34" charset="-120"/>
              </a:rPr>
              <a:t>All different frameworks.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All talk over A2A. All run on AgentCore with managed auth and isolation. No agent knows what framework its peers use.</a:t>
            </a:r>
            <a:endParaRPr lang="en-US" sz="1250" dirty="0"/>
          </a:p>
        </p:txBody>
      </p:sp>
      <p:sp>
        <p:nvSpPr>
          <p:cNvPr id="24" name="Shape 17"/>
          <p:cNvSpPr/>
          <p:nvPr/>
        </p:nvSpPr>
        <p:spPr>
          <a:xfrm>
            <a:off x="548640" y="5349240"/>
            <a:ext cx="11091672" cy="841248"/>
          </a:xfrm>
          <a:prstGeom prst="roundRect">
            <a:avLst>
              <a:gd name="adj" fmla="val 8696"/>
            </a:avLst>
          </a:prstGeom>
          <a:solidFill>
            <a:srgbClr val="EEF3FE"/>
          </a:solidFill>
          <a:ln/>
          <a:effectLst>
            <a:outerShdw sx="100000" sy="100000" kx="0" ky="0" algn="bl" rotWithShape="0" blurRad="88900" dist="38100" dir="5400000">
              <a:srgbClr val="0F172A">
                <a:alpha val="9000"/>
              </a:srgbClr>
            </a:outerShdw>
          </a:effectLst>
        </p:spPr>
      </p:sp>
      <p:sp>
        <p:nvSpPr>
          <p:cNvPr id="25" name="Text 18"/>
          <p:cNvSpPr/>
          <p:nvPr/>
        </p:nvSpPr>
        <p:spPr>
          <a:xfrm>
            <a:off x="731520" y="5404104"/>
            <a:ext cx="10725912" cy="731520"/>
          </a:xfrm>
          <a:prstGeom prst="rect">
            <a:avLst/>
          </a:prstGeom>
          <a:noFill/>
          <a:ln/>
        </p:spPr>
        <p:txBody>
          <a:bodyPr wrap="square" lIns="0" tIns="0" rIns="0" bIns="0" rtlCol="0" anchor="ctr"/>
          <a:lstStyle/>
          <a:p>
            <a:pPr algn="l" indent="0" marL="0">
              <a:lnSpc>
                <a:spcPct val="104000"/>
              </a:lnSpc>
              <a:buNone/>
            </a:pPr>
            <a:r>
              <a:rPr lang="en-US" sz="1250" b="1" dirty="0">
                <a:solidFill>
                  <a:srgbClr val="2563EB"/>
                </a:solidFill>
                <a:latin typeface="Calibri" pitchFamily="34" charset="0"/>
                <a:ea typeface="Calibri" pitchFamily="34" charset="-122"/>
                <a:cs typeface="Calibri" pitchFamily="34" charset="-120"/>
              </a:rPr>
              <a:t>Mapped to you: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swap in TravelMind (host), a Fraud agent (monitoring), a Refund agent (ops). Same shape, your product.</a:t>
            </a:r>
            <a:endParaRPr lang="en-US" sz="1250" dirty="0"/>
          </a:p>
        </p:txBody>
      </p:sp>
      <p:sp>
        <p:nvSpPr>
          <p:cNvPr id="26" name="Text 19"/>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27" name="Text 20"/>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2011680" y="4206240"/>
            <a:ext cx="5486400" cy="5486400"/>
          </a:xfrm>
          <a:prstGeom prst="oval">
            <a:avLst/>
          </a:prstGeom>
          <a:solidFill>
            <a:srgbClr val="0D9488">
              <a:alpha val="10000"/>
            </a:srgbClr>
          </a:solidFill>
          <a:ln/>
        </p:spPr>
      </p:sp>
      <p:sp>
        <p:nvSpPr>
          <p:cNvPr id="3" name="Shape 1"/>
          <p:cNvSpPr/>
          <p:nvPr/>
        </p:nvSpPr>
        <p:spPr>
          <a:xfrm>
            <a:off x="8961120" y="-2194560"/>
            <a:ext cx="5943600" cy="5943600"/>
          </a:xfrm>
          <a:prstGeom prst="oval">
            <a:avLst/>
          </a:prstGeom>
          <a:solidFill>
            <a:srgbClr val="2563EB">
              <a:alpha val="8000"/>
            </a:srgbClr>
          </a:solidFill>
          <a:ln/>
        </p:spPr>
      </p:sp>
      <p:pic>
        <p:nvPicPr>
          <p:cNvPr id="4" name="Image 0" descr="preencoded.png">    </p:cNvPr>
          <p:cNvPicPr>
            <a:picLocks noChangeAspect="1"/>
          </p:cNvPicPr>
          <p:nvPr/>
        </p:nvPicPr>
        <p:blipFill>
          <a:blip r:embed="rId1">
            <a:alphaModFix amt="90000"/>
          </a:blip>
          <a:stretch>
            <a:fillRect/>
          </a:stretch>
        </p:blipFill>
        <p:spPr>
          <a:xfrm>
            <a:off x="7955280" y="822960"/>
            <a:ext cx="3931920" cy="4983480"/>
          </a:xfrm>
          <a:prstGeom prst="rect">
            <a:avLst/>
          </a:prstGeom>
        </p:spPr>
      </p:pic>
      <p:sp>
        <p:nvSpPr>
          <p:cNvPr id="5" name="Text 2"/>
          <p:cNvSpPr/>
          <p:nvPr/>
        </p:nvSpPr>
        <p:spPr>
          <a:xfrm>
            <a:off x="548640" y="1737360"/>
            <a:ext cx="2194560" cy="1463040"/>
          </a:xfrm>
          <a:prstGeom prst="rect">
            <a:avLst/>
          </a:prstGeom>
          <a:noFill/>
          <a:ln/>
        </p:spPr>
        <p:txBody>
          <a:bodyPr wrap="square" lIns="0" tIns="0" rIns="0" bIns="0" rtlCol="0" anchor="ctr"/>
          <a:lstStyle/>
          <a:p>
            <a:pPr indent="0" marL="0">
              <a:buNone/>
            </a:pPr>
            <a:r>
              <a:rPr lang="en-US" sz="9600" b="1" dirty="0">
                <a:solidFill>
                  <a:srgbClr val="0D9488"/>
                </a:solidFill>
                <a:latin typeface="Cambria" pitchFamily="34" charset="0"/>
                <a:ea typeface="Cambria" pitchFamily="34" charset="-122"/>
                <a:cs typeface="Cambria" pitchFamily="34" charset="-120"/>
              </a:rPr>
              <a:t>06</a:t>
            </a:r>
            <a:endParaRPr lang="en-US" sz="9600" dirty="0"/>
          </a:p>
        </p:txBody>
      </p:sp>
      <p:sp>
        <p:nvSpPr>
          <p:cNvPr id="6" name="Text 3"/>
          <p:cNvSpPr/>
          <p:nvPr/>
        </p:nvSpPr>
        <p:spPr>
          <a:xfrm>
            <a:off x="566928" y="3246120"/>
            <a:ext cx="77724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Wrap</a:t>
            </a:r>
            <a:endParaRPr lang="en-US" sz="4000" dirty="0"/>
          </a:p>
        </p:txBody>
      </p:sp>
      <p:sp>
        <p:nvSpPr>
          <p:cNvPr id="7" name="Text 4"/>
          <p:cNvSpPr/>
          <p:nvPr/>
        </p:nvSpPr>
        <p:spPr>
          <a:xfrm>
            <a:off x="566928" y="4206240"/>
            <a:ext cx="7132320" cy="731520"/>
          </a:xfrm>
          <a:prstGeom prst="rect">
            <a:avLst/>
          </a:prstGeom>
          <a:noFill/>
          <a:ln/>
        </p:spPr>
        <p:txBody>
          <a:bodyPr wrap="square" lIns="0" tIns="0" rIns="0" bIns="0" rtlCol="0" anchor="ctr"/>
          <a:lstStyle/>
          <a:p>
            <a:pPr indent="0" marL="0">
              <a:lnSpc>
                <a:spcPct val="110000"/>
              </a:lnSpc>
              <a:buNone/>
            </a:pPr>
            <a:r>
              <a:rPr lang="en-US" sz="1500" dirty="0">
                <a:solidFill>
                  <a:srgbClr val="AAB7C8"/>
                </a:solidFill>
                <a:latin typeface="Calibri" pitchFamily="34" charset="0"/>
                <a:ea typeface="Calibri" pitchFamily="34" charset="-122"/>
                <a:cs typeface="Calibri" pitchFamily="34" charset="-120"/>
              </a:rPr>
              <a:t>The pitfalls that save a debugging session, the whole deck on one card, and the two notebooks you build next.</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Shape 0"/>
          <p:cNvSpPr/>
          <p:nvPr/>
        </p:nvSpPr>
        <p:spPr>
          <a:xfrm>
            <a:off x="10774375" y="365760"/>
            <a:ext cx="548640" cy="548640"/>
          </a:xfrm>
          <a:prstGeom prst="oval">
            <a:avLst/>
          </a:prstGeom>
          <a:solidFill>
            <a:srgbClr val="FEF6E7"/>
          </a:solidFill>
          <a:ln/>
        </p:spPr>
      </p:sp>
      <p:pic>
        <p:nvPicPr>
          <p:cNvPr id="4" name="Image 1" descr="preencoded.png">    </p:cNvPr>
          <p:cNvPicPr>
            <a:picLocks noChangeAspect="1"/>
          </p:cNvPicPr>
          <p:nvPr/>
        </p:nvPicPr>
        <p:blipFill>
          <a:blip r:embed="rId2"/>
          <a:stretch>
            <a:fillRect/>
          </a:stretch>
        </p:blipFill>
        <p:spPr>
          <a:xfrm>
            <a:off x="10895076" y="486461"/>
            <a:ext cx="307238" cy="307238"/>
          </a:xfrm>
          <a:prstGeom prst="rect">
            <a:avLst/>
          </a:prstGeom>
        </p:spPr>
      </p:pic>
      <p:sp>
        <p:nvSpPr>
          <p:cNvPr id="5" name="Text 1"/>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6 · WRAP</a:t>
            </a:r>
            <a:endParaRPr lang="en-US" sz="1200" dirty="0"/>
          </a:p>
        </p:txBody>
      </p:sp>
      <p:sp>
        <p:nvSpPr>
          <p:cNvPr id="6" name="Text 2"/>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Pitfalls and gotchas (keep this slide)</a:t>
            </a:r>
            <a:endParaRPr lang="en-US" sz="2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926080"/>
                <a:gridCol w="3657600"/>
                <a:gridCol w="4507992"/>
              </a:tblGrid>
              <a:tr h="45720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Gotcha</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What happens</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Guard</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r>
              <a:tr h="457200">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Streaming event key</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event["data"] prints nothing in 1.42</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Use event["type"]=="a2a_stream", then event["result"]</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A2AAgent in a Swarm</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Not supported</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Use Graph or the tool pattern for remote peers</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Card drift</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Client expects skills the agent dropped</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Treat the card as a contract; version it</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Auth mismatch</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403 in production</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Same scheme on both ends (OAuth or SigV4)</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Reaching for A2A too early</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Latency and ops cost for no gain</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Stay in-process until a boundary forces you out</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HTTP 200 with error body</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Silent failures</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Read JSON-RPC error.code, not just HTTP status</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bl>
          </a:graphicData>
        </a:graphic>
      </p:graphicFrame>
      <p:sp>
        <p:nvSpPr>
          <p:cNvPr id="8" name="Text 3"/>
          <p:cNvSpPr/>
          <p:nvPr/>
        </p:nvSpPr>
        <p:spPr>
          <a:xfrm>
            <a:off x="548640" y="5440680"/>
            <a:ext cx="11091672" cy="45720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Every row is something we verified live, or that AWS documents. This is the save-you-a-debugging-session slide.</a:t>
            </a:r>
            <a:endParaRPr lang="en-US" sz="1150" dirty="0"/>
          </a:p>
        </p:txBody>
      </p:sp>
      <p:sp>
        <p:nvSpPr>
          <p:cNvPr id="9" name="Text 4"/>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10" name="Text 5"/>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2011680" y="4206240"/>
            <a:ext cx="5486400" cy="5486400"/>
          </a:xfrm>
          <a:prstGeom prst="oval">
            <a:avLst/>
          </a:prstGeom>
          <a:solidFill>
            <a:srgbClr val="0D9488">
              <a:alpha val="10000"/>
            </a:srgbClr>
          </a:solidFill>
          <a:ln/>
        </p:spPr>
      </p:sp>
      <p:sp>
        <p:nvSpPr>
          <p:cNvPr id="3" name="Shape 1"/>
          <p:cNvSpPr/>
          <p:nvPr/>
        </p:nvSpPr>
        <p:spPr>
          <a:xfrm>
            <a:off x="8961120" y="-2194560"/>
            <a:ext cx="5943600" cy="5943600"/>
          </a:xfrm>
          <a:prstGeom prst="oval">
            <a:avLst/>
          </a:prstGeom>
          <a:solidFill>
            <a:srgbClr val="2563EB">
              <a:alpha val="8000"/>
            </a:srgbClr>
          </a:solidFill>
          <a:ln/>
        </p:spPr>
      </p:sp>
      <p:pic>
        <p:nvPicPr>
          <p:cNvPr id="4" name="Image 0" descr="preencoded.png">    </p:cNvPr>
          <p:cNvPicPr>
            <a:picLocks noChangeAspect="1"/>
          </p:cNvPicPr>
          <p:nvPr/>
        </p:nvPicPr>
        <p:blipFill>
          <a:blip r:embed="rId1">
            <a:alphaModFix amt="88000"/>
          </a:blip>
          <a:stretch>
            <a:fillRect/>
          </a:stretch>
        </p:blipFill>
        <p:spPr>
          <a:xfrm>
            <a:off x="8321040" y="914400"/>
            <a:ext cx="3657600" cy="4636008"/>
          </a:xfrm>
          <a:prstGeom prst="rect">
            <a:avLst/>
          </a:prstGeom>
        </p:spPr>
      </p:pic>
      <p:sp>
        <p:nvSpPr>
          <p:cNvPr id="5" name="Text 2"/>
          <p:cNvSpPr/>
          <p:nvPr/>
        </p:nvSpPr>
        <p:spPr>
          <a:xfrm>
            <a:off x="548640" y="502920"/>
            <a:ext cx="8229600" cy="320040"/>
          </a:xfrm>
          <a:prstGeom prst="rect">
            <a:avLst/>
          </a:prstGeom>
          <a:noFill/>
          <a:ln/>
        </p:spPr>
        <p:txBody>
          <a:bodyPr wrap="square" lIns="0" tIns="0" rIns="0" bIns="0" rtlCol="0" anchor="ctr"/>
          <a:lstStyle/>
          <a:p>
            <a:pPr indent="0" marL="0">
              <a:buNone/>
            </a:pPr>
            <a:r>
              <a:rPr lang="en-US" sz="1300" b="1" spc="200" kern="0" dirty="0">
                <a:solidFill>
                  <a:srgbClr val="14B8A6"/>
                </a:solidFill>
                <a:latin typeface="Calibri" pitchFamily="34" charset="0"/>
                <a:ea typeface="Calibri" pitchFamily="34" charset="-122"/>
                <a:cs typeface="Calibri" pitchFamily="34" charset="-120"/>
              </a:rPr>
              <a:t>ONE-SLIDE CHEAT SHEET</a:t>
            </a:r>
            <a:endParaRPr lang="en-US" sz="1300" dirty="0"/>
          </a:p>
        </p:txBody>
      </p:sp>
      <p:sp>
        <p:nvSpPr>
          <p:cNvPr id="6" name="Text 3"/>
          <p:cNvSpPr/>
          <p:nvPr/>
        </p:nvSpPr>
        <p:spPr>
          <a:xfrm>
            <a:off x="548640" y="841248"/>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If you keep one slide, keep this one</a:t>
            </a:r>
            <a:endParaRPr lang="en-US" sz="2800" dirty="0"/>
          </a:p>
        </p:txBody>
      </p:sp>
      <p:sp>
        <p:nvSpPr>
          <p:cNvPr id="7" name="Shape 4"/>
          <p:cNvSpPr/>
          <p:nvPr/>
        </p:nvSpPr>
        <p:spPr>
          <a:xfrm>
            <a:off x="548640" y="1783080"/>
            <a:ext cx="7315200" cy="640080"/>
          </a:xfrm>
          <a:prstGeom prst="roundRect">
            <a:avLst>
              <a:gd name="adj" fmla="val 8571"/>
            </a:avLst>
          </a:prstGeom>
          <a:solidFill>
            <a:srgbClr val="13304F"/>
          </a:solidFill>
          <a:ln/>
        </p:spPr>
      </p:sp>
      <p:sp>
        <p:nvSpPr>
          <p:cNvPr id="8" name="Text 5"/>
          <p:cNvSpPr/>
          <p:nvPr/>
        </p:nvSpPr>
        <p:spPr>
          <a:xfrm>
            <a:off x="777240" y="1783080"/>
            <a:ext cx="3657600" cy="640080"/>
          </a:xfrm>
          <a:prstGeom prst="rect">
            <a:avLst/>
          </a:prstGeom>
          <a:noFill/>
          <a:ln/>
        </p:spPr>
        <p:txBody>
          <a:bodyPr wrap="square" lIns="0" tIns="0" rIns="0" bIns="0" rtlCol="0" anchor="ctr"/>
          <a:lstStyle/>
          <a:p>
            <a:pPr indent="0" marL="0">
              <a:buNone/>
            </a:pPr>
            <a:r>
              <a:rPr lang="en-US" sz="1300" dirty="0">
                <a:solidFill>
                  <a:srgbClr val="AAB7C8"/>
                </a:solidFill>
                <a:latin typeface="Calibri" pitchFamily="34" charset="0"/>
                <a:ea typeface="Calibri" pitchFamily="34" charset="-122"/>
                <a:cs typeface="Calibri" pitchFamily="34" charset="-120"/>
              </a:rPr>
              <a:t>Need a tool or data?</a:t>
            </a:r>
            <a:endParaRPr lang="en-US" sz="1300" dirty="0"/>
          </a:p>
        </p:txBody>
      </p:sp>
      <p:sp>
        <p:nvSpPr>
          <p:cNvPr id="9" name="Shape 6"/>
          <p:cNvSpPr/>
          <p:nvPr/>
        </p:nvSpPr>
        <p:spPr>
          <a:xfrm>
            <a:off x="4434840" y="1993392"/>
            <a:ext cx="219456" cy="219456"/>
          </a:xfrm>
          <a:prstGeom prst="oval">
            <a:avLst/>
          </a:prstGeom>
          <a:solidFill>
            <a:srgbClr val="0D9488"/>
          </a:solidFill>
          <a:ln/>
        </p:spPr>
      </p:sp>
      <p:sp>
        <p:nvSpPr>
          <p:cNvPr id="10" name="Text 7"/>
          <p:cNvSpPr/>
          <p:nvPr/>
        </p:nvSpPr>
        <p:spPr>
          <a:xfrm>
            <a:off x="4800600" y="1783080"/>
            <a:ext cx="2926080" cy="640080"/>
          </a:xfrm>
          <a:prstGeom prst="rect">
            <a:avLst/>
          </a:prstGeom>
          <a:noFill/>
          <a:ln/>
        </p:spPr>
        <p:txBody>
          <a:bodyPr wrap="square" lIns="0" tIns="0" rIns="0" bIns="0" rtlCol="0" anchor="ctr"/>
          <a:lstStyle/>
          <a:p>
            <a:pPr indent="0" marL="0">
              <a:lnSpc>
                <a:spcPct val="95000"/>
              </a:lnSpc>
              <a:buNone/>
            </a:pPr>
            <a:r>
              <a:rPr lang="en-US" sz="1250" b="1" dirty="0">
                <a:solidFill>
                  <a:srgbClr val="FFFFFF"/>
                </a:solidFill>
                <a:latin typeface="Calibri" pitchFamily="34" charset="0"/>
                <a:ea typeface="Calibri" pitchFamily="34" charset="-122"/>
                <a:cs typeface="Calibri" pitchFamily="34" charset="-120"/>
              </a:rPr>
              <a:t>MCP</a:t>
            </a:r>
            <a:endParaRPr lang="en-US" sz="1250" dirty="0"/>
          </a:p>
        </p:txBody>
      </p:sp>
      <p:sp>
        <p:nvSpPr>
          <p:cNvPr id="11" name="Shape 8"/>
          <p:cNvSpPr/>
          <p:nvPr/>
        </p:nvSpPr>
        <p:spPr>
          <a:xfrm>
            <a:off x="548640" y="2551176"/>
            <a:ext cx="7315200" cy="640080"/>
          </a:xfrm>
          <a:prstGeom prst="roundRect">
            <a:avLst>
              <a:gd name="adj" fmla="val 8571"/>
            </a:avLst>
          </a:prstGeom>
          <a:solidFill>
            <a:srgbClr val="13304F"/>
          </a:solidFill>
          <a:ln/>
        </p:spPr>
      </p:sp>
      <p:sp>
        <p:nvSpPr>
          <p:cNvPr id="12" name="Text 9"/>
          <p:cNvSpPr/>
          <p:nvPr/>
        </p:nvSpPr>
        <p:spPr>
          <a:xfrm>
            <a:off x="777240" y="2551176"/>
            <a:ext cx="3657600" cy="640080"/>
          </a:xfrm>
          <a:prstGeom prst="rect">
            <a:avLst/>
          </a:prstGeom>
          <a:noFill/>
          <a:ln/>
        </p:spPr>
        <p:txBody>
          <a:bodyPr wrap="square" lIns="0" tIns="0" rIns="0" bIns="0" rtlCol="0" anchor="ctr"/>
          <a:lstStyle/>
          <a:p>
            <a:pPr indent="0" marL="0">
              <a:buNone/>
            </a:pPr>
            <a:r>
              <a:rPr lang="en-US" sz="1300" dirty="0">
                <a:solidFill>
                  <a:srgbClr val="AAB7C8"/>
                </a:solidFill>
                <a:latin typeface="Calibri" pitchFamily="34" charset="0"/>
                <a:ea typeface="Calibri" pitchFamily="34" charset="-122"/>
                <a:cs typeface="Calibri" pitchFamily="34" charset="-120"/>
              </a:rPr>
              <a:t>Agents in one codebase?</a:t>
            </a:r>
            <a:endParaRPr lang="en-US" sz="1300" dirty="0"/>
          </a:p>
        </p:txBody>
      </p:sp>
      <p:sp>
        <p:nvSpPr>
          <p:cNvPr id="13" name="Shape 10"/>
          <p:cNvSpPr/>
          <p:nvPr/>
        </p:nvSpPr>
        <p:spPr>
          <a:xfrm>
            <a:off x="4434840" y="2761488"/>
            <a:ext cx="219456" cy="219456"/>
          </a:xfrm>
          <a:prstGeom prst="oval">
            <a:avLst/>
          </a:prstGeom>
          <a:solidFill>
            <a:srgbClr val="0D9488"/>
          </a:solidFill>
          <a:ln/>
        </p:spPr>
      </p:sp>
      <p:sp>
        <p:nvSpPr>
          <p:cNvPr id="14" name="Text 11"/>
          <p:cNvSpPr/>
          <p:nvPr/>
        </p:nvSpPr>
        <p:spPr>
          <a:xfrm>
            <a:off x="4800600" y="2551176"/>
            <a:ext cx="2926080" cy="640080"/>
          </a:xfrm>
          <a:prstGeom prst="rect">
            <a:avLst/>
          </a:prstGeom>
          <a:noFill/>
          <a:ln/>
        </p:spPr>
        <p:txBody>
          <a:bodyPr wrap="square" lIns="0" tIns="0" rIns="0" bIns="0" rtlCol="0" anchor="ctr"/>
          <a:lstStyle/>
          <a:p>
            <a:pPr indent="0" marL="0">
              <a:lnSpc>
                <a:spcPct val="95000"/>
              </a:lnSpc>
              <a:buNone/>
            </a:pPr>
            <a:r>
              <a:rPr lang="en-US" sz="1250" b="1" dirty="0">
                <a:solidFill>
                  <a:srgbClr val="FFFFFF"/>
                </a:solidFill>
                <a:latin typeface="Calibri" pitchFamily="34" charset="0"/>
                <a:ea typeface="Calibri" pitchFamily="34" charset="-122"/>
                <a:cs typeface="Calibri" pitchFamily="34" charset="-120"/>
              </a:rPr>
              <a:t>Swarm / Graph / Workflow / Agents-as-Tools</a:t>
            </a:r>
            <a:endParaRPr lang="en-US" sz="1250" dirty="0"/>
          </a:p>
        </p:txBody>
      </p:sp>
      <p:sp>
        <p:nvSpPr>
          <p:cNvPr id="15" name="Shape 12"/>
          <p:cNvSpPr/>
          <p:nvPr/>
        </p:nvSpPr>
        <p:spPr>
          <a:xfrm>
            <a:off x="548640" y="3319272"/>
            <a:ext cx="7315200" cy="640080"/>
          </a:xfrm>
          <a:prstGeom prst="roundRect">
            <a:avLst>
              <a:gd name="adj" fmla="val 8571"/>
            </a:avLst>
          </a:prstGeom>
          <a:solidFill>
            <a:srgbClr val="13304F"/>
          </a:solidFill>
          <a:ln/>
        </p:spPr>
      </p:sp>
      <p:sp>
        <p:nvSpPr>
          <p:cNvPr id="16" name="Text 13"/>
          <p:cNvSpPr/>
          <p:nvPr/>
        </p:nvSpPr>
        <p:spPr>
          <a:xfrm>
            <a:off x="777240" y="3319272"/>
            <a:ext cx="3657600" cy="640080"/>
          </a:xfrm>
          <a:prstGeom prst="rect">
            <a:avLst/>
          </a:prstGeom>
          <a:noFill/>
          <a:ln/>
        </p:spPr>
        <p:txBody>
          <a:bodyPr wrap="square" lIns="0" tIns="0" rIns="0" bIns="0" rtlCol="0" anchor="ctr"/>
          <a:lstStyle/>
          <a:p>
            <a:pPr indent="0" marL="0">
              <a:buNone/>
            </a:pPr>
            <a:r>
              <a:rPr lang="en-US" sz="1300" dirty="0">
                <a:solidFill>
                  <a:srgbClr val="AAB7C8"/>
                </a:solidFill>
                <a:latin typeface="Calibri" pitchFamily="34" charset="0"/>
                <a:ea typeface="Calibri" pitchFamily="34" charset="-122"/>
                <a:cs typeface="Calibri" pitchFamily="34" charset="-120"/>
              </a:rPr>
              <a:t>Agents across process / framework / org?</a:t>
            </a:r>
            <a:endParaRPr lang="en-US" sz="1300" dirty="0"/>
          </a:p>
        </p:txBody>
      </p:sp>
      <p:sp>
        <p:nvSpPr>
          <p:cNvPr id="17" name="Shape 14"/>
          <p:cNvSpPr/>
          <p:nvPr/>
        </p:nvSpPr>
        <p:spPr>
          <a:xfrm>
            <a:off x="4434840" y="3529584"/>
            <a:ext cx="219456" cy="219456"/>
          </a:xfrm>
          <a:prstGeom prst="oval">
            <a:avLst/>
          </a:prstGeom>
          <a:solidFill>
            <a:srgbClr val="0D9488"/>
          </a:solidFill>
          <a:ln/>
        </p:spPr>
      </p:sp>
      <p:sp>
        <p:nvSpPr>
          <p:cNvPr id="18" name="Text 15"/>
          <p:cNvSpPr/>
          <p:nvPr/>
        </p:nvSpPr>
        <p:spPr>
          <a:xfrm>
            <a:off x="4800600" y="3319272"/>
            <a:ext cx="2926080" cy="640080"/>
          </a:xfrm>
          <a:prstGeom prst="rect">
            <a:avLst/>
          </a:prstGeom>
          <a:noFill/>
          <a:ln/>
        </p:spPr>
        <p:txBody>
          <a:bodyPr wrap="square" lIns="0" tIns="0" rIns="0" bIns="0" rtlCol="0" anchor="ctr"/>
          <a:lstStyle/>
          <a:p>
            <a:pPr indent="0" marL="0">
              <a:lnSpc>
                <a:spcPct val="95000"/>
              </a:lnSpc>
              <a:buNone/>
            </a:pPr>
            <a:r>
              <a:rPr lang="en-US" sz="1250" b="1" dirty="0">
                <a:solidFill>
                  <a:srgbClr val="FFFFFF"/>
                </a:solidFill>
                <a:latin typeface="Calibri" pitchFamily="34" charset="0"/>
                <a:ea typeface="Calibri" pitchFamily="34" charset="-122"/>
                <a:cs typeface="Calibri" pitchFamily="34" charset="-120"/>
              </a:rPr>
              <a:t>A2A</a:t>
            </a:r>
            <a:endParaRPr lang="en-US" sz="1250" dirty="0"/>
          </a:p>
        </p:txBody>
      </p:sp>
      <p:sp>
        <p:nvSpPr>
          <p:cNvPr id="19" name="Shape 16"/>
          <p:cNvSpPr/>
          <p:nvPr/>
        </p:nvSpPr>
        <p:spPr>
          <a:xfrm>
            <a:off x="548640" y="4087368"/>
            <a:ext cx="7315200" cy="640080"/>
          </a:xfrm>
          <a:prstGeom prst="roundRect">
            <a:avLst>
              <a:gd name="adj" fmla="val 8571"/>
            </a:avLst>
          </a:prstGeom>
          <a:solidFill>
            <a:srgbClr val="13304F"/>
          </a:solidFill>
          <a:ln/>
        </p:spPr>
      </p:sp>
      <p:sp>
        <p:nvSpPr>
          <p:cNvPr id="20" name="Text 17"/>
          <p:cNvSpPr/>
          <p:nvPr/>
        </p:nvSpPr>
        <p:spPr>
          <a:xfrm>
            <a:off x="777240" y="4087368"/>
            <a:ext cx="3657600" cy="640080"/>
          </a:xfrm>
          <a:prstGeom prst="rect">
            <a:avLst/>
          </a:prstGeom>
          <a:noFill/>
          <a:ln/>
        </p:spPr>
        <p:txBody>
          <a:bodyPr wrap="square" lIns="0" tIns="0" rIns="0" bIns="0" rtlCol="0" anchor="ctr"/>
          <a:lstStyle/>
          <a:p>
            <a:pPr indent="0" marL="0">
              <a:buNone/>
            </a:pPr>
            <a:r>
              <a:rPr lang="en-US" sz="1300" dirty="0">
                <a:solidFill>
                  <a:srgbClr val="AAB7C8"/>
                </a:solidFill>
                <a:latin typeface="Calibri" pitchFamily="34" charset="0"/>
                <a:ea typeface="Calibri" pitchFamily="34" charset="-122"/>
                <a:cs typeface="Calibri" pitchFamily="34" charset="-120"/>
              </a:rPr>
              <a:t>A2A in production?</a:t>
            </a:r>
            <a:endParaRPr lang="en-US" sz="1300" dirty="0"/>
          </a:p>
        </p:txBody>
      </p:sp>
      <p:sp>
        <p:nvSpPr>
          <p:cNvPr id="21" name="Shape 18"/>
          <p:cNvSpPr/>
          <p:nvPr/>
        </p:nvSpPr>
        <p:spPr>
          <a:xfrm>
            <a:off x="4434840" y="4297680"/>
            <a:ext cx="219456" cy="219456"/>
          </a:xfrm>
          <a:prstGeom prst="oval">
            <a:avLst/>
          </a:prstGeom>
          <a:solidFill>
            <a:srgbClr val="0D9488"/>
          </a:solidFill>
          <a:ln/>
        </p:spPr>
      </p:sp>
      <p:sp>
        <p:nvSpPr>
          <p:cNvPr id="22" name="Text 19"/>
          <p:cNvSpPr/>
          <p:nvPr/>
        </p:nvSpPr>
        <p:spPr>
          <a:xfrm>
            <a:off x="4800600" y="4087368"/>
            <a:ext cx="2926080" cy="640080"/>
          </a:xfrm>
          <a:prstGeom prst="rect">
            <a:avLst/>
          </a:prstGeom>
          <a:noFill/>
          <a:ln/>
        </p:spPr>
        <p:txBody>
          <a:bodyPr wrap="square" lIns="0" tIns="0" rIns="0" bIns="0" rtlCol="0" anchor="ctr"/>
          <a:lstStyle/>
          <a:p>
            <a:pPr indent="0" marL="0">
              <a:lnSpc>
                <a:spcPct val="95000"/>
              </a:lnSpc>
              <a:buNone/>
            </a:pPr>
            <a:r>
              <a:rPr lang="en-US" sz="1250" b="1" dirty="0">
                <a:solidFill>
                  <a:srgbClr val="FFFFFF"/>
                </a:solidFill>
                <a:latin typeface="Calibri" pitchFamily="34" charset="0"/>
                <a:ea typeface="Calibri" pitchFamily="34" charset="-122"/>
                <a:cs typeface="Calibri" pitchFamily="34" charset="-120"/>
              </a:rPr>
              <a:t>AgentCore Runtime: port 9000, root path, OAuth/SigV4, session isolation</a:t>
            </a:r>
            <a:endParaRPr lang="en-US" sz="1250" dirty="0"/>
          </a:p>
        </p:txBody>
      </p:sp>
      <p:sp>
        <p:nvSpPr>
          <p:cNvPr id="23" name="Shape 20"/>
          <p:cNvSpPr/>
          <p:nvPr/>
        </p:nvSpPr>
        <p:spPr>
          <a:xfrm>
            <a:off x="548640" y="4983480"/>
            <a:ext cx="11091672" cy="868680"/>
          </a:xfrm>
          <a:prstGeom prst="roundRect">
            <a:avLst>
              <a:gd name="adj" fmla="val 8421"/>
            </a:avLst>
          </a:prstGeom>
          <a:solidFill>
            <a:srgbClr val="0D9488"/>
          </a:solidFill>
          <a:ln/>
        </p:spPr>
      </p:sp>
      <p:sp>
        <p:nvSpPr>
          <p:cNvPr id="24" name="Text 21"/>
          <p:cNvSpPr/>
          <p:nvPr/>
        </p:nvSpPr>
        <p:spPr>
          <a:xfrm>
            <a:off x="548640" y="4983480"/>
            <a:ext cx="11091672" cy="868680"/>
          </a:xfrm>
          <a:prstGeom prst="rect">
            <a:avLst/>
          </a:prstGeom>
          <a:noFill/>
          <a:ln/>
        </p:spPr>
        <p:txBody>
          <a:bodyPr wrap="square" lIns="0" tIns="0" rIns="0" bIns="0" rtlCol="0" anchor="ctr"/>
          <a:lstStyle/>
          <a:p>
            <a:pPr algn="ctr" indent="0" marL="0">
              <a:buNone/>
            </a:pPr>
            <a:r>
              <a:rPr lang="en-US" sz="1700" b="1" i="1" dirty="0">
                <a:solidFill>
                  <a:srgbClr val="FFFFFF"/>
                </a:solidFill>
                <a:latin typeface="Cambria" pitchFamily="34" charset="0"/>
                <a:ea typeface="Cambria" pitchFamily="34" charset="-122"/>
                <a:cs typeface="Cambria" pitchFamily="34" charset="-120"/>
              </a:rPr>
              <a:t>Always: A2A across, MCP down. Stay in-process until a wall forces you out.</a:t>
            </a:r>
            <a:endParaRPr lang="en-US" sz="1700" dirty="0"/>
          </a:p>
        </p:txBody>
      </p:sp>
      <p:sp>
        <p:nvSpPr>
          <p:cNvPr id="25" name="Text 22"/>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26" name="Text 23"/>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6 · WRAP</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What to do next</a:t>
            </a:r>
            <a:endParaRPr lang="en-US" sz="2800" dirty="0"/>
          </a:p>
        </p:txBody>
      </p:sp>
      <p:sp>
        <p:nvSpPr>
          <p:cNvPr id="5" name="Shape 2"/>
          <p:cNvSpPr/>
          <p:nvPr/>
        </p:nvSpPr>
        <p:spPr>
          <a:xfrm>
            <a:off x="548640" y="1554480"/>
            <a:ext cx="3483864" cy="2606040"/>
          </a:xfrm>
          <a:prstGeom prst="roundRect">
            <a:avLst>
              <a:gd name="adj" fmla="val 2807"/>
            </a:avLst>
          </a:prstGeom>
          <a:solidFill>
            <a:srgbClr val="F8FAFC"/>
          </a:solidFill>
          <a:ln/>
          <a:effectLst>
            <a:outerShdw sx="100000" sy="100000" kx="0" ky="0" algn="bl" rotWithShape="0" blurRad="101600" dist="38100" dir="5400000">
              <a:srgbClr val="0F172A">
                <a:alpha val="10000"/>
              </a:srgbClr>
            </a:outerShdw>
          </a:effectLst>
        </p:spPr>
      </p:sp>
      <p:sp>
        <p:nvSpPr>
          <p:cNvPr id="6" name="Shape 3"/>
          <p:cNvSpPr/>
          <p:nvPr/>
        </p:nvSpPr>
        <p:spPr>
          <a:xfrm>
            <a:off x="768096" y="1773936"/>
            <a:ext cx="603504" cy="603504"/>
          </a:xfrm>
          <a:prstGeom prst="oval">
            <a:avLst/>
          </a:prstGeom>
          <a:solidFill>
            <a:srgbClr val="E6FBF6"/>
          </a:solidFill>
          <a:ln/>
        </p:spPr>
      </p:sp>
      <p:pic>
        <p:nvPicPr>
          <p:cNvPr id="7" name="Image 1" descr="preencoded.png">    </p:cNvPr>
          <p:cNvPicPr>
            <a:picLocks noChangeAspect="1"/>
          </p:cNvPicPr>
          <p:nvPr/>
        </p:nvPicPr>
        <p:blipFill>
          <a:blip r:embed="rId2"/>
          <a:stretch>
            <a:fillRect/>
          </a:stretch>
        </p:blipFill>
        <p:spPr>
          <a:xfrm>
            <a:off x="900867" y="1906707"/>
            <a:ext cx="337962" cy="337962"/>
          </a:xfrm>
          <a:prstGeom prst="rect">
            <a:avLst/>
          </a:prstGeom>
        </p:spPr>
      </p:pic>
      <p:sp>
        <p:nvSpPr>
          <p:cNvPr id="8" name="Text 4"/>
          <p:cNvSpPr/>
          <p:nvPr/>
        </p:nvSpPr>
        <p:spPr>
          <a:xfrm>
            <a:off x="768096" y="2505456"/>
            <a:ext cx="304495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Notebook 1: A2A with Strands</a:t>
            </a:r>
            <a:endParaRPr lang="en-US" sz="1400" dirty="0"/>
          </a:p>
        </p:txBody>
      </p:sp>
      <p:sp>
        <p:nvSpPr>
          <p:cNvPr id="9" name="Text 5"/>
          <p:cNvSpPr/>
          <p:nvPr/>
        </p:nvSpPr>
        <p:spPr>
          <a:xfrm>
            <a:off x="768096" y="2889504"/>
            <a:ext cx="3044952" cy="112471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Stand up a server. Consume it three ways: A2AAgent sync/async/stream, ToolProvider, tool wrapper. Build a TravelMind orchestrator that delegates a refund to a peer over A2A.</a:t>
            </a:r>
            <a:endParaRPr lang="en-US" sz="1150" dirty="0"/>
          </a:p>
        </p:txBody>
      </p:sp>
      <p:sp>
        <p:nvSpPr>
          <p:cNvPr id="10" name="Shape 6"/>
          <p:cNvSpPr/>
          <p:nvPr/>
        </p:nvSpPr>
        <p:spPr>
          <a:xfrm>
            <a:off x="4352544" y="1554480"/>
            <a:ext cx="3483864" cy="2606040"/>
          </a:xfrm>
          <a:prstGeom prst="roundRect">
            <a:avLst>
              <a:gd name="adj" fmla="val 2807"/>
            </a:avLst>
          </a:prstGeom>
          <a:solidFill>
            <a:srgbClr val="F8FAFC"/>
          </a:solidFill>
          <a:ln/>
          <a:effectLst>
            <a:outerShdw sx="100000" sy="100000" kx="0" ky="0" algn="bl" rotWithShape="0" blurRad="101600" dist="38100" dir="5400000">
              <a:srgbClr val="0F172A">
                <a:alpha val="10000"/>
              </a:srgbClr>
            </a:outerShdw>
          </a:effectLst>
        </p:spPr>
      </p:sp>
      <p:sp>
        <p:nvSpPr>
          <p:cNvPr id="11" name="Shape 7"/>
          <p:cNvSpPr/>
          <p:nvPr/>
        </p:nvSpPr>
        <p:spPr>
          <a:xfrm>
            <a:off x="4572000" y="1773936"/>
            <a:ext cx="603504" cy="603504"/>
          </a:xfrm>
          <a:prstGeom prst="oval">
            <a:avLst/>
          </a:prstGeom>
          <a:solidFill>
            <a:srgbClr val="E6FBF6"/>
          </a:solidFill>
          <a:ln/>
        </p:spPr>
      </p:sp>
      <p:pic>
        <p:nvPicPr>
          <p:cNvPr id="12" name="Image 2" descr="preencoded.png">    </p:cNvPr>
          <p:cNvPicPr>
            <a:picLocks noChangeAspect="1"/>
          </p:cNvPicPr>
          <p:nvPr/>
        </p:nvPicPr>
        <p:blipFill>
          <a:blip r:embed="rId3"/>
          <a:stretch>
            <a:fillRect/>
          </a:stretch>
        </p:blipFill>
        <p:spPr>
          <a:xfrm>
            <a:off x="4704771" y="1906707"/>
            <a:ext cx="337962" cy="337962"/>
          </a:xfrm>
          <a:prstGeom prst="rect">
            <a:avLst/>
          </a:prstGeom>
        </p:spPr>
      </p:pic>
      <p:sp>
        <p:nvSpPr>
          <p:cNvPr id="13" name="Text 8"/>
          <p:cNvSpPr/>
          <p:nvPr/>
        </p:nvSpPr>
        <p:spPr>
          <a:xfrm>
            <a:off x="4572000" y="2505456"/>
            <a:ext cx="304495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Notebook 2: A2A on AgentCore</a:t>
            </a:r>
            <a:endParaRPr lang="en-US" sz="1400" dirty="0"/>
          </a:p>
        </p:txBody>
      </p:sp>
      <p:sp>
        <p:nvSpPr>
          <p:cNvPr id="14" name="Text 9"/>
          <p:cNvSpPr/>
          <p:nvPr/>
        </p:nvSpPr>
        <p:spPr>
          <a:xfrm>
            <a:off x="4572000" y="2889504"/>
            <a:ext cx="3044952" cy="112471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Take the same server, make it AgentCore-ready, deploy, fetch the card from the runtime URL, invoke it remotely.</a:t>
            </a:r>
            <a:endParaRPr lang="en-US" sz="1150" dirty="0"/>
          </a:p>
        </p:txBody>
      </p:sp>
      <p:sp>
        <p:nvSpPr>
          <p:cNvPr id="15" name="Shape 10"/>
          <p:cNvSpPr/>
          <p:nvPr/>
        </p:nvSpPr>
        <p:spPr>
          <a:xfrm>
            <a:off x="8156448" y="1554480"/>
            <a:ext cx="3483864" cy="2606040"/>
          </a:xfrm>
          <a:prstGeom prst="roundRect">
            <a:avLst>
              <a:gd name="adj" fmla="val 2807"/>
            </a:avLst>
          </a:prstGeom>
          <a:solidFill>
            <a:srgbClr val="F8FAFC"/>
          </a:solidFill>
          <a:ln/>
          <a:effectLst>
            <a:outerShdw sx="100000" sy="100000" kx="0" ky="0" algn="bl" rotWithShape="0" blurRad="101600" dist="38100" dir="5400000">
              <a:srgbClr val="0F172A">
                <a:alpha val="10000"/>
              </a:srgbClr>
            </a:outerShdw>
          </a:effectLst>
        </p:spPr>
      </p:sp>
      <p:sp>
        <p:nvSpPr>
          <p:cNvPr id="16" name="Shape 11"/>
          <p:cNvSpPr/>
          <p:nvPr/>
        </p:nvSpPr>
        <p:spPr>
          <a:xfrm>
            <a:off x="8375904" y="1773936"/>
            <a:ext cx="603504" cy="603504"/>
          </a:xfrm>
          <a:prstGeom prst="oval">
            <a:avLst/>
          </a:prstGeom>
          <a:solidFill>
            <a:srgbClr val="E6FBF6"/>
          </a:solidFill>
          <a:ln/>
        </p:spPr>
      </p:sp>
      <p:pic>
        <p:nvPicPr>
          <p:cNvPr id="17" name="Image 3" descr="preencoded.png">    </p:cNvPr>
          <p:cNvPicPr>
            <a:picLocks noChangeAspect="1"/>
          </p:cNvPicPr>
          <p:nvPr/>
        </p:nvPicPr>
        <p:blipFill>
          <a:blip r:embed="rId4"/>
          <a:stretch>
            <a:fillRect/>
          </a:stretch>
        </p:blipFill>
        <p:spPr>
          <a:xfrm>
            <a:off x="8508675" y="1906707"/>
            <a:ext cx="337962" cy="337962"/>
          </a:xfrm>
          <a:prstGeom prst="rect">
            <a:avLst/>
          </a:prstGeom>
        </p:spPr>
      </p:pic>
      <p:sp>
        <p:nvSpPr>
          <p:cNvPr id="18" name="Text 12"/>
          <p:cNvSpPr/>
          <p:nvPr/>
        </p:nvSpPr>
        <p:spPr>
          <a:xfrm>
            <a:off x="8375904" y="2505456"/>
            <a:ext cx="304495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Try it live</a:t>
            </a:r>
            <a:endParaRPr lang="en-US" sz="1400" dirty="0"/>
          </a:p>
        </p:txBody>
      </p:sp>
      <p:sp>
        <p:nvSpPr>
          <p:cNvPr id="19" name="Text 13"/>
          <p:cNvSpPr/>
          <p:nvPr/>
        </p:nvSpPr>
        <p:spPr>
          <a:xfrm>
            <a:off x="8375904" y="2889504"/>
            <a:ext cx="3044952" cy="112471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Point your orchestrator at a teammate's running agent by URL. Watch discovery work with zero shared code.</a:t>
            </a:r>
            <a:endParaRPr lang="en-US" sz="1150" dirty="0"/>
          </a:p>
        </p:txBody>
      </p:sp>
      <p:sp>
        <p:nvSpPr>
          <p:cNvPr id="20" name="Shape 14"/>
          <p:cNvSpPr/>
          <p:nvPr/>
        </p:nvSpPr>
        <p:spPr>
          <a:xfrm>
            <a:off x="548640" y="4434840"/>
            <a:ext cx="11091672" cy="1280160"/>
          </a:xfrm>
          <a:prstGeom prst="roundRect">
            <a:avLst>
              <a:gd name="adj" fmla="val 5714"/>
            </a:avLst>
          </a:prstGeom>
          <a:solidFill>
            <a:srgbClr val="0F2540"/>
          </a:solidFill>
          <a:ln/>
          <a:effectLst>
            <a:outerShdw sx="100000" sy="100000" kx="0" ky="0" algn="bl" rotWithShape="0" blurRad="114300" dist="38100" dir="5400000">
              <a:srgbClr val="0F172A">
                <a:alpha val="13000"/>
              </a:srgbClr>
            </a:outerShdw>
          </a:effectLst>
        </p:spPr>
      </p:sp>
      <p:sp>
        <p:nvSpPr>
          <p:cNvPr id="21" name="Shape 15"/>
          <p:cNvSpPr/>
          <p:nvPr/>
        </p:nvSpPr>
        <p:spPr>
          <a:xfrm>
            <a:off x="777240" y="4690872"/>
            <a:ext cx="548640" cy="548640"/>
          </a:xfrm>
          <a:prstGeom prst="oval">
            <a:avLst/>
          </a:prstGeom>
          <a:solidFill>
            <a:srgbClr val="13304F"/>
          </a:solidFill>
          <a:ln/>
        </p:spPr>
      </p:sp>
      <p:pic>
        <p:nvPicPr>
          <p:cNvPr id="22" name="Image 4" descr="preencoded.png">    </p:cNvPr>
          <p:cNvPicPr>
            <a:picLocks noChangeAspect="1"/>
          </p:cNvPicPr>
          <p:nvPr/>
        </p:nvPicPr>
        <p:blipFill>
          <a:blip r:embed="rId5"/>
          <a:stretch>
            <a:fillRect/>
          </a:stretch>
        </p:blipFill>
        <p:spPr>
          <a:xfrm>
            <a:off x="897941" y="4811573"/>
            <a:ext cx="307238" cy="307238"/>
          </a:xfrm>
          <a:prstGeom prst="rect">
            <a:avLst/>
          </a:prstGeom>
        </p:spPr>
      </p:pic>
      <p:sp>
        <p:nvSpPr>
          <p:cNvPr id="23" name="Text 16"/>
          <p:cNvSpPr/>
          <p:nvPr/>
        </p:nvSpPr>
        <p:spPr>
          <a:xfrm>
            <a:off x="1508760" y="4617720"/>
            <a:ext cx="987552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Both notebooks are verified against strands-agents 1.42.0. Every snippet runs.</a:t>
            </a:r>
            <a:endParaRPr lang="en-US" sz="1400" dirty="0"/>
          </a:p>
        </p:txBody>
      </p:sp>
      <p:sp>
        <p:nvSpPr>
          <p:cNvPr id="24" name="Text 17"/>
          <p:cNvSpPr/>
          <p:nvPr/>
        </p:nvSpPr>
        <p:spPr>
          <a:xfrm>
            <a:off x="1508760" y="5029200"/>
            <a:ext cx="9875520" cy="548640"/>
          </a:xfrm>
          <a:prstGeom prst="rect">
            <a:avLst/>
          </a:prstGeom>
          <a:noFill/>
          <a:ln/>
        </p:spPr>
        <p:txBody>
          <a:bodyPr wrap="square" lIns="0" tIns="0" rIns="0" bIns="0" rtlCol="0" anchor="ctr"/>
          <a:lstStyle/>
          <a:p>
            <a:pPr indent="0" marL="0">
              <a:lnSpc>
                <a:spcPct val="105000"/>
              </a:lnSpc>
              <a:buNone/>
            </a:pPr>
            <a:r>
              <a:rPr lang="en-US" sz="1200" dirty="0">
                <a:solidFill>
                  <a:srgbClr val="AAB7C8"/>
                </a:solidFill>
                <a:latin typeface="Calibri" pitchFamily="34" charset="0"/>
                <a:ea typeface="Calibri" pitchFamily="34" charset="-122"/>
                <a:cs typeface="Calibri" pitchFamily="34" charset="-120"/>
              </a:rPr>
              <a:t>The teammate exercise is the one that makes the magic tangible: discovery and a call, across two codebases that never imported each other.</a:t>
            </a:r>
            <a:endParaRPr lang="en-US" sz="1200" dirty="0"/>
          </a:p>
        </p:txBody>
      </p:sp>
      <p:sp>
        <p:nvSpPr>
          <p:cNvPr id="25" name="Text 18"/>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26" name="Text 19"/>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6 · WRAP</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References (all verified)</a:t>
            </a:r>
            <a:endParaRPr lang="en-US" sz="2800" dirty="0"/>
          </a:p>
        </p:txBody>
      </p:sp>
      <p:sp>
        <p:nvSpPr>
          <p:cNvPr id="5" name="Shape 2"/>
          <p:cNvSpPr/>
          <p:nvPr/>
        </p:nvSpPr>
        <p:spPr>
          <a:xfrm>
            <a:off x="566928" y="1636776"/>
            <a:ext cx="182880" cy="182880"/>
          </a:xfrm>
          <a:prstGeom prst="oval">
            <a:avLst/>
          </a:prstGeom>
          <a:solidFill>
            <a:srgbClr val="0D9488"/>
          </a:solidFill>
          <a:ln/>
        </p:spPr>
      </p:sp>
      <p:sp>
        <p:nvSpPr>
          <p:cNvPr id="6" name="Text 3"/>
          <p:cNvSpPr/>
          <p:nvPr/>
        </p:nvSpPr>
        <p:spPr>
          <a:xfrm>
            <a:off x="932688" y="1517904"/>
            <a:ext cx="10698480" cy="457200"/>
          </a:xfrm>
          <a:prstGeom prst="rect">
            <a:avLst/>
          </a:prstGeom>
          <a:noFill/>
          <a:ln/>
        </p:spPr>
        <p:txBody>
          <a:bodyPr wrap="square" lIns="0" tIns="0" rIns="0" bIns="0" rtlCol="0" anchor="ctr"/>
          <a:lstStyle/>
          <a:p>
            <a:pPr indent="0" marL="0">
              <a:buNone/>
            </a:pPr>
            <a:r>
              <a:rPr lang="en-US" sz="1200" b="1" dirty="0">
                <a:solidFill>
                  <a:srgbClr val="0F172A"/>
                </a:solidFill>
              </a:rPr>
              <a:t>Strands A2A docs:  </a:t>
            </a:r>
            <a:pPr indent="0" marL="0">
              <a:buNone/>
            </a:pPr>
            <a:r>
              <a:rPr lang="en-US" sz="1150" dirty="0">
                <a:solidFill>
                  <a:srgbClr val="475569"/>
                </a:solidFill>
                <a:latin typeface="Courier New" pitchFamily="34" charset="0"/>
                <a:ea typeface="Courier New" pitchFamily="34" charset="-122"/>
                <a:cs typeface="Courier New" pitchFamily="34" charset="-120"/>
              </a:rPr>
              <a:t>strandsagents.com/docs/user-guide/concepts/multi-agent/agent-to-agent/</a:t>
            </a:r>
            <a:endParaRPr lang="en-US" sz="1200" dirty="0"/>
          </a:p>
        </p:txBody>
      </p:sp>
      <p:sp>
        <p:nvSpPr>
          <p:cNvPr id="7" name="Shape 4"/>
          <p:cNvSpPr/>
          <p:nvPr/>
        </p:nvSpPr>
        <p:spPr>
          <a:xfrm>
            <a:off x="566928" y="2203704"/>
            <a:ext cx="182880" cy="182880"/>
          </a:xfrm>
          <a:prstGeom prst="oval">
            <a:avLst/>
          </a:prstGeom>
          <a:solidFill>
            <a:srgbClr val="0D9488"/>
          </a:solidFill>
          <a:ln/>
        </p:spPr>
      </p:sp>
      <p:sp>
        <p:nvSpPr>
          <p:cNvPr id="8" name="Text 5"/>
          <p:cNvSpPr/>
          <p:nvPr/>
        </p:nvSpPr>
        <p:spPr>
          <a:xfrm>
            <a:off x="932688" y="2084832"/>
            <a:ext cx="10698480" cy="457200"/>
          </a:xfrm>
          <a:prstGeom prst="rect">
            <a:avLst/>
          </a:prstGeom>
          <a:noFill/>
          <a:ln/>
        </p:spPr>
        <p:txBody>
          <a:bodyPr wrap="square" lIns="0" tIns="0" rIns="0" bIns="0" rtlCol="0" anchor="ctr"/>
          <a:lstStyle/>
          <a:p>
            <a:pPr indent="0" marL="0">
              <a:buNone/>
            </a:pPr>
            <a:r>
              <a:rPr lang="en-US" sz="1200" b="1" dirty="0">
                <a:solidFill>
                  <a:srgbClr val="0F172A"/>
                </a:solidFill>
              </a:rPr>
              <a:t>Strands native A2A samples:  </a:t>
            </a:r>
            <a:pPr indent="0" marL="0">
              <a:buNone/>
            </a:pPr>
            <a:r>
              <a:rPr lang="en-US" sz="1150" dirty="0">
                <a:solidFill>
                  <a:srgbClr val="475569"/>
                </a:solidFill>
                <a:latin typeface="Courier New" pitchFamily="34" charset="0"/>
                <a:ea typeface="Courier New" pitchFamily="34" charset="-122"/>
                <a:cs typeface="Courier New" pitchFamily="34" charset="-120"/>
              </a:rPr>
              <a:t>github.com/strands-agents/samples  (03-integrate/protocols/a2a-native)</a:t>
            </a:r>
            <a:endParaRPr lang="en-US" sz="1200" dirty="0"/>
          </a:p>
        </p:txBody>
      </p:sp>
      <p:sp>
        <p:nvSpPr>
          <p:cNvPr id="9" name="Shape 6"/>
          <p:cNvSpPr/>
          <p:nvPr/>
        </p:nvSpPr>
        <p:spPr>
          <a:xfrm>
            <a:off x="566928" y="2770632"/>
            <a:ext cx="182880" cy="182880"/>
          </a:xfrm>
          <a:prstGeom prst="oval">
            <a:avLst/>
          </a:prstGeom>
          <a:solidFill>
            <a:srgbClr val="0D9488"/>
          </a:solidFill>
          <a:ln/>
        </p:spPr>
      </p:sp>
      <p:sp>
        <p:nvSpPr>
          <p:cNvPr id="10" name="Text 7"/>
          <p:cNvSpPr/>
          <p:nvPr/>
        </p:nvSpPr>
        <p:spPr>
          <a:xfrm>
            <a:off x="932688" y="2651760"/>
            <a:ext cx="10698480" cy="457200"/>
          </a:xfrm>
          <a:prstGeom prst="rect">
            <a:avLst/>
          </a:prstGeom>
          <a:noFill/>
          <a:ln/>
        </p:spPr>
        <p:txBody>
          <a:bodyPr wrap="square" lIns="0" tIns="0" rIns="0" bIns="0" rtlCol="0" anchor="ctr"/>
          <a:lstStyle/>
          <a:p>
            <a:pPr indent="0" marL="0">
              <a:buNone/>
            </a:pPr>
            <a:r>
              <a:rPr lang="en-US" sz="1200" b="1" dirty="0">
                <a:solidFill>
                  <a:srgbClr val="0F172A"/>
                </a:solidFill>
              </a:rPr>
              <a:t>A2A protocol (Linux Foundation):  </a:t>
            </a:r>
            <a:pPr indent="0" marL="0">
              <a:buNone/>
            </a:pPr>
            <a:r>
              <a:rPr lang="en-US" sz="1150" dirty="0">
                <a:solidFill>
                  <a:srgbClr val="475569"/>
                </a:solidFill>
                <a:latin typeface="Courier New" pitchFamily="34" charset="0"/>
                <a:ea typeface="Courier New" pitchFamily="34" charset="-122"/>
                <a:cs typeface="Courier New" pitchFamily="34" charset="-120"/>
              </a:rPr>
              <a:t>a2a-protocol.org  ·  github.com/a2aproject/A2A</a:t>
            </a:r>
            <a:endParaRPr lang="en-US" sz="1200" dirty="0"/>
          </a:p>
        </p:txBody>
      </p:sp>
      <p:sp>
        <p:nvSpPr>
          <p:cNvPr id="11" name="Shape 8"/>
          <p:cNvSpPr/>
          <p:nvPr/>
        </p:nvSpPr>
        <p:spPr>
          <a:xfrm>
            <a:off x="566928" y="3337560"/>
            <a:ext cx="182880" cy="182880"/>
          </a:xfrm>
          <a:prstGeom prst="oval">
            <a:avLst/>
          </a:prstGeom>
          <a:solidFill>
            <a:srgbClr val="0D9488"/>
          </a:solidFill>
          <a:ln/>
        </p:spPr>
      </p:sp>
      <p:sp>
        <p:nvSpPr>
          <p:cNvPr id="12" name="Text 9"/>
          <p:cNvSpPr/>
          <p:nvPr/>
        </p:nvSpPr>
        <p:spPr>
          <a:xfrm>
            <a:off x="932688" y="3218688"/>
            <a:ext cx="10698480" cy="457200"/>
          </a:xfrm>
          <a:prstGeom prst="rect">
            <a:avLst/>
          </a:prstGeom>
          <a:noFill/>
          <a:ln/>
        </p:spPr>
        <p:txBody>
          <a:bodyPr wrap="square" lIns="0" tIns="0" rIns="0" bIns="0" rtlCol="0" anchor="ctr"/>
          <a:lstStyle/>
          <a:p>
            <a:pPr indent="0" marL="0">
              <a:buNone/>
            </a:pPr>
            <a:r>
              <a:rPr lang="en-US" sz="1200" b="1" dirty="0">
                <a:solidFill>
                  <a:srgbClr val="0F172A"/>
                </a:solidFill>
              </a:rPr>
              <a:t>AgentCore A2A deployment:  </a:t>
            </a:r>
            <a:pPr indent="0" marL="0">
              <a:buNone/>
            </a:pPr>
            <a:r>
              <a:rPr lang="en-US" sz="1150" dirty="0">
                <a:solidFill>
                  <a:srgbClr val="475569"/>
                </a:solidFill>
                <a:latin typeface="Courier New" pitchFamily="34" charset="0"/>
                <a:ea typeface="Courier New" pitchFamily="34" charset="-122"/>
                <a:cs typeface="Courier New" pitchFamily="34" charset="-120"/>
              </a:rPr>
              <a:t>aws.github.io/bedrock-agentcore-starter-toolkit  (runtime/a2a)</a:t>
            </a:r>
            <a:endParaRPr lang="en-US" sz="1200" dirty="0"/>
          </a:p>
        </p:txBody>
      </p:sp>
      <p:sp>
        <p:nvSpPr>
          <p:cNvPr id="13" name="Shape 10"/>
          <p:cNvSpPr/>
          <p:nvPr/>
        </p:nvSpPr>
        <p:spPr>
          <a:xfrm>
            <a:off x="566928" y="3904488"/>
            <a:ext cx="182880" cy="182880"/>
          </a:xfrm>
          <a:prstGeom prst="oval">
            <a:avLst/>
          </a:prstGeom>
          <a:solidFill>
            <a:srgbClr val="0D9488"/>
          </a:solidFill>
          <a:ln/>
        </p:spPr>
      </p:sp>
      <p:sp>
        <p:nvSpPr>
          <p:cNvPr id="14" name="Text 11"/>
          <p:cNvSpPr/>
          <p:nvPr/>
        </p:nvSpPr>
        <p:spPr>
          <a:xfrm>
            <a:off x="932688" y="3785616"/>
            <a:ext cx="10698480" cy="457200"/>
          </a:xfrm>
          <a:prstGeom prst="rect">
            <a:avLst/>
          </a:prstGeom>
          <a:noFill/>
          <a:ln/>
        </p:spPr>
        <p:txBody>
          <a:bodyPr wrap="square" lIns="0" tIns="0" rIns="0" bIns="0" rtlCol="0" anchor="ctr"/>
          <a:lstStyle/>
          <a:p>
            <a:pPr indent="0" marL="0">
              <a:buNone/>
            </a:pPr>
            <a:r>
              <a:rPr lang="en-US" sz="1200" b="1" dirty="0">
                <a:solidFill>
                  <a:srgbClr val="0F172A"/>
                </a:solidFill>
              </a:rPr>
              <a:t>AWS announcement:  </a:t>
            </a:r>
            <a:pPr indent="0" marL="0">
              <a:buNone/>
            </a:pPr>
            <a:r>
              <a:rPr lang="en-US" sz="1150" dirty="0">
                <a:solidFill>
                  <a:srgbClr val="475569"/>
                </a:solidFill>
                <a:latin typeface="Courier New" pitchFamily="34" charset="0"/>
                <a:ea typeface="Courier New" pitchFamily="34" charset="-122"/>
                <a:cs typeface="Courier New" pitchFamily="34" charset="-120"/>
              </a:rPr>
              <a:t>Introducing A2A protocol support in Amazon Bedrock AgentCore Runtime (Nov 2025)</a:t>
            </a:r>
            <a:endParaRPr lang="en-US" sz="1200" dirty="0"/>
          </a:p>
        </p:txBody>
      </p:sp>
      <p:sp>
        <p:nvSpPr>
          <p:cNvPr id="15" name="Shape 12"/>
          <p:cNvSpPr/>
          <p:nvPr/>
        </p:nvSpPr>
        <p:spPr>
          <a:xfrm>
            <a:off x="566928" y="4471416"/>
            <a:ext cx="182880" cy="182880"/>
          </a:xfrm>
          <a:prstGeom prst="oval">
            <a:avLst/>
          </a:prstGeom>
          <a:solidFill>
            <a:srgbClr val="0D9488"/>
          </a:solidFill>
          <a:ln/>
        </p:spPr>
      </p:sp>
      <p:sp>
        <p:nvSpPr>
          <p:cNvPr id="16" name="Text 13"/>
          <p:cNvSpPr/>
          <p:nvPr/>
        </p:nvSpPr>
        <p:spPr>
          <a:xfrm>
            <a:off x="932688" y="4352544"/>
            <a:ext cx="10698480" cy="457200"/>
          </a:xfrm>
          <a:prstGeom prst="rect">
            <a:avLst/>
          </a:prstGeom>
          <a:noFill/>
          <a:ln/>
        </p:spPr>
        <p:txBody>
          <a:bodyPr wrap="square" lIns="0" tIns="0" rIns="0" bIns="0" rtlCol="0" anchor="ctr"/>
          <a:lstStyle/>
          <a:p>
            <a:pPr indent="0" marL="0">
              <a:buNone/>
            </a:pPr>
            <a:r>
              <a:rPr lang="en-US" sz="1200" b="1" dirty="0">
                <a:solidFill>
                  <a:srgbClr val="0F172A"/>
                </a:solidFill>
              </a:rPr>
              <a:t>Danilo Poccia reference demo:  </a:t>
            </a:r>
            <a:pPr indent="0" marL="0">
              <a:buNone/>
            </a:pPr>
            <a:r>
              <a:rPr lang="en-US" sz="1150" dirty="0">
                <a:solidFill>
                  <a:srgbClr val="475569"/>
                </a:solidFill>
                <a:latin typeface="Courier New" pitchFamily="34" charset="0"/>
                <a:ea typeface="Courier New" pitchFamily="34" charset="-122"/>
                <a:cs typeface="Courier New" pitchFamily="34" charset="-120"/>
              </a:rPr>
              <a:t>github.com/danilop/strands-a2a-demo</a:t>
            </a:r>
            <a:endParaRPr lang="en-US" sz="1200" dirty="0"/>
          </a:p>
        </p:txBody>
      </p:sp>
      <p:sp>
        <p:nvSpPr>
          <p:cNvPr id="17" name="Shape 14"/>
          <p:cNvSpPr/>
          <p:nvPr/>
        </p:nvSpPr>
        <p:spPr>
          <a:xfrm>
            <a:off x="566928" y="5038344"/>
            <a:ext cx="182880" cy="182880"/>
          </a:xfrm>
          <a:prstGeom prst="oval">
            <a:avLst/>
          </a:prstGeom>
          <a:solidFill>
            <a:srgbClr val="0D9488"/>
          </a:solidFill>
          <a:ln/>
        </p:spPr>
      </p:sp>
      <p:sp>
        <p:nvSpPr>
          <p:cNvPr id="18" name="Text 15"/>
          <p:cNvSpPr/>
          <p:nvPr/>
        </p:nvSpPr>
        <p:spPr>
          <a:xfrm>
            <a:off x="932688" y="4919472"/>
            <a:ext cx="10698480" cy="457200"/>
          </a:xfrm>
          <a:prstGeom prst="rect">
            <a:avLst/>
          </a:prstGeom>
          <a:noFill/>
          <a:ln/>
        </p:spPr>
        <p:txBody>
          <a:bodyPr wrap="square" lIns="0" tIns="0" rIns="0" bIns="0" rtlCol="0" anchor="ctr"/>
          <a:lstStyle/>
          <a:p>
            <a:pPr indent="0" marL="0">
              <a:buNone/>
            </a:pPr>
            <a:r>
              <a:rPr lang="en-US" sz="1200" b="1" dirty="0">
                <a:solidFill>
                  <a:srgbClr val="0F172A"/>
                </a:solidFill>
              </a:rPr>
              <a:t>Shakir, Simple A2A implementation with Strands:  </a:t>
            </a:r>
            <a:pPr indent="0" marL="0">
              <a:buNone/>
            </a:pPr>
            <a:r>
              <a:rPr lang="en-US" sz="1150" dirty="0">
                <a:solidFill>
                  <a:srgbClr val="475569"/>
                </a:solidFill>
                <a:latin typeface="Courier New" pitchFamily="34" charset="0"/>
                <a:ea typeface="Courier New" pitchFamily="34" charset="-122"/>
                <a:cs typeface="Courier New" pitchFamily="34" charset="-120"/>
              </a:rPr>
              <a:t>dev.to (verified on 1.42.0)</a:t>
            </a:r>
            <a:endParaRPr lang="en-US" sz="1200" dirty="0"/>
          </a:p>
        </p:txBody>
      </p:sp>
      <p:sp>
        <p:nvSpPr>
          <p:cNvPr id="19" name="Shape 16"/>
          <p:cNvSpPr/>
          <p:nvPr/>
        </p:nvSpPr>
        <p:spPr>
          <a:xfrm>
            <a:off x="548640" y="5532120"/>
            <a:ext cx="11091672" cy="713232"/>
          </a:xfrm>
          <a:prstGeom prst="roundRect">
            <a:avLst>
              <a:gd name="adj" fmla="val 10256"/>
            </a:avLst>
          </a:prstGeom>
          <a:solidFill>
            <a:srgbClr val="F1F5F9"/>
          </a:solidFill>
          <a:ln/>
          <a:effectLst>
            <a:outerShdw sx="100000" sy="100000" kx="0" ky="0" algn="bl" rotWithShape="0" blurRad="88900" dist="38100" dir="5400000">
              <a:srgbClr val="0F172A">
                <a:alpha val="9000"/>
              </a:srgbClr>
            </a:outerShdw>
          </a:effectLst>
        </p:spPr>
      </p:sp>
      <p:sp>
        <p:nvSpPr>
          <p:cNvPr id="20" name="Text 17"/>
          <p:cNvSpPr/>
          <p:nvPr/>
        </p:nvSpPr>
        <p:spPr>
          <a:xfrm>
            <a:off x="731520" y="5586984"/>
            <a:ext cx="10725912" cy="603504"/>
          </a:xfrm>
          <a:prstGeom prst="rect">
            <a:avLst/>
          </a:prstGeom>
          <a:noFill/>
          <a:ln/>
        </p:spPr>
        <p:txBody>
          <a:bodyPr wrap="square" lIns="0" tIns="0" rIns="0" bIns="0" rtlCol="0" anchor="ctr"/>
          <a:lstStyle/>
          <a:p>
            <a:pPr algn="l" indent="0" marL="0">
              <a:lnSpc>
                <a:spcPct val="104000"/>
              </a:lnSpc>
              <a:buNone/>
            </a:pPr>
            <a:r>
              <a:rPr lang="en-US" sz="1250" b="1" dirty="0">
                <a:solidFill>
                  <a:srgbClr val="475569"/>
                </a:solidFill>
                <a:latin typeface="Calibri" pitchFamily="34" charset="0"/>
                <a:ea typeface="Calibri" pitchFamily="34" charset="-122"/>
                <a:cs typeface="Calibri" pitchFamily="34" charset="-120"/>
              </a:rPr>
              <a:t>Note on sources: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authoritative sources only. The DZone architecture article was read for framing, but its code samples are illustrative pseudo-code, not the real SDK, so it is not cited for implementation.</a:t>
            </a:r>
            <a:endParaRPr lang="en-US" sz="1250" dirty="0"/>
          </a:p>
        </p:txBody>
      </p:sp>
      <p:sp>
        <p:nvSpPr>
          <p:cNvPr id="21" name="Text 18"/>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Agentic AI Practitioner Bootcamp</a:t>
            </a:r>
            <a:endParaRPr lang="en-US" sz="900" dirty="0"/>
          </a:p>
        </p:txBody>
      </p:sp>
      <p:sp>
        <p:nvSpPr>
          <p:cNvPr id="22" name="Text 19"/>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Agent-to-Agent (A2A) with Strands and AgentCore</dc:title>
  <dc:subject>PptxGenJS Presentation</dc:subject>
  <dc:creator>Akash Das</dc:creator>
  <cp:lastModifiedBy>Akash Das</cp:lastModifiedBy>
  <cp:revision>1</cp:revision>
  <dcterms:created xsi:type="dcterms:W3CDTF">2026-06-09T04:25:18Z</dcterms:created>
  <dcterms:modified xsi:type="dcterms:W3CDTF">2026-06-09T04:25:18Z</dcterms:modified>
</cp:coreProperties>
</file>