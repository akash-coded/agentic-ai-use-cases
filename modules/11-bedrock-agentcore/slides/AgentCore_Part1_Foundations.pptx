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869680" y="-1005840"/>
            <a:ext cx="2926080" cy="2926080"/>
          </a:xfrm>
          <a:prstGeom prst="roundRect">
            <a:avLst>
              <a:gd name="adj" fmla="val 7813"/>
            </a:avLst>
          </a:prstGeom>
          <a:solidFill>
            <a:srgbClr val="0D9488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692640" y="4754880"/>
            <a:ext cx="3108960" cy="3108960"/>
          </a:xfrm>
          <a:prstGeom prst="roundRect">
            <a:avLst>
              <a:gd name="adj" fmla="val 8824"/>
            </a:avLst>
          </a:prstGeom>
          <a:solidFill>
            <a:srgbClr val="EF8C2D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BOOTCAMP · ZERO → HERO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 Bedrock AgentCore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77240" y="379476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Foundations &amp; Runtime: take the Strands agent you already build and run it in production.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5806440"/>
            <a:ext cx="457200" cy="4572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AWS docs, June 2026  ·  region us-east-1  ·  Claude Sonnet 4.5 / Haiku 4.5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1 — FOUNDATIONS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THROWBACK · WHAT YOU'VE DONE SO FAR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You've already built agents three 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611880" cy="306324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83080"/>
            <a:ext cx="64008" cy="306324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FF9F4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64" dirty="0"/>
          </a:p>
        </p:txBody>
      </p:sp>
      <p:sp>
        <p:nvSpPr>
          <p:cNvPr id="8" name="Text 6"/>
          <p:cNvSpPr/>
          <p:nvPr/>
        </p:nvSpPr>
        <p:spPr>
          <a:xfrm>
            <a:off x="1527048" y="211226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for Bedrock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2880360"/>
            <a:ext cx="31089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 in the console. You pick a model, write instructions, attach action groups (Lambda). AWS runs the loop.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34840" y="1783080"/>
            <a:ext cx="3611880" cy="306324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783080"/>
            <a:ext cx="64008" cy="30632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Shape 10"/>
          <p:cNvSpPr/>
          <p:nvPr/>
        </p:nvSpPr>
        <p:spPr>
          <a:xfrm>
            <a:off x="4690872" y="205740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4690872" y="2057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64" dirty="0"/>
          </a:p>
        </p:txBody>
      </p:sp>
      <p:sp>
        <p:nvSpPr>
          <p:cNvPr id="14" name="Text 12"/>
          <p:cNvSpPr/>
          <p:nvPr/>
        </p:nvSpPr>
        <p:spPr>
          <a:xfrm>
            <a:off x="5394960" y="211226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Strands SDK in notebooks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09160" y="2880360"/>
            <a:ext cx="31089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Agent(), @tool, model IDs, MCP servers, multi-agent. You own the orchestration logic in Python.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302752" y="1783080"/>
            <a:ext cx="3611880" cy="306324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02752" y="1783080"/>
            <a:ext cx="64008" cy="3063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8558784" y="205740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8558784" y="2057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64" dirty="0"/>
          </a:p>
        </p:txBody>
      </p:sp>
      <p:sp>
        <p:nvSpPr>
          <p:cNvPr id="20" name="Text 18"/>
          <p:cNvSpPr/>
          <p:nvPr/>
        </p:nvSpPr>
        <p:spPr>
          <a:xfrm>
            <a:off x="9262872" y="211226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MCP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577072" y="2880360"/>
            <a:ext cx="31089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@tool functions, strands_tools, MCP servers over streamable HTTP wired into your agents.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6928" y="5166360"/>
            <a:ext cx="11064240" cy="868680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5166360"/>
            <a:ext cx="64008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" y="5202936"/>
            <a:ext cx="1069848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missing piece:  </a:t>
            </a:r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live in a notebook or a console. None of them is a running, scalable, secure product. AgentCore is the ground they run on.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1 — FOUNDATIONS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Strands agent in a notebook is not a product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468880" cy="137160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828800"/>
            <a:ext cx="64008" cy="13716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377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your laptop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2377440"/>
            <a:ext cx="914400" cy="292608"/>
          </a:xfrm>
          <a:prstGeom prst="rightArrow">
            <a:avLst/>
          </a:prstGeom>
          <a:solidFill>
            <a:srgbClr val="FF9F45"/>
          </a:solidFill>
          <a:ln/>
        </p:spPr>
      </p:sp>
      <p:sp>
        <p:nvSpPr>
          <p:cNvPr id="9" name="Shape 7"/>
          <p:cNvSpPr/>
          <p:nvPr/>
        </p:nvSpPr>
        <p:spPr>
          <a:xfrm>
            <a:off x="4206240" y="178308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 w="19050">
            <a:solidFill>
              <a:srgbClr val="DC262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206240" y="1874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???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206240" y="24688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gap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29400" y="2377440"/>
            <a:ext cx="914400" cy="292608"/>
          </a:xfrm>
          <a:prstGeom prst="rightArrow">
            <a:avLst/>
          </a:prstGeom>
          <a:solidFill>
            <a:srgbClr val="FF9F45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0" y="1828800"/>
            <a:ext cx="2468880" cy="137160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80960" y="1828800"/>
            <a:ext cx="64008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80960" y="2377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· APIs · scale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3611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notebook can't give you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6928" y="4069080"/>
            <a:ext cx="2670048" cy="493776"/>
          </a:xfrm>
          <a:prstGeom prst="roundRect">
            <a:avLst>
              <a:gd name="adj" fmla="val 11111"/>
            </a:avLst>
          </a:prstGeom>
          <a:solidFill>
            <a:srgbClr val="ECF2F8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4069080"/>
            <a:ext cx="24871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autoscaling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383280" y="4069080"/>
            <a:ext cx="2670048" cy="493776"/>
          </a:xfrm>
          <a:prstGeom prst="roundRect">
            <a:avLst>
              <a:gd name="adj" fmla="val 11111"/>
            </a:avLst>
          </a:prstGeom>
          <a:solidFill>
            <a:srgbClr val="ECF2F8"/>
          </a:solidFill>
          <a:ln/>
        </p:spPr>
      </p:sp>
      <p:sp>
        <p:nvSpPr>
          <p:cNvPr id="21" name="Text 19"/>
          <p:cNvSpPr/>
          <p:nvPr/>
        </p:nvSpPr>
        <p:spPr>
          <a:xfrm>
            <a:off x="3493008" y="4069080"/>
            <a:ext cx="24871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sessions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99632" y="4069080"/>
            <a:ext cx="2670048" cy="493776"/>
          </a:xfrm>
          <a:prstGeom prst="roundRect">
            <a:avLst>
              <a:gd name="adj" fmla="val 11111"/>
            </a:avLst>
          </a:prstGeom>
          <a:solidFill>
            <a:srgbClr val="ECF2F8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4069080"/>
            <a:ext cx="24871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isolation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015984" y="4069080"/>
            <a:ext cx="2670048" cy="493776"/>
          </a:xfrm>
          <a:prstGeom prst="roundRect">
            <a:avLst>
              <a:gd name="adj" fmla="val 11111"/>
            </a:avLst>
          </a:prstGeom>
          <a:solidFill>
            <a:srgbClr val="ECF2F8"/>
          </a:solidFill>
          <a:ln/>
        </p:spPr>
      </p:sp>
      <p:sp>
        <p:nvSpPr>
          <p:cNvPr id="25" name="Text 23"/>
          <p:cNvSpPr/>
          <p:nvPr/>
        </p:nvSpPr>
        <p:spPr>
          <a:xfrm>
            <a:off x="9125712" y="4069080"/>
            <a:ext cx="24871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auth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4672584"/>
            <a:ext cx="2670048" cy="493776"/>
          </a:xfrm>
          <a:prstGeom prst="roundRect">
            <a:avLst>
              <a:gd name="adj" fmla="val 11111"/>
            </a:avLst>
          </a:prstGeom>
          <a:solidFill>
            <a:srgbClr val="ECF2F8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" y="4672584"/>
            <a:ext cx="24871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383280" y="4672584"/>
            <a:ext cx="2670048" cy="493776"/>
          </a:xfrm>
          <a:prstGeom prst="roundRect">
            <a:avLst>
              <a:gd name="adj" fmla="val 11111"/>
            </a:avLst>
          </a:prstGeom>
          <a:solidFill>
            <a:srgbClr val="ECF2F8"/>
          </a:solidFill>
          <a:ln/>
        </p:spPr>
      </p:sp>
      <p:sp>
        <p:nvSpPr>
          <p:cNvPr id="29" name="Text 27"/>
          <p:cNvSpPr/>
          <p:nvPr/>
        </p:nvSpPr>
        <p:spPr>
          <a:xfrm>
            <a:off x="3493008" y="4672584"/>
            <a:ext cx="24871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at scale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99632" y="4672584"/>
            <a:ext cx="2670048" cy="493776"/>
          </a:xfrm>
          <a:prstGeom prst="roundRect">
            <a:avLst>
              <a:gd name="adj" fmla="val 11111"/>
            </a:avLst>
          </a:prstGeom>
          <a:solidFill>
            <a:srgbClr val="ECF2F8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4672584"/>
            <a:ext cx="24871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015984" y="4672584"/>
            <a:ext cx="2670048" cy="493776"/>
          </a:xfrm>
          <a:prstGeom prst="roundRect">
            <a:avLst>
              <a:gd name="adj" fmla="val 11111"/>
            </a:avLst>
          </a:prstGeom>
          <a:solidFill>
            <a:srgbClr val="ECF2F8"/>
          </a:solidFill>
          <a:ln/>
        </p:spPr>
      </p:sp>
      <p:sp>
        <p:nvSpPr>
          <p:cNvPr id="33" name="Text 31"/>
          <p:cNvSpPr/>
          <p:nvPr/>
        </p:nvSpPr>
        <p:spPr>
          <a:xfrm>
            <a:off x="9125712" y="4672584"/>
            <a:ext cx="24871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&amp; rollback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66928" y="5577840"/>
            <a:ext cx="11064240" cy="640080"/>
          </a:xfrm>
          <a:prstGeom prst="rect">
            <a:avLst/>
          </a:prstGeom>
          <a:solidFill>
            <a:srgbClr val="FFF6E8"/>
          </a:solidFill>
          <a:ln/>
        </p:spPr>
      </p:sp>
      <p:sp>
        <p:nvSpPr>
          <p:cNvPr id="35" name="Shape 33"/>
          <p:cNvSpPr/>
          <p:nvPr/>
        </p:nvSpPr>
        <p:spPr>
          <a:xfrm>
            <a:off x="566928" y="5577840"/>
            <a:ext cx="64008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" y="5614416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 asks:  </a:t>
            </a:r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“Can't I just drop it in a Lambda or a FastAPI container?” — Good question. Hold it; we answer on slide 23.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1 — FOUNDATIONS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 · LINK IT BACK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layers of abstraction — where each sits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2999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657600" y="14813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call it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852160" y="14813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own / get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1064240" cy="132588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828800"/>
            <a:ext cx="64008" cy="1325880"/>
          </a:xfrm>
          <a:prstGeom prst="rect">
            <a:avLst/>
          </a:prstGeom>
          <a:solidFill>
            <a:srgbClr val="5B7185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938528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model invocation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657600" y="1938528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Converse / InvokeModel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52160" y="193852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EVERYTHING: prompt, retrieval, tool-calling, state, retries.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012680" y="2290572"/>
            <a:ext cx="1508760" cy="402336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12680" y="2290572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control, max work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3319272"/>
            <a:ext cx="11064240" cy="132588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319272"/>
            <a:ext cx="64008" cy="132588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42900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for Bedrock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657600" y="3429000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InvokeAgent (managed)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52160" y="3429000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Config-first. AWS runs the ReAct loop. You give instructions + Lambda tools.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012680" y="3781044"/>
            <a:ext cx="1508760" cy="402336"/>
          </a:xfrm>
          <a:prstGeom prst="roundRect">
            <a:avLst>
              <a:gd name="adj" fmla="val 50000"/>
            </a:avLst>
          </a:prstGeom>
          <a:solidFill>
            <a:srgbClr val="FF9F45"/>
          </a:solidFill>
          <a:ln/>
        </p:spPr>
      </p:sp>
      <p:sp>
        <p:nvSpPr>
          <p:cNvPr id="20" name="Text 18"/>
          <p:cNvSpPr/>
          <p:nvPr/>
        </p:nvSpPr>
        <p:spPr>
          <a:xfrm>
            <a:off x="10012680" y="3781044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least flexible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4809744"/>
            <a:ext cx="11064240" cy="1325880"/>
          </a:xfrm>
          <a:prstGeom prst="rect">
            <a:avLst/>
          </a:prstGeom>
          <a:solidFill>
            <a:srgbClr val="EAFBF7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" y="4809744"/>
            <a:ext cx="64008" cy="13258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" y="4919472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AgentCore + your framework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3657600" y="4919472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Strands code on managed infra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852160" y="4919472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the loop (Strands). AWS gives runtime, memory, tools, identity, observability.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012680" y="5271516"/>
            <a:ext cx="1508760" cy="402336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27" name="Text 25"/>
          <p:cNvSpPr/>
          <p:nvPr/>
        </p:nvSpPr>
        <p:spPr>
          <a:xfrm>
            <a:off x="10012680" y="5271516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code, production-grade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" y="6355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bootcamp lives in the bottom row: your Strands agent, AWS's production substrate.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1 — FOUNDATIONS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CONFUSE THEM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for Bedrock  vs  AgentCore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40680" cy="416052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83080"/>
            <a:ext cx="64008" cy="416052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for Bedrock (2023)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5420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58568" y="254203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Configuration-first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30906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58568" y="309067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runs ReAct for you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36393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58568" y="363931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groups → Lambda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41879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58568" y="418795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AWS's own, fixed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" y="47365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58568" y="473659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InvokeAgent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52852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58568" y="528523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fast, low control needs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99632" y="1783080"/>
            <a:ext cx="5440680" cy="416052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9632" y="1783080"/>
            <a:ext cx="64008" cy="41605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193852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AgentCore (GA Oct 2025)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73952" y="25420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91272" y="254203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Bring-your-own-code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73952" y="30906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91272" y="309067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it (Strands)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73952" y="36393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91272" y="363931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+ MCP + Gateway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73952" y="41879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891272" y="418795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(Strands, LangGraph…)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73952" y="47365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91272" y="473659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InvokeAgentRuntime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73952" y="52852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891272" y="528523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agents in production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66928" y="6144768"/>
            <a:ext cx="11064240" cy="566928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35" name="Shape 33"/>
          <p:cNvSpPr/>
          <p:nvPr/>
        </p:nvSpPr>
        <p:spPr>
          <a:xfrm>
            <a:off x="566928" y="6144768"/>
            <a:ext cx="64008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" y="6181344"/>
            <a:ext cx="10698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does NOT replace Strands. Strands is how you build the agent; AgentCore is where it lives, scales, and is secured.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1 — FOUNDATIONS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AgentCore = seven modular services. Use one, or all.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 and model-agnostic. Adopt à la carte — start with Runtime, add the rest when you need them.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611880" cy="114300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523744"/>
            <a:ext cx="676656" cy="676656"/>
          </a:xfrm>
          <a:prstGeom prst="roundRect">
            <a:avLst>
              <a:gd name="adj" fmla="val 13514"/>
            </a:avLst>
          </a:prstGeom>
          <a:solidFill>
            <a:srgbClr val="2DD4BF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" y="2523744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8096" y="2523744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72768" y="25054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RUNTIME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72768" y="287121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home for your agent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1688" y="2286000"/>
            <a:ext cx="3611880" cy="114300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62856" y="2523744"/>
            <a:ext cx="676656" cy="676656"/>
          </a:xfrm>
          <a:prstGeom prst="roundRect">
            <a:avLst>
              <a:gd name="adj" fmla="val 13514"/>
            </a:avLst>
          </a:prstGeom>
          <a:solidFill>
            <a:srgbClr val="2DD4BF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62856" y="2523744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62856" y="2523744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67528" y="25054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67528" y="287121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 &amp; long-term recall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56448" y="2286000"/>
            <a:ext cx="3611880" cy="114300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57616" y="2523744"/>
            <a:ext cx="676656" cy="676656"/>
          </a:xfrm>
          <a:prstGeom prst="roundRect">
            <a:avLst>
              <a:gd name="adj" fmla="val 13514"/>
            </a:avLst>
          </a:prstGeom>
          <a:solidFill>
            <a:srgbClr val="2DD4BF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57616" y="2523744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57616" y="2523744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62288" y="25054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GATEWAY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62288" y="287121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APIs/Lambda/MCP → tools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3630168"/>
            <a:ext cx="3611880" cy="114300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8096" y="3867912"/>
            <a:ext cx="676656" cy="676656"/>
          </a:xfrm>
          <a:prstGeom prst="roundRect">
            <a:avLst>
              <a:gd name="adj" fmla="val 13514"/>
            </a:avLst>
          </a:prstGeom>
          <a:solidFill>
            <a:srgbClr val="FF9F45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8096" y="386791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8096" y="386791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572768" y="384962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72768" y="421538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+ outbound auth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61688" y="3630168"/>
            <a:ext cx="3611880" cy="114300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62856" y="3867912"/>
            <a:ext cx="676656" cy="676656"/>
          </a:xfrm>
          <a:prstGeom prst="roundRect">
            <a:avLst>
              <a:gd name="adj" fmla="val 13514"/>
            </a:avLst>
          </a:prstGeom>
          <a:solidFill>
            <a:srgbClr val="FF9F45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62856" y="386791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62856" y="386791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367528" y="384962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BROWSER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367528" y="421538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web browser tool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56448" y="3630168"/>
            <a:ext cx="3611880" cy="114300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57616" y="3867912"/>
            <a:ext cx="676656" cy="676656"/>
          </a:xfrm>
          <a:prstGeom prst="roundRect">
            <a:avLst>
              <a:gd name="adj" fmla="val 13514"/>
            </a:avLst>
          </a:prstGeom>
          <a:solidFill>
            <a:srgbClr val="FF9F45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357616" y="386791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357616" y="386791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162288" y="384962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INTERP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162288" y="421538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code execution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66928" y="4974336"/>
            <a:ext cx="3611880" cy="114300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68096" y="5212080"/>
            <a:ext cx="676656" cy="676656"/>
          </a:xfrm>
          <a:prstGeom prst="roundRect">
            <a:avLst>
              <a:gd name="adj" fmla="val 13514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8100000">
              <a:srgbClr val="0A1726">
                <a:alpha val="14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68096" y="521208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68096" y="521208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1572768" y="51937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572768" y="555955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metrics, sessions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0" y="498348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works independently and composes seamlessly — e.g. Gateway uses Identity's OAuth provider to secure tools.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1 — FOUNDATIONS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PICTURE TO REMEMBER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AgentCore is the substrate UNDER your Strands 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108960" y="1691640"/>
            <a:ext cx="5989320" cy="8229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383280" y="1783080"/>
            <a:ext cx="5532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Strands agent code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83280" y="2148840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Agent(), @tool, system prompt — unchanged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08960" y="1691640"/>
            <a:ext cx="64008" cy="8229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Shape 6"/>
          <p:cNvSpPr/>
          <p:nvPr/>
        </p:nvSpPr>
        <p:spPr>
          <a:xfrm>
            <a:off x="3108960" y="2606040"/>
            <a:ext cx="5989320" cy="8229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2697480"/>
            <a:ext cx="5532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AgentCore Runtime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3063240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service · /invocations + /ping · port 8080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08960" y="2606040"/>
            <a:ext cx="64008" cy="82296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0" y="3520440"/>
            <a:ext cx="5989320" cy="822960"/>
          </a:xfrm>
          <a:prstGeom prst="rect">
            <a:avLst/>
          </a:prstGeom>
          <a:solidFill>
            <a:srgbClr val="0F2A45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3611880"/>
            <a:ext cx="5532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managed foundation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3977640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microVM · ECR image · IAM role · CloudWatch · Graviton/ARM64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108960" y="3520440"/>
            <a:ext cx="64008" cy="822960"/>
          </a:xfrm>
          <a:prstGeom prst="rect">
            <a:avLst/>
          </a:prstGeom>
          <a:solidFill>
            <a:srgbClr val="0F2A4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57316" y="2542032"/>
            <a:ext cx="292608" cy="292608"/>
          </a:xfrm>
          <a:prstGeom prst="downArrow">
            <a:avLst/>
          </a:prstGeom>
          <a:solidFill>
            <a:srgbClr val="5B7185"/>
          </a:solidFill>
          <a:ln/>
        </p:spPr>
      </p:sp>
      <p:sp>
        <p:nvSpPr>
          <p:cNvPr id="17" name="Shape 15"/>
          <p:cNvSpPr/>
          <p:nvPr/>
        </p:nvSpPr>
        <p:spPr>
          <a:xfrm>
            <a:off x="5957316" y="3456432"/>
            <a:ext cx="292608" cy="292608"/>
          </a:xfrm>
          <a:prstGeom prst="downArrow">
            <a:avLst/>
          </a:prstGeom>
          <a:solidFill>
            <a:srgbClr val="5B7185"/>
          </a:solidFill>
          <a:ln/>
        </p:spPr>
      </p:sp>
      <p:sp>
        <p:nvSpPr>
          <p:cNvPr id="18" name="Shape 16"/>
          <p:cNvSpPr/>
          <p:nvPr/>
        </p:nvSpPr>
        <p:spPr>
          <a:xfrm>
            <a:off x="9464040" y="178308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9464040" y="178308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98280" y="2002536"/>
            <a:ext cx="365760" cy="0"/>
          </a:xfrm>
          <a:prstGeom prst="line">
            <a:avLst/>
          </a:prstGeom>
          <a:noFill/>
          <a:ln w="19050">
            <a:solidFill>
              <a:srgbClr val="D9E2E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464040" y="2350008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22" name="Text 20"/>
          <p:cNvSpPr/>
          <p:nvPr/>
        </p:nvSpPr>
        <p:spPr>
          <a:xfrm>
            <a:off x="9464040" y="2350008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98280" y="2569464"/>
            <a:ext cx="365760" cy="0"/>
          </a:xfrm>
          <a:prstGeom prst="line">
            <a:avLst/>
          </a:prstGeom>
          <a:noFill/>
          <a:ln w="19050">
            <a:solidFill>
              <a:srgbClr val="D9E2EC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9464040" y="2916936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FF9F45"/>
          </a:solidFill>
          <a:ln/>
        </p:spPr>
      </p:sp>
      <p:sp>
        <p:nvSpPr>
          <p:cNvPr id="25" name="Text 23"/>
          <p:cNvSpPr/>
          <p:nvPr/>
        </p:nvSpPr>
        <p:spPr>
          <a:xfrm>
            <a:off x="9464040" y="2916936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98280" y="3136392"/>
            <a:ext cx="365760" cy="0"/>
          </a:xfrm>
          <a:prstGeom prst="line">
            <a:avLst/>
          </a:prstGeom>
          <a:noFill/>
          <a:ln w="19050">
            <a:solidFill>
              <a:srgbClr val="D9E2EC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9464040" y="3483864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FF9F45"/>
          </a:solidFill>
          <a:ln/>
        </p:spPr>
      </p:sp>
      <p:sp>
        <p:nvSpPr>
          <p:cNvPr id="28" name="Text 26"/>
          <p:cNvSpPr/>
          <p:nvPr/>
        </p:nvSpPr>
        <p:spPr>
          <a:xfrm>
            <a:off x="9464040" y="3483864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098280" y="3703320"/>
            <a:ext cx="365760" cy="0"/>
          </a:xfrm>
          <a:prstGeom prst="line">
            <a:avLst/>
          </a:prstGeom>
          <a:noFill/>
          <a:ln w="19050">
            <a:solidFill>
              <a:srgbClr val="D9E2EC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9464040" y="4050792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FF9F45"/>
          </a:solidFill>
          <a:ln/>
        </p:spPr>
      </p:sp>
      <p:sp>
        <p:nvSpPr>
          <p:cNvPr id="31" name="Text 29"/>
          <p:cNvSpPr/>
          <p:nvPr/>
        </p:nvSpPr>
        <p:spPr>
          <a:xfrm>
            <a:off x="9464040" y="4050792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Interp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098280" y="4270248"/>
            <a:ext cx="365760" cy="0"/>
          </a:xfrm>
          <a:prstGeom prst="line">
            <a:avLst/>
          </a:prstGeom>
          <a:noFill/>
          <a:ln w="19050">
            <a:solidFill>
              <a:srgbClr val="D9E2EC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9464040" y="4709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 as needed →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" y="5852160"/>
            <a:ext cx="11064240" cy="640080"/>
          </a:xfrm>
          <a:prstGeom prst="rect">
            <a:avLst/>
          </a:prstGeom>
          <a:solidFill>
            <a:srgbClr val="EAF7EE"/>
          </a:solidFill>
          <a:ln/>
        </p:spPr>
      </p:sp>
      <p:sp>
        <p:nvSpPr>
          <p:cNvPr id="35" name="Shape 33"/>
          <p:cNvSpPr/>
          <p:nvPr/>
        </p:nvSpPr>
        <p:spPr>
          <a:xfrm>
            <a:off x="566928" y="5852160"/>
            <a:ext cx="64008" cy="6400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" y="5888736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Strands code you write today gets a new home. You're not learning a new agent framework — you're learning how to ship the one you have.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1 — FOUNDATIONS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509760" y="-914400"/>
            <a:ext cx="3291840" cy="3291840"/>
          </a:xfrm>
          <a:prstGeom prst="roundRect">
            <a:avLst>
              <a:gd name="adj" fmla="val 8333"/>
            </a:avLst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2743200"/>
            <a:ext cx="42976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F2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9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AGENTCORE RUNTIME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8803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serverless home for your agent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2519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your Strands code actually runs at scale.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1 — FOUNDATIONS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RUNTIME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serverless runtime purpose-built for agents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440680" cy="1207008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828800"/>
            <a:ext cx="64008" cy="1207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75104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Any framework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39572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Strands, LangGraph, CrewAI, Google ADK, custom code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0488" y="1828800"/>
            <a:ext cx="5440680" cy="1207008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0488" y="1828800"/>
            <a:ext cx="64008" cy="1207008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10" name="Text 8"/>
          <p:cNvSpPr/>
          <p:nvPr/>
        </p:nvSpPr>
        <p:spPr>
          <a:xfrm>
            <a:off x="6464808" y="1975104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Any 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64808" y="239572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or not — Claude Sonnet 4.5, Haiku 4.5, and beyond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218688"/>
            <a:ext cx="5440680" cy="1207008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3218688"/>
            <a:ext cx="64008" cy="1207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364992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8-hour sessions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" y="378561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agents, not capped at Lambda's 15 minutes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0488" y="3218688"/>
            <a:ext cx="5440680" cy="1207008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0488" y="3218688"/>
            <a:ext cx="64008" cy="1207008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18" name="Text 16"/>
          <p:cNvSpPr/>
          <p:nvPr/>
        </p:nvSpPr>
        <p:spPr>
          <a:xfrm>
            <a:off x="6464808" y="3364992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session isolation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64808" y="378561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session = its own microVM (Graviton/ARM64)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4608576"/>
            <a:ext cx="5440680" cy="1207008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4608576"/>
            <a:ext cx="64008" cy="1207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75488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 cold starts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" y="517550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Provisions on demand, scales horizontally with load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90488" y="4608576"/>
            <a:ext cx="5440680" cy="1207008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90488" y="4608576"/>
            <a:ext cx="64008" cy="1207008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26" name="Text 24"/>
          <p:cNvSpPr/>
          <p:nvPr/>
        </p:nvSpPr>
        <p:spPr>
          <a:xfrm>
            <a:off x="6464808" y="475488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Multi-modal payloads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64808" y="517550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images, structured JSON in and out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1 — FOUNDATIONS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Runtime serves a request: the microVM lifecycle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670048" cy="21945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12264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122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32" dirty="0"/>
          </a:p>
        </p:txBody>
      </p:sp>
      <p:sp>
        <p:nvSpPr>
          <p:cNvPr id="7" name="Text 5"/>
          <p:cNvSpPr/>
          <p:nvPr/>
        </p:nvSpPr>
        <p:spPr>
          <a:xfrm>
            <a:off x="1435608" y="214884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Invoke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788920"/>
            <a:ext cx="21671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hits your agent's endpoint with a session ID.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18688" y="2825496"/>
            <a:ext cx="164592" cy="292608"/>
          </a:xfrm>
          <a:prstGeom prst="rightArrow">
            <a:avLst/>
          </a:prstGeom>
          <a:solidFill>
            <a:srgbClr val="5B7185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874520"/>
            <a:ext cx="2670048" cy="21945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9312" y="2112264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21122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32" dirty="0"/>
          </a:p>
        </p:txBody>
      </p:sp>
      <p:sp>
        <p:nvSpPr>
          <p:cNvPr id="13" name="Text 11"/>
          <p:cNvSpPr/>
          <p:nvPr/>
        </p:nvSpPr>
        <p:spPr>
          <a:xfrm>
            <a:off x="4251960" y="214884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2788920"/>
            <a:ext cx="21671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spins up a lightweight microVM on spot capacity, loads your ECR image.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2825496"/>
            <a:ext cx="164592" cy="292608"/>
          </a:xfrm>
          <a:prstGeom prst="rightArrow">
            <a:avLst/>
          </a:prstGeom>
          <a:solidFill>
            <a:srgbClr val="5B7185"/>
          </a:solidFill>
          <a:ln/>
        </p:spPr>
      </p:sp>
      <p:sp>
        <p:nvSpPr>
          <p:cNvPr id="16" name="Shape 14"/>
          <p:cNvSpPr/>
          <p:nvPr/>
        </p:nvSpPr>
        <p:spPr>
          <a:xfrm>
            <a:off x="6199632" y="1874520"/>
            <a:ext cx="2670048" cy="21945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55664" y="2112264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6455664" y="21122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32" dirty="0"/>
          </a:p>
        </p:txBody>
      </p:sp>
      <p:sp>
        <p:nvSpPr>
          <p:cNvPr id="19" name="Text 17"/>
          <p:cNvSpPr/>
          <p:nvPr/>
        </p:nvSpPr>
        <p:spPr>
          <a:xfrm>
            <a:off x="7068312" y="214884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73952" y="2788920"/>
            <a:ext cx="21671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handler executes. The microVM stays warm for the whole session (one conversation).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851392" y="2825496"/>
            <a:ext cx="164592" cy="292608"/>
          </a:xfrm>
          <a:prstGeom prst="rightArrow">
            <a:avLst/>
          </a:prstGeom>
          <a:solidFill>
            <a:srgbClr val="5B7185"/>
          </a:solidFill>
          <a:ln/>
        </p:spPr>
      </p:sp>
      <p:sp>
        <p:nvSpPr>
          <p:cNvPr id="22" name="Shape 20"/>
          <p:cNvSpPr/>
          <p:nvPr/>
        </p:nvSpPr>
        <p:spPr>
          <a:xfrm>
            <a:off x="9015984" y="1874520"/>
            <a:ext cx="2670048" cy="21945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72016" y="2112264"/>
            <a:ext cx="512064" cy="512064"/>
          </a:xfrm>
          <a:prstGeom prst="ellipse">
            <a:avLst/>
          </a:prstGeom>
          <a:solidFill>
            <a:srgbClr val="FF9F45"/>
          </a:solidFill>
          <a:ln/>
        </p:spPr>
      </p:sp>
      <p:sp>
        <p:nvSpPr>
          <p:cNvPr id="24" name="Text 22"/>
          <p:cNvSpPr/>
          <p:nvPr/>
        </p:nvSpPr>
        <p:spPr>
          <a:xfrm>
            <a:off x="9272016" y="21122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32" dirty="0"/>
          </a:p>
        </p:txBody>
      </p:sp>
      <p:sp>
        <p:nvSpPr>
          <p:cNvPr id="25" name="Text 23"/>
          <p:cNvSpPr/>
          <p:nvPr/>
        </p:nvSpPr>
        <p:spPr>
          <a:xfrm>
            <a:off x="9884664" y="214884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Terminate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90304" y="2788920"/>
            <a:ext cx="21671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idle (15 min) / max (8 hr) / unhealthy → microVM killed, memory wiped.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4343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states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" y="4709160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ECF2F8"/>
          </a:solidFill>
          <a:ln/>
        </p:spPr>
      </p:sp>
      <p:sp>
        <p:nvSpPr>
          <p:cNvPr id="29" name="Shape 27"/>
          <p:cNvSpPr/>
          <p:nvPr/>
        </p:nvSpPr>
        <p:spPr>
          <a:xfrm>
            <a:off x="768096" y="4983480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1161288" y="4846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61288" y="517550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or background task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270248" y="4709160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ECF2F8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1416" y="4983480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4864608" y="4846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Idle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64608" y="517550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waiting; killed after 15 min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973568" y="4709160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ECF2F8"/>
          </a:solidFill>
          <a:ln/>
        </p:spPr>
      </p:sp>
      <p:sp>
        <p:nvSpPr>
          <p:cNvPr id="37" name="Shape 35"/>
          <p:cNvSpPr/>
          <p:nvPr/>
        </p:nvSpPr>
        <p:spPr>
          <a:xfrm>
            <a:off x="8174736" y="4983480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8" name="Text 36"/>
          <p:cNvSpPr/>
          <p:nvPr/>
        </p:nvSpPr>
        <p:spPr>
          <a:xfrm>
            <a:off x="8567928" y="4846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Terminated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567928" y="517550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gone; next invoke = fresh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" y="5779008"/>
            <a:ext cx="11064240" cy="603504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41" name="Shape 39"/>
          <p:cNvSpPr/>
          <p:nvPr/>
        </p:nvSpPr>
        <p:spPr>
          <a:xfrm>
            <a:off x="566928" y="5779008"/>
            <a:ext cx="64008" cy="6035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768096" y="5815584"/>
            <a:ext cx="10698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microVMs:  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is deterministic even though agent behaviour isn't — no cross-session data leakage, ever.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1 — FOUNDATIONS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agent becomes a tiny HTTP service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246120" cy="182880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828800"/>
            <a:ext cx="64008" cy="18288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/invocations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door. JSON in, JSON or SSE (streaming) out. Your agent logic runs here.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767328"/>
            <a:ext cx="3246120" cy="141732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3767328"/>
            <a:ext cx="64008" cy="141732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9319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8C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/ping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4334256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check. Returns Healthy or HealthyBusy (busy = running a background task).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069080" y="1828800"/>
            <a:ext cx="7543800" cy="3355848"/>
          </a:xfrm>
          <a:prstGeom prst="rect">
            <a:avLst/>
          </a:prstGeom>
          <a:solidFill>
            <a:srgbClr val="0A1726"/>
          </a:solidFill>
          <a:ln w="12700">
            <a:solidFill>
              <a:srgbClr val="1E456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6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33672" y="198424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4379976" y="198424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4526280" y="198424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883664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 → response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25112" y="2267712"/>
            <a:ext cx="7086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6B8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you POST this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"prompt": "My flight AI-302 was cancelled" }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6B8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JSON response (fast, complete)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"response": "Rebooking you now…", "status": "success" }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6B8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Server-Sent Events (streaming, token-by-token)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text/event-stream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{"event": "partial 1"}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{"event": "final"}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5440680"/>
            <a:ext cx="11064240" cy="914400"/>
          </a:xfrm>
          <a:prstGeom prst="rect">
            <a:avLst/>
          </a:prstGeom>
          <a:solidFill>
            <a:srgbClr val="EAF7EE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5440680"/>
            <a:ext cx="64008" cy="9144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5477256"/>
            <a:ext cx="10698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good news:  </a:t>
            </a:r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none of this. BedrockAgentCoreApp creates the server, both endpoints, content-type handling, and AWS-standard error formats. You just decorate one function.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1 — FOUNDATIONS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CONSEQUENCE YOU MUST DESIGN FOR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Sessions are isolated — and ephemeral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440680" cy="2743200"/>
          </a:xfrm>
          <a:prstGeom prst="rect">
            <a:avLst/>
          </a:prstGeom>
          <a:solidFill>
            <a:srgbClr val="EAFBF7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828800"/>
            <a:ext cx="64008" cy="2743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Isolated 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4983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→ its own microVM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CPU, memory, filesystem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user's agent can't see another's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end, the whole microVM is wiped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99632" y="1828800"/>
            <a:ext cx="5440680" cy="2743200"/>
          </a:xfrm>
          <a:prstGeom prst="rect">
            <a:avLst/>
          </a:prstGeom>
          <a:solidFill>
            <a:srgbClr val="FFF6E8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9632" y="1828800"/>
            <a:ext cx="64008" cy="274320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10" name="Text 8"/>
          <p:cNvSpPr/>
          <p:nvPr/>
        </p:nvSpPr>
        <p:spPr>
          <a:xfrm>
            <a:off x="6455664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8C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Ephemeral 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01384" y="2560320"/>
            <a:ext cx="4983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in memory or on disk dies with the session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history, preferences, intermediate state — gone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session ID keeps context only while the session lives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892040"/>
            <a:ext cx="11064240" cy="960120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4892040"/>
            <a:ext cx="64008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4928616"/>
            <a:ext cx="1069848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this is WHY you need AgentCore Memory →  </a:t>
            </a:r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persist anything across sessions (a returning user's window-seat preference, past disruptions), you need a purpose-built store. That's Part 2.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1 — FOUNDATIONS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CLEAR-EYED ABOUT THIS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ways to ship — and AWS is mid-migration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40680" cy="365760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83080"/>
            <a:ext cx="64008" cy="36576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20240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starter toolkit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286000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bedrock-agentcore-starter-toolkit (pip)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26974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121408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323697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121408" y="32369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configure / launch / invoke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377647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21408" y="37764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BedrockAgentCoreApp — minimal Python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431596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21408" y="43159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sample &amp; tutorial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4855464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121408" y="48554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'legacy' but works fully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99632" y="1783080"/>
            <a:ext cx="5440680" cy="365760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99632" y="1783080"/>
            <a:ext cx="64008" cy="365760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20" name="Text 18"/>
          <p:cNvSpPr/>
          <p:nvPr/>
        </p:nvSpPr>
        <p:spPr>
          <a:xfrm>
            <a:off x="6473952" y="1920240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AgentCore CLI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73952" y="2286000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@aws/agentcore (npm, Node 20+)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73952" y="26974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54112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 -g @aws/agentcore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73952" y="323697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754112" y="32369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create / deploy / invoke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73952" y="377647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54112" y="37764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project + AWS CDK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73952" y="431596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754112" y="43159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AWS's recommended path for NEW projects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73952" y="4855464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754112" y="48554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GA, actively pushed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5577840"/>
            <a:ext cx="11064240" cy="777240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33" name="Shape 31"/>
          <p:cNvSpPr/>
          <p:nvPr/>
        </p:nvSpPr>
        <p:spPr>
          <a:xfrm>
            <a:off x="566928" y="5577840"/>
            <a:ext cx="64008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768096" y="5614416"/>
            <a:ext cx="106984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path:  </a:t>
            </a:r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learn with the Python starter toolkit (Python-native, smallest diff from the Strands you know) and show the npm CLI's equivalent commands. Both deploy to the same Runtime.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1 — FOUNDATIONS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1 · THE KEY DIFF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Wrap the Strands agent you already write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94960" cy="3977640"/>
          </a:xfrm>
          <a:prstGeom prst="rect">
            <a:avLst/>
          </a:prstGeom>
          <a:solidFill>
            <a:srgbClr val="0A1726"/>
          </a:solidFill>
          <a:ln w="12700">
            <a:solidFill>
              <a:srgbClr val="1E456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6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3852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93852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193852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252728" y="18379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— plain Strands (what you know)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221992"/>
            <a:ext cx="493776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Agent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strands.models import BedrockModel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model=BedrockModel(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model_id="us.anthropic.claude-sonnet-4-5-20250929-v1:0",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system_prompt="You are TravelMind…",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6B8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you run it yourself, in a notebook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print(agent("My flight was cancelled"))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44768" y="1783080"/>
            <a:ext cx="5486400" cy="3977640"/>
          </a:xfrm>
          <a:prstGeom prst="rect">
            <a:avLst/>
          </a:prstGeom>
          <a:solidFill>
            <a:srgbClr val="0A1726"/>
          </a:solidFill>
          <a:ln w="12700">
            <a:solidFill>
              <a:srgbClr val="1E456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6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93852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6455664" y="193852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601968" y="193852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6830568" y="183794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— wrapped for AgentCore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0" y="2221992"/>
            <a:ext cx="502920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bedrock_agentcore import BedrockAgentCoreApp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Agent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strands.models import BedrockModel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BedrockAgentCoreApp()          # the wrapper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model=BedrockModel(model_id=MODEL_ID),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system_prompt="You are TravelMind…")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@app.entrypoint                      # the one door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invoke(payload):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str(agent(payload["prompt"]))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"__main__":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app.run()                        # serves :8080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5897880"/>
            <a:ext cx="11064240" cy="640080"/>
          </a:xfrm>
          <a:prstGeom prst="rect">
            <a:avLst/>
          </a:prstGeom>
          <a:solidFill>
            <a:srgbClr val="EAF7EE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5897880"/>
            <a:ext cx="64008" cy="6400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5934456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new lines:  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@app.entrypoint marks the function the Runtime calls; payload is the JSON you POST; app.run() starts the HTTP server. The agent itself is untouched.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1 — FOUNDATIONS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1 · RUN IT LOCALLY IN VS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steps to a local agent server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up the env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43000" y="2240280"/>
            <a:ext cx="10469880" cy="1280160"/>
          </a:xfrm>
          <a:prstGeom prst="rect">
            <a:avLst/>
          </a:prstGeom>
          <a:solidFill>
            <a:srgbClr val="0A1726"/>
          </a:solidFill>
          <a:ln w="12700">
            <a:solidFill>
              <a:srgbClr val="1E456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07592" y="239572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1453896" y="239572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600200" y="239572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99032" y="2679192"/>
            <a:ext cx="10012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.venv/bin/activate   # Win: .venv\Scripts\activate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bedrock-agentcore \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bedrock-agentcore-starter-toolkit strands-agents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configure   # keys + region = us-east-1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675888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675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36758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the file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143000" y="4133088"/>
            <a:ext cx="10469880" cy="457200"/>
          </a:xfrm>
          <a:prstGeom prst="rect">
            <a:avLst/>
          </a:prstGeom>
          <a:solidFill>
            <a:srgbClr val="0A1726"/>
          </a:solidFill>
          <a:ln w="12700">
            <a:solidFill>
              <a:srgbClr val="1E456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6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07592" y="428853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5"/>
          <p:cNvSpPr/>
          <p:nvPr/>
        </p:nvSpPr>
        <p:spPr>
          <a:xfrm>
            <a:off x="1453896" y="428853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1600200" y="428853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7"/>
          <p:cNvSpPr/>
          <p:nvPr/>
        </p:nvSpPr>
        <p:spPr>
          <a:xfrm>
            <a:off x="1399032" y="4572000"/>
            <a:ext cx="10012680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travelmind_agent.py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B8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server listening on http://localhost:8080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745736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745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47457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Hit it locally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143000" y="5202936"/>
            <a:ext cx="10469880" cy="640080"/>
          </a:xfrm>
          <a:prstGeom prst="rect">
            <a:avLst/>
          </a:prstGeom>
          <a:solidFill>
            <a:srgbClr val="0A1726"/>
          </a:solidFill>
          <a:ln w="12700">
            <a:solidFill>
              <a:srgbClr val="1E456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6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307592" y="53583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5" name="Shape 23"/>
          <p:cNvSpPr/>
          <p:nvPr/>
        </p:nvSpPr>
        <p:spPr>
          <a:xfrm>
            <a:off x="1453896" y="53583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6" name="Shape 24"/>
          <p:cNvSpPr/>
          <p:nvPr/>
        </p:nvSpPr>
        <p:spPr>
          <a:xfrm>
            <a:off x="1600200" y="53583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7" name="Text 25"/>
          <p:cNvSpPr/>
          <p:nvPr/>
        </p:nvSpPr>
        <p:spPr>
          <a:xfrm>
            <a:off x="1399032" y="5641848"/>
            <a:ext cx="10012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http://localhost:8080/invocations \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"Content-Type: application/json" \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'{"prompt":"My flight AI-302 was cancelled"}'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6053328"/>
            <a:ext cx="11064240" cy="566928"/>
          </a:xfrm>
          <a:prstGeom prst="rect">
            <a:avLst/>
          </a:prstGeom>
          <a:solidFill>
            <a:srgbClr val="FFF6E8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6053328"/>
            <a:ext cx="64008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" y="6089904"/>
            <a:ext cx="10698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note:  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ship access keys — use IAM roles; no hard-coded region/secrets; add retries, least-privilege, and observability before go-live.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1 — FOUNDATIONS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1 · DEPLOY TO THE CLOUD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 → launch → invoke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0" cy="2286000"/>
          </a:xfrm>
          <a:prstGeom prst="rect">
            <a:avLst/>
          </a:prstGeom>
          <a:solidFill>
            <a:srgbClr val="0A1726"/>
          </a:solidFill>
          <a:ln w="12700">
            <a:solidFill>
              <a:srgbClr val="1E456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6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3852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93852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193852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252728" y="183794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 (starter toolkit)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221992"/>
            <a:ext cx="50292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agentcore configure \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--entrypoint travelmind_agent.py \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--name travelmind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agentcore launch       # builds + deploys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agentcore invoke '{"prompt":"flight cancelled"}'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783080"/>
            <a:ext cx="5486400" cy="2286000"/>
          </a:xfrm>
          <a:prstGeom prst="rect">
            <a:avLst/>
          </a:prstGeom>
          <a:solidFill>
            <a:srgbClr val="0A1726"/>
          </a:solidFill>
          <a:ln w="12700">
            <a:solidFill>
              <a:srgbClr val="1E456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6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93852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6455664" y="193852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601968" y="193852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6830568" y="183794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thing in Python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0" y="2221992"/>
            <a:ext cx="50292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bedrock_agentcore_starter_toolkit import Runtime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 = Runtime()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rt.configure(entrypoint="travelmind_agent.py",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auto_create_execution_role=True,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auto_create_ecr=True,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requirements_file="requirements.txt",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region="us-east-1", agent_name="travelmind")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rt.launch();  rt.invoke({'prompt': 'flight cancelled'})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206240"/>
            <a:ext cx="11064240" cy="1051560"/>
          </a:xfrm>
          <a:prstGeom prst="rect">
            <a:avLst/>
          </a:prstGeom>
          <a:solidFill>
            <a:srgbClr val="ECF2F8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297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8C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npm AgentCore CLI — the equivalent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6177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agentcore create --name travelmind --framework Strands --model-provider Bedrock --memory none   →   agentcore deploy   →   agentcore invoke --prompt "flight cancelled"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5440680"/>
            <a:ext cx="11064240" cy="914400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5440680"/>
            <a:ext cx="64008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5477256"/>
            <a:ext cx="10698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Docker needed:  </a:t>
            </a:r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launch builds the container in AWS CodeBuild (Graviton/ARM64) and pushes to ECR for you. A “Docker not found” warning is safe to ignore unless you use --local.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1 — FOUNDATIONS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`agentcore launch` actually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2084832" cy="169164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2103120"/>
            <a:ext cx="64008" cy="1691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286000"/>
            <a:ext cx="420624" cy="42062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2860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12" dirty="0"/>
          </a:p>
        </p:txBody>
      </p:sp>
      <p:sp>
        <p:nvSpPr>
          <p:cNvPr id="8" name="Text 6"/>
          <p:cNvSpPr/>
          <p:nvPr/>
        </p:nvSpPr>
        <p:spPr>
          <a:xfrm>
            <a:off x="749808" y="2816352"/>
            <a:ext cx="1764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3182112"/>
            <a:ext cx="17647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zips your code + requirements.txt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42616" y="2802636"/>
            <a:ext cx="128016" cy="292608"/>
          </a:xfrm>
          <a:prstGeom prst="rightArrow">
            <a:avLst/>
          </a:prstGeom>
          <a:solidFill>
            <a:srgbClr val="5B7185"/>
          </a:solidFill>
          <a:ln/>
        </p:spPr>
      </p:sp>
      <p:sp>
        <p:nvSpPr>
          <p:cNvPr id="11" name="Shape 9"/>
          <p:cNvSpPr/>
          <p:nvPr/>
        </p:nvSpPr>
        <p:spPr>
          <a:xfrm>
            <a:off x="2770632" y="2103120"/>
            <a:ext cx="2084832" cy="169164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70632" y="2103120"/>
            <a:ext cx="64008" cy="1691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3" name="Shape 11"/>
          <p:cNvSpPr/>
          <p:nvPr/>
        </p:nvSpPr>
        <p:spPr>
          <a:xfrm>
            <a:off x="2953512" y="2286000"/>
            <a:ext cx="420624" cy="42062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2953512" y="22860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12" dirty="0"/>
          </a:p>
        </p:txBody>
      </p:sp>
      <p:sp>
        <p:nvSpPr>
          <p:cNvPr id="15" name="Text 13"/>
          <p:cNvSpPr/>
          <p:nvPr/>
        </p:nvSpPr>
        <p:spPr>
          <a:xfrm>
            <a:off x="2953512" y="2816352"/>
            <a:ext cx="1764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953512" y="3182112"/>
            <a:ext cx="17647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CodeBuild compiles an ARM64 container (no local Docker)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46320" y="2802636"/>
            <a:ext cx="128016" cy="292608"/>
          </a:xfrm>
          <a:prstGeom prst="rightArrow">
            <a:avLst/>
          </a:prstGeom>
          <a:solidFill>
            <a:srgbClr val="5B7185"/>
          </a:solidFill>
          <a:ln/>
        </p:spPr>
      </p:sp>
      <p:sp>
        <p:nvSpPr>
          <p:cNvPr id="18" name="Shape 16"/>
          <p:cNvSpPr/>
          <p:nvPr/>
        </p:nvSpPr>
        <p:spPr>
          <a:xfrm>
            <a:off x="4974336" y="2103120"/>
            <a:ext cx="2084832" cy="169164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74336" y="2103120"/>
            <a:ext cx="64008" cy="1691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0" name="Shape 18"/>
          <p:cNvSpPr/>
          <p:nvPr/>
        </p:nvSpPr>
        <p:spPr>
          <a:xfrm>
            <a:off x="5157216" y="2286000"/>
            <a:ext cx="420624" cy="42062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5157216" y="22860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12" dirty="0"/>
          </a:p>
        </p:txBody>
      </p:sp>
      <p:sp>
        <p:nvSpPr>
          <p:cNvPr id="22" name="Text 20"/>
          <p:cNvSpPr/>
          <p:nvPr/>
        </p:nvSpPr>
        <p:spPr>
          <a:xfrm>
            <a:off x="5157216" y="2816352"/>
            <a:ext cx="1764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157216" y="3182112"/>
            <a:ext cx="17647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lands in an ECR repo (auto-created)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50024" y="2802636"/>
            <a:ext cx="128016" cy="292608"/>
          </a:xfrm>
          <a:prstGeom prst="rightArrow">
            <a:avLst/>
          </a:prstGeom>
          <a:solidFill>
            <a:srgbClr val="5B7185"/>
          </a:solidFill>
          <a:ln/>
        </p:spPr>
      </p:sp>
      <p:sp>
        <p:nvSpPr>
          <p:cNvPr id="25" name="Shape 23"/>
          <p:cNvSpPr/>
          <p:nvPr/>
        </p:nvSpPr>
        <p:spPr>
          <a:xfrm>
            <a:off x="7178040" y="2103120"/>
            <a:ext cx="2084832" cy="169164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78040" y="2103120"/>
            <a:ext cx="64008" cy="1691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7" name="Shape 25"/>
          <p:cNvSpPr/>
          <p:nvPr/>
        </p:nvSpPr>
        <p:spPr>
          <a:xfrm>
            <a:off x="7360920" y="2286000"/>
            <a:ext cx="420624" cy="42062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8" name="Text 26"/>
          <p:cNvSpPr/>
          <p:nvPr/>
        </p:nvSpPr>
        <p:spPr>
          <a:xfrm>
            <a:off x="7360920" y="22860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12" dirty="0"/>
          </a:p>
        </p:txBody>
      </p:sp>
      <p:sp>
        <p:nvSpPr>
          <p:cNvPr id="29" name="Text 27"/>
          <p:cNvSpPr/>
          <p:nvPr/>
        </p:nvSpPr>
        <p:spPr>
          <a:xfrm>
            <a:off x="7360920" y="2816352"/>
            <a:ext cx="1764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360920" y="3182112"/>
            <a:ext cx="17647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Runtime + IAM execution role (auto)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253728" y="2802636"/>
            <a:ext cx="128016" cy="292608"/>
          </a:xfrm>
          <a:prstGeom prst="rightArrow">
            <a:avLst/>
          </a:prstGeom>
          <a:solidFill>
            <a:srgbClr val="5B7185"/>
          </a:solidFill>
          <a:ln/>
        </p:spPr>
      </p:sp>
      <p:sp>
        <p:nvSpPr>
          <p:cNvPr id="32" name="Shape 30"/>
          <p:cNvSpPr/>
          <p:nvPr/>
        </p:nvSpPr>
        <p:spPr>
          <a:xfrm>
            <a:off x="9381744" y="2103120"/>
            <a:ext cx="2084832" cy="169164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381744" y="2103120"/>
            <a:ext cx="64008" cy="169164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34" name="Shape 32"/>
          <p:cNvSpPr/>
          <p:nvPr/>
        </p:nvSpPr>
        <p:spPr>
          <a:xfrm>
            <a:off x="9564624" y="2286000"/>
            <a:ext cx="420624" cy="420624"/>
          </a:xfrm>
          <a:prstGeom prst="ellipse">
            <a:avLst/>
          </a:prstGeom>
          <a:solidFill>
            <a:srgbClr val="FF9F45"/>
          </a:solidFill>
          <a:ln/>
        </p:spPr>
      </p:sp>
      <p:sp>
        <p:nvSpPr>
          <p:cNvPr id="35" name="Text 33"/>
          <p:cNvSpPr/>
          <p:nvPr/>
        </p:nvSpPr>
        <p:spPr>
          <a:xfrm>
            <a:off x="9564624" y="22860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12" dirty="0"/>
          </a:p>
        </p:txBody>
      </p:sp>
      <p:sp>
        <p:nvSpPr>
          <p:cNvPr id="36" name="Text 34"/>
          <p:cNvSpPr/>
          <p:nvPr/>
        </p:nvSpPr>
        <p:spPr>
          <a:xfrm>
            <a:off x="9564624" y="2816352"/>
            <a:ext cx="1764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Endpoint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9564624" y="3182112"/>
            <a:ext cx="17647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(V1) endpoint; returns an ARN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66928" y="4251960"/>
            <a:ext cx="11064240" cy="777240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39" name="Shape 37"/>
          <p:cNvSpPr/>
          <p:nvPr/>
        </p:nvSpPr>
        <p:spPr>
          <a:xfrm>
            <a:off x="566928" y="4251960"/>
            <a:ext cx="64008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768096" y="4288536"/>
            <a:ext cx="106984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deploy modes:  </a:t>
            </a:r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build via CodeBuild (default historically) or direct code deploy (CodeZip — packages Python, S3-backed, no container). The newer npm CLI defaults to CodeZip.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66928" y="5166360"/>
            <a:ext cx="11064240" cy="914400"/>
          </a:xfrm>
          <a:prstGeom prst="rect">
            <a:avLst/>
          </a:prstGeom>
          <a:solidFill>
            <a:srgbClr val="EAF7EE"/>
          </a:solidFill>
          <a:ln/>
        </p:spPr>
      </p:sp>
      <p:sp>
        <p:nvSpPr>
          <p:cNvPr id="42" name="Shape 40"/>
          <p:cNvSpPr/>
          <p:nvPr/>
        </p:nvSpPr>
        <p:spPr>
          <a:xfrm>
            <a:off x="566928" y="5166360"/>
            <a:ext cx="64008" cy="9144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3" name="Text 41"/>
          <p:cNvSpPr/>
          <p:nvPr/>
        </p:nvSpPr>
        <p:spPr>
          <a:xfrm>
            <a:off x="768096" y="5202936"/>
            <a:ext cx="10698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ARN you can invoke from anywhere with credentials — your backend, a Lambda, a Colab notebook — plus a CloudWatch log location for debugging.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1 — FOUNDATIONS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A DEPLOYED AGENT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Invoke from your app, a Lambda, or Colab (boto3)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766560" cy="3657600"/>
          </a:xfrm>
          <a:prstGeom prst="rect">
            <a:avLst/>
          </a:prstGeom>
          <a:solidFill>
            <a:srgbClr val="0A1726"/>
          </a:solidFill>
          <a:ln w="12700">
            <a:solidFill>
              <a:srgbClr val="1E456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6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3852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93852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193852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252728" y="183794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side — works anywhere with AWS creds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221992"/>
            <a:ext cx="630936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json, boto3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botocore.config import Config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boto3.client(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"bedrock-agentcore",          # NOT "bedrock-agent-core"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region_name="us-east-1",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config=Config(read_timeout=300),  # long agents need this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client.invoke_agent_runtime(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agentRuntimeArn=AGENT_ARN,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runtimeSessionId="user-123-conv-001-padded-to-33+chars",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payload=json.dumps({"prompt": "flight cancelled"}).encode(),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0" y="1783080"/>
            <a:ext cx="4133088" cy="365760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0" y="1783080"/>
            <a:ext cx="64008" cy="365760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8C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 out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0" y="233172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runtimeSessionId must be ≥ 33 chars — short IDs fail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name is bedrock-agentcore (hyphen trap)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boto3 read_timeout is 60s — raise it for slow runs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Colab: set creds as env vars or Colab secrets; this client code is identical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5577840"/>
            <a:ext cx="11064240" cy="777240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5577840"/>
            <a:ext cx="64008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5614416"/>
            <a:ext cx="106984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vs VS Code:  </a:t>
            </a:r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from VS Code (local dev + CodeBuild), but invoke from anywhere. Colab is great for the client side and for Memory/tool experiments — just feed credentials via secrets.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1 — FOUNDATIONS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Multi-turn = reuse the same session 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6766560" cy="2377440"/>
          </a:xfrm>
          <a:prstGeom prst="rect">
            <a:avLst/>
          </a:prstGeom>
          <a:solidFill>
            <a:srgbClr val="0A1726"/>
          </a:solidFill>
          <a:ln w="12700">
            <a:solidFill>
              <a:srgbClr val="1E456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6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8424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98424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198424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252728" y="18836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calls, one session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267712"/>
            <a:ext cx="63093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 = 'user-123-trip-london-2026-session-0001'   # ≥33 chars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invoke(session=SID, prompt='Tell me about AWS regions')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invoke(session=SID, prompt='How does it compare?')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6B8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↑ same SID → the agent remembers the first turn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0" y="1828800"/>
            <a:ext cx="4133088" cy="2377440"/>
          </a:xfrm>
          <a:prstGeom prst="rect">
            <a:avLst/>
          </a:prstGeom>
          <a:solidFill>
            <a:srgbClr val="EAFBF7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0" y="1828800"/>
            <a:ext cx="64008" cy="2377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SID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0" y="237744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preserved across calls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follow-ups, no re-explaining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users → different SIDs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572000"/>
            <a:ext cx="11064240" cy="1234440"/>
          </a:xfrm>
          <a:prstGeom prst="rect">
            <a:avLst/>
          </a:prstGeom>
          <a:solidFill>
            <a:srgbClr val="FFF6E8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4572000"/>
            <a:ext cx="64008" cy="1234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4608576"/>
            <a:ext cx="10698480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distinction:  </a:t>
            </a:r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SESSION context — it lives in the microVM and dies when the session ends (idle 15 min / max 8 hr). It is NOT long-term memory. To remember a user next week, you need AgentCore Memory (Part 2).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1 — FOUNDATIONS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SAFELY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versioning + endpoints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737360" cy="12801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64008" cy="1280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create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78608" y="2505456"/>
            <a:ext cx="420624" cy="292608"/>
          </a:xfrm>
          <a:prstGeom prst="rightArrow">
            <a:avLst/>
          </a:prstGeom>
          <a:solidFill>
            <a:srgbClr val="5B7185"/>
          </a:solidFill>
          <a:ln/>
        </p:spPr>
      </p:sp>
      <p:sp>
        <p:nvSpPr>
          <p:cNvPr id="9" name="Shape 7"/>
          <p:cNvSpPr/>
          <p:nvPr/>
        </p:nvSpPr>
        <p:spPr>
          <a:xfrm>
            <a:off x="3017520" y="2011680"/>
            <a:ext cx="1737360" cy="12801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17520" y="2011680"/>
            <a:ext cx="64008" cy="1280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21488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17520" y="2697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update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73168" y="2505456"/>
            <a:ext cx="420624" cy="292608"/>
          </a:xfrm>
          <a:prstGeom prst="rightArrow">
            <a:avLst/>
          </a:prstGeom>
          <a:solidFill>
            <a:srgbClr val="5B7185"/>
          </a:solidFill>
          <a:ln/>
        </p:spPr>
      </p:sp>
      <p:sp>
        <p:nvSpPr>
          <p:cNvPr id="14" name="Shape 12"/>
          <p:cNvSpPr/>
          <p:nvPr/>
        </p:nvSpPr>
        <p:spPr>
          <a:xfrm>
            <a:off x="5212080" y="2011680"/>
            <a:ext cx="1737360" cy="12801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12080" y="2011680"/>
            <a:ext cx="64008" cy="1280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21488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12080" y="2697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image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0" y="2148840"/>
            <a:ext cx="1005840" cy="1005840"/>
          </a:xfrm>
          <a:prstGeom prst="ellipse">
            <a:avLst/>
          </a:prstGeom>
          <a:solidFill>
            <a:srgbClr val="FF9F45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0" y="219456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DEFAULT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endpoint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93408" y="2651760"/>
            <a:ext cx="1078992" cy="0"/>
          </a:xfrm>
          <a:prstGeom prst="line">
            <a:avLst/>
          </a:prstGeom>
          <a:noFill/>
          <a:ln w="25400">
            <a:solidFill>
              <a:srgbClr val="FF9F45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915400" y="23774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point at any version; promote or roll back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374904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create makes V1; every update makes a new, immutable version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version is complete and self-contained — nothing shared between them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(DEFAULT, or named) decide which version live traffic hits → safe rollbacks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5440680"/>
            <a:ext cx="10789920" cy="640080"/>
          </a:xfrm>
          <a:prstGeom prst="rect">
            <a:avLst/>
          </a:prstGeom>
          <a:solidFill>
            <a:srgbClr val="EAF7EE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5440680"/>
            <a:ext cx="64008" cy="6400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1024128" y="547725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it like container image tags: ship V3, point DEFAULT at it, and if it misbehaves, repoint DEFAULT to V2 instantly.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1 — FOUNDATIONS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INSIDE YOUR AGENT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Observability: traces, metrics, sessions — for free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120640" cy="278892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trace hierarchy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423160"/>
            <a:ext cx="4572000" cy="530352"/>
          </a:xfrm>
          <a:prstGeom prst="rect">
            <a:avLst/>
          </a:prstGeom>
          <a:solidFill>
            <a:srgbClr val="ECF2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423160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 </a:t>
            </a:r>
            <a:pPr indent="0" marL="0"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conversation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25880" y="3081528"/>
            <a:ext cx="4114800" cy="530352"/>
          </a:xfrm>
          <a:prstGeom prst="rect">
            <a:avLst/>
          </a:prstGeom>
          <a:solidFill>
            <a:srgbClr val="EAFBF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308152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 </a:t>
            </a:r>
            <a:pPr indent="0" marL="0"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invoke → response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783080" y="3739896"/>
            <a:ext cx="3657600" cy="530352"/>
          </a:xfrm>
          <a:prstGeom prst="rect">
            <a:avLst/>
          </a:prstGeom>
          <a:solidFill>
            <a:srgbClr val="FFF6E8"/>
          </a:solidFill>
          <a:ln w="12700">
            <a:solidFill>
              <a:srgbClr val="FF9F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3739896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 </a:t>
            </a:r>
            <a:pPr indent="0" marL="0"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step: tool call, model call, init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70448" y="1828800"/>
            <a:ext cx="5760720" cy="278892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70448" y="1828800"/>
            <a:ext cx="64008" cy="27889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19659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get on the CloudWatch GenAI dashboard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237744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count, latency, duration, token usage, error rate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reasoning step and tool invocation, inspectable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(OTEL) format — plugs into your existing stack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even for agents hosted OUTSIDE AgentCore Runtime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754880"/>
            <a:ext cx="11064240" cy="1143000"/>
          </a:xfrm>
          <a:prstGeom prst="rect">
            <a:avLst/>
          </a:prstGeom>
          <a:solidFill>
            <a:srgbClr val="0A1726"/>
          </a:solidFill>
          <a:ln w="12700">
            <a:solidFill>
              <a:srgbClr val="1E456B"/>
            </a:solidFill>
            <a:prstDash val="solid"/>
          </a:ln>
          <a:effectLst>
            <a:outerShdw sx="100000" sy="100000" kx="0" ky="0" algn="bl" rotWithShape="0" blurRad="114300" dist="38100" dir="8100000">
              <a:srgbClr val="0A1726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91032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877824" y="491032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4128" y="491032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1252728" y="480974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enable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5193792"/>
            <a:ext cx="10607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6B8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add to requirements.txt:   aws-opentelemetry-distro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6B8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enable CloudWatch Transaction Search (one-time, per account)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6B8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launch as usual — the starter toolkit auto-instruments your agent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1 — FOUNDATIONS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BROWSER · THE AWS CONSOLE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can do without writing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611880" cy="12801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83080"/>
            <a:ext cx="64008" cy="1280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Runtimes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95528" y="231343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view, update; see versions &amp; endpoints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1783080"/>
            <a:ext cx="3611880" cy="12801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1783080"/>
            <a:ext cx="64008" cy="1280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4590288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90288" y="231343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live &amp; past sessions per runtime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6448" y="1783080"/>
            <a:ext cx="3611880" cy="12801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56448" y="1783080"/>
            <a:ext cx="64008" cy="1280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8385048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Sandbox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85048" y="231343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 agent interactively before wiring an app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246120"/>
            <a:ext cx="3611880" cy="12801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3246120"/>
            <a:ext cx="64008" cy="128016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/ Gateway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95528" y="377647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resources, pick strategies, add targets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61688" y="3246120"/>
            <a:ext cx="3611880" cy="12801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61688" y="3246120"/>
            <a:ext cx="64008" cy="128016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22" name="Text 20"/>
          <p:cNvSpPr/>
          <p:nvPr/>
        </p:nvSpPr>
        <p:spPr>
          <a:xfrm>
            <a:off x="4590288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Browser / Code Interp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90288" y="377647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tool resources; watch live browser view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56448" y="3246120"/>
            <a:ext cx="3611880" cy="12801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56448" y="3246120"/>
            <a:ext cx="64008" cy="1280160"/>
          </a:xfrm>
          <a:prstGeom prst="rect">
            <a:avLst/>
          </a:prstGeom>
          <a:solidFill>
            <a:srgbClr val="FF9F45"/>
          </a:solidFill>
          <a:ln/>
        </p:spPr>
      </p:sp>
      <p:sp>
        <p:nvSpPr>
          <p:cNvPr id="26" name="Text 24"/>
          <p:cNvSpPr/>
          <p:nvPr/>
        </p:nvSpPr>
        <p:spPr>
          <a:xfrm>
            <a:off x="8385048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85048" y="377647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GenAI dashboard: traces, metrics, logs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4937760"/>
            <a:ext cx="11064240" cy="960120"/>
          </a:xfrm>
          <a:prstGeom prst="rect">
            <a:avLst/>
          </a:prstGeom>
          <a:solidFill>
            <a:srgbClr val="EAFBF7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4937760"/>
            <a:ext cx="64008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" y="4974336"/>
            <a:ext cx="1069848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Capture your own screenshots:  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→ Amazon Bedrock AgentCore (us-east-1). Grab the Runtime list, a runtime's detail page, the Agent Sandbox, and the GenAI Observability dashboard. Your captures match your exact account &amp; current UI — the console changes fast.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1 — FOUNDATIONS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THE SLIDE-3 SKEPTIC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“Why not just a Lambda or a container?”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40680" cy="28803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83080"/>
            <a:ext cx="64008" cy="2880360"/>
          </a:xfrm>
          <a:prstGeom prst="rect">
            <a:avLst/>
          </a:prstGeom>
          <a:solidFill>
            <a:srgbClr val="5B7185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Plain Lambda / container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2316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hard cap on execution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for full duration — including time waiting on the LLM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= container, not microVM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bolt on memory, identity, tracing yourself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9632" y="1783080"/>
            <a:ext cx="5440680" cy="2880360"/>
          </a:xfrm>
          <a:prstGeom prst="rect">
            <a:avLst/>
          </a:prstGeom>
          <a:solidFill>
            <a:srgbClr val="EAFBF7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9632" y="1783080"/>
            <a:ext cx="64008" cy="28803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6473952" y="1938528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AgentCore Runtime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42316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8-hour sessions for long agent work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billed only while actively computing — not during I/O wait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microVM per session, memory wiped after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identity, tools, observability built 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4846320"/>
            <a:ext cx="11064240" cy="685800"/>
          </a:xfrm>
          <a:prstGeom prst="rect">
            <a:avLst/>
          </a:prstGeom>
          <a:solidFill>
            <a:srgbClr val="FFF6E8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4846320"/>
            <a:ext cx="64008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4882896"/>
            <a:ext cx="10698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Lambda still wins:  </a:t>
            </a:r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fast, stateless, high-throughput calls where the 15-min cap and cold-start tax don't matter. Be honest about your workload.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5623560"/>
            <a:ext cx="11064240" cy="658368"/>
          </a:xfrm>
          <a:prstGeom prst="rect">
            <a:avLst/>
          </a:prstGeom>
          <a:solidFill>
            <a:srgbClr val="EAF7EE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5623560"/>
            <a:ext cx="64008" cy="6583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5660136"/>
            <a:ext cx="10698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is allowed:  </a:t>
            </a:r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AgentCore Memory &amp; Gateway as managed services while running compute on ECS/Lambda/EC2 — adopt the parts that hurt to build.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1 — FOUNDATIONS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YOURSELF HOURS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Runtime gotchas (every one is real &amp; verified)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155680" cy="5486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91640"/>
            <a:ext cx="54864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9164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“Architecture incompatible” / exec format error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10328" y="16916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is ARM64-only. CodeBuild handles it; if you build locally use docker buildx --platform linux/arm64.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276856"/>
            <a:ext cx="11155680" cy="548640"/>
          </a:xfrm>
          <a:prstGeom prst="rect">
            <a:avLst/>
          </a:prstGeom>
          <a:solidFill>
            <a:srgbClr val="ECF2F8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276856"/>
            <a:ext cx="54864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276856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 fails immediately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10328" y="2276856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runtimeSessionId must be ≥ 33 characters.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862072"/>
            <a:ext cx="11155680" cy="5486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2862072"/>
            <a:ext cx="54864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86207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“Unknown service: bedrock-agent-core”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10328" y="2862072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boto3 client name is bedrock-agentcore (no hyphen in 'agentcore').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447288"/>
            <a:ext cx="11155680" cy="548640"/>
          </a:xfrm>
          <a:prstGeom prst="rect">
            <a:avLst/>
          </a:prstGeom>
          <a:solidFill>
            <a:srgbClr val="ECF2F8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3447288"/>
            <a:ext cx="54864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447288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AccessDenied creating runtime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0328" y="3447288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needs bedrock-agentcore:CreateAgentRuntime; the execution role must be assumable by AgentCore.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032504"/>
            <a:ext cx="11155680" cy="5486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4032504"/>
            <a:ext cx="54864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032504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AccessDenied on the model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0328" y="4032504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model access for Claude Sonnet 4.5 / Haiku 4.5 in the Bedrock console (us-east-1).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617720"/>
            <a:ext cx="11155680" cy="548640"/>
          </a:xfrm>
          <a:prstGeom prst="rect">
            <a:avLst/>
          </a:prstGeom>
          <a:solidFill>
            <a:srgbClr val="ECF2F8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4617720"/>
            <a:ext cx="54864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6177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ResourceNotFound on re-deploy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0328" y="46177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.bedrock_agentcore.yaml points at a deleted agent — clear it / re-create.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202936"/>
            <a:ext cx="11155680" cy="5486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5202936"/>
            <a:ext cx="54864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5202936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504 Gateway Timeout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0328" y="5202936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must expose port 8080 and the /invocations path; add retries.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5788152"/>
            <a:ext cx="11155680" cy="548640"/>
          </a:xfrm>
          <a:prstGeom prst="rect">
            <a:avLst/>
          </a:prstGeom>
          <a:solidFill>
            <a:srgbClr val="ECF2F8"/>
          </a:solidFill>
          <a:ln/>
        </p:spPr>
      </p:sp>
      <p:sp>
        <p:nvSpPr>
          <p:cNvPr id="33" name="Shape 31"/>
          <p:cNvSpPr/>
          <p:nvPr/>
        </p:nvSpPr>
        <p:spPr>
          <a:xfrm>
            <a:off x="566928" y="5788152"/>
            <a:ext cx="54864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" y="578815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ReadTimeoutError on long runs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10328" y="5788152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boto3 read_timeout (e.g. Config(read_timeout=300)).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1 — FOUNDATIONS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can now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40680" cy="1207008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2075688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2075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27048" y="19659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 AgentCore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27048" y="236829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3-layer model: your Strands code on AWS's managed substrate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0488" y="1783080"/>
            <a:ext cx="5440680" cy="1207008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19088" y="2075688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6419088" y="2075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50608" y="19659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Wrap an agent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150608" y="236829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BedrockAgentCoreApp + @app.entrypoint — minimal diff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172968"/>
            <a:ext cx="5440680" cy="1207008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5528" y="3465576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4655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27048" y="335584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locally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527048" y="375818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 + app.run() on :8080, tested with curl in VS Code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0488" y="3172968"/>
            <a:ext cx="5440680" cy="1207008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19088" y="3465576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6419088" y="34655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50608" y="335584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50608" y="375818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→ launch → invoke; CodeBuild → ARM64 → ECR → endpoint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562856"/>
            <a:ext cx="5440680" cy="1207008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5528" y="4855464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48554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527048" y="4745736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Invoke anywhere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527048" y="514807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boto3 InvokeAgentRuntime, 33-char sessions, multi-turn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90488" y="4562856"/>
            <a:ext cx="5440680" cy="1207008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8100000">
              <a:srgbClr val="0A1726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19088" y="4855464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1" name="Text 29"/>
          <p:cNvSpPr/>
          <p:nvPr/>
        </p:nvSpPr>
        <p:spPr>
          <a:xfrm>
            <a:off x="6419088" y="48554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50608" y="4745736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 &amp; operate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150608" y="514807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traces/metrics, versions, rollbacks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1 — FOUNDATIONS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326880" y="-914400"/>
            <a:ext cx="3474720" cy="3474720"/>
          </a:xfrm>
          <a:prstGeom prst="roundRect">
            <a:avLst>
              <a:gd name="adj" fmla="val 7895"/>
            </a:avLst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9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· PART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agent runs. Now make it</a:t>
            </a:r>
            <a:endParaRPr lang="en-US" sz="3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remember, act, and collaborate.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3703320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3657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— short &amp; long-term recall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4206240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&amp; Code Interpreter — give it hands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4709160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4663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— turn any API/Lambda into a tool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" y="5212080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5166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— who calls, on whose behalf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68680" y="5715000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handover — A2A + memory branching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use case throughout: TravelMind — the flight-disruption &amp; rebooking agent.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· PART 1 — FOUNDATIONS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AgentCore Foundations &amp; Runtime</dc:title>
  <dc:subject>Agentic AI Bootcamp</dc:subject>
  <dc:creator>Agentic AI Bootcamp</dc:creator>
  <cp:lastModifiedBy>Agentic AI Bootcamp</cp:lastModifiedBy>
  <cp:revision>1</cp:revision>
  <dcterms:created xsi:type="dcterms:W3CDTF">2026-06-07T14:12:42Z</dcterms:created>
  <dcterms:modified xsi:type="dcterms:W3CDTF">2026-06-07T14:12:42Z</dcterms:modified>
</cp:coreProperties>
</file>