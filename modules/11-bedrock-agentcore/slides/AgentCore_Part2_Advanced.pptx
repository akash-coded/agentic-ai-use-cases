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869680" y="-1005840"/>
            <a:ext cx="2926080" cy="2926080"/>
          </a:xfrm>
          <a:prstGeom prst="roundRect">
            <a:avLst>
              <a:gd name="adj" fmla="val 7813"/>
            </a:avLst>
          </a:prstGeom>
          <a:solidFill>
            <a:srgbClr val="0D948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692640" y="4754880"/>
            <a:ext cx="3108960" cy="3108960"/>
          </a:xfrm>
          <a:prstGeom prst="roundRect">
            <a:avLst>
              <a:gd name="adj" fmla="val 8824"/>
            </a:avLst>
          </a:prstGeom>
          <a:solidFill>
            <a:srgbClr val="EF8C2D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 · PART 2 OF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Memory, Tools &amp; Multi-Agent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runs in production. Now give it memory, tools, teammates, and eyes.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5806440"/>
            <a:ext cx="457200" cy="4572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Part 1  ·  region us-east-1  ·  Claude Sonnet 4.5 / Haiku 4.5  ·  verified June 2026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4983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A4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9834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83664" y="498348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0F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883664" y="498348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85616" y="498348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F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3785616" y="49834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498348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F2A45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49834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498348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F2A45"/>
          </a:solidFill>
          <a:ln/>
        </p:spPr>
      </p:sp>
      <p:sp>
        <p:nvSpPr>
          <p:cNvPr id="18" name="Text 16"/>
          <p:cNvSpPr/>
          <p:nvPr/>
        </p:nvSpPr>
        <p:spPr>
          <a:xfrm>
            <a:off x="6181344" y="49834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33488" y="498348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0F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7333488" y="498348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Agent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498348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0F2A45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498348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capabilities — then we wire them into one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1965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7510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DD4BF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97510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97510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+ long-term. The #1 thing you keep asking for.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6824" y="173736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06824" y="1737360"/>
            <a:ext cx="64008" cy="196596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44568" y="197510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FF9F45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44568" y="197510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94376" y="197510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tools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81144" y="265176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 + Browser — sandboxed and managed.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737360"/>
            <a:ext cx="64008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8284464" y="197510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84464" y="197510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34272" y="197510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 + Identity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265176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APIs into tools; let agents act on a user's behalf.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388620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886200"/>
            <a:ext cx="64008" cy="1965960"/>
          </a:xfrm>
          <a:prstGeom prst="rect">
            <a:avLst/>
          </a:prstGeom>
          <a:solidFill>
            <a:srgbClr val="EF8C2D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412394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F8C2D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" y="412394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412394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→ Agent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" y="480060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ways to hand data between agents.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6824" y="388620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06824" y="3886200"/>
            <a:ext cx="64008" cy="1965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44568" y="412394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DD4BF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44568" y="412394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94376" y="412394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+ cost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81144" y="480060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inside the agent; keep the bill sane.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46720" y="388620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0" y="3886200"/>
            <a:ext cx="64008" cy="196596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36" name="Shape 34"/>
          <p:cNvSpPr/>
          <p:nvPr/>
        </p:nvSpPr>
        <p:spPr>
          <a:xfrm>
            <a:off x="8284464" y="412394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FF9F45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84464" y="412394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34272" y="412394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TravelMind capstone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services in one production agent.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509760" y="-91440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F2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your agent from forgetting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+ long-term, fully managed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raw Strands agent has amnesia — twice 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486400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1965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Within a chat (short-term)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knows what's in the current context window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re-send history on every call to fake continuity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loop → that context is gone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5486400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3886200"/>
            <a:ext cx="64008" cy="1965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Across chats (long-term)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4599432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session knows nothing about today's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“Vegetarian, window seat” repeated every time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durable, per-user knowledge that survives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6208" y="1737360"/>
            <a:ext cx="5394960" cy="196596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6208" y="1737360"/>
            <a:ext cx="64008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37376" y="1773936"/>
            <a:ext cx="5029200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met this in Part 1: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reused one runtimeSessionId so a conversation kept its thread. That is short-term memory by hand — and it dies when the session ends.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6208" y="3886200"/>
            <a:ext cx="5394960" cy="196596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16" name="Shape 14"/>
          <p:cNvSpPr/>
          <p:nvPr/>
        </p:nvSpPr>
        <p:spPr>
          <a:xfrm>
            <a:off x="6236208" y="3886200"/>
            <a:ext cx="64008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3922776"/>
            <a:ext cx="5029200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 = both, managed: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 gives Short-Term Memory (turn-by-turn in a session) and Long-Term Memory (facts extracted across sessions). You stop hand-rolling context.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HALVES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Short-term vs long-term — know which you need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486400" cy="32004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320040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Short-Term Memory (STM)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complete turn-by-turn record of one session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a single (actor + session)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— written the moment a turn happens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“what did the user just say?” continuity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get_last_k_turns(...)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5074920"/>
            <a:ext cx="5486400" cy="10972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5074920"/>
            <a:ext cx="64008" cy="109728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5276088"/>
            <a:ext cx="4983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the live transcript of the current conversation.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1737360"/>
            <a:ext cx="5394960" cy="32004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1737360"/>
            <a:ext cx="64008" cy="3200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 Memory (LTM)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10528" y="2450592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insights extracted from many sessions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by namespace (often per user/actor)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— extracted ~1 min after events land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durable preferences, facts, summaries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retrieve_memories(...)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6208" y="5074920"/>
            <a:ext cx="5394960" cy="10972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5074920"/>
            <a:ext cx="64008" cy="10972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5276088"/>
            <a:ext cx="4892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what the agent has learned and remembers about you.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words the Memory APIs keep using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196596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7510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FF9F45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97510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97510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memory is about — actorId (usually the end user).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6824" y="173736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06824" y="1737360"/>
            <a:ext cx="64008" cy="1965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44568" y="197510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DD4BF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44568" y="197510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94376" y="197510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1144" y="265176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— sessionId. Groups a set of events.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737360"/>
            <a:ext cx="64008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8284464" y="197510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84464" y="197510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34272" y="197510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65176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immutable turn. The atomic unit of short-term memory.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388620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886200"/>
            <a:ext cx="64008" cy="1965960"/>
          </a:xfrm>
          <a:prstGeom prst="rect">
            <a:avLst/>
          </a:prstGeom>
          <a:solidFill>
            <a:srgbClr val="EF8C2D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412394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F8C2D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" y="412394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412394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" y="480060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for how raw events become long-term records.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6824" y="388620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06824" y="3886200"/>
            <a:ext cx="64008" cy="1965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44568" y="412394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DD4BF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44568" y="412394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94376" y="412394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81144" y="480060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bucket for LTM, e.g. traveler/{actorId}/prefs.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46720" y="3886200"/>
            <a:ext cx="3621024" cy="1965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0" y="3886200"/>
            <a:ext cx="64008" cy="196596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36" name="Shape 34"/>
          <p:cNvSpPr/>
          <p:nvPr/>
        </p:nvSpPr>
        <p:spPr>
          <a:xfrm>
            <a:off x="8284464" y="412394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FF9F45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84464" y="412394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34272" y="412394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11810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extracted long-term insight you can retrieve later.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built-in ways to turn turns into knowledge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86400" cy="17373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64008" cy="173736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40487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factual statements as searchable vectors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“User flies out of BLR” → retrievable by meaning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691640"/>
            <a:ext cx="5394960" cy="17373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691640"/>
            <a:ext cx="64008" cy="17373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0528" y="240487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Condenses a whole session into a running summary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 chats you don't want to replay in full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566160"/>
            <a:ext cx="5486400" cy="17373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566160"/>
            <a:ext cx="6400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USER_PREFERENCE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27939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stable likes/dislikes per user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“Window seat, vegetarian, no red-eyes”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3566160"/>
            <a:ext cx="5394960" cy="17373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3566160"/>
            <a:ext cx="64008" cy="1737360"/>
          </a:xfrm>
          <a:prstGeom prst="rect">
            <a:avLst/>
          </a:prstGeom>
          <a:solidFill>
            <a:srgbClr val="EF8C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7490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0528" y="42793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supply the extraction prompt + namespace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three built-ins don't fit your domain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440680"/>
            <a:ext cx="11064240" cy="77724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544068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5477256"/>
            <a:ext cx="10698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 needs no strategy: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 is always on once a Memory exists. Strategies only govern long-term extraction, and you attach them when you create the Memory.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CREATE A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client, one call — pick your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7040880" cy="420624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28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8928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8928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7922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create_memory.py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658368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bedrock_agentcore.memory import MemoryClient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MemoryClient(region_name="us-east-1")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create_memory_and_wait blocks until it is ACTIVE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client.create_memory_and_wait(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name="TravelMindMemory",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strategies=[{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"userPreferenceMemoryStrategy":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"name": "TravelerPrefs",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"namespaces": ["traveler/{actorId}/prefs"],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event_expiry_days=90,   # how long raw events live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memory_id = memory["id"]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26680" y="1737360"/>
            <a:ext cx="3904488" cy="1965960"/>
          </a:xfrm>
          <a:prstGeom prst="rect">
            <a:avLst/>
          </a:prstGeom>
          <a:solidFill>
            <a:srgbClr val="FFF6E8"/>
          </a:solidFill>
          <a:ln/>
        </p:spPr>
      </p:sp>
      <p:sp>
        <p:nvSpPr>
          <p:cNvPr id="11" name="Shape 9"/>
          <p:cNvSpPr/>
          <p:nvPr/>
        </p:nvSpPr>
        <p:spPr>
          <a:xfrm>
            <a:off x="7726680" y="1737360"/>
            <a:ext cx="64008" cy="1965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927848" y="1773936"/>
            <a:ext cx="3538728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takes 2–5 min: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Memory spins up managed infrastructure. The *_and_wait helper blocks until it is ACTIVE — don't fire events at a Memory that isn't ready.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26680" y="3840480"/>
            <a:ext cx="3904488" cy="210312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26680" y="3840480"/>
            <a:ext cx="64008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927848" y="3877056"/>
            <a:ext cx="353872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{actorId} is a template: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braces are filled at write time with the actor you pass. One Memory cleanly partitions every user's long-term records — no per-user setup.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SHORT-TERM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turn, read the recent thread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7040880" cy="233172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28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8928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8928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7922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a turn — STM is automatic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658368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client.create_event(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memory_id=memory_id,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actor_id="traveler-42",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session_id="trip-blr-lhr-0001",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("My flight to London got cancelled.", "USER"),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("I can rebook you on the 9pm.", "ASSISTANT"),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206240"/>
            <a:ext cx="7040880" cy="173736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436168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" y="43616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" y="436168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1252728" y="42611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it back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645152"/>
            <a:ext cx="6583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turns = client.get_last_k_turns(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memory_id=memory_id,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actor_id="traveler-42",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session_id="trip-blr-lhr-0001",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k=5,            # last 5 turns of THIS session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26680" y="1737360"/>
            <a:ext cx="3904488" cy="210312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26680" y="1737360"/>
            <a:ext cx="64008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927848" y="1773936"/>
            <a:ext cx="353872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is immutable: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create_event appends — it never edits history. Each call adds one durable turn. That append-only design is what makes the transcript auditable.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3840480"/>
            <a:ext cx="3904488" cy="210312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26680" y="3840480"/>
            <a:ext cx="64008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927848" y="3877056"/>
            <a:ext cx="353872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“USER vs ASSISTANT?”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is a (text, role) pair. Roles let the model reconstruct who said what — exactly the history you used to assemble by hand.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LONG-TERM RECALL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by meaning, across every past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7040880" cy="260604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28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8928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8928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7922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retrieve_memories.py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658368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prefs = client.retrieve_memories(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memory_id=memory_id,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namespace="traveler/traveler-42/prefs",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query="seat and meal preferences",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record in prefs: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print(record["content"])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"Prefers window seats"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"Vegetarian meals"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26680" y="1737360"/>
            <a:ext cx="3904488" cy="182880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1" name="Shape 9"/>
          <p:cNvSpPr/>
          <p:nvPr/>
        </p:nvSpPr>
        <p:spPr>
          <a:xfrm>
            <a:off x="7726680" y="1737360"/>
            <a:ext cx="64008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927848" y="1773936"/>
            <a:ext cx="3538728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not keyword: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 matched by meaning. “meal preferences” finds “vegetarian” even though the word never appears in the query.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26680" y="3657600"/>
            <a:ext cx="3904488" cy="228600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26680" y="3657600"/>
            <a:ext cx="64008" cy="2286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927848" y="3694176"/>
            <a:ext cx="3538728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 is instant · LTM lags: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it now, this session → get_last_k_turns. Need durable, cross-session knowledge → retrieve_memories, and tolerate the short extraction delay.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572000"/>
            <a:ext cx="7040880" cy="1371600"/>
          </a:xfrm>
          <a:prstGeom prst="rect">
            <a:avLst/>
          </a:prstGeom>
          <a:solidFill>
            <a:srgbClr val="FFF6E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572000"/>
            <a:ext cx="64008" cy="1371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608576"/>
            <a:ext cx="66751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is asynchronous (~1 min):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appear about a minute after events land — extraction runs in the background. Don't write a preference and expect to read it back in the same breath.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WIRE IT INTO STRANDS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Memory Hook — load on start, save on every turn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7726680" cy="493776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69164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69164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591056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memory_hook.py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975104"/>
            <a:ext cx="726948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strands.hooks import (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HookProvider, HookRegistry,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AgentInitializedEvent, MessageAddedEvent,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MemoryHook(HookProvider):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client, mem_id, actor, session):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self.c, self.mem = client, mem_id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self.actor, self.session = actor, session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on_start(self, event: AgentInitializedEvent):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load recent context when the agent boots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self.recent = self.c.get_last_k_turns(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memory_id=self.mem, actor_id=self.actor,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session_id=self.session, k=5)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on_message(self, event: MessageAddedEvent):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 = event.message              # the turn just added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self.c.create_event(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memory_id=self.mem, actor_id=self.actor,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session_id=self.session,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messages=[(str(m["content"]), m["role"].upper())])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register_hooks(self, registry: HookRegistry):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registry.add_callback(AgentInitializedEvent, self.on_start)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registry.add_callback(MessageAddedEvent, self.on_message)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30768" y="1536192"/>
            <a:ext cx="3200400" cy="237744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1" name="Shape 9"/>
          <p:cNvSpPr/>
          <p:nvPr/>
        </p:nvSpPr>
        <p:spPr>
          <a:xfrm>
            <a:off x="8430768" y="1536192"/>
            <a:ext cx="64008" cy="2377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631936" y="1572768"/>
            <a:ext cx="283464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= Strands lifecycle: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hook system from Strands. Memory plugs in as a HookProvider — no new framework, just callbacks that read/write the Memory service.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30768" y="4069080"/>
            <a:ext cx="3200400" cy="2404872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430768" y="4069080"/>
            <a:ext cx="64008" cy="24048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31936" y="4105656"/>
            <a:ext cx="28346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and forget: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Agent(hooks=[MemoryHook(client, mem_id, "traveler-42", "trip-0001")]). From here it persists every turn and reloads context on boot.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without writing any of that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852160" cy="228600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28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8928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8928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7922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toolkit asks you at configure time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53949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configure -e my_agent.py -r us-east-1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Prompt: enable memory?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[1] Short-term only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[2] Short-term + long-term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--disable-memory  to opt out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206240"/>
            <a:ext cx="5852160" cy="182880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4206240"/>
            <a:ext cx="64008" cy="1828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4242816"/>
            <a:ext cx="548640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can manage Memory for you: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configured the Runtime in Part 1, the toolkit offered to provision a Memory and inject MEMORY_ID into your agent. The console exposes the same.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737360"/>
            <a:ext cx="5047488" cy="4297680"/>
          </a:xfrm>
          <a:prstGeom prst="roundRect">
            <a:avLst>
              <a:gd name="adj" fmla="val 1277"/>
            </a:avLst>
          </a:prstGeom>
          <a:solidFill>
            <a:srgbClr val="F4F7FA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938528"/>
            <a:ext cx="4645152" cy="420624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931152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7095744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260336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2029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console.aws.amazon.com  ›  Bedrock  ›  AgentCore  ›  Memory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2971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84848" y="3977640"/>
            <a:ext cx="4645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📸  Memory → Create / list strategies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84848" y="4370832"/>
            <a:ext cx="4645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strategies · namespaces · event expiry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84848" y="5440680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this from your own console when you present.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COMMON ISSUES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trips people up — and the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200400" cy="859536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8595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83080"/>
            <a:ext cx="2880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returns nothing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77056" y="1783080"/>
            <a:ext cx="7863840" cy="8595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4078224" y="1783080"/>
            <a:ext cx="7452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hasn't run yet (~1 min) 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Wait, or read STM with get_last_k_turns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660904"/>
            <a:ext cx="3200400" cy="859536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2660904"/>
            <a:ext cx="64008" cy="8595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660904"/>
            <a:ext cx="2880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even after waiting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77056" y="2660904"/>
            <a:ext cx="7863840" cy="8595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078224" y="2660904"/>
            <a:ext cx="7452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strategy / wrong namespace 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Attach a strategy; match the namespace exactly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538728"/>
            <a:ext cx="3200400" cy="859536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538728"/>
            <a:ext cx="64008" cy="8595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538728"/>
            <a:ext cx="2880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 rejected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77056" y="3538728"/>
            <a:ext cx="7863840" cy="8595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4078224" y="3538728"/>
            <a:ext cx="7452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not ACTIVE yet 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create_memory_and_wait before any event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416552"/>
            <a:ext cx="3200400" cy="859536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416552"/>
            <a:ext cx="64008" cy="8595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416552"/>
            <a:ext cx="2880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user's data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877056" y="4416552"/>
            <a:ext cx="7863840" cy="8595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4078224" y="4416552"/>
            <a:ext cx="7452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actorId reused across users 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 actorId per real user; never share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94376"/>
            <a:ext cx="3200400" cy="859536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294376"/>
            <a:ext cx="64008" cy="8595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5294376"/>
            <a:ext cx="2880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Costs creeping up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877056" y="5294376"/>
            <a:ext cx="7863840" cy="8595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4078224" y="5294376"/>
            <a:ext cx="7452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events kept forever 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event_expiry_days to a sane window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509760" y="-91440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EF8C2D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F2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 + BROWSER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the agent hands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code execution and a managed browser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the model must compute, not guess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840480" cy="42062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420624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3337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bad at exact arithmetic &amp; data wrangling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real Python / JS / TS in a sandbox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per session — no access to your machine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15-min session, extendable up to 8h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fares, totals, CSV parsing, charts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7104888" cy="315468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8928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4837176" y="18928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4983480" y="18928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792224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code_interpreter_agent.py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82312" y="2176272"/>
            <a:ext cx="6647688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strands_tools.code_interpreter import 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AgentCoreCodeInterpreter,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 = AgentCoreCodeInterpreter(region="us-east-1")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tools=[ci.code_interpreter],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system_prompt="Use the sandbox to run Python "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"for any calculation.",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agent("17% tax on a $432.50 fare — compute it.")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5029200"/>
            <a:ext cx="7104888" cy="132588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6280" y="5029200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27448" y="5065776"/>
            <a:ext cx="6739128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a Strands tool: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tools=[...] pattern from Part 1. AgentCore ships the tool; you hand it to your agent. The model calls it when needed — verified math, not a guessed number.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the answer lives on a web page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840480" cy="42062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4206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3337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managed, headless Chrome the agent drives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Navigate, click, fill forms, read live pages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sites with no API — live flight status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watch the agent browse in real time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recorded to S3; actions in CloudTrail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7104888" cy="278892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8928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4837176" y="18928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4983480" y="18928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792224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browser_agent.py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82312" y="2176272"/>
            <a:ext cx="664768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strands_tools.browser import AgentCoreBrowser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= AgentCoreBrowser(region="us-east-1")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tools=[browser.browser],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system_prompt="Use the browser to check live "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"flight-status pages.",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4663440"/>
            <a:ext cx="7104888" cy="141732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6280" y="466344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27448" y="4700016"/>
            <a:ext cx="6739128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vs custom: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aws.browser.v1 is ready to use; you can also register your own. It talks over a WebSocket — automation plus a live-view endpoint you open in the console.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509760" y="-91440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F2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+ IDENTITY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to the world, safely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without plumbing; access without passwords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any API or Lambda into an MCP tool — no plumbing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fares API, a Lambda, an internal service. Gateway wraps them as MCP tools your agent can call — handling protocol, auth and discovery for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3529584" cy="278892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542032"/>
            <a:ext cx="64008" cy="278892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2491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it wraps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3255264"/>
            <a:ext cx="30266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REST specs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Smithy models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MCP servers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24528" y="2542032"/>
            <a:ext cx="3529584" cy="278892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24528" y="2542032"/>
            <a:ext cx="64008" cy="2788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72491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auth sides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98848" y="3255264"/>
            <a:ext cx="30266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Inbound: who may call the Gateway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Outbound: how it calls the target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/ OAuth / API-key / none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never touch your prompt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82128" y="2542032"/>
            <a:ext cx="3749040" cy="278892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82128" y="2542032"/>
            <a:ext cx="64008" cy="2788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27249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payoff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156448" y="3255264"/>
            <a:ext cx="3246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MCP endpoint for many tools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tool search built in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tools without redeploying the agent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~3× lower tool-selection latency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5440680"/>
            <a:ext cx="11064240" cy="77724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544068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5477256"/>
            <a:ext cx="10698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the protocol Strands already speaks: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Strands you wired MCP tool servers by hand. Gateway is AWS hosting and securing that MCP layer, so any agent just points at one URL.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· ADD A LAMBDA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the target; the agent discovers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7178040" cy="420624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28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8928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8928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792224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add_gateway_target.py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67208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 = boto3.client("bedrock-agentcore-control",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region_name="us-east-1")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gw.create_gateway_target(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gatewayIdentifier=gateway_id,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name="flight-tools",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targetConfiguration={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"mcp":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"lambda":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"lambdaArn": lambda_arn,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"toolSchema": {"inlinePayload": tool_schema},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credentialProviderConfigurations=[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{"credentialProviderType": "GATEWAY_IAM_ROLE"}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1737360"/>
            <a:ext cx="3767328" cy="210312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0" y="1737360"/>
            <a:ext cx="64008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1773936"/>
            <a:ext cx="340156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Lambda knows which tool: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passes the tool name in context.client_context.custom (e.g. bedrockAgentCoreToolName). One Lambda can back several tools and branch on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3840480"/>
            <a:ext cx="3767328" cy="2103120"/>
          </a:xfrm>
          <a:prstGeom prst="rect">
            <a:avLst/>
          </a:prstGeom>
          <a:solidFill>
            <a:srgbClr val="FFF6E8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3840480"/>
            <a:ext cx="64008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065008" y="3877056"/>
            <a:ext cx="340156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≠ data plane: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setup uses bedrock-agentcore-control. Invoking the agent at runtime uses bedrock-agentcore. Mixing them gives the “Unknown service” error from Part 1.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 an agent act for a user — without holding their password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486400" cy="20116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201168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Inbound auth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who may invoke your agent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(SigV4) or OAuth / JWT from your IdP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gate for an app, an API, or another agent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5486400" cy="20116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3886200"/>
            <a:ext cx="64008" cy="20116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Outbound auth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4599432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calls downstream services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→ the Runtime's IAM execution role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(Google, Slack…) → OAuth 2LO / 3LO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6208" y="1737360"/>
            <a:ext cx="5394960" cy="201168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6208" y="1737360"/>
            <a:ext cx="64008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37376" y="1773936"/>
            <a:ext cx="502920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vault, not impersonation: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stores and refreshes tokens in a managed vault and issues the agent a scoped workload token. Access is delegated — the agent never sees the raw credential.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6208" y="3886200"/>
            <a:ext cx="5394960" cy="201168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236208" y="3886200"/>
            <a:ext cx="64008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3922776"/>
            <a:ext cx="502920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how does it read my calendar?”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3-legged OAuth: the user consents once, AgentCore vaults the grant, and the agent gets a short-lived token scoped to just that calendar — revocable and auditable.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509760" y="-91440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EF8C2D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F2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real ways to hand off data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most-asked question, answered at three altitudes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RECURRING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“How does one agent pass data to another?”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isn't one answer — there are three, at different altitudes. Pick by how coupled the agents are and whether they share a framework.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3621024" cy="32004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542032"/>
            <a:ext cx="64008" cy="320040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24912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In-process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255264"/>
            <a:ext cx="31181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one Python process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via handoff_to_agent, agents-as-tools, Swarm or Graph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passed as messages / shared state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Tightest coupling, lowest latency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8536" y="2542032"/>
            <a:ext cx="3621024" cy="32004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88536" y="2542032"/>
            <a:ext cx="64008" cy="3200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724912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Across services (A2A)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2856" y="3255264"/>
            <a:ext cx="31181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Runtimes, maybe different frameworks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over the open A2A protocol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each other via agent cards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coupling, language-agnostic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10144" y="2542032"/>
            <a:ext cx="3621024" cy="32004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10144" y="2542032"/>
            <a:ext cx="64008" cy="3200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2724912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Shared Memory branch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84464" y="3255264"/>
            <a:ext cx="31181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share one Memory session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writes to its own branch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reads all branches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hand-off via durable 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· IN-PROCESS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already do in Strands —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486400" cy="17830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178308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handoff_to_agent(...)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explicitly passes control + a message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handoff_to_agent(agent_name, message, context=None)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6208" y="1737360"/>
            <a:ext cx="5394960" cy="17830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737360"/>
            <a:ext cx="64008" cy="1783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agents-as-tools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0528" y="245059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sub-agent as a callable tool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stays in control; gets the result back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5486400" cy="17830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611880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32511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peer agents collaborate freely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context; emergent hand-offs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6208" y="3611880"/>
            <a:ext cx="5394960" cy="17830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3611880"/>
            <a:ext cx="64008" cy="1783080"/>
          </a:xfrm>
          <a:prstGeom prst="rect">
            <a:avLst/>
          </a:prstGeom>
          <a:solidFill>
            <a:srgbClr val="EF8C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794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(GraphBuilder)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0528" y="432511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wire an explicit DAG of agents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order; parallel branches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486400"/>
            <a:ext cx="11064240" cy="73152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5486400"/>
            <a:ext cx="64008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5522976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new on AgentCore here: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run inside one Runtime. Reach for A2A or shared Memory only when agents must live as separate services.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· A2A PROTOCOL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Expose a Strands agent as a service others can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7040880" cy="384048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28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8928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8928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7922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flight_agent_server.py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658368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strands.multiagent.a2a import A2AServer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flight_agent = Agent(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name="flight-agent",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description="Finds and rebooks flights.",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system_prompt="You handle flight disruptions.",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 it over the open A2A protocol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= A2AServer(agent=flight_agent,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host="0.0.0.0", port=9000)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server.serve()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26680" y="1737360"/>
            <a:ext cx="3904488" cy="192024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1" name="Shape 9"/>
          <p:cNvSpPr/>
          <p:nvPr/>
        </p:nvSpPr>
        <p:spPr>
          <a:xfrm>
            <a:off x="7726680" y="1737360"/>
            <a:ext cx="64008" cy="1920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927848" y="1773936"/>
            <a:ext cx="3538728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cards = discovery: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A2A server publishes a card at /.well-known/agent-card.json describing its skills. A coordinator reads the card, then calls the agent — no shared codebase.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26680" y="3749040"/>
            <a:ext cx="3904488" cy="182880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26680" y="3749040"/>
            <a:ext cx="64008" cy="1828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927848" y="3785616"/>
            <a:ext cx="3538728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AgentCore Runtime: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http_url=&lt;runtime URL&gt; and serve_at_root=True so the published card points at the public endpoint. The caller can be LangGraph, CrewAI or Strands.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· SHARED MEMORY BRANCH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Git-like branches for parallel sub-agents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7040880" cy="384048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28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8928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8928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7922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memory_branch.py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658368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sub-agent writes to its OWN branch of one session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client.create_event(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memory_id=memory_id,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actor_id="traveler-42",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session_id="trip-0001",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messages=[("Rebooked on 9pm BA118", "ASSISTANT")],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branch={"name": "flight-agent",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"rootEventId": root_event_id},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coordinator reads a branch back and merges findings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turns = client.get_last_k_turns(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memory_id=memory_id, actor_id="traveler-42",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session_id="trip-0001", k=10,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branch_name="flight-agent")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26680" y="1737360"/>
            <a:ext cx="3904488" cy="196596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1" name="Shape 9"/>
          <p:cNvSpPr/>
          <p:nvPr/>
        </p:nvSpPr>
        <p:spPr>
          <a:xfrm>
            <a:off x="7726680" y="1737360"/>
            <a:ext cx="64008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927848" y="1773936"/>
            <a:ext cx="3538728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branches: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flight-agent and hotel-agent in parallel against one trip without their turns interleaving. Each branch is a clean lane; the coordinator reads all lanes.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26680" y="3840480"/>
            <a:ext cx="3904488" cy="173736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26680" y="3840480"/>
            <a:ext cx="64008" cy="1737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927848" y="3877056"/>
            <a:ext cx="353872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Strands Graph: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Graph for parallel execution and Memory branches for the shared, durable record — multi-agent collaboration that survives a restart.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509760" y="-91440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F2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+ COST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inside it, keep the bill sane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debug — or budget — what you can't see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can't debug an agent you can't see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486400" cy="210312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2103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get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traces of every agent run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usage, latency, errors, tool calls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Hierarchy: Traces → Requests → Spans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the CloudWatch GenAI Observability page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977640"/>
            <a:ext cx="5486400" cy="196596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413308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877824" y="41330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413308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2728" y="40325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it on — OTEL via ADOT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16552"/>
            <a:ext cx="50292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aws-opentelemetry-distro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wrap your existing run command: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opentelemetry-instrument python my_agent.py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1737360"/>
            <a:ext cx="5394960" cy="210312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6208" y="1737360"/>
            <a:ext cx="64008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773936"/>
            <a:ext cx="5029200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OpenTelemetry: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emits standard OTEL signals, so the same traces flow to CloudWatch or any OTEL backend. Session id rides in OTEL baggage — filter a trace to one user.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6208" y="3977640"/>
            <a:ext cx="5394960" cy="1965960"/>
          </a:xfrm>
          <a:prstGeom prst="rect">
            <a:avLst/>
          </a:prstGeom>
          <a:solidFill>
            <a:srgbClr val="FFF6E8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6208" y="3977640"/>
            <a:ext cx="64008" cy="1965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37376" y="4014216"/>
            <a:ext cx="5029200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Transaction Search once: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trace-level search needs CloudWatch Transaction Search switched on for the account/region — a one-time toggle. Miss it and your spans won't be queryable.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Serverless is cheap only if you let it scale to zero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621024" cy="3108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3108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for you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3118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Scale-to-zero: idle agents cost nothing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use, not per provisioned box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billed only during active compute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microVMs, sanitized after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88536" y="1737360"/>
            <a:ext cx="3621024" cy="3108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88536" y="1737360"/>
            <a:ext cx="64008" cy="310896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920240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the clock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62856" y="2450592"/>
            <a:ext cx="3118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session → terminated after 15 min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cap: 8 h per session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async tasks hold the session open (billable)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keeps raw events for event_expiry_days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10144" y="1737360"/>
            <a:ext cx="3621024" cy="3108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10144" y="1737360"/>
            <a:ext cx="64008" cy="3108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920240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up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84464" y="2450592"/>
            <a:ext cx="3118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StopRuntimeSession frees a session early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destroy tears down the Runtime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unused Memories &amp; Gateways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sane expiry on events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983480"/>
            <a:ext cx="11064240" cy="123444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983480"/>
            <a:ext cx="64008" cy="1234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5020056"/>
            <a:ext cx="1069848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 that saves money: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sessions the moment work is done, expire raw events on a window that matches your needs, and destroy demo Runtimes after class. Scale-to-zero only helps if nothing is quietly holding a session open. Model tokens are billed separately — usually the bigger line item.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509760" y="-91440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EF8C2D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F2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CAPSTONE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seven services, one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proactive flight-disruption &amp; rebooking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· THE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service you've seen, in one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flight gets cancelled. TravelMind notices, finds options, checks the traveler's preferences, rebooks, and explains — touching every AgentCore service.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2706624" cy="175564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395728"/>
            <a:ext cx="64008" cy="1755648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259689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9F45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25968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596896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6384" y="3236976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Strands agent loop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395728"/>
            <a:ext cx="2706624" cy="175564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395728"/>
            <a:ext cx="64008" cy="17556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Shape 11"/>
          <p:cNvSpPr/>
          <p:nvPr/>
        </p:nvSpPr>
        <p:spPr>
          <a:xfrm>
            <a:off x="3584448" y="259689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DD4BF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84448" y="25968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87952" y="2596896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02736" y="3236976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Seat/meal prefs + trip history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2395728"/>
            <a:ext cx="2706624" cy="175564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2395728"/>
            <a:ext cx="64008" cy="17556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259689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25968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04304" y="2596896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19088" y="3236976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fares API → MCP tool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15984" y="2395728"/>
            <a:ext cx="2706624" cy="175564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15984" y="2395728"/>
            <a:ext cx="64008" cy="17556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217152" y="259689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17152" y="25968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20656" y="2596896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35440" y="3236976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the traveler's behalf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297680"/>
            <a:ext cx="2706624" cy="175564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" y="4297680"/>
            <a:ext cx="64008" cy="1755648"/>
          </a:xfrm>
          <a:prstGeom prst="rect">
            <a:avLst/>
          </a:prstGeom>
          <a:solidFill>
            <a:srgbClr val="EF8C2D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" y="449884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EF8C2D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8096" y="44988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600" y="4498848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Interpreter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86384" y="5138928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fare diffs &amp; refunds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83280" y="4297680"/>
            <a:ext cx="2706624" cy="175564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83280" y="4297680"/>
            <a:ext cx="64008" cy="17556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7" name="Shape 35"/>
          <p:cNvSpPr/>
          <p:nvPr/>
        </p:nvSpPr>
        <p:spPr>
          <a:xfrm>
            <a:off x="3584448" y="449884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DD4BF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584448" y="44988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87952" y="4498848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602736" y="5138928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status when no API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99632" y="4297680"/>
            <a:ext cx="2706624" cy="175564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99632" y="4297680"/>
            <a:ext cx="64008" cy="1755648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0" y="449884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9F45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0" y="44988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04304" y="4498848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A2A / branches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419088" y="5138928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+ hotel sub-agents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15984" y="4297680"/>
            <a:ext cx="2706624" cy="175564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015984" y="4297680"/>
            <a:ext cx="64008" cy="17556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Shape 47"/>
          <p:cNvSpPr/>
          <p:nvPr/>
        </p:nvSpPr>
        <p:spPr>
          <a:xfrm>
            <a:off x="9217152" y="449884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217152" y="44988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820656" y="4498848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235440" y="5138928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every rebooking run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· BUILD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you'd assemble it — one layer at a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768096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93392"/>
            <a:ext cx="7178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Write the agent loop in Strands locally — prompt, model, core tools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Wrap it with BedrockAgentCoreApp and run on port 8080 (Part 1)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Add a Memory; attach the Memory Hook for prefs + trip history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Expose the airline fares API through a Gateway target (MCP tool)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Add Code Interpreter (fare math) and Browser (live status)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Configure Identity so it rebooks on the traveler's behalf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 Split flight &amp; hotel into sub-agents — A2A or shared Memory branches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 Turn on Observability; deploy with agentcore deploy; test &amp; destroy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430768" y="1737360"/>
            <a:ext cx="3200400" cy="214884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7" name="Shape 5"/>
          <p:cNvSpPr/>
          <p:nvPr/>
        </p:nvSpPr>
        <p:spPr>
          <a:xfrm>
            <a:off x="8430768" y="1737360"/>
            <a:ext cx="64008" cy="2148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631936" y="1773936"/>
            <a:ext cx="2834640" cy="2075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thin, add altitude: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bare Runtime first. Add one service, verify, repeat. Every layer is independent — that's the whole point of composability.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30768" y="4069080"/>
            <a:ext cx="3200400" cy="214884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0" name="Shape 8"/>
          <p:cNvSpPr/>
          <p:nvPr/>
        </p:nvSpPr>
        <p:spPr>
          <a:xfrm>
            <a:off x="8430768" y="4069080"/>
            <a:ext cx="64008" cy="2148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631936" y="4105656"/>
            <a:ext cx="2834640" cy="2075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learned, stacked: 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for the brain · Part 1 Runtime to ship · Part 2 services for memory, tools, identity and teamwork. That's zero → production.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REACH FOR…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the need to the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402336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to…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69164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69164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call / entry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093976"/>
            <a:ext cx="393192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9397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agent for real users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98848" y="2093976"/>
            <a:ext cx="283464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0939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33488" y="2093976"/>
            <a:ext cx="429768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209397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BedrockAgentCoreApp · agentcore deploy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578608"/>
            <a:ext cx="393192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7860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within a chat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98848" y="2578608"/>
            <a:ext cx="283464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5786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(STM)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33488" y="2578608"/>
            <a:ext cx="429768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257860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create_event · get_last_k_turns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063240"/>
            <a:ext cx="393192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632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across chats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98848" y="3063240"/>
            <a:ext cx="283464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0632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(LTM)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33488" y="3063240"/>
            <a:ext cx="429768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30632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strategies · retrieve_memories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3547872"/>
            <a:ext cx="393192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478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APIs / Lambdas as tools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98848" y="3547872"/>
            <a:ext cx="283464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35478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33488" y="3547872"/>
            <a:ext cx="429768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354787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create_gateway_target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032504"/>
            <a:ext cx="393192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03250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 user's behalf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98848" y="4032504"/>
            <a:ext cx="283464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0325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33488" y="4032504"/>
            <a:ext cx="429768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0" y="403250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 + outbound (OAuth) auth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4517136"/>
            <a:ext cx="393192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51713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or run code safely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498848" y="4517136"/>
            <a:ext cx="283464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451713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33488" y="4517136"/>
            <a:ext cx="429768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0" y="451713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ci.code_interpreter tool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5001768"/>
            <a:ext cx="393192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500176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real web page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498848" y="5001768"/>
            <a:ext cx="283464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50017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33488" y="5001768"/>
            <a:ext cx="429768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9" name="Text 47"/>
          <p:cNvSpPr/>
          <p:nvPr/>
        </p:nvSpPr>
        <p:spPr>
          <a:xfrm>
            <a:off x="7498080" y="500176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browser.browser tool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66928" y="5486400"/>
            <a:ext cx="393192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54864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agents collaborate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498848" y="5486400"/>
            <a:ext cx="283464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53" name="Text 51"/>
          <p:cNvSpPr/>
          <p:nvPr/>
        </p:nvSpPr>
        <p:spPr>
          <a:xfrm>
            <a:off x="4663440" y="54864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/ Memory branch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33488" y="5486400"/>
            <a:ext cx="4297680" cy="475488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0" y="548640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A2AServer · branch={...}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66928" y="5971032"/>
            <a:ext cx="393192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" y="597103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&amp; control cost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498848" y="5971032"/>
            <a:ext cx="283464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9" name="Text 57"/>
          <p:cNvSpPr/>
          <p:nvPr/>
        </p:nvSpPr>
        <p:spPr>
          <a:xfrm>
            <a:off x="4663440" y="59710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33488" y="5971032"/>
            <a:ext cx="4297680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1" name="Text 59"/>
          <p:cNvSpPr/>
          <p:nvPr/>
        </p:nvSpPr>
        <p:spPr>
          <a:xfrm>
            <a:off x="7498080" y="597103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opentelemetry-instrument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869680" y="-1005840"/>
            <a:ext cx="2926080" cy="2926080"/>
          </a:xfrm>
          <a:prstGeom prst="roundRect">
            <a:avLst>
              <a:gd name="adj" fmla="val 7813"/>
            </a:avLst>
          </a:prstGeom>
          <a:solidFill>
            <a:srgbClr val="0D948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692640" y="4846320"/>
            <a:ext cx="3108960" cy="3108960"/>
          </a:xfrm>
          <a:prstGeom prst="roundRect">
            <a:avLst>
              <a:gd name="adj" fmla="val 8824"/>
            </a:avLst>
          </a:prstGeom>
          <a:solidFill>
            <a:srgbClr val="EF8C2D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→ HERO · COMPLETE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build, ship, remember, tool up,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and scale an agent on AWS.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3200400"/>
            <a:ext cx="5486400" cy="2788920"/>
          </a:xfrm>
          <a:prstGeom prst="rect">
            <a:avLst/>
          </a:prstGeom>
          <a:solidFill>
            <a:srgbClr val="0F2A45"/>
          </a:solidFill>
          <a:ln w="12700">
            <a:solidFill>
              <a:srgbClr val="1E45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3200400"/>
            <a:ext cx="64008" cy="2788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3649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 it further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3913632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TravelMind end-to-end on your own account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Python toolkit for the @aws/agentcore CLI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custom Memory strategy for your domain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two real frameworks together over A2A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6208" y="3200400"/>
            <a:ext cx="5394960" cy="2788920"/>
          </a:xfrm>
          <a:prstGeom prst="rect">
            <a:avLst/>
          </a:prstGeom>
          <a:solidFill>
            <a:srgbClr val="0F2A45"/>
          </a:solidFill>
          <a:ln w="12700">
            <a:solidFill>
              <a:srgbClr val="1E4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6208" y="3200400"/>
            <a:ext cx="64008" cy="278892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33649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read more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3913632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docs &amp; samples on AWS Labs (GitHub)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docs — multi-agent &amp; hooks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GenAI Observability guide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 1 deck — Runtime fundamentals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457200" cy="4572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  ·  Claude Sonnet 4.5 / Haiku 4.5  ·  Build something, then break it.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2 — MEMORY, TOOLS &amp; MULTI-AGENT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AgentCore: Memory, Tools &amp; Multi-Agent</dc:title>
  <dc:subject>Agentic AI Bootcamp</dc:subject>
  <dc:creator>Agentic AI Bootcamp</dc:creator>
  <cp:lastModifiedBy>Agentic AI Bootcamp</cp:lastModifiedBy>
  <cp:revision>1</cp:revision>
  <dcterms:created xsi:type="dcterms:W3CDTF">2026-06-07T14:26:02Z</dcterms:created>
  <dcterms:modified xsi:type="dcterms:W3CDTF">2026-06-07T14:26:02Z</dcterms:modified>
</cp:coreProperties>
</file>