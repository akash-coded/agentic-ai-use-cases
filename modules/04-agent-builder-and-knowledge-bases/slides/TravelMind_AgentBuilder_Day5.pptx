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hook: they spent days writing run_agent. Today they give the loop away. The framing line is on screen: you are not learning a new kind of agent, you are learning who runs the loop. Keep energy high, this is a payoff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to what they built. Trace the amber return path with your finger, that arrow IS the loop. Land the closing line: the while-loop is the whole job of a runtime, and today AWS runs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what they bring, right is what AWS runs. The emotional beat: they stop maintaining run_agent. Same fundamentals, someone else runs the plumbing.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warning out loud and plainly, it protects their production choice. Classic closes to NEW customers July 30 2026, existing accounts keep working. Successor is AgentCore, runs any framework including their Strands agents. Reason to still learn it: the concepts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spine of the whole deck. Go row by row. Every hand-written piece has a home in the console. Nothing new to learn, the pieces just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pieces. For TravelMind only the first three matter today. Flag that knowledge base is the optional fourth, and it is exactly where the next session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split: the model CHOOSES the tool and the arguments, the Lambda EXECUTES it. The Lambda is literally their old dispatch plus tool functions, now serverless.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that saves them hours. Two cards: what Bedrock sends, what they must return. Three rules cause the famous response error: string body, TEXT content type, echo actionGroup and function. Every parameter arrives as a string, even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the habit hard: test the contract on your laptop before touching AWS. exec the handler, fire the exact fake event, assert the body is a string. If this passes, the response error will not happen in the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decoder is a keeper, tell them to screenshot it. Each confusing error has ONE real cause. Drop the verified nugget: bedrock:Converse is not an IAM action, InvokeModel covers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of Control is the escape hatch from Lambda. Four triggers: app already calls the API, past the 15 minute ceiling, async or long-running, private network. Same agent, same action group, only the executor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two-way door is the number one silent failure. Door 1: agent role can invoke model and Lambda. Door 2: the Lambda resource policy lets Bedrock in, scoped to this agent. People forget Door 2 constantly, say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companion. Walk the four phases. If the test window throws the Lambda response error, it is the contract from earlier, not permissions. Send them back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discipline. Prepare compiles the draft, version freezes it, alias points at a version, the app calls the alias. Never point production at the draft. It is a git tag your deploy tracks.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little code it takes to call the agent. Reply is a stream, join the chunks. sessionId is memory. enableTrace is the debugger. Big gotcha: three different Bedrock clients, do not mix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build it all in code, repeatable. Walk the dependency order and stress WHY it is ordered: Door 2 needs the agent ARN, so the agent exists first. Poll status until PREPARED or nothing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hardening. The console defaults are fine for learning and wrong for production. Hit IAM scoping, SourceArn, least-privilege callers, the 15 minute ceiling, and the budget alarm, because an agent loops and a bad tool can loop the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out. Three ways to run the same loop. Hand-built taught the mechanics, Agent Builder shows the managed shape, AgentCore is the forward path for their Strands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 for this module. Four durable skills they already own, and they transfer to every managed platform. Land the tagline: learn the loop once, run it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next session. The agent can reason and act, now give it something to read. Preview knowledge bases as the optional fourth piece: retrieval over their own documents so the agent stops guessing. Next time they get their hands dirty.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10000"/>
          </a:blip>
          <a:stretch>
            <a:fillRect/>
          </a:stretch>
        </p:blipFill>
        <p:spPr>
          <a:xfrm>
            <a:off x="8732520" y="1965960"/>
            <a:ext cx="3840480" cy="3840480"/>
          </a:xfrm>
          <a:prstGeom prst="rect">
            <a:avLst/>
          </a:prstGeom>
        </p:spPr>
      </p:pic>
      <p:pic>
        <p:nvPicPr>
          <p:cNvPr id="3" name="Image 1" descr="preencoded.png">    </p:cNvPr>
          <p:cNvPicPr>
            <a:picLocks noChangeAspect="1"/>
          </p:cNvPicPr>
          <p:nvPr/>
        </p:nvPicPr>
        <p:blipFill>
          <a:blip r:embed="rId2"/>
          <a:stretch>
            <a:fillRect/>
          </a:stretch>
        </p:blipFill>
        <p:spPr>
          <a:xfrm>
            <a:off x="594360" y="566928"/>
            <a:ext cx="310896" cy="310896"/>
          </a:xfrm>
          <a:prstGeom prst="rect">
            <a:avLst/>
          </a:prstGeom>
        </p:spPr>
      </p:pic>
      <p:sp>
        <p:nvSpPr>
          <p:cNvPr id="4" name="Text 0"/>
          <p:cNvSpPr/>
          <p:nvPr/>
        </p:nvSpPr>
        <p:spPr>
          <a:xfrm>
            <a:off x="1005840" y="576072"/>
            <a:ext cx="8229600" cy="310896"/>
          </a:xfrm>
          <a:prstGeom prst="rect">
            <a:avLst/>
          </a:prstGeom>
          <a:noFill/>
          <a:ln/>
        </p:spPr>
        <p:txBody>
          <a:bodyPr wrap="square" lIns="0" tIns="0" rIns="0" bIns="0" rtlCol="0" anchor="ctr"/>
          <a:lstStyle/>
          <a:p>
            <a:pPr indent="0" marL="0">
              <a:buNone/>
            </a:pPr>
            <a:r>
              <a:rPr lang="en-US" sz="1250" b="1" spc="300" kern="0" dirty="0">
                <a:solidFill>
                  <a:srgbClr val="E4A45E"/>
                </a:solidFill>
                <a:latin typeface="Calibri" pitchFamily="34" charset="0"/>
                <a:ea typeface="Calibri" pitchFamily="34" charset="-122"/>
                <a:cs typeface="Calibri" pitchFamily="34" charset="-120"/>
              </a:rPr>
              <a:t> ·  AGENTIC AI ON AWS  ·  DAY 5</a:t>
            </a:r>
            <a:endParaRPr lang="en-US" sz="1250" dirty="0"/>
          </a:p>
        </p:txBody>
      </p:sp>
      <p:sp>
        <p:nvSpPr>
          <p:cNvPr id="5" name="Text 1"/>
          <p:cNvSpPr/>
          <p:nvPr/>
        </p:nvSpPr>
        <p:spPr>
          <a:xfrm>
            <a:off x="594360" y="2148840"/>
            <a:ext cx="10515600" cy="10515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TravelMind on Autopilot</a:t>
            </a:r>
            <a:endParaRPr lang="en-US" sz="5400" dirty="0"/>
          </a:p>
        </p:txBody>
      </p:sp>
      <p:sp>
        <p:nvSpPr>
          <p:cNvPr id="6" name="Text 2"/>
          <p:cNvSpPr/>
          <p:nvPr/>
        </p:nvSpPr>
        <p:spPr>
          <a:xfrm>
            <a:off x="594360" y="3310128"/>
            <a:ext cx="10058400" cy="548640"/>
          </a:xfrm>
          <a:prstGeom prst="rect">
            <a:avLst/>
          </a:prstGeom>
          <a:noFill/>
          <a:ln/>
        </p:spPr>
        <p:txBody>
          <a:bodyPr wrap="square" lIns="0" tIns="0" rIns="0" bIns="0" rtlCol="0" anchor="ctr"/>
          <a:lstStyle/>
          <a:p>
            <a:pPr indent="0" marL="0">
              <a:buNone/>
            </a:pPr>
            <a:r>
              <a:rPr lang="en-US" sz="2200" dirty="0">
                <a:solidFill>
                  <a:srgbClr val="C7CBD3"/>
                </a:solidFill>
                <a:latin typeface="Calibri" pitchFamily="34" charset="0"/>
                <a:ea typeface="Calibri" pitchFamily="34" charset="-122"/>
                <a:cs typeface="Calibri" pitchFamily="34" charset="-120"/>
              </a:rPr>
              <a:t>Building the same agent with AWS Agent Builder</a:t>
            </a:r>
            <a:endParaRPr lang="en-US" sz="2200" dirty="0"/>
          </a:p>
        </p:txBody>
      </p:sp>
      <p:sp>
        <p:nvSpPr>
          <p:cNvPr id="7" name="Shape 3"/>
          <p:cNvSpPr/>
          <p:nvPr/>
        </p:nvSpPr>
        <p:spPr>
          <a:xfrm>
            <a:off x="594360" y="4160520"/>
            <a:ext cx="3931920" cy="0"/>
          </a:xfrm>
          <a:prstGeom prst="line">
            <a:avLst/>
          </a:prstGeom>
          <a:noFill/>
          <a:ln w="17780">
            <a:solidFill>
              <a:srgbClr val="3A3F4B"/>
            </a:solidFill>
            <a:prstDash val="solid"/>
          </a:ln>
        </p:spPr>
      </p:sp>
      <p:sp>
        <p:nvSpPr>
          <p:cNvPr id="8" name="Shape 4"/>
          <p:cNvSpPr/>
          <p:nvPr/>
        </p:nvSpPr>
        <p:spPr>
          <a:xfrm>
            <a:off x="594360" y="4617720"/>
            <a:ext cx="9052560" cy="914400"/>
          </a:xfrm>
          <a:prstGeom prst="roundRect">
            <a:avLst>
              <a:gd name="adj" fmla="val 7000"/>
            </a:avLst>
          </a:prstGeom>
          <a:solidFill>
            <a:srgbClr val="1C1F27"/>
          </a:solidFill>
          <a:ln w="12700">
            <a:solidFill>
              <a:srgbClr val="2C313D"/>
            </a:solidFill>
            <a:prstDash val="solid"/>
          </a:ln>
        </p:spPr>
      </p:sp>
      <p:sp>
        <p:nvSpPr>
          <p:cNvPr id="9" name="Text 5"/>
          <p:cNvSpPr/>
          <p:nvPr/>
        </p:nvSpPr>
        <p:spPr>
          <a:xfrm>
            <a:off x="868680" y="4617720"/>
            <a:ext cx="8503920" cy="914400"/>
          </a:xfrm>
          <a:prstGeom prst="rect">
            <a:avLst/>
          </a:prstGeom>
          <a:noFill/>
          <a:ln/>
        </p:spPr>
        <p:txBody>
          <a:bodyPr wrap="square" lIns="0" tIns="0" rIns="0" bIns="0" rtlCol="0" anchor="ctr"/>
          <a:lstStyle/>
          <a:p>
            <a:pPr indent="0" marL="0">
              <a:lnSpc>
                <a:spcPct val="105000"/>
              </a:lnSpc>
              <a:buNone/>
            </a:pPr>
            <a:r>
              <a:rPr lang="en-US" sz="1600" b="1" dirty="0">
                <a:solidFill>
                  <a:srgbClr val="FFFFFF"/>
                </a:solidFill>
                <a:latin typeface="Calibri" pitchFamily="34" charset="0"/>
                <a:ea typeface="Calibri" pitchFamily="34" charset="-122"/>
                <a:cs typeface="Calibri" pitchFamily="34" charset="-120"/>
              </a:rPr>
              <a:t>You wrote the loop by hand. </a:t>
            </a:r>
            <a:pPr indent="0" marL="0">
              <a:lnSpc>
                <a:spcPct val="105000"/>
              </a:lnSpc>
              <a:buNone/>
            </a:pPr>
            <a:r>
              <a:rPr lang="en-US" sz="1600" i="1" dirty="0">
                <a:solidFill>
                  <a:srgbClr val="AEB4BF"/>
                </a:solidFill>
                <a:latin typeface="Calibri" pitchFamily="34" charset="0"/>
                <a:ea typeface="Calibri" pitchFamily="34" charset="-122"/>
                <a:cs typeface="Calibri" pitchFamily="34" charset="-120"/>
              </a:rPr>
              <a:t>You are not learning a new kind of agent. You are learning who runs the loop.</a:t>
            </a:r>
            <a:endParaRPr lang="en-US" sz="1600" dirty="0"/>
          </a:p>
        </p:txBody>
      </p:sp>
      <p:sp>
        <p:nvSpPr>
          <p:cNvPr id="10" name="Text 6"/>
          <p:cNvSpPr/>
          <p:nvPr/>
        </p:nvSpPr>
        <p:spPr>
          <a:xfrm>
            <a:off x="594360" y="6172200"/>
            <a:ext cx="8229600" cy="274320"/>
          </a:xfrm>
          <a:prstGeom prst="rect">
            <a:avLst/>
          </a:prstGeom>
          <a:noFill/>
          <a:ln/>
        </p:spPr>
        <p:txBody>
          <a:bodyPr wrap="square" lIns="0" tIns="0" rIns="0" bIns="0" rtlCol="0" anchor="ctr"/>
          <a:lstStyle/>
          <a:p>
            <a:pPr indent="0" marL="0">
              <a:buNone/>
            </a:pPr>
            <a:r>
              <a:rPr lang="en-US" sz="1200" spc="100" kern="0" dirty="0">
                <a:solidFill>
                  <a:srgbClr val="9AA1AB"/>
                </a:solidFill>
                <a:latin typeface="Courier New" pitchFamily="34" charset="0"/>
                <a:ea typeface="Courier New" pitchFamily="34" charset="-122"/>
                <a:cs typeface="Courier New" pitchFamily="34" charset="-120"/>
              </a:rPr>
              <a:t>Console  →  Code  →  Production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RECALL WHAT YOU BUILT</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The loop you wrote by hand</a:t>
            </a:r>
            <a:endParaRPr lang="en-US" sz="3300" dirty="0"/>
          </a:p>
        </p:txBody>
      </p:sp>
      <p:sp>
        <p:nvSpPr>
          <p:cNvPr id="4" name="Text 2"/>
          <p:cNvSpPr/>
          <p:nvPr/>
        </p:nvSpPr>
        <p:spPr>
          <a:xfrm>
            <a:off x="594360" y="1481328"/>
            <a:ext cx="11002975" cy="365760"/>
          </a:xfrm>
          <a:prstGeom prst="rect">
            <a:avLst/>
          </a:prstGeom>
          <a:noFill/>
          <a:ln/>
        </p:spPr>
        <p:txBody>
          <a:bodyPr wrap="square" lIns="0" tIns="0" rIns="0" bIns="0" rtlCol="0" anchor="ctr"/>
          <a:lstStyle/>
          <a:p>
            <a:pPr indent="0" marL="0">
              <a:buNone/>
            </a:pPr>
            <a:r>
              <a:rPr lang="en-US" sz="1450" dirty="0">
                <a:solidFill>
                  <a:srgbClr val="6A7280"/>
                </a:solidFill>
                <a:latin typeface="Calibri" pitchFamily="34" charset="0"/>
                <a:ea typeface="Calibri" pitchFamily="34" charset="-122"/>
                <a:cs typeface="Calibri" pitchFamily="34" charset="-120"/>
              </a:rPr>
              <a:t>On every turn, </a:t>
            </a:r>
            <a:pPr indent="0" marL="0">
              <a:buNone/>
            </a:pPr>
            <a:r>
              <a:rPr lang="en-US" sz="1450" b="1" dirty="0">
                <a:solidFill>
                  <a:srgbClr val="8A4E0C"/>
                </a:solidFill>
                <a:latin typeface="Courier New" pitchFamily="34" charset="0"/>
                <a:ea typeface="Courier New" pitchFamily="34" charset="-122"/>
                <a:cs typeface="Courier New" pitchFamily="34" charset="-120"/>
              </a:rPr>
              <a:t>run_agent</a:t>
            </a:r>
            <a:pPr indent="0" marL="0">
              <a:buNone/>
            </a:pPr>
            <a:r>
              <a:rPr lang="en-US" sz="1450" dirty="0">
                <a:solidFill>
                  <a:srgbClr val="6A7280"/>
                </a:solidFill>
                <a:latin typeface="Calibri" pitchFamily="34" charset="0"/>
                <a:ea typeface="Calibri" pitchFamily="34" charset="-122"/>
                <a:cs typeface="Calibri" pitchFamily="34" charset="-120"/>
              </a:rPr>
              <a:t>  did five things:   </a:t>
            </a:r>
            <a:pPr indent="0" marL="0">
              <a:buNone/>
            </a:pPr>
            <a:r>
              <a:rPr lang="en-US" sz="1450" b="1" dirty="0">
                <a:solidFill>
                  <a:srgbClr val="1A1D23"/>
                </a:solidFill>
                <a:latin typeface="Calibri" pitchFamily="34" charset="0"/>
                <a:ea typeface="Calibri" pitchFamily="34" charset="-122"/>
                <a:cs typeface="Calibri" pitchFamily="34" charset="-120"/>
              </a:rPr>
              <a:t>call the model</a:t>
            </a:r>
            <a:pPr indent="0" marL="0">
              <a:buNone/>
            </a:pPr>
            <a:r>
              <a:rPr lang="en-US" sz="1450" dirty="0">
                <a:solidFill>
                  <a:srgbClr val="9AA1AB"/>
                </a:solidFill>
                <a:latin typeface="Calibri" pitchFamily="34" charset="0"/>
                <a:ea typeface="Calibri" pitchFamily="34" charset="-122"/>
                <a:cs typeface="Calibri" pitchFamily="34" charset="-120"/>
              </a:rPr>
              <a:t>  ·  </a:t>
            </a:r>
            <a:pPr indent="0" marL="0">
              <a:buNone/>
            </a:pPr>
            <a:r>
              <a:rPr lang="en-US" sz="1450" b="1" dirty="0">
                <a:solidFill>
                  <a:srgbClr val="1A1D23"/>
                </a:solidFill>
                <a:latin typeface="Calibri" pitchFamily="34" charset="0"/>
                <a:ea typeface="Calibri" pitchFamily="34" charset="-122"/>
                <a:cs typeface="Calibri" pitchFamily="34" charset="-120"/>
              </a:rPr>
              <a:t>read stopReason</a:t>
            </a:r>
            <a:pPr indent="0" marL="0">
              <a:buNone/>
            </a:pPr>
            <a:r>
              <a:rPr lang="en-US" sz="1450" dirty="0">
                <a:solidFill>
                  <a:srgbClr val="9AA1AB"/>
                </a:solidFill>
                <a:latin typeface="Calibri" pitchFamily="34" charset="0"/>
                <a:ea typeface="Calibri" pitchFamily="34" charset="-122"/>
                <a:cs typeface="Calibri" pitchFamily="34" charset="-120"/>
              </a:rPr>
              <a:t>  ·  </a:t>
            </a:r>
            <a:pPr indent="0" marL="0">
              <a:buNone/>
            </a:pPr>
            <a:r>
              <a:rPr lang="en-US" sz="1450" b="1" dirty="0">
                <a:solidFill>
                  <a:srgbClr val="1A1D23"/>
                </a:solidFill>
                <a:latin typeface="Calibri" pitchFamily="34" charset="0"/>
                <a:ea typeface="Calibri" pitchFamily="34" charset="-122"/>
                <a:cs typeface="Calibri" pitchFamily="34" charset="-120"/>
              </a:rPr>
              <a:t>run the tool</a:t>
            </a:r>
            <a:pPr indent="0" marL="0">
              <a:buNone/>
            </a:pPr>
            <a:r>
              <a:rPr lang="en-US" sz="1450" dirty="0">
                <a:solidFill>
                  <a:srgbClr val="9AA1AB"/>
                </a:solidFill>
                <a:latin typeface="Calibri" pitchFamily="34" charset="0"/>
                <a:ea typeface="Calibri" pitchFamily="34" charset="-122"/>
                <a:cs typeface="Calibri" pitchFamily="34" charset="-120"/>
              </a:rPr>
              <a:t>  ·  </a:t>
            </a:r>
            <a:pPr indent="0" marL="0">
              <a:buNone/>
            </a:pPr>
            <a:r>
              <a:rPr lang="en-US" sz="1450" b="1" dirty="0">
                <a:solidFill>
                  <a:srgbClr val="1A1D23"/>
                </a:solidFill>
                <a:latin typeface="Calibri" pitchFamily="34" charset="0"/>
                <a:ea typeface="Calibri" pitchFamily="34" charset="-122"/>
                <a:cs typeface="Calibri" pitchFamily="34" charset="-120"/>
              </a:rPr>
              <a:t>feed the result back</a:t>
            </a:r>
            <a:pPr indent="0" marL="0">
              <a:buNone/>
            </a:pPr>
            <a:r>
              <a:rPr lang="en-US" sz="1450" dirty="0">
                <a:solidFill>
                  <a:srgbClr val="9AA1AB"/>
                </a:solidFill>
                <a:latin typeface="Calibri" pitchFamily="34" charset="0"/>
                <a:ea typeface="Calibri" pitchFamily="34" charset="-122"/>
                <a:cs typeface="Calibri" pitchFamily="34" charset="-120"/>
              </a:rPr>
              <a:t>  ·  </a:t>
            </a:r>
            <a:pPr indent="0" marL="0">
              <a:buNone/>
            </a:pPr>
            <a:r>
              <a:rPr lang="en-US" sz="1450" b="1" dirty="0">
                <a:solidFill>
                  <a:srgbClr val="BE7017"/>
                </a:solidFill>
                <a:latin typeface="Calibri" pitchFamily="34" charset="0"/>
                <a:ea typeface="Calibri" pitchFamily="34" charset="-122"/>
                <a:cs typeface="Calibri" pitchFamily="34" charset="-120"/>
              </a:rPr>
              <a:t>repeat</a:t>
            </a:r>
            <a:endParaRPr lang="en-US" sz="1450" dirty="0"/>
          </a:p>
        </p:txBody>
      </p:sp>
      <p:sp>
        <p:nvSpPr>
          <p:cNvPr id="5" name="Shape 3"/>
          <p:cNvSpPr/>
          <p:nvPr/>
        </p:nvSpPr>
        <p:spPr>
          <a:xfrm>
            <a:off x="777240" y="3337560"/>
            <a:ext cx="1600200" cy="777240"/>
          </a:xfrm>
          <a:prstGeom prst="roundRect">
            <a:avLst>
              <a:gd name="adj" fmla="val 9412"/>
            </a:avLst>
          </a:prstGeom>
          <a:solidFill>
            <a:srgbClr val="FFFFFF"/>
          </a:solidFill>
          <a:ln w="12700">
            <a:solidFill>
              <a:srgbClr val="E4E7EB"/>
            </a:solidFill>
            <a:prstDash val="solid"/>
          </a:ln>
          <a:effectLst>
            <a:outerShdw sx="100000" sy="100000" kx="0" ky="0" algn="bl" rotWithShape="0" blurRad="88900" dist="38100" dir="5400000">
              <a:srgbClr val="000000">
                <a:alpha val="8000"/>
              </a:srgbClr>
            </a:outerShdw>
          </a:effectLst>
        </p:spPr>
      </p:sp>
      <p:sp>
        <p:nvSpPr>
          <p:cNvPr id="6" name="Text 4"/>
          <p:cNvSpPr/>
          <p:nvPr/>
        </p:nvSpPr>
        <p:spPr>
          <a:xfrm>
            <a:off x="850392" y="3337560"/>
            <a:ext cx="1453896" cy="777240"/>
          </a:xfrm>
          <a:prstGeom prst="rect">
            <a:avLst/>
          </a:prstGeom>
          <a:noFill/>
          <a:ln/>
        </p:spPr>
        <p:txBody>
          <a:bodyPr wrap="square" lIns="0" tIns="0" rIns="0" bIns="0" rtlCol="0" anchor="ctr"/>
          <a:lstStyle/>
          <a:p>
            <a:pPr algn="ctr" indent="0" marL="0">
              <a:lnSpc>
                <a:spcPct val="98000"/>
              </a:lnSpc>
              <a:buNone/>
            </a:pPr>
            <a:r>
              <a:rPr lang="en-US" sz="1300" dirty="0">
                <a:solidFill>
                  <a:srgbClr val="1A1D23"/>
                </a:solidFill>
                <a:latin typeface="Calibri" pitchFamily="34" charset="0"/>
                <a:ea typeface="Calibri" pitchFamily="34" charset="-122"/>
                <a:cs typeface="Calibri" pitchFamily="34" charset="-120"/>
              </a:rPr>
              <a:t>user message</a:t>
            </a:r>
            <a:endParaRPr lang="en-US" sz="1300" dirty="0"/>
          </a:p>
        </p:txBody>
      </p:sp>
      <p:sp>
        <p:nvSpPr>
          <p:cNvPr id="7" name="Shape 5"/>
          <p:cNvSpPr/>
          <p:nvPr/>
        </p:nvSpPr>
        <p:spPr>
          <a:xfrm>
            <a:off x="2788920" y="3337560"/>
            <a:ext cx="1783080" cy="777240"/>
          </a:xfrm>
          <a:prstGeom prst="roundRect">
            <a:avLst>
              <a:gd name="adj" fmla="val 9412"/>
            </a:avLst>
          </a:prstGeom>
          <a:solidFill>
            <a:srgbClr val="FFFFFF"/>
          </a:solidFill>
          <a:ln w="12700">
            <a:solidFill>
              <a:srgbClr val="E4E7EB"/>
            </a:solidFill>
            <a:prstDash val="solid"/>
          </a:ln>
          <a:effectLst>
            <a:outerShdw sx="100000" sy="100000" kx="0" ky="0" algn="bl" rotWithShape="0" blurRad="88900" dist="38100" dir="5400000">
              <a:srgbClr val="000000">
                <a:alpha val="8000"/>
              </a:srgbClr>
            </a:outerShdw>
          </a:effectLst>
        </p:spPr>
      </p:sp>
      <p:sp>
        <p:nvSpPr>
          <p:cNvPr id="8" name="Text 6"/>
          <p:cNvSpPr/>
          <p:nvPr/>
        </p:nvSpPr>
        <p:spPr>
          <a:xfrm>
            <a:off x="2862072" y="3337560"/>
            <a:ext cx="1636776" cy="777240"/>
          </a:xfrm>
          <a:prstGeom prst="rect">
            <a:avLst/>
          </a:prstGeom>
          <a:noFill/>
          <a:ln/>
        </p:spPr>
        <p:txBody>
          <a:bodyPr wrap="square" lIns="0" tIns="0" rIns="0" bIns="0" rtlCol="0" anchor="ctr"/>
          <a:lstStyle/>
          <a:p>
            <a:pPr algn="ctr" indent="0" marL="0">
              <a:lnSpc>
                <a:spcPct val="98000"/>
              </a:lnSpc>
              <a:buNone/>
            </a:pPr>
            <a:r>
              <a:rPr lang="en-US" sz="1300" b="1" dirty="0">
                <a:solidFill>
                  <a:srgbClr val="1A1D23"/>
                </a:solidFill>
                <a:latin typeface="Calibri" pitchFamily="34" charset="0"/>
                <a:ea typeface="Calibri" pitchFamily="34" charset="-122"/>
                <a:cs typeface="Calibri" pitchFamily="34" charset="-120"/>
              </a:rPr>
              <a:t>model call</a:t>
            </a:r>
            <a:endParaRPr lang="en-US" sz="1300" dirty="0"/>
          </a:p>
        </p:txBody>
      </p:sp>
      <p:sp>
        <p:nvSpPr>
          <p:cNvPr id="9" name="Shape 7"/>
          <p:cNvSpPr/>
          <p:nvPr/>
        </p:nvSpPr>
        <p:spPr>
          <a:xfrm>
            <a:off x="4983480" y="3337560"/>
            <a:ext cx="1828800" cy="777240"/>
          </a:xfrm>
          <a:prstGeom prst="hexagon">
            <a:avLst/>
          </a:prstGeom>
          <a:solidFill>
            <a:srgbClr val="14161C"/>
          </a:solidFill>
          <a:ln/>
        </p:spPr>
      </p:sp>
      <p:sp>
        <p:nvSpPr>
          <p:cNvPr id="10" name="Text 8"/>
          <p:cNvSpPr/>
          <p:nvPr/>
        </p:nvSpPr>
        <p:spPr>
          <a:xfrm>
            <a:off x="4983480" y="3337560"/>
            <a:ext cx="182880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stopReason</a:t>
            </a:r>
            <a:endParaRPr lang="en-US" sz="1300" dirty="0"/>
          </a:p>
        </p:txBody>
      </p:sp>
      <p:sp>
        <p:nvSpPr>
          <p:cNvPr id="11" name="Shape 9"/>
          <p:cNvSpPr/>
          <p:nvPr/>
        </p:nvSpPr>
        <p:spPr>
          <a:xfrm>
            <a:off x="9601200" y="3337560"/>
            <a:ext cx="1920240" cy="777240"/>
          </a:xfrm>
          <a:prstGeom prst="roundRect">
            <a:avLst>
              <a:gd name="adj" fmla="val 9412"/>
            </a:avLst>
          </a:prstGeom>
          <a:solidFill>
            <a:srgbClr val="E6EEE9"/>
          </a:solidFill>
          <a:ln w="12700">
            <a:solidFill>
              <a:srgbClr val="CFE0D6"/>
            </a:solidFill>
            <a:prstDash val="solid"/>
          </a:ln>
          <a:effectLst>
            <a:outerShdw sx="100000" sy="100000" kx="0" ky="0" algn="bl" rotWithShape="0" blurRad="88900" dist="38100" dir="5400000">
              <a:srgbClr val="000000">
                <a:alpha val="8000"/>
              </a:srgbClr>
            </a:outerShdw>
          </a:effectLst>
        </p:spPr>
      </p:sp>
      <p:sp>
        <p:nvSpPr>
          <p:cNvPr id="12" name="Text 10"/>
          <p:cNvSpPr/>
          <p:nvPr/>
        </p:nvSpPr>
        <p:spPr>
          <a:xfrm>
            <a:off x="9674352" y="3337560"/>
            <a:ext cx="1773936" cy="777240"/>
          </a:xfrm>
          <a:prstGeom prst="rect">
            <a:avLst/>
          </a:prstGeom>
          <a:noFill/>
          <a:ln/>
        </p:spPr>
        <p:txBody>
          <a:bodyPr wrap="square" lIns="0" tIns="0" rIns="0" bIns="0" rtlCol="0" anchor="ctr"/>
          <a:lstStyle/>
          <a:p>
            <a:pPr algn="ctr" indent="0" marL="0">
              <a:lnSpc>
                <a:spcPct val="98000"/>
              </a:lnSpc>
              <a:buNone/>
            </a:pPr>
            <a:r>
              <a:rPr lang="en-US" sz="1300" b="1" dirty="0">
                <a:solidFill>
                  <a:srgbClr val="3C7A5B"/>
                </a:solidFill>
                <a:latin typeface="Calibri" pitchFamily="34" charset="0"/>
                <a:ea typeface="Calibri" pitchFamily="34" charset="-122"/>
                <a:cs typeface="Calibri" pitchFamily="34" charset="-120"/>
              </a:rPr>
              <a:t>final answer</a:t>
            </a:r>
            <a:endParaRPr lang="en-US" sz="1300" dirty="0"/>
          </a:p>
        </p:txBody>
      </p:sp>
      <p:sp>
        <p:nvSpPr>
          <p:cNvPr id="13" name="Shape 11"/>
          <p:cNvSpPr/>
          <p:nvPr/>
        </p:nvSpPr>
        <p:spPr>
          <a:xfrm>
            <a:off x="2377440" y="3726180"/>
            <a:ext cx="365760" cy="0"/>
          </a:xfrm>
          <a:prstGeom prst="line">
            <a:avLst/>
          </a:prstGeom>
          <a:noFill/>
          <a:ln w="22225">
            <a:solidFill>
              <a:srgbClr val="9AA1AB"/>
            </a:solidFill>
            <a:prstDash val="solid"/>
            <a:tailEnd type="triangle"/>
          </a:ln>
        </p:spPr>
      </p:sp>
      <p:sp>
        <p:nvSpPr>
          <p:cNvPr id="14" name="Shape 12"/>
          <p:cNvSpPr/>
          <p:nvPr/>
        </p:nvSpPr>
        <p:spPr>
          <a:xfrm>
            <a:off x="4572000" y="3726180"/>
            <a:ext cx="365760" cy="0"/>
          </a:xfrm>
          <a:prstGeom prst="line">
            <a:avLst/>
          </a:prstGeom>
          <a:noFill/>
          <a:ln w="22225">
            <a:solidFill>
              <a:srgbClr val="9AA1AB"/>
            </a:solidFill>
            <a:prstDash val="solid"/>
            <a:tailEnd type="triangle"/>
          </a:ln>
        </p:spPr>
      </p:sp>
      <p:sp>
        <p:nvSpPr>
          <p:cNvPr id="15" name="Shape 13"/>
          <p:cNvSpPr/>
          <p:nvPr/>
        </p:nvSpPr>
        <p:spPr>
          <a:xfrm>
            <a:off x="6812280" y="3726180"/>
            <a:ext cx="2743200" cy="0"/>
          </a:xfrm>
          <a:prstGeom prst="line">
            <a:avLst/>
          </a:prstGeom>
          <a:noFill/>
          <a:ln w="22225">
            <a:solidFill>
              <a:srgbClr val="9AA1AB"/>
            </a:solidFill>
            <a:prstDash val="solid"/>
            <a:tailEnd type="triangle"/>
          </a:ln>
        </p:spPr>
      </p:sp>
      <p:sp>
        <p:nvSpPr>
          <p:cNvPr id="16" name="Text 14"/>
          <p:cNvSpPr/>
          <p:nvPr/>
        </p:nvSpPr>
        <p:spPr>
          <a:xfrm>
            <a:off x="6903720" y="3342132"/>
            <a:ext cx="1371600" cy="274320"/>
          </a:xfrm>
          <a:prstGeom prst="rect">
            <a:avLst/>
          </a:prstGeom>
          <a:noFill/>
          <a:ln/>
        </p:spPr>
        <p:txBody>
          <a:bodyPr wrap="square" lIns="0" tIns="0" rIns="0" bIns="0" rtlCol="0" anchor="ctr"/>
          <a:lstStyle/>
          <a:p>
            <a:pPr algn="ctr" indent="0" marL="0">
              <a:buNone/>
            </a:pPr>
            <a:r>
              <a:rPr lang="en-US" sz="1100" dirty="0">
                <a:solidFill>
                  <a:srgbClr val="3C7A5B"/>
                </a:solidFill>
                <a:latin typeface="Courier New" pitchFamily="34" charset="0"/>
                <a:ea typeface="Courier New" pitchFamily="34" charset="-122"/>
                <a:cs typeface="Courier New" pitchFamily="34" charset="-120"/>
              </a:rPr>
              <a:t>end_turn</a:t>
            </a:r>
            <a:endParaRPr lang="en-US" sz="1100" dirty="0"/>
          </a:p>
        </p:txBody>
      </p:sp>
      <p:sp>
        <p:nvSpPr>
          <p:cNvPr id="17" name="Shape 15"/>
          <p:cNvSpPr/>
          <p:nvPr/>
        </p:nvSpPr>
        <p:spPr>
          <a:xfrm>
            <a:off x="4983480" y="4617720"/>
            <a:ext cx="1828800" cy="777240"/>
          </a:xfrm>
          <a:prstGeom prst="roundRect">
            <a:avLst>
              <a:gd name="adj" fmla="val 9412"/>
            </a:avLst>
          </a:prstGeom>
          <a:solidFill>
            <a:srgbClr val="FFFFFF"/>
          </a:solidFill>
          <a:ln w="12700">
            <a:solidFill>
              <a:srgbClr val="E4E7EB"/>
            </a:solidFill>
            <a:prstDash val="solid"/>
          </a:ln>
          <a:effectLst>
            <a:outerShdw sx="100000" sy="100000" kx="0" ky="0" algn="bl" rotWithShape="0" blurRad="88900" dist="38100" dir="5400000">
              <a:srgbClr val="000000">
                <a:alpha val="8000"/>
              </a:srgbClr>
            </a:outerShdw>
          </a:effectLst>
        </p:spPr>
      </p:sp>
      <p:sp>
        <p:nvSpPr>
          <p:cNvPr id="18" name="Text 16"/>
          <p:cNvSpPr/>
          <p:nvPr/>
        </p:nvSpPr>
        <p:spPr>
          <a:xfrm>
            <a:off x="5056632" y="4617720"/>
            <a:ext cx="1682496" cy="777240"/>
          </a:xfrm>
          <a:prstGeom prst="rect">
            <a:avLst/>
          </a:prstGeom>
          <a:noFill/>
          <a:ln/>
        </p:spPr>
        <p:txBody>
          <a:bodyPr wrap="square" lIns="0" tIns="0" rIns="0" bIns="0" rtlCol="0" anchor="ctr"/>
          <a:lstStyle/>
          <a:p>
            <a:pPr algn="ctr" indent="0" marL="0">
              <a:lnSpc>
                <a:spcPct val="98000"/>
              </a:lnSpc>
              <a:buNone/>
            </a:pPr>
            <a:r>
              <a:rPr lang="en-US" sz="1300" dirty="0">
                <a:solidFill>
                  <a:srgbClr val="1A1D23"/>
                </a:solidFill>
                <a:latin typeface="Calibri" pitchFamily="34" charset="0"/>
                <a:ea typeface="Calibri" pitchFamily="34" charset="-122"/>
                <a:cs typeface="Calibri" pitchFamily="34" charset="-120"/>
              </a:rPr>
              <a:t>run the tool</a:t>
            </a:r>
            <a:endParaRPr lang="en-US" sz="1300" dirty="0"/>
          </a:p>
        </p:txBody>
      </p:sp>
      <p:sp>
        <p:nvSpPr>
          <p:cNvPr id="19" name="Shape 17"/>
          <p:cNvSpPr/>
          <p:nvPr/>
        </p:nvSpPr>
        <p:spPr>
          <a:xfrm>
            <a:off x="7269480" y="4617720"/>
            <a:ext cx="1920240" cy="777240"/>
          </a:xfrm>
          <a:prstGeom prst="roundRect">
            <a:avLst>
              <a:gd name="adj" fmla="val 9412"/>
            </a:avLst>
          </a:prstGeom>
          <a:solidFill>
            <a:srgbClr val="FFFFFF"/>
          </a:solidFill>
          <a:ln w="12700">
            <a:solidFill>
              <a:srgbClr val="E4E7EB"/>
            </a:solidFill>
            <a:prstDash val="solid"/>
          </a:ln>
          <a:effectLst>
            <a:outerShdw sx="100000" sy="100000" kx="0" ky="0" algn="bl" rotWithShape="0" blurRad="88900" dist="38100" dir="5400000">
              <a:srgbClr val="000000">
                <a:alpha val="8000"/>
              </a:srgbClr>
            </a:outerShdw>
          </a:effectLst>
        </p:spPr>
      </p:sp>
      <p:sp>
        <p:nvSpPr>
          <p:cNvPr id="20" name="Text 18"/>
          <p:cNvSpPr/>
          <p:nvPr/>
        </p:nvSpPr>
        <p:spPr>
          <a:xfrm>
            <a:off x="7342632" y="4617720"/>
            <a:ext cx="1773936" cy="777240"/>
          </a:xfrm>
          <a:prstGeom prst="rect">
            <a:avLst/>
          </a:prstGeom>
          <a:noFill/>
          <a:ln/>
        </p:spPr>
        <p:txBody>
          <a:bodyPr wrap="square" lIns="0" tIns="0" rIns="0" bIns="0" rtlCol="0" anchor="ctr"/>
          <a:lstStyle/>
          <a:p>
            <a:pPr algn="ctr" indent="0" marL="0">
              <a:lnSpc>
                <a:spcPct val="98000"/>
              </a:lnSpc>
              <a:buNone/>
            </a:pPr>
            <a:r>
              <a:rPr lang="en-US" sz="1300" dirty="0">
                <a:solidFill>
                  <a:srgbClr val="1A1D23"/>
                </a:solidFill>
                <a:latin typeface="Calibri" pitchFamily="34" charset="0"/>
                <a:ea typeface="Calibri" pitchFamily="34" charset="-122"/>
                <a:cs typeface="Calibri" pitchFamily="34" charset="-120"/>
              </a:rPr>
              <a:t>send result back</a:t>
            </a:r>
            <a:endParaRPr lang="en-US" sz="1300" dirty="0"/>
          </a:p>
        </p:txBody>
      </p:sp>
      <p:sp>
        <p:nvSpPr>
          <p:cNvPr id="21" name="Shape 19"/>
          <p:cNvSpPr/>
          <p:nvPr/>
        </p:nvSpPr>
        <p:spPr>
          <a:xfrm>
            <a:off x="5897880" y="4114800"/>
            <a:ext cx="0" cy="502920"/>
          </a:xfrm>
          <a:prstGeom prst="line">
            <a:avLst/>
          </a:prstGeom>
          <a:noFill/>
          <a:ln w="22225">
            <a:solidFill>
              <a:srgbClr val="9AA1AB"/>
            </a:solidFill>
            <a:prstDash val="solid"/>
            <a:tailEnd type="triangle"/>
          </a:ln>
        </p:spPr>
      </p:sp>
      <p:sp>
        <p:nvSpPr>
          <p:cNvPr id="22" name="Text 20"/>
          <p:cNvSpPr/>
          <p:nvPr/>
        </p:nvSpPr>
        <p:spPr>
          <a:xfrm>
            <a:off x="6035040" y="4114800"/>
            <a:ext cx="1463040" cy="274320"/>
          </a:xfrm>
          <a:prstGeom prst="rect">
            <a:avLst/>
          </a:prstGeom>
          <a:noFill/>
          <a:ln/>
        </p:spPr>
        <p:txBody>
          <a:bodyPr wrap="square" lIns="0" tIns="0" rIns="0" bIns="0" rtlCol="0" anchor="ctr"/>
          <a:lstStyle/>
          <a:p>
            <a:pPr indent="0" marL="0">
              <a:buNone/>
            </a:pPr>
            <a:r>
              <a:rPr lang="en-US" sz="1100" dirty="0">
                <a:solidFill>
                  <a:srgbClr val="BE7017"/>
                </a:solidFill>
                <a:latin typeface="Courier New" pitchFamily="34" charset="0"/>
                <a:ea typeface="Courier New" pitchFamily="34" charset="-122"/>
                <a:cs typeface="Courier New" pitchFamily="34" charset="-120"/>
              </a:rPr>
              <a:t>tool_use</a:t>
            </a:r>
            <a:endParaRPr lang="en-US" sz="1100" dirty="0"/>
          </a:p>
        </p:txBody>
      </p:sp>
      <p:sp>
        <p:nvSpPr>
          <p:cNvPr id="23" name="Shape 21"/>
          <p:cNvSpPr/>
          <p:nvPr/>
        </p:nvSpPr>
        <p:spPr>
          <a:xfrm>
            <a:off x="6812280" y="5006340"/>
            <a:ext cx="457200" cy="0"/>
          </a:xfrm>
          <a:prstGeom prst="line">
            <a:avLst/>
          </a:prstGeom>
          <a:noFill/>
          <a:ln w="22225">
            <a:solidFill>
              <a:srgbClr val="9AA1AB"/>
            </a:solidFill>
            <a:prstDash val="solid"/>
            <a:tailEnd type="triangle"/>
          </a:ln>
        </p:spPr>
      </p:sp>
      <p:sp>
        <p:nvSpPr>
          <p:cNvPr id="24" name="Shape 22"/>
          <p:cNvSpPr/>
          <p:nvPr/>
        </p:nvSpPr>
        <p:spPr>
          <a:xfrm>
            <a:off x="8229600" y="4617720"/>
            <a:ext cx="0" cy="-1920240"/>
          </a:xfrm>
          <a:prstGeom prst="line">
            <a:avLst/>
          </a:prstGeom>
          <a:noFill/>
          <a:ln w="28575">
            <a:solidFill>
              <a:srgbClr val="BE7017"/>
            </a:solidFill>
            <a:prstDash val="solid"/>
          </a:ln>
        </p:spPr>
      </p:sp>
      <p:sp>
        <p:nvSpPr>
          <p:cNvPr id="25" name="Shape 23"/>
          <p:cNvSpPr/>
          <p:nvPr/>
        </p:nvSpPr>
        <p:spPr>
          <a:xfrm>
            <a:off x="3675888" y="2697480"/>
            <a:ext cx="4553712" cy="0"/>
          </a:xfrm>
          <a:prstGeom prst="line">
            <a:avLst/>
          </a:prstGeom>
          <a:noFill/>
          <a:ln w="28575">
            <a:solidFill>
              <a:srgbClr val="BE7017"/>
            </a:solidFill>
            <a:prstDash val="solid"/>
          </a:ln>
        </p:spPr>
      </p:sp>
      <p:sp>
        <p:nvSpPr>
          <p:cNvPr id="26" name="Shape 24"/>
          <p:cNvSpPr/>
          <p:nvPr/>
        </p:nvSpPr>
        <p:spPr>
          <a:xfrm>
            <a:off x="3675888" y="2697480"/>
            <a:ext cx="0" cy="640080"/>
          </a:xfrm>
          <a:prstGeom prst="line">
            <a:avLst/>
          </a:prstGeom>
          <a:noFill/>
          <a:ln w="28575">
            <a:solidFill>
              <a:srgbClr val="BE7017"/>
            </a:solidFill>
            <a:prstDash val="solid"/>
            <a:tailEnd type="triangle"/>
          </a:ln>
        </p:spPr>
      </p:sp>
      <p:sp>
        <p:nvSpPr>
          <p:cNvPr id="27" name="Text 25"/>
          <p:cNvSpPr/>
          <p:nvPr/>
        </p:nvSpPr>
        <p:spPr>
          <a:xfrm>
            <a:off x="3675888" y="2377440"/>
            <a:ext cx="4572000" cy="274320"/>
          </a:xfrm>
          <a:prstGeom prst="rect">
            <a:avLst/>
          </a:prstGeom>
          <a:noFill/>
          <a:ln/>
        </p:spPr>
        <p:txBody>
          <a:bodyPr wrap="square" lIns="0" tIns="0" rIns="0" bIns="0" rtlCol="0" anchor="ctr"/>
          <a:lstStyle/>
          <a:p>
            <a:pPr algn="ctr" indent="0" marL="0">
              <a:buNone/>
            </a:pPr>
            <a:r>
              <a:rPr lang="en-US" sz="1200" b="1" dirty="0">
                <a:solidFill>
                  <a:srgbClr val="BE7017"/>
                </a:solidFill>
                <a:latin typeface="Calibri" pitchFamily="34" charset="0"/>
                <a:ea typeface="Calibri" pitchFamily="34" charset="-122"/>
                <a:cs typeface="Calibri" pitchFamily="34" charset="-120"/>
              </a:rPr>
              <a:t>result  →  model,  repeat</a:t>
            </a:r>
            <a:endParaRPr lang="en-US" sz="1200" dirty="0"/>
          </a:p>
        </p:txBody>
      </p:sp>
      <p:sp>
        <p:nvSpPr>
          <p:cNvPr id="28" name="Shape 26"/>
          <p:cNvSpPr/>
          <p:nvPr/>
        </p:nvSpPr>
        <p:spPr>
          <a:xfrm>
            <a:off x="594360" y="5806440"/>
            <a:ext cx="11002975" cy="566928"/>
          </a:xfrm>
          <a:prstGeom prst="roundRect">
            <a:avLst>
              <a:gd name="adj" fmla="val 11290"/>
            </a:avLst>
          </a:prstGeom>
          <a:solidFill>
            <a:srgbClr val="ECEEF1"/>
          </a:solidFill>
          <a:ln/>
        </p:spPr>
      </p:sp>
      <p:sp>
        <p:nvSpPr>
          <p:cNvPr id="29" name="Text 27"/>
          <p:cNvSpPr/>
          <p:nvPr/>
        </p:nvSpPr>
        <p:spPr>
          <a:xfrm>
            <a:off x="868680" y="5806440"/>
            <a:ext cx="10454335" cy="566928"/>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That while-loop is the whole job of an agent runtime.  </a:t>
            </a:r>
            <a:pPr indent="0" marL="0">
              <a:buNone/>
            </a:pPr>
            <a:r>
              <a:rPr lang="en-US" sz="1400" b="1" dirty="0">
                <a:solidFill>
                  <a:srgbClr val="BE7017"/>
                </a:solidFill>
                <a:latin typeface="Calibri" pitchFamily="34" charset="0"/>
                <a:ea typeface="Calibri" pitchFamily="34" charset="-122"/>
                <a:cs typeface="Calibri" pitchFamily="34" charset="-120"/>
              </a:rPr>
              <a:t>Today you give it away.</a:t>
            </a:r>
            <a:endParaRPr lang="en-US" sz="1400" dirty="0"/>
          </a:p>
        </p:txBody>
      </p:sp>
      <p:sp>
        <p:nvSpPr>
          <p:cNvPr id="30" name="Text 28"/>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The loop you wrote</a:t>
            </a:r>
            <a:endParaRPr lang="en-US" sz="950" dirty="0"/>
          </a:p>
        </p:txBody>
      </p:sp>
      <p:sp>
        <p:nvSpPr>
          <p:cNvPr id="31" name="Text 29"/>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SAME LOOP, NEW OWNER</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Agent Builder is that loop, managed</a:t>
            </a:r>
            <a:endParaRPr lang="en-US" sz="3300" dirty="0"/>
          </a:p>
        </p:txBody>
      </p:sp>
      <p:sp>
        <p:nvSpPr>
          <p:cNvPr id="4" name="Text 2"/>
          <p:cNvSpPr/>
          <p:nvPr/>
        </p:nvSpPr>
        <p:spPr>
          <a:xfrm>
            <a:off x="594360" y="1417320"/>
            <a:ext cx="11002975" cy="457200"/>
          </a:xfrm>
          <a:prstGeom prst="rect">
            <a:avLst/>
          </a:prstGeom>
          <a:noFill/>
          <a:ln/>
        </p:spPr>
        <p:txBody>
          <a:bodyPr wrap="square" lIns="0" tIns="0" rIns="0" bIns="0" rtlCol="0" anchor="ctr"/>
          <a:lstStyle/>
          <a:p>
            <a:pPr algn="l" indent="0" marL="0">
              <a:buNone/>
            </a:pPr>
            <a:r>
              <a:rPr lang="en-US" sz="1500" i="1" dirty="0">
                <a:solidFill>
                  <a:srgbClr val="6A7280"/>
                </a:solidFill>
                <a:latin typeface="Calibri" pitchFamily="34" charset="0"/>
                <a:ea typeface="Calibri" pitchFamily="34" charset="-122"/>
                <a:cs typeface="Calibri" pitchFamily="34" charset="-120"/>
              </a:rPr>
              <a:t>You bring three things. AWS brings the loop, the retries, the tracing, and the plumbing.</a:t>
            </a:r>
            <a:endParaRPr lang="en-US" sz="1500" dirty="0"/>
          </a:p>
        </p:txBody>
      </p:sp>
      <p:sp>
        <p:nvSpPr>
          <p:cNvPr id="5" name="Shape 3"/>
          <p:cNvSpPr/>
          <p:nvPr/>
        </p:nvSpPr>
        <p:spPr>
          <a:xfrm>
            <a:off x="594360" y="2057400"/>
            <a:ext cx="5074920" cy="3703320"/>
          </a:xfrm>
          <a:prstGeom prst="roundRect">
            <a:avLst>
              <a:gd name="adj" fmla="val 2222"/>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6" name="Text 4"/>
          <p:cNvSpPr/>
          <p:nvPr/>
        </p:nvSpPr>
        <p:spPr>
          <a:xfrm>
            <a:off x="914400" y="2313432"/>
            <a:ext cx="4389120" cy="274320"/>
          </a:xfrm>
          <a:prstGeom prst="rect">
            <a:avLst/>
          </a:prstGeom>
          <a:noFill/>
          <a:ln/>
        </p:spPr>
        <p:txBody>
          <a:bodyPr wrap="square" lIns="0" tIns="0" rIns="0" bIns="0" rtlCol="0" anchor="ctr"/>
          <a:lstStyle/>
          <a:p>
            <a:pPr indent="0" marL="0">
              <a:buNone/>
            </a:pPr>
            <a:r>
              <a:rPr lang="en-US" sz="1300" b="1" spc="200" kern="0" dirty="0">
                <a:solidFill>
                  <a:srgbClr val="BE7017"/>
                </a:solidFill>
                <a:latin typeface="Calibri" pitchFamily="34" charset="0"/>
                <a:ea typeface="Calibri" pitchFamily="34" charset="-122"/>
                <a:cs typeface="Calibri" pitchFamily="34" charset="-120"/>
              </a:rPr>
              <a:t>YOU BRING</a:t>
            </a:r>
            <a:endParaRPr lang="en-US" sz="1300" dirty="0"/>
          </a:p>
        </p:txBody>
      </p:sp>
      <p:sp>
        <p:nvSpPr>
          <p:cNvPr id="7" name="Shape 5"/>
          <p:cNvSpPr/>
          <p:nvPr/>
        </p:nvSpPr>
        <p:spPr>
          <a:xfrm>
            <a:off x="914400" y="2834640"/>
            <a:ext cx="548640" cy="548640"/>
          </a:xfrm>
          <a:prstGeom prst="ellipse">
            <a:avLst/>
          </a:prstGeom>
          <a:solidFill>
            <a:srgbClr val="F5EAD8"/>
          </a:solidFill>
          <a:ln/>
        </p:spPr>
      </p:sp>
      <p:pic>
        <p:nvPicPr>
          <p:cNvPr id="8" name="Image 0" descr="preencoded.png">    </p:cNvPr>
          <p:cNvPicPr>
            <a:picLocks noChangeAspect="1"/>
          </p:cNvPicPr>
          <p:nvPr/>
        </p:nvPicPr>
        <p:blipFill>
          <a:blip r:embed="rId1"/>
          <a:stretch>
            <a:fillRect/>
          </a:stretch>
        </p:blipFill>
        <p:spPr>
          <a:xfrm>
            <a:off x="1018642" y="2938882"/>
            <a:ext cx="340157" cy="340157"/>
          </a:xfrm>
          <a:prstGeom prst="rect">
            <a:avLst/>
          </a:prstGeom>
        </p:spPr>
      </p:pic>
      <p:sp>
        <p:nvSpPr>
          <p:cNvPr id="9" name="Text 6"/>
          <p:cNvSpPr/>
          <p:nvPr/>
        </p:nvSpPr>
        <p:spPr>
          <a:xfrm>
            <a:off x="1600200" y="2798064"/>
            <a:ext cx="3840480" cy="310896"/>
          </a:xfrm>
          <a:prstGeom prst="rect">
            <a:avLst/>
          </a:prstGeom>
          <a:noFill/>
          <a:ln/>
        </p:spPr>
        <p:txBody>
          <a:bodyPr wrap="square" lIns="0" tIns="0" rIns="0" bIns="0" rtlCol="0" anchor="ctr"/>
          <a:lstStyle/>
          <a:p>
            <a:pPr indent="0" marL="0">
              <a:buNone/>
            </a:pPr>
            <a:r>
              <a:rPr lang="en-US" sz="1600" b="1" dirty="0">
                <a:solidFill>
                  <a:srgbClr val="1A1D23"/>
                </a:solidFill>
                <a:latin typeface="Calibri" pitchFamily="34" charset="0"/>
                <a:ea typeface="Calibri" pitchFamily="34" charset="-122"/>
                <a:cs typeface="Calibri" pitchFamily="34" charset="-120"/>
              </a:rPr>
              <a:t>A model</a:t>
            </a:r>
            <a:endParaRPr lang="en-US" sz="1600" dirty="0"/>
          </a:p>
        </p:txBody>
      </p:sp>
      <p:sp>
        <p:nvSpPr>
          <p:cNvPr id="10" name="Text 7"/>
          <p:cNvSpPr/>
          <p:nvPr/>
        </p:nvSpPr>
        <p:spPr>
          <a:xfrm>
            <a:off x="1600200" y="3127248"/>
            <a:ext cx="3840480" cy="310896"/>
          </a:xfrm>
          <a:prstGeom prst="rect">
            <a:avLst/>
          </a:prstGeom>
          <a:noFill/>
          <a:ln/>
        </p:spPr>
        <p:txBody>
          <a:bodyPr wrap="square" lIns="0" tIns="0" rIns="0" bIns="0" rtlCol="0" anchor="ctr"/>
          <a:lstStyle/>
          <a:p>
            <a:pPr indent="0" marL="0">
              <a:buNone/>
            </a:pPr>
            <a:r>
              <a:rPr lang="en-US" sz="1250" dirty="0">
                <a:solidFill>
                  <a:srgbClr val="6A7280"/>
                </a:solidFill>
                <a:latin typeface="Calibri" pitchFamily="34" charset="0"/>
                <a:ea typeface="Calibri" pitchFamily="34" charset="-122"/>
                <a:cs typeface="Calibri" pitchFamily="34" charset="-120"/>
              </a:rPr>
              <a:t>your Haiku 4.5 inference profile</a:t>
            </a:r>
            <a:endParaRPr lang="en-US" sz="1250" dirty="0"/>
          </a:p>
        </p:txBody>
      </p:sp>
      <p:sp>
        <p:nvSpPr>
          <p:cNvPr id="11" name="Shape 8"/>
          <p:cNvSpPr/>
          <p:nvPr/>
        </p:nvSpPr>
        <p:spPr>
          <a:xfrm>
            <a:off x="914400" y="3767328"/>
            <a:ext cx="548640" cy="548640"/>
          </a:xfrm>
          <a:prstGeom prst="ellipse">
            <a:avLst/>
          </a:prstGeom>
          <a:solidFill>
            <a:srgbClr val="F5EAD8"/>
          </a:solidFill>
          <a:ln/>
        </p:spPr>
      </p:sp>
      <p:pic>
        <p:nvPicPr>
          <p:cNvPr id="12" name="Image 1" descr="preencoded.png">    </p:cNvPr>
          <p:cNvPicPr>
            <a:picLocks noChangeAspect="1"/>
          </p:cNvPicPr>
          <p:nvPr/>
        </p:nvPicPr>
        <p:blipFill>
          <a:blip r:embed="rId2"/>
          <a:stretch>
            <a:fillRect/>
          </a:stretch>
        </p:blipFill>
        <p:spPr>
          <a:xfrm>
            <a:off x="1018642" y="3871570"/>
            <a:ext cx="340157" cy="340157"/>
          </a:xfrm>
          <a:prstGeom prst="rect">
            <a:avLst/>
          </a:prstGeom>
        </p:spPr>
      </p:pic>
      <p:sp>
        <p:nvSpPr>
          <p:cNvPr id="13" name="Text 9"/>
          <p:cNvSpPr/>
          <p:nvPr/>
        </p:nvSpPr>
        <p:spPr>
          <a:xfrm>
            <a:off x="1600200" y="3730752"/>
            <a:ext cx="3840480" cy="310896"/>
          </a:xfrm>
          <a:prstGeom prst="rect">
            <a:avLst/>
          </a:prstGeom>
          <a:noFill/>
          <a:ln/>
        </p:spPr>
        <p:txBody>
          <a:bodyPr wrap="square" lIns="0" tIns="0" rIns="0" bIns="0" rtlCol="0" anchor="ctr"/>
          <a:lstStyle/>
          <a:p>
            <a:pPr indent="0" marL="0">
              <a:buNone/>
            </a:pPr>
            <a:r>
              <a:rPr lang="en-US" sz="1600" b="1" dirty="0">
                <a:solidFill>
                  <a:srgbClr val="1A1D23"/>
                </a:solidFill>
                <a:latin typeface="Calibri" pitchFamily="34" charset="0"/>
                <a:ea typeface="Calibri" pitchFamily="34" charset="-122"/>
                <a:cs typeface="Calibri" pitchFamily="34" charset="-120"/>
              </a:rPr>
              <a:t>Instructions</a:t>
            </a:r>
            <a:endParaRPr lang="en-US" sz="1600" dirty="0"/>
          </a:p>
        </p:txBody>
      </p:sp>
      <p:sp>
        <p:nvSpPr>
          <p:cNvPr id="14" name="Text 10"/>
          <p:cNvSpPr/>
          <p:nvPr/>
        </p:nvSpPr>
        <p:spPr>
          <a:xfrm>
            <a:off x="1600200" y="4059936"/>
            <a:ext cx="3840480" cy="310896"/>
          </a:xfrm>
          <a:prstGeom prst="rect">
            <a:avLst/>
          </a:prstGeom>
          <a:noFill/>
          <a:ln/>
        </p:spPr>
        <p:txBody>
          <a:bodyPr wrap="square" lIns="0" tIns="0" rIns="0" bIns="0" rtlCol="0" anchor="ctr"/>
          <a:lstStyle/>
          <a:p>
            <a:pPr indent="0" marL="0">
              <a:buNone/>
            </a:pPr>
            <a:r>
              <a:rPr lang="en-US" sz="1250" dirty="0">
                <a:solidFill>
                  <a:srgbClr val="6A7280"/>
                </a:solidFill>
                <a:latin typeface="Calibri" pitchFamily="34" charset="0"/>
                <a:ea typeface="Calibri" pitchFamily="34" charset="-122"/>
                <a:cs typeface="Calibri" pitchFamily="34" charset="-120"/>
              </a:rPr>
              <a:t>the persona and the job, in plain words</a:t>
            </a:r>
            <a:endParaRPr lang="en-US" sz="1250" dirty="0"/>
          </a:p>
        </p:txBody>
      </p:sp>
      <p:sp>
        <p:nvSpPr>
          <p:cNvPr id="15" name="Shape 11"/>
          <p:cNvSpPr/>
          <p:nvPr/>
        </p:nvSpPr>
        <p:spPr>
          <a:xfrm>
            <a:off x="914400" y="4700016"/>
            <a:ext cx="548640" cy="548640"/>
          </a:xfrm>
          <a:prstGeom prst="ellipse">
            <a:avLst/>
          </a:prstGeom>
          <a:solidFill>
            <a:srgbClr val="F5EAD8"/>
          </a:solidFill>
          <a:ln/>
        </p:spPr>
      </p:sp>
      <p:pic>
        <p:nvPicPr>
          <p:cNvPr id="16" name="Image 2" descr="preencoded.png">    </p:cNvPr>
          <p:cNvPicPr>
            <a:picLocks noChangeAspect="1"/>
          </p:cNvPicPr>
          <p:nvPr/>
        </p:nvPicPr>
        <p:blipFill>
          <a:blip r:embed="rId3"/>
          <a:stretch>
            <a:fillRect/>
          </a:stretch>
        </p:blipFill>
        <p:spPr>
          <a:xfrm>
            <a:off x="1018642" y="4804258"/>
            <a:ext cx="340157" cy="340157"/>
          </a:xfrm>
          <a:prstGeom prst="rect">
            <a:avLst/>
          </a:prstGeom>
        </p:spPr>
      </p:pic>
      <p:sp>
        <p:nvSpPr>
          <p:cNvPr id="17" name="Text 12"/>
          <p:cNvSpPr/>
          <p:nvPr/>
        </p:nvSpPr>
        <p:spPr>
          <a:xfrm>
            <a:off x="1600200" y="4663440"/>
            <a:ext cx="3840480" cy="310896"/>
          </a:xfrm>
          <a:prstGeom prst="rect">
            <a:avLst/>
          </a:prstGeom>
          <a:noFill/>
          <a:ln/>
        </p:spPr>
        <p:txBody>
          <a:bodyPr wrap="square" lIns="0" tIns="0" rIns="0" bIns="0" rtlCol="0" anchor="ctr"/>
          <a:lstStyle/>
          <a:p>
            <a:pPr indent="0" marL="0">
              <a:buNone/>
            </a:pPr>
            <a:r>
              <a:rPr lang="en-US" sz="1600" b="1" dirty="0">
                <a:solidFill>
                  <a:srgbClr val="1A1D23"/>
                </a:solidFill>
                <a:latin typeface="Calibri" pitchFamily="34" charset="0"/>
                <a:ea typeface="Calibri" pitchFamily="34" charset="-122"/>
                <a:cs typeface="Calibri" pitchFamily="34" charset="-120"/>
              </a:rPr>
              <a:t>Tools</a:t>
            </a:r>
            <a:endParaRPr lang="en-US" sz="1600" dirty="0"/>
          </a:p>
        </p:txBody>
      </p:sp>
      <p:sp>
        <p:nvSpPr>
          <p:cNvPr id="18" name="Text 13"/>
          <p:cNvSpPr/>
          <p:nvPr/>
        </p:nvSpPr>
        <p:spPr>
          <a:xfrm>
            <a:off x="1600200" y="4992624"/>
            <a:ext cx="3840480" cy="310896"/>
          </a:xfrm>
          <a:prstGeom prst="rect">
            <a:avLst/>
          </a:prstGeom>
          <a:noFill/>
          <a:ln/>
        </p:spPr>
        <p:txBody>
          <a:bodyPr wrap="square" lIns="0" tIns="0" rIns="0" bIns="0" rtlCol="0" anchor="ctr"/>
          <a:lstStyle/>
          <a:p>
            <a:pPr indent="0" marL="0">
              <a:buNone/>
            </a:pPr>
            <a:r>
              <a:rPr lang="en-US" sz="1250" dirty="0">
                <a:solidFill>
                  <a:srgbClr val="6A7280"/>
                </a:solidFill>
                <a:latin typeface="Calibri" pitchFamily="34" charset="0"/>
                <a:ea typeface="Calibri" pitchFamily="34" charset="-122"/>
                <a:cs typeface="Calibri" pitchFamily="34" charset="-120"/>
              </a:rPr>
              <a:t>described once, as typed function schemas</a:t>
            </a:r>
            <a:endParaRPr lang="en-US" sz="1250" dirty="0"/>
          </a:p>
        </p:txBody>
      </p:sp>
      <p:sp>
        <p:nvSpPr>
          <p:cNvPr id="19" name="Shape 14"/>
          <p:cNvSpPr/>
          <p:nvPr/>
        </p:nvSpPr>
        <p:spPr>
          <a:xfrm>
            <a:off x="5989320" y="2057400"/>
            <a:ext cx="5562295" cy="3703320"/>
          </a:xfrm>
          <a:prstGeom prst="roundRect">
            <a:avLst>
              <a:gd name="adj" fmla="val 2222"/>
            </a:avLst>
          </a:prstGeom>
          <a:solidFill>
            <a:srgbClr val="F8F9FB"/>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20" name="Text 15"/>
          <p:cNvSpPr/>
          <p:nvPr/>
        </p:nvSpPr>
        <p:spPr>
          <a:xfrm>
            <a:off x="6309360" y="2313432"/>
            <a:ext cx="4922215" cy="274320"/>
          </a:xfrm>
          <a:prstGeom prst="rect">
            <a:avLst/>
          </a:prstGeom>
          <a:noFill/>
          <a:ln/>
        </p:spPr>
        <p:txBody>
          <a:bodyPr wrap="square" lIns="0" tIns="0" rIns="0" bIns="0" rtlCol="0" anchor="ctr"/>
          <a:lstStyle/>
          <a:p>
            <a:pPr indent="0" marL="0">
              <a:buNone/>
            </a:pPr>
            <a:r>
              <a:rPr lang="en-US" sz="1300" b="1" spc="200" kern="0" dirty="0">
                <a:solidFill>
                  <a:srgbClr val="14161C"/>
                </a:solidFill>
                <a:latin typeface="Calibri" pitchFamily="34" charset="0"/>
                <a:ea typeface="Calibri" pitchFamily="34" charset="-122"/>
                <a:cs typeface="Calibri" pitchFamily="34" charset="-120"/>
              </a:rPr>
              <a:t>AWS RUNS</a:t>
            </a:r>
            <a:endParaRPr lang="en-US" sz="1300" dirty="0"/>
          </a:p>
        </p:txBody>
      </p:sp>
      <p:sp>
        <p:nvSpPr>
          <p:cNvPr id="21" name="Shape 16"/>
          <p:cNvSpPr/>
          <p:nvPr/>
        </p:nvSpPr>
        <p:spPr>
          <a:xfrm>
            <a:off x="6309360" y="2807208"/>
            <a:ext cx="475488" cy="475488"/>
          </a:xfrm>
          <a:prstGeom prst="ellipse">
            <a:avLst/>
          </a:prstGeom>
          <a:solidFill>
            <a:srgbClr val="ECEEF1"/>
          </a:solidFill>
          <a:ln/>
        </p:spPr>
      </p:sp>
      <p:pic>
        <p:nvPicPr>
          <p:cNvPr id="22" name="Image 3" descr="preencoded.png">    </p:cNvPr>
          <p:cNvPicPr>
            <a:picLocks noChangeAspect="1"/>
          </p:cNvPicPr>
          <p:nvPr/>
        </p:nvPicPr>
        <p:blipFill>
          <a:blip r:embed="rId4"/>
          <a:stretch>
            <a:fillRect/>
          </a:stretch>
        </p:blipFill>
        <p:spPr>
          <a:xfrm>
            <a:off x="6399703" y="2897551"/>
            <a:ext cx="294803" cy="294803"/>
          </a:xfrm>
          <a:prstGeom prst="rect">
            <a:avLst/>
          </a:prstGeom>
        </p:spPr>
      </p:pic>
      <p:sp>
        <p:nvSpPr>
          <p:cNvPr id="23" name="Text 17"/>
          <p:cNvSpPr/>
          <p:nvPr/>
        </p:nvSpPr>
        <p:spPr>
          <a:xfrm>
            <a:off x="6903720" y="2788920"/>
            <a:ext cx="4327855" cy="512064"/>
          </a:xfrm>
          <a:prstGeom prst="rect">
            <a:avLst/>
          </a:prstGeom>
          <a:noFill/>
          <a:ln/>
        </p:spPr>
        <p:txBody>
          <a:bodyPr wrap="square" lIns="0" tIns="0" rIns="0" bIns="0" rtlCol="0" anchor="ctr"/>
          <a:lstStyle/>
          <a:p>
            <a:pPr indent="0" marL="0">
              <a:lnSpc>
                <a:spcPct val="98000"/>
              </a:lnSpc>
              <a:buNone/>
            </a:pPr>
            <a:r>
              <a:rPr lang="en-US" sz="1350" b="1" dirty="0">
                <a:solidFill>
                  <a:srgbClr val="1A1D23"/>
                </a:solidFill>
                <a:latin typeface="Calibri" pitchFamily="34" charset="0"/>
                <a:ea typeface="Calibri" pitchFamily="34" charset="-122"/>
                <a:cs typeface="Calibri" pitchFamily="34" charset="-120"/>
              </a:rPr>
              <a:t>The orchestration loop   </a:t>
            </a:r>
            <a:pPr indent="0" marL="0">
              <a:lnSpc>
                <a:spcPct val="98000"/>
              </a:lnSpc>
              <a:buNone/>
            </a:pPr>
            <a:r>
              <a:rPr lang="en-US" sz="1350" dirty="0">
                <a:solidFill>
                  <a:srgbClr val="6A7280"/>
                </a:solidFill>
                <a:latin typeface="Calibri" pitchFamily="34" charset="0"/>
                <a:ea typeface="Calibri" pitchFamily="34" charset="-122"/>
                <a:cs typeface="Calibri" pitchFamily="34" charset="-120"/>
              </a:rPr>
              <a:t>calls the model, runs the tool, feeds the result, repeats</a:t>
            </a:r>
            <a:endParaRPr lang="en-US" sz="1350" dirty="0"/>
          </a:p>
        </p:txBody>
      </p:sp>
      <p:sp>
        <p:nvSpPr>
          <p:cNvPr id="24" name="Shape 18"/>
          <p:cNvSpPr/>
          <p:nvPr/>
        </p:nvSpPr>
        <p:spPr>
          <a:xfrm>
            <a:off x="6309360" y="3520440"/>
            <a:ext cx="475488" cy="475488"/>
          </a:xfrm>
          <a:prstGeom prst="ellipse">
            <a:avLst/>
          </a:prstGeom>
          <a:solidFill>
            <a:srgbClr val="ECEEF1"/>
          </a:solidFill>
          <a:ln/>
        </p:spPr>
      </p:sp>
      <p:pic>
        <p:nvPicPr>
          <p:cNvPr id="25" name="Image 4" descr="preencoded.png">    </p:cNvPr>
          <p:cNvPicPr>
            <a:picLocks noChangeAspect="1"/>
          </p:cNvPicPr>
          <p:nvPr/>
        </p:nvPicPr>
        <p:blipFill>
          <a:blip r:embed="rId5"/>
          <a:stretch>
            <a:fillRect/>
          </a:stretch>
        </p:blipFill>
        <p:spPr>
          <a:xfrm>
            <a:off x="6399703" y="3610783"/>
            <a:ext cx="294803" cy="294803"/>
          </a:xfrm>
          <a:prstGeom prst="rect">
            <a:avLst/>
          </a:prstGeom>
        </p:spPr>
      </p:pic>
      <p:sp>
        <p:nvSpPr>
          <p:cNvPr id="26" name="Text 19"/>
          <p:cNvSpPr/>
          <p:nvPr/>
        </p:nvSpPr>
        <p:spPr>
          <a:xfrm>
            <a:off x="6903720" y="3502152"/>
            <a:ext cx="4327855" cy="512064"/>
          </a:xfrm>
          <a:prstGeom prst="rect">
            <a:avLst/>
          </a:prstGeom>
          <a:noFill/>
          <a:ln/>
        </p:spPr>
        <p:txBody>
          <a:bodyPr wrap="square" lIns="0" tIns="0" rIns="0" bIns="0" rtlCol="0" anchor="ctr"/>
          <a:lstStyle/>
          <a:p>
            <a:pPr indent="0" marL="0">
              <a:lnSpc>
                <a:spcPct val="98000"/>
              </a:lnSpc>
              <a:buNone/>
            </a:pPr>
            <a:r>
              <a:rPr lang="en-US" sz="1350" b="1" dirty="0">
                <a:solidFill>
                  <a:srgbClr val="1A1D23"/>
                </a:solidFill>
                <a:latin typeface="Calibri" pitchFamily="34" charset="0"/>
                <a:ea typeface="Calibri" pitchFamily="34" charset="-122"/>
                <a:cs typeface="Calibri" pitchFamily="34" charset="-120"/>
              </a:rPr>
              <a:t>Retries and back-off   </a:t>
            </a:r>
            <a:pPr indent="0" marL="0">
              <a:lnSpc>
                <a:spcPct val="98000"/>
              </a:lnSpc>
              <a:buNone/>
            </a:pPr>
            <a:r>
              <a:rPr lang="en-US" sz="1350" dirty="0">
                <a:solidFill>
                  <a:srgbClr val="6A7280"/>
                </a:solidFill>
                <a:latin typeface="Calibri" pitchFamily="34" charset="0"/>
                <a:ea typeface="Calibri" pitchFamily="34" charset="-122"/>
                <a:cs typeface="Calibri" pitchFamily="34" charset="-120"/>
              </a:rPr>
              <a:t>throttles and transient errors handled for you</a:t>
            </a:r>
            <a:endParaRPr lang="en-US" sz="1350" dirty="0"/>
          </a:p>
        </p:txBody>
      </p:sp>
      <p:sp>
        <p:nvSpPr>
          <p:cNvPr id="27" name="Shape 20"/>
          <p:cNvSpPr/>
          <p:nvPr/>
        </p:nvSpPr>
        <p:spPr>
          <a:xfrm>
            <a:off x="6309360" y="4233672"/>
            <a:ext cx="475488" cy="475488"/>
          </a:xfrm>
          <a:prstGeom prst="ellipse">
            <a:avLst/>
          </a:prstGeom>
          <a:solidFill>
            <a:srgbClr val="ECEEF1"/>
          </a:solidFill>
          <a:ln/>
        </p:spPr>
      </p:sp>
      <p:pic>
        <p:nvPicPr>
          <p:cNvPr id="28" name="Image 5" descr="preencoded.png">    </p:cNvPr>
          <p:cNvPicPr>
            <a:picLocks noChangeAspect="1"/>
          </p:cNvPicPr>
          <p:nvPr/>
        </p:nvPicPr>
        <p:blipFill>
          <a:blip r:embed="rId6"/>
          <a:stretch>
            <a:fillRect/>
          </a:stretch>
        </p:blipFill>
        <p:spPr>
          <a:xfrm>
            <a:off x="6399703" y="4324015"/>
            <a:ext cx="294803" cy="294803"/>
          </a:xfrm>
          <a:prstGeom prst="rect">
            <a:avLst/>
          </a:prstGeom>
        </p:spPr>
      </p:pic>
      <p:sp>
        <p:nvSpPr>
          <p:cNvPr id="29" name="Text 21"/>
          <p:cNvSpPr/>
          <p:nvPr/>
        </p:nvSpPr>
        <p:spPr>
          <a:xfrm>
            <a:off x="6903720" y="4215384"/>
            <a:ext cx="4327855" cy="512064"/>
          </a:xfrm>
          <a:prstGeom prst="rect">
            <a:avLst/>
          </a:prstGeom>
          <a:noFill/>
          <a:ln/>
        </p:spPr>
        <p:txBody>
          <a:bodyPr wrap="square" lIns="0" tIns="0" rIns="0" bIns="0" rtlCol="0" anchor="ctr"/>
          <a:lstStyle/>
          <a:p>
            <a:pPr indent="0" marL="0">
              <a:lnSpc>
                <a:spcPct val="98000"/>
              </a:lnSpc>
              <a:buNone/>
            </a:pPr>
            <a:r>
              <a:rPr lang="en-US" sz="1350" b="1" dirty="0">
                <a:solidFill>
                  <a:srgbClr val="1A1D23"/>
                </a:solidFill>
                <a:latin typeface="Calibri" pitchFamily="34" charset="0"/>
                <a:ea typeface="Calibri" pitchFamily="34" charset="-122"/>
                <a:cs typeface="Calibri" pitchFamily="34" charset="-120"/>
              </a:rPr>
              <a:t>Tracing   </a:t>
            </a:r>
            <a:pPr indent="0" marL="0">
              <a:lnSpc>
                <a:spcPct val="98000"/>
              </a:lnSpc>
              <a:buNone/>
            </a:pPr>
            <a:r>
              <a:rPr lang="en-US" sz="1350" dirty="0">
                <a:solidFill>
                  <a:srgbClr val="6A7280"/>
                </a:solidFill>
                <a:latin typeface="Calibri" pitchFamily="34" charset="0"/>
                <a:ea typeface="Calibri" pitchFamily="34" charset="-122"/>
                <a:cs typeface="Calibri" pitchFamily="34" charset="-120"/>
              </a:rPr>
              <a:t>every step the agent took, on demand</a:t>
            </a:r>
            <a:endParaRPr lang="en-US" sz="1350" dirty="0"/>
          </a:p>
        </p:txBody>
      </p:sp>
      <p:sp>
        <p:nvSpPr>
          <p:cNvPr id="30" name="Shape 22"/>
          <p:cNvSpPr/>
          <p:nvPr/>
        </p:nvSpPr>
        <p:spPr>
          <a:xfrm>
            <a:off x="6309360" y="4946904"/>
            <a:ext cx="475488" cy="475488"/>
          </a:xfrm>
          <a:prstGeom prst="ellipse">
            <a:avLst/>
          </a:prstGeom>
          <a:solidFill>
            <a:srgbClr val="ECEEF1"/>
          </a:solidFill>
          <a:ln/>
        </p:spPr>
      </p:sp>
      <p:pic>
        <p:nvPicPr>
          <p:cNvPr id="31" name="Image 6" descr="preencoded.png">    </p:cNvPr>
          <p:cNvPicPr>
            <a:picLocks noChangeAspect="1"/>
          </p:cNvPicPr>
          <p:nvPr/>
        </p:nvPicPr>
        <p:blipFill>
          <a:blip r:embed="rId7"/>
          <a:stretch>
            <a:fillRect/>
          </a:stretch>
        </p:blipFill>
        <p:spPr>
          <a:xfrm>
            <a:off x="6399703" y="5037247"/>
            <a:ext cx="294803" cy="294803"/>
          </a:xfrm>
          <a:prstGeom prst="rect">
            <a:avLst/>
          </a:prstGeom>
        </p:spPr>
      </p:pic>
      <p:sp>
        <p:nvSpPr>
          <p:cNvPr id="32" name="Text 23"/>
          <p:cNvSpPr/>
          <p:nvPr/>
        </p:nvSpPr>
        <p:spPr>
          <a:xfrm>
            <a:off x="6903720" y="4928616"/>
            <a:ext cx="4327855" cy="512064"/>
          </a:xfrm>
          <a:prstGeom prst="rect">
            <a:avLst/>
          </a:prstGeom>
          <a:noFill/>
          <a:ln/>
        </p:spPr>
        <p:txBody>
          <a:bodyPr wrap="square" lIns="0" tIns="0" rIns="0" bIns="0" rtlCol="0" anchor="ctr"/>
          <a:lstStyle/>
          <a:p>
            <a:pPr indent="0" marL="0">
              <a:lnSpc>
                <a:spcPct val="98000"/>
              </a:lnSpc>
              <a:buNone/>
            </a:pPr>
            <a:r>
              <a:rPr lang="en-US" sz="1350" b="1" dirty="0">
                <a:solidFill>
                  <a:srgbClr val="1A1D23"/>
                </a:solidFill>
                <a:latin typeface="Calibri" pitchFamily="34" charset="0"/>
                <a:ea typeface="Calibri" pitchFamily="34" charset="-122"/>
                <a:cs typeface="Calibri" pitchFamily="34" charset="-120"/>
              </a:rPr>
              <a:t>Scaling and plumbing   </a:t>
            </a:r>
            <a:pPr indent="0" marL="0">
              <a:lnSpc>
                <a:spcPct val="98000"/>
              </a:lnSpc>
              <a:buNone/>
            </a:pPr>
            <a:r>
              <a:rPr lang="en-US" sz="1350" dirty="0">
                <a:solidFill>
                  <a:srgbClr val="6A7280"/>
                </a:solidFill>
                <a:latin typeface="Calibri" pitchFamily="34" charset="0"/>
                <a:ea typeface="Calibri" pitchFamily="34" charset="-122"/>
                <a:cs typeface="Calibri" pitchFamily="34" charset="-120"/>
              </a:rPr>
              <a:t>no server, no queue, no runtime to maintain</a:t>
            </a:r>
            <a:endParaRPr lang="en-US" sz="1350" dirty="0"/>
          </a:p>
        </p:txBody>
      </p:sp>
      <p:sp>
        <p:nvSpPr>
          <p:cNvPr id="33" name="Text 24"/>
          <p:cNvSpPr/>
          <p:nvPr/>
        </p:nvSpPr>
        <p:spPr>
          <a:xfrm>
            <a:off x="594360" y="5989320"/>
            <a:ext cx="11002975" cy="365760"/>
          </a:xfrm>
          <a:prstGeom prst="rect">
            <a:avLst/>
          </a:prstGeom>
          <a:noFill/>
          <a:ln/>
        </p:spPr>
        <p:txBody>
          <a:bodyPr wrap="square" lIns="0" tIns="0" rIns="0" bIns="0" rtlCol="0" anchor="ctr"/>
          <a:lstStyle/>
          <a:p>
            <a:pPr algn="ctr" indent="0" marL="0">
              <a:buNone/>
            </a:pPr>
            <a:r>
              <a:rPr lang="en-US" sz="1400" b="1" dirty="0">
                <a:solidFill>
                  <a:srgbClr val="1A1D23"/>
                </a:solidFill>
                <a:latin typeface="Calibri" pitchFamily="34" charset="0"/>
                <a:ea typeface="Calibri" pitchFamily="34" charset="-122"/>
                <a:cs typeface="Calibri" pitchFamily="34" charset="-120"/>
              </a:rPr>
              <a:t>You stop maintaining </a:t>
            </a:r>
            <a:pPr algn="ctr" indent="0" marL="0">
              <a:buNone/>
            </a:pPr>
            <a:r>
              <a:rPr lang="en-US" sz="1400" b="1" dirty="0">
                <a:solidFill>
                  <a:srgbClr val="8A4E0C"/>
                </a:solidFill>
                <a:latin typeface="Courier New" pitchFamily="34" charset="0"/>
                <a:ea typeface="Courier New" pitchFamily="34" charset="-122"/>
                <a:cs typeface="Courier New" pitchFamily="34" charset="-120"/>
              </a:rPr>
              <a:t>run_agent</a:t>
            </a:r>
            <a:pPr algn="ctr" indent="0" marL="0">
              <a:buNone/>
            </a:pPr>
            <a:r>
              <a:rPr lang="en-US" sz="1400" b="1" dirty="0">
                <a:solidFill>
                  <a:srgbClr val="1A1D23"/>
                </a:solidFill>
                <a:latin typeface="Calibri" pitchFamily="34" charset="0"/>
                <a:ea typeface="Calibri" pitchFamily="34" charset="-122"/>
                <a:cs typeface="Calibri" pitchFamily="34" charset="-120"/>
              </a:rPr>
              <a:t>.  Same fundamentals you already know, someone else runs the plumbing.</a:t>
            </a:r>
            <a:endParaRPr lang="en-US" sz="1400" dirty="0"/>
          </a:p>
        </p:txBody>
      </p:sp>
      <p:sp>
        <p:nvSpPr>
          <p:cNvPr id="34" name="Text 25"/>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Managed orchestration</a:t>
            </a:r>
            <a:endParaRPr lang="en-US" sz="950" dirty="0"/>
          </a:p>
        </p:txBody>
      </p:sp>
      <p:sp>
        <p:nvSpPr>
          <p:cNvPr id="35" name="Text 26"/>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STRAIGHT TALK, BECAUSE IT CHANGES YOUR PRODUCTION CHOICE</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One honest warning before we build</a:t>
            </a:r>
            <a:endParaRPr lang="en-US" sz="3300" dirty="0"/>
          </a:p>
        </p:txBody>
      </p:sp>
      <p:sp>
        <p:nvSpPr>
          <p:cNvPr id="4" name="Shape 2"/>
          <p:cNvSpPr/>
          <p:nvPr/>
        </p:nvSpPr>
        <p:spPr>
          <a:xfrm>
            <a:off x="594360" y="1691640"/>
            <a:ext cx="11002975" cy="1143000"/>
          </a:xfrm>
          <a:prstGeom prst="roundRect">
            <a:avLst>
              <a:gd name="adj" fmla="val 6400"/>
            </a:avLst>
          </a:prstGeom>
          <a:solidFill>
            <a:srgbClr val="F5EAD8"/>
          </a:solidFill>
          <a:ln w="12700">
            <a:solidFill>
              <a:srgbClr val="E4C99A"/>
            </a:solidFill>
            <a:prstDash val="solid"/>
          </a:ln>
          <a:effectLst>
            <a:outerShdw sx="100000" sy="100000" kx="0" ky="0" algn="bl" rotWithShape="0" blurRad="114300" dist="38100" dir="5400000">
              <a:srgbClr val="000000">
                <a:alpha val="8000"/>
              </a:srgbClr>
            </a:outerShdw>
          </a:effectLst>
        </p:spPr>
      </p:sp>
      <p:sp>
        <p:nvSpPr>
          <p:cNvPr id="5" name="Shape 3"/>
          <p:cNvSpPr/>
          <p:nvPr/>
        </p:nvSpPr>
        <p:spPr>
          <a:xfrm>
            <a:off x="914400" y="1975104"/>
            <a:ext cx="566928" cy="566928"/>
          </a:xfrm>
          <a:prstGeom prst="ellipse">
            <a:avLst/>
          </a:prstGeom>
          <a:solidFill>
            <a:srgbClr val="F0DDBA"/>
          </a:solidFill>
          <a:ln/>
        </p:spPr>
      </p:sp>
      <p:pic>
        <p:nvPicPr>
          <p:cNvPr id="6" name="Image 0" descr="preencoded.png">    </p:cNvPr>
          <p:cNvPicPr>
            <a:picLocks noChangeAspect="1"/>
          </p:cNvPicPr>
          <p:nvPr/>
        </p:nvPicPr>
        <p:blipFill>
          <a:blip r:embed="rId1"/>
          <a:stretch>
            <a:fillRect/>
          </a:stretch>
        </p:blipFill>
        <p:spPr>
          <a:xfrm>
            <a:off x="1022116" y="2082820"/>
            <a:ext cx="351495" cy="351495"/>
          </a:xfrm>
          <a:prstGeom prst="rect">
            <a:avLst/>
          </a:prstGeom>
        </p:spPr>
      </p:pic>
      <p:sp>
        <p:nvSpPr>
          <p:cNvPr id="7" name="Text 4"/>
          <p:cNvSpPr/>
          <p:nvPr/>
        </p:nvSpPr>
        <p:spPr>
          <a:xfrm>
            <a:off x="1645920" y="1691640"/>
            <a:ext cx="9631375" cy="1143000"/>
          </a:xfrm>
          <a:prstGeom prst="rect">
            <a:avLst/>
          </a:prstGeom>
          <a:noFill/>
          <a:ln/>
        </p:spPr>
        <p:txBody>
          <a:bodyPr wrap="square" lIns="0" tIns="0" rIns="0" bIns="0" rtlCol="0" anchor="ctr"/>
          <a:lstStyle/>
          <a:p>
            <a:pPr indent="0" marL="0">
              <a:lnSpc>
                <a:spcPct val="105000"/>
              </a:lnSpc>
              <a:buNone/>
            </a:pPr>
            <a:r>
              <a:rPr lang="en-US" sz="1650" dirty="0">
                <a:solidFill>
                  <a:srgbClr val="5C4415"/>
                </a:solidFill>
                <a:latin typeface="Calibri" pitchFamily="34" charset="0"/>
                <a:ea typeface="Calibri" pitchFamily="34" charset="-122"/>
                <a:cs typeface="Calibri" pitchFamily="34" charset="-120"/>
              </a:rPr>
              <a:t>The service behind Agent Builder is </a:t>
            </a:r>
            <a:pPr indent="0" marL="0">
              <a:lnSpc>
                <a:spcPct val="105000"/>
              </a:lnSpc>
              <a:buNone/>
            </a:pPr>
            <a:r>
              <a:rPr lang="en-US" sz="1650" b="1" dirty="0">
                <a:solidFill>
                  <a:srgbClr val="8A4E0C"/>
                </a:solidFill>
                <a:latin typeface="Calibri" pitchFamily="34" charset="0"/>
                <a:ea typeface="Calibri" pitchFamily="34" charset="-122"/>
                <a:cs typeface="Calibri" pitchFamily="34" charset="-120"/>
              </a:rPr>
              <a:t>Amazon Bedrock Agents Classic</a:t>
            </a:r>
            <a:pPr indent="0" marL="0">
              <a:lnSpc>
                <a:spcPct val="105000"/>
              </a:lnSpc>
              <a:buNone/>
            </a:pPr>
            <a:r>
              <a:rPr lang="en-US" sz="1650" dirty="0">
                <a:solidFill>
                  <a:srgbClr val="5C4415"/>
                </a:solidFill>
                <a:latin typeface="Calibri" pitchFamily="34" charset="0"/>
                <a:ea typeface="Calibri" pitchFamily="34" charset="-122"/>
                <a:cs typeface="Calibri" pitchFamily="34" charset="-120"/>
              </a:rPr>
              <a:t>.  It closes to </a:t>
            </a:r>
            <a:pPr indent="0" marL="0">
              <a:lnSpc>
                <a:spcPct val="105000"/>
              </a:lnSpc>
              <a:buNone/>
            </a:pPr>
            <a:r>
              <a:rPr lang="en-US" sz="1650" b="1" dirty="0">
                <a:solidFill>
                  <a:srgbClr val="8A4E0C"/>
                </a:solidFill>
                <a:latin typeface="Calibri" pitchFamily="34" charset="0"/>
                <a:ea typeface="Calibri" pitchFamily="34" charset="-122"/>
                <a:cs typeface="Calibri" pitchFamily="34" charset="-120"/>
              </a:rPr>
              <a:t>new customers on July 30, 2026</a:t>
            </a:r>
            <a:pPr indent="0" marL="0">
              <a:lnSpc>
                <a:spcPct val="105000"/>
              </a:lnSpc>
              <a:buNone/>
            </a:pPr>
            <a:r>
              <a:rPr lang="en-US" sz="1650" dirty="0">
                <a:solidFill>
                  <a:srgbClr val="5C4415"/>
                </a:solidFill>
                <a:latin typeface="Calibri" pitchFamily="34" charset="0"/>
                <a:ea typeface="Calibri" pitchFamily="34" charset="-122"/>
                <a:cs typeface="Calibri" pitchFamily="34" charset="-120"/>
              </a:rPr>
              <a:t>.  Existing accounts keep working.</a:t>
            </a:r>
            <a:endParaRPr lang="en-US" sz="1650" dirty="0"/>
          </a:p>
        </p:txBody>
      </p:sp>
      <p:sp>
        <p:nvSpPr>
          <p:cNvPr id="8" name="Shape 5"/>
          <p:cNvSpPr/>
          <p:nvPr/>
        </p:nvSpPr>
        <p:spPr>
          <a:xfrm>
            <a:off x="594360" y="3108960"/>
            <a:ext cx="5318608" cy="2331720"/>
          </a:xfrm>
          <a:prstGeom prst="roundRect">
            <a:avLst>
              <a:gd name="adj" fmla="val 3529"/>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9" name="Shape 6"/>
          <p:cNvSpPr/>
          <p:nvPr/>
        </p:nvSpPr>
        <p:spPr>
          <a:xfrm>
            <a:off x="914400" y="3383280"/>
            <a:ext cx="548640" cy="548640"/>
          </a:xfrm>
          <a:prstGeom prst="ellipse">
            <a:avLst/>
          </a:prstGeom>
          <a:solidFill>
            <a:srgbClr val="F5EAD8"/>
          </a:solidFill>
          <a:ln/>
        </p:spPr>
      </p:sp>
      <p:pic>
        <p:nvPicPr>
          <p:cNvPr id="10" name="Image 1" descr="preencoded.png">    </p:cNvPr>
          <p:cNvPicPr>
            <a:picLocks noChangeAspect="1"/>
          </p:cNvPicPr>
          <p:nvPr/>
        </p:nvPicPr>
        <p:blipFill>
          <a:blip r:embed="rId2"/>
          <a:stretch>
            <a:fillRect/>
          </a:stretch>
        </p:blipFill>
        <p:spPr>
          <a:xfrm>
            <a:off x="1018642" y="3487522"/>
            <a:ext cx="340157" cy="340157"/>
          </a:xfrm>
          <a:prstGeom prst="rect">
            <a:avLst/>
          </a:prstGeom>
        </p:spPr>
      </p:pic>
      <p:sp>
        <p:nvSpPr>
          <p:cNvPr id="11" name="Text 7"/>
          <p:cNvSpPr/>
          <p:nvPr/>
        </p:nvSpPr>
        <p:spPr>
          <a:xfrm>
            <a:off x="1600200" y="3419856"/>
            <a:ext cx="4038448" cy="365760"/>
          </a:xfrm>
          <a:prstGeom prst="rect">
            <a:avLst/>
          </a:prstGeom>
          <a:noFill/>
          <a:ln/>
        </p:spPr>
        <p:txBody>
          <a:bodyPr wrap="square" lIns="0" tIns="0" rIns="0" bIns="0" rtlCol="0" anchor="ctr"/>
          <a:lstStyle/>
          <a:p>
            <a:pPr indent="0" marL="0">
              <a:buNone/>
            </a:pPr>
            <a:r>
              <a:rPr lang="en-US" sz="1800" b="1" dirty="0">
                <a:solidFill>
                  <a:srgbClr val="1A1D23"/>
                </a:solidFill>
                <a:latin typeface="Calibri" pitchFamily="34" charset="0"/>
                <a:ea typeface="Calibri" pitchFamily="34" charset="-122"/>
                <a:cs typeface="Calibri" pitchFamily="34" charset="-120"/>
              </a:rPr>
              <a:t>The successor</a:t>
            </a:r>
            <a:endParaRPr lang="en-US" sz="1800" dirty="0"/>
          </a:p>
        </p:txBody>
      </p:sp>
      <p:sp>
        <p:nvSpPr>
          <p:cNvPr id="12" name="Text 8"/>
          <p:cNvSpPr/>
          <p:nvPr/>
        </p:nvSpPr>
        <p:spPr>
          <a:xfrm>
            <a:off x="914400" y="4069080"/>
            <a:ext cx="4678528" cy="1188720"/>
          </a:xfrm>
          <a:prstGeom prst="rect">
            <a:avLst/>
          </a:prstGeom>
          <a:noFill/>
          <a:ln/>
        </p:spPr>
        <p:txBody>
          <a:bodyPr wrap="square" lIns="0" tIns="0" rIns="0" bIns="0" rtlCol="0" anchor="ctr"/>
          <a:lstStyle/>
          <a:p>
            <a:pPr indent="0" marL="0">
              <a:lnSpc>
                <a:spcPct val="108000"/>
              </a:lnSpc>
              <a:buNone/>
            </a:pPr>
            <a:r>
              <a:rPr lang="en-US" sz="1450" b="1" dirty="0">
                <a:solidFill>
                  <a:srgbClr val="8A4E0C"/>
                </a:solidFill>
                <a:latin typeface="Calibri" pitchFamily="34" charset="0"/>
                <a:ea typeface="Calibri" pitchFamily="34" charset="-122"/>
                <a:cs typeface="Calibri" pitchFamily="34" charset="-120"/>
              </a:rPr>
              <a:t>Amazon Bedrock AgentCore</a:t>
            </a:r>
            <a:pPr indent="0" marL="0">
              <a:lnSpc>
                <a:spcPct val="108000"/>
              </a:lnSpc>
              <a:buNone/>
            </a:pPr>
            <a:r>
              <a:rPr lang="en-US" sz="1450" dirty="0">
                <a:solidFill>
                  <a:srgbClr val="6A7280"/>
                </a:solidFill>
                <a:latin typeface="Calibri" pitchFamily="34" charset="0"/>
                <a:ea typeface="Calibri" pitchFamily="34" charset="-122"/>
                <a:cs typeface="Calibri" pitchFamily="34" charset="-120"/>
              </a:rPr>
              <a:t> runs agents built in any framework, including the </a:t>
            </a:r>
            <a:pPr indent="0" marL="0">
              <a:lnSpc>
                <a:spcPct val="108000"/>
              </a:lnSpc>
              <a:buNone/>
            </a:pPr>
            <a:r>
              <a:rPr lang="en-US" sz="1450" b="1" dirty="0">
                <a:solidFill>
                  <a:srgbClr val="1A1D23"/>
                </a:solidFill>
                <a:latin typeface="Calibri" pitchFamily="34" charset="0"/>
                <a:ea typeface="Calibri" pitchFamily="34" charset="-122"/>
                <a:cs typeface="Calibri" pitchFamily="34" charset="-120"/>
              </a:rPr>
              <a:t>Strands agents you already wrote</a:t>
            </a:r>
            <a:pPr indent="0" marL="0">
              <a:lnSpc>
                <a:spcPct val="108000"/>
              </a:lnSpc>
              <a:buNone/>
            </a:pPr>
            <a:r>
              <a:rPr lang="en-US" sz="1450" dirty="0">
                <a:solidFill>
                  <a:srgbClr val="6A7280"/>
                </a:solidFill>
                <a:latin typeface="Calibri" pitchFamily="34" charset="0"/>
                <a:ea typeface="Calibri" pitchFamily="34" charset="-122"/>
                <a:cs typeface="Calibri" pitchFamily="34" charset="-120"/>
              </a:rPr>
              <a:t>. It is where you take these to production.</a:t>
            </a:r>
            <a:endParaRPr lang="en-US" sz="1450" dirty="0"/>
          </a:p>
        </p:txBody>
      </p:sp>
      <p:sp>
        <p:nvSpPr>
          <p:cNvPr id="13" name="Shape 9"/>
          <p:cNvSpPr/>
          <p:nvPr/>
        </p:nvSpPr>
        <p:spPr>
          <a:xfrm>
            <a:off x="6278728" y="3108960"/>
            <a:ext cx="5318608" cy="2331720"/>
          </a:xfrm>
          <a:prstGeom prst="roundRect">
            <a:avLst>
              <a:gd name="adj" fmla="val 3529"/>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14" name="Shape 10"/>
          <p:cNvSpPr/>
          <p:nvPr/>
        </p:nvSpPr>
        <p:spPr>
          <a:xfrm>
            <a:off x="6598768" y="3383280"/>
            <a:ext cx="548640" cy="548640"/>
          </a:xfrm>
          <a:prstGeom prst="ellipse">
            <a:avLst/>
          </a:prstGeom>
          <a:solidFill>
            <a:srgbClr val="F5EAD8"/>
          </a:solidFill>
          <a:ln/>
        </p:spPr>
      </p:sp>
      <p:pic>
        <p:nvPicPr>
          <p:cNvPr id="15" name="Image 2" descr="preencoded.png">    </p:cNvPr>
          <p:cNvPicPr>
            <a:picLocks noChangeAspect="1"/>
          </p:cNvPicPr>
          <p:nvPr/>
        </p:nvPicPr>
        <p:blipFill>
          <a:blip r:embed="rId3"/>
          <a:stretch>
            <a:fillRect/>
          </a:stretch>
        </p:blipFill>
        <p:spPr>
          <a:xfrm>
            <a:off x="6703009" y="3487522"/>
            <a:ext cx="340157" cy="340157"/>
          </a:xfrm>
          <a:prstGeom prst="rect">
            <a:avLst/>
          </a:prstGeom>
        </p:spPr>
      </p:pic>
      <p:sp>
        <p:nvSpPr>
          <p:cNvPr id="16" name="Text 11"/>
          <p:cNvSpPr/>
          <p:nvPr/>
        </p:nvSpPr>
        <p:spPr>
          <a:xfrm>
            <a:off x="7284568" y="3419856"/>
            <a:ext cx="4038448" cy="365760"/>
          </a:xfrm>
          <a:prstGeom prst="rect">
            <a:avLst/>
          </a:prstGeom>
          <a:noFill/>
          <a:ln/>
        </p:spPr>
        <p:txBody>
          <a:bodyPr wrap="square" lIns="0" tIns="0" rIns="0" bIns="0" rtlCol="0" anchor="ctr"/>
          <a:lstStyle/>
          <a:p>
            <a:pPr indent="0" marL="0">
              <a:buNone/>
            </a:pPr>
            <a:r>
              <a:rPr lang="en-US" sz="1800" b="1" dirty="0">
                <a:solidFill>
                  <a:srgbClr val="1A1D23"/>
                </a:solidFill>
                <a:latin typeface="Calibri" pitchFamily="34" charset="0"/>
                <a:ea typeface="Calibri" pitchFamily="34" charset="-122"/>
                <a:cs typeface="Calibri" pitchFamily="34" charset="-120"/>
              </a:rPr>
              <a:t>So why learn it today</a:t>
            </a:r>
            <a:endParaRPr lang="en-US" sz="1800" dirty="0"/>
          </a:p>
        </p:txBody>
      </p:sp>
      <p:sp>
        <p:nvSpPr>
          <p:cNvPr id="17" name="Text 12"/>
          <p:cNvSpPr/>
          <p:nvPr/>
        </p:nvSpPr>
        <p:spPr>
          <a:xfrm>
            <a:off x="6598768" y="4069080"/>
            <a:ext cx="4678528" cy="1188720"/>
          </a:xfrm>
          <a:prstGeom prst="rect">
            <a:avLst/>
          </a:prstGeom>
          <a:noFill/>
          <a:ln/>
        </p:spPr>
        <p:txBody>
          <a:bodyPr wrap="square" lIns="0" tIns="0" rIns="0" bIns="0" rtlCol="0" anchor="ctr"/>
          <a:lstStyle/>
          <a:p>
            <a:pPr indent="0" marL="0">
              <a:lnSpc>
                <a:spcPct val="108000"/>
              </a:lnSpc>
              <a:buNone/>
            </a:pPr>
            <a:r>
              <a:rPr lang="en-US" sz="1450" dirty="0">
                <a:solidFill>
                  <a:srgbClr val="6A7280"/>
                </a:solidFill>
                <a:latin typeface="Calibri" pitchFamily="34" charset="0"/>
                <a:ea typeface="Calibri" pitchFamily="34" charset="-122"/>
                <a:cs typeface="Calibri" pitchFamily="34" charset="-120"/>
              </a:rPr>
              <a:t>The concepts are the concepts. </a:t>
            </a:r>
            <a:pPr indent="0" marL="0">
              <a:lnSpc>
                <a:spcPct val="108000"/>
              </a:lnSpc>
              <a:buNone/>
            </a:pPr>
            <a:r>
              <a:rPr lang="en-US" sz="1450" b="1" dirty="0">
                <a:solidFill>
                  <a:srgbClr val="1A1D23"/>
                </a:solidFill>
                <a:latin typeface="Calibri" pitchFamily="34" charset="0"/>
                <a:ea typeface="Calibri" pitchFamily="34" charset="-122"/>
                <a:cs typeface="Calibri" pitchFamily="34" charset="-120"/>
              </a:rPr>
              <a:t>Action groups, tool schemas, aliases, permissions</a:t>
            </a:r>
            <a:pPr indent="0" marL="0">
              <a:lnSpc>
                <a:spcPct val="108000"/>
              </a:lnSpc>
              <a:buNone/>
            </a:pPr>
            <a:r>
              <a:rPr lang="en-US" sz="1450" dirty="0">
                <a:solidFill>
                  <a:srgbClr val="6A7280"/>
                </a:solidFill>
                <a:latin typeface="Calibri" pitchFamily="34" charset="0"/>
                <a:ea typeface="Calibri" pitchFamily="34" charset="-122"/>
                <a:cs typeface="Calibri" pitchFamily="34" charset="-120"/>
              </a:rPr>
              <a:t> transfer straight to AgentCore and to every managed agent platform.</a:t>
            </a:r>
            <a:endParaRPr lang="en-US" sz="1450" dirty="0"/>
          </a:p>
        </p:txBody>
      </p:sp>
      <p:sp>
        <p:nvSpPr>
          <p:cNvPr id="18" name="Text 13"/>
          <p:cNvSpPr/>
          <p:nvPr/>
        </p:nvSpPr>
        <p:spPr>
          <a:xfrm>
            <a:off x="594360" y="5943600"/>
            <a:ext cx="11002975" cy="411480"/>
          </a:xfrm>
          <a:prstGeom prst="rect">
            <a:avLst/>
          </a:prstGeom>
          <a:noFill/>
          <a:ln/>
        </p:spPr>
        <p:txBody>
          <a:bodyPr wrap="square" lIns="0" tIns="0" rIns="0" bIns="0" rtlCol="0" anchor="ctr"/>
          <a:lstStyle/>
          <a:p>
            <a:pPr algn="ctr" indent="0" marL="0">
              <a:buNone/>
            </a:pPr>
            <a:r>
              <a:rPr lang="en-US" sz="1800" b="1" i="1" dirty="0">
                <a:solidFill>
                  <a:srgbClr val="BE7017"/>
                </a:solidFill>
                <a:latin typeface="Cambria" pitchFamily="34" charset="0"/>
                <a:ea typeface="Cambria" pitchFamily="34" charset="-122"/>
                <a:cs typeface="Cambria" pitchFamily="34" charset="-120"/>
              </a:rPr>
              <a:t>Learn the shape here.  </a:t>
            </a:r>
            <a:pPr algn="ctr" indent="0" marL="0">
              <a:buNone/>
            </a:pPr>
            <a:r>
              <a:rPr lang="en-US" sz="1800" b="1" i="1" dirty="0">
                <a:solidFill>
                  <a:srgbClr val="1A1D23"/>
                </a:solidFill>
                <a:latin typeface="Cambria" pitchFamily="34" charset="0"/>
                <a:ea typeface="Cambria" pitchFamily="34" charset="-122"/>
                <a:cs typeface="Cambria" pitchFamily="34" charset="-120"/>
              </a:rPr>
              <a:t>Carry it everywhere.</a:t>
            </a:r>
            <a:endParaRPr lang="en-US" sz="1800" dirty="0"/>
          </a:p>
        </p:txBody>
      </p:sp>
      <p:sp>
        <p:nvSpPr>
          <p:cNvPr id="19" name="Text 14"/>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Classic vs AgentCore</a:t>
            </a:r>
            <a:endParaRPr lang="en-US" sz="950" dirty="0"/>
          </a:p>
        </p:txBody>
      </p:sp>
      <p:sp>
        <p:nvSpPr>
          <p:cNvPr id="20" name="Text 15"/>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THE INTUITION FOR THE ENTIRE DECK</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The mapping: your code becomes their console</a:t>
            </a:r>
            <a:endParaRPr lang="en-US" sz="3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11002975" cy="914400"/>
        </p:xfrm>
        <a:graphic>
          <a:graphicData uri="http://schemas.openxmlformats.org/drawingml/2006/table">
            <a:tbl>
              <a:tblPr/>
              <a:tblGrid>
                <a:gridCol w="4937760"/>
                <a:gridCol w="6065215"/>
              </a:tblGrid>
              <a:tr h="56692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YOUR HAND-BUILT AGENT</a:t>
                      </a:r>
                      <a:endParaRPr lang="en-US" sz="1300" dirty="0">
                        <a:latin typeface="Calibri" charset="0"/>
                        <a:ea typeface="Calibri" charset="0"/>
                        <a:cs typeface="Calibri" charset="0"/>
                      </a:endParaRPr>
                    </a:p>
                  </a:txBody>
                  <a:tcPr marL="201168" marR="201168"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14161C"/>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AGENT BUILDER EQUIVALENT</a:t>
                      </a:r>
                      <a:endParaRPr lang="en-US" sz="1300" dirty="0">
                        <a:latin typeface="Calibri" charset="0"/>
                        <a:ea typeface="Calibri" charset="0"/>
                        <a:cs typeface="Calibri" charset="0"/>
                      </a:endParaRPr>
                    </a:p>
                  </a:txBody>
                  <a:tcPr marL="201168" marR="201168"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14161C"/>
                    </a:solidFill>
                  </a:tcPr>
                </a:tc>
              </a:tr>
              <a:tr h="566928">
                <a:tc>
                  <a:txBody>
                    <a:bodyPr/>
                    <a:lstStyle/>
                    <a:p>
                      <a:pPr algn="l" indent="0" marL="0">
                        <a:buNone/>
                      </a:pPr>
                      <a:r>
                        <a:rPr lang="en-US" sz="1350" b="1" dirty="0">
                          <a:solidFill>
                            <a:srgbClr val="8A4E0C"/>
                          </a:solidFill>
                          <a:latin typeface="Courier New" pitchFamily="34" charset="0"/>
                          <a:ea typeface="Courier New" pitchFamily="34" charset="-122"/>
                          <a:cs typeface="Courier New" pitchFamily="34" charset="-120"/>
                        </a:rPr>
                        <a:t>MODEL_ID</a:t>
                      </a:r>
                      <a:endParaRPr lang="en-US" sz="1350" dirty="0">
                        <a:latin typeface="Courier New" charset="0"/>
                        <a:ea typeface="Courier New" charset="0"/>
                        <a:cs typeface="Courier New" charset="0"/>
                      </a:endParaRPr>
                    </a:p>
                  </a:txBody>
                  <a:tcPr marL="201168" marR="201168"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D23"/>
                          </a:solidFill>
                          <a:latin typeface="Calibri" pitchFamily="34" charset="0"/>
                          <a:ea typeface="Calibri" pitchFamily="34" charset="-122"/>
                          <a:cs typeface="Calibri" pitchFamily="34" charset="-120"/>
                        </a:rPr>
                        <a:t>the agent's foundation model</a:t>
                      </a:r>
                      <a:endParaRPr lang="en-US" sz="1400" dirty="0">
                        <a:latin typeface="Calibri" charset="0"/>
                        <a:ea typeface="Calibri" charset="0"/>
                        <a:cs typeface="Calibri" charset="0"/>
                      </a:endParaRPr>
                    </a:p>
                  </a:txBody>
                  <a:tcPr marL="201168" marR="201168"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FFFFF"/>
                    </a:solidFill>
                  </a:tcPr>
                </a:tc>
              </a:tr>
              <a:tr h="566928">
                <a:tc>
                  <a:txBody>
                    <a:bodyPr/>
                    <a:lstStyle/>
                    <a:p>
                      <a:pPr algn="l" indent="0" marL="0">
                        <a:buNone/>
                      </a:pPr>
                      <a:r>
                        <a:rPr lang="en-US" sz="1350" b="1" dirty="0">
                          <a:solidFill>
                            <a:srgbClr val="8A4E0C"/>
                          </a:solidFill>
                          <a:latin typeface="Courier New" pitchFamily="34" charset="0"/>
                          <a:ea typeface="Courier New" pitchFamily="34" charset="-122"/>
                          <a:cs typeface="Courier New" pitchFamily="34" charset="-120"/>
                        </a:rPr>
                        <a:t>your system prompt</a:t>
                      </a:r>
                      <a:endParaRPr lang="en-US" sz="1350" dirty="0">
                        <a:latin typeface="Courier New" charset="0"/>
                        <a:ea typeface="Courier New" charset="0"/>
                        <a:cs typeface="Courier New" charset="0"/>
                      </a:endParaRPr>
                    </a:p>
                  </a:txBody>
                  <a:tcPr marL="201168" marR="201168"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8F9FB"/>
                    </a:solidFill>
                  </a:tcPr>
                </a:tc>
                <a:tc>
                  <a:txBody>
                    <a:bodyPr/>
                    <a:lstStyle/>
                    <a:p>
                      <a:pPr algn="l" indent="0" marL="0">
                        <a:buNone/>
                      </a:pPr>
                      <a:r>
                        <a:rPr lang="en-US" sz="1400" dirty="0">
                          <a:solidFill>
                            <a:srgbClr val="1A1D23"/>
                          </a:solidFill>
                          <a:latin typeface="Calibri" pitchFamily="34" charset="0"/>
                          <a:ea typeface="Calibri" pitchFamily="34" charset="-122"/>
                          <a:cs typeface="Calibri" pitchFamily="34" charset="-120"/>
                        </a:rPr>
                        <a:t>the agent Instructions</a:t>
                      </a:r>
                      <a:endParaRPr lang="en-US" sz="1400" dirty="0">
                        <a:latin typeface="Calibri" charset="0"/>
                        <a:ea typeface="Calibri" charset="0"/>
                        <a:cs typeface="Calibri" charset="0"/>
                      </a:endParaRPr>
                    </a:p>
                  </a:txBody>
                  <a:tcPr marL="201168" marR="201168"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8F9FB"/>
                    </a:solidFill>
                  </a:tcPr>
                </a:tc>
              </a:tr>
              <a:tr h="566928">
                <a:tc>
                  <a:txBody>
                    <a:bodyPr/>
                    <a:lstStyle/>
                    <a:p>
                      <a:pPr algn="l" indent="0" marL="0">
                        <a:buNone/>
                      </a:pPr>
                      <a:r>
                        <a:rPr lang="en-US" sz="1350" b="1" dirty="0">
                          <a:solidFill>
                            <a:srgbClr val="8A4E0C"/>
                          </a:solidFill>
                          <a:latin typeface="Courier New" pitchFamily="34" charset="0"/>
                          <a:ea typeface="Courier New" pitchFamily="34" charset="-122"/>
                          <a:cs typeface="Courier New" pitchFamily="34" charset="-120"/>
                        </a:rPr>
                        <a:t>toolSpec  (name, schema)</a:t>
                      </a:r>
                      <a:endParaRPr lang="en-US" sz="1350" dirty="0">
                        <a:latin typeface="Courier New" charset="0"/>
                        <a:ea typeface="Courier New" charset="0"/>
                        <a:cs typeface="Courier New" charset="0"/>
                      </a:endParaRPr>
                    </a:p>
                  </a:txBody>
                  <a:tcPr marL="201168" marR="201168"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D23"/>
                          </a:solidFill>
                          <a:latin typeface="Calibri" pitchFamily="34" charset="0"/>
                          <a:ea typeface="Calibri" pitchFamily="34" charset="-122"/>
                          <a:cs typeface="Calibri" pitchFamily="34" charset="-120"/>
                        </a:rPr>
                        <a:t>an action group function definition</a:t>
                      </a:r>
                      <a:endParaRPr lang="en-US" sz="1400" dirty="0">
                        <a:latin typeface="Calibri" charset="0"/>
                        <a:ea typeface="Calibri" charset="0"/>
                        <a:cs typeface="Calibri" charset="0"/>
                      </a:endParaRPr>
                    </a:p>
                  </a:txBody>
                  <a:tcPr marL="201168" marR="201168"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FFFFF"/>
                    </a:solidFill>
                  </a:tcPr>
                </a:tc>
              </a:tr>
              <a:tr h="566928">
                <a:tc>
                  <a:txBody>
                    <a:bodyPr/>
                    <a:lstStyle/>
                    <a:p>
                      <a:pPr algn="l" indent="0" marL="0">
                        <a:buNone/>
                      </a:pPr>
                      <a:r>
                        <a:rPr lang="en-US" sz="1350" b="1" dirty="0">
                          <a:solidFill>
                            <a:srgbClr val="8A4E0C"/>
                          </a:solidFill>
                          <a:latin typeface="Courier New" pitchFamily="34" charset="0"/>
                          <a:ea typeface="Courier New" pitchFamily="34" charset="-122"/>
                          <a:cs typeface="Courier New" pitchFamily="34" charset="-120"/>
                        </a:rPr>
                        <a:t>dispatch  +  tool functions</a:t>
                      </a:r>
                      <a:endParaRPr lang="en-US" sz="1350" dirty="0">
                        <a:latin typeface="Courier New" charset="0"/>
                        <a:ea typeface="Courier New" charset="0"/>
                        <a:cs typeface="Courier New" charset="0"/>
                      </a:endParaRPr>
                    </a:p>
                  </a:txBody>
                  <a:tcPr marL="201168" marR="201168"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8F9FB"/>
                    </a:solidFill>
                  </a:tcPr>
                </a:tc>
                <a:tc>
                  <a:txBody>
                    <a:bodyPr/>
                    <a:lstStyle/>
                    <a:p>
                      <a:pPr algn="l" indent="0" marL="0">
                        <a:buNone/>
                      </a:pPr>
                      <a:r>
                        <a:rPr lang="en-US" sz="1400" dirty="0">
                          <a:solidFill>
                            <a:srgbClr val="1A1D23"/>
                          </a:solidFill>
                          <a:latin typeface="Calibri" pitchFamily="34" charset="0"/>
                          <a:ea typeface="Calibri" pitchFamily="34" charset="-122"/>
                          <a:cs typeface="Calibri" pitchFamily="34" charset="-120"/>
                        </a:rPr>
                        <a:t>a Lambda function</a:t>
                      </a:r>
                      <a:endParaRPr lang="en-US" sz="1400" dirty="0">
                        <a:latin typeface="Calibri" charset="0"/>
                        <a:ea typeface="Calibri" charset="0"/>
                        <a:cs typeface="Calibri" charset="0"/>
                      </a:endParaRPr>
                    </a:p>
                  </a:txBody>
                  <a:tcPr marL="201168" marR="201168"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8F9FB"/>
                    </a:solidFill>
                  </a:tcPr>
                </a:tc>
              </a:tr>
              <a:tr h="566928">
                <a:tc>
                  <a:txBody>
                    <a:bodyPr/>
                    <a:lstStyle/>
                    <a:p>
                      <a:pPr algn="l" indent="0" marL="0">
                        <a:buNone/>
                      </a:pPr>
                      <a:r>
                        <a:rPr lang="en-US" sz="1350" b="1" dirty="0">
                          <a:solidFill>
                            <a:srgbClr val="8A4E0C"/>
                          </a:solidFill>
                          <a:latin typeface="Courier New" pitchFamily="34" charset="0"/>
                          <a:ea typeface="Courier New" pitchFamily="34" charset="-122"/>
                          <a:cs typeface="Courier New" pitchFamily="34" charset="-120"/>
                        </a:rPr>
                        <a:t>the run_agent while-loop</a:t>
                      </a:r>
                      <a:endParaRPr lang="en-US" sz="1350" dirty="0">
                        <a:latin typeface="Courier New" charset="0"/>
                        <a:ea typeface="Courier New" charset="0"/>
                        <a:cs typeface="Courier New" charset="0"/>
                      </a:endParaRPr>
                    </a:p>
                  </a:txBody>
                  <a:tcPr marL="201168" marR="201168"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D23"/>
                          </a:solidFill>
                          <a:latin typeface="Calibri" pitchFamily="34" charset="0"/>
                          <a:ea typeface="Calibri" pitchFamily="34" charset="-122"/>
                          <a:cs typeface="Calibri" pitchFamily="34" charset="-120"/>
                        </a:rPr>
                        <a:t>managed orchestration, invisible to you</a:t>
                      </a:r>
                      <a:endParaRPr lang="en-US" sz="1400" dirty="0">
                        <a:latin typeface="Calibri" charset="0"/>
                        <a:ea typeface="Calibri" charset="0"/>
                        <a:cs typeface="Calibri" charset="0"/>
                      </a:endParaRPr>
                    </a:p>
                  </a:txBody>
                  <a:tcPr marL="201168" marR="201168"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FFFFF"/>
                    </a:solidFill>
                  </a:tcPr>
                </a:tc>
              </a:tr>
              <a:tr h="566928">
                <a:tc>
                  <a:txBody>
                    <a:bodyPr/>
                    <a:lstStyle/>
                    <a:p>
                      <a:pPr algn="l" indent="0" marL="0">
                        <a:buNone/>
                      </a:pPr>
                      <a:r>
                        <a:rPr lang="en-US" sz="1350" b="1" dirty="0">
                          <a:solidFill>
                            <a:srgbClr val="8A4E0C"/>
                          </a:solidFill>
                          <a:latin typeface="Courier New" pitchFamily="34" charset="0"/>
                          <a:ea typeface="Courier New" pitchFamily="34" charset="-122"/>
                          <a:cs typeface="Courier New" pitchFamily="34" charset="-120"/>
                        </a:rPr>
                        <a:t>temperature, guardrails, memory</a:t>
                      </a:r>
                      <a:endParaRPr lang="en-US" sz="1350" dirty="0">
                        <a:latin typeface="Courier New" charset="0"/>
                        <a:ea typeface="Courier New" charset="0"/>
                        <a:cs typeface="Courier New" charset="0"/>
                      </a:endParaRPr>
                    </a:p>
                  </a:txBody>
                  <a:tcPr marL="201168" marR="201168"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8F9FB"/>
                    </a:solidFill>
                  </a:tcPr>
                </a:tc>
                <a:tc>
                  <a:txBody>
                    <a:bodyPr/>
                    <a:lstStyle/>
                    <a:p>
                      <a:pPr algn="l" indent="0" marL="0">
                        <a:buNone/>
                      </a:pPr>
                      <a:r>
                        <a:rPr lang="en-US" sz="1400" dirty="0">
                          <a:solidFill>
                            <a:srgbClr val="1A1D23"/>
                          </a:solidFill>
                          <a:latin typeface="Calibri" pitchFamily="34" charset="0"/>
                          <a:ea typeface="Calibri" pitchFamily="34" charset="-122"/>
                          <a:cs typeface="Calibri" pitchFamily="34" charset="-120"/>
                        </a:rPr>
                        <a:t>agent settings and toggles</a:t>
                      </a:r>
                      <a:endParaRPr lang="en-US" sz="1400" dirty="0">
                        <a:latin typeface="Calibri" charset="0"/>
                        <a:ea typeface="Calibri" charset="0"/>
                        <a:cs typeface="Calibri" charset="0"/>
                      </a:endParaRPr>
                    </a:p>
                  </a:txBody>
                  <a:tcPr marL="201168" marR="201168"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8F9FB"/>
                    </a:solidFill>
                  </a:tcPr>
                </a:tc>
              </a:tr>
            </a:tbl>
          </a:graphicData>
        </a:graphic>
      </p:graphicFrame>
      <p:sp>
        <p:nvSpPr>
          <p:cNvPr id="5" name="Shape 2"/>
          <p:cNvSpPr/>
          <p:nvPr/>
        </p:nvSpPr>
        <p:spPr>
          <a:xfrm>
            <a:off x="594360" y="5943600"/>
            <a:ext cx="11002975" cy="502920"/>
          </a:xfrm>
          <a:prstGeom prst="roundRect">
            <a:avLst>
              <a:gd name="adj" fmla="val 12727"/>
            </a:avLst>
          </a:prstGeom>
          <a:solidFill>
            <a:srgbClr val="ECEEF1"/>
          </a:solidFill>
          <a:ln/>
        </p:spPr>
      </p:sp>
      <p:sp>
        <p:nvSpPr>
          <p:cNvPr id="6" name="Text 3"/>
          <p:cNvSpPr/>
          <p:nvPr/>
        </p:nvSpPr>
        <p:spPr>
          <a:xfrm>
            <a:off x="868680" y="5943600"/>
            <a:ext cx="10454335" cy="502920"/>
          </a:xfrm>
          <a:prstGeom prst="rect">
            <a:avLst/>
          </a:prstGeom>
          <a:noFill/>
          <a:ln/>
        </p:spPr>
        <p:txBody>
          <a:bodyPr wrap="square" lIns="0" tIns="0" rIns="0" bIns="0" rtlCol="0" anchor="ctr"/>
          <a:lstStyle/>
          <a:p>
            <a:pPr indent="0" marL="0">
              <a:buNone/>
            </a:pPr>
            <a:r>
              <a:rPr lang="en-US" sz="1400" b="1" dirty="0">
                <a:solidFill>
                  <a:srgbClr val="BE7017"/>
                </a:solidFill>
                <a:latin typeface="Calibri" pitchFamily="34" charset="0"/>
                <a:ea typeface="Calibri" pitchFamily="34" charset="-122"/>
                <a:cs typeface="Calibri" pitchFamily="34" charset="-120"/>
              </a:rPr>
              <a:t>Nothing new to learn.  </a:t>
            </a:r>
            <a:pPr indent="0" marL="0">
              <a:buNone/>
            </a:pPr>
            <a:r>
              <a:rPr lang="en-US" sz="1400" b="1" dirty="0">
                <a:solidFill>
                  <a:srgbClr val="1A1D23"/>
                </a:solidFill>
                <a:latin typeface="Calibri" pitchFamily="34" charset="0"/>
                <a:ea typeface="Calibri" pitchFamily="34" charset="-122"/>
                <a:cs typeface="Calibri" pitchFamily="34" charset="-120"/>
              </a:rPr>
              <a:t>The pieces just move from your file to a console form.</a:t>
            </a:r>
            <a:endParaRPr lang="en-US" sz="1400" dirty="0"/>
          </a:p>
        </p:txBody>
      </p:sp>
      <p:sp>
        <p:nvSpPr>
          <p:cNvPr id="7" name="Text 4"/>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Code to console</a:t>
            </a:r>
            <a:endParaRPr lang="en-US" sz="950" dirty="0"/>
          </a:p>
        </p:txBody>
      </p:sp>
      <p:sp>
        <p:nvSpPr>
          <p:cNvPr id="8" name="Text 5"/>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ANATOMY</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The four pieces of a Bedrock agent</a:t>
            </a:r>
            <a:endParaRPr lang="en-US" sz="3300" dirty="0"/>
          </a:p>
        </p:txBody>
      </p:sp>
      <p:sp>
        <p:nvSpPr>
          <p:cNvPr id="4" name="Shape 2"/>
          <p:cNvSpPr/>
          <p:nvPr/>
        </p:nvSpPr>
        <p:spPr>
          <a:xfrm>
            <a:off x="594360" y="2103120"/>
            <a:ext cx="2560320" cy="3200400"/>
          </a:xfrm>
          <a:prstGeom prst="roundRect">
            <a:avLst>
              <a:gd name="adj" fmla="val 3214"/>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5" name="Shape 3"/>
          <p:cNvSpPr/>
          <p:nvPr/>
        </p:nvSpPr>
        <p:spPr>
          <a:xfrm>
            <a:off x="1545336" y="2487168"/>
            <a:ext cx="658368" cy="658368"/>
          </a:xfrm>
          <a:prstGeom prst="ellipse">
            <a:avLst/>
          </a:prstGeom>
          <a:solidFill>
            <a:srgbClr val="F5EAD8"/>
          </a:solidFill>
          <a:ln/>
        </p:spPr>
      </p:sp>
      <p:pic>
        <p:nvPicPr>
          <p:cNvPr id="6" name="Image 0" descr="preencoded.png">    </p:cNvPr>
          <p:cNvPicPr>
            <a:picLocks noChangeAspect="1"/>
          </p:cNvPicPr>
          <p:nvPr/>
        </p:nvPicPr>
        <p:blipFill>
          <a:blip r:embed="rId1"/>
          <a:stretch>
            <a:fillRect/>
          </a:stretch>
        </p:blipFill>
        <p:spPr>
          <a:xfrm>
            <a:off x="1670426" y="2612258"/>
            <a:ext cx="408188" cy="408188"/>
          </a:xfrm>
          <a:prstGeom prst="rect">
            <a:avLst/>
          </a:prstGeom>
        </p:spPr>
      </p:pic>
      <p:sp>
        <p:nvSpPr>
          <p:cNvPr id="7" name="Text 4"/>
          <p:cNvSpPr/>
          <p:nvPr/>
        </p:nvSpPr>
        <p:spPr>
          <a:xfrm>
            <a:off x="795528" y="2304288"/>
            <a:ext cx="457200" cy="365760"/>
          </a:xfrm>
          <a:prstGeom prst="rect">
            <a:avLst/>
          </a:prstGeom>
          <a:noFill/>
          <a:ln/>
        </p:spPr>
        <p:txBody>
          <a:bodyPr wrap="square" lIns="0" tIns="0" rIns="0" bIns="0" rtlCol="0" anchor="ctr"/>
          <a:lstStyle/>
          <a:p>
            <a:pPr indent="0" marL="0">
              <a:buNone/>
            </a:pPr>
            <a:r>
              <a:rPr lang="en-US" sz="2000" b="1" dirty="0">
                <a:solidFill>
                  <a:srgbClr val="E0C9A6"/>
                </a:solidFill>
                <a:latin typeface="Cambria" pitchFamily="34" charset="0"/>
                <a:ea typeface="Cambria" pitchFamily="34" charset="-122"/>
                <a:cs typeface="Cambria" pitchFamily="34" charset="-120"/>
              </a:rPr>
              <a:t>1</a:t>
            </a:r>
            <a:endParaRPr lang="en-US" sz="2000" dirty="0"/>
          </a:p>
        </p:txBody>
      </p:sp>
      <p:sp>
        <p:nvSpPr>
          <p:cNvPr id="8" name="Text 5"/>
          <p:cNvSpPr/>
          <p:nvPr/>
        </p:nvSpPr>
        <p:spPr>
          <a:xfrm>
            <a:off x="777240" y="3429000"/>
            <a:ext cx="2194560" cy="640080"/>
          </a:xfrm>
          <a:prstGeom prst="rect">
            <a:avLst/>
          </a:prstGeom>
          <a:noFill/>
          <a:ln/>
        </p:spPr>
        <p:txBody>
          <a:bodyPr wrap="square" lIns="0" tIns="0" rIns="0" bIns="0" rtlCol="0" anchor="ctr"/>
          <a:lstStyle/>
          <a:p>
            <a:pPr algn="ctr" indent="0" marL="0">
              <a:lnSpc>
                <a:spcPct val="95000"/>
              </a:lnSpc>
              <a:buNone/>
            </a:pPr>
            <a:r>
              <a:rPr lang="en-US" sz="1700" b="1" dirty="0">
                <a:solidFill>
                  <a:srgbClr val="1A1D23"/>
                </a:solidFill>
                <a:latin typeface="Calibri" pitchFamily="34" charset="0"/>
                <a:ea typeface="Calibri" pitchFamily="34" charset="-122"/>
                <a:cs typeface="Calibri" pitchFamily="34" charset="-120"/>
              </a:rPr>
              <a:t>Foundation model</a:t>
            </a:r>
            <a:endParaRPr lang="en-US" sz="1700" dirty="0"/>
          </a:p>
        </p:txBody>
      </p:sp>
      <p:sp>
        <p:nvSpPr>
          <p:cNvPr id="9" name="Text 6"/>
          <p:cNvSpPr/>
          <p:nvPr/>
        </p:nvSpPr>
        <p:spPr>
          <a:xfrm>
            <a:off x="777240" y="4160520"/>
            <a:ext cx="2194560" cy="502920"/>
          </a:xfrm>
          <a:prstGeom prst="rect">
            <a:avLst/>
          </a:prstGeom>
          <a:noFill/>
          <a:ln/>
        </p:spPr>
        <p:txBody>
          <a:bodyPr wrap="square" lIns="0" tIns="0" rIns="0" bIns="0" rtlCol="0" anchor="ctr"/>
          <a:lstStyle/>
          <a:p>
            <a:pPr algn="ctr" indent="0" marL="0">
              <a:lnSpc>
                <a:spcPct val="98000"/>
              </a:lnSpc>
              <a:buNone/>
            </a:pPr>
            <a:r>
              <a:rPr lang="en-US" sz="1300" i="1" dirty="0">
                <a:solidFill>
                  <a:srgbClr val="6A7280"/>
                </a:solidFill>
                <a:latin typeface="Calibri" pitchFamily="34" charset="0"/>
                <a:ea typeface="Calibri" pitchFamily="34" charset="-122"/>
                <a:cs typeface="Calibri" pitchFamily="34" charset="-120"/>
              </a:rPr>
              <a:t>the reasoning</a:t>
            </a:r>
            <a:endParaRPr lang="en-US" sz="1300" dirty="0"/>
          </a:p>
        </p:txBody>
      </p:sp>
      <p:sp>
        <p:nvSpPr>
          <p:cNvPr id="10" name="Shape 7"/>
          <p:cNvSpPr/>
          <p:nvPr/>
        </p:nvSpPr>
        <p:spPr>
          <a:xfrm>
            <a:off x="3408578" y="2103120"/>
            <a:ext cx="2560320" cy="3200400"/>
          </a:xfrm>
          <a:prstGeom prst="roundRect">
            <a:avLst>
              <a:gd name="adj" fmla="val 3214"/>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11" name="Shape 8"/>
          <p:cNvSpPr/>
          <p:nvPr/>
        </p:nvSpPr>
        <p:spPr>
          <a:xfrm>
            <a:off x="4359554" y="2487168"/>
            <a:ext cx="658368" cy="658368"/>
          </a:xfrm>
          <a:prstGeom prst="ellipse">
            <a:avLst/>
          </a:prstGeom>
          <a:solidFill>
            <a:srgbClr val="F5EAD8"/>
          </a:solidFill>
          <a:ln/>
        </p:spPr>
      </p:sp>
      <p:pic>
        <p:nvPicPr>
          <p:cNvPr id="12" name="Image 1" descr="preencoded.png">    </p:cNvPr>
          <p:cNvPicPr>
            <a:picLocks noChangeAspect="1"/>
          </p:cNvPicPr>
          <p:nvPr/>
        </p:nvPicPr>
        <p:blipFill>
          <a:blip r:embed="rId2"/>
          <a:stretch>
            <a:fillRect/>
          </a:stretch>
        </p:blipFill>
        <p:spPr>
          <a:xfrm>
            <a:off x="4484644" y="2612258"/>
            <a:ext cx="408188" cy="408188"/>
          </a:xfrm>
          <a:prstGeom prst="rect">
            <a:avLst/>
          </a:prstGeom>
        </p:spPr>
      </p:pic>
      <p:sp>
        <p:nvSpPr>
          <p:cNvPr id="13" name="Text 9"/>
          <p:cNvSpPr/>
          <p:nvPr/>
        </p:nvSpPr>
        <p:spPr>
          <a:xfrm>
            <a:off x="3609746" y="2304288"/>
            <a:ext cx="457200" cy="365760"/>
          </a:xfrm>
          <a:prstGeom prst="rect">
            <a:avLst/>
          </a:prstGeom>
          <a:noFill/>
          <a:ln/>
        </p:spPr>
        <p:txBody>
          <a:bodyPr wrap="square" lIns="0" tIns="0" rIns="0" bIns="0" rtlCol="0" anchor="ctr"/>
          <a:lstStyle/>
          <a:p>
            <a:pPr indent="0" marL="0">
              <a:buNone/>
            </a:pPr>
            <a:r>
              <a:rPr lang="en-US" sz="2000" b="1" dirty="0">
                <a:solidFill>
                  <a:srgbClr val="E0C9A6"/>
                </a:solidFill>
                <a:latin typeface="Cambria" pitchFamily="34" charset="0"/>
                <a:ea typeface="Cambria" pitchFamily="34" charset="-122"/>
                <a:cs typeface="Cambria" pitchFamily="34" charset="-120"/>
              </a:rPr>
              <a:t>2</a:t>
            </a:r>
            <a:endParaRPr lang="en-US" sz="2000" dirty="0"/>
          </a:p>
        </p:txBody>
      </p:sp>
      <p:sp>
        <p:nvSpPr>
          <p:cNvPr id="14" name="Text 10"/>
          <p:cNvSpPr/>
          <p:nvPr/>
        </p:nvSpPr>
        <p:spPr>
          <a:xfrm>
            <a:off x="3591458" y="3429000"/>
            <a:ext cx="2194560" cy="640080"/>
          </a:xfrm>
          <a:prstGeom prst="rect">
            <a:avLst/>
          </a:prstGeom>
          <a:noFill/>
          <a:ln/>
        </p:spPr>
        <p:txBody>
          <a:bodyPr wrap="square" lIns="0" tIns="0" rIns="0" bIns="0" rtlCol="0" anchor="ctr"/>
          <a:lstStyle/>
          <a:p>
            <a:pPr algn="ctr" indent="0" marL="0">
              <a:lnSpc>
                <a:spcPct val="95000"/>
              </a:lnSpc>
              <a:buNone/>
            </a:pPr>
            <a:r>
              <a:rPr lang="en-US" sz="1700" b="1" dirty="0">
                <a:solidFill>
                  <a:srgbClr val="1A1D23"/>
                </a:solidFill>
                <a:latin typeface="Calibri" pitchFamily="34" charset="0"/>
                <a:ea typeface="Calibri" pitchFamily="34" charset="-122"/>
                <a:cs typeface="Calibri" pitchFamily="34" charset="-120"/>
              </a:rPr>
              <a:t>Instructions</a:t>
            </a:r>
            <a:endParaRPr lang="en-US" sz="1700" dirty="0"/>
          </a:p>
        </p:txBody>
      </p:sp>
      <p:sp>
        <p:nvSpPr>
          <p:cNvPr id="15" name="Text 11"/>
          <p:cNvSpPr/>
          <p:nvPr/>
        </p:nvSpPr>
        <p:spPr>
          <a:xfrm>
            <a:off x="3591458" y="4160520"/>
            <a:ext cx="2194560" cy="502920"/>
          </a:xfrm>
          <a:prstGeom prst="rect">
            <a:avLst/>
          </a:prstGeom>
          <a:noFill/>
          <a:ln/>
        </p:spPr>
        <p:txBody>
          <a:bodyPr wrap="square" lIns="0" tIns="0" rIns="0" bIns="0" rtlCol="0" anchor="ctr"/>
          <a:lstStyle/>
          <a:p>
            <a:pPr algn="ctr" indent="0" marL="0">
              <a:lnSpc>
                <a:spcPct val="98000"/>
              </a:lnSpc>
              <a:buNone/>
            </a:pPr>
            <a:r>
              <a:rPr lang="en-US" sz="1300" i="1" dirty="0">
                <a:solidFill>
                  <a:srgbClr val="6A7280"/>
                </a:solidFill>
                <a:latin typeface="Calibri" pitchFamily="34" charset="0"/>
                <a:ea typeface="Calibri" pitchFamily="34" charset="-122"/>
                <a:cs typeface="Calibri" pitchFamily="34" charset="-120"/>
              </a:rPr>
              <a:t>the persona and job</a:t>
            </a:r>
            <a:endParaRPr lang="en-US" sz="1300" dirty="0"/>
          </a:p>
        </p:txBody>
      </p:sp>
      <p:sp>
        <p:nvSpPr>
          <p:cNvPr id="16" name="Shape 12"/>
          <p:cNvSpPr/>
          <p:nvPr/>
        </p:nvSpPr>
        <p:spPr>
          <a:xfrm>
            <a:off x="6222797" y="2103120"/>
            <a:ext cx="2560320" cy="3200400"/>
          </a:xfrm>
          <a:prstGeom prst="roundRect">
            <a:avLst>
              <a:gd name="adj" fmla="val 3214"/>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17" name="Shape 13"/>
          <p:cNvSpPr/>
          <p:nvPr/>
        </p:nvSpPr>
        <p:spPr>
          <a:xfrm>
            <a:off x="7173773" y="2487168"/>
            <a:ext cx="658368" cy="658368"/>
          </a:xfrm>
          <a:prstGeom prst="ellipse">
            <a:avLst/>
          </a:prstGeom>
          <a:solidFill>
            <a:srgbClr val="F5EAD8"/>
          </a:solidFill>
          <a:ln/>
        </p:spPr>
      </p:sp>
      <p:pic>
        <p:nvPicPr>
          <p:cNvPr id="18" name="Image 2" descr="preencoded.png">    </p:cNvPr>
          <p:cNvPicPr>
            <a:picLocks noChangeAspect="1"/>
          </p:cNvPicPr>
          <p:nvPr/>
        </p:nvPicPr>
        <p:blipFill>
          <a:blip r:embed="rId3"/>
          <a:stretch>
            <a:fillRect/>
          </a:stretch>
        </p:blipFill>
        <p:spPr>
          <a:xfrm>
            <a:off x="7298863" y="2612258"/>
            <a:ext cx="408188" cy="408188"/>
          </a:xfrm>
          <a:prstGeom prst="rect">
            <a:avLst/>
          </a:prstGeom>
        </p:spPr>
      </p:pic>
      <p:sp>
        <p:nvSpPr>
          <p:cNvPr id="19" name="Text 14"/>
          <p:cNvSpPr/>
          <p:nvPr/>
        </p:nvSpPr>
        <p:spPr>
          <a:xfrm>
            <a:off x="6423965" y="2304288"/>
            <a:ext cx="457200" cy="365760"/>
          </a:xfrm>
          <a:prstGeom prst="rect">
            <a:avLst/>
          </a:prstGeom>
          <a:noFill/>
          <a:ln/>
        </p:spPr>
        <p:txBody>
          <a:bodyPr wrap="square" lIns="0" tIns="0" rIns="0" bIns="0" rtlCol="0" anchor="ctr"/>
          <a:lstStyle/>
          <a:p>
            <a:pPr indent="0" marL="0">
              <a:buNone/>
            </a:pPr>
            <a:r>
              <a:rPr lang="en-US" sz="2000" b="1" dirty="0">
                <a:solidFill>
                  <a:srgbClr val="E0C9A6"/>
                </a:solidFill>
                <a:latin typeface="Cambria" pitchFamily="34" charset="0"/>
                <a:ea typeface="Cambria" pitchFamily="34" charset="-122"/>
                <a:cs typeface="Cambria" pitchFamily="34" charset="-120"/>
              </a:rPr>
              <a:t>3</a:t>
            </a:r>
            <a:endParaRPr lang="en-US" sz="2000" dirty="0"/>
          </a:p>
        </p:txBody>
      </p:sp>
      <p:sp>
        <p:nvSpPr>
          <p:cNvPr id="20" name="Text 15"/>
          <p:cNvSpPr/>
          <p:nvPr/>
        </p:nvSpPr>
        <p:spPr>
          <a:xfrm>
            <a:off x="6405677" y="3429000"/>
            <a:ext cx="2194560" cy="640080"/>
          </a:xfrm>
          <a:prstGeom prst="rect">
            <a:avLst/>
          </a:prstGeom>
          <a:noFill/>
          <a:ln/>
        </p:spPr>
        <p:txBody>
          <a:bodyPr wrap="square" lIns="0" tIns="0" rIns="0" bIns="0" rtlCol="0" anchor="ctr"/>
          <a:lstStyle/>
          <a:p>
            <a:pPr algn="ctr" indent="0" marL="0">
              <a:lnSpc>
                <a:spcPct val="95000"/>
              </a:lnSpc>
              <a:buNone/>
            </a:pPr>
            <a:r>
              <a:rPr lang="en-US" sz="1700" b="1" dirty="0">
                <a:solidFill>
                  <a:srgbClr val="1A1D23"/>
                </a:solidFill>
                <a:latin typeface="Calibri" pitchFamily="34" charset="0"/>
                <a:ea typeface="Calibri" pitchFamily="34" charset="-122"/>
                <a:cs typeface="Calibri" pitchFamily="34" charset="-120"/>
              </a:rPr>
              <a:t>Action groups</a:t>
            </a:r>
            <a:endParaRPr lang="en-US" sz="1700" dirty="0"/>
          </a:p>
        </p:txBody>
      </p:sp>
      <p:sp>
        <p:nvSpPr>
          <p:cNvPr id="21" name="Text 16"/>
          <p:cNvSpPr/>
          <p:nvPr/>
        </p:nvSpPr>
        <p:spPr>
          <a:xfrm>
            <a:off x="6405677" y="4160520"/>
            <a:ext cx="2194560" cy="502920"/>
          </a:xfrm>
          <a:prstGeom prst="rect">
            <a:avLst/>
          </a:prstGeom>
          <a:noFill/>
          <a:ln/>
        </p:spPr>
        <p:txBody>
          <a:bodyPr wrap="square" lIns="0" tIns="0" rIns="0" bIns="0" rtlCol="0" anchor="ctr"/>
          <a:lstStyle/>
          <a:p>
            <a:pPr algn="ctr" indent="0" marL="0">
              <a:lnSpc>
                <a:spcPct val="98000"/>
              </a:lnSpc>
              <a:buNone/>
            </a:pPr>
            <a:r>
              <a:rPr lang="en-US" sz="1300" i="1" dirty="0">
                <a:solidFill>
                  <a:srgbClr val="6A7280"/>
                </a:solidFill>
                <a:latin typeface="Calibri" pitchFamily="34" charset="0"/>
                <a:ea typeface="Calibri" pitchFamily="34" charset="-122"/>
                <a:cs typeface="Calibri" pitchFamily="34" charset="-120"/>
              </a:rPr>
              <a:t>the tools it can call</a:t>
            </a:r>
            <a:endParaRPr lang="en-US" sz="1300" dirty="0"/>
          </a:p>
        </p:txBody>
      </p:sp>
      <p:sp>
        <p:nvSpPr>
          <p:cNvPr id="22" name="Shape 17"/>
          <p:cNvSpPr/>
          <p:nvPr/>
        </p:nvSpPr>
        <p:spPr>
          <a:xfrm>
            <a:off x="9037015" y="2103120"/>
            <a:ext cx="2560320" cy="3200400"/>
          </a:xfrm>
          <a:prstGeom prst="roundRect">
            <a:avLst>
              <a:gd name="adj" fmla="val 3214"/>
            </a:avLst>
          </a:prstGeom>
          <a:solidFill>
            <a:srgbClr val="F7F8FA"/>
          </a:solidFill>
          <a:ln w="12700">
            <a:solidFill>
              <a:srgbClr val="D9DDE3"/>
            </a:solidFill>
            <a:prstDash val="dash"/>
          </a:ln>
        </p:spPr>
      </p:sp>
      <p:sp>
        <p:nvSpPr>
          <p:cNvPr id="23" name="Shape 18"/>
          <p:cNvSpPr/>
          <p:nvPr/>
        </p:nvSpPr>
        <p:spPr>
          <a:xfrm>
            <a:off x="9987991" y="2487168"/>
            <a:ext cx="658368" cy="658368"/>
          </a:xfrm>
          <a:prstGeom prst="ellipse">
            <a:avLst/>
          </a:prstGeom>
          <a:solidFill>
            <a:srgbClr val="EBEDF0"/>
          </a:solidFill>
          <a:ln/>
        </p:spPr>
      </p:sp>
      <p:pic>
        <p:nvPicPr>
          <p:cNvPr id="24" name="Image 3" descr="preencoded.png">    </p:cNvPr>
          <p:cNvPicPr>
            <a:picLocks noChangeAspect="1"/>
          </p:cNvPicPr>
          <p:nvPr/>
        </p:nvPicPr>
        <p:blipFill>
          <a:blip r:embed="rId4"/>
          <a:stretch>
            <a:fillRect/>
          </a:stretch>
        </p:blipFill>
        <p:spPr>
          <a:xfrm>
            <a:off x="10113081" y="2612258"/>
            <a:ext cx="408188" cy="408188"/>
          </a:xfrm>
          <a:prstGeom prst="rect">
            <a:avLst/>
          </a:prstGeom>
        </p:spPr>
      </p:pic>
      <p:sp>
        <p:nvSpPr>
          <p:cNvPr id="25" name="Text 19"/>
          <p:cNvSpPr/>
          <p:nvPr/>
        </p:nvSpPr>
        <p:spPr>
          <a:xfrm>
            <a:off x="9238183" y="2304288"/>
            <a:ext cx="457200" cy="365760"/>
          </a:xfrm>
          <a:prstGeom prst="rect">
            <a:avLst/>
          </a:prstGeom>
          <a:noFill/>
          <a:ln/>
        </p:spPr>
        <p:txBody>
          <a:bodyPr wrap="square" lIns="0" tIns="0" rIns="0" bIns="0" rtlCol="0" anchor="ctr"/>
          <a:lstStyle/>
          <a:p>
            <a:pPr indent="0" marL="0">
              <a:buNone/>
            </a:pPr>
            <a:r>
              <a:rPr lang="en-US" sz="2000" b="1" dirty="0">
                <a:solidFill>
                  <a:srgbClr val="C4C9D0"/>
                </a:solidFill>
                <a:latin typeface="Cambria" pitchFamily="34" charset="0"/>
                <a:ea typeface="Cambria" pitchFamily="34" charset="-122"/>
                <a:cs typeface="Cambria" pitchFamily="34" charset="-120"/>
              </a:rPr>
              <a:t>4</a:t>
            </a:r>
            <a:endParaRPr lang="en-US" sz="2000" dirty="0"/>
          </a:p>
        </p:txBody>
      </p:sp>
      <p:sp>
        <p:nvSpPr>
          <p:cNvPr id="26" name="Text 20"/>
          <p:cNvSpPr/>
          <p:nvPr/>
        </p:nvSpPr>
        <p:spPr>
          <a:xfrm>
            <a:off x="9219895" y="3429000"/>
            <a:ext cx="2194560" cy="640080"/>
          </a:xfrm>
          <a:prstGeom prst="rect">
            <a:avLst/>
          </a:prstGeom>
          <a:noFill/>
          <a:ln/>
        </p:spPr>
        <p:txBody>
          <a:bodyPr wrap="square" lIns="0" tIns="0" rIns="0" bIns="0" rtlCol="0" anchor="ctr"/>
          <a:lstStyle/>
          <a:p>
            <a:pPr algn="ctr" indent="0" marL="0">
              <a:lnSpc>
                <a:spcPct val="95000"/>
              </a:lnSpc>
              <a:buNone/>
            </a:pPr>
            <a:r>
              <a:rPr lang="en-US" sz="1700" b="1" dirty="0">
                <a:solidFill>
                  <a:srgbClr val="6A7280"/>
                </a:solidFill>
                <a:latin typeface="Calibri" pitchFamily="34" charset="0"/>
                <a:ea typeface="Calibri" pitchFamily="34" charset="-122"/>
                <a:cs typeface="Calibri" pitchFamily="34" charset="-120"/>
              </a:rPr>
              <a:t>Knowledge base</a:t>
            </a:r>
            <a:endParaRPr lang="en-US" sz="1700" dirty="0"/>
          </a:p>
        </p:txBody>
      </p:sp>
      <p:sp>
        <p:nvSpPr>
          <p:cNvPr id="27" name="Text 21"/>
          <p:cNvSpPr/>
          <p:nvPr/>
        </p:nvSpPr>
        <p:spPr>
          <a:xfrm>
            <a:off x="9219895" y="4160520"/>
            <a:ext cx="2194560" cy="502920"/>
          </a:xfrm>
          <a:prstGeom prst="rect">
            <a:avLst/>
          </a:prstGeom>
          <a:noFill/>
          <a:ln/>
        </p:spPr>
        <p:txBody>
          <a:bodyPr wrap="square" lIns="0" tIns="0" rIns="0" bIns="0" rtlCol="0" anchor="ctr"/>
          <a:lstStyle/>
          <a:p>
            <a:pPr algn="ctr" indent="0" marL="0">
              <a:lnSpc>
                <a:spcPct val="98000"/>
              </a:lnSpc>
              <a:buNone/>
            </a:pPr>
            <a:r>
              <a:rPr lang="en-US" sz="1300" i="1" dirty="0">
                <a:solidFill>
                  <a:srgbClr val="6A7280"/>
                </a:solidFill>
                <a:latin typeface="Calibri" pitchFamily="34" charset="0"/>
                <a:ea typeface="Calibri" pitchFamily="34" charset="-122"/>
                <a:cs typeface="Calibri" pitchFamily="34" charset="-120"/>
              </a:rPr>
              <a:t>documents it can search</a:t>
            </a:r>
            <a:endParaRPr lang="en-US" sz="1300" dirty="0"/>
          </a:p>
        </p:txBody>
      </p:sp>
      <p:sp>
        <p:nvSpPr>
          <p:cNvPr id="28" name="Text 22"/>
          <p:cNvSpPr/>
          <p:nvPr/>
        </p:nvSpPr>
        <p:spPr>
          <a:xfrm>
            <a:off x="9219895" y="4800600"/>
            <a:ext cx="2194560" cy="274320"/>
          </a:xfrm>
          <a:prstGeom prst="rect">
            <a:avLst/>
          </a:prstGeom>
          <a:noFill/>
          <a:ln/>
        </p:spPr>
        <p:txBody>
          <a:bodyPr wrap="square" lIns="0" tIns="0" rIns="0" bIns="0" rtlCol="0" anchor="ctr"/>
          <a:lstStyle/>
          <a:p>
            <a:pPr algn="ctr" indent="0" marL="0">
              <a:buNone/>
            </a:pPr>
            <a:r>
              <a:rPr lang="en-US" sz="1100" b="1" spc="200" kern="0" dirty="0">
                <a:solidFill>
                  <a:srgbClr val="9AA1AB"/>
                </a:solidFill>
                <a:latin typeface="Calibri" pitchFamily="34" charset="0"/>
                <a:ea typeface="Calibri" pitchFamily="34" charset="-122"/>
                <a:cs typeface="Calibri" pitchFamily="34" charset="-120"/>
              </a:rPr>
              <a:t>optional</a:t>
            </a:r>
            <a:endParaRPr lang="en-US" sz="1100" dirty="0"/>
          </a:p>
        </p:txBody>
      </p:sp>
      <p:sp>
        <p:nvSpPr>
          <p:cNvPr id="29" name="Shape 23"/>
          <p:cNvSpPr/>
          <p:nvPr/>
        </p:nvSpPr>
        <p:spPr>
          <a:xfrm>
            <a:off x="594360" y="5715000"/>
            <a:ext cx="11002975" cy="658368"/>
          </a:xfrm>
          <a:prstGeom prst="roundRect">
            <a:avLst>
              <a:gd name="adj" fmla="val 11111"/>
            </a:avLst>
          </a:prstGeom>
          <a:solidFill>
            <a:srgbClr val="14161C"/>
          </a:solidFill>
          <a:ln/>
        </p:spPr>
      </p:sp>
      <p:sp>
        <p:nvSpPr>
          <p:cNvPr id="30" name="Text 24"/>
          <p:cNvSpPr/>
          <p:nvPr/>
        </p:nvSpPr>
        <p:spPr>
          <a:xfrm>
            <a:off x="914400" y="5715000"/>
            <a:ext cx="10362895" cy="658368"/>
          </a:xfrm>
          <a:prstGeom prst="rect">
            <a:avLst/>
          </a:prstGeom>
          <a:noFill/>
          <a:ln/>
        </p:spPr>
        <p:txBody>
          <a:bodyPr wrap="square" lIns="0" tIns="0" rIns="0" bIns="0" rtlCol="0" anchor="ctr"/>
          <a:lstStyle/>
          <a:p>
            <a:pPr indent="0" marL="0">
              <a:lnSpc>
                <a:spcPct val="100000"/>
              </a:lnSpc>
              <a:buNone/>
            </a:pPr>
            <a:r>
              <a:rPr lang="en-US" sz="1350" dirty="0">
                <a:solidFill>
                  <a:srgbClr val="C7CBD3"/>
                </a:solidFill>
                <a:latin typeface="Calibri" pitchFamily="34" charset="0"/>
                <a:ea typeface="Calibri" pitchFamily="34" charset="-122"/>
                <a:cs typeface="Calibri" pitchFamily="34" charset="-120"/>
              </a:rPr>
              <a:t>For TravelMind we need the first three:  </a:t>
            </a:r>
            <a:pPr indent="0" marL="0">
              <a:lnSpc>
                <a:spcPct val="100000"/>
              </a:lnSpc>
              <a:buNone/>
            </a:pPr>
            <a:r>
              <a:rPr lang="en-US" sz="1350" b="1" dirty="0">
                <a:solidFill>
                  <a:srgbClr val="FFFFFF"/>
                </a:solidFill>
                <a:latin typeface="Calibri" pitchFamily="34" charset="0"/>
                <a:ea typeface="Calibri" pitchFamily="34" charset="-122"/>
                <a:cs typeface="Calibri" pitchFamily="34" charset="-120"/>
              </a:rPr>
              <a:t>model  +  instructions  +  one action group with </a:t>
            </a:r>
            <a:pPr indent="0" marL="0">
              <a:lnSpc>
                <a:spcPct val="100000"/>
              </a:lnSpc>
              <a:buNone/>
            </a:pPr>
            <a:r>
              <a:rPr lang="en-US" sz="1350" b="1" dirty="0">
                <a:solidFill>
                  <a:srgbClr val="E4A45E"/>
                </a:solidFill>
                <a:latin typeface="Courier New" pitchFamily="34" charset="0"/>
                <a:ea typeface="Courier New" pitchFamily="34" charset="-122"/>
                <a:cs typeface="Courier New" pitchFamily="34" charset="-120"/>
              </a:rPr>
              <a:t>check_entitlements</a:t>
            </a:r>
            <a:pPr indent="0" marL="0">
              <a:lnSpc>
                <a:spcPct val="100000"/>
              </a:lnSpc>
              <a:buNone/>
            </a:pPr>
            <a:r>
              <a:rPr lang="en-US" sz="1350" dirty="0">
                <a:solidFill>
                  <a:srgbClr val="C7CBD3"/>
                </a:solidFill>
                <a:latin typeface="Calibri" pitchFamily="34" charset="0"/>
                <a:ea typeface="Calibri" pitchFamily="34" charset="-122"/>
                <a:cs typeface="Calibri" pitchFamily="34" charset="-120"/>
              </a:rPr>
              <a:t>.  Knowledge bases, guardrails, and memory are toggles you add later.</a:t>
            </a:r>
            <a:endParaRPr lang="en-US" sz="1350" dirty="0"/>
          </a:p>
        </p:txBody>
      </p:sp>
      <p:sp>
        <p:nvSpPr>
          <p:cNvPr id="31" name="Text 25"/>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Four pieces</a:t>
            </a:r>
            <a:endParaRPr lang="en-US" sz="950" dirty="0"/>
          </a:p>
        </p:txBody>
      </p:sp>
      <p:sp>
        <p:nvSpPr>
          <p:cNvPr id="32" name="Text 26"/>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WHO REASONS, WHO RUNS CODE</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Where Lambda comes in, and why</a:t>
            </a:r>
            <a:endParaRPr lang="en-US" sz="3300" dirty="0"/>
          </a:p>
        </p:txBody>
      </p:sp>
      <p:sp>
        <p:nvSpPr>
          <p:cNvPr id="4" name="Text 2"/>
          <p:cNvSpPr/>
          <p:nvPr/>
        </p:nvSpPr>
        <p:spPr>
          <a:xfrm>
            <a:off x="594360" y="1417320"/>
            <a:ext cx="11002975" cy="457200"/>
          </a:xfrm>
          <a:prstGeom prst="rect">
            <a:avLst/>
          </a:prstGeom>
          <a:noFill/>
          <a:ln/>
        </p:spPr>
        <p:txBody>
          <a:bodyPr wrap="square" lIns="0" tIns="0" rIns="0" bIns="0" rtlCol="0" anchor="ctr"/>
          <a:lstStyle/>
          <a:p>
            <a:pPr algn="l" indent="0" marL="0">
              <a:buNone/>
            </a:pPr>
            <a:r>
              <a:rPr lang="en-US" sz="1500" i="1" dirty="0">
                <a:solidFill>
                  <a:srgbClr val="6A7280"/>
                </a:solidFill>
                <a:latin typeface="Calibri" pitchFamily="34" charset="0"/>
                <a:ea typeface="Calibri" pitchFamily="34" charset="-122"/>
                <a:cs typeface="Calibri" pitchFamily="34" charset="-120"/>
              </a:rPr>
              <a:t>The agent reasons. It never runs your code. Something has to actually execute the tool.</a:t>
            </a:r>
            <a:endParaRPr lang="en-US" sz="1500" dirty="0"/>
          </a:p>
        </p:txBody>
      </p:sp>
      <p:sp>
        <p:nvSpPr>
          <p:cNvPr id="5" name="Text 3"/>
          <p:cNvSpPr/>
          <p:nvPr/>
        </p:nvSpPr>
        <p:spPr>
          <a:xfrm>
            <a:off x="594360" y="2971800"/>
            <a:ext cx="1965960" cy="274320"/>
          </a:xfrm>
          <a:prstGeom prst="rect">
            <a:avLst/>
          </a:prstGeom>
          <a:noFill/>
          <a:ln/>
        </p:spPr>
        <p:txBody>
          <a:bodyPr wrap="square" lIns="0" tIns="0" rIns="0" bIns="0" rtlCol="0" anchor="ctr"/>
          <a:lstStyle/>
          <a:p>
            <a:pPr algn="ctr" indent="0" marL="0">
              <a:buNone/>
            </a:pPr>
            <a:r>
              <a:rPr lang="en-US" sz="1200" b="1" spc="150" kern="0" dirty="0">
                <a:solidFill>
                  <a:srgbClr val="BE7017"/>
                </a:solidFill>
                <a:latin typeface="Calibri" pitchFamily="34" charset="0"/>
                <a:ea typeface="Calibri" pitchFamily="34" charset="-122"/>
                <a:cs typeface="Calibri" pitchFamily="34" charset="-120"/>
              </a:rPr>
              <a:t>MODEL  CHOOSES</a:t>
            </a:r>
            <a:endParaRPr lang="en-US" sz="1200" dirty="0"/>
          </a:p>
        </p:txBody>
      </p:sp>
      <p:sp>
        <p:nvSpPr>
          <p:cNvPr id="6" name="Text 4"/>
          <p:cNvSpPr/>
          <p:nvPr/>
        </p:nvSpPr>
        <p:spPr>
          <a:xfrm>
            <a:off x="2853614" y="2971800"/>
            <a:ext cx="6484468" cy="274320"/>
          </a:xfrm>
          <a:prstGeom prst="rect">
            <a:avLst/>
          </a:prstGeom>
          <a:noFill/>
          <a:ln/>
        </p:spPr>
        <p:txBody>
          <a:bodyPr wrap="square" lIns="0" tIns="0" rIns="0" bIns="0" rtlCol="0" anchor="ctr"/>
          <a:lstStyle/>
          <a:p>
            <a:pPr algn="ctr" indent="0" marL="0">
              <a:buNone/>
            </a:pPr>
            <a:r>
              <a:rPr lang="en-US" sz="1200" b="1" spc="150" kern="0" dirty="0">
                <a:solidFill>
                  <a:srgbClr val="14161C"/>
                </a:solidFill>
                <a:latin typeface="Calibri" pitchFamily="34" charset="0"/>
                <a:ea typeface="Calibri" pitchFamily="34" charset="-122"/>
                <a:cs typeface="Calibri" pitchFamily="34" charset="-120"/>
              </a:rPr>
              <a:t>CODE  EXECUTES  ·  LAMBDA</a:t>
            </a:r>
            <a:endParaRPr lang="en-US" sz="1200" dirty="0"/>
          </a:p>
        </p:txBody>
      </p:sp>
      <p:sp>
        <p:nvSpPr>
          <p:cNvPr id="7" name="Shape 5"/>
          <p:cNvSpPr/>
          <p:nvPr/>
        </p:nvSpPr>
        <p:spPr>
          <a:xfrm>
            <a:off x="594360" y="3429000"/>
            <a:ext cx="1965960" cy="1051560"/>
          </a:xfrm>
          <a:prstGeom prst="roundRect">
            <a:avLst>
              <a:gd name="adj" fmla="val 6957"/>
            </a:avLst>
          </a:prstGeom>
          <a:solidFill>
            <a:srgbClr val="14161C"/>
          </a:solidFill>
          <a:ln w="12700">
            <a:solidFill>
              <a:srgbClr val="14161C"/>
            </a:solidFill>
            <a:prstDash val="solid"/>
          </a:ln>
          <a:effectLst>
            <a:outerShdw sx="100000" sy="100000" kx="0" ky="0" algn="bl" rotWithShape="0" blurRad="88900" dist="38100" dir="5400000">
              <a:srgbClr val="000000">
                <a:alpha val="8000"/>
              </a:srgbClr>
            </a:outerShdw>
          </a:effectLst>
        </p:spPr>
      </p:sp>
      <p:sp>
        <p:nvSpPr>
          <p:cNvPr id="8" name="Text 6"/>
          <p:cNvSpPr/>
          <p:nvPr/>
        </p:nvSpPr>
        <p:spPr>
          <a:xfrm>
            <a:off x="685800" y="3648456"/>
            <a:ext cx="178308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Agent decides:</a:t>
            </a:r>
            <a:endParaRPr lang="en-US" sz="1250" dirty="0"/>
          </a:p>
        </p:txBody>
      </p:sp>
      <p:sp>
        <p:nvSpPr>
          <p:cNvPr id="9" name="Text 7"/>
          <p:cNvSpPr/>
          <p:nvPr/>
        </p:nvSpPr>
        <p:spPr>
          <a:xfrm>
            <a:off x="685800" y="3959352"/>
            <a:ext cx="1783080" cy="365760"/>
          </a:xfrm>
          <a:prstGeom prst="rect">
            <a:avLst/>
          </a:prstGeom>
          <a:noFill/>
          <a:ln/>
        </p:spPr>
        <p:txBody>
          <a:bodyPr wrap="square" lIns="0" tIns="0" rIns="0" bIns="0" rtlCol="0" anchor="ctr"/>
          <a:lstStyle/>
          <a:p>
            <a:pPr algn="ctr" indent="0" marL="0">
              <a:lnSpc>
                <a:spcPct val="95000"/>
              </a:lnSpc>
              <a:buNone/>
            </a:pPr>
            <a:r>
              <a:rPr lang="en-US" sz="1050" dirty="0">
                <a:solidFill>
                  <a:srgbClr val="FFFFFF"/>
                </a:solidFill>
                <a:latin typeface="Courier New" pitchFamily="34" charset="0"/>
                <a:ea typeface="Courier New" pitchFamily="34" charset="-122"/>
                <a:cs typeface="Courier New" pitchFamily="34" charset="-120"/>
              </a:rPr>
              <a:t>call check_entitlements</a:t>
            </a:r>
            <a:endParaRPr lang="en-US" sz="1050" dirty="0"/>
          </a:p>
        </p:txBody>
      </p:sp>
      <p:sp>
        <p:nvSpPr>
          <p:cNvPr id="10" name="Shape 8"/>
          <p:cNvSpPr/>
          <p:nvPr/>
        </p:nvSpPr>
        <p:spPr>
          <a:xfrm>
            <a:off x="2578608" y="3954780"/>
            <a:ext cx="256718" cy="0"/>
          </a:xfrm>
          <a:prstGeom prst="line">
            <a:avLst/>
          </a:prstGeom>
          <a:noFill/>
          <a:ln w="24130">
            <a:solidFill>
              <a:srgbClr val="BE7017"/>
            </a:solidFill>
            <a:prstDash val="solid"/>
            <a:tailEnd type="triangle"/>
          </a:ln>
        </p:spPr>
      </p:sp>
      <p:sp>
        <p:nvSpPr>
          <p:cNvPr id="11" name="Shape 9"/>
          <p:cNvSpPr/>
          <p:nvPr/>
        </p:nvSpPr>
        <p:spPr>
          <a:xfrm>
            <a:off x="2853614" y="3429000"/>
            <a:ext cx="1965960" cy="1051560"/>
          </a:xfrm>
          <a:prstGeom prst="roundRect">
            <a:avLst>
              <a:gd name="adj" fmla="val 6957"/>
            </a:avLst>
          </a:prstGeom>
          <a:solidFill>
            <a:srgbClr val="FFFFFF"/>
          </a:solidFill>
          <a:ln w="12700">
            <a:solidFill>
              <a:srgbClr val="E4E7EB"/>
            </a:solidFill>
            <a:prstDash val="solid"/>
          </a:ln>
          <a:effectLst>
            <a:outerShdw sx="100000" sy="100000" kx="0" ky="0" algn="bl" rotWithShape="0" blurRad="88900" dist="38100" dir="5400000">
              <a:srgbClr val="000000">
                <a:alpha val="8000"/>
              </a:srgbClr>
            </a:outerShdw>
          </a:effectLst>
        </p:spPr>
      </p:sp>
      <p:sp>
        <p:nvSpPr>
          <p:cNvPr id="12" name="Text 10"/>
          <p:cNvSpPr/>
          <p:nvPr/>
        </p:nvSpPr>
        <p:spPr>
          <a:xfrm>
            <a:off x="2945054" y="3648456"/>
            <a:ext cx="1783080" cy="310896"/>
          </a:xfrm>
          <a:prstGeom prst="rect">
            <a:avLst/>
          </a:prstGeom>
          <a:noFill/>
          <a:ln/>
        </p:spPr>
        <p:txBody>
          <a:bodyPr wrap="square" lIns="0" tIns="0" rIns="0" bIns="0" rtlCol="0" anchor="ctr"/>
          <a:lstStyle/>
          <a:p>
            <a:pPr algn="ctr" indent="0" marL="0">
              <a:buNone/>
            </a:pPr>
            <a:r>
              <a:rPr lang="en-US" sz="1250" dirty="0">
                <a:solidFill>
                  <a:srgbClr val="1A1D23"/>
                </a:solidFill>
                <a:latin typeface="Calibri" pitchFamily="34" charset="0"/>
                <a:ea typeface="Calibri" pitchFamily="34" charset="-122"/>
                <a:cs typeface="Calibri" pitchFamily="34" charset="-120"/>
              </a:rPr>
              <a:t>Lambda receives</a:t>
            </a:r>
            <a:endParaRPr lang="en-US" sz="1250" dirty="0"/>
          </a:p>
        </p:txBody>
      </p:sp>
      <p:sp>
        <p:nvSpPr>
          <p:cNvPr id="13" name="Text 11"/>
          <p:cNvSpPr/>
          <p:nvPr/>
        </p:nvSpPr>
        <p:spPr>
          <a:xfrm>
            <a:off x="2945054" y="3959352"/>
            <a:ext cx="1783080" cy="365760"/>
          </a:xfrm>
          <a:prstGeom prst="rect">
            <a:avLst/>
          </a:prstGeom>
          <a:noFill/>
          <a:ln/>
        </p:spPr>
        <p:txBody>
          <a:bodyPr wrap="square" lIns="0" tIns="0" rIns="0" bIns="0" rtlCol="0" anchor="ctr"/>
          <a:lstStyle/>
          <a:p>
            <a:pPr algn="ctr" indent="0" marL="0">
              <a:lnSpc>
                <a:spcPct val="95000"/>
              </a:lnSpc>
              <a:buNone/>
            </a:pPr>
            <a:r>
              <a:rPr lang="en-US" sz="1250" dirty="0">
                <a:solidFill>
                  <a:srgbClr val="1A1D23"/>
                </a:solidFill>
                <a:latin typeface="Calibri" pitchFamily="34" charset="0"/>
                <a:ea typeface="Calibri" pitchFamily="34" charset="-122"/>
                <a:cs typeface="Calibri" pitchFamily="34" charset="-120"/>
              </a:rPr>
              <a:t>the name + arguments</a:t>
            </a:r>
            <a:endParaRPr lang="en-US" sz="1250" dirty="0"/>
          </a:p>
        </p:txBody>
      </p:sp>
      <p:sp>
        <p:nvSpPr>
          <p:cNvPr id="14" name="Shape 12"/>
          <p:cNvSpPr/>
          <p:nvPr/>
        </p:nvSpPr>
        <p:spPr>
          <a:xfrm>
            <a:off x="4837862" y="3954780"/>
            <a:ext cx="256718" cy="0"/>
          </a:xfrm>
          <a:prstGeom prst="line">
            <a:avLst/>
          </a:prstGeom>
          <a:noFill/>
          <a:ln w="24130">
            <a:solidFill>
              <a:srgbClr val="BE7017"/>
            </a:solidFill>
            <a:prstDash val="solid"/>
            <a:tailEnd type="triangle"/>
          </a:ln>
        </p:spPr>
      </p:sp>
      <p:sp>
        <p:nvSpPr>
          <p:cNvPr id="15" name="Shape 13"/>
          <p:cNvSpPr/>
          <p:nvPr/>
        </p:nvSpPr>
        <p:spPr>
          <a:xfrm>
            <a:off x="5112868" y="3429000"/>
            <a:ext cx="1965960" cy="1051560"/>
          </a:xfrm>
          <a:prstGeom prst="roundRect">
            <a:avLst>
              <a:gd name="adj" fmla="val 6957"/>
            </a:avLst>
          </a:prstGeom>
          <a:solidFill>
            <a:srgbClr val="FFFFFF"/>
          </a:solidFill>
          <a:ln w="12700">
            <a:solidFill>
              <a:srgbClr val="E4E7EB"/>
            </a:solidFill>
            <a:prstDash val="solid"/>
          </a:ln>
          <a:effectLst>
            <a:outerShdw sx="100000" sy="100000" kx="0" ky="0" algn="bl" rotWithShape="0" blurRad="88900" dist="38100" dir="5400000">
              <a:srgbClr val="000000">
                <a:alpha val="8000"/>
              </a:srgbClr>
            </a:outerShdw>
          </a:effectLst>
        </p:spPr>
      </p:sp>
      <p:sp>
        <p:nvSpPr>
          <p:cNvPr id="16" name="Text 14"/>
          <p:cNvSpPr/>
          <p:nvPr/>
        </p:nvSpPr>
        <p:spPr>
          <a:xfrm>
            <a:off x="5204308" y="3648456"/>
            <a:ext cx="1783080" cy="310896"/>
          </a:xfrm>
          <a:prstGeom prst="rect">
            <a:avLst/>
          </a:prstGeom>
          <a:noFill/>
          <a:ln/>
        </p:spPr>
        <p:txBody>
          <a:bodyPr wrap="square" lIns="0" tIns="0" rIns="0" bIns="0" rtlCol="0" anchor="ctr"/>
          <a:lstStyle/>
          <a:p>
            <a:pPr algn="ctr" indent="0" marL="0">
              <a:buNone/>
            </a:pPr>
            <a:r>
              <a:rPr lang="en-US" sz="1250" dirty="0">
                <a:solidFill>
                  <a:srgbClr val="1A1D23"/>
                </a:solidFill>
                <a:latin typeface="Calibri" pitchFamily="34" charset="0"/>
                <a:ea typeface="Calibri" pitchFamily="34" charset="-122"/>
                <a:cs typeface="Calibri" pitchFamily="34" charset="-120"/>
              </a:rPr>
              <a:t>Your Python</a:t>
            </a:r>
            <a:endParaRPr lang="en-US" sz="1250" dirty="0"/>
          </a:p>
        </p:txBody>
      </p:sp>
      <p:sp>
        <p:nvSpPr>
          <p:cNvPr id="17" name="Text 15"/>
          <p:cNvSpPr/>
          <p:nvPr/>
        </p:nvSpPr>
        <p:spPr>
          <a:xfrm>
            <a:off x="5204308" y="3959352"/>
            <a:ext cx="1783080" cy="365760"/>
          </a:xfrm>
          <a:prstGeom prst="rect">
            <a:avLst/>
          </a:prstGeom>
          <a:noFill/>
          <a:ln/>
        </p:spPr>
        <p:txBody>
          <a:bodyPr wrap="square" lIns="0" tIns="0" rIns="0" bIns="0" rtlCol="0" anchor="ctr"/>
          <a:lstStyle/>
          <a:p>
            <a:pPr algn="ctr" indent="0" marL="0">
              <a:lnSpc>
                <a:spcPct val="95000"/>
              </a:lnSpc>
              <a:buNone/>
            </a:pPr>
            <a:r>
              <a:rPr lang="en-US" sz="1250" dirty="0">
                <a:solidFill>
                  <a:srgbClr val="1A1D23"/>
                </a:solidFill>
                <a:latin typeface="Calibri" pitchFamily="34" charset="0"/>
                <a:ea typeface="Calibri" pitchFamily="34" charset="-122"/>
                <a:cs typeface="Calibri" pitchFamily="34" charset="-120"/>
              </a:rPr>
              <a:t>runs the rule</a:t>
            </a:r>
            <a:endParaRPr lang="en-US" sz="1250" dirty="0"/>
          </a:p>
        </p:txBody>
      </p:sp>
      <p:sp>
        <p:nvSpPr>
          <p:cNvPr id="18" name="Shape 16"/>
          <p:cNvSpPr/>
          <p:nvPr/>
        </p:nvSpPr>
        <p:spPr>
          <a:xfrm>
            <a:off x="7097116" y="3954780"/>
            <a:ext cx="256718" cy="0"/>
          </a:xfrm>
          <a:prstGeom prst="line">
            <a:avLst/>
          </a:prstGeom>
          <a:noFill/>
          <a:ln w="24130">
            <a:solidFill>
              <a:srgbClr val="BE7017"/>
            </a:solidFill>
            <a:prstDash val="solid"/>
            <a:tailEnd type="triangle"/>
          </a:ln>
        </p:spPr>
      </p:sp>
      <p:sp>
        <p:nvSpPr>
          <p:cNvPr id="19" name="Shape 17"/>
          <p:cNvSpPr/>
          <p:nvPr/>
        </p:nvSpPr>
        <p:spPr>
          <a:xfrm>
            <a:off x="7372121" y="3429000"/>
            <a:ext cx="1965960" cy="1051560"/>
          </a:xfrm>
          <a:prstGeom prst="roundRect">
            <a:avLst>
              <a:gd name="adj" fmla="val 6957"/>
            </a:avLst>
          </a:prstGeom>
          <a:solidFill>
            <a:srgbClr val="FFFFFF"/>
          </a:solidFill>
          <a:ln w="12700">
            <a:solidFill>
              <a:srgbClr val="E4E7EB"/>
            </a:solidFill>
            <a:prstDash val="solid"/>
          </a:ln>
          <a:effectLst>
            <a:outerShdw sx="100000" sy="100000" kx="0" ky="0" algn="bl" rotWithShape="0" blurRad="88900" dist="38100" dir="5400000">
              <a:srgbClr val="000000">
                <a:alpha val="8000"/>
              </a:srgbClr>
            </a:outerShdw>
          </a:effectLst>
        </p:spPr>
      </p:sp>
      <p:sp>
        <p:nvSpPr>
          <p:cNvPr id="20" name="Text 18"/>
          <p:cNvSpPr/>
          <p:nvPr/>
        </p:nvSpPr>
        <p:spPr>
          <a:xfrm>
            <a:off x="7463561" y="3648456"/>
            <a:ext cx="1783080" cy="310896"/>
          </a:xfrm>
          <a:prstGeom prst="rect">
            <a:avLst/>
          </a:prstGeom>
          <a:noFill/>
          <a:ln/>
        </p:spPr>
        <p:txBody>
          <a:bodyPr wrap="square" lIns="0" tIns="0" rIns="0" bIns="0" rtlCol="0" anchor="ctr"/>
          <a:lstStyle/>
          <a:p>
            <a:pPr algn="ctr" indent="0" marL="0">
              <a:buNone/>
            </a:pPr>
            <a:r>
              <a:rPr lang="en-US" sz="1250" dirty="0">
                <a:solidFill>
                  <a:srgbClr val="1A1D23"/>
                </a:solidFill>
                <a:latin typeface="Calibri" pitchFamily="34" charset="0"/>
                <a:ea typeface="Calibri" pitchFamily="34" charset="-122"/>
                <a:cs typeface="Calibri" pitchFamily="34" charset="-120"/>
              </a:rPr>
              <a:t>Lambda returns</a:t>
            </a:r>
            <a:endParaRPr lang="en-US" sz="1250" dirty="0"/>
          </a:p>
        </p:txBody>
      </p:sp>
      <p:sp>
        <p:nvSpPr>
          <p:cNvPr id="21" name="Text 19"/>
          <p:cNvSpPr/>
          <p:nvPr/>
        </p:nvSpPr>
        <p:spPr>
          <a:xfrm>
            <a:off x="7463561" y="3959352"/>
            <a:ext cx="1783080" cy="365760"/>
          </a:xfrm>
          <a:prstGeom prst="rect">
            <a:avLst/>
          </a:prstGeom>
          <a:noFill/>
          <a:ln/>
        </p:spPr>
        <p:txBody>
          <a:bodyPr wrap="square" lIns="0" tIns="0" rIns="0" bIns="0" rtlCol="0" anchor="ctr"/>
          <a:lstStyle/>
          <a:p>
            <a:pPr algn="ctr" indent="0" marL="0">
              <a:lnSpc>
                <a:spcPct val="95000"/>
              </a:lnSpc>
              <a:buNone/>
            </a:pPr>
            <a:r>
              <a:rPr lang="en-US" sz="1250" dirty="0">
                <a:solidFill>
                  <a:srgbClr val="1A1D23"/>
                </a:solidFill>
                <a:latin typeface="Calibri" pitchFamily="34" charset="0"/>
                <a:ea typeface="Calibri" pitchFamily="34" charset="-122"/>
                <a:cs typeface="Calibri" pitchFamily="34" charset="-120"/>
              </a:rPr>
              <a:t>the result</a:t>
            </a:r>
            <a:endParaRPr lang="en-US" sz="1250" dirty="0"/>
          </a:p>
        </p:txBody>
      </p:sp>
      <p:sp>
        <p:nvSpPr>
          <p:cNvPr id="22" name="Shape 20"/>
          <p:cNvSpPr/>
          <p:nvPr/>
        </p:nvSpPr>
        <p:spPr>
          <a:xfrm>
            <a:off x="9356369" y="3954780"/>
            <a:ext cx="256718" cy="0"/>
          </a:xfrm>
          <a:prstGeom prst="line">
            <a:avLst/>
          </a:prstGeom>
          <a:noFill/>
          <a:ln w="24130">
            <a:solidFill>
              <a:srgbClr val="BE7017"/>
            </a:solidFill>
            <a:prstDash val="solid"/>
            <a:tailEnd type="triangle"/>
          </a:ln>
        </p:spPr>
      </p:sp>
      <p:sp>
        <p:nvSpPr>
          <p:cNvPr id="23" name="Shape 21"/>
          <p:cNvSpPr/>
          <p:nvPr/>
        </p:nvSpPr>
        <p:spPr>
          <a:xfrm>
            <a:off x="9631375" y="3429000"/>
            <a:ext cx="1965960" cy="1051560"/>
          </a:xfrm>
          <a:prstGeom prst="roundRect">
            <a:avLst>
              <a:gd name="adj" fmla="val 6957"/>
            </a:avLst>
          </a:prstGeom>
          <a:solidFill>
            <a:srgbClr val="E6EEE9"/>
          </a:solidFill>
          <a:ln w="12700">
            <a:solidFill>
              <a:srgbClr val="CFE0D6"/>
            </a:solidFill>
            <a:prstDash val="solid"/>
          </a:ln>
          <a:effectLst>
            <a:outerShdw sx="100000" sy="100000" kx="0" ky="0" algn="bl" rotWithShape="0" blurRad="88900" dist="38100" dir="5400000">
              <a:srgbClr val="000000">
                <a:alpha val="8000"/>
              </a:srgbClr>
            </a:outerShdw>
          </a:effectLst>
        </p:spPr>
      </p:sp>
      <p:sp>
        <p:nvSpPr>
          <p:cNvPr id="24" name="Text 22"/>
          <p:cNvSpPr/>
          <p:nvPr/>
        </p:nvSpPr>
        <p:spPr>
          <a:xfrm>
            <a:off x="9722815" y="3648456"/>
            <a:ext cx="1783080" cy="310896"/>
          </a:xfrm>
          <a:prstGeom prst="rect">
            <a:avLst/>
          </a:prstGeom>
          <a:noFill/>
          <a:ln/>
        </p:spPr>
        <p:txBody>
          <a:bodyPr wrap="square" lIns="0" tIns="0" rIns="0" bIns="0" rtlCol="0" anchor="ctr"/>
          <a:lstStyle/>
          <a:p>
            <a:pPr algn="ctr" indent="0" marL="0">
              <a:buNone/>
            </a:pPr>
            <a:r>
              <a:rPr lang="en-US" sz="1250" b="1" dirty="0">
                <a:solidFill>
                  <a:srgbClr val="3C7A5B"/>
                </a:solidFill>
                <a:latin typeface="Calibri" pitchFamily="34" charset="0"/>
                <a:ea typeface="Calibri" pitchFamily="34" charset="-122"/>
                <a:cs typeface="Calibri" pitchFamily="34" charset="-120"/>
              </a:rPr>
              <a:t>Agent reads it,</a:t>
            </a:r>
            <a:endParaRPr lang="en-US" sz="1250" dirty="0"/>
          </a:p>
        </p:txBody>
      </p:sp>
      <p:sp>
        <p:nvSpPr>
          <p:cNvPr id="25" name="Text 23"/>
          <p:cNvSpPr/>
          <p:nvPr/>
        </p:nvSpPr>
        <p:spPr>
          <a:xfrm>
            <a:off x="9722815" y="3959352"/>
            <a:ext cx="1783080" cy="365760"/>
          </a:xfrm>
          <a:prstGeom prst="rect">
            <a:avLst/>
          </a:prstGeom>
          <a:noFill/>
          <a:ln/>
        </p:spPr>
        <p:txBody>
          <a:bodyPr wrap="square" lIns="0" tIns="0" rIns="0" bIns="0" rtlCol="0" anchor="ctr"/>
          <a:lstStyle/>
          <a:p>
            <a:pPr algn="ctr" indent="0" marL="0">
              <a:lnSpc>
                <a:spcPct val="95000"/>
              </a:lnSpc>
              <a:buNone/>
            </a:pPr>
            <a:r>
              <a:rPr lang="en-US" sz="1250" dirty="0">
                <a:solidFill>
                  <a:srgbClr val="3C7A5B"/>
                </a:solidFill>
                <a:latin typeface="Calibri" pitchFamily="34" charset="0"/>
                <a:ea typeface="Calibri" pitchFamily="34" charset="-122"/>
                <a:cs typeface="Calibri" pitchFamily="34" charset="-120"/>
              </a:rPr>
              <a:t>continues the loop</a:t>
            </a:r>
            <a:endParaRPr lang="en-US" sz="1250" dirty="0"/>
          </a:p>
        </p:txBody>
      </p:sp>
      <p:sp>
        <p:nvSpPr>
          <p:cNvPr id="26" name="Shape 24"/>
          <p:cNvSpPr/>
          <p:nvPr/>
        </p:nvSpPr>
        <p:spPr>
          <a:xfrm>
            <a:off x="594360" y="5212080"/>
            <a:ext cx="11002975" cy="960120"/>
          </a:xfrm>
          <a:prstGeom prst="roundRect">
            <a:avLst>
              <a:gd name="adj" fmla="val 7619"/>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27" name="Shape 25"/>
          <p:cNvSpPr/>
          <p:nvPr/>
        </p:nvSpPr>
        <p:spPr>
          <a:xfrm>
            <a:off x="914400" y="5394960"/>
            <a:ext cx="566928" cy="566928"/>
          </a:xfrm>
          <a:prstGeom prst="ellipse">
            <a:avLst/>
          </a:prstGeom>
          <a:solidFill>
            <a:srgbClr val="F5EAD8"/>
          </a:solidFill>
          <a:ln/>
        </p:spPr>
      </p:sp>
      <p:pic>
        <p:nvPicPr>
          <p:cNvPr id="28" name="Image 0" descr="preencoded.png">    </p:cNvPr>
          <p:cNvPicPr>
            <a:picLocks noChangeAspect="1"/>
          </p:cNvPicPr>
          <p:nvPr/>
        </p:nvPicPr>
        <p:blipFill>
          <a:blip r:embed="rId1"/>
          <a:stretch>
            <a:fillRect/>
          </a:stretch>
        </p:blipFill>
        <p:spPr>
          <a:xfrm>
            <a:off x="1022116" y="5502676"/>
            <a:ext cx="351495" cy="351495"/>
          </a:xfrm>
          <a:prstGeom prst="rect">
            <a:avLst/>
          </a:prstGeom>
        </p:spPr>
      </p:pic>
      <p:sp>
        <p:nvSpPr>
          <p:cNvPr id="29" name="Text 26"/>
          <p:cNvSpPr/>
          <p:nvPr/>
        </p:nvSpPr>
        <p:spPr>
          <a:xfrm>
            <a:off x="1645920" y="5212080"/>
            <a:ext cx="9631375" cy="960120"/>
          </a:xfrm>
          <a:prstGeom prst="rect">
            <a:avLst/>
          </a:prstGeom>
          <a:noFill/>
          <a:ln/>
        </p:spPr>
        <p:txBody>
          <a:bodyPr wrap="square" lIns="0" tIns="0" rIns="0" bIns="0" rtlCol="0" anchor="ctr"/>
          <a:lstStyle/>
          <a:p>
            <a:pPr indent="0" marL="0">
              <a:lnSpc>
                <a:spcPct val="106000"/>
              </a:lnSpc>
              <a:buNone/>
            </a:pPr>
            <a:r>
              <a:rPr lang="en-US" sz="1450" dirty="0">
                <a:solidFill>
                  <a:srgbClr val="1A1D23"/>
                </a:solidFill>
                <a:latin typeface="Calibri" pitchFamily="34" charset="0"/>
                <a:ea typeface="Calibri" pitchFamily="34" charset="-122"/>
                <a:cs typeface="Calibri" pitchFamily="34" charset="-120"/>
              </a:rPr>
              <a:t>A Lambda is your old </a:t>
            </a:r>
            <a:pPr indent="0" marL="0">
              <a:lnSpc>
                <a:spcPct val="106000"/>
              </a:lnSpc>
              <a:buNone/>
            </a:pPr>
            <a:r>
              <a:rPr lang="en-US" sz="1450" b="1" dirty="0">
                <a:solidFill>
                  <a:srgbClr val="8A4E0C"/>
                </a:solidFill>
                <a:latin typeface="Courier New" pitchFamily="34" charset="0"/>
                <a:ea typeface="Courier New" pitchFamily="34" charset="-122"/>
                <a:cs typeface="Courier New" pitchFamily="34" charset="-120"/>
              </a:rPr>
              <a:t>dispatch</a:t>
            </a:r>
            <a:pPr indent="0" marL="0">
              <a:lnSpc>
                <a:spcPct val="106000"/>
              </a:lnSpc>
              <a:buNone/>
            </a:pPr>
            <a:r>
              <a:rPr lang="en-US" sz="1450" dirty="0">
                <a:solidFill>
                  <a:srgbClr val="1A1D23"/>
                </a:solidFill>
                <a:latin typeface="Calibri" pitchFamily="34" charset="0"/>
                <a:ea typeface="Calibri" pitchFamily="34" charset="-122"/>
                <a:cs typeface="Calibri" pitchFamily="34" charset="-120"/>
              </a:rPr>
              <a:t> plus tool functions, now living in AWS as serverless code.  </a:t>
            </a:r>
            <a:pPr indent="0" marL="0">
              <a:lnSpc>
                <a:spcPct val="106000"/>
              </a:lnSpc>
              <a:buNone/>
            </a:pPr>
            <a:r>
              <a:rPr lang="en-US" sz="1450" i="1" dirty="0">
                <a:solidFill>
                  <a:srgbClr val="6A7280"/>
                </a:solidFill>
                <a:latin typeface="Calibri" pitchFamily="34" charset="0"/>
                <a:ea typeface="Calibri" pitchFamily="34" charset="-122"/>
                <a:cs typeface="Calibri" pitchFamily="34" charset="-120"/>
              </a:rPr>
              <a:t>The model picks the tool and the arguments; the Lambda executes it.</a:t>
            </a:r>
            <a:endParaRPr lang="en-US" sz="1450" dirty="0"/>
          </a:p>
        </p:txBody>
      </p:sp>
      <p:sp>
        <p:nvSpPr>
          <p:cNvPr id="30" name="Text 27"/>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Model chooses, code executes</a:t>
            </a:r>
            <a:endParaRPr lang="en-US" sz="950" dirty="0"/>
          </a:p>
        </p:txBody>
      </p:sp>
      <p:sp>
        <p:nvSpPr>
          <p:cNvPr id="31" name="Text 28"/>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GET THIS WRONG AND NOTHING WORKS</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The Lambda contract</a:t>
            </a:r>
            <a:endParaRPr lang="en-US" sz="3300" dirty="0"/>
          </a:p>
        </p:txBody>
      </p:sp>
      <p:sp>
        <p:nvSpPr>
          <p:cNvPr id="4" name="Shape 2"/>
          <p:cNvSpPr/>
          <p:nvPr/>
        </p:nvSpPr>
        <p:spPr>
          <a:xfrm>
            <a:off x="594360" y="1783080"/>
            <a:ext cx="5341468" cy="2286000"/>
          </a:xfrm>
          <a:prstGeom prst="roundRect">
            <a:avLst>
              <a:gd name="adj" fmla="val 2400"/>
            </a:avLst>
          </a:prstGeom>
          <a:solidFill>
            <a:srgbClr val="1C1F27"/>
          </a:solidFill>
          <a:ln w="12700">
            <a:solidFill>
              <a:srgbClr val="2C313D"/>
            </a:solidFill>
            <a:prstDash val="solid"/>
          </a:ln>
          <a:effectLst>
            <a:outerShdw sx="100000" sy="100000" kx="0" ky="0" algn="bl" rotWithShape="0" blurRad="127000" dist="50800" dir="5400000">
              <a:srgbClr val="000000">
                <a:alpha val="16000"/>
              </a:srgbClr>
            </a:outerShdw>
          </a:effectLst>
        </p:spPr>
      </p:sp>
      <p:sp>
        <p:nvSpPr>
          <p:cNvPr id="5" name="Text 3"/>
          <p:cNvSpPr/>
          <p:nvPr/>
        </p:nvSpPr>
        <p:spPr>
          <a:xfrm>
            <a:off x="813816" y="1929384"/>
            <a:ext cx="4975708" cy="219456"/>
          </a:xfrm>
          <a:prstGeom prst="rect">
            <a:avLst/>
          </a:prstGeom>
          <a:noFill/>
          <a:ln/>
        </p:spPr>
        <p:txBody>
          <a:bodyPr wrap="square" lIns="0" tIns="0" rIns="0" bIns="0" rtlCol="0" anchor="ctr"/>
          <a:lstStyle/>
          <a:p>
            <a:pPr indent="0" marL="0">
              <a:buNone/>
            </a:pPr>
            <a:r>
              <a:rPr lang="en-US" sz="1050" spc="100" kern="0" dirty="0">
                <a:solidFill>
                  <a:srgbClr val="9AA1AB"/>
                </a:solidFill>
                <a:latin typeface="Courier New" pitchFamily="34" charset="0"/>
                <a:ea typeface="Courier New" pitchFamily="34" charset="-122"/>
                <a:cs typeface="Courier New" pitchFamily="34" charset="-120"/>
              </a:rPr>
              <a:t>what bedrock SENDS</a:t>
            </a:r>
            <a:endParaRPr lang="en-US" sz="1050" dirty="0"/>
          </a:p>
        </p:txBody>
      </p:sp>
      <p:sp>
        <p:nvSpPr>
          <p:cNvPr id="6" name="Text 4"/>
          <p:cNvSpPr/>
          <p:nvPr/>
        </p:nvSpPr>
        <p:spPr>
          <a:xfrm>
            <a:off x="813816" y="2240280"/>
            <a:ext cx="4920844" cy="1719072"/>
          </a:xfrm>
          <a:prstGeom prst="rect">
            <a:avLst/>
          </a:prstGeom>
          <a:noFill/>
          <a:ln/>
        </p:spPr>
        <p:txBody>
          <a:bodyPr wrap="square" lIns="0" tIns="0" rIns="0" bIns="0" rtlCol="0" anchor="t"/>
          <a:lstStyle/>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"actionGroup"</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"travelmind-actions"</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  "function"</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"check_entitlements"</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  "parameters"</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{"name":</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"delay_hours"</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"value":</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"7"</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pPr algn="l" indent="0" marL="0">
              <a:lnSpc>
                <a:spcPct val="116000"/>
              </a:lnSpc>
              <a:buNone/>
            </a:pPr>
            <a:r>
              <a:rPr lang="en-US" sz="1250" dirty="0">
                <a:solidFill>
                  <a:srgbClr val="F4E4E2"/>
                </a:solidFill>
                <a:latin typeface="Courier New" pitchFamily="34" charset="0"/>
                <a:ea typeface="Courier New" pitchFamily="34" charset="-122"/>
                <a:cs typeface="Courier New" pitchFamily="34" charset="-120"/>
              </a:rPr>
              <a:t>  # string!</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{"name":</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"fare_class"</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"value":</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"FLEX"</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endParaRPr lang="en-US" sz="1250" dirty="0"/>
          </a:p>
        </p:txBody>
      </p:sp>
      <p:sp>
        <p:nvSpPr>
          <p:cNvPr id="7" name="Shape 5"/>
          <p:cNvSpPr/>
          <p:nvPr/>
        </p:nvSpPr>
        <p:spPr>
          <a:xfrm>
            <a:off x="6255868" y="1783080"/>
            <a:ext cx="5341468" cy="2286000"/>
          </a:xfrm>
          <a:prstGeom prst="roundRect">
            <a:avLst>
              <a:gd name="adj" fmla="val 2400"/>
            </a:avLst>
          </a:prstGeom>
          <a:solidFill>
            <a:srgbClr val="1C1F27"/>
          </a:solidFill>
          <a:ln w="12700">
            <a:solidFill>
              <a:srgbClr val="2C313D"/>
            </a:solidFill>
            <a:prstDash val="solid"/>
          </a:ln>
          <a:effectLst>
            <a:outerShdw sx="100000" sy="100000" kx="0" ky="0" algn="bl" rotWithShape="0" blurRad="127000" dist="50800" dir="5400000">
              <a:srgbClr val="000000">
                <a:alpha val="16000"/>
              </a:srgbClr>
            </a:outerShdw>
          </a:effectLst>
        </p:spPr>
      </p:sp>
      <p:sp>
        <p:nvSpPr>
          <p:cNvPr id="8" name="Text 6"/>
          <p:cNvSpPr/>
          <p:nvPr/>
        </p:nvSpPr>
        <p:spPr>
          <a:xfrm>
            <a:off x="6475324" y="1929384"/>
            <a:ext cx="4975708" cy="219456"/>
          </a:xfrm>
          <a:prstGeom prst="rect">
            <a:avLst/>
          </a:prstGeom>
          <a:noFill/>
          <a:ln/>
        </p:spPr>
        <p:txBody>
          <a:bodyPr wrap="square" lIns="0" tIns="0" rIns="0" bIns="0" rtlCol="0" anchor="ctr"/>
          <a:lstStyle/>
          <a:p>
            <a:pPr indent="0" marL="0">
              <a:buNone/>
            </a:pPr>
            <a:r>
              <a:rPr lang="en-US" sz="1050" spc="100" kern="0" dirty="0">
                <a:solidFill>
                  <a:srgbClr val="9AA1AB"/>
                </a:solidFill>
                <a:latin typeface="Courier New" pitchFamily="34" charset="0"/>
                <a:ea typeface="Courier New" pitchFamily="34" charset="-122"/>
                <a:cs typeface="Courier New" pitchFamily="34" charset="-120"/>
              </a:rPr>
              <a:t>what you must RETURN</a:t>
            </a:r>
            <a:endParaRPr lang="en-US" sz="1050" dirty="0"/>
          </a:p>
        </p:txBody>
      </p:sp>
      <p:sp>
        <p:nvSpPr>
          <p:cNvPr id="9" name="Text 7"/>
          <p:cNvSpPr/>
          <p:nvPr/>
        </p:nvSpPr>
        <p:spPr>
          <a:xfrm>
            <a:off x="6475324" y="2240280"/>
            <a:ext cx="4920844" cy="1719072"/>
          </a:xfrm>
          <a:prstGeom prst="rect">
            <a:avLst/>
          </a:prstGeom>
          <a:noFill/>
          <a:ln/>
        </p:spPr>
        <p:txBody>
          <a:bodyPr wrap="square" lIns="0" tIns="0" rIns="0" bIns="0" rtlCol="0" anchor="t"/>
          <a:lstStyle/>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"messageVersion"</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"1.0"</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  "response"</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 </a:t>
            </a:r>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"actionGroup"</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    "function"</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"check_entitlements"</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    "functionResponse"</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 </a:t>
            </a:r>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"responseBody"</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endParaRPr lang="en-US" sz="1250" dirty="0"/>
          </a:p>
          <a:p>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      "TEXT"</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 </a:t>
            </a:r>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"body"</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pPr algn="l" indent="0" marL="0">
              <a:lnSpc>
                <a:spcPct val="116000"/>
              </a:lnSpc>
              <a:buNone/>
            </a:pPr>
            <a:r>
              <a:rPr lang="en-US" sz="1250" dirty="0">
                <a:solidFill>
                  <a:srgbClr val="D6B36B"/>
                </a:solidFill>
                <a:latin typeface="Courier New" pitchFamily="34" charset="0"/>
                <a:ea typeface="Courier New" pitchFamily="34" charset="-122"/>
                <a:cs typeface="Courier New" pitchFamily="34" charset="-120"/>
              </a:rPr>
              <a:t>json.dumps(result)</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 } }</a:t>
            </a:r>
            <a:endParaRPr lang="en-US" sz="1250" dirty="0"/>
          </a:p>
        </p:txBody>
      </p:sp>
      <p:sp>
        <p:nvSpPr>
          <p:cNvPr id="10" name="Text 8"/>
          <p:cNvSpPr/>
          <p:nvPr/>
        </p:nvSpPr>
        <p:spPr>
          <a:xfrm>
            <a:off x="594360" y="4224528"/>
            <a:ext cx="11002975" cy="292608"/>
          </a:xfrm>
          <a:prstGeom prst="rect">
            <a:avLst/>
          </a:prstGeom>
          <a:noFill/>
          <a:ln/>
        </p:spPr>
        <p:txBody>
          <a:bodyPr wrap="square" lIns="0" tIns="0" rIns="0" bIns="0" rtlCol="0" anchor="ctr"/>
          <a:lstStyle/>
          <a:p>
            <a:pPr indent="0" marL="0">
              <a:buNone/>
            </a:pPr>
            <a:r>
              <a:rPr lang="en-US" sz="1350" b="1" dirty="0">
                <a:solidFill>
                  <a:srgbClr val="1A1D23"/>
                </a:solidFill>
                <a:latin typeface="Calibri" pitchFamily="34" charset="0"/>
                <a:ea typeface="Calibri" pitchFamily="34" charset="-122"/>
                <a:cs typeface="Calibri" pitchFamily="34" charset="-120"/>
              </a:rPr>
              <a:t>Three causes of  </a:t>
            </a:r>
            <a:pPr indent="0" marL="0">
              <a:buNone/>
            </a:pPr>
            <a:r>
              <a:rPr lang="en-US" sz="1350" b="1" i="1" dirty="0">
                <a:solidFill>
                  <a:srgbClr val="AE443A"/>
                </a:solidFill>
                <a:latin typeface="Calibri" pitchFamily="34" charset="0"/>
                <a:ea typeface="Calibri" pitchFamily="34" charset="-122"/>
                <a:cs typeface="Calibri" pitchFamily="34" charset="-120"/>
              </a:rPr>
              <a:t>"the server encountered an error processing the Lambda response"</a:t>
            </a:r>
            <a:endParaRPr lang="en-US" sz="1350" dirty="0"/>
          </a:p>
        </p:txBody>
      </p:sp>
      <p:sp>
        <p:nvSpPr>
          <p:cNvPr id="11" name="Shape 9"/>
          <p:cNvSpPr/>
          <p:nvPr/>
        </p:nvSpPr>
        <p:spPr>
          <a:xfrm>
            <a:off x="594360" y="4553712"/>
            <a:ext cx="3484778" cy="914400"/>
          </a:xfrm>
          <a:prstGeom prst="roundRect">
            <a:avLst>
              <a:gd name="adj" fmla="val 8000"/>
            </a:avLst>
          </a:prstGeom>
          <a:solidFill>
            <a:srgbClr val="FFFFFF"/>
          </a:solidFill>
          <a:ln w="15240">
            <a:solidFill>
              <a:srgbClr val="E7CFCB"/>
            </a:solidFill>
            <a:prstDash val="solid"/>
          </a:ln>
          <a:effectLst>
            <a:outerShdw sx="100000" sy="100000" kx="0" ky="0" algn="bl" rotWithShape="0" blurRad="114300" dist="38100" dir="5400000">
              <a:srgbClr val="000000">
                <a:alpha val="7000"/>
              </a:srgbClr>
            </a:outerShdw>
          </a:effectLst>
        </p:spPr>
      </p:sp>
      <p:sp>
        <p:nvSpPr>
          <p:cNvPr id="12" name="Shape 10"/>
          <p:cNvSpPr/>
          <p:nvPr/>
        </p:nvSpPr>
        <p:spPr>
          <a:xfrm>
            <a:off x="795528" y="4754880"/>
            <a:ext cx="256032" cy="256032"/>
          </a:xfrm>
          <a:prstGeom prst="ellipse">
            <a:avLst/>
          </a:prstGeom>
          <a:solidFill>
            <a:srgbClr val="AE443A"/>
          </a:solidFill>
          <a:ln/>
        </p:spPr>
      </p:sp>
      <p:sp>
        <p:nvSpPr>
          <p:cNvPr id="13" name="Text 11"/>
          <p:cNvSpPr/>
          <p:nvPr/>
        </p:nvSpPr>
        <p:spPr>
          <a:xfrm>
            <a:off x="795528" y="4745736"/>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2"/>
          <p:cNvSpPr/>
          <p:nvPr/>
        </p:nvSpPr>
        <p:spPr>
          <a:xfrm>
            <a:off x="1161288" y="4727448"/>
            <a:ext cx="2753258" cy="310896"/>
          </a:xfrm>
          <a:prstGeom prst="rect">
            <a:avLst/>
          </a:prstGeom>
          <a:noFill/>
          <a:ln/>
        </p:spPr>
        <p:txBody>
          <a:bodyPr wrap="square" lIns="0" tIns="0" rIns="0" bIns="0" rtlCol="0" anchor="ctr"/>
          <a:lstStyle/>
          <a:p>
            <a:pPr indent="0" marL="0">
              <a:buNone/>
            </a:pPr>
            <a:r>
              <a:rPr lang="en-US" sz="1350" b="1" dirty="0">
                <a:solidFill>
                  <a:srgbClr val="1A1D23"/>
                </a:solidFill>
                <a:latin typeface="Calibri" pitchFamily="34" charset="0"/>
                <a:ea typeface="Calibri" pitchFamily="34" charset="-122"/>
                <a:cs typeface="Calibri" pitchFamily="34" charset="-120"/>
              </a:rPr>
              <a:t>body must be a STRING</a:t>
            </a:r>
            <a:endParaRPr lang="en-US" sz="1350" dirty="0"/>
          </a:p>
        </p:txBody>
      </p:sp>
      <p:sp>
        <p:nvSpPr>
          <p:cNvPr id="15" name="Text 13"/>
          <p:cNvSpPr/>
          <p:nvPr/>
        </p:nvSpPr>
        <p:spPr>
          <a:xfrm>
            <a:off x="795528" y="5065776"/>
            <a:ext cx="3082442" cy="365760"/>
          </a:xfrm>
          <a:prstGeom prst="rect">
            <a:avLst/>
          </a:prstGeom>
          <a:noFill/>
          <a:ln/>
        </p:spPr>
        <p:txBody>
          <a:bodyPr wrap="square" lIns="0" tIns="0" rIns="0" bIns="0" rtlCol="0" anchor="ctr"/>
          <a:lstStyle/>
          <a:p>
            <a:pPr indent="0" marL="0">
              <a:lnSpc>
                <a:spcPct val="98000"/>
              </a:lnSpc>
              <a:buNone/>
            </a:pPr>
            <a:r>
              <a:rPr lang="en-US" sz="1200" dirty="0">
                <a:solidFill>
                  <a:srgbClr val="6A7280"/>
                </a:solidFill>
                <a:latin typeface="Calibri" pitchFamily="34" charset="0"/>
                <a:ea typeface="Calibri" pitchFamily="34" charset="-122"/>
                <a:cs typeface="Calibri" pitchFamily="34" charset="-120"/>
              </a:rPr>
              <a:t>json.dumps(result), never a raw dict</a:t>
            </a:r>
            <a:endParaRPr lang="en-US" sz="1200" dirty="0"/>
          </a:p>
        </p:txBody>
      </p:sp>
      <p:sp>
        <p:nvSpPr>
          <p:cNvPr id="16" name="Shape 14"/>
          <p:cNvSpPr/>
          <p:nvPr/>
        </p:nvSpPr>
        <p:spPr>
          <a:xfrm>
            <a:off x="4353458" y="4553712"/>
            <a:ext cx="3484778" cy="914400"/>
          </a:xfrm>
          <a:prstGeom prst="roundRect">
            <a:avLst>
              <a:gd name="adj" fmla="val 8000"/>
            </a:avLst>
          </a:prstGeom>
          <a:solidFill>
            <a:srgbClr val="FFFFFF"/>
          </a:solidFill>
          <a:ln w="15240">
            <a:solidFill>
              <a:srgbClr val="E7CFCB"/>
            </a:solidFill>
            <a:prstDash val="solid"/>
          </a:ln>
          <a:effectLst>
            <a:outerShdw sx="100000" sy="100000" kx="0" ky="0" algn="bl" rotWithShape="0" blurRad="114300" dist="38100" dir="5400000">
              <a:srgbClr val="000000">
                <a:alpha val="7000"/>
              </a:srgbClr>
            </a:outerShdw>
          </a:effectLst>
        </p:spPr>
      </p:sp>
      <p:sp>
        <p:nvSpPr>
          <p:cNvPr id="17" name="Shape 15"/>
          <p:cNvSpPr/>
          <p:nvPr/>
        </p:nvSpPr>
        <p:spPr>
          <a:xfrm>
            <a:off x="4554626" y="4754880"/>
            <a:ext cx="256032" cy="256032"/>
          </a:xfrm>
          <a:prstGeom prst="ellipse">
            <a:avLst/>
          </a:prstGeom>
          <a:solidFill>
            <a:srgbClr val="AE443A"/>
          </a:solidFill>
          <a:ln/>
        </p:spPr>
      </p:sp>
      <p:sp>
        <p:nvSpPr>
          <p:cNvPr id="18" name="Text 16"/>
          <p:cNvSpPr/>
          <p:nvPr/>
        </p:nvSpPr>
        <p:spPr>
          <a:xfrm>
            <a:off x="4554626" y="4745736"/>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7"/>
          <p:cNvSpPr/>
          <p:nvPr/>
        </p:nvSpPr>
        <p:spPr>
          <a:xfrm>
            <a:off x="4920386" y="4727448"/>
            <a:ext cx="2753258" cy="310896"/>
          </a:xfrm>
          <a:prstGeom prst="rect">
            <a:avLst/>
          </a:prstGeom>
          <a:noFill/>
          <a:ln/>
        </p:spPr>
        <p:txBody>
          <a:bodyPr wrap="square" lIns="0" tIns="0" rIns="0" bIns="0" rtlCol="0" anchor="ctr"/>
          <a:lstStyle/>
          <a:p>
            <a:pPr indent="0" marL="0">
              <a:buNone/>
            </a:pPr>
            <a:r>
              <a:rPr lang="en-US" sz="1350" b="1" dirty="0">
                <a:solidFill>
                  <a:srgbClr val="1A1D23"/>
                </a:solidFill>
                <a:latin typeface="Calibri" pitchFamily="34" charset="0"/>
                <a:ea typeface="Calibri" pitchFamily="34" charset="-122"/>
                <a:cs typeface="Calibri" pitchFamily="34" charset="-120"/>
              </a:rPr>
              <a:t>content type is TEXT</a:t>
            </a:r>
            <a:endParaRPr lang="en-US" sz="1350" dirty="0"/>
          </a:p>
        </p:txBody>
      </p:sp>
      <p:sp>
        <p:nvSpPr>
          <p:cNvPr id="20" name="Text 18"/>
          <p:cNvSpPr/>
          <p:nvPr/>
        </p:nvSpPr>
        <p:spPr>
          <a:xfrm>
            <a:off x="4554626" y="5065776"/>
            <a:ext cx="3082442" cy="365760"/>
          </a:xfrm>
          <a:prstGeom prst="rect">
            <a:avLst/>
          </a:prstGeom>
          <a:noFill/>
          <a:ln/>
        </p:spPr>
        <p:txBody>
          <a:bodyPr wrap="square" lIns="0" tIns="0" rIns="0" bIns="0" rtlCol="0" anchor="ctr"/>
          <a:lstStyle/>
          <a:p>
            <a:pPr indent="0" marL="0">
              <a:lnSpc>
                <a:spcPct val="98000"/>
              </a:lnSpc>
              <a:buNone/>
            </a:pPr>
            <a:r>
              <a:rPr lang="en-US" sz="1200" dirty="0">
                <a:solidFill>
                  <a:srgbClr val="6A7280"/>
                </a:solidFill>
                <a:latin typeface="Calibri" pitchFamily="34" charset="0"/>
                <a:ea typeface="Calibri" pitchFamily="34" charset="-122"/>
                <a:cs typeface="Calibri" pitchFamily="34" charset="-120"/>
              </a:rPr>
              <a:t>for function-schema tools, match it exactly</a:t>
            </a:r>
            <a:endParaRPr lang="en-US" sz="1200" dirty="0"/>
          </a:p>
        </p:txBody>
      </p:sp>
      <p:sp>
        <p:nvSpPr>
          <p:cNvPr id="21" name="Shape 19"/>
          <p:cNvSpPr/>
          <p:nvPr/>
        </p:nvSpPr>
        <p:spPr>
          <a:xfrm>
            <a:off x="8112557" y="4553712"/>
            <a:ext cx="3484778" cy="914400"/>
          </a:xfrm>
          <a:prstGeom prst="roundRect">
            <a:avLst>
              <a:gd name="adj" fmla="val 8000"/>
            </a:avLst>
          </a:prstGeom>
          <a:solidFill>
            <a:srgbClr val="FFFFFF"/>
          </a:solidFill>
          <a:ln w="15240">
            <a:solidFill>
              <a:srgbClr val="E7CFCB"/>
            </a:solidFill>
            <a:prstDash val="solid"/>
          </a:ln>
          <a:effectLst>
            <a:outerShdw sx="100000" sy="100000" kx="0" ky="0" algn="bl" rotWithShape="0" blurRad="114300" dist="38100" dir="5400000">
              <a:srgbClr val="000000">
                <a:alpha val="7000"/>
              </a:srgbClr>
            </a:outerShdw>
          </a:effectLst>
        </p:spPr>
      </p:sp>
      <p:sp>
        <p:nvSpPr>
          <p:cNvPr id="22" name="Shape 20"/>
          <p:cNvSpPr/>
          <p:nvPr/>
        </p:nvSpPr>
        <p:spPr>
          <a:xfrm>
            <a:off x="8313725" y="4754880"/>
            <a:ext cx="256032" cy="256032"/>
          </a:xfrm>
          <a:prstGeom prst="ellipse">
            <a:avLst/>
          </a:prstGeom>
          <a:solidFill>
            <a:srgbClr val="AE443A"/>
          </a:solidFill>
          <a:ln/>
        </p:spPr>
      </p:sp>
      <p:sp>
        <p:nvSpPr>
          <p:cNvPr id="23" name="Text 21"/>
          <p:cNvSpPr/>
          <p:nvPr/>
        </p:nvSpPr>
        <p:spPr>
          <a:xfrm>
            <a:off x="8313725" y="4745736"/>
            <a:ext cx="256032"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2"/>
          <p:cNvSpPr/>
          <p:nvPr/>
        </p:nvSpPr>
        <p:spPr>
          <a:xfrm>
            <a:off x="8679485" y="4727448"/>
            <a:ext cx="2753258" cy="310896"/>
          </a:xfrm>
          <a:prstGeom prst="rect">
            <a:avLst/>
          </a:prstGeom>
          <a:noFill/>
          <a:ln/>
        </p:spPr>
        <p:txBody>
          <a:bodyPr wrap="square" lIns="0" tIns="0" rIns="0" bIns="0" rtlCol="0" anchor="ctr"/>
          <a:lstStyle/>
          <a:p>
            <a:pPr indent="0" marL="0">
              <a:buNone/>
            </a:pPr>
            <a:r>
              <a:rPr lang="en-US" sz="1350" b="1" dirty="0">
                <a:solidFill>
                  <a:srgbClr val="1A1D23"/>
                </a:solidFill>
                <a:latin typeface="Calibri" pitchFamily="34" charset="0"/>
                <a:ea typeface="Calibri" pitchFamily="34" charset="-122"/>
                <a:cs typeface="Calibri" pitchFamily="34" charset="-120"/>
              </a:rPr>
              <a:t>echo actionGroup + function</a:t>
            </a:r>
            <a:endParaRPr lang="en-US" sz="1350" dirty="0"/>
          </a:p>
        </p:txBody>
      </p:sp>
      <p:sp>
        <p:nvSpPr>
          <p:cNvPr id="25" name="Text 23"/>
          <p:cNvSpPr/>
          <p:nvPr/>
        </p:nvSpPr>
        <p:spPr>
          <a:xfrm>
            <a:off x="8313725" y="5065776"/>
            <a:ext cx="3082442" cy="365760"/>
          </a:xfrm>
          <a:prstGeom prst="rect">
            <a:avLst/>
          </a:prstGeom>
          <a:noFill/>
          <a:ln/>
        </p:spPr>
        <p:txBody>
          <a:bodyPr wrap="square" lIns="0" tIns="0" rIns="0" bIns="0" rtlCol="0" anchor="ctr"/>
          <a:lstStyle/>
          <a:p>
            <a:pPr indent="0" marL="0">
              <a:lnSpc>
                <a:spcPct val="98000"/>
              </a:lnSpc>
              <a:buNone/>
            </a:pPr>
            <a:r>
              <a:rPr lang="en-US" sz="1200" dirty="0">
                <a:solidFill>
                  <a:srgbClr val="6A7280"/>
                </a:solidFill>
                <a:latin typeface="Calibri" pitchFamily="34" charset="0"/>
                <a:ea typeface="Calibri" pitchFamily="34" charset="-122"/>
                <a:cs typeface="Calibri" pitchFamily="34" charset="-120"/>
              </a:rPr>
              <a:t>return the same values from the event</a:t>
            </a:r>
            <a:endParaRPr lang="en-US" sz="1200" dirty="0"/>
          </a:p>
        </p:txBody>
      </p:sp>
      <p:sp>
        <p:nvSpPr>
          <p:cNvPr id="26" name="Text 24"/>
          <p:cNvSpPr/>
          <p:nvPr/>
        </p:nvSpPr>
        <p:spPr>
          <a:xfrm>
            <a:off x="594360" y="5623560"/>
            <a:ext cx="11002975" cy="320040"/>
          </a:xfrm>
          <a:prstGeom prst="rect">
            <a:avLst/>
          </a:prstGeom>
          <a:noFill/>
          <a:ln/>
        </p:spPr>
        <p:txBody>
          <a:bodyPr wrap="square" lIns="0" tIns="0" rIns="0" bIns="0" rtlCol="0" anchor="ctr"/>
          <a:lstStyle/>
          <a:p>
            <a:pPr algn="ctr" indent="0" marL="0">
              <a:buNone/>
            </a:pPr>
            <a:r>
              <a:rPr lang="en-US" sz="1350" b="1" dirty="0">
                <a:solidFill>
                  <a:srgbClr val="BE7017"/>
                </a:solidFill>
                <a:latin typeface="Calibri" pitchFamily="34" charset="0"/>
                <a:ea typeface="Calibri" pitchFamily="34" charset="-122"/>
                <a:cs typeface="Calibri" pitchFamily="34" charset="-120"/>
              </a:rPr>
              <a:t>Also:  </a:t>
            </a:r>
            <a:pPr algn="ctr" indent="0" marL="0">
              <a:buNone/>
            </a:pPr>
            <a:r>
              <a:rPr lang="en-US" sz="1350" dirty="0">
                <a:solidFill>
                  <a:srgbClr val="1A1D23"/>
                </a:solidFill>
                <a:latin typeface="Calibri" pitchFamily="34" charset="0"/>
                <a:ea typeface="Calibri" pitchFamily="34" charset="-122"/>
                <a:cs typeface="Calibri" pitchFamily="34" charset="-120"/>
              </a:rPr>
              <a:t>every incoming parameter arrives as a string, even numbers. Cast </a:t>
            </a:r>
            <a:pPr algn="ctr" indent="0" marL="0">
              <a:buNone/>
            </a:pPr>
            <a:r>
              <a:rPr lang="en-US" sz="1350" b="1" dirty="0">
                <a:solidFill>
                  <a:srgbClr val="8A4E0C"/>
                </a:solidFill>
                <a:latin typeface="Courier New" pitchFamily="34" charset="0"/>
                <a:ea typeface="Courier New" pitchFamily="34" charset="-122"/>
                <a:cs typeface="Courier New" pitchFamily="34" charset="-120"/>
              </a:rPr>
              <a:t>delay_hours</a:t>
            </a:r>
            <a:pPr algn="ctr" indent="0" marL="0">
              <a:buNone/>
            </a:pPr>
            <a:r>
              <a:rPr lang="en-US" sz="1350" dirty="0">
                <a:solidFill>
                  <a:srgbClr val="1A1D23"/>
                </a:solidFill>
                <a:latin typeface="Calibri" pitchFamily="34" charset="0"/>
                <a:ea typeface="Calibri" pitchFamily="34" charset="-122"/>
                <a:cs typeface="Calibri" pitchFamily="34" charset="-120"/>
              </a:rPr>
              <a:t> to a number yourself.</a:t>
            </a:r>
            <a:endParaRPr lang="en-US" sz="1350" dirty="0"/>
          </a:p>
        </p:txBody>
      </p:sp>
      <p:sp>
        <p:nvSpPr>
          <p:cNvPr id="27" name="Text 25"/>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The contract</a:t>
            </a:r>
            <a:endParaRPr lang="en-US" sz="950" dirty="0"/>
          </a:p>
        </p:txBody>
      </p:sp>
      <p:sp>
        <p:nvSpPr>
          <p:cNvPr id="28" name="Text 26"/>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TEST WHERE IT IS CHEAP TO FAIL</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Prove the contract before you touch AWS</a:t>
            </a:r>
            <a:endParaRPr lang="en-US" sz="3300" dirty="0"/>
          </a:p>
        </p:txBody>
      </p:sp>
      <p:sp>
        <p:nvSpPr>
          <p:cNvPr id="4" name="Text 2"/>
          <p:cNvSpPr/>
          <p:nvPr/>
        </p:nvSpPr>
        <p:spPr>
          <a:xfrm>
            <a:off x="594360" y="1417320"/>
            <a:ext cx="11002975" cy="457200"/>
          </a:xfrm>
          <a:prstGeom prst="rect">
            <a:avLst/>
          </a:prstGeom>
          <a:noFill/>
          <a:ln/>
        </p:spPr>
        <p:txBody>
          <a:bodyPr wrap="square" lIns="0" tIns="0" rIns="0" bIns="0" rtlCol="0" anchor="ctr"/>
          <a:lstStyle/>
          <a:p>
            <a:pPr algn="l" indent="0" marL="0">
              <a:buNone/>
            </a:pPr>
            <a:r>
              <a:rPr lang="en-US" sz="1500" i="1" dirty="0">
                <a:solidFill>
                  <a:srgbClr val="6A7280"/>
                </a:solidFill>
                <a:latin typeface="Calibri" pitchFamily="34" charset="0"/>
                <a:ea typeface="Calibri" pitchFamily="34" charset="-122"/>
                <a:cs typeface="Calibri" pitchFamily="34" charset="-120"/>
              </a:rPr>
              <a:t>Simulate the exact event Bedrock sends, run the handler, assert the shape.</a:t>
            </a:r>
            <a:endParaRPr lang="en-US" sz="1500" dirty="0"/>
          </a:p>
        </p:txBody>
      </p:sp>
      <p:sp>
        <p:nvSpPr>
          <p:cNvPr id="5" name="Shape 3"/>
          <p:cNvSpPr/>
          <p:nvPr/>
        </p:nvSpPr>
        <p:spPr>
          <a:xfrm>
            <a:off x="594360" y="1965960"/>
            <a:ext cx="6903720" cy="3794760"/>
          </a:xfrm>
          <a:prstGeom prst="roundRect">
            <a:avLst>
              <a:gd name="adj" fmla="val 1446"/>
            </a:avLst>
          </a:prstGeom>
          <a:solidFill>
            <a:srgbClr val="1C1F27"/>
          </a:solidFill>
          <a:ln w="12700">
            <a:solidFill>
              <a:srgbClr val="2C313D"/>
            </a:solidFill>
            <a:prstDash val="solid"/>
          </a:ln>
          <a:effectLst>
            <a:outerShdw sx="100000" sy="100000" kx="0" ky="0" algn="bl" rotWithShape="0" blurRad="127000" dist="50800" dir="5400000">
              <a:srgbClr val="000000">
                <a:alpha val="16000"/>
              </a:srgbClr>
            </a:outerShdw>
          </a:effectLst>
        </p:spPr>
      </p:sp>
      <p:sp>
        <p:nvSpPr>
          <p:cNvPr id="6" name="Text 4"/>
          <p:cNvSpPr/>
          <p:nvPr/>
        </p:nvSpPr>
        <p:spPr>
          <a:xfrm>
            <a:off x="813816" y="2112264"/>
            <a:ext cx="6537960" cy="219456"/>
          </a:xfrm>
          <a:prstGeom prst="rect">
            <a:avLst/>
          </a:prstGeom>
          <a:noFill/>
          <a:ln/>
        </p:spPr>
        <p:txBody>
          <a:bodyPr wrap="square" lIns="0" tIns="0" rIns="0" bIns="0" rtlCol="0" anchor="ctr"/>
          <a:lstStyle/>
          <a:p>
            <a:pPr indent="0" marL="0">
              <a:buNone/>
            </a:pPr>
            <a:r>
              <a:rPr lang="en-US" sz="1050" spc="100" kern="0" dirty="0">
                <a:solidFill>
                  <a:srgbClr val="9AA1AB"/>
                </a:solidFill>
                <a:latin typeface="Courier New" pitchFamily="34" charset="0"/>
                <a:ea typeface="Courier New" pitchFamily="34" charset="-122"/>
                <a:cs typeface="Courier New" pitchFamily="34" charset="-120"/>
              </a:rPr>
              <a:t>prove_contract.py</a:t>
            </a:r>
            <a:endParaRPr lang="en-US" sz="1050" dirty="0"/>
          </a:p>
        </p:txBody>
      </p:sp>
      <p:sp>
        <p:nvSpPr>
          <p:cNvPr id="7" name="Text 5"/>
          <p:cNvSpPr/>
          <p:nvPr/>
        </p:nvSpPr>
        <p:spPr>
          <a:xfrm>
            <a:off x="813816" y="2423160"/>
            <a:ext cx="6483096" cy="3227832"/>
          </a:xfrm>
          <a:prstGeom prst="rect">
            <a:avLst/>
          </a:prstGeom>
          <a:noFill/>
          <a:ln/>
        </p:spPr>
        <p:txBody>
          <a:bodyPr wrap="square" lIns="0" tIns="0" rIns="0" bIns="0" rtlCol="0" anchor="t"/>
          <a:lstStyle/>
          <a:p>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exec</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(HANDLER_CODE, </a:t>
            </a:r>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globals</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pPr algn="l" indent="0" marL="0">
              <a:lnSpc>
                <a:spcPct val="116000"/>
              </a:lnSpc>
              <a:buNone/>
            </a:pPr>
            <a:r>
              <a:rPr lang="en-US" sz="1250" dirty="0">
                <a:solidFill>
                  <a:srgbClr val="7F8794"/>
                </a:solidFill>
                <a:latin typeface="Courier New" pitchFamily="34" charset="0"/>
                <a:ea typeface="Courier New" pitchFamily="34" charset="-122"/>
                <a:cs typeface="Courier New" pitchFamily="34" charset="-120"/>
              </a:rPr>
              <a:t>   # makes lambda_handler callable</a:t>
            </a:r>
            <a:endParaRPr lang="en-US" sz="1250" dirty="0"/>
          </a:p>
          <a:p>
            <a:pPr algn="l" indent="0" marL="0">
              <a:lnSpc>
                <a:spcPct val="116000"/>
              </a:lnSpc>
              <a:buNone/>
            </a:pPr>
            <a:r>
              <a:rPr lang="en-US" sz="625" dirty="0">
                <a:solidFill>
                  <a:srgbClr val="E8EAEE"/>
                </a:solidFill>
                <a:latin typeface="Courier New" pitchFamily="34" charset="0"/>
                <a:ea typeface="Courier New" pitchFamily="34" charset="-122"/>
                <a:cs typeface="Courier New" pitchFamily="34" charset="-120"/>
              </a:rPr>
              <a:t> </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fake_event = {</a:t>
            </a:r>
            <a:endParaRPr lang="en-US" sz="1250" dirty="0"/>
          </a:p>
          <a:p>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  "function"</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"check_entitlements"</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  "parameters"</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"name"</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"delay_hours"</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"value"</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"7"</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625" dirty="0">
                <a:solidFill>
                  <a:srgbClr val="E8EAEE"/>
                </a:solidFill>
                <a:latin typeface="Courier New" pitchFamily="34" charset="0"/>
                <a:ea typeface="Courier New" pitchFamily="34" charset="-122"/>
                <a:cs typeface="Courier New" pitchFamily="34" charset="-120"/>
              </a:rPr>
              <a:t> </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out  = </a:t>
            </a:r>
            <a:pPr algn="l" indent="0" marL="0">
              <a:lnSpc>
                <a:spcPct val="116000"/>
              </a:lnSpc>
              <a:buNone/>
            </a:pPr>
            <a:r>
              <a:rPr lang="en-US" sz="1250" dirty="0">
                <a:solidFill>
                  <a:srgbClr val="D6B36B"/>
                </a:solidFill>
                <a:latin typeface="Courier New" pitchFamily="34" charset="0"/>
                <a:ea typeface="Courier New" pitchFamily="34" charset="-122"/>
                <a:cs typeface="Courier New" pitchFamily="34" charset="-120"/>
              </a:rPr>
              <a:t>lambda_handler</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(fake_event, </a:t>
            </a:r>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None</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body = out[</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"response"</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"functionResponse"</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"body"</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625" dirty="0">
                <a:solidFill>
                  <a:srgbClr val="E8EAEE"/>
                </a:solidFill>
                <a:latin typeface="Courier New" pitchFamily="34" charset="0"/>
                <a:ea typeface="Courier New" pitchFamily="34" charset="-122"/>
                <a:cs typeface="Courier New" pitchFamily="34" charset="-120"/>
              </a:rPr>
              <a:t> </a:t>
            </a:r>
            <a:endParaRPr lang="en-US" sz="1250" dirty="0"/>
          </a:p>
          <a:p>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assert</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isinstance(body, </a:t>
            </a:r>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str</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pPr algn="l" indent="0" marL="0">
              <a:lnSpc>
                <a:spcPct val="116000"/>
              </a:lnSpc>
              <a:buNone/>
            </a:pPr>
            <a:r>
              <a:rPr lang="en-US" sz="1250" dirty="0">
                <a:solidFill>
                  <a:srgbClr val="7F8794"/>
                </a:solidFill>
                <a:latin typeface="Courier New" pitchFamily="34" charset="0"/>
                <a:ea typeface="Courier New" pitchFamily="34" charset="-122"/>
                <a:cs typeface="Courier New" pitchFamily="34" charset="-120"/>
              </a:rPr>
              <a:t>        # body MUST be a string</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parsed = json.loads(body)</a:t>
            </a:r>
            <a:endParaRPr lang="en-US" sz="1250" dirty="0"/>
          </a:p>
          <a:p>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assert</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parsed[</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"hotel_voucher"</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pPr algn="l" indent="0" marL="0">
              <a:lnSpc>
                <a:spcPct val="116000"/>
              </a:lnSpc>
              <a:buNone/>
            </a:pPr>
            <a:r>
              <a:rPr lang="en-US" sz="1250" dirty="0">
                <a:solidFill>
                  <a:srgbClr val="7F8794"/>
                </a:solidFill>
                <a:latin typeface="Courier New" pitchFamily="34" charset="0"/>
                <a:ea typeface="Courier New" pitchFamily="34" charset="-122"/>
                <a:cs typeface="Courier New" pitchFamily="34" charset="-120"/>
              </a:rPr>
              <a:t>       # 7h -&gt; both vouchers</a:t>
            </a:r>
            <a:endParaRPr lang="en-US" sz="1250" dirty="0"/>
          </a:p>
        </p:txBody>
      </p:sp>
      <p:sp>
        <p:nvSpPr>
          <p:cNvPr id="8" name="Shape 6"/>
          <p:cNvSpPr/>
          <p:nvPr/>
        </p:nvSpPr>
        <p:spPr>
          <a:xfrm>
            <a:off x="7680960" y="1965960"/>
            <a:ext cx="3733495" cy="914400"/>
          </a:xfrm>
          <a:prstGeom prst="roundRect">
            <a:avLst>
              <a:gd name="adj" fmla="val 9000"/>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9" name="Shape 7"/>
          <p:cNvSpPr/>
          <p:nvPr/>
        </p:nvSpPr>
        <p:spPr>
          <a:xfrm>
            <a:off x="7936992" y="2185416"/>
            <a:ext cx="475488" cy="475488"/>
          </a:xfrm>
          <a:prstGeom prst="ellipse">
            <a:avLst/>
          </a:prstGeom>
          <a:solidFill>
            <a:srgbClr val="F5EAD8"/>
          </a:solidFill>
          <a:ln/>
        </p:spPr>
      </p:sp>
      <p:pic>
        <p:nvPicPr>
          <p:cNvPr id="10" name="Image 0" descr="preencoded.png">    </p:cNvPr>
          <p:cNvPicPr>
            <a:picLocks noChangeAspect="1"/>
          </p:cNvPicPr>
          <p:nvPr/>
        </p:nvPicPr>
        <p:blipFill>
          <a:blip r:embed="rId1"/>
          <a:stretch>
            <a:fillRect/>
          </a:stretch>
        </p:blipFill>
        <p:spPr>
          <a:xfrm>
            <a:off x="8027335" y="2275759"/>
            <a:ext cx="294803" cy="294803"/>
          </a:xfrm>
          <a:prstGeom prst="rect">
            <a:avLst/>
          </a:prstGeom>
        </p:spPr>
      </p:pic>
      <p:sp>
        <p:nvSpPr>
          <p:cNvPr id="11" name="Text 8"/>
          <p:cNvSpPr/>
          <p:nvPr/>
        </p:nvSpPr>
        <p:spPr>
          <a:xfrm>
            <a:off x="8503920" y="2130552"/>
            <a:ext cx="2773375" cy="292608"/>
          </a:xfrm>
          <a:prstGeom prst="rect">
            <a:avLst/>
          </a:prstGeom>
          <a:noFill/>
          <a:ln/>
        </p:spPr>
        <p:txBody>
          <a:bodyPr wrap="square" lIns="0" tIns="0" rIns="0" bIns="0" rtlCol="0" anchor="ctr"/>
          <a:lstStyle/>
          <a:p>
            <a:pPr indent="0" marL="0">
              <a:buNone/>
            </a:pPr>
            <a:r>
              <a:rPr lang="en-US" sz="1450" b="1" dirty="0">
                <a:solidFill>
                  <a:srgbClr val="1A1D23"/>
                </a:solidFill>
                <a:latin typeface="Calibri" pitchFamily="34" charset="0"/>
                <a:ea typeface="Calibri" pitchFamily="34" charset="-122"/>
                <a:cs typeface="Calibri" pitchFamily="34" charset="-120"/>
              </a:rPr>
              <a:t>Runs on your laptop</a:t>
            </a:r>
            <a:endParaRPr lang="en-US" sz="1450" dirty="0"/>
          </a:p>
        </p:txBody>
      </p:sp>
      <p:sp>
        <p:nvSpPr>
          <p:cNvPr id="12" name="Text 9"/>
          <p:cNvSpPr/>
          <p:nvPr/>
        </p:nvSpPr>
        <p:spPr>
          <a:xfrm>
            <a:off x="8503920" y="2423160"/>
            <a:ext cx="2727655" cy="384048"/>
          </a:xfrm>
          <a:prstGeom prst="rect">
            <a:avLst/>
          </a:prstGeom>
          <a:noFill/>
          <a:ln/>
        </p:spPr>
        <p:txBody>
          <a:bodyPr wrap="square" lIns="0" tIns="0" rIns="0" bIns="0" rtlCol="0" anchor="ctr"/>
          <a:lstStyle/>
          <a:p>
            <a:pPr indent="0" marL="0">
              <a:lnSpc>
                <a:spcPct val="98000"/>
              </a:lnSpc>
              <a:buNone/>
            </a:pPr>
            <a:r>
              <a:rPr lang="en-US" sz="1250" dirty="0">
                <a:solidFill>
                  <a:srgbClr val="6A7280"/>
                </a:solidFill>
                <a:latin typeface="Calibri" pitchFamily="34" charset="0"/>
                <a:ea typeface="Calibri" pitchFamily="34" charset="-122"/>
                <a:cs typeface="Calibri" pitchFamily="34" charset="-120"/>
              </a:rPr>
              <a:t>no IAM, no deploy, no cost</a:t>
            </a:r>
            <a:endParaRPr lang="en-US" sz="1250" dirty="0"/>
          </a:p>
        </p:txBody>
      </p:sp>
      <p:sp>
        <p:nvSpPr>
          <p:cNvPr id="13" name="Shape 10"/>
          <p:cNvSpPr/>
          <p:nvPr/>
        </p:nvSpPr>
        <p:spPr>
          <a:xfrm>
            <a:off x="7680960" y="3017520"/>
            <a:ext cx="3733495" cy="914400"/>
          </a:xfrm>
          <a:prstGeom prst="roundRect">
            <a:avLst>
              <a:gd name="adj" fmla="val 9000"/>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14" name="Shape 11"/>
          <p:cNvSpPr/>
          <p:nvPr/>
        </p:nvSpPr>
        <p:spPr>
          <a:xfrm>
            <a:off x="7936992" y="3236976"/>
            <a:ext cx="475488" cy="475488"/>
          </a:xfrm>
          <a:prstGeom prst="ellipse">
            <a:avLst/>
          </a:prstGeom>
          <a:solidFill>
            <a:srgbClr val="F5EAD8"/>
          </a:solidFill>
          <a:ln/>
        </p:spPr>
      </p:sp>
      <p:pic>
        <p:nvPicPr>
          <p:cNvPr id="15" name="Image 1" descr="preencoded.png">    </p:cNvPr>
          <p:cNvPicPr>
            <a:picLocks noChangeAspect="1"/>
          </p:cNvPicPr>
          <p:nvPr/>
        </p:nvPicPr>
        <p:blipFill>
          <a:blip r:embed="rId2"/>
          <a:stretch>
            <a:fillRect/>
          </a:stretch>
        </p:blipFill>
        <p:spPr>
          <a:xfrm>
            <a:off x="8027335" y="3327319"/>
            <a:ext cx="294803" cy="294803"/>
          </a:xfrm>
          <a:prstGeom prst="rect">
            <a:avLst/>
          </a:prstGeom>
        </p:spPr>
      </p:pic>
      <p:sp>
        <p:nvSpPr>
          <p:cNvPr id="16" name="Text 12"/>
          <p:cNvSpPr/>
          <p:nvPr/>
        </p:nvSpPr>
        <p:spPr>
          <a:xfrm>
            <a:off x="8503920" y="3182112"/>
            <a:ext cx="2773375" cy="292608"/>
          </a:xfrm>
          <a:prstGeom prst="rect">
            <a:avLst/>
          </a:prstGeom>
          <a:noFill/>
          <a:ln/>
        </p:spPr>
        <p:txBody>
          <a:bodyPr wrap="square" lIns="0" tIns="0" rIns="0" bIns="0" rtlCol="0" anchor="ctr"/>
          <a:lstStyle/>
          <a:p>
            <a:pPr indent="0" marL="0">
              <a:buNone/>
            </a:pPr>
            <a:r>
              <a:rPr lang="en-US" sz="1450" b="1" dirty="0">
                <a:solidFill>
                  <a:srgbClr val="1A1D23"/>
                </a:solidFill>
                <a:latin typeface="Calibri" pitchFamily="34" charset="0"/>
                <a:ea typeface="Calibri" pitchFamily="34" charset="-122"/>
                <a:cs typeface="Calibri" pitchFamily="34" charset="-120"/>
              </a:rPr>
              <a:t>If this passes</a:t>
            </a:r>
            <a:endParaRPr lang="en-US" sz="1450" dirty="0"/>
          </a:p>
        </p:txBody>
      </p:sp>
      <p:sp>
        <p:nvSpPr>
          <p:cNvPr id="17" name="Text 13"/>
          <p:cNvSpPr/>
          <p:nvPr/>
        </p:nvSpPr>
        <p:spPr>
          <a:xfrm>
            <a:off x="8503920" y="3474720"/>
            <a:ext cx="2727655" cy="384048"/>
          </a:xfrm>
          <a:prstGeom prst="rect">
            <a:avLst/>
          </a:prstGeom>
          <a:noFill/>
          <a:ln/>
        </p:spPr>
        <p:txBody>
          <a:bodyPr wrap="square" lIns="0" tIns="0" rIns="0" bIns="0" rtlCol="0" anchor="ctr"/>
          <a:lstStyle/>
          <a:p>
            <a:pPr indent="0" marL="0">
              <a:lnSpc>
                <a:spcPct val="98000"/>
              </a:lnSpc>
              <a:buNone/>
            </a:pPr>
            <a:r>
              <a:rPr lang="en-US" sz="1250" dirty="0">
                <a:solidFill>
                  <a:srgbClr val="6A7280"/>
                </a:solidFill>
                <a:latin typeface="Calibri" pitchFamily="34" charset="0"/>
                <a:ea typeface="Calibri" pitchFamily="34" charset="-122"/>
                <a:cs typeface="Calibri" pitchFamily="34" charset="-120"/>
              </a:rPr>
              <a:t>the Lambda will not throw the response error</a:t>
            </a:r>
            <a:endParaRPr lang="en-US" sz="1250" dirty="0"/>
          </a:p>
        </p:txBody>
      </p:sp>
      <p:sp>
        <p:nvSpPr>
          <p:cNvPr id="18" name="Shape 14"/>
          <p:cNvSpPr/>
          <p:nvPr/>
        </p:nvSpPr>
        <p:spPr>
          <a:xfrm>
            <a:off x="7680960" y="4069080"/>
            <a:ext cx="3733495" cy="914400"/>
          </a:xfrm>
          <a:prstGeom prst="roundRect">
            <a:avLst>
              <a:gd name="adj" fmla="val 9000"/>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19" name="Shape 15"/>
          <p:cNvSpPr/>
          <p:nvPr/>
        </p:nvSpPr>
        <p:spPr>
          <a:xfrm>
            <a:off x="7936992" y="4288536"/>
            <a:ext cx="475488" cy="475488"/>
          </a:xfrm>
          <a:prstGeom prst="ellipse">
            <a:avLst/>
          </a:prstGeom>
          <a:solidFill>
            <a:srgbClr val="F5EAD8"/>
          </a:solidFill>
          <a:ln/>
        </p:spPr>
      </p:sp>
      <p:pic>
        <p:nvPicPr>
          <p:cNvPr id="20" name="Image 2" descr="preencoded.png">    </p:cNvPr>
          <p:cNvPicPr>
            <a:picLocks noChangeAspect="1"/>
          </p:cNvPicPr>
          <p:nvPr/>
        </p:nvPicPr>
        <p:blipFill>
          <a:blip r:embed="rId3"/>
          <a:stretch>
            <a:fillRect/>
          </a:stretch>
        </p:blipFill>
        <p:spPr>
          <a:xfrm>
            <a:off x="8027335" y="4378879"/>
            <a:ext cx="294803" cy="294803"/>
          </a:xfrm>
          <a:prstGeom prst="rect">
            <a:avLst/>
          </a:prstGeom>
        </p:spPr>
      </p:pic>
      <p:sp>
        <p:nvSpPr>
          <p:cNvPr id="21" name="Text 16"/>
          <p:cNvSpPr/>
          <p:nvPr/>
        </p:nvSpPr>
        <p:spPr>
          <a:xfrm>
            <a:off x="8503920" y="4233672"/>
            <a:ext cx="2773375" cy="292608"/>
          </a:xfrm>
          <a:prstGeom prst="rect">
            <a:avLst/>
          </a:prstGeom>
          <a:noFill/>
          <a:ln/>
        </p:spPr>
        <p:txBody>
          <a:bodyPr wrap="square" lIns="0" tIns="0" rIns="0" bIns="0" rtlCol="0" anchor="ctr"/>
          <a:lstStyle/>
          <a:p>
            <a:pPr indent="0" marL="0">
              <a:buNone/>
            </a:pPr>
            <a:r>
              <a:rPr lang="en-US" sz="1450" b="1" dirty="0">
                <a:solidFill>
                  <a:srgbClr val="1A1D23"/>
                </a:solidFill>
                <a:latin typeface="Calibri" pitchFamily="34" charset="0"/>
                <a:ea typeface="Calibri" pitchFamily="34" charset="-122"/>
                <a:cs typeface="Calibri" pitchFamily="34" charset="-120"/>
              </a:rPr>
              <a:t>The assert catches</a:t>
            </a:r>
            <a:endParaRPr lang="en-US" sz="1450" dirty="0"/>
          </a:p>
        </p:txBody>
      </p:sp>
      <p:sp>
        <p:nvSpPr>
          <p:cNvPr id="22" name="Text 17"/>
          <p:cNvSpPr/>
          <p:nvPr/>
        </p:nvSpPr>
        <p:spPr>
          <a:xfrm>
            <a:off x="8503920" y="4526280"/>
            <a:ext cx="2727655" cy="384048"/>
          </a:xfrm>
          <a:prstGeom prst="rect">
            <a:avLst/>
          </a:prstGeom>
          <a:noFill/>
          <a:ln/>
        </p:spPr>
        <p:txBody>
          <a:bodyPr wrap="square" lIns="0" tIns="0" rIns="0" bIns="0" rtlCol="0" anchor="ctr"/>
          <a:lstStyle/>
          <a:p>
            <a:pPr indent="0" marL="0">
              <a:lnSpc>
                <a:spcPct val="98000"/>
              </a:lnSpc>
              <a:buNone/>
            </a:pPr>
            <a:r>
              <a:rPr lang="en-US" sz="1250" dirty="0">
                <a:solidFill>
                  <a:srgbClr val="6A7280"/>
                </a:solidFill>
                <a:latin typeface="Calibri" pitchFamily="34" charset="0"/>
                <a:ea typeface="Calibri" pitchFamily="34" charset="-122"/>
                <a:cs typeface="Calibri" pitchFamily="34" charset="-120"/>
              </a:rPr>
              <a:t>a raw-dict body before the cloud ever sees it</a:t>
            </a:r>
            <a:endParaRPr lang="en-US" sz="1250" dirty="0"/>
          </a:p>
        </p:txBody>
      </p:sp>
      <p:sp>
        <p:nvSpPr>
          <p:cNvPr id="23" name="Shape 18"/>
          <p:cNvSpPr/>
          <p:nvPr/>
        </p:nvSpPr>
        <p:spPr>
          <a:xfrm>
            <a:off x="7680960" y="5257800"/>
            <a:ext cx="3733495" cy="502920"/>
          </a:xfrm>
          <a:prstGeom prst="roundRect">
            <a:avLst>
              <a:gd name="adj" fmla="val 14545"/>
            </a:avLst>
          </a:prstGeom>
          <a:solidFill>
            <a:srgbClr val="14161C"/>
          </a:solidFill>
          <a:ln/>
        </p:spPr>
      </p:sp>
      <p:sp>
        <p:nvSpPr>
          <p:cNvPr id="24" name="Text 19"/>
          <p:cNvSpPr/>
          <p:nvPr/>
        </p:nvSpPr>
        <p:spPr>
          <a:xfrm>
            <a:off x="7863840" y="5257800"/>
            <a:ext cx="3367735"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Test the contract on your laptop, not in the cloud.</a:t>
            </a:r>
            <a:endParaRPr lang="en-US" sz="1300" dirty="0"/>
          </a:p>
        </p:txBody>
      </p:sp>
      <p:sp>
        <p:nvSpPr>
          <p:cNvPr id="25" name="Text 20"/>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Prove it locally</a:t>
            </a:r>
            <a:endParaRPr lang="en-US" sz="950" dirty="0"/>
          </a:p>
        </p:txBody>
      </p:sp>
      <p:sp>
        <p:nvSpPr>
          <p:cNvPr id="26" name="Text 21"/>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FIELD GUIDE</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The error decoder</a:t>
            </a:r>
            <a:endParaRPr lang="en-US" sz="3300" dirty="0"/>
          </a:p>
        </p:txBody>
      </p:sp>
      <p:sp>
        <p:nvSpPr>
          <p:cNvPr id="4" name="Text 2"/>
          <p:cNvSpPr/>
          <p:nvPr/>
        </p:nvSpPr>
        <p:spPr>
          <a:xfrm>
            <a:off x="594360" y="1417320"/>
            <a:ext cx="11002975" cy="457200"/>
          </a:xfrm>
          <a:prstGeom prst="rect">
            <a:avLst/>
          </a:prstGeom>
          <a:noFill/>
          <a:ln/>
        </p:spPr>
        <p:txBody>
          <a:bodyPr wrap="square" lIns="0" tIns="0" rIns="0" bIns="0" rtlCol="0" anchor="ctr"/>
          <a:lstStyle/>
          <a:p>
            <a:pPr algn="l" indent="0" marL="0">
              <a:buNone/>
            </a:pPr>
            <a:r>
              <a:rPr lang="en-US" sz="1500" i="1" dirty="0">
                <a:solidFill>
                  <a:srgbClr val="6A7280"/>
                </a:solidFill>
                <a:latin typeface="Calibri" pitchFamily="34" charset="0"/>
                <a:ea typeface="Calibri" pitchFamily="34" charset="-122"/>
                <a:cs typeface="Calibri" pitchFamily="34" charset="-120"/>
              </a:rPr>
              <a:t>Every confusing failure maps to one real cause. Read the symptom, apply the fix.</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 y="2057400"/>
          <a:ext cx="11002975" cy="914400"/>
        </p:xfrm>
        <a:graphic>
          <a:graphicData uri="http://schemas.openxmlformats.org/drawingml/2006/table">
            <a:tbl>
              <a:tblPr/>
              <a:tblGrid>
                <a:gridCol w="3383280"/>
                <a:gridCol w="3977640"/>
                <a:gridCol w="3642055"/>
              </a:tblGrid>
              <a:tr h="5486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YOU SEE</a:t>
                      </a:r>
                      <a:endParaRPr lang="en-US" sz="1200" dirty="0">
                        <a:latin typeface="Calibri" charset="0"/>
                        <a:ea typeface="Calibri" charset="0"/>
                        <a:cs typeface="Calibri"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14161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REAL CAUSE</a:t>
                      </a:r>
                      <a:endParaRPr lang="en-US" sz="1200" dirty="0">
                        <a:latin typeface="Calibri" charset="0"/>
                        <a:ea typeface="Calibri" charset="0"/>
                        <a:cs typeface="Calibri"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14161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THE FIX</a:t>
                      </a:r>
                      <a:endParaRPr lang="en-US" sz="1200" dirty="0">
                        <a:latin typeface="Calibri" charset="0"/>
                        <a:ea typeface="Calibri" charset="0"/>
                        <a:cs typeface="Calibri"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14161C"/>
                    </a:solidFill>
                  </a:tcPr>
                </a:tc>
              </a:tr>
              <a:tr h="548640">
                <a:tc>
                  <a:txBody>
                    <a:bodyPr/>
                    <a:lstStyle/>
                    <a:p>
                      <a:pPr indent="0" marL="0">
                        <a:buNone/>
                      </a:pPr>
                      <a:r>
                        <a:rPr lang="en-US" sz="1150" b="1" dirty="0">
                          <a:solidFill>
                            <a:srgbClr val="AE443A"/>
                          </a:solidFill>
                          <a:latin typeface="Courier New" pitchFamily="34" charset="0"/>
                          <a:ea typeface="Courier New" pitchFamily="34" charset="-122"/>
                          <a:cs typeface="Courier New" pitchFamily="34" charset="-120"/>
                        </a:rPr>
                        <a:t>"error processing the Lambda response"</a:t>
                      </a:r>
                      <a:endParaRPr lang="en-US" sz="1150" dirty="0">
                        <a:latin typeface="Courier New" charset="0"/>
                        <a:ea typeface="Courier New" charset="0"/>
                        <a:cs typeface="Courier New"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50" dirty="0">
                          <a:solidFill>
                            <a:srgbClr val="1A1D23"/>
                          </a:solidFill>
                          <a:latin typeface="Calibri" pitchFamily="34" charset="0"/>
                          <a:ea typeface="Calibri" pitchFamily="34" charset="-122"/>
                          <a:cs typeface="Calibri" pitchFamily="34" charset="-120"/>
                        </a:rPr>
                        <a:t>body is a dict, wrong content type, or fields not echoed</a:t>
                      </a:r>
                      <a:endParaRPr lang="en-US" sz="1250" dirty="0">
                        <a:latin typeface="Calibri" charset="0"/>
                        <a:ea typeface="Calibri" charset="0"/>
                        <a:cs typeface="Calibri"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50" b="1" dirty="0">
                          <a:solidFill>
                            <a:srgbClr val="3C7A5B"/>
                          </a:solidFill>
                          <a:latin typeface="Calibri" pitchFamily="34" charset="0"/>
                          <a:ea typeface="Calibri" pitchFamily="34" charset="-122"/>
                          <a:cs typeface="Calibri" pitchFamily="34" charset="-120"/>
                        </a:rPr>
                        <a:t>return a string body under TEXT, echo actionGroup + function</a:t>
                      </a:r>
                      <a:endParaRPr lang="en-US" sz="1250" dirty="0">
                        <a:latin typeface="Calibri" charset="0"/>
                        <a:ea typeface="Calibri" charset="0"/>
                        <a:cs typeface="Calibri"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AE443A"/>
                          </a:solidFill>
                          <a:latin typeface="Courier New" pitchFamily="34" charset="0"/>
                          <a:ea typeface="Courier New" pitchFamily="34" charset="-122"/>
                          <a:cs typeface="Courier New" pitchFamily="34" charset="-120"/>
                        </a:rPr>
                        <a:t>"Access denied" to the model</a:t>
                      </a:r>
                      <a:endParaRPr lang="en-US" sz="1150" dirty="0">
                        <a:latin typeface="Courier New" charset="0"/>
                        <a:ea typeface="Courier New" charset="0"/>
                        <a:cs typeface="Courier New"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8F9FB"/>
                    </a:solidFill>
                  </a:tcPr>
                </a:tc>
                <a:tc>
                  <a:txBody>
                    <a:bodyPr/>
                    <a:lstStyle/>
                    <a:p>
                      <a:pPr indent="0" marL="0">
                        <a:buNone/>
                      </a:pPr>
                      <a:r>
                        <a:rPr lang="en-US" sz="1250" dirty="0">
                          <a:solidFill>
                            <a:srgbClr val="1A1D23"/>
                          </a:solidFill>
                          <a:latin typeface="Calibri" pitchFamily="34" charset="0"/>
                          <a:ea typeface="Calibri" pitchFamily="34" charset="-122"/>
                          <a:cs typeface="Calibri" pitchFamily="34" charset="-120"/>
                        </a:rPr>
                        <a:t>model access not enabled for that model in this region</a:t>
                      </a:r>
                      <a:endParaRPr lang="en-US" sz="1250" dirty="0">
                        <a:latin typeface="Calibri" charset="0"/>
                        <a:ea typeface="Calibri" charset="0"/>
                        <a:cs typeface="Calibri"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8F9FB"/>
                    </a:solidFill>
                  </a:tcPr>
                </a:tc>
                <a:tc>
                  <a:txBody>
                    <a:bodyPr/>
                    <a:lstStyle/>
                    <a:p>
                      <a:pPr indent="0" marL="0">
                        <a:buNone/>
                      </a:pPr>
                      <a:r>
                        <a:rPr lang="en-US" sz="1250" b="1" dirty="0">
                          <a:solidFill>
                            <a:srgbClr val="3C7A5B"/>
                          </a:solidFill>
                          <a:latin typeface="Calibri" pitchFamily="34" charset="0"/>
                          <a:ea typeface="Calibri" pitchFamily="34" charset="-122"/>
                          <a:cs typeface="Calibri" pitchFamily="34" charset="-120"/>
                        </a:rPr>
                        <a:t>enable model access in Bedrock, this region</a:t>
                      </a:r>
                      <a:endParaRPr lang="en-US" sz="1250" dirty="0">
                        <a:latin typeface="Calibri" charset="0"/>
                        <a:ea typeface="Calibri" charset="0"/>
                        <a:cs typeface="Calibri"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8F9FB"/>
                    </a:solidFill>
                  </a:tcPr>
                </a:tc>
              </a:tr>
              <a:tr h="548640">
                <a:tc>
                  <a:txBody>
                    <a:bodyPr/>
                    <a:lstStyle/>
                    <a:p>
                      <a:pPr indent="0" marL="0">
                        <a:buNone/>
                      </a:pPr>
                      <a:r>
                        <a:rPr lang="en-US" sz="1150" b="1" dirty="0">
                          <a:solidFill>
                            <a:srgbClr val="AE443A"/>
                          </a:solidFill>
                          <a:latin typeface="Courier New" pitchFamily="34" charset="0"/>
                          <a:ea typeface="Courier New" pitchFamily="34" charset="-122"/>
                          <a:cs typeface="Courier New" pitchFamily="34" charset="-120"/>
                        </a:rPr>
                        <a:t>dependencyFailedException</a:t>
                      </a:r>
                      <a:endParaRPr lang="en-US" sz="1150" dirty="0">
                        <a:latin typeface="Courier New" charset="0"/>
                        <a:ea typeface="Courier New" charset="0"/>
                        <a:cs typeface="Courier New"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50" dirty="0">
                          <a:solidFill>
                            <a:srgbClr val="1A1D23"/>
                          </a:solidFill>
                          <a:latin typeface="Calibri" pitchFamily="34" charset="0"/>
                          <a:ea typeface="Calibri" pitchFamily="34" charset="-122"/>
                          <a:cs typeface="Calibri" pitchFamily="34" charset="-120"/>
                        </a:rPr>
                        <a:t>agent role missing bedrock:InvokeModel, or never prepared</a:t>
                      </a:r>
                      <a:endParaRPr lang="en-US" sz="1250" dirty="0">
                        <a:latin typeface="Calibri" charset="0"/>
                        <a:ea typeface="Calibri" charset="0"/>
                        <a:cs typeface="Calibri"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50" b="1" dirty="0">
                          <a:solidFill>
                            <a:srgbClr val="3C7A5B"/>
                          </a:solidFill>
                          <a:latin typeface="Calibri" pitchFamily="34" charset="0"/>
                          <a:ea typeface="Calibri" pitchFamily="34" charset="-122"/>
                          <a:cs typeface="Calibri" pitchFamily="34" charset="-120"/>
                        </a:rPr>
                        <a:t>fix Door 1, then Prepare the agent</a:t>
                      </a:r>
                      <a:endParaRPr lang="en-US" sz="1250" dirty="0">
                        <a:latin typeface="Calibri" charset="0"/>
                        <a:ea typeface="Calibri" charset="0"/>
                        <a:cs typeface="Calibri"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FFFFF"/>
                    </a:solidFill>
                  </a:tcPr>
                </a:tc>
              </a:tr>
              <a:tr h="548640">
                <a:tc>
                  <a:txBody>
                    <a:bodyPr/>
                    <a:lstStyle/>
                    <a:p>
                      <a:pPr indent="0" marL="0">
                        <a:buNone/>
                      </a:pPr>
                      <a:r>
                        <a:rPr lang="en-US" sz="1150" b="1" dirty="0">
                          <a:solidFill>
                            <a:srgbClr val="AE443A"/>
                          </a:solidFill>
                          <a:latin typeface="Courier New" pitchFamily="34" charset="0"/>
                          <a:ea typeface="Courier New" pitchFamily="34" charset="-122"/>
                          <a:cs typeface="Courier New" pitchFamily="34" charset="-120"/>
                        </a:rPr>
                        <a:t>tool is never called</a:t>
                      </a:r>
                      <a:endParaRPr lang="en-US" sz="1150" dirty="0">
                        <a:latin typeface="Courier New" charset="0"/>
                        <a:ea typeface="Courier New" charset="0"/>
                        <a:cs typeface="Courier New"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8F9FB"/>
                    </a:solidFill>
                  </a:tcPr>
                </a:tc>
                <a:tc>
                  <a:txBody>
                    <a:bodyPr/>
                    <a:lstStyle/>
                    <a:p>
                      <a:pPr indent="0" marL="0">
                        <a:buNone/>
                      </a:pPr>
                      <a:r>
                        <a:rPr lang="en-US" sz="1250" dirty="0">
                          <a:solidFill>
                            <a:srgbClr val="1A1D23"/>
                          </a:solidFill>
                          <a:latin typeface="Calibri" pitchFamily="34" charset="0"/>
                          <a:ea typeface="Calibri" pitchFamily="34" charset="-122"/>
                          <a:cs typeface="Calibri" pitchFamily="34" charset="-120"/>
                        </a:rPr>
                        <a:t>you edited the agent but did not Prepare</a:t>
                      </a:r>
                      <a:endParaRPr lang="en-US" sz="1250" dirty="0">
                        <a:latin typeface="Calibri" charset="0"/>
                        <a:ea typeface="Calibri" charset="0"/>
                        <a:cs typeface="Calibri"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8F9FB"/>
                    </a:solidFill>
                  </a:tcPr>
                </a:tc>
                <a:tc>
                  <a:txBody>
                    <a:bodyPr/>
                    <a:lstStyle/>
                    <a:p>
                      <a:pPr indent="0" marL="0">
                        <a:buNone/>
                      </a:pPr>
                      <a:r>
                        <a:rPr lang="en-US" sz="1250" b="1" dirty="0">
                          <a:solidFill>
                            <a:srgbClr val="3C7A5B"/>
                          </a:solidFill>
                          <a:latin typeface="Calibri" pitchFamily="34" charset="0"/>
                          <a:ea typeface="Calibri" pitchFamily="34" charset="-122"/>
                          <a:cs typeface="Calibri" pitchFamily="34" charset="-120"/>
                        </a:rPr>
                        <a:t>run prepare_agent after every change</a:t>
                      </a:r>
                      <a:endParaRPr lang="en-US" sz="1250" dirty="0">
                        <a:latin typeface="Calibri" charset="0"/>
                        <a:ea typeface="Calibri" charset="0"/>
                        <a:cs typeface="Calibri"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8F9FB"/>
                    </a:solidFill>
                  </a:tcPr>
                </a:tc>
              </a:tr>
              <a:tr h="548640">
                <a:tc>
                  <a:txBody>
                    <a:bodyPr/>
                    <a:lstStyle/>
                    <a:p>
                      <a:pPr indent="0" marL="0">
                        <a:buNone/>
                      </a:pPr>
                      <a:r>
                        <a:rPr lang="en-US" sz="1150" b="1" dirty="0">
                          <a:solidFill>
                            <a:srgbClr val="AE443A"/>
                          </a:solidFill>
                          <a:latin typeface="Courier New" pitchFamily="34" charset="0"/>
                          <a:ea typeface="Courier New" pitchFamily="34" charset="-122"/>
                          <a:cs typeface="Courier New" pitchFamily="34" charset="-120"/>
                        </a:rPr>
                        <a:t>Lambda not invoked / denied</a:t>
                      </a:r>
                      <a:endParaRPr lang="en-US" sz="1150" dirty="0">
                        <a:latin typeface="Courier New" charset="0"/>
                        <a:ea typeface="Courier New" charset="0"/>
                        <a:cs typeface="Courier New"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50" dirty="0">
                          <a:solidFill>
                            <a:srgbClr val="1A1D23"/>
                          </a:solidFill>
                          <a:latin typeface="Calibri" pitchFamily="34" charset="0"/>
                          <a:ea typeface="Calibri" pitchFamily="34" charset="-122"/>
                          <a:cs typeface="Calibri" pitchFamily="34" charset="-120"/>
                        </a:rPr>
                        <a:t>Door 2 missing: no resource policy for Bedrock</a:t>
                      </a:r>
                      <a:endParaRPr lang="en-US" sz="1250" dirty="0">
                        <a:latin typeface="Calibri" charset="0"/>
                        <a:ea typeface="Calibri" charset="0"/>
                        <a:cs typeface="Calibri"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FFFFF"/>
                    </a:solidFill>
                  </a:tcPr>
                </a:tc>
                <a:tc>
                  <a:txBody>
                    <a:bodyPr/>
                    <a:lstStyle/>
                    <a:p>
                      <a:pPr indent="0" marL="0">
                        <a:buNone/>
                      </a:pPr>
                      <a:r>
                        <a:rPr lang="en-US" sz="1250" b="1" dirty="0">
                          <a:solidFill>
                            <a:srgbClr val="3C7A5B"/>
                          </a:solidFill>
                          <a:latin typeface="Calibri" pitchFamily="34" charset="0"/>
                          <a:ea typeface="Calibri" pitchFamily="34" charset="-122"/>
                          <a:cs typeface="Calibri" pitchFamily="34" charset="-120"/>
                        </a:rPr>
                        <a:t>add_permission with SourceArn on the agent</a:t>
                      </a:r>
                      <a:endParaRPr lang="en-US" sz="1250" dirty="0">
                        <a:latin typeface="Calibri" charset="0"/>
                        <a:ea typeface="Calibri" charset="0"/>
                        <a:cs typeface="Calibri" charset="0"/>
                      </a:endParaRPr>
                    </a:p>
                  </a:txBody>
                  <a:tcPr marL="146304" marR="146304" marT="0" marB="0" anchor="ctr">
                    <a:lnL w="12700" cap="flat" cmpd="sng" algn="ctr">
                      <a:solidFill>
                        <a:srgbClr val="E4E7EB"/>
                      </a:solidFill>
                      <a:prstDash val="solid"/>
                      <a:round/>
                      <a:headEnd type="none" w="med" len="med"/>
                      <a:tailEnd type="none" w="med" len="med"/>
                    </a:lnL>
                    <a:lnR w="12700" cap="flat" cmpd="sng" algn="ctr">
                      <a:solidFill>
                        <a:srgbClr val="E4E7EB"/>
                      </a:solidFill>
                      <a:prstDash val="solid"/>
                      <a:round/>
                      <a:headEnd type="none" w="med" len="med"/>
                      <a:tailEnd type="none" w="med" len="med"/>
                    </a:lnR>
                    <a:lnT w="12700" cap="flat" cmpd="sng" algn="ctr">
                      <a:solidFill>
                        <a:srgbClr val="E4E7EB"/>
                      </a:solidFill>
                      <a:prstDash val="solid"/>
                      <a:round/>
                      <a:headEnd type="none" w="med" len="med"/>
                      <a:tailEnd type="none" w="med" len="med"/>
                    </a:lnT>
                    <a:lnB w="12700" cap="flat" cmpd="sng" algn="ctr">
                      <a:solidFill>
                        <a:srgbClr val="E4E7EB"/>
                      </a:solidFill>
                      <a:prstDash val="solid"/>
                      <a:round/>
                      <a:headEnd type="none" w="med" len="med"/>
                      <a:tailEnd type="none" w="med" len="med"/>
                    </a:lnB>
                    <a:solidFill>
                      <a:srgbClr val="FFFFFF"/>
                    </a:solidFill>
                  </a:tcPr>
                </a:tc>
              </a:tr>
            </a:tbl>
          </a:graphicData>
        </a:graphic>
      </p:graphicFrame>
      <p:sp>
        <p:nvSpPr>
          <p:cNvPr id="6" name="Shape 3"/>
          <p:cNvSpPr/>
          <p:nvPr/>
        </p:nvSpPr>
        <p:spPr>
          <a:xfrm>
            <a:off x="594360" y="5806440"/>
            <a:ext cx="11002975" cy="548640"/>
          </a:xfrm>
          <a:prstGeom prst="roundRect">
            <a:avLst>
              <a:gd name="adj" fmla="val 13333"/>
            </a:avLst>
          </a:prstGeom>
          <a:solidFill>
            <a:srgbClr val="F5EAD8"/>
          </a:solidFill>
          <a:ln w="12700">
            <a:solidFill>
              <a:srgbClr val="E4C99A"/>
            </a:solidFill>
            <a:prstDash val="solid"/>
          </a:ln>
        </p:spPr>
      </p:sp>
      <p:sp>
        <p:nvSpPr>
          <p:cNvPr id="7" name="Text 4"/>
          <p:cNvSpPr/>
          <p:nvPr/>
        </p:nvSpPr>
        <p:spPr>
          <a:xfrm>
            <a:off x="868680" y="5806440"/>
            <a:ext cx="10454335" cy="548640"/>
          </a:xfrm>
          <a:prstGeom prst="rect">
            <a:avLst/>
          </a:prstGeom>
          <a:noFill/>
          <a:ln/>
        </p:spPr>
        <p:txBody>
          <a:bodyPr wrap="square" lIns="0" tIns="0" rIns="0" bIns="0" rtlCol="0" anchor="ctr"/>
          <a:lstStyle/>
          <a:p>
            <a:pPr indent="0" marL="0">
              <a:buNone/>
            </a:pPr>
            <a:r>
              <a:rPr lang="en-US" sz="1300" b="1" dirty="0">
                <a:solidFill>
                  <a:srgbClr val="8A4E0C"/>
                </a:solidFill>
                <a:latin typeface="Calibri" pitchFamily="34" charset="0"/>
                <a:ea typeface="Calibri" pitchFamily="34" charset="-122"/>
                <a:cs typeface="Calibri" pitchFamily="34" charset="-120"/>
              </a:rPr>
              <a:t>Verified:  </a:t>
            </a:r>
            <a:pPr indent="0" marL="0">
              <a:buNone/>
            </a:pPr>
            <a:r>
              <a:rPr lang="en-US" sz="1300" b="1" dirty="0">
                <a:solidFill>
                  <a:srgbClr val="8A4E0C"/>
                </a:solidFill>
                <a:latin typeface="Courier New" pitchFamily="34" charset="0"/>
                <a:ea typeface="Courier New" pitchFamily="34" charset="-122"/>
                <a:cs typeface="Courier New" pitchFamily="34" charset="-120"/>
              </a:rPr>
              <a:t>bedrock:Converse</a:t>
            </a:r>
            <a:pPr indent="0" marL="0">
              <a:buNone/>
            </a:pPr>
            <a:r>
              <a:rPr lang="en-US" sz="1300" dirty="0">
                <a:solidFill>
                  <a:srgbClr val="5C4415"/>
                </a:solidFill>
                <a:latin typeface="Calibri" pitchFamily="34" charset="0"/>
                <a:ea typeface="Calibri" pitchFamily="34" charset="-122"/>
                <a:cs typeface="Calibri" pitchFamily="34" charset="-120"/>
              </a:rPr>
              <a:t> is not a valid IAM action.  </a:t>
            </a:r>
            <a:pPr indent="0" marL="0">
              <a:buNone/>
            </a:pPr>
            <a:r>
              <a:rPr lang="en-US" sz="1300" b="1" dirty="0">
                <a:solidFill>
                  <a:srgbClr val="8A4E0C"/>
                </a:solidFill>
                <a:latin typeface="Courier New" pitchFamily="34" charset="0"/>
                <a:ea typeface="Courier New" pitchFamily="34" charset="-122"/>
                <a:cs typeface="Courier New" pitchFamily="34" charset="-120"/>
              </a:rPr>
              <a:t>bedrock:InvokeModel</a:t>
            </a:r>
            <a:pPr indent="0" marL="0">
              <a:buNone/>
            </a:pPr>
            <a:r>
              <a:rPr lang="en-US" sz="1300" dirty="0">
                <a:solidFill>
                  <a:srgbClr val="5C4415"/>
                </a:solidFill>
                <a:latin typeface="Calibri" pitchFamily="34" charset="0"/>
                <a:ea typeface="Calibri" pitchFamily="34" charset="-122"/>
                <a:cs typeface="Calibri" pitchFamily="34" charset="-120"/>
              </a:rPr>
              <a:t> already covers it.</a:t>
            </a:r>
            <a:endParaRPr lang="en-US" sz="1300" dirty="0"/>
          </a:p>
        </p:txBody>
      </p:sp>
      <p:sp>
        <p:nvSpPr>
          <p:cNvPr id="8" name="Text 5"/>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Error decoder</a:t>
            </a:r>
            <a:endParaRPr lang="en-US" sz="950" dirty="0"/>
          </a:p>
        </p:txBody>
      </p:sp>
      <p:sp>
        <p:nvSpPr>
          <p:cNvPr id="9" name="Text 6"/>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THE OTHER OPTION</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Return of Control: when you do not want a Lambda</a:t>
            </a:r>
            <a:endParaRPr lang="en-US" sz="3300" dirty="0"/>
          </a:p>
        </p:txBody>
      </p:sp>
      <p:sp>
        <p:nvSpPr>
          <p:cNvPr id="4" name="Text 2"/>
          <p:cNvSpPr/>
          <p:nvPr/>
        </p:nvSpPr>
        <p:spPr>
          <a:xfrm>
            <a:off x="594360" y="1417320"/>
            <a:ext cx="11002975" cy="457200"/>
          </a:xfrm>
          <a:prstGeom prst="rect">
            <a:avLst/>
          </a:prstGeom>
          <a:noFill/>
          <a:ln/>
        </p:spPr>
        <p:txBody>
          <a:bodyPr wrap="square" lIns="0" tIns="0" rIns="0" bIns="0" rtlCol="0" anchor="ctr"/>
          <a:lstStyle/>
          <a:p>
            <a:pPr algn="l" indent="0" marL="0">
              <a:buNone/>
            </a:pPr>
            <a:r>
              <a:rPr lang="en-US" sz="1500" i="1" dirty="0">
                <a:solidFill>
                  <a:srgbClr val="6A7280"/>
                </a:solidFill>
                <a:latin typeface="Calibri" pitchFamily="34" charset="0"/>
                <a:ea typeface="Calibri" pitchFamily="34" charset="-122"/>
                <a:cs typeface="Calibri" pitchFamily="34" charset="-120"/>
              </a:rPr>
              <a:t>Skip Lambda entirely and let the agent hand the tool call back to your own application.</a:t>
            </a:r>
            <a:endParaRPr lang="en-US" sz="1500" dirty="0"/>
          </a:p>
        </p:txBody>
      </p:sp>
      <p:sp>
        <p:nvSpPr>
          <p:cNvPr id="5" name="Shape 3"/>
          <p:cNvSpPr/>
          <p:nvPr/>
        </p:nvSpPr>
        <p:spPr>
          <a:xfrm>
            <a:off x="594360" y="2057400"/>
            <a:ext cx="6675120" cy="3703320"/>
          </a:xfrm>
          <a:prstGeom prst="roundRect">
            <a:avLst>
              <a:gd name="adj" fmla="val 2222"/>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6" name="Text 4"/>
          <p:cNvSpPr/>
          <p:nvPr/>
        </p:nvSpPr>
        <p:spPr>
          <a:xfrm>
            <a:off x="914400" y="2286000"/>
            <a:ext cx="5943600" cy="274320"/>
          </a:xfrm>
          <a:prstGeom prst="rect">
            <a:avLst/>
          </a:prstGeom>
          <a:noFill/>
          <a:ln/>
        </p:spPr>
        <p:txBody>
          <a:bodyPr wrap="square" lIns="0" tIns="0" rIns="0" bIns="0" rtlCol="0" anchor="ctr"/>
          <a:lstStyle/>
          <a:p>
            <a:pPr indent="0" marL="0">
              <a:buNone/>
            </a:pPr>
            <a:r>
              <a:rPr lang="en-US" sz="1300" b="1" spc="200" kern="0" dirty="0">
                <a:solidFill>
                  <a:srgbClr val="BE7017"/>
                </a:solidFill>
                <a:latin typeface="Calibri" pitchFamily="34" charset="0"/>
                <a:ea typeface="Calibri" pitchFamily="34" charset="-122"/>
                <a:cs typeface="Calibri" pitchFamily="34" charset="-120"/>
              </a:rPr>
              <a:t>REACH FOR IT WHEN</a:t>
            </a:r>
            <a:endParaRPr lang="en-US" sz="1300" dirty="0"/>
          </a:p>
        </p:txBody>
      </p:sp>
      <p:sp>
        <p:nvSpPr>
          <p:cNvPr id="7" name="Shape 5"/>
          <p:cNvSpPr/>
          <p:nvPr/>
        </p:nvSpPr>
        <p:spPr>
          <a:xfrm>
            <a:off x="914400" y="2724912"/>
            <a:ext cx="493776" cy="493776"/>
          </a:xfrm>
          <a:prstGeom prst="ellipse">
            <a:avLst/>
          </a:prstGeom>
          <a:solidFill>
            <a:srgbClr val="F5EAD8"/>
          </a:solidFill>
          <a:ln/>
        </p:spPr>
      </p:sp>
      <p:pic>
        <p:nvPicPr>
          <p:cNvPr id="8" name="Image 0" descr="preencoded.png">    </p:cNvPr>
          <p:cNvPicPr>
            <a:picLocks noChangeAspect="1"/>
          </p:cNvPicPr>
          <p:nvPr/>
        </p:nvPicPr>
        <p:blipFill>
          <a:blip r:embed="rId1"/>
          <a:stretch>
            <a:fillRect/>
          </a:stretch>
        </p:blipFill>
        <p:spPr>
          <a:xfrm>
            <a:off x="1008217" y="2818729"/>
            <a:ext cx="306141" cy="306141"/>
          </a:xfrm>
          <a:prstGeom prst="rect">
            <a:avLst/>
          </a:prstGeom>
        </p:spPr>
      </p:pic>
      <p:sp>
        <p:nvSpPr>
          <p:cNvPr id="9" name="Text 6"/>
          <p:cNvSpPr/>
          <p:nvPr/>
        </p:nvSpPr>
        <p:spPr>
          <a:xfrm>
            <a:off x="1554480" y="2706624"/>
            <a:ext cx="5486400" cy="530352"/>
          </a:xfrm>
          <a:prstGeom prst="rect">
            <a:avLst/>
          </a:prstGeom>
          <a:noFill/>
          <a:ln/>
        </p:spPr>
        <p:txBody>
          <a:bodyPr wrap="square" lIns="0" tIns="0" rIns="0" bIns="0" rtlCol="0" anchor="ctr"/>
          <a:lstStyle/>
          <a:p>
            <a:pPr indent="0" marL="0">
              <a:lnSpc>
                <a:spcPct val="98000"/>
              </a:lnSpc>
              <a:buNone/>
            </a:pPr>
            <a:r>
              <a:rPr lang="en-US" sz="1350" b="1" dirty="0">
                <a:solidFill>
                  <a:srgbClr val="1A1D23"/>
                </a:solidFill>
                <a:latin typeface="Calibri" pitchFamily="34" charset="0"/>
                <a:ea typeface="Calibri" pitchFamily="34" charset="-122"/>
                <a:cs typeface="Calibri" pitchFamily="34" charset="-120"/>
              </a:rPr>
              <a:t>Your app can already call the API   </a:t>
            </a:r>
            <a:pPr indent="0" marL="0">
              <a:lnSpc>
                <a:spcPct val="98000"/>
              </a:lnSpc>
              <a:buNone/>
            </a:pPr>
            <a:r>
              <a:rPr lang="en-US" sz="1350" dirty="0">
                <a:solidFill>
                  <a:srgbClr val="6A7280"/>
                </a:solidFill>
                <a:latin typeface="Calibri" pitchFamily="34" charset="0"/>
                <a:ea typeface="Calibri" pitchFamily="34" charset="-122"/>
                <a:cs typeface="Calibri" pitchFamily="34" charset="-120"/>
              </a:rPr>
              <a:t>a new Lambda is just overhead</a:t>
            </a:r>
            <a:endParaRPr lang="en-US" sz="1350" dirty="0"/>
          </a:p>
        </p:txBody>
      </p:sp>
      <p:sp>
        <p:nvSpPr>
          <p:cNvPr id="10" name="Shape 7"/>
          <p:cNvSpPr/>
          <p:nvPr/>
        </p:nvSpPr>
        <p:spPr>
          <a:xfrm>
            <a:off x="914400" y="3456432"/>
            <a:ext cx="493776" cy="493776"/>
          </a:xfrm>
          <a:prstGeom prst="ellipse">
            <a:avLst/>
          </a:prstGeom>
          <a:solidFill>
            <a:srgbClr val="F5EAD8"/>
          </a:solidFill>
          <a:ln/>
        </p:spPr>
      </p:sp>
      <p:pic>
        <p:nvPicPr>
          <p:cNvPr id="11" name="Image 1" descr="preencoded.png">    </p:cNvPr>
          <p:cNvPicPr>
            <a:picLocks noChangeAspect="1"/>
          </p:cNvPicPr>
          <p:nvPr/>
        </p:nvPicPr>
        <p:blipFill>
          <a:blip r:embed="rId2"/>
          <a:stretch>
            <a:fillRect/>
          </a:stretch>
        </p:blipFill>
        <p:spPr>
          <a:xfrm>
            <a:off x="1008217" y="3550249"/>
            <a:ext cx="306141" cy="306141"/>
          </a:xfrm>
          <a:prstGeom prst="rect">
            <a:avLst/>
          </a:prstGeom>
        </p:spPr>
      </p:pic>
      <p:sp>
        <p:nvSpPr>
          <p:cNvPr id="12" name="Text 8"/>
          <p:cNvSpPr/>
          <p:nvPr/>
        </p:nvSpPr>
        <p:spPr>
          <a:xfrm>
            <a:off x="1554480" y="3438144"/>
            <a:ext cx="5486400" cy="530352"/>
          </a:xfrm>
          <a:prstGeom prst="rect">
            <a:avLst/>
          </a:prstGeom>
          <a:noFill/>
          <a:ln/>
        </p:spPr>
        <p:txBody>
          <a:bodyPr wrap="square" lIns="0" tIns="0" rIns="0" bIns="0" rtlCol="0" anchor="ctr"/>
          <a:lstStyle/>
          <a:p>
            <a:pPr indent="0" marL="0">
              <a:lnSpc>
                <a:spcPct val="98000"/>
              </a:lnSpc>
              <a:buNone/>
            </a:pPr>
            <a:r>
              <a:rPr lang="en-US" sz="1350" b="1" dirty="0">
                <a:solidFill>
                  <a:srgbClr val="1A1D23"/>
                </a:solidFill>
                <a:latin typeface="Calibri" pitchFamily="34" charset="0"/>
                <a:ea typeface="Calibri" pitchFamily="34" charset="-122"/>
                <a:cs typeface="Calibri" pitchFamily="34" charset="-120"/>
              </a:rPr>
              <a:t>The task runs past the 15 minute ceiling   </a:t>
            </a:r>
            <a:pPr indent="0" marL="0">
              <a:lnSpc>
                <a:spcPct val="98000"/>
              </a:lnSpc>
              <a:buNone/>
            </a:pPr>
            <a:r>
              <a:rPr lang="en-US" sz="1350" dirty="0">
                <a:solidFill>
                  <a:srgbClr val="6A7280"/>
                </a:solidFill>
                <a:latin typeface="Calibri" pitchFamily="34" charset="0"/>
                <a:ea typeface="Calibri" pitchFamily="34" charset="-122"/>
                <a:cs typeface="Calibri" pitchFamily="34" charset="-120"/>
              </a:rPr>
              <a:t>the Lambda hard limit will kill it</a:t>
            </a:r>
            <a:endParaRPr lang="en-US" sz="1350" dirty="0"/>
          </a:p>
        </p:txBody>
      </p:sp>
      <p:sp>
        <p:nvSpPr>
          <p:cNvPr id="13" name="Shape 9"/>
          <p:cNvSpPr/>
          <p:nvPr/>
        </p:nvSpPr>
        <p:spPr>
          <a:xfrm>
            <a:off x="914400" y="4187952"/>
            <a:ext cx="493776" cy="493776"/>
          </a:xfrm>
          <a:prstGeom prst="ellipse">
            <a:avLst/>
          </a:prstGeom>
          <a:solidFill>
            <a:srgbClr val="F5EAD8"/>
          </a:solidFill>
          <a:ln/>
        </p:spPr>
      </p:sp>
      <p:pic>
        <p:nvPicPr>
          <p:cNvPr id="14" name="Image 2" descr="preencoded.png">    </p:cNvPr>
          <p:cNvPicPr>
            <a:picLocks noChangeAspect="1"/>
          </p:cNvPicPr>
          <p:nvPr/>
        </p:nvPicPr>
        <p:blipFill>
          <a:blip r:embed="rId3"/>
          <a:stretch>
            <a:fillRect/>
          </a:stretch>
        </p:blipFill>
        <p:spPr>
          <a:xfrm>
            <a:off x="1008217" y="4281769"/>
            <a:ext cx="306141" cy="306141"/>
          </a:xfrm>
          <a:prstGeom prst="rect">
            <a:avLst/>
          </a:prstGeom>
        </p:spPr>
      </p:pic>
      <p:sp>
        <p:nvSpPr>
          <p:cNvPr id="15" name="Text 10"/>
          <p:cNvSpPr/>
          <p:nvPr/>
        </p:nvSpPr>
        <p:spPr>
          <a:xfrm>
            <a:off x="1554480" y="4169664"/>
            <a:ext cx="5486400" cy="530352"/>
          </a:xfrm>
          <a:prstGeom prst="rect">
            <a:avLst/>
          </a:prstGeom>
          <a:noFill/>
          <a:ln/>
        </p:spPr>
        <p:txBody>
          <a:bodyPr wrap="square" lIns="0" tIns="0" rIns="0" bIns="0" rtlCol="0" anchor="ctr"/>
          <a:lstStyle/>
          <a:p>
            <a:pPr indent="0" marL="0">
              <a:lnSpc>
                <a:spcPct val="98000"/>
              </a:lnSpc>
              <a:buNone/>
            </a:pPr>
            <a:r>
              <a:rPr lang="en-US" sz="1350" b="1" dirty="0">
                <a:solidFill>
                  <a:srgbClr val="1A1D23"/>
                </a:solidFill>
                <a:latin typeface="Calibri" pitchFamily="34" charset="0"/>
                <a:ea typeface="Calibri" pitchFamily="34" charset="-122"/>
                <a:cs typeface="Calibri" pitchFamily="34" charset="-120"/>
              </a:rPr>
              <a:t>The action is async or long-running   </a:t>
            </a:r>
            <a:pPr indent="0" marL="0">
              <a:lnSpc>
                <a:spcPct val="98000"/>
              </a:lnSpc>
              <a:buNone/>
            </a:pPr>
            <a:r>
              <a:rPr lang="en-US" sz="1350" dirty="0">
                <a:solidFill>
                  <a:srgbClr val="6A7280"/>
                </a:solidFill>
                <a:latin typeface="Calibri" pitchFamily="34" charset="0"/>
                <a:ea typeface="Calibri" pitchFamily="34" charset="-122"/>
                <a:cs typeface="Calibri" pitchFamily="34" charset="-120"/>
              </a:rPr>
              <a:t>you do not want the agent waiting on it</a:t>
            </a:r>
            <a:endParaRPr lang="en-US" sz="1350" dirty="0"/>
          </a:p>
        </p:txBody>
      </p:sp>
      <p:sp>
        <p:nvSpPr>
          <p:cNvPr id="16" name="Shape 11"/>
          <p:cNvSpPr/>
          <p:nvPr/>
        </p:nvSpPr>
        <p:spPr>
          <a:xfrm>
            <a:off x="914400" y="4919472"/>
            <a:ext cx="493776" cy="493776"/>
          </a:xfrm>
          <a:prstGeom prst="ellipse">
            <a:avLst/>
          </a:prstGeom>
          <a:solidFill>
            <a:srgbClr val="F5EAD8"/>
          </a:solidFill>
          <a:ln/>
        </p:spPr>
      </p:sp>
      <p:pic>
        <p:nvPicPr>
          <p:cNvPr id="17" name="Image 3" descr="preencoded.png">    </p:cNvPr>
          <p:cNvPicPr>
            <a:picLocks noChangeAspect="1"/>
          </p:cNvPicPr>
          <p:nvPr/>
        </p:nvPicPr>
        <p:blipFill>
          <a:blip r:embed="rId4"/>
          <a:stretch>
            <a:fillRect/>
          </a:stretch>
        </p:blipFill>
        <p:spPr>
          <a:xfrm>
            <a:off x="1008217" y="5013289"/>
            <a:ext cx="306141" cy="306141"/>
          </a:xfrm>
          <a:prstGeom prst="rect">
            <a:avLst/>
          </a:prstGeom>
        </p:spPr>
      </p:pic>
      <p:sp>
        <p:nvSpPr>
          <p:cNvPr id="18" name="Text 12"/>
          <p:cNvSpPr/>
          <p:nvPr/>
        </p:nvSpPr>
        <p:spPr>
          <a:xfrm>
            <a:off x="1554480" y="4901184"/>
            <a:ext cx="5486400" cy="530352"/>
          </a:xfrm>
          <a:prstGeom prst="rect">
            <a:avLst/>
          </a:prstGeom>
          <a:noFill/>
          <a:ln/>
        </p:spPr>
        <p:txBody>
          <a:bodyPr wrap="square" lIns="0" tIns="0" rIns="0" bIns="0" rtlCol="0" anchor="ctr"/>
          <a:lstStyle/>
          <a:p>
            <a:pPr indent="0" marL="0">
              <a:lnSpc>
                <a:spcPct val="98000"/>
              </a:lnSpc>
              <a:buNone/>
            </a:pPr>
            <a:r>
              <a:rPr lang="en-US" sz="1350" b="1" dirty="0">
                <a:solidFill>
                  <a:srgbClr val="1A1D23"/>
                </a:solidFill>
                <a:latin typeface="Calibri" pitchFamily="34" charset="0"/>
                <a:ea typeface="Calibri" pitchFamily="34" charset="-122"/>
                <a:cs typeface="Calibri" pitchFamily="34" charset="-120"/>
              </a:rPr>
              <a:t>The tool lives in a private network   </a:t>
            </a:r>
            <a:pPr indent="0" marL="0">
              <a:lnSpc>
                <a:spcPct val="98000"/>
              </a:lnSpc>
              <a:buNone/>
            </a:pPr>
            <a:r>
              <a:rPr lang="en-US" sz="1350" dirty="0">
                <a:solidFill>
                  <a:srgbClr val="6A7280"/>
                </a:solidFill>
                <a:latin typeface="Calibri" pitchFamily="34" charset="0"/>
                <a:ea typeface="Calibri" pitchFamily="34" charset="-122"/>
                <a:cs typeface="Calibri" pitchFamily="34" charset="-120"/>
              </a:rPr>
              <a:t>your Lambda would need extra wiring to reach it</a:t>
            </a:r>
            <a:endParaRPr lang="en-US" sz="1350" dirty="0"/>
          </a:p>
        </p:txBody>
      </p:sp>
      <p:sp>
        <p:nvSpPr>
          <p:cNvPr id="19" name="Shape 13"/>
          <p:cNvSpPr/>
          <p:nvPr/>
        </p:nvSpPr>
        <p:spPr>
          <a:xfrm>
            <a:off x="7635240" y="2057400"/>
            <a:ext cx="3962095" cy="3703320"/>
          </a:xfrm>
          <a:prstGeom prst="roundRect">
            <a:avLst>
              <a:gd name="adj" fmla="val 2222"/>
            </a:avLst>
          </a:prstGeom>
          <a:solidFill>
            <a:srgbClr val="F8F9FB"/>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20" name="Text 14"/>
          <p:cNvSpPr/>
          <p:nvPr/>
        </p:nvSpPr>
        <p:spPr>
          <a:xfrm>
            <a:off x="7909560" y="2286000"/>
            <a:ext cx="3413455" cy="274320"/>
          </a:xfrm>
          <a:prstGeom prst="rect">
            <a:avLst/>
          </a:prstGeom>
          <a:noFill/>
          <a:ln/>
        </p:spPr>
        <p:txBody>
          <a:bodyPr wrap="square" lIns="0" tIns="0" rIns="0" bIns="0" rtlCol="0" anchor="ctr"/>
          <a:lstStyle/>
          <a:p>
            <a:pPr indent="0" marL="0">
              <a:buNone/>
            </a:pPr>
            <a:r>
              <a:rPr lang="en-US" sz="1200" b="1" spc="150" kern="0" dirty="0">
                <a:solidFill>
                  <a:srgbClr val="14161C"/>
                </a:solidFill>
                <a:latin typeface="Calibri" pitchFamily="34" charset="0"/>
                <a:ea typeface="Calibri" pitchFamily="34" charset="-122"/>
                <a:cs typeface="Calibri" pitchFamily="34" charset="-120"/>
              </a:rPr>
              <a:t>SAME AGENT, DIFFERENT EXECUTOR</a:t>
            </a:r>
            <a:endParaRPr lang="en-US" sz="1200" dirty="0"/>
          </a:p>
        </p:txBody>
      </p:sp>
      <p:sp>
        <p:nvSpPr>
          <p:cNvPr id="21" name="Shape 15"/>
          <p:cNvSpPr/>
          <p:nvPr/>
        </p:nvSpPr>
        <p:spPr>
          <a:xfrm>
            <a:off x="7909560" y="2743200"/>
            <a:ext cx="3413455" cy="1143000"/>
          </a:xfrm>
          <a:prstGeom prst="roundRect">
            <a:avLst>
              <a:gd name="adj" fmla="val 6400"/>
            </a:avLst>
          </a:prstGeom>
          <a:solidFill>
            <a:srgbClr val="FFFFFF"/>
          </a:solidFill>
          <a:ln w="12700">
            <a:solidFill>
              <a:srgbClr val="E4E7EB"/>
            </a:solidFill>
            <a:prstDash val="solid"/>
          </a:ln>
        </p:spPr>
      </p:sp>
      <p:sp>
        <p:nvSpPr>
          <p:cNvPr id="22" name="Shape 16"/>
          <p:cNvSpPr/>
          <p:nvPr/>
        </p:nvSpPr>
        <p:spPr>
          <a:xfrm>
            <a:off x="8092440" y="2926080"/>
            <a:ext cx="457200" cy="457200"/>
          </a:xfrm>
          <a:prstGeom prst="ellipse">
            <a:avLst/>
          </a:prstGeom>
          <a:solidFill>
            <a:srgbClr val="F5EAD8"/>
          </a:solidFill>
          <a:ln/>
        </p:spPr>
      </p:sp>
      <p:pic>
        <p:nvPicPr>
          <p:cNvPr id="23" name="Image 4" descr="preencoded.png">    </p:cNvPr>
          <p:cNvPicPr>
            <a:picLocks noChangeAspect="1"/>
          </p:cNvPicPr>
          <p:nvPr/>
        </p:nvPicPr>
        <p:blipFill>
          <a:blip r:embed="rId5"/>
          <a:stretch>
            <a:fillRect/>
          </a:stretch>
        </p:blipFill>
        <p:spPr>
          <a:xfrm>
            <a:off x="8179308" y="3012948"/>
            <a:ext cx="283464" cy="283464"/>
          </a:xfrm>
          <a:prstGeom prst="rect">
            <a:avLst/>
          </a:prstGeom>
        </p:spPr>
      </p:pic>
      <p:sp>
        <p:nvSpPr>
          <p:cNvPr id="24" name="Text 17"/>
          <p:cNvSpPr/>
          <p:nvPr/>
        </p:nvSpPr>
        <p:spPr>
          <a:xfrm>
            <a:off x="8595360" y="2907792"/>
            <a:ext cx="2681935" cy="274320"/>
          </a:xfrm>
          <a:prstGeom prst="rect">
            <a:avLst/>
          </a:prstGeom>
          <a:noFill/>
          <a:ln/>
        </p:spPr>
        <p:txBody>
          <a:bodyPr wrap="square" lIns="0" tIns="0" rIns="0" bIns="0" rtlCol="0" anchor="ctr"/>
          <a:lstStyle/>
          <a:p>
            <a:pPr indent="0" marL="0">
              <a:buNone/>
            </a:pPr>
            <a:r>
              <a:rPr lang="en-US" sz="1450" b="1" dirty="0">
                <a:solidFill>
                  <a:srgbClr val="1A1D23"/>
                </a:solidFill>
                <a:latin typeface="Calibri" pitchFamily="34" charset="0"/>
                <a:ea typeface="Calibri" pitchFamily="34" charset="-122"/>
                <a:cs typeface="Calibri" pitchFamily="34" charset="-120"/>
              </a:rPr>
              <a:t>Lambda</a:t>
            </a:r>
            <a:endParaRPr lang="en-US" sz="1450" dirty="0"/>
          </a:p>
        </p:txBody>
      </p:sp>
      <p:sp>
        <p:nvSpPr>
          <p:cNvPr id="25" name="Text 18"/>
          <p:cNvSpPr/>
          <p:nvPr/>
        </p:nvSpPr>
        <p:spPr>
          <a:xfrm>
            <a:off x="8092440" y="3310128"/>
            <a:ext cx="3139135" cy="457200"/>
          </a:xfrm>
          <a:prstGeom prst="rect">
            <a:avLst/>
          </a:prstGeom>
          <a:noFill/>
          <a:ln/>
        </p:spPr>
        <p:txBody>
          <a:bodyPr wrap="square" lIns="0" tIns="0" rIns="0" bIns="0" rtlCol="0" anchor="ctr"/>
          <a:lstStyle/>
          <a:p>
            <a:pPr indent="0" marL="0">
              <a:lnSpc>
                <a:spcPct val="98000"/>
              </a:lnSpc>
              <a:buNone/>
            </a:pPr>
            <a:r>
              <a:rPr lang="en-US" sz="1250" dirty="0">
                <a:solidFill>
                  <a:srgbClr val="6A7280"/>
                </a:solidFill>
                <a:latin typeface="Calibri" pitchFamily="34" charset="0"/>
                <a:ea typeface="Calibri" pitchFamily="34" charset="-122"/>
                <a:cs typeface="Calibri" pitchFamily="34" charset="-120"/>
              </a:rPr>
              <a:t>self-contained tools, AWS runs them for you</a:t>
            </a:r>
            <a:endParaRPr lang="en-US" sz="1250" dirty="0"/>
          </a:p>
        </p:txBody>
      </p:sp>
      <p:sp>
        <p:nvSpPr>
          <p:cNvPr id="26" name="Shape 19"/>
          <p:cNvSpPr/>
          <p:nvPr/>
        </p:nvSpPr>
        <p:spPr>
          <a:xfrm>
            <a:off x="7909560" y="4023360"/>
            <a:ext cx="3413455" cy="1280160"/>
          </a:xfrm>
          <a:prstGeom prst="roundRect">
            <a:avLst>
              <a:gd name="adj" fmla="val 5714"/>
            </a:avLst>
          </a:prstGeom>
          <a:solidFill>
            <a:srgbClr val="FFFFFF"/>
          </a:solidFill>
          <a:ln w="15240">
            <a:solidFill>
              <a:srgbClr val="D9DDE3"/>
            </a:solidFill>
            <a:prstDash val="solid"/>
          </a:ln>
        </p:spPr>
      </p:sp>
      <p:sp>
        <p:nvSpPr>
          <p:cNvPr id="27" name="Shape 20"/>
          <p:cNvSpPr/>
          <p:nvPr/>
        </p:nvSpPr>
        <p:spPr>
          <a:xfrm>
            <a:off x="8092440" y="4206240"/>
            <a:ext cx="457200" cy="457200"/>
          </a:xfrm>
          <a:prstGeom prst="ellipse">
            <a:avLst/>
          </a:prstGeom>
          <a:solidFill>
            <a:srgbClr val="ECEEF1"/>
          </a:solidFill>
          <a:ln/>
        </p:spPr>
      </p:sp>
      <p:pic>
        <p:nvPicPr>
          <p:cNvPr id="28" name="Image 5" descr="preencoded.png">    </p:cNvPr>
          <p:cNvPicPr>
            <a:picLocks noChangeAspect="1"/>
          </p:cNvPicPr>
          <p:nvPr/>
        </p:nvPicPr>
        <p:blipFill>
          <a:blip r:embed="rId6"/>
          <a:stretch>
            <a:fillRect/>
          </a:stretch>
        </p:blipFill>
        <p:spPr>
          <a:xfrm>
            <a:off x="8179308" y="4293108"/>
            <a:ext cx="283464" cy="283464"/>
          </a:xfrm>
          <a:prstGeom prst="rect">
            <a:avLst/>
          </a:prstGeom>
        </p:spPr>
      </p:pic>
      <p:sp>
        <p:nvSpPr>
          <p:cNvPr id="29" name="Text 21"/>
          <p:cNvSpPr/>
          <p:nvPr/>
        </p:nvSpPr>
        <p:spPr>
          <a:xfrm>
            <a:off x="8595360" y="4187952"/>
            <a:ext cx="2681935" cy="274320"/>
          </a:xfrm>
          <a:prstGeom prst="rect">
            <a:avLst/>
          </a:prstGeom>
          <a:noFill/>
          <a:ln/>
        </p:spPr>
        <p:txBody>
          <a:bodyPr wrap="square" lIns="0" tIns="0" rIns="0" bIns="0" rtlCol="0" anchor="ctr"/>
          <a:lstStyle/>
          <a:p>
            <a:pPr indent="0" marL="0">
              <a:buNone/>
            </a:pPr>
            <a:r>
              <a:rPr lang="en-US" sz="1450" b="1" dirty="0">
                <a:solidFill>
                  <a:srgbClr val="1A1D23"/>
                </a:solidFill>
                <a:latin typeface="Calibri" pitchFamily="34" charset="0"/>
                <a:ea typeface="Calibri" pitchFamily="34" charset="-122"/>
                <a:cs typeface="Calibri" pitchFamily="34" charset="-120"/>
              </a:rPr>
              <a:t>Return of Control</a:t>
            </a:r>
            <a:endParaRPr lang="en-US" sz="1450" dirty="0"/>
          </a:p>
        </p:txBody>
      </p:sp>
      <p:sp>
        <p:nvSpPr>
          <p:cNvPr id="30" name="Text 22"/>
          <p:cNvSpPr/>
          <p:nvPr/>
        </p:nvSpPr>
        <p:spPr>
          <a:xfrm>
            <a:off x="8092440" y="4590288"/>
            <a:ext cx="3139135" cy="640080"/>
          </a:xfrm>
          <a:prstGeom prst="rect">
            <a:avLst/>
          </a:prstGeom>
          <a:noFill/>
          <a:ln/>
        </p:spPr>
        <p:txBody>
          <a:bodyPr wrap="square" lIns="0" tIns="0" rIns="0" bIns="0" rtlCol="0" anchor="ctr"/>
          <a:lstStyle/>
          <a:p>
            <a:pPr indent="0" marL="0">
              <a:lnSpc>
                <a:spcPct val="100000"/>
              </a:lnSpc>
              <a:buNone/>
            </a:pPr>
            <a:r>
              <a:rPr lang="en-US" sz="1250" dirty="0">
                <a:solidFill>
                  <a:srgbClr val="6A7280"/>
                </a:solidFill>
                <a:latin typeface="Calibri" pitchFamily="34" charset="0"/>
                <a:ea typeface="Calibri" pitchFamily="34" charset="-122"/>
                <a:cs typeface="Calibri" pitchFamily="34" charset="-120"/>
              </a:rPr>
              <a:t>your code receives the function + arguments and returns the answer</a:t>
            </a:r>
            <a:endParaRPr lang="en-US" sz="1250" dirty="0"/>
          </a:p>
        </p:txBody>
      </p:sp>
      <p:sp>
        <p:nvSpPr>
          <p:cNvPr id="31" name="Text 23"/>
          <p:cNvSpPr/>
          <p:nvPr/>
        </p:nvSpPr>
        <p:spPr>
          <a:xfrm>
            <a:off x="594360" y="5943600"/>
            <a:ext cx="11002975" cy="365760"/>
          </a:xfrm>
          <a:prstGeom prst="rect">
            <a:avLst/>
          </a:prstGeom>
          <a:noFill/>
          <a:ln/>
        </p:spPr>
        <p:txBody>
          <a:bodyPr wrap="square" lIns="0" tIns="0" rIns="0" bIns="0" rtlCol="0" anchor="ctr"/>
          <a:lstStyle/>
          <a:p>
            <a:pPr algn="ctr" indent="0" marL="0">
              <a:buNone/>
            </a:pPr>
            <a:r>
              <a:rPr lang="en-US" sz="1400" b="1" dirty="0">
                <a:solidFill>
                  <a:srgbClr val="1A1D23"/>
                </a:solidFill>
                <a:latin typeface="Calibri" pitchFamily="34" charset="0"/>
                <a:ea typeface="Calibri" pitchFamily="34" charset="-122"/>
                <a:cs typeface="Calibri" pitchFamily="34" charset="-120"/>
              </a:rPr>
              <a:t>Same agent, same action group.  </a:t>
            </a:r>
            <a:pPr algn="ctr" indent="0" marL="0">
              <a:buNone/>
            </a:pPr>
            <a:r>
              <a:rPr lang="en-US" sz="1400" b="1" dirty="0">
                <a:solidFill>
                  <a:srgbClr val="BE7017"/>
                </a:solidFill>
                <a:latin typeface="Calibri" pitchFamily="34" charset="0"/>
                <a:ea typeface="Calibri" pitchFamily="34" charset="-122"/>
                <a:cs typeface="Calibri" pitchFamily="34" charset="-120"/>
              </a:rPr>
              <a:t>Only who executes the tool changes.</a:t>
            </a:r>
            <a:endParaRPr lang="en-US" sz="1400" dirty="0"/>
          </a:p>
        </p:txBody>
      </p:sp>
      <p:sp>
        <p:nvSpPr>
          <p:cNvPr id="32" name="Text 24"/>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Return of Control</a:t>
            </a:r>
            <a:endParaRPr lang="en-US" sz="950" dirty="0"/>
          </a:p>
        </p:txBody>
      </p:sp>
      <p:sp>
        <p:nvSpPr>
          <p:cNvPr id="33" name="Text 25"/>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THE MISTAKE EVERYONE MAKES ONCE</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Permissions: a two-way door people forget</a:t>
            </a:r>
            <a:endParaRPr lang="en-US" sz="3300" dirty="0"/>
          </a:p>
        </p:txBody>
      </p:sp>
      <p:sp>
        <p:nvSpPr>
          <p:cNvPr id="4" name="Text 2"/>
          <p:cNvSpPr/>
          <p:nvPr/>
        </p:nvSpPr>
        <p:spPr>
          <a:xfrm>
            <a:off x="594360" y="1417320"/>
            <a:ext cx="11002975" cy="457200"/>
          </a:xfrm>
          <a:prstGeom prst="rect">
            <a:avLst/>
          </a:prstGeom>
          <a:noFill/>
          <a:ln/>
        </p:spPr>
        <p:txBody>
          <a:bodyPr wrap="square" lIns="0" tIns="0" rIns="0" bIns="0" rtlCol="0" anchor="ctr"/>
          <a:lstStyle/>
          <a:p>
            <a:pPr algn="l" indent="0" marL="0">
              <a:buNone/>
            </a:pPr>
            <a:r>
              <a:rPr lang="en-US" sz="1500" i="1" dirty="0">
                <a:solidFill>
                  <a:srgbClr val="6A7280"/>
                </a:solidFill>
                <a:latin typeface="Calibri" pitchFamily="34" charset="0"/>
                <a:ea typeface="Calibri" pitchFamily="34" charset="-122"/>
                <a:cs typeface="Calibri" pitchFamily="34" charset="-120"/>
              </a:rPr>
              <a:t>Two separate permissions, in two directions. Miss either and the agent fails with a confusing error.</a:t>
            </a:r>
            <a:endParaRPr lang="en-US" sz="1500" dirty="0"/>
          </a:p>
        </p:txBody>
      </p:sp>
      <p:sp>
        <p:nvSpPr>
          <p:cNvPr id="5" name="Shape 3"/>
          <p:cNvSpPr/>
          <p:nvPr/>
        </p:nvSpPr>
        <p:spPr>
          <a:xfrm>
            <a:off x="594360" y="2148840"/>
            <a:ext cx="5318608" cy="3063240"/>
          </a:xfrm>
          <a:prstGeom prst="roundRect">
            <a:avLst>
              <a:gd name="adj" fmla="val 2687"/>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6" name="Text 4"/>
          <p:cNvSpPr/>
          <p:nvPr/>
        </p:nvSpPr>
        <p:spPr>
          <a:xfrm>
            <a:off x="914400" y="2423160"/>
            <a:ext cx="4221328" cy="320040"/>
          </a:xfrm>
          <a:prstGeom prst="rect">
            <a:avLst/>
          </a:prstGeom>
          <a:noFill/>
          <a:ln/>
        </p:spPr>
        <p:txBody>
          <a:bodyPr wrap="square" lIns="0" tIns="0" rIns="0" bIns="0" rtlCol="0" anchor="ctr"/>
          <a:lstStyle/>
          <a:p>
            <a:pPr indent="0" marL="0">
              <a:buNone/>
            </a:pPr>
            <a:r>
              <a:rPr lang="en-US" sz="1400" b="1" spc="300" kern="0" dirty="0">
                <a:solidFill>
                  <a:srgbClr val="BE7017"/>
                </a:solidFill>
                <a:latin typeface="Calibri" pitchFamily="34" charset="0"/>
                <a:ea typeface="Calibri" pitchFamily="34" charset="-122"/>
                <a:cs typeface="Calibri" pitchFamily="34" charset="-120"/>
              </a:rPr>
              <a:t>DOOR 1</a:t>
            </a:r>
            <a:endParaRPr lang="en-US" sz="1400" dirty="0"/>
          </a:p>
        </p:txBody>
      </p:sp>
      <p:sp>
        <p:nvSpPr>
          <p:cNvPr id="7" name="Shape 5"/>
          <p:cNvSpPr/>
          <p:nvPr/>
        </p:nvSpPr>
        <p:spPr>
          <a:xfrm>
            <a:off x="4952848" y="2404872"/>
            <a:ext cx="640080" cy="640080"/>
          </a:xfrm>
          <a:prstGeom prst="ellipse">
            <a:avLst/>
          </a:prstGeom>
          <a:solidFill>
            <a:srgbClr val="F5EAD8"/>
          </a:solidFill>
          <a:ln/>
        </p:spPr>
      </p:sp>
      <p:pic>
        <p:nvPicPr>
          <p:cNvPr id="8" name="Image 0" descr="preencoded.png">    </p:cNvPr>
          <p:cNvPicPr>
            <a:picLocks noChangeAspect="1"/>
          </p:cNvPicPr>
          <p:nvPr/>
        </p:nvPicPr>
        <p:blipFill>
          <a:blip r:embed="rId1"/>
          <a:stretch>
            <a:fillRect/>
          </a:stretch>
        </p:blipFill>
        <p:spPr>
          <a:xfrm>
            <a:off x="5074463" y="2526487"/>
            <a:ext cx="396850" cy="396850"/>
          </a:xfrm>
          <a:prstGeom prst="rect">
            <a:avLst/>
          </a:prstGeom>
        </p:spPr>
      </p:pic>
      <p:sp>
        <p:nvSpPr>
          <p:cNvPr id="9" name="Text 6"/>
          <p:cNvSpPr/>
          <p:nvPr/>
        </p:nvSpPr>
        <p:spPr>
          <a:xfrm>
            <a:off x="914400" y="2807208"/>
            <a:ext cx="4678528" cy="365760"/>
          </a:xfrm>
          <a:prstGeom prst="rect">
            <a:avLst/>
          </a:prstGeom>
          <a:noFill/>
          <a:ln/>
        </p:spPr>
        <p:txBody>
          <a:bodyPr wrap="square" lIns="0" tIns="0" rIns="0" bIns="0" rtlCol="0" anchor="ctr"/>
          <a:lstStyle/>
          <a:p>
            <a:pPr indent="0" marL="0">
              <a:buNone/>
            </a:pPr>
            <a:r>
              <a:rPr lang="en-US" sz="1800" b="1" dirty="0">
                <a:solidFill>
                  <a:srgbClr val="1A1D23"/>
                </a:solidFill>
                <a:latin typeface="Calibri" pitchFamily="34" charset="0"/>
                <a:ea typeface="Calibri" pitchFamily="34" charset="-122"/>
                <a:cs typeface="Calibri" pitchFamily="34" charset="-120"/>
              </a:rPr>
              <a:t>Agent can call things</a:t>
            </a:r>
            <a:endParaRPr lang="en-US" sz="1800" dirty="0"/>
          </a:p>
        </p:txBody>
      </p:sp>
      <p:sp>
        <p:nvSpPr>
          <p:cNvPr id="10" name="Text 7"/>
          <p:cNvSpPr/>
          <p:nvPr/>
        </p:nvSpPr>
        <p:spPr>
          <a:xfrm>
            <a:off x="914400" y="3337560"/>
            <a:ext cx="4678528" cy="274320"/>
          </a:xfrm>
          <a:prstGeom prst="rect">
            <a:avLst/>
          </a:prstGeom>
          <a:noFill/>
          <a:ln/>
        </p:spPr>
        <p:txBody>
          <a:bodyPr wrap="square" lIns="0" tIns="0" rIns="0" bIns="0" rtlCol="0" anchor="ctr"/>
          <a:lstStyle/>
          <a:p>
            <a:pPr indent="0" marL="0">
              <a:buNone/>
            </a:pPr>
            <a:r>
              <a:rPr lang="en-US" sz="1300" i="1" dirty="0">
                <a:solidFill>
                  <a:srgbClr val="6A7280"/>
                </a:solidFill>
                <a:latin typeface="Calibri" pitchFamily="34" charset="0"/>
                <a:ea typeface="Calibri" pitchFamily="34" charset="-122"/>
                <a:cs typeface="Calibri" pitchFamily="34" charset="-120"/>
              </a:rPr>
              <a:t>The agent service role grants:</a:t>
            </a:r>
            <a:endParaRPr lang="en-US" sz="1300" dirty="0"/>
          </a:p>
        </p:txBody>
      </p:sp>
      <p:sp>
        <p:nvSpPr>
          <p:cNvPr id="11" name="Shape 8"/>
          <p:cNvSpPr/>
          <p:nvPr/>
        </p:nvSpPr>
        <p:spPr>
          <a:xfrm>
            <a:off x="914400" y="3749040"/>
            <a:ext cx="4678528" cy="502920"/>
          </a:xfrm>
          <a:prstGeom prst="roundRect">
            <a:avLst>
              <a:gd name="adj" fmla="val 12727"/>
            </a:avLst>
          </a:prstGeom>
          <a:solidFill>
            <a:srgbClr val="F8F9FB"/>
          </a:solidFill>
          <a:ln w="12700">
            <a:solidFill>
              <a:srgbClr val="E4E7EB"/>
            </a:solidFill>
            <a:prstDash val="solid"/>
          </a:ln>
        </p:spPr>
      </p:sp>
      <p:sp>
        <p:nvSpPr>
          <p:cNvPr id="12" name="Text 9"/>
          <p:cNvSpPr/>
          <p:nvPr/>
        </p:nvSpPr>
        <p:spPr>
          <a:xfrm>
            <a:off x="1097280" y="3749040"/>
            <a:ext cx="4312768" cy="502920"/>
          </a:xfrm>
          <a:prstGeom prst="rect">
            <a:avLst/>
          </a:prstGeom>
          <a:noFill/>
          <a:ln/>
        </p:spPr>
        <p:txBody>
          <a:bodyPr wrap="square" lIns="0" tIns="0" rIns="0" bIns="0" rtlCol="0" anchor="ctr"/>
          <a:lstStyle/>
          <a:p>
            <a:pPr indent="0" marL="0">
              <a:buNone/>
            </a:pPr>
            <a:r>
              <a:rPr lang="en-US" sz="1300" b="1" dirty="0">
                <a:solidFill>
                  <a:srgbClr val="8A4E0C"/>
                </a:solidFill>
                <a:latin typeface="Courier New" pitchFamily="34" charset="0"/>
                <a:ea typeface="Courier New" pitchFamily="34" charset="-122"/>
                <a:cs typeface="Courier New" pitchFamily="34" charset="-120"/>
              </a:rPr>
              <a:t>bedrock:InvokeModel   </a:t>
            </a:r>
            <a:pPr indent="0" marL="0">
              <a:buNone/>
            </a:pPr>
            <a:r>
              <a:rPr lang="en-US" sz="1300" dirty="0">
                <a:solidFill>
                  <a:srgbClr val="6A7280"/>
                </a:solidFill>
                <a:latin typeface="Calibri" pitchFamily="34" charset="0"/>
                <a:ea typeface="Calibri" pitchFamily="34" charset="-122"/>
                <a:cs typeface="Calibri" pitchFamily="34" charset="-120"/>
              </a:rPr>
              <a:t>on the model</a:t>
            </a:r>
            <a:endParaRPr lang="en-US" sz="1300" dirty="0"/>
          </a:p>
        </p:txBody>
      </p:sp>
      <p:sp>
        <p:nvSpPr>
          <p:cNvPr id="13" name="Shape 10"/>
          <p:cNvSpPr/>
          <p:nvPr/>
        </p:nvSpPr>
        <p:spPr>
          <a:xfrm>
            <a:off x="914400" y="4370832"/>
            <a:ext cx="4678528" cy="502920"/>
          </a:xfrm>
          <a:prstGeom prst="roundRect">
            <a:avLst>
              <a:gd name="adj" fmla="val 12727"/>
            </a:avLst>
          </a:prstGeom>
          <a:solidFill>
            <a:srgbClr val="F8F9FB"/>
          </a:solidFill>
          <a:ln w="12700">
            <a:solidFill>
              <a:srgbClr val="E4E7EB"/>
            </a:solidFill>
            <a:prstDash val="solid"/>
          </a:ln>
        </p:spPr>
      </p:sp>
      <p:sp>
        <p:nvSpPr>
          <p:cNvPr id="14" name="Text 11"/>
          <p:cNvSpPr/>
          <p:nvPr/>
        </p:nvSpPr>
        <p:spPr>
          <a:xfrm>
            <a:off x="1097280" y="4370832"/>
            <a:ext cx="4312768" cy="502920"/>
          </a:xfrm>
          <a:prstGeom prst="rect">
            <a:avLst/>
          </a:prstGeom>
          <a:noFill/>
          <a:ln/>
        </p:spPr>
        <p:txBody>
          <a:bodyPr wrap="square" lIns="0" tIns="0" rIns="0" bIns="0" rtlCol="0" anchor="ctr"/>
          <a:lstStyle/>
          <a:p>
            <a:pPr indent="0" marL="0">
              <a:buNone/>
            </a:pPr>
            <a:r>
              <a:rPr lang="en-US" sz="1300" b="1" dirty="0">
                <a:solidFill>
                  <a:srgbClr val="8A4E0C"/>
                </a:solidFill>
                <a:latin typeface="Courier New" pitchFamily="34" charset="0"/>
                <a:ea typeface="Courier New" pitchFamily="34" charset="-122"/>
                <a:cs typeface="Courier New" pitchFamily="34" charset="-120"/>
              </a:rPr>
              <a:t>lambda:InvokeFunction   </a:t>
            </a:r>
            <a:pPr indent="0" marL="0">
              <a:buNone/>
            </a:pPr>
            <a:r>
              <a:rPr lang="en-US" sz="1300" dirty="0">
                <a:solidFill>
                  <a:srgbClr val="6A7280"/>
                </a:solidFill>
                <a:latin typeface="Calibri" pitchFamily="34" charset="0"/>
                <a:ea typeface="Calibri" pitchFamily="34" charset="-122"/>
                <a:cs typeface="Calibri" pitchFamily="34" charset="-120"/>
              </a:rPr>
              <a:t>on the Lambda</a:t>
            </a:r>
            <a:endParaRPr lang="en-US" sz="1300" dirty="0"/>
          </a:p>
        </p:txBody>
      </p:sp>
      <p:sp>
        <p:nvSpPr>
          <p:cNvPr id="15" name="Shape 12"/>
          <p:cNvSpPr/>
          <p:nvPr/>
        </p:nvSpPr>
        <p:spPr>
          <a:xfrm>
            <a:off x="6278728" y="2148840"/>
            <a:ext cx="5318608" cy="3063240"/>
          </a:xfrm>
          <a:prstGeom prst="roundRect">
            <a:avLst>
              <a:gd name="adj" fmla="val 2687"/>
            </a:avLst>
          </a:prstGeom>
          <a:solidFill>
            <a:srgbClr val="FFFFFF"/>
          </a:solidFill>
          <a:ln w="25400">
            <a:solidFill>
              <a:srgbClr val="BE7017"/>
            </a:solidFill>
            <a:prstDash val="solid"/>
          </a:ln>
          <a:effectLst>
            <a:outerShdw sx="100000" sy="100000" kx="0" ky="0" algn="bl" rotWithShape="0" blurRad="127000" dist="38100" dir="5400000">
              <a:srgbClr val="000000">
                <a:alpha val="10000"/>
              </a:srgbClr>
            </a:outerShdw>
          </a:effectLst>
        </p:spPr>
      </p:sp>
      <p:sp>
        <p:nvSpPr>
          <p:cNvPr id="16" name="Text 13"/>
          <p:cNvSpPr/>
          <p:nvPr/>
        </p:nvSpPr>
        <p:spPr>
          <a:xfrm>
            <a:off x="6598768" y="2423160"/>
            <a:ext cx="4221328" cy="320040"/>
          </a:xfrm>
          <a:prstGeom prst="rect">
            <a:avLst/>
          </a:prstGeom>
          <a:noFill/>
          <a:ln/>
        </p:spPr>
        <p:txBody>
          <a:bodyPr wrap="square" lIns="0" tIns="0" rIns="0" bIns="0" rtlCol="0" anchor="ctr"/>
          <a:lstStyle/>
          <a:p>
            <a:pPr indent="0" marL="0">
              <a:buNone/>
            </a:pPr>
            <a:r>
              <a:rPr lang="en-US" sz="1400" b="1" spc="300" kern="0" dirty="0">
                <a:solidFill>
                  <a:srgbClr val="BE7017"/>
                </a:solidFill>
                <a:latin typeface="Calibri" pitchFamily="34" charset="0"/>
                <a:ea typeface="Calibri" pitchFamily="34" charset="-122"/>
                <a:cs typeface="Calibri" pitchFamily="34" charset="-120"/>
              </a:rPr>
              <a:t>DOOR 2</a:t>
            </a:r>
            <a:endParaRPr lang="en-US" sz="1400" dirty="0"/>
          </a:p>
        </p:txBody>
      </p:sp>
      <p:sp>
        <p:nvSpPr>
          <p:cNvPr id="17" name="Shape 14"/>
          <p:cNvSpPr/>
          <p:nvPr/>
        </p:nvSpPr>
        <p:spPr>
          <a:xfrm>
            <a:off x="10637215" y="2404872"/>
            <a:ext cx="640080" cy="640080"/>
          </a:xfrm>
          <a:prstGeom prst="ellipse">
            <a:avLst/>
          </a:prstGeom>
          <a:solidFill>
            <a:srgbClr val="F5EAD8"/>
          </a:solidFill>
          <a:ln/>
        </p:spPr>
      </p:sp>
      <p:pic>
        <p:nvPicPr>
          <p:cNvPr id="18" name="Image 1" descr="preencoded.png">    </p:cNvPr>
          <p:cNvPicPr>
            <a:picLocks noChangeAspect="1"/>
          </p:cNvPicPr>
          <p:nvPr/>
        </p:nvPicPr>
        <p:blipFill>
          <a:blip r:embed="rId2"/>
          <a:stretch>
            <a:fillRect/>
          </a:stretch>
        </p:blipFill>
        <p:spPr>
          <a:xfrm>
            <a:off x="10758830" y="2526487"/>
            <a:ext cx="396850" cy="396850"/>
          </a:xfrm>
          <a:prstGeom prst="rect">
            <a:avLst/>
          </a:prstGeom>
        </p:spPr>
      </p:pic>
      <p:sp>
        <p:nvSpPr>
          <p:cNvPr id="19" name="Text 15"/>
          <p:cNvSpPr/>
          <p:nvPr/>
        </p:nvSpPr>
        <p:spPr>
          <a:xfrm>
            <a:off x="6598768" y="2807208"/>
            <a:ext cx="4678528" cy="365760"/>
          </a:xfrm>
          <a:prstGeom prst="rect">
            <a:avLst/>
          </a:prstGeom>
          <a:noFill/>
          <a:ln/>
        </p:spPr>
        <p:txBody>
          <a:bodyPr wrap="square" lIns="0" tIns="0" rIns="0" bIns="0" rtlCol="0" anchor="ctr"/>
          <a:lstStyle/>
          <a:p>
            <a:pPr indent="0" marL="0">
              <a:buNone/>
            </a:pPr>
            <a:r>
              <a:rPr lang="en-US" sz="1800" b="1" dirty="0">
                <a:solidFill>
                  <a:srgbClr val="1A1D23"/>
                </a:solidFill>
                <a:latin typeface="Calibri" pitchFamily="34" charset="0"/>
                <a:ea typeface="Calibri" pitchFamily="34" charset="-122"/>
                <a:cs typeface="Calibri" pitchFamily="34" charset="-120"/>
              </a:rPr>
              <a:t>Lambda accepts the agent</a:t>
            </a:r>
            <a:endParaRPr lang="en-US" sz="1800" dirty="0"/>
          </a:p>
        </p:txBody>
      </p:sp>
      <p:sp>
        <p:nvSpPr>
          <p:cNvPr id="20" name="Text 16"/>
          <p:cNvSpPr/>
          <p:nvPr/>
        </p:nvSpPr>
        <p:spPr>
          <a:xfrm>
            <a:off x="6598768" y="3337560"/>
            <a:ext cx="4678528" cy="274320"/>
          </a:xfrm>
          <a:prstGeom prst="rect">
            <a:avLst/>
          </a:prstGeom>
          <a:noFill/>
          <a:ln/>
        </p:spPr>
        <p:txBody>
          <a:bodyPr wrap="square" lIns="0" tIns="0" rIns="0" bIns="0" rtlCol="0" anchor="ctr"/>
          <a:lstStyle/>
          <a:p>
            <a:pPr indent="0" marL="0">
              <a:buNone/>
            </a:pPr>
            <a:r>
              <a:rPr lang="en-US" sz="1300" i="1" dirty="0">
                <a:solidFill>
                  <a:srgbClr val="6A7280"/>
                </a:solidFill>
                <a:latin typeface="Calibri" pitchFamily="34" charset="0"/>
                <a:ea typeface="Calibri" pitchFamily="34" charset="-122"/>
                <a:cs typeface="Calibri" pitchFamily="34" charset="-120"/>
              </a:rPr>
              <a:t>The Lambda resource policy allows:</a:t>
            </a:r>
            <a:endParaRPr lang="en-US" sz="1300" dirty="0"/>
          </a:p>
        </p:txBody>
      </p:sp>
      <p:sp>
        <p:nvSpPr>
          <p:cNvPr id="21" name="Shape 17"/>
          <p:cNvSpPr/>
          <p:nvPr/>
        </p:nvSpPr>
        <p:spPr>
          <a:xfrm>
            <a:off x="6598768" y="3749040"/>
            <a:ext cx="4678528" cy="502920"/>
          </a:xfrm>
          <a:prstGeom prst="roundRect">
            <a:avLst>
              <a:gd name="adj" fmla="val 12727"/>
            </a:avLst>
          </a:prstGeom>
          <a:solidFill>
            <a:srgbClr val="F5EAD8"/>
          </a:solidFill>
          <a:ln w="12700">
            <a:solidFill>
              <a:srgbClr val="E4C99A"/>
            </a:solidFill>
            <a:prstDash val="solid"/>
          </a:ln>
        </p:spPr>
      </p:sp>
      <p:sp>
        <p:nvSpPr>
          <p:cNvPr id="22" name="Text 18"/>
          <p:cNvSpPr/>
          <p:nvPr/>
        </p:nvSpPr>
        <p:spPr>
          <a:xfrm>
            <a:off x="6781648" y="3749040"/>
            <a:ext cx="4312768" cy="502920"/>
          </a:xfrm>
          <a:prstGeom prst="rect">
            <a:avLst/>
          </a:prstGeom>
          <a:noFill/>
          <a:ln/>
        </p:spPr>
        <p:txBody>
          <a:bodyPr wrap="square" lIns="0" tIns="0" rIns="0" bIns="0" rtlCol="0" anchor="ctr"/>
          <a:lstStyle/>
          <a:p>
            <a:pPr indent="0" marL="0">
              <a:buNone/>
            </a:pPr>
            <a:r>
              <a:rPr lang="en-US" sz="1300" b="1" dirty="0">
                <a:solidFill>
                  <a:srgbClr val="8A4E0C"/>
                </a:solidFill>
                <a:latin typeface="Courier New" pitchFamily="34" charset="0"/>
                <a:ea typeface="Courier New" pitchFamily="34" charset="-122"/>
                <a:cs typeface="Courier New" pitchFamily="34" charset="-120"/>
              </a:rPr>
              <a:t>bedrock.amazonaws.com   </a:t>
            </a:r>
            <a:pPr indent="0" marL="0">
              <a:buNone/>
            </a:pPr>
            <a:r>
              <a:rPr lang="en-US" sz="1300" dirty="0">
                <a:solidFill>
                  <a:srgbClr val="5C4415"/>
                </a:solidFill>
                <a:latin typeface="Calibri" pitchFamily="34" charset="0"/>
                <a:ea typeface="Calibri" pitchFamily="34" charset="-122"/>
                <a:cs typeface="Calibri" pitchFamily="34" charset="-120"/>
              </a:rPr>
              <a:t>to invoke the function</a:t>
            </a:r>
            <a:endParaRPr lang="en-US" sz="1300" dirty="0"/>
          </a:p>
        </p:txBody>
      </p:sp>
      <p:sp>
        <p:nvSpPr>
          <p:cNvPr id="23" name="Shape 19"/>
          <p:cNvSpPr/>
          <p:nvPr/>
        </p:nvSpPr>
        <p:spPr>
          <a:xfrm>
            <a:off x="6598768" y="4370832"/>
            <a:ext cx="4678528" cy="502920"/>
          </a:xfrm>
          <a:prstGeom prst="roundRect">
            <a:avLst>
              <a:gd name="adj" fmla="val 12727"/>
            </a:avLst>
          </a:prstGeom>
          <a:solidFill>
            <a:srgbClr val="F5EAD8"/>
          </a:solidFill>
          <a:ln w="12700">
            <a:solidFill>
              <a:srgbClr val="E4C99A"/>
            </a:solidFill>
            <a:prstDash val="solid"/>
          </a:ln>
        </p:spPr>
      </p:sp>
      <p:sp>
        <p:nvSpPr>
          <p:cNvPr id="24" name="Text 20"/>
          <p:cNvSpPr/>
          <p:nvPr/>
        </p:nvSpPr>
        <p:spPr>
          <a:xfrm>
            <a:off x="6781648" y="4370832"/>
            <a:ext cx="4312768" cy="502920"/>
          </a:xfrm>
          <a:prstGeom prst="rect">
            <a:avLst/>
          </a:prstGeom>
          <a:noFill/>
          <a:ln/>
        </p:spPr>
        <p:txBody>
          <a:bodyPr wrap="square" lIns="0" tIns="0" rIns="0" bIns="0" rtlCol="0" anchor="ctr"/>
          <a:lstStyle/>
          <a:p>
            <a:pPr indent="0" marL="0">
              <a:buNone/>
            </a:pPr>
            <a:r>
              <a:rPr lang="en-US" sz="1300" b="1" dirty="0">
                <a:solidFill>
                  <a:srgbClr val="8A4E0C"/>
                </a:solidFill>
                <a:latin typeface="Courier New" pitchFamily="34" charset="0"/>
                <a:ea typeface="Courier New" pitchFamily="34" charset="-122"/>
                <a:cs typeface="Courier New" pitchFamily="34" charset="-120"/>
              </a:rPr>
              <a:t>SourceArn = this agent   </a:t>
            </a:r>
            <a:pPr indent="0" marL="0">
              <a:buNone/>
            </a:pPr>
            <a:r>
              <a:rPr lang="en-US" sz="1300" dirty="0">
                <a:solidFill>
                  <a:srgbClr val="5C4415"/>
                </a:solidFill>
                <a:latin typeface="Calibri" pitchFamily="34" charset="0"/>
                <a:ea typeface="Calibri" pitchFamily="34" charset="-122"/>
                <a:cs typeface="Calibri" pitchFamily="34" charset="-120"/>
              </a:rPr>
              <a:t>and only this agent</a:t>
            </a:r>
            <a:endParaRPr lang="en-US" sz="1300" dirty="0"/>
          </a:p>
        </p:txBody>
      </p:sp>
      <p:sp>
        <p:nvSpPr>
          <p:cNvPr id="25" name="Shape 21"/>
          <p:cNvSpPr/>
          <p:nvPr/>
        </p:nvSpPr>
        <p:spPr>
          <a:xfrm>
            <a:off x="594360" y="5394960"/>
            <a:ext cx="11002975" cy="868680"/>
          </a:xfrm>
          <a:prstGeom prst="roundRect">
            <a:avLst>
              <a:gd name="adj" fmla="val 8421"/>
            </a:avLst>
          </a:prstGeom>
          <a:solidFill>
            <a:srgbClr val="14161C"/>
          </a:solidFill>
          <a:ln/>
        </p:spPr>
      </p:sp>
      <p:sp>
        <p:nvSpPr>
          <p:cNvPr id="26" name="Text 22"/>
          <p:cNvSpPr/>
          <p:nvPr/>
        </p:nvSpPr>
        <p:spPr>
          <a:xfrm>
            <a:off x="960120" y="5394960"/>
            <a:ext cx="10271455" cy="868680"/>
          </a:xfrm>
          <a:prstGeom prst="rect">
            <a:avLst/>
          </a:prstGeom>
          <a:noFill/>
          <a:ln/>
        </p:spPr>
        <p:txBody>
          <a:bodyPr wrap="square" lIns="0" tIns="0" rIns="0" bIns="0" rtlCol="0" anchor="ctr"/>
          <a:lstStyle/>
          <a:p>
            <a:pPr indent="0" marL="0">
              <a:lnSpc>
                <a:spcPct val="105000"/>
              </a:lnSpc>
              <a:buNone/>
            </a:pPr>
            <a:r>
              <a:rPr lang="en-US" sz="1450" dirty="0">
                <a:solidFill>
                  <a:srgbClr val="C7CBD3"/>
                </a:solidFill>
                <a:latin typeface="Calibri" pitchFamily="34" charset="0"/>
                <a:ea typeface="Calibri" pitchFamily="34" charset="-122"/>
                <a:cs typeface="Calibri" pitchFamily="34" charset="-120"/>
              </a:rPr>
              <a:t>Quick-create the Lambda from the agent screen and the console wires both doors.  </a:t>
            </a:r>
            <a:pPr indent="0" marL="0">
              <a:lnSpc>
                <a:spcPct val="105000"/>
              </a:lnSpc>
              <a:buNone/>
            </a:pPr>
            <a:r>
              <a:rPr lang="en-US" sz="1450" b="1" dirty="0">
                <a:solidFill>
                  <a:srgbClr val="FFFFFF"/>
                </a:solidFill>
                <a:latin typeface="Calibri" pitchFamily="34" charset="0"/>
                <a:ea typeface="Calibri" pitchFamily="34" charset="-122"/>
                <a:cs typeface="Calibri" pitchFamily="34" charset="-120"/>
              </a:rPr>
              <a:t>Attach an existing Lambda and Door 2 is yours.  </a:t>
            </a:r>
            <a:pPr indent="0" marL="0">
              <a:lnSpc>
                <a:spcPct val="105000"/>
              </a:lnSpc>
              <a:buNone/>
            </a:pPr>
            <a:r>
              <a:rPr lang="en-US" sz="1450" b="1" dirty="0">
                <a:solidFill>
                  <a:srgbClr val="E4A45E"/>
                </a:solidFill>
                <a:latin typeface="Calibri" pitchFamily="34" charset="0"/>
                <a:ea typeface="Calibri" pitchFamily="34" charset="-122"/>
                <a:cs typeface="Calibri" pitchFamily="34" charset="-120"/>
              </a:rPr>
              <a:t>People forget Door 2 constantly.</a:t>
            </a:r>
            <a:endParaRPr lang="en-US" sz="1450" dirty="0"/>
          </a:p>
        </p:txBody>
      </p:sp>
      <p:sp>
        <p:nvSpPr>
          <p:cNvPr id="27" name="Text 23"/>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Two-way door</a:t>
            </a:r>
            <a:endParaRPr lang="en-US" sz="950" dirty="0"/>
          </a:p>
        </p:txBody>
      </p:sp>
      <p:sp>
        <p:nvSpPr>
          <p:cNvPr id="28" name="Text 24"/>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CONSOLE WALKTHROUGH</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Build it by clicking</a:t>
            </a:r>
            <a:endParaRPr lang="en-US" sz="3300" dirty="0"/>
          </a:p>
        </p:txBody>
      </p:sp>
      <p:sp>
        <p:nvSpPr>
          <p:cNvPr id="4" name="Text 2"/>
          <p:cNvSpPr/>
          <p:nvPr/>
        </p:nvSpPr>
        <p:spPr>
          <a:xfrm>
            <a:off x="594360" y="1417320"/>
            <a:ext cx="11002975" cy="457200"/>
          </a:xfrm>
          <a:prstGeom prst="rect">
            <a:avLst/>
          </a:prstGeom>
          <a:noFill/>
          <a:ln/>
        </p:spPr>
        <p:txBody>
          <a:bodyPr wrap="square" lIns="0" tIns="0" rIns="0" bIns="0" rtlCol="0" anchor="ctr"/>
          <a:lstStyle/>
          <a:p>
            <a:pPr algn="l" indent="0" marL="0">
              <a:buNone/>
            </a:pPr>
            <a:r>
              <a:rPr lang="en-US" sz="1500" i="1" dirty="0">
                <a:solidFill>
                  <a:srgbClr val="6A7280"/>
                </a:solidFill>
                <a:latin typeface="Calibri" pitchFamily="34" charset="0"/>
                <a:ea typeface="Calibri" pitchFamily="34" charset="-122"/>
                <a:cs typeface="Calibri" pitchFamily="34" charset="-120"/>
              </a:rPr>
              <a:t>Exact steps, from scratch. Each column is a phase.</a:t>
            </a:r>
            <a:endParaRPr lang="en-US" sz="1500" dirty="0"/>
          </a:p>
        </p:txBody>
      </p:sp>
      <p:sp>
        <p:nvSpPr>
          <p:cNvPr id="5" name="Shape 3"/>
          <p:cNvSpPr/>
          <p:nvPr/>
        </p:nvSpPr>
        <p:spPr>
          <a:xfrm>
            <a:off x="594360" y="2148840"/>
            <a:ext cx="2545004" cy="3383280"/>
          </a:xfrm>
          <a:prstGeom prst="roundRect">
            <a:avLst>
              <a:gd name="adj" fmla="val 3234"/>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6" name="Shape 4"/>
          <p:cNvSpPr/>
          <p:nvPr/>
        </p:nvSpPr>
        <p:spPr>
          <a:xfrm>
            <a:off x="795528" y="2368296"/>
            <a:ext cx="2142668" cy="402336"/>
          </a:xfrm>
          <a:prstGeom prst="roundRect">
            <a:avLst>
              <a:gd name="adj" fmla="val 50000"/>
            </a:avLst>
          </a:prstGeom>
          <a:solidFill>
            <a:srgbClr val="14161C"/>
          </a:solidFill>
          <a:ln/>
        </p:spPr>
      </p:sp>
      <p:sp>
        <p:nvSpPr>
          <p:cNvPr id="7" name="Text 5"/>
          <p:cNvSpPr/>
          <p:nvPr/>
        </p:nvSpPr>
        <p:spPr>
          <a:xfrm>
            <a:off x="795528" y="2368296"/>
            <a:ext cx="2142668" cy="402336"/>
          </a:xfrm>
          <a:prstGeom prst="rect">
            <a:avLst/>
          </a:prstGeom>
          <a:noFill/>
          <a:ln/>
        </p:spPr>
        <p:txBody>
          <a:bodyPr wrap="square" lIns="0" tIns="0" rIns="0" bIns="0" rtlCol="0" anchor="ctr"/>
          <a:lstStyle/>
          <a:p>
            <a:pPr algn="ctr" indent="0" marL="0">
              <a:buNone/>
            </a:pPr>
            <a:r>
              <a:rPr lang="en-US" sz="1250" b="1" spc="150" kern="0" dirty="0">
                <a:solidFill>
                  <a:srgbClr val="FFFFFF"/>
                </a:solidFill>
                <a:latin typeface="Calibri" pitchFamily="34" charset="0"/>
                <a:ea typeface="Calibri" pitchFamily="34" charset="-122"/>
                <a:cs typeface="Calibri" pitchFamily="34" charset="-120"/>
              </a:rPr>
              <a:t>CREATE</a:t>
            </a:r>
            <a:endParaRPr lang="en-US" sz="1250" dirty="0"/>
          </a:p>
        </p:txBody>
      </p:sp>
      <p:sp>
        <p:nvSpPr>
          <p:cNvPr id="8" name="Shape 6"/>
          <p:cNvSpPr/>
          <p:nvPr/>
        </p:nvSpPr>
        <p:spPr>
          <a:xfrm>
            <a:off x="813816" y="3017520"/>
            <a:ext cx="365760" cy="365760"/>
          </a:xfrm>
          <a:prstGeom prst="ellipse">
            <a:avLst/>
          </a:prstGeom>
          <a:solidFill>
            <a:srgbClr val="F5EAD8"/>
          </a:solidFill>
          <a:ln/>
        </p:spPr>
      </p:sp>
      <p:sp>
        <p:nvSpPr>
          <p:cNvPr id="9" name="Text 7"/>
          <p:cNvSpPr/>
          <p:nvPr/>
        </p:nvSpPr>
        <p:spPr>
          <a:xfrm>
            <a:off x="813816" y="3008376"/>
            <a:ext cx="365760" cy="365760"/>
          </a:xfrm>
          <a:prstGeom prst="rect">
            <a:avLst/>
          </a:prstGeom>
          <a:noFill/>
          <a:ln/>
        </p:spPr>
        <p:txBody>
          <a:bodyPr wrap="square" lIns="0" tIns="0" rIns="0" bIns="0" rtlCol="0" anchor="ctr"/>
          <a:lstStyle/>
          <a:p>
            <a:pPr algn="ctr" indent="0" marL="0">
              <a:buNone/>
            </a:pPr>
            <a:r>
              <a:rPr lang="en-US" sz="1600" b="1" dirty="0">
                <a:solidFill>
                  <a:srgbClr val="8A4E0C"/>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1271016" y="2971800"/>
            <a:ext cx="1685468" cy="502920"/>
          </a:xfrm>
          <a:prstGeom prst="rect">
            <a:avLst/>
          </a:prstGeom>
          <a:noFill/>
          <a:ln/>
        </p:spPr>
        <p:txBody>
          <a:bodyPr wrap="square" lIns="0" tIns="0" rIns="0" bIns="0" rtlCol="0" anchor="ctr"/>
          <a:lstStyle/>
          <a:p>
            <a:pPr indent="0" marL="0">
              <a:lnSpc>
                <a:spcPct val="96000"/>
              </a:lnSpc>
              <a:buNone/>
            </a:pPr>
            <a:r>
              <a:rPr lang="en-US" sz="1250" dirty="0">
                <a:solidFill>
                  <a:srgbClr val="1A1D23"/>
                </a:solidFill>
                <a:latin typeface="Calibri" pitchFamily="34" charset="0"/>
                <a:ea typeface="Calibri" pitchFamily="34" charset="-122"/>
                <a:cs typeface="Calibri" pitchFamily="34" charset="-120"/>
              </a:rPr>
              <a:t>Agents  →  Create agent</a:t>
            </a:r>
            <a:endParaRPr lang="en-US" sz="1250" dirty="0"/>
          </a:p>
        </p:txBody>
      </p:sp>
      <p:sp>
        <p:nvSpPr>
          <p:cNvPr id="11" name="Shape 9"/>
          <p:cNvSpPr/>
          <p:nvPr/>
        </p:nvSpPr>
        <p:spPr>
          <a:xfrm>
            <a:off x="813816" y="3621024"/>
            <a:ext cx="365760" cy="365760"/>
          </a:xfrm>
          <a:prstGeom prst="ellipse">
            <a:avLst/>
          </a:prstGeom>
          <a:solidFill>
            <a:srgbClr val="F5EAD8"/>
          </a:solidFill>
          <a:ln/>
        </p:spPr>
      </p:sp>
      <p:sp>
        <p:nvSpPr>
          <p:cNvPr id="12" name="Text 10"/>
          <p:cNvSpPr/>
          <p:nvPr/>
        </p:nvSpPr>
        <p:spPr>
          <a:xfrm>
            <a:off x="813816" y="3611880"/>
            <a:ext cx="365760" cy="365760"/>
          </a:xfrm>
          <a:prstGeom prst="rect">
            <a:avLst/>
          </a:prstGeom>
          <a:noFill/>
          <a:ln/>
        </p:spPr>
        <p:txBody>
          <a:bodyPr wrap="square" lIns="0" tIns="0" rIns="0" bIns="0" rtlCol="0" anchor="ctr"/>
          <a:lstStyle/>
          <a:p>
            <a:pPr algn="ctr" indent="0" marL="0">
              <a:buNone/>
            </a:pPr>
            <a:r>
              <a:rPr lang="en-US" sz="1600" b="1" dirty="0">
                <a:solidFill>
                  <a:srgbClr val="8A4E0C"/>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1271016" y="3575304"/>
            <a:ext cx="1685468" cy="502920"/>
          </a:xfrm>
          <a:prstGeom prst="rect">
            <a:avLst/>
          </a:prstGeom>
          <a:noFill/>
          <a:ln/>
        </p:spPr>
        <p:txBody>
          <a:bodyPr wrap="square" lIns="0" tIns="0" rIns="0" bIns="0" rtlCol="0" anchor="ctr"/>
          <a:lstStyle/>
          <a:p>
            <a:pPr indent="0" marL="0">
              <a:lnSpc>
                <a:spcPct val="96000"/>
              </a:lnSpc>
              <a:buNone/>
            </a:pPr>
            <a:r>
              <a:rPr lang="en-US" sz="1250" dirty="0">
                <a:solidFill>
                  <a:srgbClr val="1A1D23"/>
                </a:solidFill>
                <a:latin typeface="Calibri" pitchFamily="34" charset="0"/>
                <a:ea typeface="Calibri" pitchFamily="34" charset="-122"/>
                <a:cs typeface="Calibri" pitchFamily="34" charset="-120"/>
              </a:rPr>
              <a:t>Name it  travelmind-desk</a:t>
            </a:r>
            <a:endParaRPr lang="en-US" sz="1250" dirty="0"/>
          </a:p>
        </p:txBody>
      </p:sp>
      <p:sp>
        <p:nvSpPr>
          <p:cNvPr id="14" name="Shape 12"/>
          <p:cNvSpPr/>
          <p:nvPr/>
        </p:nvSpPr>
        <p:spPr>
          <a:xfrm>
            <a:off x="813816" y="4224528"/>
            <a:ext cx="365760" cy="365760"/>
          </a:xfrm>
          <a:prstGeom prst="ellipse">
            <a:avLst/>
          </a:prstGeom>
          <a:solidFill>
            <a:srgbClr val="F5EAD8"/>
          </a:solidFill>
          <a:ln/>
        </p:spPr>
      </p:sp>
      <p:sp>
        <p:nvSpPr>
          <p:cNvPr id="15" name="Text 13"/>
          <p:cNvSpPr/>
          <p:nvPr/>
        </p:nvSpPr>
        <p:spPr>
          <a:xfrm>
            <a:off x="813816" y="4215384"/>
            <a:ext cx="365760" cy="365760"/>
          </a:xfrm>
          <a:prstGeom prst="rect">
            <a:avLst/>
          </a:prstGeom>
          <a:noFill/>
          <a:ln/>
        </p:spPr>
        <p:txBody>
          <a:bodyPr wrap="square" lIns="0" tIns="0" rIns="0" bIns="0" rtlCol="0" anchor="ctr"/>
          <a:lstStyle/>
          <a:p>
            <a:pPr algn="ctr" indent="0" marL="0">
              <a:buNone/>
            </a:pPr>
            <a:r>
              <a:rPr lang="en-US" sz="1600" b="1" dirty="0">
                <a:solidFill>
                  <a:srgbClr val="8A4E0C"/>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271016" y="4178808"/>
            <a:ext cx="1685468" cy="502920"/>
          </a:xfrm>
          <a:prstGeom prst="rect">
            <a:avLst/>
          </a:prstGeom>
          <a:noFill/>
          <a:ln/>
        </p:spPr>
        <p:txBody>
          <a:bodyPr wrap="square" lIns="0" tIns="0" rIns="0" bIns="0" rtlCol="0" anchor="ctr"/>
          <a:lstStyle/>
          <a:p>
            <a:pPr indent="0" marL="0">
              <a:lnSpc>
                <a:spcPct val="96000"/>
              </a:lnSpc>
              <a:buNone/>
            </a:pPr>
            <a:r>
              <a:rPr lang="en-US" sz="1250" dirty="0">
                <a:solidFill>
                  <a:srgbClr val="1A1D23"/>
                </a:solidFill>
                <a:latin typeface="Calibri" pitchFamily="34" charset="0"/>
                <a:ea typeface="Calibri" pitchFamily="34" charset="-122"/>
                <a:cs typeface="Calibri" pitchFamily="34" charset="-120"/>
              </a:rPr>
              <a:t>New service role  (Door 1)</a:t>
            </a:r>
            <a:endParaRPr lang="en-US" sz="1250" dirty="0"/>
          </a:p>
        </p:txBody>
      </p:sp>
      <p:sp>
        <p:nvSpPr>
          <p:cNvPr id="17" name="Shape 15"/>
          <p:cNvSpPr/>
          <p:nvPr/>
        </p:nvSpPr>
        <p:spPr>
          <a:xfrm>
            <a:off x="3413684" y="2148840"/>
            <a:ext cx="2545004" cy="3383280"/>
          </a:xfrm>
          <a:prstGeom prst="roundRect">
            <a:avLst>
              <a:gd name="adj" fmla="val 3234"/>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18" name="Shape 16"/>
          <p:cNvSpPr/>
          <p:nvPr/>
        </p:nvSpPr>
        <p:spPr>
          <a:xfrm>
            <a:off x="3614852" y="2368296"/>
            <a:ext cx="2142668" cy="402336"/>
          </a:xfrm>
          <a:prstGeom prst="roundRect">
            <a:avLst>
              <a:gd name="adj" fmla="val 50000"/>
            </a:avLst>
          </a:prstGeom>
          <a:solidFill>
            <a:srgbClr val="14161C"/>
          </a:solidFill>
          <a:ln/>
        </p:spPr>
      </p:sp>
      <p:sp>
        <p:nvSpPr>
          <p:cNvPr id="19" name="Text 17"/>
          <p:cNvSpPr/>
          <p:nvPr/>
        </p:nvSpPr>
        <p:spPr>
          <a:xfrm>
            <a:off x="3614852" y="2368296"/>
            <a:ext cx="2142668" cy="402336"/>
          </a:xfrm>
          <a:prstGeom prst="rect">
            <a:avLst/>
          </a:prstGeom>
          <a:noFill/>
          <a:ln/>
        </p:spPr>
        <p:txBody>
          <a:bodyPr wrap="square" lIns="0" tIns="0" rIns="0" bIns="0" rtlCol="0" anchor="ctr"/>
          <a:lstStyle/>
          <a:p>
            <a:pPr algn="ctr" indent="0" marL="0">
              <a:buNone/>
            </a:pPr>
            <a:r>
              <a:rPr lang="en-US" sz="1250" b="1" spc="150" kern="0" dirty="0">
                <a:solidFill>
                  <a:srgbClr val="FFFFFF"/>
                </a:solidFill>
                <a:latin typeface="Calibri" pitchFamily="34" charset="0"/>
                <a:ea typeface="Calibri" pitchFamily="34" charset="-122"/>
                <a:cs typeface="Calibri" pitchFamily="34" charset="-120"/>
              </a:rPr>
              <a:t>CONFIGURE</a:t>
            </a:r>
            <a:endParaRPr lang="en-US" sz="1250" dirty="0"/>
          </a:p>
        </p:txBody>
      </p:sp>
      <p:sp>
        <p:nvSpPr>
          <p:cNvPr id="20" name="Shape 18"/>
          <p:cNvSpPr/>
          <p:nvPr/>
        </p:nvSpPr>
        <p:spPr>
          <a:xfrm>
            <a:off x="3633140" y="3017520"/>
            <a:ext cx="365760" cy="365760"/>
          </a:xfrm>
          <a:prstGeom prst="ellipse">
            <a:avLst/>
          </a:prstGeom>
          <a:solidFill>
            <a:srgbClr val="F5EAD8"/>
          </a:solidFill>
          <a:ln/>
        </p:spPr>
      </p:sp>
      <p:sp>
        <p:nvSpPr>
          <p:cNvPr id="21" name="Text 19"/>
          <p:cNvSpPr/>
          <p:nvPr/>
        </p:nvSpPr>
        <p:spPr>
          <a:xfrm>
            <a:off x="3633140" y="3008376"/>
            <a:ext cx="365760" cy="365760"/>
          </a:xfrm>
          <a:prstGeom prst="rect">
            <a:avLst/>
          </a:prstGeom>
          <a:noFill/>
          <a:ln/>
        </p:spPr>
        <p:txBody>
          <a:bodyPr wrap="square" lIns="0" tIns="0" rIns="0" bIns="0" rtlCol="0" anchor="ctr"/>
          <a:lstStyle/>
          <a:p>
            <a:pPr algn="ctr" indent="0" marL="0">
              <a:buNone/>
            </a:pPr>
            <a:r>
              <a:rPr lang="en-US" sz="1600" b="1" dirty="0">
                <a:solidFill>
                  <a:srgbClr val="8A4E0C"/>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4090340" y="2971800"/>
            <a:ext cx="1685468" cy="502920"/>
          </a:xfrm>
          <a:prstGeom prst="rect">
            <a:avLst/>
          </a:prstGeom>
          <a:noFill/>
          <a:ln/>
        </p:spPr>
        <p:txBody>
          <a:bodyPr wrap="square" lIns="0" tIns="0" rIns="0" bIns="0" rtlCol="0" anchor="ctr"/>
          <a:lstStyle/>
          <a:p>
            <a:pPr indent="0" marL="0">
              <a:lnSpc>
                <a:spcPct val="96000"/>
              </a:lnSpc>
              <a:buNone/>
            </a:pPr>
            <a:r>
              <a:rPr lang="en-US" sz="1250" dirty="0">
                <a:solidFill>
                  <a:srgbClr val="1A1D23"/>
                </a:solidFill>
                <a:latin typeface="Calibri" pitchFamily="34" charset="0"/>
                <a:ea typeface="Calibri" pitchFamily="34" charset="-122"/>
                <a:cs typeface="Calibri" pitchFamily="34" charset="-120"/>
              </a:rPr>
              <a:t>Select model: Haiku 4.5 profile</a:t>
            </a:r>
            <a:endParaRPr lang="en-US" sz="1250" dirty="0"/>
          </a:p>
        </p:txBody>
      </p:sp>
      <p:sp>
        <p:nvSpPr>
          <p:cNvPr id="23" name="Shape 21"/>
          <p:cNvSpPr/>
          <p:nvPr/>
        </p:nvSpPr>
        <p:spPr>
          <a:xfrm>
            <a:off x="3633140" y="3621024"/>
            <a:ext cx="365760" cy="365760"/>
          </a:xfrm>
          <a:prstGeom prst="ellipse">
            <a:avLst/>
          </a:prstGeom>
          <a:solidFill>
            <a:srgbClr val="F5EAD8"/>
          </a:solidFill>
          <a:ln/>
        </p:spPr>
      </p:sp>
      <p:sp>
        <p:nvSpPr>
          <p:cNvPr id="24" name="Text 22"/>
          <p:cNvSpPr/>
          <p:nvPr/>
        </p:nvSpPr>
        <p:spPr>
          <a:xfrm>
            <a:off x="3633140" y="3611880"/>
            <a:ext cx="365760" cy="365760"/>
          </a:xfrm>
          <a:prstGeom prst="rect">
            <a:avLst/>
          </a:prstGeom>
          <a:noFill/>
          <a:ln/>
        </p:spPr>
        <p:txBody>
          <a:bodyPr wrap="square" lIns="0" tIns="0" rIns="0" bIns="0" rtlCol="0" anchor="ctr"/>
          <a:lstStyle/>
          <a:p>
            <a:pPr algn="ctr" indent="0" marL="0">
              <a:buNone/>
            </a:pPr>
            <a:r>
              <a:rPr lang="en-US" sz="1600" b="1" dirty="0">
                <a:solidFill>
                  <a:srgbClr val="8A4E0C"/>
                </a:solidFill>
                <a:latin typeface="Calibri" pitchFamily="34" charset="0"/>
                <a:ea typeface="Calibri" pitchFamily="34" charset="-122"/>
                <a:cs typeface="Calibri" pitchFamily="34" charset="-120"/>
              </a:rPr>
              <a:t>5</a:t>
            </a:r>
            <a:endParaRPr lang="en-US" sz="1600" dirty="0"/>
          </a:p>
        </p:txBody>
      </p:sp>
      <p:sp>
        <p:nvSpPr>
          <p:cNvPr id="25" name="Text 23"/>
          <p:cNvSpPr/>
          <p:nvPr/>
        </p:nvSpPr>
        <p:spPr>
          <a:xfrm>
            <a:off x="4090340" y="3575304"/>
            <a:ext cx="1685468" cy="502920"/>
          </a:xfrm>
          <a:prstGeom prst="rect">
            <a:avLst/>
          </a:prstGeom>
          <a:noFill/>
          <a:ln/>
        </p:spPr>
        <p:txBody>
          <a:bodyPr wrap="square" lIns="0" tIns="0" rIns="0" bIns="0" rtlCol="0" anchor="ctr"/>
          <a:lstStyle/>
          <a:p>
            <a:pPr indent="0" marL="0">
              <a:lnSpc>
                <a:spcPct val="96000"/>
              </a:lnSpc>
              <a:buNone/>
            </a:pPr>
            <a:r>
              <a:rPr lang="en-US" sz="1250" dirty="0">
                <a:solidFill>
                  <a:srgbClr val="1A1D23"/>
                </a:solidFill>
                <a:latin typeface="Calibri" pitchFamily="34" charset="0"/>
                <a:ea typeface="Calibri" pitchFamily="34" charset="-122"/>
                <a:cs typeface="Calibri" pitchFamily="34" charset="-120"/>
              </a:rPr>
              <a:t>Paste TravelMind instructions</a:t>
            </a:r>
            <a:endParaRPr lang="en-US" sz="1250" dirty="0"/>
          </a:p>
        </p:txBody>
      </p:sp>
      <p:sp>
        <p:nvSpPr>
          <p:cNvPr id="26" name="Shape 24"/>
          <p:cNvSpPr/>
          <p:nvPr/>
        </p:nvSpPr>
        <p:spPr>
          <a:xfrm>
            <a:off x="3633140" y="4224528"/>
            <a:ext cx="365760" cy="365760"/>
          </a:xfrm>
          <a:prstGeom prst="ellipse">
            <a:avLst/>
          </a:prstGeom>
          <a:solidFill>
            <a:srgbClr val="F5EAD8"/>
          </a:solidFill>
          <a:ln/>
        </p:spPr>
      </p:sp>
      <p:sp>
        <p:nvSpPr>
          <p:cNvPr id="27" name="Text 25"/>
          <p:cNvSpPr/>
          <p:nvPr/>
        </p:nvSpPr>
        <p:spPr>
          <a:xfrm>
            <a:off x="3633140" y="4215384"/>
            <a:ext cx="365760" cy="365760"/>
          </a:xfrm>
          <a:prstGeom prst="rect">
            <a:avLst/>
          </a:prstGeom>
          <a:noFill/>
          <a:ln/>
        </p:spPr>
        <p:txBody>
          <a:bodyPr wrap="square" lIns="0" tIns="0" rIns="0" bIns="0" rtlCol="0" anchor="ctr"/>
          <a:lstStyle/>
          <a:p>
            <a:pPr algn="ctr" indent="0" marL="0">
              <a:buNone/>
            </a:pPr>
            <a:r>
              <a:rPr lang="en-US" sz="1600" b="1" dirty="0">
                <a:solidFill>
                  <a:srgbClr val="8A4E0C"/>
                </a:solidFill>
                <a:latin typeface="Calibri" pitchFamily="34" charset="0"/>
                <a:ea typeface="Calibri" pitchFamily="34" charset="-122"/>
                <a:cs typeface="Calibri" pitchFamily="34" charset="-120"/>
              </a:rPr>
              <a:t>6</a:t>
            </a:r>
            <a:endParaRPr lang="en-US" sz="1600" dirty="0"/>
          </a:p>
        </p:txBody>
      </p:sp>
      <p:sp>
        <p:nvSpPr>
          <p:cNvPr id="28" name="Text 26"/>
          <p:cNvSpPr/>
          <p:nvPr/>
        </p:nvSpPr>
        <p:spPr>
          <a:xfrm>
            <a:off x="4090340" y="4178808"/>
            <a:ext cx="1685468" cy="502920"/>
          </a:xfrm>
          <a:prstGeom prst="rect">
            <a:avLst/>
          </a:prstGeom>
          <a:noFill/>
          <a:ln/>
        </p:spPr>
        <p:txBody>
          <a:bodyPr wrap="square" lIns="0" tIns="0" rIns="0" bIns="0" rtlCol="0" anchor="ctr"/>
          <a:lstStyle/>
          <a:p>
            <a:pPr indent="0" marL="0">
              <a:lnSpc>
                <a:spcPct val="96000"/>
              </a:lnSpc>
              <a:buNone/>
            </a:pPr>
            <a:r>
              <a:rPr lang="en-US" sz="1250" dirty="0">
                <a:solidFill>
                  <a:srgbClr val="1A1D23"/>
                </a:solidFill>
                <a:latin typeface="Calibri" pitchFamily="34" charset="0"/>
                <a:ea typeface="Calibri" pitchFamily="34" charset="-122"/>
                <a:cs typeface="Calibri" pitchFamily="34" charset="-120"/>
              </a:rPr>
              <a:t>Save  →  Action groups  →  Add</a:t>
            </a:r>
            <a:endParaRPr lang="en-US" sz="1250" dirty="0"/>
          </a:p>
        </p:txBody>
      </p:sp>
      <p:sp>
        <p:nvSpPr>
          <p:cNvPr id="29" name="Shape 27"/>
          <p:cNvSpPr/>
          <p:nvPr/>
        </p:nvSpPr>
        <p:spPr>
          <a:xfrm>
            <a:off x="6233008" y="2148840"/>
            <a:ext cx="2545004" cy="3383280"/>
          </a:xfrm>
          <a:prstGeom prst="roundRect">
            <a:avLst>
              <a:gd name="adj" fmla="val 3234"/>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30" name="Shape 28"/>
          <p:cNvSpPr/>
          <p:nvPr/>
        </p:nvSpPr>
        <p:spPr>
          <a:xfrm>
            <a:off x="6434176" y="2368296"/>
            <a:ext cx="2142668" cy="402336"/>
          </a:xfrm>
          <a:prstGeom prst="roundRect">
            <a:avLst>
              <a:gd name="adj" fmla="val 50000"/>
            </a:avLst>
          </a:prstGeom>
          <a:solidFill>
            <a:srgbClr val="14161C"/>
          </a:solidFill>
          <a:ln/>
        </p:spPr>
      </p:sp>
      <p:sp>
        <p:nvSpPr>
          <p:cNvPr id="31" name="Text 29"/>
          <p:cNvSpPr/>
          <p:nvPr/>
        </p:nvSpPr>
        <p:spPr>
          <a:xfrm>
            <a:off x="6434176" y="2368296"/>
            <a:ext cx="2142668" cy="402336"/>
          </a:xfrm>
          <a:prstGeom prst="rect">
            <a:avLst/>
          </a:prstGeom>
          <a:noFill/>
          <a:ln/>
        </p:spPr>
        <p:txBody>
          <a:bodyPr wrap="square" lIns="0" tIns="0" rIns="0" bIns="0" rtlCol="0" anchor="ctr"/>
          <a:lstStyle/>
          <a:p>
            <a:pPr algn="ctr" indent="0" marL="0">
              <a:buNone/>
            </a:pPr>
            <a:r>
              <a:rPr lang="en-US" sz="1250" b="1" spc="150" kern="0" dirty="0">
                <a:solidFill>
                  <a:srgbClr val="FFFFFF"/>
                </a:solidFill>
                <a:latin typeface="Calibri" pitchFamily="34" charset="0"/>
                <a:ea typeface="Calibri" pitchFamily="34" charset="-122"/>
                <a:cs typeface="Calibri" pitchFamily="34" charset="-120"/>
              </a:rPr>
              <a:t>WIRE TOOL</a:t>
            </a:r>
            <a:endParaRPr lang="en-US" sz="1250" dirty="0"/>
          </a:p>
        </p:txBody>
      </p:sp>
      <p:sp>
        <p:nvSpPr>
          <p:cNvPr id="32" name="Shape 30"/>
          <p:cNvSpPr/>
          <p:nvPr/>
        </p:nvSpPr>
        <p:spPr>
          <a:xfrm>
            <a:off x="6452464" y="3017520"/>
            <a:ext cx="365760" cy="365760"/>
          </a:xfrm>
          <a:prstGeom prst="ellipse">
            <a:avLst/>
          </a:prstGeom>
          <a:solidFill>
            <a:srgbClr val="F5EAD8"/>
          </a:solidFill>
          <a:ln/>
        </p:spPr>
      </p:sp>
      <p:sp>
        <p:nvSpPr>
          <p:cNvPr id="33" name="Text 31"/>
          <p:cNvSpPr/>
          <p:nvPr/>
        </p:nvSpPr>
        <p:spPr>
          <a:xfrm>
            <a:off x="6452464" y="3008376"/>
            <a:ext cx="365760" cy="365760"/>
          </a:xfrm>
          <a:prstGeom prst="rect">
            <a:avLst/>
          </a:prstGeom>
          <a:noFill/>
          <a:ln/>
        </p:spPr>
        <p:txBody>
          <a:bodyPr wrap="square" lIns="0" tIns="0" rIns="0" bIns="0" rtlCol="0" anchor="ctr"/>
          <a:lstStyle/>
          <a:p>
            <a:pPr algn="ctr" indent="0" marL="0">
              <a:buNone/>
            </a:pPr>
            <a:r>
              <a:rPr lang="en-US" sz="1600" b="1" dirty="0">
                <a:solidFill>
                  <a:srgbClr val="8A4E0C"/>
                </a:solidFill>
                <a:latin typeface="Calibri" pitchFamily="34" charset="0"/>
                <a:ea typeface="Calibri" pitchFamily="34" charset="-122"/>
                <a:cs typeface="Calibri" pitchFamily="34" charset="-120"/>
              </a:rPr>
              <a:t>7</a:t>
            </a:r>
            <a:endParaRPr lang="en-US" sz="1600" dirty="0"/>
          </a:p>
        </p:txBody>
      </p:sp>
      <p:sp>
        <p:nvSpPr>
          <p:cNvPr id="34" name="Text 32"/>
          <p:cNvSpPr/>
          <p:nvPr/>
        </p:nvSpPr>
        <p:spPr>
          <a:xfrm>
            <a:off x="6909664" y="2971800"/>
            <a:ext cx="1685468" cy="502920"/>
          </a:xfrm>
          <a:prstGeom prst="rect">
            <a:avLst/>
          </a:prstGeom>
          <a:noFill/>
          <a:ln/>
        </p:spPr>
        <p:txBody>
          <a:bodyPr wrap="square" lIns="0" tIns="0" rIns="0" bIns="0" rtlCol="0" anchor="ctr"/>
          <a:lstStyle/>
          <a:p>
            <a:pPr indent="0" marL="0">
              <a:lnSpc>
                <a:spcPct val="96000"/>
              </a:lnSpc>
              <a:buNone/>
            </a:pPr>
            <a:r>
              <a:rPr lang="en-US" sz="1250" dirty="0">
                <a:solidFill>
                  <a:srgbClr val="1A1D23"/>
                </a:solidFill>
                <a:latin typeface="Calibri" pitchFamily="34" charset="0"/>
                <a:ea typeface="Calibri" pitchFamily="34" charset="-122"/>
                <a:cs typeface="Calibri" pitchFamily="34" charset="-120"/>
              </a:rPr>
              <a:t>Name group, function details</a:t>
            </a:r>
            <a:endParaRPr lang="en-US" sz="1250" dirty="0"/>
          </a:p>
        </p:txBody>
      </p:sp>
      <p:sp>
        <p:nvSpPr>
          <p:cNvPr id="35" name="Shape 33"/>
          <p:cNvSpPr/>
          <p:nvPr/>
        </p:nvSpPr>
        <p:spPr>
          <a:xfrm>
            <a:off x="6452464" y="3621024"/>
            <a:ext cx="365760" cy="365760"/>
          </a:xfrm>
          <a:prstGeom prst="ellipse">
            <a:avLst/>
          </a:prstGeom>
          <a:solidFill>
            <a:srgbClr val="F5EAD8"/>
          </a:solidFill>
          <a:ln/>
        </p:spPr>
      </p:sp>
      <p:sp>
        <p:nvSpPr>
          <p:cNvPr id="36" name="Text 34"/>
          <p:cNvSpPr/>
          <p:nvPr/>
        </p:nvSpPr>
        <p:spPr>
          <a:xfrm>
            <a:off x="6452464" y="3611880"/>
            <a:ext cx="365760" cy="365760"/>
          </a:xfrm>
          <a:prstGeom prst="rect">
            <a:avLst/>
          </a:prstGeom>
          <a:noFill/>
          <a:ln/>
        </p:spPr>
        <p:txBody>
          <a:bodyPr wrap="square" lIns="0" tIns="0" rIns="0" bIns="0" rtlCol="0" anchor="ctr"/>
          <a:lstStyle/>
          <a:p>
            <a:pPr algn="ctr" indent="0" marL="0">
              <a:buNone/>
            </a:pPr>
            <a:r>
              <a:rPr lang="en-US" sz="1600" b="1" dirty="0">
                <a:solidFill>
                  <a:srgbClr val="8A4E0C"/>
                </a:solidFill>
                <a:latin typeface="Calibri" pitchFamily="34" charset="0"/>
                <a:ea typeface="Calibri" pitchFamily="34" charset="-122"/>
                <a:cs typeface="Calibri" pitchFamily="34" charset="-120"/>
              </a:rPr>
              <a:t>8</a:t>
            </a:r>
            <a:endParaRPr lang="en-US" sz="1600" dirty="0"/>
          </a:p>
        </p:txBody>
      </p:sp>
      <p:sp>
        <p:nvSpPr>
          <p:cNvPr id="37" name="Text 35"/>
          <p:cNvSpPr/>
          <p:nvPr/>
        </p:nvSpPr>
        <p:spPr>
          <a:xfrm>
            <a:off x="6909664" y="3575304"/>
            <a:ext cx="1685468" cy="502920"/>
          </a:xfrm>
          <a:prstGeom prst="rect">
            <a:avLst/>
          </a:prstGeom>
          <a:noFill/>
          <a:ln/>
        </p:spPr>
        <p:txBody>
          <a:bodyPr wrap="square" lIns="0" tIns="0" rIns="0" bIns="0" rtlCol="0" anchor="ctr"/>
          <a:lstStyle/>
          <a:p>
            <a:pPr indent="0" marL="0">
              <a:lnSpc>
                <a:spcPct val="96000"/>
              </a:lnSpc>
              <a:buNone/>
            </a:pPr>
            <a:r>
              <a:rPr lang="en-US" sz="1250" dirty="0">
                <a:solidFill>
                  <a:srgbClr val="1A1D23"/>
                </a:solidFill>
                <a:latin typeface="Calibri" pitchFamily="34" charset="0"/>
                <a:ea typeface="Calibri" pitchFamily="34" charset="-122"/>
                <a:cs typeface="Calibri" pitchFamily="34" charset="-120"/>
              </a:rPr>
              <a:t>Quick-create Lambda  (Door 2)</a:t>
            </a:r>
            <a:endParaRPr lang="en-US" sz="1250" dirty="0"/>
          </a:p>
        </p:txBody>
      </p:sp>
      <p:sp>
        <p:nvSpPr>
          <p:cNvPr id="38" name="Shape 36"/>
          <p:cNvSpPr/>
          <p:nvPr/>
        </p:nvSpPr>
        <p:spPr>
          <a:xfrm>
            <a:off x="6452464" y="4224528"/>
            <a:ext cx="365760" cy="365760"/>
          </a:xfrm>
          <a:prstGeom prst="ellipse">
            <a:avLst/>
          </a:prstGeom>
          <a:solidFill>
            <a:srgbClr val="F5EAD8"/>
          </a:solidFill>
          <a:ln/>
        </p:spPr>
      </p:sp>
      <p:sp>
        <p:nvSpPr>
          <p:cNvPr id="39" name="Text 37"/>
          <p:cNvSpPr/>
          <p:nvPr/>
        </p:nvSpPr>
        <p:spPr>
          <a:xfrm>
            <a:off x="6452464" y="4215384"/>
            <a:ext cx="365760" cy="365760"/>
          </a:xfrm>
          <a:prstGeom prst="rect">
            <a:avLst/>
          </a:prstGeom>
          <a:noFill/>
          <a:ln/>
        </p:spPr>
        <p:txBody>
          <a:bodyPr wrap="square" lIns="0" tIns="0" rIns="0" bIns="0" rtlCol="0" anchor="ctr"/>
          <a:lstStyle/>
          <a:p>
            <a:pPr algn="ctr" indent="0" marL="0">
              <a:buNone/>
            </a:pPr>
            <a:r>
              <a:rPr lang="en-US" sz="1600" b="1" dirty="0">
                <a:solidFill>
                  <a:srgbClr val="8A4E0C"/>
                </a:solidFill>
                <a:latin typeface="Calibri" pitchFamily="34" charset="0"/>
                <a:ea typeface="Calibri" pitchFamily="34" charset="-122"/>
                <a:cs typeface="Calibri" pitchFamily="34" charset="-120"/>
              </a:rPr>
              <a:t>9</a:t>
            </a:r>
            <a:endParaRPr lang="en-US" sz="1600" dirty="0"/>
          </a:p>
        </p:txBody>
      </p:sp>
      <p:sp>
        <p:nvSpPr>
          <p:cNvPr id="40" name="Text 38"/>
          <p:cNvSpPr/>
          <p:nvPr/>
        </p:nvSpPr>
        <p:spPr>
          <a:xfrm>
            <a:off x="6909664" y="4178808"/>
            <a:ext cx="1685468" cy="502920"/>
          </a:xfrm>
          <a:prstGeom prst="rect">
            <a:avLst/>
          </a:prstGeom>
          <a:noFill/>
          <a:ln/>
        </p:spPr>
        <p:txBody>
          <a:bodyPr wrap="square" lIns="0" tIns="0" rIns="0" bIns="0" rtlCol="0" anchor="ctr"/>
          <a:lstStyle/>
          <a:p>
            <a:pPr indent="0" marL="0">
              <a:lnSpc>
                <a:spcPct val="96000"/>
              </a:lnSpc>
              <a:buNone/>
            </a:pPr>
            <a:r>
              <a:rPr lang="en-US" sz="1250" dirty="0">
                <a:solidFill>
                  <a:srgbClr val="1A1D23"/>
                </a:solidFill>
                <a:latin typeface="Calibri" pitchFamily="34" charset="0"/>
                <a:ea typeface="Calibri" pitchFamily="34" charset="-122"/>
                <a:cs typeface="Calibri" pitchFamily="34" charset="-120"/>
              </a:rPr>
              <a:t>Add  check_entitlements</a:t>
            </a:r>
            <a:endParaRPr lang="en-US" sz="1250" dirty="0"/>
          </a:p>
        </p:txBody>
      </p:sp>
      <p:sp>
        <p:nvSpPr>
          <p:cNvPr id="41" name="Shape 39"/>
          <p:cNvSpPr/>
          <p:nvPr/>
        </p:nvSpPr>
        <p:spPr>
          <a:xfrm>
            <a:off x="6452464" y="4828032"/>
            <a:ext cx="365760" cy="365760"/>
          </a:xfrm>
          <a:prstGeom prst="ellipse">
            <a:avLst/>
          </a:prstGeom>
          <a:solidFill>
            <a:srgbClr val="F5EAD8"/>
          </a:solidFill>
          <a:ln/>
        </p:spPr>
      </p:sp>
      <p:sp>
        <p:nvSpPr>
          <p:cNvPr id="42" name="Text 40"/>
          <p:cNvSpPr/>
          <p:nvPr/>
        </p:nvSpPr>
        <p:spPr>
          <a:xfrm>
            <a:off x="6452464" y="4818888"/>
            <a:ext cx="365760" cy="365760"/>
          </a:xfrm>
          <a:prstGeom prst="rect">
            <a:avLst/>
          </a:prstGeom>
          <a:noFill/>
          <a:ln/>
        </p:spPr>
        <p:txBody>
          <a:bodyPr wrap="square" lIns="0" tIns="0" rIns="0" bIns="0" rtlCol="0" anchor="ctr"/>
          <a:lstStyle/>
          <a:p>
            <a:pPr algn="ctr" indent="0" marL="0">
              <a:buNone/>
            </a:pPr>
            <a:r>
              <a:rPr lang="en-US" sz="1600" b="1" dirty="0">
                <a:solidFill>
                  <a:srgbClr val="8A4E0C"/>
                </a:solidFill>
                <a:latin typeface="Calibri" pitchFamily="34" charset="0"/>
                <a:ea typeface="Calibri" pitchFamily="34" charset="-122"/>
                <a:cs typeface="Calibri" pitchFamily="34" charset="-120"/>
              </a:rPr>
              <a:t>10</a:t>
            </a:r>
            <a:endParaRPr lang="en-US" sz="1600" dirty="0"/>
          </a:p>
        </p:txBody>
      </p:sp>
      <p:sp>
        <p:nvSpPr>
          <p:cNvPr id="43" name="Text 41"/>
          <p:cNvSpPr/>
          <p:nvPr/>
        </p:nvSpPr>
        <p:spPr>
          <a:xfrm>
            <a:off x="6909664" y="4782312"/>
            <a:ext cx="1685468" cy="502920"/>
          </a:xfrm>
          <a:prstGeom prst="rect">
            <a:avLst/>
          </a:prstGeom>
          <a:noFill/>
          <a:ln/>
        </p:spPr>
        <p:txBody>
          <a:bodyPr wrap="square" lIns="0" tIns="0" rIns="0" bIns="0" rtlCol="0" anchor="ctr"/>
          <a:lstStyle/>
          <a:p>
            <a:pPr indent="0" marL="0">
              <a:lnSpc>
                <a:spcPct val="96000"/>
              </a:lnSpc>
              <a:buNone/>
            </a:pPr>
            <a:r>
              <a:rPr lang="en-US" sz="1250" dirty="0">
                <a:solidFill>
                  <a:srgbClr val="1A1D23"/>
                </a:solidFill>
                <a:latin typeface="Calibri" pitchFamily="34" charset="0"/>
                <a:ea typeface="Calibri" pitchFamily="34" charset="-122"/>
                <a:cs typeface="Calibri" pitchFamily="34" charset="-120"/>
              </a:rPr>
              <a:t>Paste handler, deploy</a:t>
            </a:r>
            <a:endParaRPr lang="en-US" sz="1250" dirty="0"/>
          </a:p>
        </p:txBody>
      </p:sp>
      <p:sp>
        <p:nvSpPr>
          <p:cNvPr id="44" name="Shape 42"/>
          <p:cNvSpPr/>
          <p:nvPr/>
        </p:nvSpPr>
        <p:spPr>
          <a:xfrm>
            <a:off x="9052331" y="2148840"/>
            <a:ext cx="2545004" cy="3383280"/>
          </a:xfrm>
          <a:prstGeom prst="roundRect">
            <a:avLst>
              <a:gd name="adj" fmla="val 3234"/>
            </a:avLst>
          </a:prstGeom>
          <a:solidFill>
            <a:srgbClr val="F8F9FB"/>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45" name="Shape 43"/>
          <p:cNvSpPr/>
          <p:nvPr/>
        </p:nvSpPr>
        <p:spPr>
          <a:xfrm>
            <a:off x="9253499" y="2368296"/>
            <a:ext cx="2142668" cy="402336"/>
          </a:xfrm>
          <a:prstGeom prst="roundRect">
            <a:avLst>
              <a:gd name="adj" fmla="val 50000"/>
            </a:avLst>
          </a:prstGeom>
          <a:solidFill>
            <a:srgbClr val="14161C"/>
          </a:solidFill>
          <a:ln/>
        </p:spPr>
      </p:sp>
      <p:sp>
        <p:nvSpPr>
          <p:cNvPr id="46" name="Text 44"/>
          <p:cNvSpPr/>
          <p:nvPr/>
        </p:nvSpPr>
        <p:spPr>
          <a:xfrm>
            <a:off x="9253499" y="2368296"/>
            <a:ext cx="2142668" cy="402336"/>
          </a:xfrm>
          <a:prstGeom prst="rect">
            <a:avLst/>
          </a:prstGeom>
          <a:noFill/>
          <a:ln/>
        </p:spPr>
        <p:txBody>
          <a:bodyPr wrap="square" lIns="0" tIns="0" rIns="0" bIns="0" rtlCol="0" anchor="ctr"/>
          <a:lstStyle/>
          <a:p>
            <a:pPr algn="ctr" indent="0" marL="0">
              <a:buNone/>
            </a:pPr>
            <a:r>
              <a:rPr lang="en-US" sz="1250" b="1" spc="150" kern="0" dirty="0">
                <a:solidFill>
                  <a:srgbClr val="FFFFFF"/>
                </a:solidFill>
                <a:latin typeface="Calibri" pitchFamily="34" charset="0"/>
                <a:ea typeface="Calibri" pitchFamily="34" charset="-122"/>
                <a:cs typeface="Calibri" pitchFamily="34" charset="-120"/>
              </a:rPr>
              <a:t>SHIP</a:t>
            </a:r>
            <a:endParaRPr lang="en-US" sz="1250" dirty="0"/>
          </a:p>
        </p:txBody>
      </p:sp>
      <p:sp>
        <p:nvSpPr>
          <p:cNvPr id="47" name="Shape 45"/>
          <p:cNvSpPr/>
          <p:nvPr/>
        </p:nvSpPr>
        <p:spPr>
          <a:xfrm>
            <a:off x="9271787" y="3017520"/>
            <a:ext cx="365760" cy="365760"/>
          </a:xfrm>
          <a:prstGeom prst="ellipse">
            <a:avLst/>
          </a:prstGeom>
          <a:solidFill>
            <a:srgbClr val="F5EAD8"/>
          </a:solidFill>
          <a:ln/>
        </p:spPr>
      </p:sp>
      <p:sp>
        <p:nvSpPr>
          <p:cNvPr id="48" name="Text 46"/>
          <p:cNvSpPr/>
          <p:nvPr/>
        </p:nvSpPr>
        <p:spPr>
          <a:xfrm>
            <a:off x="9271787" y="3008376"/>
            <a:ext cx="365760" cy="365760"/>
          </a:xfrm>
          <a:prstGeom prst="rect">
            <a:avLst/>
          </a:prstGeom>
          <a:noFill/>
          <a:ln/>
        </p:spPr>
        <p:txBody>
          <a:bodyPr wrap="square" lIns="0" tIns="0" rIns="0" bIns="0" rtlCol="0" anchor="ctr"/>
          <a:lstStyle/>
          <a:p>
            <a:pPr algn="ctr" indent="0" marL="0">
              <a:buNone/>
            </a:pPr>
            <a:r>
              <a:rPr lang="en-US" sz="1600" b="1" dirty="0">
                <a:solidFill>
                  <a:srgbClr val="8A4E0C"/>
                </a:solidFill>
                <a:latin typeface="Calibri" pitchFamily="34" charset="0"/>
                <a:ea typeface="Calibri" pitchFamily="34" charset="-122"/>
                <a:cs typeface="Calibri" pitchFamily="34" charset="-120"/>
              </a:rPr>
              <a:t>11</a:t>
            </a:r>
            <a:endParaRPr lang="en-US" sz="1600" dirty="0"/>
          </a:p>
        </p:txBody>
      </p:sp>
      <p:sp>
        <p:nvSpPr>
          <p:cNvPr id="49" name="Text 47"/>
          <p:cNvSpPr/>
          <p:nvPr/>
        </p:nvSpPr>
        <p:spPr>
          <a:xfrm>
            <a:off x="9728987" y="2971800"/>
            <a:ext cx="1685468" cy="502920"/>
          </a:xfrm>
          <a:prstGeom prst="rect">
            <a:avLst/>
          </a:prstGeom>
          <a:noFill/>
          <a:ln/>
        </p:spPr>
        <p:txBody>
          <a:bodyPr wrap="square" lIns="0" tIns="0" rIns="0" bIns="0" rtlCol="0" anchor="ctr"/>
          <a:lstStyle/>
          <a:p>
            <a:pPr indent="0" marL="0">
              <a:lnSpc>
                <a:spcPct val="96000"/>
              </a:lnSpc>
              <a:buNone/>
            </a:pPr>
            <a:r>
              <a:rPr lang="en-US" sz="1250" dirty="0">
                <a:solidFill>
                  <a:srgbClr val="1A1D23"/>
                </a:solidFill>
                <a:latin typeface="Calibri" pitchFamily="34" charset="0"/>
                <a:ea typeface="Calibri" pitchFamily="34" charset="-122"/>
                <a:cs typeface="Calibri" pitchFamily="34" charset="-120"/>
              </a:rPr>
              <a:t>Save  →  Prepare  (every change)</a:t>
            </a:r>
            <a:endParaRPr lang="en-US" sz="1250" dirty="0"/>
          </a:p>
        </p:txBody>
      </p:sp>
      <p:sp>
        <p:nvSpPr>
          <p:cNvPr id="50" name="Shape 48"/>
          <p:cNvSpPr/>
          <p:nvPr/>
        </p:nvSpPr>
        <p:spPr>
          <a:xfrm>
            <a:off x="9271787" y="3621024"/>
            <a:ext cx="365760" cy="365760"/>
          </a:xfrm>
          <a:prstGeom prst="ellipse">
            <a:avLst/>
          </a:prstGeom>
          <a:solidFill>
            <a:srgbClr val="F5EAD8"/>
          </a:solidFill>
          <a:ln/>
        </p:spPr>
      </p:sp>
      <p:sp>
        <p:nvSpPr>
          <p:cNvPr id="51" name="Text 49"/>
          <p:cNvSpPr/>
          <p:nvPr/>
        </p:nvSpPr>
        <p:spPr>
          <a:xfrm>
            <a:off x="9271787" y="3611880"/>
            <a:ext cx="365760" cy="365760"/>
          </a:xfrm>
          <a:prstGeom prst="rect">
            <a:avLst/>
          </a:prstGeom>
          <a:noFill/>
          <a:ln/>
        </p:spPr>
        <p:txBody>
          <a:bodyPr wrap="square" lIns="0" tIns="0" rIns="0" bIns="0" rtlCol="0" anchor="ctr"/>
          <a:lstStyle/>
          <a:p>
            <a:pPr algn="ctr" indent="0" marL="0">
              <a:buNone/>
            </a:pPr>
            <a:r>
              <a:rPr lang="en-US" sz="1600" b="1" dirty="0">
                <a:solidFill>
                  <a:srgbClr val="8A4E0C"/>
                </a:solidFill>
                <a:latin typeface="Calibri" pitchFamily="34" charset="0"/>
                <a:ea typeface="Calibri" pitchFamily="34" charset="-122"/>
                <a:cs typeface="Calibri" pitchFamily="34" charset="-120"/>
              </a:rPr>
              <a:t>12</a:t>
            </a:r>
            <a:endParaRPr lang="en-US" sz="1600" dirty="0"/>
          </a:p>
        </p:txBody>
      </p:sp>
      <p:sp>
        <p:nvSpPr>
          <p:cNvPr id="52" name="Text 50"/>
          <p:cNvSpPr/>
          <p:nvPr/>
        </p:nvSpPr>
        <p:spPr>
          <a:xfrm>
            <a:off x="9728987" y="3575304"/>
            <a:ext cx="1685468" cy="502920"/>
          </a:xfrm>
          <a:prstGeom prst="rect">
            <a:avLst/>
          </a:prstGeom>
          <a:noFill/>
          <a:ln/>
        </p:spPr>
        <p:txBody>
          <a:bodyPr wrap="square" lIns="0" tIns="0" rIns="0" bIns="0" rtlCol="0" anchor="ctr"/>
          <a:lstStyle/>
          <a:p>
            <a:pPr indent="0" marL="0">
              <a:lnSpc>
                <a:spcPct val="96000"/>
              </a:lnSpc>
              <a:buNone/>
            </a:pPr>
            <a:r>
              <a:rPr lang="en-US" sz="1250" dirty="0">
                <a:solidFill>
                  <a:srgbClr val="1A1D23"/>
                </a:solidFill>
                <a:latin typeface="Calibri" pitchFamily="34" charset="0"/>
                <a:ea typeface="Calibri" pitchFamily="34" charset="-122"/>
                <a:cs typeface="Calibri" pitchFamily="34" charset="-120"/>
              </a:rPr>
              <a:t>Test: ask about a 7-hour delay</a:t>
            </a:r>
            <a:endParaRPr lang="en-US" sz="1250" dirty="0"/>
          </a:p>
        </p:txBody>
      </p:sp>
      <p:sp>
        <p:nvSpPr>
          <p:cNvPr id="53" name="Shape 51"/>
          <p:cNvSpPr/>
          <p:nvPr/>
        </p:nvSpPr>
        <p:spPr>
          <a:xfrm>
            <a:off x="594360" y="5806440"/>
            <a:ext cx="11002975" cy="548640"/>
          </a:xfrm>
          <a:prstGeom prst="roundRect">
            <a:avLst>
              <a:gd name="adj" fmla="val 13333"/>
            </a:avLst>
          </a:prstGeom>
          <a:solidFill>
            <a:srgbClr val="F4E4E2"/>
          </a:solidFill>
          <a:ln w="12700">
            <a:solidFill>
              <a:srgbClr val="E7CFCB"/>
            </a:solidFill>
            <a:prstDash val="solid"/>
          </a:ln>
        </p:spPr>
      </p:sp>
      <p:sp>
        <p:nvSpPr>
          <p:cNvPr id="54" name="Text 52"/>
          <p:cNvSpPr/>
          <p:nvPr/>
        </p:nvSpPr>
        <p:spPr>
          <a:xfrm>
            <a:off x="868680" y="5806440"/>
            <a:ext cx="10454335" cy="548640"/>
          </a:xfrm>
          <a:prstGeom prst="rect">
            <a:avLst/>
          </a:prstGeom>
          <a:noFill/>
          <a:ln/>
        </p:spPr>
        <p:txBody>
          <a:bodyPr wrap="square" lIns="0" tIns="0" rIns="0" bIns="0" rtlCol="0" anchor="ctr"/>
          <a:lstStyle/>
          <a:p>
            <a:pPr indent="0" marL="0">
              <a:buNone/>
            </a:pPr>
            <a:r>
              <a:rPr lang="en-US" sz="1350" b="1" dirty="0">
                <a:solidFill>
                  <a:srgbClr val="AE443A"/>
                </a:solidFill>
                <a:latin typeface="Calibri" pitchFamily="34" charset="0"/>
                <a:ea typeface="Calibri" pitchFamily="34" charset="-122"/>
                <a:cs typeface="Calibri" pitchFamily="34" charset="-120"/>
              </a:rPr>
              <a:t>If the test window says the Lambda response failed, you broke the contract.  </a:t>
            </a:r>
            <a:pPr indent="0" marL="0">
              <a:buNone/>
            </a:pPr>
            <a:r>
              <a:rPr lang="en-US" sz="1350" dirty="0">
                <a:solidFill>
                  <a:srgbClr val="7A2C24"/>
                </a:solidFill>
                <a:latin typeface="Calibri" pitchFamily="34" charset="0"/>
                <a:ea typeface="Calibri" pitchFamily="34" charset="-122"/>
                <a:cs typeface="Calibri" pitchFamily="34" charset="-120"/>
              </a:rPr>
              <a:t>Go back two slides.</a:t>
            </a:r>
            <a:endParaRPr lang="en-US" sz="1350" dirty="0"/>
          </a:p>
        </p:txBody>
      </p:sp>
      <p:sp>
        <p:nvSpPr>
          <p:cNvPr id="55" name="Text 53"/>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Console walkthrough</a:t>
            </a:r>
            <a:endParaRPr lang="en-US" sz="950" dirty="0"/>
          </a:p>
        </p:txBody>
      </p:sp>
      <p:sp>
        <p:nvSpPr>
          <p:cNvPr id="56" name="Text 54"/>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FROM DRAFT TO PRODUCTION</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Test, version, alias, ship</a:t>
            </a:r>
            <a:endParaRPr lang="en-US" sz="3300" dirty="0"/>
          </a:p>
        </p:txBody>
      </p:sp>
      <p:sp>
        <p:nvSpPr>
          <p:cNvPr id="4" name="Text 2"/>
          <p:cNvSpPr/>
          <p:nvPr/>
        </p:nvSpPr>
        <p:spPr>
          <a:xfrm>
            <a:off x="594360" y="1417320"/>
            <a:ext cx="11002975" cy="457200"/>
          </a:xfrm>
          <a:prstGeom prst="rect">
            <a:avLst/>
          </a:prstGeom>
          <a:noFill/>
          <a:ln/>
        </p:spPr>
        <p:txBody>
          <a:bodyPr wrap="square" lIns="0" tIns="0" rIns="0" bIns="0" rtlCol="0" anchor="ctr"/>
          <a:lstStyle/>
          <a:p>
            <a:pPr algn="l" indent="0" marL="0">
              <a:buNone/>
            </a:pPr>
            <a:r>
              <a:rPr lang="en-US" sz="1500" i="1" dirty="0">
                <a:solidFill>
                  <a:srgbClr val="6A7280"/>
                </a:solidFill>
                <a:latin typeface="Calibri" pitchFamily="34" charset="0"/>
                <a:ea typeface="Calibri" pitchFamily="34" charset="-122"/>
                <a:cs typeface="Calibri" pitchFamily="34" charset="-120"/>
              </a:rPr>
              <a:t>The test window runs a hidden draft alias, TSTALIASID. For anything real, you deploy properly.</a:t>
            </a:r>
            <a:endParaRPr lang="en-US" sz="1500" dirty="0"/>
          </a:p>
        </p:txBody>
      </p:sp>
      <p:sp>
        <p:nvSpPr>
          <p:cNvPr id="5" name="Shape 3"/>
          <p:cNvSpPr/>
          <p:nvPr/>
        </p:nvSpPr>
        <p:spPr>
          <a:xfrm>
            <a:off x="594360" y="2286000"/>
            <a:ext cx="2560320" cy="2514600"/>
          </a:xfrm>
          <a:prstGeom prst="roundRect">
            <a:avLst>
              <a:gd name="adj" fmla="val 3273"/>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6" name="Shape 4"/>
          <p:cNvSpPr/>
          <p:nvPr/>
        </p:nvSpPr>
        <p:spPr>
          <a:xfrm>
            <a:off x="1545336" y="2633472"/>
            <a:ext cx="658368" cy="658368"/>
          </a:xfrm>
          <a:prstGeom prst="ellipse">
            <a:avLst/>
          </a:prstGeom>
          <a:solidFill>
            <a:srgbClr val="F5EAD8"/>
          </a:solidFill>
          <a:ln/>
        </p:spPr>
      </p:sp>
      <p:pic>
        <p:nvPicPr>
          <p:cNvPr id="7" name="Image 0" descr="preencoded.png">    </p:cNvPr>
          <p:cNvPicPr>
            <a:picLocks noChangeAspect="1"/>
          </p:cNvPicPr>
          <p:nvPr/>
        </p:nvPicPr>
        <p:blipFill>
          <a:blip r:embed="rId1"/>
          <a:stretch>
            <a:fillRect/>
          </a:stretch>
        </p:blipFill>
        <p:spPr>
          <a:xfrm>
            <a:off x="1670426" y="2758562"/>
            <a:ext cx="408188" cy="408188"/>
          </a:xfrm>
          <a:prstGeom prst="rect">
            <a:avLst/>
          </a:prstGeom>
        </p:spPr>
      </p:pic>
      <p:sp>
        <p:nvSpPr>
          <p:cNvPr id="8" name="Text 5"/>
          <p:cNvSpPr/>
          <p:nvPr/>
        </p:nvSpPr>
        <p:spPr>
          <a:xfrm>
            <a:off x="777240" y="3520440"/>
            <a:ext cx="2194560" cy="365760"/>
          </a:xfrm>
          <a:prstGeom prst="rect">
            <a:avLst/>
          </a:prstGeom>
          <a:noFill/>
          <a:ln/>
        </p:spPr>
        <p:txBody>
          <a:bodyPr wrap="square" lIns="0" tIns="0" rIns="0" bIns="0" rtlCol="0" anchor="ctr"/>
          <a:lstStyle/>
          <a:p>
            <a:pPr algn="ctr" indent="0" marL="0">
              <a:buNone/>
            </a:pPr>
            <a:r>
              <a:rPr lang="en-US" sz="1800" b="1" dirty="0">
                <a:solidFill>
                  <a:srgbClr val="1A1D23"/>
                </a:solidFill>
                <a:latin typeface="Calibri" pitchFamily="34" charset="0"/>
                <a:ea typeface="Calibri" pitchFamily="34" charset="-122"/>
                <a:cs typeface="Calibri" pitchFamily="34" charset="-120"/>
              </a:rPr>
              <a:t>Prepare</a:t>
            </a:r>
            <a:endParaRPr lang="en-US" sz="1800" dirty="0"/>
          </a:p>
        </p:txBody>
      </p:sp>
      <p:sp>
        <p:nvSpPr>
          <p:cNvPr id="9" name="Text 6"/>
          <p:cNvSpPr/>
          <p:nvPr/>
        </p:nvSpPr>
        <p:spPr>
          <a:xfrm>
            <a:off x="822960" y="3977640"/>
            <a:ext cx="2103120" cy="685800"/>
          </a:xfrm>
          <a:prstGeom prst="rect">
            <a:avLst/>
          </a:prstGeom>
          <a:noFill/>
          <a:ln/>
        </p:spPr>
        <p:txBody>
          <a:bodyPr wrap="square" lIns="0" tIns="0" rIns="0" bIns="0" rtlCol="0" anchor="ctr"/>
          <a:lstStyle/>
          <a:p>
            <a:pPr algn="ctr" indent="0" marL="0">
              <a:lnSpc>
                <a:spcPct val="102000"/>
              </a:lnSpc>
              <a:buNone/>
            </a:pPr>
            <a:r>
              <a:rPr lang="en-US" sz="1250" dirty="0">
                <a:solidFill>
                  <a:srgbClr val="6A7280"/>
                </a:solidFill>
                <a:latin typeface="Calibri" pitchFamily="34" charset="0"/>
                <a:ea typeface="Calibri" pitchFamily="34" charset="-122"/>
                <a:cs typeface="Calibri" pitchFamily="34" charset="-120"/>
              </a:rPr>
              <a:t>compiles your latest edits into a testable draft</a:t>
            </a:r>
            <a:endParaRPr lang="en-US" sz="1250" dirty="0"/>
          </a:p>
        </p:txBody>
      </p:sp>
      <p:sp>
        <p:nvSpPr>
          <p:cNvPr id="10" name="Shape 7"/>
          <p:cNvSpPr/>
          <p:nvPr/>
        </p:nvSpPr>
        <p:spPr>
          <a:xfrm>
            <a:off x="3209544" y="3543300"/>
            <a:ext cx="144170" cy="0"/>
          </a:xfrm>
          <a:prstGeom prst="line">
            <a:avLst/>
          </a:prstGeom>
          <a:noFill/>
          <a:ln w="25400">
            <a:solidFill>
              <a:srgbClr val="BE7017"/>
            </a:solidFill>
            <a:prstDash val="solid"/>
            <a:tailEnd type="triangle"/>
          </a:ln>
        </p:spPr>
      </p:sp>
      <p:sp>
        <p:nvSpPr>
          <p:cNvPr id="11" name="Shape 8"/>
          <p:cNvSpPr/>
          <p:nvPr/>
        </p:nvSpPr>
        <p:spPr>
          <a:xfrm>
            <a:off x="3408578" y="2286000"/>
            <a:ext cx="2560320" cy="2514600"/>
          </a:xfrm>
          <a:prstGeom prst="roundRect">
            <a:avLst>
              <a:gd name="adj" fmla="val 3273"/>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12" name="Shape 9"/>
          <p:cNvSpPr/>
          <p:nvPr/>
        </p:nvSpPr>
        <p:spPr>
          <a:xfrm>
            <a:off x="4359554" y="2633472"/>
            <a:ext cx="658368" cy="658368"/>
          </a:xfrm>
          <a:prstGeom prst="ellipse">
            <a:avLst/>
          </a:prstGeom>
          <a:solidFill>
            <a:srgbClr val="F5EAD8"/>
          </a:solidFill>
          <a:ln/>
        </p:spPr>
      </p:sp>
      <p:pic>
        <p:nvPicPr>
          <p:cNvPr id="13" name="Image 1" descr="preencoded.png">    </p:cNvPr>
          <p:cNvPicPr>
            <a:picLocks noChangeAspect="1"/>
          </p:cNvPicPr>
          <p:nvPr/>
        </p:nvPicPr>
        <p:blipFill>
          <a:blip r:embed="rId2"/>
          <a:stretch>
            <a:fillRect/>
          </a:stretch>
        </p:blipFill>
        <p:spPr>
          <a:xfrm>
            <a:off x="4484644" y="2758562"/>
            <a:ext cx="408188" cy="408188"/>
          </a:xfrm>
          <a:prstGeom prst="rect">
            <a:avLst/>
          </a:prstGeom>
        </p:spPr>
      </p:pic>
      <p:sp>
        <p:nvSpPr>
          <p:cNvPr id="14" name="Text 10"/>
          <p:cNvSpPr/>
          <p:nvPr/>
        </p:nvSpPr>
        <p:spPr>
          <a:xfrm>
            <a:off x="3591458" y="3520440"/>
            <a:ext cx="2194560" cy="365760"/>
          </a:xfrm>
          <a:prstGeom prst="rect">
            <a:avLst/>
          </a:prstGeom>
          <a:noFill/>
          <a:ln/>
        </p:spPr>
        <p:txBody>
          <a:bodyPr wrap="square" lIns="0" tIns="0" rIns="0" bIns="0" rtlCol="0" anchor="ctr"/>
          <a:lstStyle/>
          <a:p>
            <a:pPr algn="ctr" indent="0" marL="0">
              <a:buNone/>
            </a:pPr>
            <a:r>
              <a:rPr lang="en-US" sz="1800" b="1" dirty="0">
                <a:solidFill>
                  <a:srgbClr val="1A1D23"/>
                </a:solidFill>
                <a:latin typeface="Calibri" pitchFamily="34" charset="0"/>
                <a:ea typeface="Calibri" pitchFamily="34" charset="-122"/>
                <a:cs typeface="Calibri" pitchFamily="34" charset="-120"/>
              </a:rPr>
              <a:t>Version</a:t>
            </a:r>
            <a:endParaRPr lang="en-US" sz="1800" dirty="0"/>
          </a:p>
        </p:txBody>
      </p:sp>
      <p:sp>
        <p:nvSpPr>
          <p:cNvPr id="15" name="Text 11"/>
          <p:cNvSpPr/>
          <p:nvPr/>
        </p:nvSpPr>
        <p:spPr>
          <a:xfrm>
            <a:off x="3637178" y="3977640"/>
            <a:ext cx="2103120" cy="685800"/>
          </a:xfrm>
          <a:prstGeom prst="rect">
            <a:avLst/>
          </a:prstGeom>
          <a:noFill/>
          <a:ln/>
        </p:spPr>
        <p:txBody>
          <a:bodyPr wrap="square" lIns="0" tIns="0" rIns="0" bIns="0" rtlCol="0" anchor="ctr"/>
          <a:lstStyle/>
          <a:p>
            <a:pPr algn="ctr" indent="0" marL="0">
              <a:lnSpc>
                <a:spcPct val="102000"/>
              </a:lnSpc>
              <a:buNone/>
            </a:pPr>
            <a:r>
              <a:rPr lang="en-US" sz="1250" dirty="0">
                <a:solidFill>
                  <a:srgbClr val="6A7280"/>
                </a:solidFill>
                <a:latin typeface="Calibri" pitchFamily="34" charset="0"/>
                <a:ea typeface="Calibri" pitchFamily="34" charset="-122"/>
                <a:cs typeface="Calibri" pitchFamily="34" charset="-120"/>
              </a:rPr>
              <a:t>a frozen, immutable snapshot of the agent</a:t>
            </a:r>
            <a:endParaRPr lang="en-US" sz="1250" dirty="0"/>
          </a:p>
        </p:txBody>
      </p:sp>
      <p:sp>
        <p:nvSpPr>
          <p:cNvPr id="16" name="Shape 12"/>
          <p:cNvSpPr/>
          <p:nvPr/>
        </p:nvSpPr>
        <p:spPr>
          <a:xfrm>
            <a:off x="6023762" y="3543300"/>
            <a:ext cx="144170" cy="0"/>
          </a:xfrm>
          <a:prstGeom prst="line">
            <a:avLst/>
          </a:prstGeom>
          <a:noFill/>
          <a:ln w="25400">
            <a:solidFill>
              <a:srgbClr val="BE7017"/>
            </a:solidFill>
            <a:prstDash val="solid"/>
            <a:tailEnd type="triangle"/>
          </a:ln>
        </p:spPr>
      </p:sp>
      <p:sp>
        <p:nvSpPr>
          <p:cNvPr id="17" name="Shape 13"/>
          <p:cNvSpPr/>
          <p:nvPr/>
        </p:nvSpPr>
        <p:spPr>
          <a:xfrm>
            <a:off x="6222797" y="2286000"/>
            <a:ext cx="2560320" cy="2514600"/>
          </a:xfrm>
          <a:prstGeom prst="roundRect">
            <a:avLst>
              <a:gd name="adj" fmla="val 3273"/>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18" name="Shape 14"/>
          <p:cNvSpPr/>
          <p:nvPr/>
        </p:nvSpPr>
        <p:spPr>
          <a:xfrm>
            <a:off x="7173773" y="2633472"/>
            <a:ext cx="658368" cy="658368"/>
          </a:xfrm>
          <a:prstGeom prst="ellipse">
            <a:avLst/>
          </a:prstGeom>
          <a:solidFill>
            <a:srgbClr val="F5EAD8"/>
          </a:solidFill>
          <a:ln/>
        </p:spPr>
      </p:sp>
      <p:pic>
        <p:nvPicPr>
          <p:cNvPr id="19" name="Image 2" descr="preencoded.png">    </p:cNvPr>
          <p:cNvPicPr>
            <a:picLocks noChangeAspect="1"/>
          </p:cNvPicPr>
          <p:nvPr/>
        </p:nvPicPr>
        <p:blipFill>
          <a:blip r:embed="rId3"/>
          <a:stretch>
            <a:fillRect/>
          </a:stretch>
        </p:blipFill>
        <p:spPr>
          <a:xfrm>
            <a:off x="7298863" y="2758562"/>
            <a:ext cx="408188" cy="408188"/>
          </a:xfrm>
          <a:prstGeom prst="rect">
            <a:avLst/>
          </a:prstGeom>
        </p:spPr>
      </p:pic>
      <p:sp>
        <p:nvSpPr>
          <p:cNvPr id="20" name="Text 15"/>
          <p:cNvSpPr/>
          <p:nvPr/>
        </p:nvSpPr>
        <p:spPr>
          <a:xfrm>
            <a:off x="6405677" y="3520440"/>
            <a:ext cx="2194560" cy="365760"/>
          </a:xfrm>
          <a:prstGeom prst="rect">
            <a:avLst/>
          </a:prstGeom>
          <a:noFill/>
          <a:ln/>
        </p:spPr>
        <p:txBody>
          <a:bodyPr wrap="square" lIns="0" tIns="0" rIns="0" bIns="0" rtlCol="0" anchor="ctr"/>
          <a:lstStyle/>
          <a:p>
            <a:pPr algn="ctr" indent="0" marL="0">
              <a:buNone/>
            </a:pPr>
            <a:r>
              <a:rPr lang="en-US" sz="1800" b="1" dirty="0">
                <a:solidFill>
                  <a:srgbClr val="1A1D23"/>
                </a:solidFill>
                <a:latin typeface="Calibri" pitchFamily="34" charset="0"/>
                <a:ea typeface="Calibri" pitchFamily="34" charset="-122"/>
                <a:cs typeface="Calibri" pitchFamily="34" charset="-120"/>
              </a:rPr>
              <a:t>Alias</a:t>
            </a:r>
            <a:endParaRPr lang="en-US" sz="1800" dirty="0"/>
          </a:p>
        </p:txBody>
      </p:sp>
      <p:sp>
        <p:nvSpPr>
          <p:cNvPr id="21" name="Text 16"/>
          <p:cNvSpPr/>
          <p:nvPr/>
        </p:nvSpPr>
        <p:spPr>
          <a:xfrm>
            <a:off x="6451397" y="3977640"/>
            <a:ext cx="2103120" cy="685800"/>
          </a:xfrm>
          <a:prstGeom prst="rect">
            <a:avLst/>
          </a:prstGeom>
          <a:noFill/>
          <a:ln/>
        </p:spPr>
        <p:txBody>
          <a:bodyPr wrap="square" lIns="0" tIns="0" rIns="0" bIns="0" rtlCol="0" anchor="ctr"/>
          <a:lstStyle/>
          <a:p>
            <a:pPr algn="ctr" indent="0" marL="0">
              <a:lnSpc>
                <a:spcPct val="102000"/>
              </a:lnSpc>
              <a:buNone/>
            </a:pPr>
            <a:r>
              <a:rPr lang="en-US" sz="1250" dirty="0">
                <a:solidFill>
                  <a:srgbClr val="6A7280"/>
                </a:solidFill>
                <a:latin typeface="Calibri" pitchFamily="34" charset="0"/>
                <a:ea typeface="Calibri" pitchFamily="34" charset="-122"/>
                <a:cs typeface="Calibri" pitchFamily="34" charset="-120"/>
              </a:rPr>
              <a:t>a named pointer to a version, like  live</a:t>
            </a:r>
            <a:endParaRPr lang="en-US" sz="1250" dirty="0"/>
          </a:p>
        </p:txBody>
      </p:sp>
      <p:sp>
        <p:nvSpPr>
          <p:cNvPr id="22" name="Shape 17"/>
          <p:cNvSpPr/>
          <p:nvPr/>
        </p:nvSpPr>
        <p:spPr>
          <a:xfrm>
            <a:off x="8837981" y="3543300"/>
            <a:ext cx="144170" cy="0"/>
          </a:xfrm>
          <a:prstGeom prst="line">
            <a:avLst/>
          </a:prstGeom>
          <a:noFill/>
          <a:ln w="25400">
            <a:solidFill>
              <a:srgbClr val="BE7017"/>
            </a:solidFill>
            <a:prstDash val="solid"/>
            <a:tailEnd type="triangle"/>
          </a:ln>
        </p:spPr>
      </p:sp>
      <p:sp>
        <p:nvSpPr>
          <p:cNvPr id="23" name="Shape 18"/>
          <p:cNvSpPr/>
          <p:nvPr/>
        </p:nvSpPr>
        <p:spPr>
          <a:xfrm>
            <a:off x="9037015" y="2286000"/>
            <a:ext cx="2560320" cy="2514600"/>
          </a:xfrm>
          <a:prstGeom prst="roundRect">
            <a:avLst>
              <a:gd name="adj" fmla="val 3273"/>
            </a:avLst>
          </a:prstGeom>
          <a:solidFill>
            <a:srgbClr val="E6EEE9"/>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24" name="Shape 19"/>
          <p:cNvSpPr/>
          <p:nvPr/>
        </p:nvSpPr>
        <p:spPr>
          <a:xfrm>
            <a:off x="9987991" y="2633472"/>
            <a:ext cx="658368" cy="658368"/>
          </a:xfrm>
          <a:prstGeom prst="ellipse">
            <a:avLst/>
          </a:prstGeom>
          <a:solidFill>
            <a:srgbClr val="D9EAE0"/>
          </a:solidFill>
          <a:ln/>
        </p:spPr>
      </p:sp>
      <p:pic>
        <p:nvPicPr>
          <p:cNvPr id="25" name="Image 3" descr="preencoded.png">    </p:cNvPr>
          <p:cNvPicPr>
            <a:picLocks noChangeAspect="1"/>
          </p:cNvPicPr>
          <p:nvPr/>
        </p:nvPicPr>
        <p:blipFill>
          <a:blip r:embed="rId4"/>
          <a:stretch>
            <a:fillRect/>
          </a:stretch>
        </p:blipFill>
        <p:spPr>
          <a:xfrm>
            <a:off x="10113081" y="2758562"/>
            <a:ext cx="408188" cy="408188"/>
          </a:xfrm>
          <a:prstGeom prst="rect">
            <a:avLst/>
          </a:prstGeom>
        </p:spPr>
      </p:pic>
      <p:sp>
        <p:nvSpPr>
          <p:cNvPr id="26" name="Text 20"/>
          <p:cNvSpPr/>
          <p:nvPr/>
        </p:nvSpPr>
        <p:spPr>
          <a:xfrm>
            <a:off x="9219895" y="3520440"/>
            <a:ext cx="2194560" cy="365760"/>
          </a:xfrm>
          <a:prstGeom prst="rect">
            <a:avLst/>
          </a:prstGeom>
          <a:noFill/>
          <a:ln/>
        </p:spPr>
        <p:txBody>
          <a:bodyPr wrap="square" lIns="0" tIns="0" rIns="0" bIns="0" rtlCol="0" anchor="ctr"/>
          <a:lstStyle/>
          <a:p>
            <a:pPr algn="ctr" indent="0" marL="0">
              <a:buNone/>
            </a:pPr>
            <a:r>
              <a:rPr lang="en-US" sz="1800" b="1" dirty="0">
                <a:solidFill>
                  <a:srgbClr val="3C7A5B"/>
                </a:solidFill>
                <a:latin typeface="Calibri" pitchFamily="34" charset="0"/>
                <a:ea typeface="Calibri" pitchFamily="34" charset="-122"/>
                <a:cs typeface="Calibri" pitchFamily="34" charset="-120"/>
              </a:rPr>
              <a:t>Invoke</a:t>
            </a:r>
            <a:endParaRPr lang="en-US" sz="1800" dirty="0"/>
          </a:p>
        </p:txBody>
      </p:sp>
      <p:sp>
        <p:nvSpPr>
          <p:cNvPr id="27" name="Text 21"/>
          <p:cNvSpPr/>
          <p:nvPr/>
        </p:nvSpPr>
        <p:spPr>
          <a:xfrm>
            <a:off x="9265615" y="3977640"/>
            <a:ext cx="2103120" cy="685800"/>
          </a:xfrm>
          <a:prstGeom prst="rect">
            <a:avLst/>
          </a:prstGeom>
          <a:noFill/>
          <a:ln/>
        </p:spPr>
        <p:txBody>
          <a:bodyPr wrap="square" lIns="0" tIns="0" rIns="0" bIns="0" rtlCol="0" anchor="ctr"/>
          <a:lstStyle/>
          <a:p>
            <a:pPr algn="ctr" indent="0" marL="0">
              <a:lnSpc>
                <a:spcPct val="102000"/>
              </a:lnSpc>
              <a:buNone/>
            </a:pPr>
            <a:r>
              <a:rPr lang="en-US" sz="1250" dirty="0">
                <a:solidFill>
                  <a:srgbClr val="6A7280"/>
                </a:solidFill>
                <a:latin typeface="Calibri" pitchFamily="34" charset="0"/>
                <a:ea typeface="Calibri" pitchFamily="34" charset="-122"/>
                <a:cs typeface="Calibri" pitchFamily="34" charset="-120"/>
              </a:rPr>
              <a:t>your app calls the alias, never the draft</a:t>
            </a:r>
            <a:endParaRPr lang="en-US" sz="1250" dirty="0"/>
          </a:p>
        </p:txBody>
      </p:sp>
      <p:sp>
        <p:nvSpPr>
          <p:cNvPr id="28" name="Shape 22"/>
          <p:cNvSpPr/>
          <p:nvPr/>
        </p:nvSpPr>
        <p:spPr>
          <a:xfrm>
            <a:off x="594360" y="5257800"/>
            <a:ext cx="11002975" cy="960120"/>
          </a:xfrm>
          <a:prstGeom prst="roundRect">
            <a:avLst>
              <a:gd name="adj" fmla="val 7619"/>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29" name="Shape 23"/>
          <p:cNvSpPr/>
          <p:nvPr/>
        </p:nvSpPr>
        <p:spPr>
          <a:xfrm>
            <a:off x="914400" y="5440680"/>
            <a:ext cx="566928" cy="566928"/>
          </a:xfrm>
          <a:prstGeom prst="ellipse">
            <a:avLst/>
          </a:prstGeom>
          <a:solidFill>
            <a:srgbClr val="F5EAD8"/>
          </a:solidFill>
          <a:ln/>
        </p:spPr>
      </p:sp>
      <p:pic>
        <p:nvPicPr>
          <p:cNvPr id="30" name="Image 4" descr="preencoded.png">    </p:cNvPr>
          <p:cNvPicPr>
            <a:picLocks noChangeAspect="1"/>
          </p:cNvPicPr>
          <p:nvPr/>
        </p:nvPicPr>
        <p:blipFill>
          <a:blip r:embed="rId5"/>
          <a:stretch>
            <a:fillRect/>
          </a:stretch>
        </p:blipFill>
        <p:spPr>
          <a:xfrm>
            <a:off x="1022116" y="5548396"/>
            <a:ext cx="351495" cy="351495"/>
          </a:xfrm>
          <a:prstGeom prst="rect">
            <a:avLst/>
          </a:prstGeom>
        </p:spPr>
      </p:pic>
      <p:sp>
        <p:nvSpPr>
          <p:cNvPr id="31" name="Text 24"/>
          <p:cNvSpPr/>
          <p:nvPr/>
        </p:nvSpPr>
        <p:spPr>
          <a:xfrm>
            <a:off x="1645920" y="5257800"/>
            <a:ext cx="9631375" cy="960120"/>
          </a:xfrm>
          <a:prstGeom prst="rect">
            <a:avLst/>
          </a:prstGeom>
          <a:noFill/>
          <a:ln/>
        </p:spPr>
        <p:txBody>
          <a:bodyPr wrap="square" lIns="0" tIns="0" rIns="0" bIns="0" rtlCol="0" anchor="ctr"/>
          <a:lstStyle/>
          <a:p>
            <a:pPr indent="0" marL="0">
              <a:lnSpc>
                <a:spcPct val="106000"/>
              </a:lnSpc>
              <a:buNone/>
            </a:pPr>
            <a:r>
              <a:rPr lang="en-US" sz="1450" b="1" dirty="0">
                <a:solidFill>
                  <a:srgbClr val="1A1D23"/>
                </a:solidFill>
                <a:latin typeface="Calibri" pitchFamily="34" charset="0"/>
                <a:ea typeface="Calibri" pitchFamily="34" charset="-122"/>
                <a:cs typeface="Calibri" pitchFamily="34" charset="-120"/>
              </a:rPr>
              <a:t>An alias is a git tag your deploy tracks.  </a:t>
            </a:r>
            <a:pPr indent="0" marL="0">
              <a:lnSpc>
                <a:spcPct val="106000"/>
              </a:lnSpc>
              <a:buNone/>
            </a:pPr>
            <a:r>
              <a:rPr lang="en-US" sz="1450" dirty="0">
                <a:solidFill>
                  <a:srgbClr val="6A7280"/>
                </a:solidFill>
                <a:latin typeface="Calibri" pitchFamily="34" charset="0"/>
                <a:ea typeface="Calibri" pitchFamily="34" charset="-122"/>
                <a:cs typeface="Calibri" pitchFamily="34" charset="-120"/>
              </a:rPr>
              <a:t>You never point production code at the draft. You point it at an alias, then move the alias to new versions as you iterate.</a:t>
            </a:r>
            <a:endParaRPr lang="en-US" sz="1450" dirty="0"/>
          </a:p>
        </p:txBody>
      </p:sp>
      <p:sp>
        <p:nvSpPr>
          <p:cNvPr id="32" name="Text 25"/>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Prepare, version, alias</a:t>
            </a:r>
            <a:endParaRPr lang="en-US" sz="950" dirty="0"/>
          </a:p>
        </p:txBody>
      </p:sp>
      <p:sp>
        <p:nvSpPr>
          <p:cNvPr id="33" name="Text 26"/>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CALL IT FROM YOUR APP</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Talk to it from code: invoke_agent</a:t>
            </a:r>
            <a:endParaRPr lang="en-US" sz="3300" dirty="0"/>
          </a:p>
        </p:txBody>
      </p:sp>
      <p:sp>
        <p:nvSpPr>
          <p:cNvPr id="4" name="Text 2"/>
          <p:cNvSpPr/>
          <p:nvPr/>
        </p:nvSpPr>
        <p:spPr>
          <a:xfrm>
            <a:off x="594360" y="1417320"/>
            <a:ext cx="11002975" cy="457200"/>
          </a:xfrm>
          <a:prstGeom prst="rect">
            <a:avLst/>
          </a:prstGeom>
          <a:noFill/>
          <a:ln/>
        </p:spPr>
        <p:txBody>
          <a:bodyPr wrap="square" lIns="0" tIns="0" rIns="0" bIns="0" rtlCol="0" anchor="ctr"/>
          <a:lstStyle/>
          <a:p>
            <a:pPr algn="l" indent="0" marL="0">
              <a:buNone/>
            </a:pPr>
            <a:r>
              <a:rPr lang="en-US" sz="1500" i="1" dirty="0">
                <a:solidFill>
                  <a:srgbClr val="6A7280"/>
                </a:solidFill>
                <a:latin typeface="Calibri" pitchFamily="34" charset="0"/>
                <a:ea typeface="Calibri" pitchFamily="34" charset="-122"/>
                <a:cs typeface="Calibri" pitchFamily="34" charset="-120"/>
              </a:rPr>
              <a:t>Once an alias exists, your application calls the agent in a few lines.</a:t>
            </a:r>
            <a:endParaRPr lang="en-US" sz="1500" dirty="0"/>
          </a:p>
        </p:txBody>
      </p:sp>
      <p:sp>
        <p:nvSpPr>
          <p:cNvPr id="5" name="Shape 3"/>
          <p:cNvSpPr/>
          <p:nvPr/>
        </p:nvSpPr>
        <p:spPr>
          <a:xfrm>
            <a:off x="594360" y="1965960"/>
            <a:ext cx="6858000" cy="3063240"/>
          </a:xfrm>
          <a:prstGeom prst="roundRect">
            <a:avLst>
              <a:gd name="adj" fmla="val 1791"/>
            </a:avLst>
          </a:prstGeom>
          <a:solidFill>
            <a:srgbClr val="1C1F27"/>
          </a:solidFill>
          <a:ln w="12700">
            <a:solidFill>
              <a:srgbClr val="2C313D"/>
            </a:solidFill>
            <a:prstDash val="solid"/>
          </a:ln>
          <a:effectLst>
            <a:outerShdw sx="100000" sy="100000" kx="0" ky="0" algn="bl" rotWithShape="0" blurRad="127000" dist="50800" dir="5400000">
              <a:srgbClr val="000000">
                <a:alpha val="16000"/>
              </a:srgbClr>
            </a:outerShdw>
          </a:effectLst>
        </p:spPr>
      </p:sp>
      <p:sp>
        <p:nvSpPr>
          <p:cNvPr id="6" name="Text 4"/>
          <p:cNvSpPr/>
          <p:nvPr/>
        </p:nvSpPr>
        <p:spPr>
          <a:xfrm>
            <a:off x="813816" y="2112264"/>
            <a:ext cx="6492240" cy="219456"/>
          </a:xfrm>
          <a:prstGeom prst="rect">
            <a:avLst/>
          </a:prstGeom>
          <a:noFill/>
          <a:ln/>
        </p:spPr>
        <p:txBody>
          <a:bodyPr wrap="square" lIns="0" tIns="0" rIns="0" bIns="0" rtlCol="0" anchor="ctr"/>
          <a:lstStyle/>
          <a:p>
            <a:pPr indent="0" marL="0">
              <a:buNone/>
            </a:pPr>
            <a:r>
              <a:rPr lang="en-US" sz="1050" spc="100" kern="0" dirty="0">
                <a:solidFill>
                  <a:srgbClr val="9AA1AB"/>
                </a:solidFill>
                <a:latin typeface="Courier New" pitchFamily="34" charset="0"/>
                <a:ea typeface="Courier New" pitchFamily="34" charset="-122"/>
                <a:cs typeface="Courier New" pitchFamily="34" charset="-120"/>
              </a:rPr>
              <a:t>invoke_agent.py</a:t>
            </a:r>
            <a:endParaRPr lang="en-US" sz="1050" dirty="0"/>
          </a:p>
        </p:txBody>
      </p:sp>
      <p:sp>
        <p:nvSpPr>
          <p:cNvPr id="7" name="Text 5"/>
          <p:cNvSpPr/>
          <p:nvPr/>
        </p:nvSpPr>
        <p:spPr>
          <a:xfrm>
            <a:off x="813816" y="2423160"/>
            <a:ext cx="6437376" cy="2496312"/>
          </a:xfrm>
          <a:prstGeom prst="rect">
            <a:avLst/>
          </a:prstGeom>
          <a:noFill/>
          <a:ln/>
        </p:spPr>
        <p:txBody>
          <a:bodyPr wrap="square" lIns="0" tIns="0" rIns="0" bIns="0" rtlCol="0" anchor="t"/>
          <a:lstStyle/>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rt = boto3.client(</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"bedrock-agent-runtime"</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region=</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"us-east-1"</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625" dirty="0">
                <a:solidFill>
                  <a:srgbClr val="E8EAEE"/>
                </a:solidFill>
                <a:latin typeface="Courier New" pitchFamily="34" charset="0"/>
                <a:ea typeface="Courier New" pitchFamily="34" charset="-122"/>
                <a:cs typeface="Courier New" pitchFamily="34" charset="-120"/>
              </a:rPr>
              <a:t> </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resp = rt.</a:t>
            </a:r>
            <a:pPr algn="l" indent="0" marL="0">
              <a:lnSpc>
                <a:spcPct val="116000"/>
              </a:lnSpc>
              <a:buNone/>
            </a:pPr>
            <a:r>
              <a:rPr lang="en-US" sz="1250" dirty="0">
                <a:solidFill>
                  <a:srgbClr val="D6B36B"/>
                </a:solidFill>
                <a:latin typeface="Courier New" pitchFamily="34" charset="0"/>
                <a:ea typeface="Courier New" pitchFamily="34" charset="-122"/>
                <a:cs typeface="Courier New" pitchFamily="34" charset="-120"/>
              </a:rPr>
              <a:t>invoke_agent</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(agentId=AGENT_ID,</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agentAliasId=ALIAS_ID,</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sessionId=</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"user-123"</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inputText=prompt,</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enableTrace=</a:t>
            </a:r>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True</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625" dirty="0">
                <a:solidFill>
                  <a:srgbClr val="E8EAEE"/>
                </a:solidFill>
                <a:latin typeface="Courier New" pitchFamily="34" charset="0"/>
                <a:ea typeface="Courier New" pitchFamily="34" charset="-122"/>
                <a:cs typeface="Courier New" pitchFamily="34" charset="-120"/>
              </a:rPr>
              <a:t> </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answer = </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.join(</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e[</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"chunk"</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pPr algn="l" indent="0" marL="0">
              <a:lnSpc>
                <a:spcPct val="116000"/>
              </a:lnSpc>
              <a:buNone/>
            </a:pPr>
            <a:r>
              <a:rPr lang="en-US" sz="1250" dirty="0">
                <a:solidFill>
                  <a:srgbClr val="E0A867"/>
                </a:solidFill>
                <a:latin typeface="Courier New" pitchFamily="34" charset="0"/>
                <a:ea typeface="Courier New" pitchFamily="34" charset="-122"/>
                <a:cs typeface="Courier New" pitchFamily="34" charset="-120"/>
              </a:rPr>
              <a:t>"bytes"</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].decode()</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for</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e </a:t>
            </a:r>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in</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resp["completion"] </a:t>
            </a:r>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if</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"chunk" </a:t>
            </a:r>
            <a:pPr algn="l" indent="0" marL="0">
              <a:lnSpc>
                <a:spcPct val="116000"/>
              </a:lnSpc>
              <a:buNone/>
            </a:pPr>
            <a:r>
              <a:rPr lang="en-US" sz="1250" dirty="0">
                <a:solidFill>
                  <a:srgbClr val="8FB4E0"/>
                </a:solidFill>
                <a:latin typeface="Courier New" pitchFamily="34" charset="0"/>
                <a:ea typeface="Courier New" pitchFamily="34" charset="-122"/>
                <a:cs typeface="Courier New" pitchFamily="34" charset="-120"/>
              </a:rPr>
              <a:t>in</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e)</a:t>
            </a:r>
            <a:endParaRPr lang="en-US" sz="1250" dirty="0"/>
          </a:p>
        </p:txBody>
      </p:sp>
      <p:sp>
        <p:nvSpPr>
          <p:cNvPr id="8" name="Shape 6"/>
          <p:cNvSpPr/>
          <p:nvPr/>
        </p:nvSpPr>
        <p:spPr>
          <a:xfrm>
            <a:off x="7680960" y="1965960"/>
            <a:ext cx="3779215" cy="804672"/>
          </a:xfrm>
          <a:prstGeom prst="roundRect">
            <a:avLst>
              <a:gd name="adj" fmla="val 10227"/>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9" name="Shape 7"/>
          <p:cNvSpPr/>
          <p:nvPr/>
        </p:nvSpPr>
        <p:spPr>
          <a:xfrm>
            <a:off x="7918704" y="2139696"/>
            <a:ext cx="457200" cy="457200"/>
          </a:xfrm>
          <a:prstGeom prst="ellipse">
            <a:avLst/>
          </a:prstGeom>
          <a:solidFill>
            <a:srgbClr val="F5EAD8"/>
          </a:solidFill>
          <a:ln/>
        </p:spPr>
      </p:sp>
      <p:pic>
        <p:nvPicPr>
          <p:cNvPr id="10" name="Image 0" descr="preencoded.png">    </p:cNvPr>
          <p:cNvPicPr>
            <a:picLocks noChangeAspect="1"/>
          </p:cNvPicPr>
          <p:nvPr/>
        </p:nvPicPr>
        <p:blipFill>
          <a:blip r:embed="rId1"/>
          <a:stretch>
            <a:fillRect/>
          </a:stretch>
        </p:blipFill>
        <p:spPr>
          <a:xfrm>
            <a:off x="8005572" y="2226564"/>
            <a:ext cx="283464" cy="283464"/>
          </a:xfrm>
          <a:prstGeom prst="rect">
            <a:avLst/>
          </a:prstGeom>
        </p:spPr>
      </p:pic>
      <p:sp>
        <p:nvSpPr>
          <p:cNvPr id="11" name="Text 8"/>
          <p:cNvSpPr/>
          <p:nvPr/>
        </p:nvSpPr>
        <p:spPr>
          <a:xfrm>
            <a:off x="8458200" y="2093976"/>
            <a:ext cx="2864815" cy="292608"/>
          </a:xfrm>
          <a:prstGeom prst="rect">
            <a:avLst/>
          </a:prstGeom>
          <a:noFill/>
          <a:ln/>
        </p:spPr>
        <p:txBody>
          <a:bodyPr wrap="square" lIns="0" tIns="0" rIns="0" bIns="0" rtlCol="0" anchor="ctr"/>
          <a:lstStyle/>
          <a:p>
            <a:pPr indent="0" marL="0">
              <a:buNone/>
            </a:pPr>
            <a:r>
              <a:rPr lang="en-US" sz="1350" b="1" dirty="0">
                <a:solidFill>
                  <a:srgbClr val="1A1D23"/>
                </a:solidFill>
                <a:latin typeface="Calibri" pitchFamily="34" charset="0"/>
                <a:ea typeface="Calibri" pitchFamily="34" charset="-122"/>
                <a:cs typeface="Calibri" pitchFamily="34" charset="-120"/>
              </a:rPr>
              <a:t>The reply is a stream</a:t>
            </a:r>
            <a:endParaRPr lang="en-US" sz="1350" dirty="0"/>
          </a:p>
        </p:txBody>
      </p:sp>
      <p:sp>
        <p:nvSpPr>
          <p:cNvPr id="12" name="Text 9"/>
          <p:cNvSpPr/>
          <p:nvPr/>
        </p:nvSpPr>
        <p:spPr>
          <a:xfrm>
            <a:off x="8458200" y="2377440"/>
            <a:ext cx="2819095" cy="365760"/>
          </a:xfrm>
          <a:prstGeom prst="rect">
            <a:avLst/>
          </a:prstGeom>
          <a:noFill/>
          <a:ln/>
        </p:spPr>
        <p:txBody>
          <a:bodyPr wrap="square" lIns="0" tIns="0" rIns="0" bIns="0" rtlCol="0" anchor="ctr"/>
          <a:lstStyle/>
          <a:p>
            <a:pPr indent="0" marL="0">
              <a:lnSpc>
                <a:spcPct val="96000"/>
              </a:lnSpc>
              <a:buNone/>
            </a:pPr>
            <a:r>
              <a:rPr lang="en-US" sz="1200" dirty="0">
                <a:solidFill>
                  <a:srgbClr val="6A7280"/>
                </a:solidFill>
                <a:latin typeface="Calibri" pitchFamily="34" charset="0"/>
                <a:ea typeface="Calibri" pitchFamily="34" charset="-122"/>
                <a:cs typeface="Calibri" pitchFamily="34" charset="-120"/>
              </a:rPr>
              <a:t>iterate completion and join the chunks</a:t>
            </a:r>
            <a:endParaRPr lang="en-US" sz="1200" dirty="0"/>
          </a:p>
        </p:txBody>
      </p:sp>
      <p:sp>
        <p:nvSpPr>
          <p:cNvPr id="13" name="Shape 10"/>
          <p:cNvSpPr/>
          <p:nvPr/>
        </p:nvSpPr>
        <p:spPr>
          <a:xfrm>
            <a:off x="7680960" y="2898648"/>
            <a:ext cx="3779215" cy="804672"/>
          </a:xfrm>
          <a:prstGeom prst="roundRect">
            <a:avLst>
              <a:gd name="adj" fmla="val 10227"/>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14" name="Shape 11"/>
          <p:cNvSpPr/>
          <p:nvPr/>
        </p:nvSpPr>
        <p:spPr>
          <a:xfrm>
            <a:off x="7918704" y="3072384"/>
            <a:ext cx="457200" cy="457200"/>
          </a:xfrm>
          <a:prstGeom prst="ellipse">
            <a:avLst/>
          </a:prstGeom>
          <a:solidFill>
            <a:srgbClr val="F5EAD8"/>
          </a:solidFill>
          <a:ln/>
        </p:spPr>
      </p:sp>
      <p:pic>
        <p:nvPicPr>
          <p:cNvPr id="15" name="Image 1" descr="preencoded.png">    </p:cNvPr>
          <p:cNvPicPr>
            <a:picLocks noChangeAspect="1"/>
          </p:cNvPicPr>
          <p:nvPr/>
        </p:nvPicPr>
        <p:blipFill>
          <a:blip r:embed="rId2"/>
          <a:stretch>
            <a:fillRect/>
          </a:stretch>
        </p:blipFill>
        <p:spPr>
          <a:xfrm>
            <a:off x="8005572" y="3159252"/>
            <a:ext cx="283464" cy="283464"/>
          </a:xfrm>
          <a:prstGeom prst="rect">
            <a:avLst/>
          </a:prstGeom>
        </p:spPr>
      </p:pic>
      <p:sp>
        <p:nvSpPr>
          <p:cNvPr id="16" name="Text 12"/>
          <p:cNvSpPr/>
          <p:nvPr/>
        </p:nvSpPr>
        <p:spPr>
          <a:xfrm>
            <a:off x="8458200" y="3026664"/>
            <a:ext cx="2864815" cy="292608"/>
          </a:xfrm>
          <a:prstGeom prst="rect">
            <a:avLst/>
          </a:prstGeom>
          <a:noFill/>
          <a:ln/>
        </p:spPr>
        <p:txBody>
          <a:bodyPr wrap="square" lIns="0" tIns="0" rIns="0" bIns="0" rtlCol="0" anchor="ctr"/>
          <a:lstStyle/>
          <a:p>
            <a:pPr indent="0" marL="0">
              <a:buNone/>
            </a:pPr>
            <a:r>
              <a:rPr lang="en-US" sz="1350" b="1" dirty="0">
                <a:solidFill>
                  <a:srgbClr val="1A1D23"/>
                </a:solidFill>
                <a:latin typeface="Calibri" pitchFamily="34" charset="0"/>
                <a:ea typeface="Calibri" pitchFamily="34" charset="-122"/>
                <a:cs typeface="Calibri" pitchFamily="34" charset="-120"/>
              </a:rPr>
              <a:t>sessionId is the memory handle</a:t>
            </a:r>
            <a:endParaRPr lang="en-US" sz="1350" dirty="0"/>
          </a:p>
        </p:txBody>
      </p:sp>
      <p:sp>
        <p:nvSpPr>
          <p:cNvPr id="17" name="Text 13"/>
          <p:cNvSpPr/>
          <p:nvPr/>
        </p:nvSpPr>
        <p:spPr>
          <a:xfrm>
            <a:off x="8458200" y="3310128"/>
            <a:ext cx="2819095" cy="365760"/>
          </a:xfrm>
          <a:prstGeom prst="rect">
            <a:avLst/>
          </a:prstGeom>
          <a:noFill/>
          <a:ln/>
        </p:spPr>
        <p:txBody>
          <a:bodyPr wrap="square" lIns="0" tIns="0" rIns="0" bIns="0" rtlCol="0" anchor="ctr"/>
          <a:lstStyle/>
          <a:p>
            <a:pPr indent="0" marL="0">
              <a:lnSpc>
                <a:spcPct val="96000"/>
              </a:lnSpc>
              <a:buNone/>
            </a:pPr>
            <a:r>
              <a:rPr lang="en-US" sz="1200" dirty="0">
                <a:solidFill>
                  <a:srgbClr val="6A7280"/>
                </a:solidFill>
                <a:latin typeface="Calibri" pitchFamily="34" charset="0"/>
                <a:ea typeface="Calibri" pitchFamily="34" charset="-122"/>
                <a:cs typeface="Calibri" pitchFamily="34" charset="-120"/>
              </a:rPr>
              <a:t>reuse it to continue, change it to start fresh</a:t>
            </a:r>
            <a:endParaRPr lang="en-US" sz="1200" dirty="0"/>
          </a:p>
        </p:txBody>
      </p:sp>
      <p:sp>
        <p:nvSpPr>
          <p:cNvPr id="18" name="Shape 14"/>
          <p:cNvSpPr/>
          <p:nvPr/>
        </p:nvSpPr>
        <p:spPr>
          <a:xfrm>
            <a:off x="7680960" y="3831336"/>
            <a:ext cx="3779215" cy="804672"/>
          </a:xfrm>
          <a:prstGeom prst="roundRect">
            <a:avLst>
              <a:gd name="adj" fmla="val 10227"/>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19" name="Shape 15"/>
          <p:cNvSpPr/>
          <p:nvPr/>
        </p:nvSpPr>
        <p:spPr>
          <a:xfrm>
            <a:off x="7918704" y="4005072"/>
            <a:ext cx="457200" cy="457200"/>
          </a:xfrm>
          <a:prstGeom prst="ellipse">
            <a:avLst/>
          </a:prstGeom>
          <a:solidFill>
            <a:srgbClr val="F5EAD8"/>
          </a:solidFill>
          <a:ln/>
        </p:spPr>
      </p:sp>
      <p:pic>
        <p:nvPicPr>
          <p:cNvPr id="20" name="Image 2" descr="preencoded.png">    </p:cNvPr>
          <p:cNvPicPr>
            <a:picLocks noChangeAspect="1"/>
          </p:cNvPicPr>
          <p:nvPr/>
        </p:nvPicPr>
        <p:blipFill>
          <a:blip r:embed="rId3"/>
          <a:stretch>
            <a:fillRect/>
          </a:stretch>
        </p:blipFill>
        <p:spPr>
          <a:xfrm>
            <a:off x="8005572" y="4091940"/>
            <a:ext cx="283464" cy="283464"/>
          </a:xfrm>
          <a:prstGeom prst="rect">
            <a:avLst/>
          </a:prstGeom>
        </p:spPr>
      </p:pic>
      <p:sp>
        <p:nvSpPr>
          <p:cNvPr id="21" name="Text 16"/>
          <p:cNvSpPr/>
          <p:nvPr/>
        </p:nvSpPr>
        <p:spPr>
          <a:xfrm>
            <a:off x="8458200" y="3959352"/>
            <a:ext cx="2864815" cy="292608"/>
          </a:xfrm>
          <a:prstGeom prst="rect">
            <a:avLst/>
          </a:prstGeom>
          <a:noFill/>
          <a:ln/>
        </p:spPr>
        <p:txBody>
          <a:bodyPr wrap="square" lIns="0" tIns="0" rIns="0" bIns="0" rtlCol="0" anchor="ctr"/>
          <a:lstStyle/>
          <a:p>
            <a:pPr indent="0" marL="0">
              <a:buNone/>
            </a:pPr>
            <a:r>
              <a:rPr lang="en-US" sz="1350" b="1" dirty="0">
                <a:solidFill>
                  <a:srgbClr val="1A1D23"/>
                </a:solidFill>
                <a:latin typeface="Calibri" pitchFamily="34" charset="0"/>
                <a:ea typeface="Calibri" pitchFamily="34" charset="-122"/>
                <a:cs typeface="Calibri" pitchFamily="34" charset="-120"/>
              </a:rPr>
              <a:t>enableTrace = True</a:t>
            </a:r>
            <a:endParaRPr lang="en-US" sz="1350" dirty="0"/>
          </a:p>
        </p:txBody>
      </p:sp>
      <p:sp>
        <p:nvSpPr>
          <p:cNvPr id="22" name="Text 17"/>
          <p:cNvSpPr/>
          <p:nvPr/>
        </p:nvSpPr>
        <p:spPr>
          <a:xfrm>
            <a:off x="8458200" y="4242816"/>
            <a:ext cx="2819095" cy="365760"/>
          </a:xfrm>
          <a:prstGeom prst="rect">
            <a:avLst/>
          </a:prstGeom>
          <a:noFill/>
          <a:ln/>
        </p:spPr>
        <p:txBody>
          <a:bodyPr wrap="square" lIns="0" tIns="0" rIns="0" bIns="0" rtlCol="0" anchor="ctr"/>
          <a:lstStyle/>
          <a:p>
            <a:pPr indent="0" marL="0">
              <a:lnSpc>
                <a:spcPct val="96000"/>
              </a:lnSpc>
              <a:buNone/>
            </a:pPr>
            <a:r>
              <a:rPr lang="en-US" sz="1200" dirty="0">
                <a:solidFill>
                  <a:srgbClr val="6A7280"/>
                </a:solidFill>
                <a:latin typeface="Calibri" pitchFamily="34" charset="0"/>
                <a:ea typeface="Calibri" pitchFamily="34" charset="-122"/>
                <a:cs typeface="Calibri" pitchFamily="34" charset="-120"/>
              </a:rPr>
              <a:t>every step the agent took, your debugger</a:t>
            </a:r>
            <a:endParaRPr lang="en-US" sz="1200" dirty="0"/>
          </a:p>
        </p:txBody>
      </p:sp>
      <p:sp>
        <p:nvSpPr>
          <p:cNvPr id="23" name="Shape 18"/>
          <p:cNvSpPr/>
          <p:nvPr/>
        </p:nvSpPr>
        <p:spPr>
          <a:xfrm>
            <a:off x="594360" y="5257800"/>
            <a:ext cx="11002975" cy="960120"/>
          </a:xfrm>
          <a:prstGeom prst="roundRect">
            <a:avLst>
              <a:gd name="adj" fmla="val 7619"/>
            </a:avLst>
          </a:prstGeom>
          <a:solidFill>
            <a:srgbClr val="14161C"/>
          </a:solidFill>
          <a:ln/>
        </p:spPr>
      </p:sp>
      <p:sp>
        <p:nvSpPr>
          <p:cNvPr id="24" name="Text 19"/>
          <p:cNvSpPr/>
          <p:nvPr/>
        </p:nvSpPr>
        <p:spPr>
          <a:xfrm>
            <a:off x="960120" y="5394960"/>
            <a:ext cx="10271455" cy="274320"/>
          </a:xfrm>
          <a:prstGeom prst="rect">
            <a:avLst/>
          </a:prstGeom>
          <a:noFill/>
          <a:ln/>
        </p:spPr>
        <p:txBody>
          <a:bodyPr wrap="square" lIns="0" tIns="0" rIns="0" bIns="0" rtlCol="0" anchor="ctr"/>
          <a:lstStyle/>
          <a:p>
            <a:pPr indent="0" marL="0">
              <a:buNone/>
            </a:pPr>
            <a:r>
              <a:rPr lang="en-US" sz="1200" b="1" spc="150" kern="0" dirty="0">
                <a:solidFill>
                  <a:srgbClr val="E4A45E"/>
                </a:solidFill>
                <a:latin typeface="Calibri" pitchFamily="34" charset="0"/>
                <a:ea typeface="Calibri" pitchFamily="34" charset="-122"/>
                <a:cs typeface="Calibri" pitchFamily="34" charset="-120"/>
              </a:rPr>
              <a:t>THREE BEDROCK CLIENTS, DO NOT MIX THEM</a:t>
            </a:r>
            <a:endParaRPr lang="en-US" sz="1200" dirty="0"/>
          </a:p>
        </p:txBody>
      </p:sp>
      <p:sp>
        <p:nvSpPr>
          <p:cNvPr id="25" name="Text 20"/>
          <p:cNvSpPr/>
          <p:nvPr/>
        </p:nvSpPr>
        <p:spPr>
          <a:xfrm>
            <a:off x="960120" y="5715000"/>
            <a:ext cx="10271455" cy="411480"/>
          </a:xfrm>
          <a:prstGeom prst="rect">
            <a:avLst/>
          </a:prstGeom>
          <a:noFill/>
          <a:ln/>
        </p:spPr>
        <p:txBody>
          <a:bodyPr wrap="square" lIns="0" tIns="0" rIns="0" bIns="0" rtlCol="0" anchor="ctr"/>
          <a:lstStyle/>
          <a:p>
            <a:pPr indent="0" marL="0">
              <a:buNone/>
            </a:pPr>
            <a:r>
              <a:rPr lang="en-US" sz="1350" b="1" dirty="0">
                <a:solidFill>
                  <a:srgbClr val="FFFFFF"/>
                </a:solidFill>
                <a:latin typeface="Courier New" pitchFamily="34" charset="0"/>
                <a:ea typeface="Courier New" pitchFamily="34" charset="-122"/>
                <a:cs typeface="Courier New" pitchFamily="34" charset="-120"/>
              </a:rPr>
              <a:t>bedrock-runtime</a:t>
            </a:r>
            <a:pPr indent="0" marL="0">
              <a:buNone/>
            </a:pPr>
            <a:r>
              <a:rPr lang="en-US" sz="1350" dirty="0">
                <a:solidFill>
                  <a:srgbClr val="9AA1AB"/>
                </a:solidFill>
                <a:latin typeface="Calibri" pitchFamily="34" charset="0"/>
                <a:ea typeface="Calibri" pitchFamily="34" charset="-122"/>
                <a:cs typeface="Calibri" pitchFamily="34" charset="-120"/>
              </a:rPr>
              <a:t>  models   ·   </a:t>
            </a:r>
            <a:pPr indent="0" marL="0">
              <a:buNone/>
            </a:pPr>
            <a:r>
              <a:rPr lang="en-US" sz="1350" b="1" dirty="0">
                <a:solidFill>
                  <a:srgbClr val="FFFFFF"/>
                </a:solidFill>
                <a:latin typeface="Courier New" pitchFamily="34" charset="0"/>
                <a:ea typeface="Courier New" pitchFamily="34" charset="-122"/>
                <a:cs typeface="Courier New" pitchFamily="34" charset="-120"/>
              </a:rPr>
              <a:t>bedrock-agent</a:t>
            </a:r>
            <a:pPr indent="0" marL="0">
              <a:buNone/>
            </a:pPr>
            <a:r>
              <a:rPr lang="en-US" sz="1350" dirty="0">
                <a:solidFill>
                  <a:srgbClr val="9AA1AB"/>
                </a:solidFill>
                <a:latin typeface="Calibri" pitchFamily="34" charset="0"/>
                <a:ea typeface="Calibri" pitchFamily="34" charset="-122"/>
                <a:cs typeface="Calibri" pitchFamily="34" charset="-120"/>
              </a:rPr>
              <a:t>  build agents   ·   </a:t>
            </a:r>
            <a:pPr indent="0" marL="0">
              <a:buNone/>
            </a:pPr>
            <a:r>
              <a:rPr lang="en-US" sz="1350" b="1" dirty="0">
                <a:solidFill>
                  <a:srgbClr val="FFFFFF"/>
                </a:solidFill>
                <a:latin typeface="Courier New" pitchFamily="34" charset="0"/>
                <a:ea typeface="Courier New" pitchFamily="34" charset="-122"/>
                <a:cs typeface="Courier New" pitchFamily="34" charset="-120"/>
              </a:rPr>
              <a:t>bedrock-agent-runtime</a:t>
            </a:r>
            <a:pPr indent="0" marL="0">
              <a:buNone/>
            </a:pPr>
            <a:r>
              <a:rPr lang="en-US" sz="1350" dirty="0">
                <a:solidFill>
                  <a:srgbClr val="9AA1AB"/>
                </a:solidFill>
                <a:latin typeface="Calibri" pitchFamily="34" charset="0"/>
                <a:ea typeface="Calibri" pitchFamily="34" charset="-122"/>
                <a:cs typeface="Calibri" pitchFamily="34" charset="-120"/>
              </a:rPr>
              <a:t>  call agents</a:t>
            </a:r>
            <a:endParaRPr lang="en-US" sz="1350" dirty="0"/>
          </a:p>
        </p:txBody>
      </p:sp>
      <p:sp>
        <p:nvSpPr>
          <p:cNvPr id="26" name="Text 21"/>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Invoke from code</a:t>
            </a:r>
            <a:endParaRPr lang="en-US" sz="950" dirty="0"/>
          </a:p>
        </p:txBody>
      </p:sp>
      <p:sp>
        <p:nvSpPr>
          <p:cNvPr id="27" name="Text 22"/>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REPEATABLE, NOT CLICKED</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Build the whole thing from code</a:t>
            </a:r>
            <a:endParaRPr lang="en-US" sz="3300" dirty="0"/>
          </a:p>
        </p:txBody>
      </p:sp>
      <p:sp>
        <p:nvSpPr>
          <p:cNvPr id="4" name="Text 2"/>
          <p:cNvSpPr/>
          <p:nvPr/>
        </p:nvSpPr>
        <p:spPr>
          <a:xfrm>
            <a:off x="594360" y="1417320"/>
            <a:ext cx="11002975" cy="457200"/>
          </a:xfrm>
          <a:prstGeom prst="rect">
            <a:avLst/>
          </a:prstGeom>
          <a:noFill/>
          <a:ln/>
        </p:spPr>
        <p:txBody>
          <a:bodyPr wrap="square" lIns="0" tIns="0" rIns="0" bIns="0" rtlCol="0" anchor="ctr"/>
          <a:lstStyle/>
          <a:p>
            <a:pPr algn="l" indent="0" marL="0">
              <a:buNone/>
            </a:pPr>
            <a:r>
              <a:rPr lang="en-US" sz="1500" i="1" dirty="0">
                <a:solidFill>
                  <a:srgbClr val="6A7280"/>
                </a:solidFill>
                <a:latin typeface="Calibri" pitchFamily="34" charset="0"/>
                <a:ea typeface="Calibri" pitchFamily="34" charset="-122"/>
                <a:cs typeface="Calibri" pitchFamily="34" charset="-120"/>
              </a:rPr>
              <a:t>Clicking is for learning. Real teams build agents as code so they are repeatable.</a:t>
            </a:r>
            <a:endParaRPr lang="en-US" sz="1500" dirty="0"/>
          </a:p>
        </p:txBody>
      </p:sp>
      <p:sp>
        <p:nvSpPr>
          <p:cNvPr id="5" name="Shape 3"/>
          <p:cNvSpPr/>
          <p:nvPr/>
        </p:nvSpPr>
        <p:spPr>
          <a:xfrm>
            <a:off x="594360" y="2011680"/>
            <a:ext cx="347472" cy="347472"/>
          </a:xfrm>
          <a:prstGeom prst="ellipse">
            <a:avLst/>
          </a:prstGeom>
          <a:solidFill>
            <a:srgbClr val="14161C"/>
          </a:solidFill>
          <a:ln/>
        </p:spPr>
      </p:sp>
      <p:sp>
        <p:nvSpPr>
          <p:cNvPr id="6" name="Text 4"/>
          <p:cNvSpPr/>
          <p:nvPr/>
        </p:nvSpPr>
        <p:spPr>
          <a:xfrm>
            <a:off x="594360" y="2002536"/>
            <a:ext cx="347472"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069848" y="1975104"/>
            <a:ext cx="4572000" cy="402336"/>
          </a:xfrm>
          <a:prstGeom prst="rect">
            <a:avLst/>
          </a:prstGeom>
          <a:noFill/>
          <a:ln/>
        </p:spPr>
        <p:txBody>
          <a:bodyPr wrap="square" lIns="0" tIns="0" rIns="0" bIns="0" rtlCol="0" anchor="ctr"/>
          <a:lstStyle/>
          <a:p>
            <a:pPr indent="0" marL="0">
              <a:lnSpc>
                <a:spcPct val="95000"/>
              </a:lnSpc>
              <a:buNone/>
            </a:pPr>
            <a:r>
              <a:rPr lang="en-US" sz="1250" b="1" dirty="0">
                <a:solidFill>
                  <a:srgbClr val="1A1D23"/>
                </a:solidFill>
                <a:latin typeface="Calibri" pitchFamily="34" charset="0"/>
                <a:ea typeface="Calibri" pitchFamily="34" charset="-122"/>
                <a:cs typeface="Calibri" pitchFamily="34" charset="-120"/>
              </a:rPr>
              <a:t>Lambda execution role   </a:t>
            </a:r>
            <a:pPr indent="0" marL="0">
              <a:lnSpc>
                <a:spcPct val="95000"/>
              </a:lnSpc>
              <a:buNone/>
            </a:pPr>
            <a:r>
              <a:rPr lang="en-US" sz="1250" dirty="0">
                <a:solidFill>
                  <a:srgbClr val="6A7280"/>
                </a:solidFill>
                <a:latin typeface="Calibri" pitchFamily="34" charset="0"/>
                <a:ea typeface="Calibri" pitchFamily="34" charset="-122"/>
                <a:cs typeface="Calibri" pitchFamily="34" charset="-120"/>
              </a:rPr>
              <a:t>lets the function write logs</a:t>
            </a:r>
            <a:endParaRPr lang="en-US" sz="1250" dirty="0"/>
          </a:p>
        </p:txBody>
      </p:sp>
      <p:sp>
        <p:nvSpPr>
          <p:cNvPr id="8" name="Shape 6"/>
          <p:cNvSpPr/>
          <p:nvPr/>
        </p:nvSpPr>
        <p:spPr>
          <a:xfrm>
            <a:off x="594360" y="2446020"/>
            <a:ext cx="347472" cy="347472"/>
          </a:xfrm>
          <a:prstGeom prst="ellipse">
            <a:avLst/>
          </a:prstGeom>
          <a:solidFill>
            <a:srgbClr val="14161C"/>
          </a:solidFill>
          <a:ln/>
        </p:spPr>
      </p:sp>
      <p:sp>
        <p:nvSpPr>
          <p:cNvPr id="9" name="Text 7"/>
          <p:cNvSpPr/>
          <p:nvPr/>
        </p:nvSpPr>
        <p:spPr>
          <a:xfrm>
            <a:off x="594360" y="2436876"/>
            <a:ext cx="347472"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069848" y="2409444"/>
            <a:ext cx="4572000" cy="402336"/>
          </a:xfrm>
          <a:prstGeom prst="rect">
            <a:avLst/>
          </a:prstGeom>
          <a:noFill/>
          <a:ln/>
        </p:spPr>
        <p:txBody>
          <a:bodyPr wrap="square" lIns="0" tIns="0" rIns="0" bIns="0" rtlCol="0" anchor="ctr"/>
          <a:lstStyle/>
          <a:p>
            <a:pPr indent="0" marL="0">
              <a:lnSpc>
                <a:spcPct val="95000"/>
              </a:lnSpc>
              <a:buNone/>
            </a:pPr>
            <a:r>
              <a:rPr lang="en-US" sz="1250" b="1" dirty="0">
                <a:solidFill>
                  <a:srgbClr val="1A1D23"/>
                </a:solidFill>
                <a:latin typeface="Calibri" pitchFamily="34" charset="0"/>
                <a:ea typeface="Calibri" pitchFamily="34" charset="-122"/>
                <a:cs typeface="Calibri" pitchFamily="34" charset="-120"/>
              </a:rPr>
              <a:t>Deploy the Lambda   </a:t>
            </a:r>
            <a:pPr indent="0" marL="0">
              <a:lnSpc>
                <a:spcPct val="95000"/>
              </a:lnSpc>
              <a:buNone/>
            </a:pPr>
            <a:r>
              <a:rPr lang="en-US" sz="1250" dirty="0">
                <a:solidFill>
                  <a:srgbClr val="6A7280"/>
                </a:solidFill>
                <a:latin typeface="Calibri" pitchFamily="34" charset="0"/>
                <a:ea typeface="Calibri" pitchFamily="34" charset="-122"/>
                <a:cs typeface="Calibri" pitchFamily="34" charset="-120"/>
              </a:rPr>
              <a:t>your tool code, zipped in memory</a:t>
            </a:r>
            <a:endParaRPr lang="en-US" sz="1250" dirty="0"/>
          </a:p>
        </p:txBody>
      </p:sp>
      <p:sp>
        <p:nvSpPr>
          <p:cNvPr id="11" name="Shape 9"/>
          <p:cNvSpPr/>
          <p:nvPr/>
        </p:nvSpPr>
        <p:spPr>
          <a:xfrm>
            <a:off x="594360" y="2880360"/>
            <a:ext cx="347472" cy="347472"/>
          </a:xfrm>
          <a:prstGeom prst="ellipse">
            <a:avLst/>
          </a:prstGeom>
          <a:solidFill>
            <a:srgbClr val="14161C"/>
          </a:solidFill>
          <a:ln/>
        </p:spPr>
      </p:sp>
      <p:sp>
        <p:nvSpPr>
          <p:cNvPr id="12" name="Text 10"/>
          <p:cNvSpPr/>
          <p:nvPr/>
        </p:nvSpPr>
        <p:spPr>
          <a:xfrm>
            <a:off x="594360" y="2871216"/>
            <a:ext cx="347472"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1069848" y="2843784"/>
            <a:ext cx="4572000" cy="402336"/>
          </a:xfrm>
          <a:prstGeom prst="rect">
            <a:avLst/>
          </a:prstGeom>
          <a:noFill/>
          <a:ln/>
        </p:spPr>
        <p:txBody>
          <a:bodyPr wrap="square" lIns="0" tIns="0" rIns="0" bIns="0" rtlCol="0" anchor="ctr"/>
          <a:lstStyle/>
          <a:p>
            <a:pPr indent="0" marL="0">
              <a:lnSpc>
                <a:spcPct val="95000"/>
              </a:lnSpc>
              <a:buNone/>
            </a:pPr>
            <a:r>
              <a:rPr lang="en-US" sz="1250" b="1" dirty="0">
                <a:solidFill>
                  <a:srgbClr val="1A1D23"/>
                </a:solidFill>
                <a:latin typeface="Calibri" pitchFamily="34" charset="0"/>
                <a:ea typeface="Calibri" pitchFamily="34" charset="-122"/>
                <a:cs typeface="Calibri" pitchFamily="34" charset="-120"/>
              </a:rPr>
              <a:t>Agent service role   </a:t>
            </a:r>
            <a:pPr indent="0" marL="0">
              <a:lnSpc>
                <a:spcPct val="95000"/>
              </a:lnSpc>
              <a:buNone/>
            </a:pPr>
            <a:r>
              <a:rPr lang="en-US" sz="1250" dirty="0">
                <a:solidFill>
                  <a:srgbClr val="6A7280"/>
                </a:solidFill>
                <a:latin typeface="Calibri" pitchFamily="34" charset="0"/>
                <a:ea typeface="Calibri" pitchFamily="34" charset="-122"/>
                <a:cs typeface="Calibri" pitchFamily="34" charset="-120"/>
              </a:rPr>
              <a:t>Door 1: InvokeModel + InvokeFunction</a:t>
            </a:r>
            <a:endParaRPr lang="en-US" sz="1250" dirty="0"/>
          </a:p>
        </p:txBody>
      </p:sp>
      <p:sp>
        <p:nvSpPr>
          <p:cNvPr id="14" name="Shape 12"/>
          <p:cNvSpPr/>
          <p:nvPr/>
        </p:nvSpPr>
        <p:spPr>
          <a:xfrm>
            <a:off x="594360" y="3314700"/>
            <a:ext cx="347472" cy="347472"/>
          </a:xfrm>
          <a:prstGeom prst="ellipse">
            <a:avLst/>
          </a:prstGeom>
          <a:solidFill>
            <a:srgbClr val="BE7017"/>
          </a:solidFill>
          <a:ln/>
        </p:spPr>
      </p:sp>
      <p:sp>
        <p:nvSpPr>
          <p:cNvPr id="15" name="Text 13"/>
          <p:cNvSpPr/>
          <p:nvPr/>
        </p:nvSpPr>
        <p:spPr>
          <a:xfrm>
            <a:off x="594360" y="3305556"/>
            <a:ext cx="347472"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4"/>
          <p:cNvSpPr/>
          <p:nvPr/>
        </p:nvSpPr>
        <p:spPr>
          <a:xfrm>
            <a:off x="1069848" y="3278124"/>
            <a:ext cx="4572000" cy="402336"/>
          </a:xfrm>
          <a:prstGeom prst="rect">
            <a:avLst/>
          </a:prstGeom>
          <a:noFill/>
          <a:ln/>
        </p:spPr>
        <p:txBody>
          <a:bodyPr wrap="square" lIns="0" tIns="0" rIns="0" bIns="0" rtlCol="0" anchor="ctr"/>
          <a:lstStyle/>
          <a:p>
            <a:pPr indent="0" marL="0">
              <a:lnSpc>
                <a:spcPct val="95000"/>
              </a:lnSpc>
              <a:buNone/>
            </a:pPr>
            <a:r>
              <a:rPr lang="en-US" sz="1250" b="1" dirty="0">
                <a:solidFill>
                  <a:srgbClr val="1A1D23"/>
                </a:solidFill>
                <a:latin typeface="Calibri" pitchFamily="34" charset="0"/>
                <a:ea typeface="Calibri" pitchFamily="34" charset="-122"/>
                <a:cs typeface="Calibri" pitchFamily="34" charset="-120"/>
              </a:rPr>
              <a:t>Create the agent   </a:t>
            </a:r>
            <a:pPr indent="0" marL="0">
              <a:lnSpc>
                <a:spcPct val="95000"/>
              </a:lnSpc>
              <a:buNone/>
            </a:pPr>
            <a:r>
              <a:rPr lang="en-US" sz="1250" dirty="0">
                <a:solidFill>
                  <a:srgbClr val="6A7280"/>
                </a:solidFill>
                <a:latin typeface="Calibri" pitchFamily="34" charset="0"/>
                <a:ea typeface="Calibri" pitchFamily="34" charset="-122"/>
                <a:cs typeface="Calibri" pitchFamily="34" charset="-120"/>
              </a:rPr>
              <a:t>returns the agent ARN</a:t>
            </a:r>
            <a:endParaRPr lang="en-US" sz="1250" dirty="0"/>
          </a:p>
        </p:txBody>
      </p:sp>
      <p:sp>
        <p:nvSpPr>
          <p:cNvPr id="17" name="Shape 15"/>
          <p:cNvSpPr/>
          <p:nvPr/>
        </p:nvSpPr>
        <p:spPr>
          <a:xfrm>
            <a:off x="594360" y="3749040"/>
            <a:ext cx="347472" cy="347472"/>
          </a:xfrm>
          <a:prstGeom prst="ellipse">
            <a:avLst/>
          </a:prstGeom>
          <a:solidFill>
            <a:srgbClr val="BE7017"/>
          </a:solidFill>
          <a:ln/>
        </p:spPr>
      </p:sp>
      <p:sp>
        <p:nvSpPr>
          <p:cNvPr id="18" name="Text 16"/>
          <p:cNvSpPr/>
          <p:nvPr/>
        </p:nvSpPr>
        <p:spPr>
          <a:xfrm>
            <a:off x="594360" y="3739896"/>
            <a:ext cx="347472"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7"/>
          <p:cNvSpPr/>
          <p:nvPr/>
        </p:nvSpPr>
        <p:spPr>
          <a:xfrm>
            <a:off x="1069848" y="3712464"/>
            <a:ext cx="4572000" cy="402336"/>
          </a:xfrm>
          <a:prstGeom prst="rect">
            <a:avLst/>
          </a:prstGeom>
          <a:noFill/>
          <a:ln/>
        </p:spPr>
        <p:txBody>
          <a:bodyPr wrap="square" lIns="0" tIns="0" rIns="0" bIns="0" rtlCol="0" anchor="ctr"/>
          <a:lstStyle/>
          <a:p>
            <a:pPr indent="0" marL="0">
              <a:lnSpc>
                <a:spcPct val="95000"/>
              </a:lnSpc>
              <a:buNone/>
            </a:pPr>
            <a:r>
              <a:rPr lang="en-US" sz="1250" b="1" dirty="0">
                <a:solidFill>
                  <a:srgbClr val="1A1D23"/>
                </a:solidFill>
                <a:latin typeface="Calibri" pitchFamily="34" charset="0"/>
                <a:ea typeface="Calibri" pitchFamily="34" charset="-122"/>
                <a:cs typeface="Calibri" pitchFamily="34" charset="-120"/>
              </a:rPr>
              <a:t>Lambda resource policy   </a:t>
            </a:r>
            <a:pPr indent="0" marL="0">
              <a:lnSpc>
                <a:spcPct val="95000"/>
              </a:lnSpc>
              <a:buNone/>
            </a:pPr>
            <a:r>
              <a:rPr lang="en-US" sz="1250" dirty="0">
                <a:solidFill>
                  <a:srgbClr val="6A7280"/>
                </a:solidFill>
                <a:latin typeface="Calibri" pitchFamily="34" charset="0"/>
                <a:ea typeface="Calibri" pitchFamily="34" charset="-122"/>
                <a:cs typeface="Calibri" pitchFamily="34" charset="-120"/>
              </a:rPr>
              <a:t>Door 2: needs that agent ARN</a:t>
            </a:r>
            <a:endParaRPr lang="en-US" sz="1250" dirty="0"/>
          </a:p>
        </p:txBody>
      </p:sp>
      <p:sp>
        <p:nvSpPr>
          <p:cNvPr id="20" name="Shape 18"/>
          <p:cNvSpPr/>
          <p:nvPr/>
        </p:nvSpPr>
        <p:spPr>
          <a:xfrm>
            <a:off x="594360" y="4183380"/>
            <a:ext cx="347472" cy="347472"/>
          </a:xfrm>
          <a:prstGeom prst="ellipse">
            <a:avLst/>
          </a:prstGeom>
          <a:solidFill>
            <a:srgbClr val="14161C"/>
          </a:solidFill>
          <a:ln/>
        </p:spPr>
      </p:sp>
      <p:sp>
        <p:nvSpPr>
          <p:cNvPr id="21" name="Text 19"/>
          <p:cNvSpPr/>
          <p:nvPr/>
        </p:nvSpPr>
        <p:spPr>
          <a:xfrm>
            <a:off x="594360" y="4174236"/>
            <a:ext cx="347472"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2" name="Text 20"/>
          <p:cNvSpPr/>
          <p:nvPr/>
        </p:nvSpPr>
        <p:spPr>
          <a:xfrm>
            <a:off x="1069848" y="4146804"/>
            <a:ext cx="4572000" cy="402336"/>
          </a:xfrm>
          <a:prstGeom prst="rect">
            <a:avLst/>
          </a:prstGeom>
          <a:noFill/>
          <a:ln/>
        </p:spPr>
        <p:txBody>
          <a:bodyPr wrap="square" lIns="0" tIns="0" rIns="0" bIns="0" rtlCol="0" anchor="ctr"/>
          <a:lstStyle/>
          <a:p>
            <a:pPr indent="0" marL="0">
              <a:lnSpc>
                <a:spcPct val="95000"/>
              </a:lnSpc>
              <a:buNone/>
            </a:pPr>
            <a:r>
              <a:rPr lang="en-US" sz="1250" b="1" dirty="0">
                <a:solidFill>
                  <a:srgbClr val="1A1D23"/>
                </a:solidFill>
                <a:latin typeface="Calibri" pitchFamily="34" charset="0"/>
                <a:ea typeface="Calibri" pitchFamily="34" charset="-122"/>
                <a:cs typeface="Calibri" pitchFamily="34" charset="-120"/>
              </a:rPr>
              <a:t>Action group   </a:t>
            </a:r>
            <a:pPr indent="0" marL="0">
              <a:lnSpc>
                <a:spcPct val="95000"/>
              </a:lnSpc>
              <a:buNone/>
            </a:pPr>
            <a:r>
              <a:rPr lang="en-US" sz="1250" dirty="0">
                <a:solidFill>
                  <a:srgbClr val="6A7280"/>
                </a:solidFill>
                <a:latin typeface="Calibri" pitchFamily="34" charset="0"/>
                <a:ea typeface="Calibri" pitchFamily="34" charset="-122"/>
                <a:cs typeface="Calibri" pitchFamily="34" charset="-120"/>
              </a:rPr>
              <a:t>functionSchema, wired to the Lambda</a:t>
            </a:r>
            <a:endParaRPr lang="en-US" sz="1250" dirty="0"/>
          </a:p>
        </p:txBody>
      </p:sp>
      <p:sp>
        <p:nvSpPr>
          <p:cNvPr id="23" name="Shape 21"/>
          <p:cNvSpPr/>
          <p:nvPr/>
        </p:nvSpPr>
        <p:spPr>
          <a:xfrm>
            <a:off x="594360" y="4617720"/>
            <a:ext cx="347472" cy="347472"/>
          </a:xfrm>
          <a:prstGeom prst="ellipse">
            <a:avLst/>
          </a:prstGeom>
          <a:solidFill>
            <a:srgbClr val="14161C"/>
          </a:solidFill>
          <a:ln/>
        </p:spPr>
      </p:sp>
      <p:sp>
        <p:nvSpPr>
          <p:cNvPr id="24" name="Text 22"/>
          <p:cNvSpPr/>
          <p:nvPr/>
        </p:nvSpPr>
        <p:spPr>
          <a:xfrm>
            <a:off x="594360" y="4608576"/>
            <a:ext cx="347472"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25" name="Text 23"/>
          <p:cNvSpPr/>
          <p:nvPr/>
        </p:nvSpPr>
        <p:spPr>
          <a:xfrm>
            <a:off x="1069848" y="4581144"/>
            <a:ext cx="4572000" cy="402336"/>
          </a:xfrm>
          <a:prstGeom prst="rect">
            <a:avLst/>
          </a:prstGeom>
          <a:noFill/>
          <a:ln/>
        </p:spPr>
        <p:txBody>
          <a:bodyPr wrap="square" lIns="0" tIns="0" rIns="0" bIns="0" rtlCol="0" anchor="ctr"/>
          <a:lstStyle/>
          <a:p>
            <a:pPr indent="0" marL="0">
              <a:lnSpc>
                <a:spcPct val="95000"/>
              </a:lnSpc>
              <a:buNone/>
            </a:pPr>
            <a:r>
              <a:rPr lang="en-US" sz="1250" b="1" dirty="0">
                <a:solidFill>
                  <a:srgbClr val="1A1D23"/>
                </a:solidFill>
                <a:latin typeface="Calibri" pitchFamily="34" charset="0"/>
                <a:ea typeface="Calibri" pitchFamily="34" charset="-122"/>
                <a:cs typeface="Calibri" pitchFamily="34" charset="-120"/>
              </a:rPr>
              <a:t>Prepare, then alias   </a:t>
            </a:r>
            <a:pPr indent="0" marL="0">
              <a:lnSpc>
                <a:spcPct val="95000"/>
              </a:lnSpc>
              <a:buNone/>
            </a:pPr>
            <a:r>
              <a:rPr lang="en-US" sz="1250" dirty="0">
                <a:solidFill>
                  <a:srgbClr val="6A7280"/>
                </a:solidFill>
                <a:latin typeface="Calibri" pitchFamily="34" charset="0"/>
                <a:ea typeface="Calibri" pitchFamily="34" charset="-122"/>
                <a:cs typeface="Calibri" pitchFamily="34" charset="-120"/>
              </a:rPr>
              <a:t>compile the draft, get a stable target</a:t>
            </a:r>
            <a:endParaRPr lang="en-US" sz="1250" dirty="0"/>
          </a:p>
        </p:txBody>
      </p:sp>
      <p:sp>
        <p:nvSpPr>
          <p:cNvPr id="26" name="Shape 24"/>
          <p:cNvSpPr/>
          <p:nvPr/>
        </p:nvSpPr>
        <p:spPr>
          <a:xfrm>
            <a:off x="594360" y="5052060"/>
            <a:ext cx="347472" cy="347472"/>
          </a:xfrm>
          <a:prstGeom prst="ellipse">
            <a:avLst/>
          </a:prstGeom>
          <a:solidFill>
            <a:srgbClr val="14161C"/>
          </a:solidFill>
          <a:ln/>
        </p:spPr>
      </p:sp>
      <p:sp>
        <p:nvSpPr>
          <p:cNvPr id="27" name="Text 25"/>
          <p:cNvSpPr/>
          <p:nvPr/>
        </p:nvSpPr>
        <p:spPr>
          <a:xfrm>
            <a:off x="594360" y="5042916"/>
            <a:ext cx="347472"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28" name="Text 26"/>
          <p:cNvSpPr/>
          <p:nvPr/>
        </p:nvSpPr>
        <p:spPr>
          <a:xfrm>
            <a:off x="1069848" y="5015484"/>
            <a:ext cx="4572000" cy="402336"/>
          </a:xfrm>
          <a:prstGeom prst="rect">
            <a:avLst/>
          </a:prstGeom>
          <a:noFill/>
          <a:ln/>
        </p:spPr>
        <p:txBody>
          <a:bodyPr wrap="square" lIns="0" tIns="0" rIns="0" bIns="0" rtlCol="0" anchor="ctr"/>
          <a:lstStyle/>
          <a:p>
            <a:pPr indent="0" marL="0">
              <a:lnSpc>
                <a:spcPct val="95000"/>
              </a:lnSpc>
              <a:buNone/>
            </a:pPr>
            <a:r>
              <a:rPr lang="en-US" sz="1250" b="1" dirty="0">
                <a:solidFill>
                  <a:srgbClr val="1A1D23"/>
                </a:solidFill>
                <a:latin typeface="Calibri" pitchFamily="34" charset="0"/>
                <a:ea typeface="Calibri" pitchFamily="34" charset="-122"/>
                <a:cs typeface="Calibri" pitchFamily="34" charset="-120"/>
              </a:rPr>
              <a:t>Invoke   </a:t>
            </a:r>
            <a:pPr indent="0" marL="0">
              <a:lnSpc>
                <a:spcPct val="95000"/>
              </a:lnSpc>
              <a:buNone/>
            </a:pPr>
            <a:r>
              <a:rPr lang="en-US" sz="1250" dirty="0">
                <a:solidFill>
                  <a:srgbClr val="6A7280"/>
                </a:solidFill>
                <a:latin typeface="Calibri" pitchFamily="34" charset="0"/>
                <a:ea typeface="Calibri" pitchFamily="34" charset="-122"/>
                <a:cs typeface="Calibri" pitchFamily="34" charset="-120"/>
              </a:rPr>
              <a:t>stream the answer</a:t>
            </a:r>
            <a:endParaRPr lang="en-US" sz="1250" dirty="0"/>
          </a:p>
        </p:txBody>
      </p:sp>
      <p:sp>
        <p:nvSpPr>
          <p:cNvPr id="29" name="Shape 27"/>
          <p:cNvSpPr/>
          <p:nvPr/>
        </p:nvSpPr>
        <p:spPr>
          <a:xfrm>
            <a:off x="5760720" y="2011680"/>
            <a:ext cx="5470855" cy="3246120"/>
          </a:xfrm>
          <a:prstGeom prst="roundRect">
            <a:avLst>
              <a:gd name="adj" fmla="val 1690"/>
            </a:avLst>
          </a:prstGeom>
          <a:solidFill>
            <a:srgbClr val="1C1F27"/>
          </a:solidFill>
          <a:ln w="12700">
            <a:solidFill>
              <a:srgbClr val="2C313D"/>
            </a:solidFill>
            <a:prstDash val="solid"/>
          </a:ln>
          <a:effectLst>
            <a:outerShdw sx="100000" sy="100000" kx="0" ky="0" algn="bl" rotWithShape="0" blurRad="127000" dist="50800" dir="5400000">
              <a:srgbClr val="000000">
                <a:alpha val="16000"/>
              </a:srgbClr>
            </a:outerShdw>
          </a:effectLst>
        </p:spPr>
      </p:sp>
      <p:sp>
        <p:nvSpPr>
          <p:cNvPr id="30" name="Text 28"/>
          <p:cNvSpPr/>
          <p:nvPr/>
        </p:nvSpPr>
        <p:spPr>
          <a:xfrm>
            <a:off x="5980176" y="2157984"/>
            <a:ext cx="5105095" cy="219456"/>
          </a:xfrm>
          <a:prstGeom prst="rect">
            <a:avLst/>
          </a:prstGeom>
          <a:noFill/>
          <a:ln/>
        </p:spPr>
        <p:txBody>
          <a:bodyPr wrap="square" lIns="0" tIns="0" rIns="0" bIns="0" rtlCol="0" anchor="ctr"/>
          <a:lstStyle/>
          <a:p>
            <a:pPr indent="0" marL="0">
              <a:buNone/>
            </a:pPr>
            <a:r>
              <a:rPr lang="en-US" sz="1050" spc="100" kern="0" dirty="0">
                <a:solidFill>
                  <a:srgbClr val="9AA1AB"/>
                </a:solidFill>
                <a:latin typeface="Courier New" pitchFamily="34" charset="0"/>
                <a:ea typeface="Courier New" pitchFamily="34" charset="-122"/>
                <a:cs typeface="Courier New" pitchFamily="34" charset="-120"/>
              </a:rPr>
              <a:t>build_agent.py</a:t>
            </a:r>
            <a:endParaRPr lang="en-US" sz="1050" dirty="0"/>
          </a:p>
        </p:txBody>
      </p:sp>
      <p:sp>
        <p:nvSpPr>
          <p:cNvPr id="31" name="Text 29"/>
          <p:cNvSpPr/>
          <p:nvPr/>
        </p:nvSpPr>
        <p:spPr>
          <a:xfrm>
            <a:off x="5980176" y="2468880"/>
            <a:ext cx="5050231" cy="2679192"/>
          </a:xfrm>
          <a:prstGeom prst="rect">
            <a:avLst/>
          </a:prstGeom>
          <a:noFill/>
          <a:ln/>
        </p:spPr>
        <p:txBody>
          <a:bodyPr wrap="square" lIns="0" tIns="0" rIns="0" bIns="0" rtlCol="0" anchor="t"/>
          <a:lstStyle/>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bedrock_agent.</a:t>
            </a:r>
            <a:pPr algn="l" indent="0" marL="0">
              <a:lnSpc>
                <a:spcPct val="116000"/>
              </a:lnSpc>
              <a:buNone/>
            </a:pPr>
            <a:r>
              <a:rPr lang="en-US" sz="1250" dirty="0">
                <a:solidFill>
                  <a:srgbClr val="D6B36B"/>
                </a:solidFill>
                <a:latin typeface="Courier New" pitchFamily="34" charset="0"/>
                <a:ea typeface="Courier New" pitchFamily="34" charset="-122"/>
                <a:cs typeface="Courier New" pitchFamily="34" charset="-120"/>
              </a:rPr>
              <a:t>create_agent</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pPr algn="l" indent="0" marL="0">
              <a:lnSpc>
                <a:spcPct val="116000"/>
              </a:lnSpc>
              <a:buNone/>
            </a:pPr>
            <a:r>
              <a:rPr lang="en-US" sz="1250" dirty="0">
                <a:solidFill>
                  <a:srgbClr val="7F8794"/>
                </a:solidFill>
                <a:latin typeface="Courier New" pitchFamily="34" charset="0"/>
                <a:ea typeface="Courier New" pitchFamily="34" charset="-122"/>
                <a:cs typeface="Courier New" pitchFamily="34" charset="-120"/>
              </a:rPr>
              <a:t># agent id + ARN</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bedrock_agent.</a:t>
            </a:r>
            <a:pPr algn="l" indent="0" marL="0">
              <a:lnSpc>
                <a:spcPct val="116000"/>
              </a:lnSpc>
              <a:buNone/>
            </a:pPr>
            <a:r>
              <a:rPr lang="en-US" sz="1250" dirty="0">
                <a:solidFill>
                  <a:srgbClr val="D6B36B"/>
                </a:solidFill>
                <a:latin typeface="Courier New" pitchFamily="34" charset="0"/>
                <a:ea typeface="Courier New" pitchFamily="34" charset="-122"/>
                <a:cs typeface="Courier New" pitchFamily="34" charset="-120"/>
              </a:rPr>
              <a:t>create_agent_action_group</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functionSchema=..., </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executor=lambda</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bedrock_agent.</a:t>
            </a:r>
            <a:pPr algn="l" indent="0" marL="0">
              <a:lnSpc>
                <a:spcPct val="116000"/>
              </a:lnSpc>
              <a:buNone/>
            </a:pPr>
            <a:r>
              <a:rPr lang="en-US" sz="1250" dirty="0">
                <a:solidFill>
                  <a:srgbClr val="D6B36B"/>
                </a:solidFill>
                <a:latin typeface="Courier New" pitchFamily="34" charset="0"/>
                <a:ea typeface="Courier New" pitchFamily="34" charset="-122"/>
                <a:cs typeface="Courier New" pitchFamily="34" charset="-120"/>
              </a:rPr>
              <a:t>prepare_agent</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(agentId)</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   </a:t>
            </a:r>
            <a:pPr algn="l" indent="0" marL="0">
              <a:lnSpc>
                <a:spcPct val="116000"/>
              </a:lnSpc>
              <a:buNone/>
            </a:pPr>
            <a:r>
              <a:rPr lang="en-US" sz="1250" dirty="0">
                <a:solidFill>
                  <a:srgbClr val="7F8794"/>
                </a:solidFill>
                <a:latin typeface="Courier New" pitchFamily="34" charset="0"/>
                <a:ea typeface="Courier New" pitchFamily="34" charset="-122"/>
                <a:cs typeface="Courier New" pitchFamily="34" charset="-120"/>
              </a:rPr>
              <a:t># compile the draft</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bedrock_agent.</a:t>
            </a:r>
            <a:pPr algn="l" indent="0" marL="0">
              <a:lnSpc>
                <a:spcPct val="116000"/>
              </a:lnSpc>
              <a:buNone/>
            </a:pPr>
            <a:r>
              <a:rPr lang="en-US" sz="1250" dirty="0">
                <a:solidFill>
                  <a:srgbClr val="D6B36B"/>
                </a:solidFill>
                <a:latin typeface="Courier New" pitchFamily="34" charset="0"/>
                <a:ea typeface="Courier New" pitchFamily="34" charset="-122"/>
                <a:cs typeface="Courier New" pitchFamily="34" charset="-120"/>
              </a:rPr>
              <a:t>create_agent_alias</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runtime.</a:t>
            </a:r>
            <a:pPr algn="l" indent="0" marL="0">
              <a:lnSpc>
                <a:spcPct val="116000"/>
              </a:lnSpc>
              <a:buNone/>
            </a:pPr>
            <a:r>
              <a:rPr lang="en-US" sz="1250" dirty="0">
                <a:solidFill>
                  <a:srgbClr val="D6B36B"/>
                </a:solidFill>
                <a:latin typeface="Courier New" pitchFamily="34" charset="0"/>
                <a:ea typeface="Courier New" pitchFamily="34" charset="-122"/>
                <a:cs typeface="Courier New" pitchFamily="34" charset="-120"/>
              </a:rPr>
              <a:t>invoke_agent</a:t>
            </a:r>
            <a:pPr algn="l" indent="0" marL="0">
              <a:lnSpc>
                <a:spcPct val="116000"/>
              </a:lnSpc>
              <a:buNone/>
            </a:pPr>
            <a:r>
              <a:rPr lang="en-US" sz="1250" dirty="0">
                <a:solidFill>
                  <a:srgbClr val="E8EAEE"/>
                </a:solidFill>
                <a:latin typeface="Courier New" pitchFamily="34" charset="0"/>
                <a:ea typeface="Courier New" pitchFamily="34" charset="-122"/>
                <a:cs typeface="Courier New" pitchFamily="34" charset="-120"/>
              </a:rPr>
              <a:t>(...)</a:t>
            </a:r>
            <a:endParaRPr lang="en-US" sz="1250" dirty="0"/>
          </a:p>
          <a:p>
            <a:pPr algn="l" indent="0" marL="0">
              <a:lnSpc>
                <a:spcPct val="116000"/>
              </a:lnSpc>
              <a:buNone/>
            </a:pPr>
            <a:r>
              <a:rPr lang="en-US" sz="625" dirty="0">
                <a:solidFill>
                  <a:srgbClr val="E8EAEE"/>
                </a:solidFill>
                <a:latin typeface="Courier New" pitchFamily="34" charset="0"/>
                <a:ea typeface="Courier New" pitchFamily="34" charset="-122"/>
                <a:cs typeface="Courier New" pitchFamily="34" charset="-120"/>
              </a:rPr>
              <a:t> </a:t>
            </a:r>
            <a:endParaRPr lang="en-US" sz="1250" dirty="0"/>
          </a:p>
          <a:p>
            <a:pPr algn="l" indent="0" marL="0">
              <a:lnSpc>
                <a:spcPct val="116000"/>
              </a:lnSpc>
              <a:buNone/>
            </a:pPr>
            <a:r>
              <a:rPr lang="en-US" sz="1250" dirty="0">
                <a:solidFill>
                  <a:srgbClr val="7F8794"/>
                </a:solidFill>
                <a:latin typeface="Courier New" pitchFamily="34" charset="0"/>
                <a:ea typeface="Courier New" pitchFamily="34" charset="-122"/>
                <a:cs typeface="Courier New" pitchFamily="34" charset="-120"/>
              </a:rPr>
              <a:t># poll status until PREPARED between steps</a:t>
            </a:r>
            <a:endParaRPr lang="en-US" sz="1250" dirty="0"/>
          </a:p>
        </p:txBody>
      </p:sp>
      <p:sp>
        <p:nvSpPr>
          <p:cNvPr id="32" name="Shape 30"/>
          <p:cNvSpPr/>
          <p:nvPr/>
        </p:nvSpPr>
        <p:spPr>
          <a:xfrm>
            <a:off x="594360" y="5577840"/>
            <a:ext cx="11002975" cy="777240"/>
          </a:xfrm>
          <a:prstGeom prst="roundRect">
            <a:avLst>
              <a:gd name="adj" fmla="val 9412"/>
            </a:avLst>
          </a:prstGeom>
          <a:solidFill>
            <a:srgbClr val="F5EAD8"/>
          </a:solidFill>
          <a:ln w="12700">
            <a:solidFill>
              <a:srgbClr val="E4C99A"/>
            </a:solidFill>
            <a:prstDash val="solid"/>
          </a:ln>
        </p:spPr>
      </p:sp>
      <p:sp>
        <p:nvSpPr>
          <p:cNvPr id="33" name="Text 31"/>
          <p:cNvSpPr/>
          <p:nvPr/>
        </p:nvSpPr>
        <p:spPr>
          <a:xfrm>
            <a:off x="914400" y="5577840"/>
            <a:ext cx="10362895" cy="777240"/>
          </a:xfrm>
          <a:prstGeom prst="rect">
            <a:avLst/>
          </a:prstGeom>
          <a:noFill/>
          <a:ln/>
        </p:spPr>
        <p:txBody>
          <a:bodyPr wrap="square" lIns="0" tIns="0" rIns="0" bIns="0" rtlCol="0" anchor="ctr"/>
          <a:lstStyle/>
          <a:p>
            <a:pPr indent="0" marL="0">
              <a:lnSpc>
                <a:spcPct val="105000"/>
              </a:lnSpc>
              <a:buNone/>
            </a:pPr>
            <a:r>
              <a:rPr lang="en-US" sz="1350" b="1" dirty="0">
                <a:solidFill>
                  <a:srgbClr val="8A4E0C"/>
                </a:solidFill>
                <a:latin typeface="Calibri" pitchFamily="34" charset="0"/>
                <a:ea typeface="Calibri" pitchFamily="34" charset="-122"/>
                <a:cs typeface="Calibri" pitchFamily="34" charset="-120"/>
              </a:rPr>
              <a:t>Order matters:  </a:t>
            </a:r>
            <a:pPr indent="0" marL="0">
              <a:lnSpc>
                <a:spcPct val="105000"/>
              </a:lnSpc>
              <a:buNone/>
            </a:pPr>
            <a:r>
              <a:rPr lang="en-US" sz="1350" dirty="0">
                <a:solidFill>
                  <a:srgbClr val="5C4415"/>
                </a:solidFill>
                <a:latin typeface="Calibri" pitchFamily="34" charset="0"/>
                <a:ea typeface="Calibri" pitchFamily="34" charset="-122"/>
                <a:cs typeface="Calibri" pitchFamily="34" charset="-120"/>
              </a:rPr>
              <a:t>Door 2 needs the agent ARN, so the agent must exist first.     </a:t>
            </a:r>
            <a:pPr indent="0" marL="0">
              <a:lnSpc>
                <a:spcPct val="105000"/>
              </a:lnSpc>
              <a:buNone/>
            </a:pPr>
            <a:r>
              <a:rPr lang="en-US" sz="1350" b="1" dirty="0">
                <a:solidFill>
                  <a:srgbClr val="8A4E0C"/>
                </a:solidFill>
                <a:latin typeface="Calibri" pitchFamily="34" charset="0"/>
                <a:ea typeface="Calibri" pitchFamily="34" charset="-122"/>
                <a:cs typeface="Calibri" pitchFamily="34" charset="-120"/>
              </a:rPr>
              <a:t>Poll status:  </a:t>
            </a:r>
            <a:pPr indent="0" marL="0">
              <a:lnSpc>
                <a:spcPct val="105000"/>
              </a:lnSpc>
              <a:buNone/>
            </a:pPr>
            <a:r>
              <a:rPr lang="en-US" sz="1350" dirty="0">
                <a:solidFill>
                  <a:srgbClr val="5C4415"/>
                </a:solidFill>
                <a:latin typeface="Calibri" pitchFamily="34" charset="0"/>
                <a:ea typeface="Calibri" pitchFamily="34" charset="-122"/>
                <a:cs typeface="Calibri" pitchFamily="34" charset="-120"/>
              </a:rPr>
              <a:t>skip Prepare and the action group does not exist to the running agent.</a:t>
            </a:r>
            <a:endParaRPr lang="en-US" sz="1350" dirty="0"/>
          </a:p>
        </p:txBody>
      </p:sp>
      <p:sp>
        <p:nvSpPr>
          <p:cNvPr id="34" name="Text 32"/>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Agent as code</a:t>
            </a:r>
            <a:endParaRPr lang="en-US" sz="950" dirty="0"/>
          </a:p>
        </p:txBody>
      </p:sp>
      <p:sp>
        <p:nvSpPr>
          <p:cNvPr id="35" name="Text 33"/>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DEFAULTS ARE FOR LEARNING</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What not to do in production</a:t>
            </a:r>
            <a:endParaRPr lang="en-US" sz="3300" dirty="0"/>
          </a:p>
        </p:txBody>
      </p:sp>
      <p:sp>
        <p:nvSpPr>
          <p:cNvPr id="4" name="Text 2"/>
          <p:cNvSpPr/>
          <p:nvPr/>
        </p:nvSpPr>
        <p:spPr>
          <a:xfrm>
            <a:off x="594360" y="1417320"/>
            <a:ext cx="11002975" cy="457200"/>
          </a:xfrm>
          <a:prstGeom prst="rect">
            <a:avLst/>
          </a:prstGeom>
          <a:noFill/>
          <a:ln/>
        </p:spPr>
        <p:txBody>
          <a:bodyPr wrap="square" lIns="0" tIns="0" rIns="0" bIns="0" rtlCol="0" anchor="ctr"/>
          <a:lstStyle/>
          <a:p>
            <a:pPr algn="l" indent="0" marL="0">
              <a:buNone/>
            </a:pPr>
            <a:r>
              <a:rPr lang="en-US" sz="1500" i="1" dirty="0">
                <a:solidFill>
                  <a:srgbClr val="6A7280"/>
                </a:solidFill>
                <a:latin typeface="Calibri" pitchFamily="34" charset="0"/>
                <a:ea typeface="Calibri" pitchFamily="34" charset="-122"/>
                <a:cs typeface="Calibri" pitchFamily="34" charset="-120"/>
              </a:rPr>
              <a:t>The console defaults are fine for learning and wrong for production.</a:t>
            </a:r>
            <a:endParaRPr lang="en-US" sz="1500" dirty="0"/>
          </a:p>
        </p:txBody>
      </p:sp>
      <p:sp>
        <p:nvSpPr>
          <p:cNvPr id="5" name="Shape 3"/>
          <p:cNvSpPr/>
          <p:nvPr/>
        </p:nvSpPr>
        <p:spPr>
          <a:xfrm>
            <a:off x="594360" y="2057400"/>
            <a:ext cx="5318608" cy="1170432"/>
          </a:xfrm>
          <a:prstGeom prst="roundRect">
            <a:avLst>
              <a:gd name="adj" fmla="val 7031"/>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6" name="Shape 4"/>
          <p:cNvSpPr/>
          <p:nvPr/>
        </p:nvSpPr>
        <p:spPr>
          <a:xfrm>
            <a:off x="868680" y="2350008"/>
            <a:ext cx="585216" cy="585216"/>
          </a:xfrm>
          <a:prstGeom prst="ellipse">
            <a:avLst/>
          </a:prstGeom>
          <a:solidFill>
            <a:srgbClr val="F5EAD8"/>
          </a:solidFill>
          <a:ln/>
        </p:spPr>
      </p:sp>
      <p:pic>
        <p:nvPicPr>
          <p:cNvPr id="7" name="Image 0" descr="preencoded.png">    </p:cNvPr>
          <p:cNvPicPr>
            <a:picLocks noChangeAspect="1"/>
          </p:cNvPicPr>
          <p:nvPr/>
        </p:nvPicPr>
        <p:blipFill>
          <a:blip r:embed="rId1"/>
          <a:stretch>
            <a:fillRect/>
          </a:stretch>
        </p:blipFill>
        <p:spPr>
          <a:xfrm>
            <a:off x="979871" y="2461199"/>
            <a:ext cx="362834" cy="362834"/>
          </a:xfrm>
          <a:prstGeom prst="rect">
            <a:avLst/>
          </a:prstGeom>
        </p:spPr>
      </p:pic>
      <p:sp>
        <p:nvSpPr>
          <p:cNvPr id="8" name="Text 5"/>
          <p:cNvSpPr/>
          <p:nvPr/>
        </p:nvSpPr>
        <p:spPr>
          <a:xfrm>
            <a:off x="1600200" y="2276856"/>
            <a:ext cx="4129888" cy="329184"/>
          </a:xfrm>
          <a:prstGeom prst="rect">
            <a:avLst/>
          </a:prstGeom>
          <a:noFill/>
          <a:ln/>
        </p:spPr>
        <p:txBody>
          <a:bodyPr wrap="square" lIns="0" tIns="0" rIns="0" bIns="0" rtlCol="0" anchor="ctr"/>
          <a:lstStyle/>
          <a:p>
            <a:pPr indent="0" marL="0">
              <a:buNone/>
            </a:pPr>
            <a:r>
              <a:rPr lang="en-US" sz="1550" b="1" dirty="0">
                <a:solidFill>
                  <a:srgbClr val="1A1D23"/>
                </a:solidFill>
                <a:latin typeface="Calibri" pitchFamily="34" charset="0"/>
                <a:ea typeface="Calibri" pitchFamily="34" charset="-122"/>
                <a:cs typeface="Calibri" pitchFamily="34" charset="-120"/>
              </a:rPr>
              <a:t>Scope IAM to specific ARNs</a:t>
            </a:r>
            <a:endParaRPr lang="en-US" sz="1550" dirty="0"/>
          </a:p>
        </p:txBody>
      </p:sp>
      <p:sp>
        <p:nvSpPr>
          <p:cNvPr id="9" name="Text 6"/>
          <p:cNvSpPr/>
          <p:nvPr/>
        </p:nvSpPr>
        <p:spPr>
          <a:xfrm>
            <a:off x="1600200" y="2660904"/>
            <a:ext cx="4084168" cy="457200"/>
          </a:xfrm>
          <a:prstGeom prst="rect">
            <a:avLst/>
          </a:prstGeom>
          <a:noFill/>
          <a:ln/>
        </p:spPr>
        <p:txBody>
          <a:bodyPr wrap="square" lIns="0" tIns="0" rIns="0" bIns="0" rtlCol="0" anchor="ctr"/>
          <a:lstStyle/>
          <a:p>
            <a:pPr indent="0" marL="0">
              <a:lnSpc>
                <a:spcPct val="100000"/>
              </a:lnSpc>
              <a:buNone/>
            </a:pPr>
            <a:r>
              <a:rPr lang="en-US" sz="1250" dirty="0">
                <a:solidFill>
                  <a:srgbClr val="6A7280"/>
                </a:solidFill>
                <a:latin typeface="Calibri" pitchFamily="34" charset="0"/>
                <a:ea typeface="Calibri" pitchFamily="34" charset="-122"/>
                <a:cs typeface="Calibri" pitchFamily="34" charset="-120"/>
              </a:rPr>
              <a:t>no wildcard on the service role, name the model and the Lambda</a:t>
            </a:r>
            <a:endParaRPr lang="en-US" sz="1250" dirty="0"/>
          </a:p>
        </p:txBody>
      </p:sp>
      <p:sp>
        <p:nvSpPr>
          <p:cNvPr id="10" name="Shape 7"/>
          <p:cNvSpPr/>
          <p:nvPr/>
        </p:nvSpPr>
        <p:spPr>
          <a:xfrm>
            <a:off x="6278728" y="2057400"/>
            <a:ext cx="5318608" cy="1170432"/>
          </a:xfrm>
          <a:prstGeom prst="roundRect">
            <a:avLst>
              <a:gd name="adj" fmla="val 7031"/>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11" name="Shape 8"/>
          <p:cNvSpPr/>
          <p:nvPr/>
        </p:nvSpPr>
        <p:spPr>
          <a:xfrm>
            <a:off x="6553048" y="2350008"/>
            <a:ext cx="585216" cy="585216"/>
          </a:xfrm>
          <a:prstGeom prst="ellipse">
            <a:avLst/>
          </a:prstGeom>
          <a:solidFill>
            <a:srgbClr val="F5EAD8"/>
          </a:solidFill>
          <a:ln/>
        </p:spPr>
      </p:sp>
      <p:pic>
        <p:nvPicPr>
          <p:cNvPr id="12" name="Image 1" descr="preencoded.png">    </p:cNvPr>
          <p:cNvPicPr>
            <a:picLocks noChangeAspect="1"/>
          </p:cNvPicPr>
          <p:nvPr/>
        </p:nvPicPr>
        <p:blipFill>
          <a:blip r:embed="rId2"/>
          <a:stretch>
            <a:fillRect/>
          </a:stretch>
        </p:blipFill>
        <p:spPr>
          <a:xfrm>
            <a:off x="6664239" y="2461199"/>
            <a:ext cx="362834" cy="362834"/>
          </a:xfrm>
          <a:prstGeom prst="rect">
            <a:avLst/>
          </a:prstGeom>
        </p:spPr>
      </p:pic>
      <p:sp>
        <p:nvSpPr>
          <p:cNvPr id="13" name="Text 9"/>
          <p:cNvSpPr/>
          <p:nvPr/>
        </p:nvSpPr>
        <p:spPr>
          <a:xfrm>
            <a:off x="7284568" y="2276856"/>
            <a:ext cx="4129888" cy="329184"/>
          </a:xfrm>
          <a:prstGeom prst="rect">
            <a:avLst/>
          </a:prstGeom>
          <a:noFill/>
          <a:ln/>
        </p:spPr>
        <p:txBody>
          <a:bodyPr wrap="square" lIns="0" tIns="0" rIns="0" bIns="0" rtlCol="0" anchor="ctr"/>
          <a:lstStyle/>
          <a:p>
            <a:pPr indent="0" marL="0">
              <a:buNone/>
            </a:pPr>
            <a:r>
              <a:rPr lang="en-US" sz="1550" b="1" dirty="0">
                <a:solidFill>
                  <a:srgbClr val="1A1D23"/>
                </a:solidFill>
                <a:latin typeface="Calibri" pitchFamily="34" charset="0"/>
                <a:ea typeface="Calibri" pitchFamily="34" charset="-122"/>
                <a:cs typeface="Calibri" pitchFamily="34" charset="-120"/>
              </a:rPr>
              <a:t>Add SourceArn on Door 2</a:t>
            </a:r>
            <a:endParaRPr lang="en-US" sz="1550" dirty="0"/>
          </a:p>
        </p:txBody>
      </p:sp>
      <p:sp>
        <p:nvSpPr>
          <p:cNvPr id="14" name="Text 10"/>
          <p:cNvSpPr/>
          <p:nvPr/>
        </p:nvSpPr>
        <p:spPr>
          <a:xfrm>
            <a:off x="7284568" y="2660904"/>
            <a:ext cx="4084168" cy="457200"/>
          </a:xfrm>
          <a:prstGeom prst="rect">
            <a:avLst/>
          </a:prstGeom>
          <a:noFill/>
          <a:ln/>
        </p:spPr>
        <p:txBody>
          <a:bodyPr wrap="square" lIns="0" tIns="0" rIns="0" bIns="0" rtlCol="0" anchor="ctr"/>
          <a:lstStyle/>
          <a:p>
            <a:pPr indent="0" marL="0">
              <a:lnSpc>
                <a:spcPct val="100000"/>
              </a:lnSpc>
              <a:buNone/>
            </a:pPr>
            <a:r>
              <a:rPr lang="en-US" sz="1250" dirty="0">
                <a:solidFill>
                  <a:srgbClr val="6A7280"/>
                </a:solidFill>
                <a:latin typeface="Calibri" pitchFamily="34" charset="0"/>
                <a:ea typeface="Calibri" pitchFamily="34" charset="-122"/>
                <a:cs typeface="Calibri" pitchFamily="34" charset="-120"/>
              </a:rPr>
              <a:t>so only your agent can invoke the Lambda, not every agent</a:t>
            </a:r>
            <a:endParaRPr lang="en-US" sz="1250" dirty="0"/>
          </a:p>
        </p:txBody>
      </p:sp>
      <p:sp>
        <p:nvSpPr>
          <p:cNvPr id="15" name="Shape 11"/>
          <p:cNvSpPr/>
          <p:nvPr/>
        </p:nvSpPr>
        <p:spPr>
          <a:xfrm>
            <a:off x="594360" y="3392424"/>
            <a:ext cx="5318608" cy="1170432"/>
          </a:xfrm>
          <a:prstGeom prst="roundRect">
            <a:avLst>
              <a:gd name="adj" fmla="val 7031"/>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16" name="Shape 12"/>
          <p:cNvSpPr/>
          <p:nvPr/>
        </p:nvSpPr>
        <p:spPr>
          <a:xfrm>
            <a:off x="868680" y="3685032"/>
            <a:ext cx="585216" cy="585216"/>
          </a:xfrm>
          <a:prstGeom prst="ellipse">
            <a:avLst/>
          </a:prstGeom>
          <a:solidFill>
            <a:srgbClr val="F5EAD8"/>
          </a:solidFill>
          <a:ln/>
        </p:spPr>
      </p:sp>
      <p:pic>
        <p:nvPicPr>
          <p:cNvPr id="17" name="Image 2" descr="preencoded.png">    </p:cNvPr>
          <p:cNvPicPr>
            <a:picLocks noChangeAspect="1"/>
          </p:cNvPicPr>
          <p:nvPr/>
        </p:nvPicPr>
        <p:blipFill>
          <a:blip r:embed="rId3"/>
          <a:stretch>
            <a:fillRect/>
          </a:stretch>
        </p:blipFill>
        <p:spPr>
          <a:xfrm>
            <a:off x="979871" y="3796223"/>
            <a:ext cx="362834" cy="362834"/>
          </a:xfrm>
          <a:prstGeom prst="rect">
            <a:avLst/>
          </a:prstGeom>
        </p:spPr>
      </p:pic>
      <p:sp>
        <p:nvSpPr>
          <p:cNvPr id="18" name="Text 13"/>
          <p:cNvSpPr/>
          <p:nvPr/>
        </p:nvSpPr>
        <p:spPr>
          <a:xfrm>
            <a:off x="1600200" y="3611880"/>
            <a:ext cx="4129888" cy="329184"/>
          </a:xfrm>
          <a:prstGeom prst="rect">
            <a:avLst/>
          </a:prstGeom>
          <a:noFill/>
          <a:ln/>
        </p:spPr>
        <p:txBody>
          <a:bodyPr wrap="square" lIns="0" tIns="0" rIns="0" bIns="0" rtlCol="0" anchor="ctr"/>
          <a:lstStyle/>
          <a:p>
            <a:pPr indent="0" marL="0">
              <a:buNone/>
            </a:pPr>
            <a:r>
              <a:rPr lang="en-US" sz="1550" b="1" dirty="0">
                <a:solidFill>
                  <a:srgbClr val="1A1D23"/>
                </a:solidFill>
                <a:latin typeface="Calibri" pitchFamily="34" charset="0"/>
                <a:ea typeface="Calibri" pitchFamily="34" charset="-122"/>
                <a:cs typeface="Calibri" pitchFamily="34" charset="-120"/>
              </a:rPr>
              <a:t>Least-privilege callers</a:t>
            </a:r>
            <a:endParaRPr lang="en-US" sz="1550" dirty="0"/>
          </a:p>
        </p:txBody>
      </p:sp>
      <p:sp>
        <p:nvSpPr>
          <p:cNvPr id="19" name="Text 14"/>
          <p:cNvSpPr/>
          <p:nvPr/>
        </p:nvSpPr>
        <p:spPr>
          <a:xfrm>
            <a:off x="1600200" y="3995928"/>
            <a:ext cx="4084168" cy="457200"/>
          </a:xfrm>
          <a:prstGeom prst="rect">
            <a:avLst/>
          </a:prstGeom>
          <a:noFill/>
          <a:ln/>
        </p:spPr>
        <p:txBody>
          <a:bodyPr wrap="square" lIns="0" tIns="0" rIns="0" bIns="0" rtlCol="0" anchor="ctr"/>
          <a:lstStyle/>
          <a:p>
            <a:pPr indent="0" marL="0">
              <a:lnSpc>
                <a:spcPct val="100000"/>
              </a:lnSpc>
              <a:buNone/>
            </a:pPr>
            <a:r>
              <a:rPr lang="en-US" sz="1250" dirty="0">
                <a:solidFill>
                  <a:srgbClr val="6A7280"/>
                </a:solidFill>
                <a:latin typeface="Calibri" pitchFamily="34" charset="0"/>
                <a:ea typeface="Calibri" pitchFamily="34" charset="-122"/>
                <a:cs typeface="Calibri" pitchFamily="34" charset="-120"/>
              </a:rPr>
              <a:t>grant only  bedrock:InvokeAgent  on the one alias</a:t>
            </a:r>
            <a:endParaRPr lang="en-US" sz="1250" dirty="0"/>
          </a:p>
        </p:txBody>
      </p:sp>
      <p:sp>
        <p:nvSpPr>
          <p:cNvPr id="20" name="Shape 15"/>
          <p:cNvSpPr/>
          <p:nvPr/>
        </p:nvSpPr>
        <p:spPr>
          <a:xfrm>
            <a:off x="6278728" y="3392424"/>
            <a:ext cx="5318608" cy="1170432"/>
          </a:xfrm>
          <a:prstGeom prst="roundRect">
            <a:avLst>
              <a:gd name="adj" fmla="val 7031"/>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21" name="Shape 16"/>
          <p:cNvSpPr/>
          <p:nvPr/>
        </p:nvSpPr>
        <p:spPr>
          <a:xfrm>
            <a:off x="6553048" y="3685032"/>
            <a:ext cx="585216" cy="585216"/>
          </a:xfrm>
          <a:prstGeom prst="ellipse">
            <a:avLst/>
          </a:prstGeom>
          <a:solidFill>
            <a:srgbClr val="F5EAD8"/>
          </a:solidFill>
          <a:ln/>
        </p:spPr>
      </p:sp>
      <p:pic>
        <p:nvPicPr>
          <p:cNvPr id="22" name="Image 3" descr="preencoded.png">    </p:cNvPr>
          <p:cNvPicPr>
            <a:picLocks noChangeAspect="1"/>
          </p:cNvPicPr>
          <p:nvPr/>
        </p:nvPicPr>
        <p:blipFill>
          <a:blip r:embed="rId4"/>
          <a:stretch>
            <a:fillRect/>
          </a:stretch>
        </p:blipFill>
        <p:spPr>
          <a:xfrm>
            <a:off x="6664239" y="3796223"/>
            <a:ext cx="362834" cy="362834"/>
          </a:xfrm>
          <a:prstGeom prst="rect">
            <a:avLst/>
          </a:prstGeom>
        </p:spPr>
      </p:pic>
      <p:sp>
        <p:nvSpPr>
          <p:cNvPr id="23" name="Text 17"/>
          <p:cNvSpPr/>
          <p:nvPr/>
        </p:nvSpPr>
        <p:spPr>
          <a:xfrm>
            <a:off x="7284568" y="3611880"/>
            <a:ext cx="4129888" cy="329184"/>
          </a:xfrm>
          <a:prstGeom prst="rect">
            <a:avLst/>
          </a:prstGeom>
          <a:noFill/>
          <a:ln/>
        </p:spPr>
        <p:txBody>
          <a:bodyPr wrap="square" lIns="0" tIns="0" rIns="0" bIns="0" rtlCol="0" anchor="ctr"/>
          <a:lstStyle/>
          <a:p>
            <a:pPr indent="0" marL="0">
              <a:buNone/>
            </a:pPr>
            <a:r>
              <a:rPr lang="en-US" sz="1550" b="1" dirty="0">
                <a:solidFill>
                  <a:srgbClr val="1A1D23"/>
                </a:solidFill>
                <a:latin typeface="Calibri" pitchFamily="34" charset="0"/>
                <a:ea typeface="Calibri" pitchFamily="34" charset="-122"/>
                <a:cs typeface="Calibri" pitchFamily="34" charset="-120"/>
              </a:rPr>
              <a:t>Respect the 15 minute ceiling</a:t>
            </a:r>
            <a:endParaRPr lang="en-US" sz="1550" dirty="0"/>
          </a:p>
        </p:txBody>
      </p:sp>
      <p:sp>
        <p:nvSpPr>
          <p:cNvPr id="24" name="Text 18"/>
          <p:cNvSpPr/>
          <p:nvPr/>
        </p:nvSpPr>
        <p:spPr>
          <a:xfrm>
            <a:off x="7284568" y="3995928"/>
            <a:ext cx="4084168" cy="457200"/>
          </a:xfrm>
          <a:prstGeom prst="rect">
            <a:avLst/>
          </a:prstGeom>
          <a:noFill/>
          <a:ln/>
        </p:spPr>
        <p:txBody>
          <a:bodyPr wrap="square" lIns="0" tIns="0" rIns="0" bIns="0" rtlCol="0" anchor="ctr"/>
          <a:lstStyle/>
          <a:p>
            <a:pPr indent="0" marL="0">
              <a:lnSpc>
                <a:spcPct val="100000"/>
              </a:lnSpc>
              <a:buNone/>
            </a:pPr>
            <a:r>
              <a:rPr lang="en-US" sz="1250" dirty="0">
                <a:solidFill>
                  <a:srgbClr val="6A7280"/>
                </a:solidFill>
                <a:latin typeface="Calibri" pitchFamily="34" charset="0"/>
                <a:ea typeface="Calibri" pitchFamily="34" charset="-122"/>
                <a:cs typeface="Calibri" pitchFamily="34" charset="-120"/>
              </a:rPr>
              <a:t>long tasks go to Return of Control or Step Functions</a:t>
            </a:r>
            <a:endParaRPr lang="en-US" sz="1250" dirty="0"/>
          </a:p>
        </p:txBody>
      </p:sp>
      <p:sp>
        <p:nvSpPr>
          <p:cNvPr id="25" name="Shape 19"/>
          <p:cNvSpPr/>
          <p:nvPr/>
        </p:nvSpPr>
        <p:spPr>
          <a:xfrm>
            <a:off x="594360" y="4727448"/>
            <a:ext cx="5318608" cy="1170432"/>
          </a:xfrm>
          <a:prstGeom prst="roundRect">
            <a:avLst>
              <a:gd name="adj" fmla="val 7031"/>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26" name="Shape 20"/>
          <p:cNvSpPr/>
          <p:nvPr/>
        </p:nvSpPr>
        <p:spPr>
          <a:xfrm>
            <a:off x="868680" y="5020056"/>
            <a:ext cx="585216" cy="585216"/>
          </a:xfrm>
          <a:prstGeom prst="ellipse">
            <a:avLst/>
          </a:prstGeom>
          <a:solidFill>
            <a:srgbClr val="F4E4E2"/>
          </a:solidFill>
          <a:ln/>
        </p:spPr>
      </p:sp>
      <p:pic>
        <p:nvPicPr>
          <p:cNvPr id="27" name="Image 4" descr="preencoded.png">    </p:cNvPr>
          <p:cNvPicPr>
            <a:picLocks noChangeAspect="1"/>
          </p:cNvPicPr>
          <p:nvPr/>
        </p:nvPicPr>
        <p:blipFill>
          <a:blip r:embed="rId5"/>
          <a:stretch>
            <a:fillRect/>
          </a:stretch>
        </p:blipFill>
        <p:spPr>
          <a:xfrm>
            <a:off x="979871" y="5131247"/>
            <a:ext cx="362834" cy="362834"/>
          </a:xfrm>
          <a:prstGeom prst="rect">
            <a:avLst/>
          </a:prstGeom>
        </p:spPr>
      </p:pic>
      <p:sp>
        <p:nvSpPr>
          <p:cNvPr id="28" name="Text 21"/>
          <p:cNvSpPr/>
          <p:nvPr/>
        </p:nvSpPr>
        <p:spPr>
          <a:xfrm>
            <a:off x="1600200" y="4946904"/>
            <a:ext cx="4129888" cy="329184"/>
          </a:xfrm>
          <a:prstGeom prst="rect">
            <a:avLst/>
          </a:prstGeom>
          <a:noFill/>
          <a:ln/>
        </p:spPr>
        <p:txBody>
          <a:bodyPr wrap="square" lIns="0" tIns="0" rIns="0" bIns="0" rtlCol="0" anchor="ctr"/>
          <a:lstStyle/>
          <a:p>
            <a:pPr indent="0" marL="0">
              <a:buNone/>
            </a:pPr>
            <a:r>
              <a:rPr lang="en-US" sz="1550" b="1" dirty="0">
                <a:solidFill>
                  <a:srgbClr val="1A1D23"/>
                </a:solidFill>
                <a:latin typeface="Calibri" pitchFamily="34" charset="0"/>
                <a:ea typeface="Calibri" pitchFamily="34" charset="-122"/>
                <a:cs typeface="Calibri" pitchFamily="34" charset="-120"/>
              </a:rPr>
              <a:t>Traces, logging, budget alarm</a:t>
            </a:r>
            <a:endParaRPr lang="en-US" sz="1550" dirty="0"/>
          </a:p>
        </p:txBody>
      </p:sp>
      <p:sp>
        <p:nvSpPr>
          <p:cNvPr id="29" name="Text 22"/>
          <p:cNvSpPr/>
          <p:nvPr/>
        </p:nvSpPr>
        <p:spPr>
          <a:xfrm>
            <a:off x="1600200" y="5330952"/>
            <a:ext cx="4084168" cy="457200"/>
          </a:xfrm>
          <a:prstGeom prst="rect">
            <a:avLst/>
          </a:prstGeom>
          <a:noFill/>
          <a:ln/>
        </p:spPr>
        <p:txBody>
          <a:bodyPr wrap="square" lIns="0" tIns="0" rIns="0" bIns="0" rtlCol="0" anchor="ctr"/>
          <a:lstStyle/>
          <a:p>
            <a:pPr indent="0" marL="0">
              <a:lnSpc>
                <a:spcPct val="100000"/>
              </a:lnSpc>
              <a:buNone/>
            </a:pPr>
            <a:r>
              <a:rPr lang="en-US" sz="1250" dirty="0">
                <a:solidFill>
                  <a:srgbClr val="6A7280"/>
                </a:solidFill>
                <a:latin typeface="Calibri" pitchFamily="34" charset="0"/>
                <a:ea typeface="Calibri" pitchFamily="34" charset="-122"/>
                <a:cs typeface="Calibri" pitchFamily="34" charset="-120"/>
              </a:rPr>
              <a:t>an agent loops, so a bad tool can loop your bill</a:t>
            </a:r>
            <a:endParaRPr lang="en-US" sz="1250" dirty="0"/>
          </a:p>
        </p:txBody>
      </p:sp>
      <p:sp>
        <p:nvSpPr>
          <p:cNvPr id="30" name="Shape 23"/>
          <p:cNvSpPr/>
          <p:nvPr/>
        </p:nvSpPr>
        <p:spPr>
          <a:xfrm>
            <a:off x="6278728" y="4727448"/>
            <a:ext cx="5318608" cy="1170432"/>
          </a:xfrm>
          <a:prstGeom prst="roundRect">
            <a:avLst>
              <a:gd name="adj" fmla="val 7031"/>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31" name="Shape 24"/>
          <p:cNvSpPr/>
          <p:nvPr/>
        </p:nvSpPr>
        <p:spPr>
          <a:xfrm>
            <a:off x="6553048" y="5020056"/>
            <a:ext cx="585216" cy="585216"/>
          </a:xfrm>
          <a:prstGeom prst="ellipse">
            <a:avLst/>
          </a:prstGeom>
          <a:solidFill>
            <a:srgbClr val="F5EAD8"/>
          </a:solidFill>
          <a:ln/>
        </p:spPr>
      </p:sp>
      <p:pic>
        <p:nvPicPr>
          <p:cNvPr id="32" name="Image 5" descr="preencoded.png">    </p:cNvPr>
          <p:cNvPicPr>
            <a:picLocks noChangeAspect="1"/>
          </p:cNvPicPr>
          <p:nvPr/>
        </p:nvPicPr>
        <p:blipFill>
          <a:blip r:embed="rId6"/>
          <a:stretch>
            <a:fillRect/>
          </a:stretch>
        </p:blipFill>
        <p:spPr>
          <a:xfrm>
            <a:off x="6664239" y="5131247"/>
            <a:ext cx="362834" cy="362834"/>
          </a:xfrm>
          <a:prstGeom prst="rect">
            <a:avLst/>
          </a:prstGeom>
        </p:spPr>
      </p:pic>
      <p:sp>
        <p:nvSpPr>
          <p:cNvPr id="33" name="Text 25"/>
          <p:cNvSpPr/>
          <p:nvPr/>
        </p:nvSpPr>
        <p:spPr>
          <a:xfrm>
            <a:off x="7284568" y="4946904"/>
            <a:ext cx="4129888" cy="329184"/>
          </a:xfrm>
          <a:prstGeom prst="rect">
            <a:avLst/>
          </a:prstGeom>
          <a:noFill/>
          <a:ln/>
        </p:spPr>
        <p:txBody>
          <a:bodyPr wrap="square" lIns="0" tIns="0" rIns="0" bIns="0" rtlCol="0" anchor="ctr"/>
          <a:lstStyle/>
          <a:p>
            <a:pPr indent="0" marL="0">
              <a:buNone/>
            </a:pPr>
            <a:r>
              <a:rPr lang="en-US" sz="1550" b="1" dirty="0">
                <a:solidFill>
                  <a:srgbClr val="1A1D23"/>
                </a:solidFill>
                <a:latin typeface="Calibri" pitchFamily="34" charset="0"/>
                <a:ea typeface="Calibri" pitchFamily="34" charset="-122"/>
                <a:cs typeface="Calibri" pitchFamily="34" charset="-120"/>
              </a:rPr>
              <a:t>Plan the AgentCore path</a:t>
            </a:r>
            <a:endParaRPr lang="en-US" sz="1550" dirty="0"/>
          </a:p>
        </p:txBody>
      </p:sp>
      <p:sp>
        <p:nvSpPr>
          <p:cNvPr id="34" name="Text 26"/>
          <p:cNvSpPr/>
          <p:nvPr/>
        </p:nvSpPr>
        <p:spPr>
          <a:xfrm>
            <a:off x="7284568" y="5330952"/>
            <a:ext cx="4084168" cy="457200"/>
          </a:xfrm>
          <a:prstGeom prst="rect">
            <a:avLst/>
          </a:prstGeom>
          <a:noFill/>
          <a:ln/>
        </p:spPr>
        <p:txBody>
          <a:bodyPr wrap="square" lIns="0" tIns="0" rIns="0" bIns="0" rtlCol="0" anchor="ctr"/>
          <a:lstStyle/>
          <a:p>
            <a:pPr indent="0" marL="0">
              <a:lnSpc>
                <a:spcPct val="100000"/>
              </a:lnSpc>
              <a:buNone/>
            </a:pPr>
            <a:r>
              <a:rPr lang="en-US" sz="1250" dirty="0">
                <a:solidFill>
                  <a:srgbClr val="6A7280"/>
                </a:solidFill>
                <a:latin typeface="Calibri" pitchFamily="34" charset="0"/>
                <a:ea typeface="Calibri" pitchFamily="34" charset="-122"/>
                <a:cs typeface="Calibri" pitchFamily="34" charset="-120"/>
              </a:rPr>
              <a:t>Classic is closing to new customers, migrate deliberately</a:t>
            </a:r>
            <a:endParaRPr lang="en-US" sz="1250" dirty="0"/>
          </a:p>
        </p:txBody>
      </p:sp>
      <p:sp>
        <p:nvSpPr>
          <p:cNvPr id="35" name="Text 27"/>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Production hardening</a:t>
            </a:r>
            <a:endParaRPr lang="en-US" sz="950" dirty="0"/>
          </a:p>
        </p:txBody>
      </p:sp>
      <p:sp>
        <p:nvSpPr>
          <p:cNvPr id="36" name="Text 28"/>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CONNECT THE DOTS</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Three ways to run the loop</a:t>
            </a:r>
            <a:endParaRPr lang="en-US" sz="3300" dirty="0"/>
          </a:p>
        </p:txBody>
      </p:sp>
      <p:sp>
        <p:nvSpPr>
          <p:cNvPr id="4" name="Text 2"/>
          <p:cNvSpPr/>
          <p:nvPr/>
        </p:nvSpPr>
        <p:spPr>
          <a:xfrm>
            <a:off x="594360" y="1417320"/>
            <a:ext cx="11002975" cy="457200"/>
          </a:xfrm>
          <a:prstGeom prst="rect">
            <a:avLst/>
          </a:prstGeom>
          <a:noFill/>
          <a:ln/>
        </p:spPr>
        <p:txBody>
          <a:bodyPr wrap="square" lIns="0" tIns="0" rIns="0" bIns="0" rtlCol="0" anchor="ctr"/>
          <a:lstStyle/>
          <a:p>
            <a:pPr algn="l" indent="0" marL="0">
              <a:buNone/>
            </a:pPr>
            <a:r>
              <a:rPr lang="en-US" sz="1500" i="1" dirty="0">
                <a:solidFill>
                  <a:srgbClr val="6A7280"/>
                </a:solidFill>
                <a:latin typeface="Calibri" pitchFamily="34" charset="0"/>
                <a:ea typeface="Calibri" pitchFamily="34" charset="-122"/>
                <a:cs typeface="Calibri" pitchFamily="34" charset="-120"/>
              </a:rPr>
              <a:t>The same agent loop, three owners. Choose by how much you want to run yourself.</a:t>
            </a:r>
            <a:endParaRPr lang="en-US" sz="1500" dirty="0"/>
          </a:p>
        </p:txBody>
      </p:sp>
      <p:sp>
        <p:nvSpPr>
          <p:cNvPr id="5" name="Shape 3"/>
          <p:cNvSpPr/>
          <p:nvPr/>
        </p:nvSpPr>
        <p:spPr>
          <a:xfrm>
            <a:off x="594360" y="2194560"/>
            <a:ext cx="3429000" cy="3383280"/>
          </a:xfrm>
          <a:prstGeom prst="roundRect">
            <a:avLst>
              <a:gd name="adj" fmla="val 2703"/>
            </a:avLst>
          </a:prstGeom>
          <a:solidFill>
            <a:srgbClr val="FFFFFF"/>
          </a:solidFill>
          <a:ln w="12700">
            <a:solidFill>
              <a:srgbClr val="E4E7EB"/>
            </a:solidFill>
            <a:prstDash val="solid"/>
          </a:ln>
          <a:effectLst>
            <a:outerShdw sx="100000" sy="100000" kx="0" ky="0" algn="bl" rotWithShape="0" blurRad="127000" dist="38100" dir="5400000">
              <a:srgbClr val="000000">
                <a:alpha val="10000"/>
              </a:srgbClr>
            </a:outerShdw>
          </a:effectLst>
        </p:spPr>
      </p:sp>
      <p:sp>
        <p:nvSpPr>
          <p:cNvPr id="6" name="Text 4"/>
          <p:cNvSpPr/>
          <p:nvPr/>
        </p:nvSpPr>
        <p:spPr>
          <a:xfrm>
            <a:off x="868680" y="2468880"/>
            <a:ext cx="2880360" cy="457200"/>
          </a:xfrm>
          <a:prstGeom prst="rect">
            <a:avLst/>
          </a:prstGeom>
          <a:noFill/>
          <a:ln/>
        </p:spPr>
        <p:txBody>
          <a:bodyPr wrap="square" lIns="0" tIns="0" rIns="0" bIns="0" rtlCol="0" anchor="ctr"/>
          <a:lstStyle/>
          <a:p>
            <a:pPr indent="0" marL="0">
              <a:buNone/>
            </a:pPr>
            <a:r>
              <a:rPr lang="en-US" sz="2100" b="1" dirty="0">
                <a:solidFill>
                  <a:srgbClr val="1A1D23"/>
                </a:solidFill>
                <a:latin typeface="Cambria" pitchFamily="34" charset="0"/>
                <a:ea typeface="Cambria" pitchFamily="34" charset="-122"/>
                <a:cs typeface="Cambria" pitchFamily="34" charset="-120"/>
              </a:rPr>
              <a:t>Hand-built</a:t>
            </a:r>
            <a:endParaRPr lang="en-US" sz="2100" dirty="0"/>
          </a:p>
        </p:txBody>
      </p:sp>
      <p:sp>
        <p:nvSpPr>
          <p:cNvPr id="7" name="Text 5"/>
          <p:cNvSpPr/>
          <p:nvPr/>
        </p:nvSpPr>
        <p:spPr>
          <a:xfrm>
            <a:off x="868680" y="3154680"/>
            <a:ext cx="2880360" cy="237744"/>
          </a:xfrm>
          <a:prstGeom prst="rect">
            <a:avLst/>
          </a:prstGeom>
          <a:noFill/>
          <a:ln/>
        </p:spPr>
        <p:txBody>
          <a:bodyPr wrap="square" lIns="0" tIns="0" rIns="0" bIns="0" rtlCol="0" anchor="ctr"/>
          <a:lstStyle/>
          <a:p>
            <a:pPr indent="0" marL="0">
              <a:buNone/>
            </a:pPr>
            <a:r>
              <a:rPr lang="en-US" sz="1050" b="1" spc="100" kern="0" dirty="0">
                <a:solidFill>
                  <a:srgbClr val="BE7017"/>
                </a:solidFill>
                <a:latin typeface="Calibri" pitchFamily="34" charset="0"/>
                <a:ea typeface="Calibri" pitchFamily="34" charset="-122"/>
                <a:cs typeface="Calibri" pitchFamily="34" charset="-120"/>
              </a:rPr>
              <a:t>WHO RUNS THE LOOP</a:t>
            </a:r>
            <a:endParaRPr lang="en-US" sz="1050" dirty="0"/>
          </a:p>
        </p:txBody>
      </p:sp>
      <p:sp>
        <p:nvSpPr>
          <p:cNvPr id="8" name="Text 6"/>
          <p:cNvSpPr/>
          <p:nvPr/>
        </p:nvSpPr>
        <p:spPr>
          <a:xfrm>
            <a:off x="868680" y="3392424"/>
            <a:ext cx="2880360" cy="310896"/>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you</a:t>
            </a:r>
            <a:endParaRPr lang="en-US" sz="1400" dirty="0"/>
          </a:p>
        </p:txBody>
      </p:sp>
      <p:sp>
        <p:nvSpPr>
          <p:cNvPr id="9" name="Text 7"/>
          <p:cNvSpPr/>
          <p:nvPr/>
        </p:nvSpPr>
        <p:spPr>
          <a:xfrm>
            <a:off x="868680" y="3813048"/>
            <a:ext cx="2880360" cy="237744"/>
          </a:xfrm>
          <a:prstGeom prst="rect">
            <a:avLst/>
          </a:prstGeom>
          <a:noFill/>
          <a:ln/>
        </p:spPr>
        <p:txBody>
          <a:bodyPr wrap="square" lIns="0" tIns="0" rIns="0" bIns="0" rtlCol="0" anchor="ctr"/>
          <a:lstStyle/>
          <a:p>
            <a:pPr indent="0" marL="0">
              <a:buNone/>
            </a:pPr>
            <a:r>
              <a:rPr lang="en-US" sz="1050" b="1" spc="100" kern="0" dirty="0">
                <a:solidFill>
                  <a:srgbClr val="BE7017"/>
                </a:solidFill>
                <a:latin typeface="Calibri" pitchFamily="34" charset="0"/>
                <a:ea typeface="Calibri" pitchFamily="34" charset="-122"/>
                <a:cs typeface="Calibri" pitchFamily="34" charset="-120"/>
              </a:rPr>
              <a:t>YOUR CODE</a:t>
            </a:r>
            <a:endParaRPr lang="en-US" sz="1050" dirty="0"/>
          </a:p>
        </p:txBody>
      </p:sp>
      <p:sp>
        <p:nvSpPr>
          <p:cNvPr id="10" name="Text 8"/>
          <p:cNvSpPr/>
          <p:nvPr/>
        </p:nvSpPr>
        <p:spPr>
          <a:xfrm>
            <a:off x="868680" y="4050792"/>
            <a:ext cx="2880360" cy="310896"/>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the whole loop</a:t>
            </a:r>
            <a:endParaRPr lang="en-US" sz="1400" dirty="0"/>
          </a:p>
        </p:txBody>
      </p:sp>
      <p:sp>
        <p:nvSpPr>
          <p:cNvPr id="11" name="Text 9"/>
          <p:cNvSpPr/>
          <p:nvPr/>
        </p:nvSpPr>
        <p:spPr>
          <a:xfrm>
            <a:off x="868680" y="4471416"/>
            <a:ext cx="2880360" cy="237744"/>
          </a:xfrm>
          <a:prstGeom prst="rect">
            <a:avLst/>
          </a:prstGeom>
          <a:noFill/>
          <a:ln/>
        </p:spPr>
        <p:txBody>
          <a:bodyPr wrap="square" lIns="0" tIns="0" rIns="0" bIns="0" rtlCol="0" anchor="ctr"/>
          <a:lstStyle/>
          <a:p>
            <a:pPr indent="0" marL="0">
              <a:buNone/>
            </a:pPr>
            <a:r>
              <a:rPr lang="en-US" sz="1050" b="1" spc="100" kern="0" dirty="0">
                <a:solidFill>
                  <a:srgbClr val="BE7017"/>
                </a:solidFill>
                <a:latin typeface="Calibri" pitchFamily="34" charset="0"/>
                <a:ea typeface="Calibri" pitchFamily="34" charset="-122"/>
                <a:cs typeface="Calibri" pitchFamily="34" charset="-120"/>
              </a:rPr>
              <a:t>BEST FOR</a:t>
            </a:r>
            <a:endParaRPr lang="en-US" sz="1050" dirty="0"/>
          </a:p>
        </p:txBody>
      </p:sp>
      <p:sp>
        <p:nvSpPr>
          <p:cNvPr id="12" name="Text 10"/>
          <p:cNvSpPr/>
          <p:nvPr/>
        </p:nvSpPr>
        <p:spPr>
          <a:xfrm>
            <a:off x="868680" y="4709160"/>
            <a:ext cx="2880360" cy="310896"/>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learning, full control</a:t>
            </a:r>
            <a:endParaRPr lang="en-US" sz="1400" dirty="0"/>
          </a:p>
        </p:txBody>
      </p:sp>
      <p:sp>
        <p:nvSpPr>
          <p:cNvPr id="13" name="Shape 11"/>
          <p:cNvSpPr/>
          <p:nvPr/>
        </p:nvSpPr>
        <p:spPr>
          <a:xfrm>
            <a:off x="868680" y="5010912"/>
            <a:ext cx="2880360" cy="384048"/>
          </a:xfrm>
          <a:prstGeom prst="roundRect">
            <a:avLst>
              <a:gd name="adj" fmla="val 50000"/>
            </a:avLst>
          </a:prstGeom>
          <a:solidFill>
            <a:srgbClr val="F5EAD8"/>
          </a:solidFill>
          <a:ln/>
        </p:spPr>
      </p:sp>
      <p:sp>
        <p:nvSpPr>
          <p:cNvPr id="14" name="Text 12"/>
          <p:cNvSpPr/>
          <p:nvPr/>
        </p:nvSpPr>
        <p:spPr>
          <a:xfrm>
            <a:off x="868680" y="5010912"/>
            <a:ext cx="2880360" cy="384048"/>
          </a:xfrm>
          <a:prstGeom prst="rect">
            <a:avLst/>
          </a:prstGeom>
          <a:noFill/>
          <a:ln/>
        </p:spPr>
        <p:txBody>
          <a:bodyPr wrap="square" lIns="0" tIns="0" rIns="0" bIns="0" rtlCol="0" anchor="ctr"/>
          <a:lstStyle/>
          <a:p>
            <a:pPr algn="ctr" indent="0" marL="0">
              <a:buNone/>
            </a:pPr>
            <a:r>
              <a:rPr lang="en-US" sz="1150" b="1" i="1" dirty="0">
                <a:solidFill>
                  <a:srgbClr val="8A4E0C"/>
                </a:solidFill>
                <a:latin typeface="Calibri" pitchFamily="34" charset="0"/>
                <a:ea typeface="Calibri" pitchFamily="34" charset="-122"/>
                <a:cs typeface="Calibri" pitchFamily="34" charset="-120"/>
              </a:rPr>
              <a:t>most control · most code</a:t>
            </a:r>
            <a:endParaRPr lang="en-US" sz="1150" dirty="0"/>
          </a:p>
        </p:txBody>
      </p:sp>
      <p:pic>
        <p:nvPicPr>
          <p:cNvPr id="15" name="Image 0" descr="preencoded.png">    </p:cNvPr>
          <p:cNvPicPr>
            <a:picLocks noChangeAspect="1"/>
          </p:cNvPicPr>
          <p:nvPr/>
        </p:nvPicPr>
        <p:blipFill>
          <a:blip r:embed="rId1"/>
          <a:stretch>
            <a:fillRect/>
          </a:stretch>
        </p:blipFill>
        <p:spPr>
          <a:xfrm>
            <a:off x="4056050" y="3739896"/>
            <a:ext cx="292608" cy="292608"/>
          </a:xfrm>
          <a:prstGeom prst="rect">
            <a:avLst/>
          </a:prstGeom>
        </p:spPr>
      </p:pic>
      <p:sp>
        <p:nvSpPr>
          <p:cNvPr id="16" name="Shape 13"/>
          <p:cNvSpPr/>
          <p:nvPr/>
        </p:nvSpPr>
        <p:spPr>
          <a:xfrm>
            <a:off x="4381348" y="2194560"/>
            <a:ext cx="3429000" cy="3383280"/>
          </a:xfrm>
          <a:prstGeom prst="roundRect">
            <a:avLst>
              <a:gd name="adj" fmla="val 2703"/>
            </a:avLst>
          </a:prstGeom>
          <a:solidFill>
            <a:srgbClr val="FFFFFF"/>
          </a:solidFill>
          <a:ln w="12700">
            <a:solidFill>
              <a:srgbClr val="E4E7EB"/>
            </a:solidFill>
            <a:prstDash val="solid"/>
          </a:ln>
          <a:effectLst>
            <a:outerShdw sx="100000" sy="100000" kx="0" ky="0" algn="bl" rotWithShape="0" blurRad="127000" dist="38100" dir="5400000">
              <a:srgbClr val="000000">
                <a:alpha val="10000"/>
              </a:srgbClr>
            </a:outerShdw>
          </a:effectLst>
        </p:spPr>
      </p:sp>
      <p:sp>
        <p:nvSpPr>
          <p:cNvPr id="17" name="Text 14"/>
          <p:cNvSpPr/>
          <p:nvPr/>
        </p:nvSpPr>
        <p:spPr>
          <a:xfrm>
            <a:off x="4655668" y="2468880"/>
            <a:ext cx="2880360" cy="457200"/>
          </a:xfrm>
          <a:prstGeom prst="rect">
            <a:avLst/>
          </a:prstGeom>
          <a:noFill/>
          <a:ln/>
        </p:spPr>
        <p:txBody>
          <a:bodyPr wrap="square" lIns="0" tIns="0" rIns="0" bIns="0" rtlCol="0" anchor="ctr"/>
          <a:lstStyle/>
          <a:p>
            <a:pPr indent="0" marL="0">
              <a:buNone/>
            </a:pPr>
            <a:r>
              <a:rPr lang="en-US" sz="2100" b="1" dirty="0">
                <a:solidFill>
                  <a:srgbClr val="1A1D23"/>
                </a:solidFill>
                <a:latin typeface="Cambria" pitchFamily="34" charset="0"/>
                <a:ea typeface="Cambria" pitchFamily="34" charset="-122"/>
                <a:cs typeface="Cambria" pitchFamily="34" charset="-120"/>
              </a:rPr>
              <a:t>Agent Builder</a:t>
            </a:r>
            <a:endParaRPr lang="en-US" sz="2100" dirty="0"/>
          </a:p>
        </p:txBody>
      </p:sp>
      <p:sp>
        <p:nvSpPr>
          <p:cNvPr id="18" name="Text 15"/>
          <p:cNvSpPr/>
          <p:nvPr/>
        </p:nvSpPr>
        <p:spPr>
          <a:xfrm>
            <a:off x="4655668" y="3154680"/>
            <a:ext cx="2880360" cy="237744"/>
          </a:xfrm>
          <a:prstGeom prst="rect">
            <a:avLst/>
          </a:prstGeom>
          <a:noFill/>
          <a:ln/>
        </p:spPr>
        <p:txBody>
          <a:bodyPr wrap="square" lIns="0" tIns="0" rIns="0" bIns="0" rtlCol="0" anchor="ctr"/>
          <a:lstStyle/>
          <a:p>
            <a:pPr indent="0" marL="0">
              <a:buNone/>
            </a:pPr>
            <a:r>
              <a:rPr lang="en-US" sz="1050" b="1" spc="100" kern="0" dirty="0">
                <a:solidFill>
                  <a:srgbClr val="BE7017"/>
                </a:solidFill>
                <a:latin typeface="Calibri" pitchFamily="34" charset="0"/>
                <a:ea typeface="Calibri" pitchFamily="34" charset="-122"/>
                <a:cs typeface="Calibri" pitchFamily="34" charset="-120"/>
              </a:rPr>
              <a:t>WHO RUNS THE LOOP</a:t>
            </a:r>
            <a:endParaRPr lang="en-US" sz="1050" dirty="0"/>
          </a:p>
        </p:txBody>
      </p:sp>
      <p:sp>
        <p:nvSpPr>
          <p:cNvPr id="19" name="Text 16"/>
          <p:cNvSpPr/>
          <p:nvPr/>
        </p:nvSpPr>
        <p:spPr>
          <a:xfrm>
            <a:off x="4655668" y="3392424"/>
            <a:ext cx="2880360" cy="310896"/>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AWS managed</a:t>
            </a:r>
            <a:endParaRPr lang="en-US" sz="1400" dirty="0"/>
          </a:p>
        </p:txBody>
      </p:sp>
      <p:sp>
        <p:nvSpPr>
          <p:cNvPr id="20" name="Text 17"/>
          <p:cNvSpPr/>
          <p:nvPr/>
        </p:nvSpPr>
        <p:spPr>
          <a:xfrm>
            <a:off x="4655668" y="3813048"/>
            <a:ext cx="2880360" cy="237744"/>
          </a:xfrm>
          <a:prstGeom prst="rect">
            <a:avLst/>
          </a:prstGeom>
          <a:noFill/>
          <a:ln/>
        </p:spPr>
        <p:txBody>
          <a:bodyPr wrap="square" lIns="0" tIns="0" rIns="0" bIns="0" rtlCol="0" anchor="ctr"/>
          <a:lstStyle/>
          <a:p>
            <a:pPr indent="0" marL="0">
              <a:buNone/>
            </a:pPr>
            <a:r>
              <a:rPr lang="en-US" sz="1050" b="1" spc="100" kern="0" dirty="0">
                <a:solidFill>
                  <a:srgbClr val="BE7017"/>
                </a:solidFill>
                <a:latin typeface="Calibri" pitchFamily="34" charset="0"/>
                <a:ea typeface="Calibri" pitchFamily="34" charset="-122"/>
                <a:cs typeface="Calibri" pitchFamily="34" charset="-120"/>
              </a:rPr>
              <a:t>YOUR CODE</a:t>
            </a:r>
            <a:endParaRPr lang="en-US" sz="1050" dirty="0"/>
          </a:p>
        </p:txBody>
      </p:sp>
      <p:sp>
        <p:nvSpPr>
          <p:cNvPr id="21" name="Text 18"/>
          <p:cNvSpPr/>
          <p:nvPr/>
        </p:nvSpPr>
        <p:spPr>
          <a:xfrm>
            <a:off x="4655668" y="4050792"/>
            <a:ext cx="2880360" cy="310896"/>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tools + config</a:t>
            </a:r>
            <a:endParaRPr lang="en-US" sz="1400" dirty="0"/>
          </a:p>
        </p:txBody>
      </p:sp>
      <p:sp>
        <p:nvSpPr>
          <p:cNvPr id="22" name="Text 19"/>
          <p:cNvSpPr/>
          <p:nvPr/>
        </p:nvSpPr>
        <p:spPr>
          <a:xfrm>
            <a:off x="4655668" y="4471416"/>
            <a:ext cx="2880360" cy="237744"/>
          </a:xfrm>
          <a:prstGeom prst="rect">
            <a:avLst/>
          </a:prstGeom>
          <a:noFill/>
          <a:ln/>
        </p:spPr>
        <p:txBody>
          <a:bodyPr wrap="square" lIns="0" tIns="0" rIns="0" bIns="0" rtlCol="0" anchor="ctr"/>
          <a:lstStyle/>
          <a:p>
            <a:pPr indent="0" marL="0">
              <a:buNone/>
            </a:pPr>
            <a:r>
              <a:rPr lang="en-US" sz="1050" b="1" spc="100" kern="0" dirty="0">
                <a:solidFill>
                  <a:srgbClr val="BE7017"/>
                </a:solidFill>
                <a:latin typeface="Calibri" pitchFamily="34" charset="0"/>
                <a:ea typeface="Calibri" pitchFamily="34" charset="-122"/>
                <a:cs typeface="Calibri" pitchFamily="34" charset="-120"/>
              </a:rPr>
              <a:t>BEST FOR</a:t>
            </a:r>
            <a:endParaRPr lang="en-US" sz="1050" dirty="0"/>
          </a:p>
        </p:txBody>
      </p:sp>
      <p:sp>
        <p:nvSpPr>
          <p:cNvPr id="23" name="Text 20"/>
          <p:cNvSpPr/>
          <p:nvPr/>
        </p:nvSpPr>
        <p:spPr>
          <a:xfrm>
            <a:off x="4655668" y="4709160"/>
            <a:ext cx="2880360" cy="310896"/>
          </a:xfrm>
          <a:prstGeom prst="rect">
            <a:avLst/>
          </a:prstGeom>
          <a:noFill/>
          <a:ln/>
        </p:spPr>
        <p:txBody>
          <a:bodyPr wrap="square" lIns="0" tIns="0" rIns="0" bIns="0" rtlCol="0" anchor="ctr"/>
          <a:lstStyle/>
          <a:p>
            <a:pPr indent="0" marL="0">
              <a:buNone/>
            </a:pPr>
            <a:r>
              <a:rPr lang="en-US" sz="1400" b="1" dirty="0">
                <a:solidFill>
                  <a:srgbClr val="1A1D23"/>
                </a:solidFill>
                <a:latin typeface="Calibri" pitchFamily="34" charset="0"/>
                <a:ea typeface="Calibri" pitchFamily="34" charset="-122"/>
                <a:cs typeface="Calibri" pitchFamily="34" charset="-120"/>
              </a:rPr>
              <a:t>quick internal tools</a:t>
            </a:r>
            <a:endParaRPr lang="en-US" sz="1400" dirty="0"/>
          </a:p>
        </p:txBody>
      </p:sp>
      <p:sp>
        <p:nvSpPr>
          <p:cNvPr id="24" name="Shape 21"/>
          <p:cNvSpPr/>
          <p:nvPr/>
        </p:nvSpPr>
        <p:spPr>
          <a:xfrm>
            <a:off x="4655668" y="5010912"/>
            <a:ext cx="2880360" cy="384048"/>
          </a:xfrm>
          <a:prstGeom prst="roundRect">
            <a:avLst>
              <a:gd name="adj" fmla="val 50000"/>
            </a:avLst>
          </a:prstGeom>
          <a:solidFill>
            <a:srgbClr val="F5EAD8"/>
          </a:solidFill>
          <a:ln/>
        </p:spPr>
      </p:sp>
      <p:sp>
        <p:nvSpPr>
          <p:cNvPr id="25" name="Text 22"/>
          <p:cNvSpPr/>
          <p:nvPr/>
        </p:nvSpPr>
        <p:spPr>
          <a:xfrm>
            <a:off x="4655668" y="5010912"/>
            <a:ext cx="2880360" cy="384048"/>
          </a:xfrm>
          <a:prstGeom prst="rect">
            <a:avLst/>
          </a:prstGeom>
          <a:noFill/>
          <a:ln/>
        </p:spPr>
        <p:txBody>
          <a:bodyPr wrap="square" lIns="0" tIns="0" rIns="0" bIns="0" rtlCol="0" anchor="ctr"/>
          <a:lstStyle/>
          <a:p>
            <a:pPr algn="ctr" indent="0" marL="0">
              <a:buNone/>
            </a:pPr>
            <a:r>
              <a:rPr lang="en-US" sz="1150" b="1" i="1" dirty="0">
                <a:solidFill>
                  <a:srgbClr val="8A4E0C"/>
                </a:solidFill>
                <a:latin typeface="Calibri" pitchFamily="34" charset="0"/>
                <a:ea typeface="Calibri" pitchFamily="34" charset="-122"/>
                <a:cs typeface="Calibri" pitchFamily="34" charset="-120"/>
              </a:rPr>
              <a:t>Classic is closing</a:t>
            </a:r>
            <a:endParaRPr lang="en-US" sz="1150" dirty="0"/>
          </a:p>
        </p:txBody>
      </p:sp>
      <p:pic>
        <p:nvPicPr>
          <p:cNvPr id="26" name="Image 1" descr="preencoded.png">    </p:cNvPr>
          <p:cNvPicPr>
            <a:picLocks noChangeAspect="1"/>
          </p:cNvPicPr>
          <p:nvPr/>
        </p:nvPicPr>
        <p:blipFill>
          <a:blip r:embed="rId2"/>
          <a:stretch>
            <a:fillRect/>
          </a:stretch>
        </p:blipFill>
        <p:spPr>
          <a:xfrm>
            <a:off x="7843037" y="3739896"/>
            <a:ext cx="292608" cy="292608"/>
          </a:xfrm>
          <a:prstGeom prst="rect">
            <a:avLst/>
          </a:prstGeom>
        </p:spPr>
      </p:pic>
      <p:sp>
        <p:nvSpPr>
          <p:cNvPr id="27" name="Shape 23"/>
          <p:cNvSpPr/>
          <p:nvPr/>
        </p:nvSpPr>
        <p:spPr>
          <a:xfrm>
            <a:off x="8168335" y="2194560"/>
            <a:ext cx="3429000" cy="3383280"/>
          </a:xfrm>
          <a:prstGeom prst="roundRect">
            <a:avLst>
              <a:gd name="adj" fmla="val 2703"/>
            </a:avLst>
          </a:prstGeom>
          <a:solidFill>
            <a:srgbClr val="14161C"/>
          </a:solidFill>
          <a:ln w="12700">
            <a:solidFill>
              <a:srgbClr val="14161C"/>
            </a:solidFill>
            <a:prstDash val="solid"/>
          </a:ln>
          <a:effectLst>
            <a:outerShdw sx="100000" sy="100000" kx="0" ky="0" algn="bl" rotWithShape="0" blurRad="127000" dist="38100" dir="5400000">
              <a:srgbClr val="000000">
                <a:alpha val="20000"/>
              </a:srgbClr>
            </a:outerShdw>
          </a:effectLst>
        </p:spPr>
      </p:sp>
      <p:sp>
        <p:nvSpPr>
          <p:cNvPr id="28" name="Text 24"/>
          <p:cNvSpPr/>
          <p:nvPr/>
        </p:nvSpPr>
        <p:spPr>
          <a:xfrm>
            <a:off x="8442655" y="2468880"/>
            <a:ext cx="2880360" cy="45720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AgentCore</a:t>
            </a:r>
            <a:endParaRPr lang="en-US" sz="2100" dirty="0"/>
          </a:p>
        </p:txBody>
      </p:sp>
      <p:sp>
        <p:nvSpPr>
          <p:cNvPr id="29" name="Text 25"/>
          <p:cNvSpPr/>
          <p:nvPr/>
        </p:nvSpPr>
        <p:spPr>
          <a:xfrm>
            <a:off x="8442655" y="3154680"/>
            <a:ext cx="2880360" cy="237744"/>
          </a:xfrm>
          <a:prstGeom prst="rect">
            <a:avLst/>
          </a:prstGeom>
          <a:noFill/>
          <a:ln/>
        </p:spPr>
        <p:txBody>
          <a:bodyPr wrap="square" lIns="0" tIns="0" rIns="0" bIns="0" rtlCol="0" anchor="ctr"/>
          <a:lstStyle/>
          <a:p>
            <a:pPr indent="0" marL="0">
              <a:buNone/>
            </a:pPr>
            <a:r>
              <a:rPr lang="en-US" sz="1050" b="1" spc="100" kern="0" dirty="0">
                <a:solidFill>
                  <a:srgbClr val="E4A45E"/>
                </a:solidFill>
                <a:latin typeface="Calibri" pitchFamily="34" charset="0"/>
                <a:ea typeface="Calibri" pitchFamily="34" charset="-122"/>
                <a:cs typeface="Calibri" pitchFamily="34" charset="-120"/>
              </a:rPr>
              <a:t>WHO RUNS THE LOOP</a:t>
            </a:r>
            <a:endParaRPr lang="en-US" sz="1050" dirty="0"/>
          </a:p>
        </p:txBody>
      </p:sp>
      <p:sp>
        <p:nvSpPr>
          <p:cNvPr id="30" name="Text 26"/>
          <p:cNvSpPr/>
          <p:nvPr/>
        </p:nvSpPr>
        <p:spPr>
          <a:xfrm>
            <a:off x="8442655" y="3392424"/>
            <a:ext cx="2880360" cy="310896"/>
          </a:xfrm>
          <a:prstGeom prst="rect">
            <a:avLst/>
          </a:prstGeom>
          <a:noFill/>
          <a:ln/>
        </p:spPr>
        <p:txBody>
          <a:bodyPr wrap="square" lIns="0" tIns="0" rIns="0" bIns="0" rtlCol="0" anchor="ctr"/>
          <a:lstStyle/>
          <a:p>
            <a:pPr indent="0" marL="0">
              <a:buNone/>
            </a:pPr>
            <a:r>
              <a:rPr lang="en-US" sz="1400" b="1" dirty="0">
                <a:solidFill>
                  <a:srgbClr val="E7E9EC"/>
                </a:solidFill>
                <a:latin typeface="Calibri" pitchFamily="34" charset="0"/>
                <a:ea typeface="Calibri" pitchFamily="34" charset="-122"/>
                <a:cs typeface="Calibri" pitchFamily="34" charset="-120"/>
              </a:rPr>
              <a:t>AWS managed</a:t>
            </a:r>
            <a:endParaRPr lang="en-US" sz="1400" dirty="0"/>
          </a:p>
        </p:txBody>
      </p:sp>
      <p:sp>
        <p:nvSpPr>
          <p:cNvPr id="31" name="Text 27"/>
          <p:cNvSpPr/>
          <p:nvPr/>
        </p:nvSpPr>
        <p:spPr>
          <a:xfrm>
            <a:off x="8442655" y="3813048"/>
            <a:ext cx="2880360" cy="237744"/>
          </a:xfrm>
          <a:prstGeom prst="rect">
            <a:avLst/>
          </a:prstGeom>
          <a:noFill/>
          <a:ln/>
        </p:spPr>
        <p:txBody>
          <a:bodyPr wrap="square" lIns="0" tIns="0" rIns="0" bIns="0" rtlCol="0" anchor="ctr"/>
          <a:lstStyle/>
          <a:p>
            <a:pPr indent="0" marL="0">
              <a:buNone/>
            </a:pPr>
            <a:r>
              <a:rPr lang="en-US" sz="1050" b="1" spc="100" kern="0" dirty="0">
                <a:solidFill>
                  <a:srgbClr val="E4A45E"/>
                </a:solidFill>
                <a:latin typeface="Calibri" pitchFamily="34" charset="0"/>
                <a:ea typeface="Calibri" pitchFamily="34" charset="-122"/>
                <a:cs typeface="Calibri" pitchFamily="34" charset="-120"/>
              </a:rPr>
              <a:t>YOUR CODE</a:t>
            </a:r>
            <a:endParaRPr lang="en-US" sz="1050" dirty="0"/>
          </a:p>
        </p:txBody>
      </p:sp>
      <p:sp>
        <p:nvSpPr>
          <p:cNvPr id="32" name="Text 28"/>
          <p:cNvSpPr/>
          <p:nvPr/>
        </p:nvSpPr>
        <p:spPr>
          <a:xfrm>
            <a:off x="8442655" y="4050792"/>
            <a:ext cx="2880360" cy="310896"/>
          </a:xfrm>
          <a:prstGeom prst="rect">
            <a:avLst/>
          </a:prstGeom>
          <a:noFill/>
          <a:ln/>
        </p:spPr>
        <p:txBody>
          <a:bodyPr wrap="square" lIns="0" tIns="0" rIns="0" bIns="0" rtlCol="0" anchor="ctr"/>
          <a:lstStyle/>
          <a:p>
            <a:pPr indent="0" marL="0">
              <a:buNone/>
            </a:pPr>
            <a:r>
              <a:rPr lang="en-US" sz="1400" b="1" dirty="0">
                <a:solidFill>
                  <a:srgbClr val="E7E9EC"/>
                </a:solidFill>
                <a:latin typeface="Calibri" pitchFamily="34" charset="0"/>
                <a:ea typeface="Calibri" pitchFamily="34" charset="-122"/>
                <a:cs typeface="Calibri" pitchFamily="34" charset="-120"/>
              </a:rPr>
              <a:t>your framework agent</a:t>
            </a:r>
            <a:endParaRPr lang="en-US" sz="1400" dirty="0"/>
          </a:p>
        </p:txBody>
      </p:sp>
      <p:sp>
        <p:nvSpPr>
          <p:cNvPr id="33" name="Text 29"/>
          <p:cNvSpPr/>
          <p:nvPr/>
        </p:nvSpPr>
        <p:spPr>
          <a:xfrm>
            <a:off x="8442655" y="4471416"/>
            <a:ext cx="2880360" cy="237744"/>
          </a:xfrm>
          <a:prstGeom prst="rect">
            <a:avLst/>
          </a:prstGeom>
          <a:noFill/>
          <a:ln/>
        </p:spPr>
        <p:txBody>
          <a:bodyPr wrap="square" lIns="0" tIns="0" rIns="0" bIns="0" rtlCol="0" anchor="ctr"/>
          <a:lstStyle/>
          <a:p>
            <a:pPr indent="0" marL="0">
              <a:buNone/>
            </a:pPr>
            <a:r>
              <a:rPr lang="en-US" sz="1050" b="1" spc="100" kern="0" dirty="0">
                <a:solidFill>
                  <a:srgbClr val="E4A45E"/>
                </a:solidFill>
                <a:latin typeface="Calibri" pitchFamily="34" charset="0"/>
                <a:ea typeface="Calibri" pitchFamily="34" charset="-122"/>
                <a:cs typeface="Calibri" pitchFamily="34" charset="-120"/>
              </a:rPr>
              <a:t>BEST FOR</a:t>
            </a:r>
            <a:endParaRPr lang="en-US" sz="1050" dirty="0"/>
          </a:p>
        </p:txBody>
      </p:sp>
      <p:sp>
        <p:nvSpPr>
          <p:cNvPr id="34" name="Text 30"/>
          <p:cNvSpPr/>
          <p:nvPr/>
        </p:nvSpPr>
        <p:spPr>
          <a:xfrm>
            <a:off x="8442655" y="4709160"/>
            <a:ext cx="2880360" cy="310896"/>
          </a:xfrm>
          <a:prstGeom prst="rect">
            <a:avLst/>
          </a:prstGeom>
          <a:noFill/>
          <a:ln/>
        </p:spPr>
        <p:txBody>
          <a:bodyPr wrap="square" lIns="0" tIns="0" rIns="0" bIns="0" rtlCol="0" anchor="ctr"/>
          <a:lstStyle/>
          <a:p>
            <a:pPr indent="0" marL="0">
              <a:buNone/>
            </a:pPr>
            <a:r>
              <a:rPr lang="en-US" sz="1400" b="1" dirty="0">
                <a:solidFill>
                  <a:srgbClr val="E7E9EC"/>
                </a:solidFill>
                <a:latin typeface="Calibri" pitchFamily="34" charset="0"/>
                <a:ea typeface="Calibri" pitchFamily="34" charset="-122"/>
                <a:cs typeface="Calibri" pitchFamily="34" charset="-120"/>
              </a:rPr>
              <a:t>Strands to production</a:t>
            </a:r>
            <a:endParaRPr lang="en-US" sz="1400" dirty="0"/>
          </a:p>
        </p:txBody>
      </p:sp>
      <p:sp>
        <p:nvSpPr>
          <p:cNvPr id="35" name="Shape 31"/>
          <p:cNvSpPr/>
          <p:nvPr/>
        </p:nvSpPr>
        <p:spPr>
          <a:xfrm>
            <a:off x="8442655" y="5010912"/>
            <a:ext cx="2880360" cy="384048"/>
          </a:xfrm>
          <a:prstGeom prst="roundRect">
            <a:avLst>
              <a:gd name="adj" fmla="val 50000"/>
            </a:avLst>
          </a:prstGeom>
          <a:solidFill>
            <a:srgbClr val="2A2F3A"/>
          </a:solidFill>
          <a:ln/>
        </p:spPr>
      </p:sp>
      <p:sp>
        <p:nvSpPr>
          <p:cNvPr id="36" name="Text 32"/>
          <p:cNvSpPr/>
          <p:nvPr/>
        </p:nvSpPr>
        <p:spPr>
          <a:xfrm>
            <a:off x="8442655" y="5010912"/>
            <a:ext cx="2880360" cy="384048"/>
          </a:xfrm>
          <a:prstGeom prst="rect">
            <a:avLst/>
          </a:prstGeom>
          <a:noFill/>
          <a:ln/>
        </p:spPr>
        <p:txBody>
          <a:bodyPr wrap="square" lIns="0" tIns="0" rIns="0" bIns="0" rtlCol="0" anchor="ctr"/>
          <a:lstStyle/>
          <a:p>
            <a:pPr algn="ctr" indent="0" marL="0">
              <a:buNone/>
            </a:pPr>
            <a:r>
              <a:rPr lang="en-US" sz="1150" b="1" i="1" dirty="0">
                <a:solidFill>
                  <a:srgbClr val="E4A45E"/>
                </a:solidFill>
                <a:latin typeface="Calibri" pitchFamily="34" charset="0"/>
                <a:ea typeface="Calibri" pitchFamily="34" charset="-122"/>
                <a:cs typeface="Calibri" pitchFamily="34" charset="-120"/>
              </a:rPr>
              <a:t>the forward path</a:t>
            </a:r>
            <a:endParaRPr lang="en-US" sz="1150" dirty="0"/>
          </a:p>
        </p:txBody>
      </p:sp>
      <p:sp>
        <p:nvSpPr>
          <p:cNvPr id="37" name="Text 33"/>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Three owners</a:t>
            </a:r>
            <a:endParaRPr lang="en-US" sz="950" dirty="0"/>
          </a:p>
        </p:txBody>
      </p:sp>
      <p:sp>
        <p:nvSpPr>
          <p:cNvPr id="38" name="Text 34"/>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61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000"/>
          </a:blip>
          <a:stretch>
            <a:fillRect/>
          </a:stretch>
        </p:blipFill>
        <p:spPr>
          <a:xfrm>
            <a:off x="8869680" y="365760"/>
            <a:ext cx="2926080" cy="2926080"/>
          </a:xfrm>
          <a:prstGeom prst="rect">
            <a:avLst/>
          </a:prstGeom>
        </p:spPr>
      </p:pic>
      <p:sp>
        <p:nvSpPr>
          <p:cNvPr id="3" name="Text 0"/>
          <p:cNvSpPr/>
          <p:nvPr/>
        </p:nvSpPr>
        <p:spPr>
          <a:xfrm>
            <a:off x="594360" y="566928"/>
            <a:ext cx="11002975" cy="274320"/>
          </a:xfrm>
          <a:prstGeom prst="rect">
            <a:avLst/>
          </a:prstGeom>
          <a:noFill/>
          <a:ln/>
        </p:spPr>
        <p:txBody>
          <a:bodyPr wrap="square" lIns="0" tIns="0" rIns="0" bIns="0" rtlCol="0" anchor="ctr"/>
          <a:lstStyle/>
          <a:p>
            <a:pPr indent="0" marL="0">
              <a:buNone/>
            </a:pPr>
            <a:r>
              <a:rPr lang="en-US" sz="1300" b="1" spc="300" kern="0" dirty="0">
                <a:solidFill>
                  <a:srgbClr val="E4A45E"/>
                </a:solidFill>
                <a:latin typeface="Calibri" pitchFamily="34" charset="0"/>
                <a:ea typeface="Calibri" pitchFamily="34" charset="-122"/>
                <a:cs typeface="Calibri" pitchFamily="34" charset="-120"/>
              </a:rPr>
              <a:t>WHAT TRANSFERS ACROSS ALL THREE</a:t>
            </a:r>
            <a:endParaRPr lang="en-US" sz="1300" dirty="0"/>
          </a:p>
        </p:txBody>
      </p:sp>
      <p:sp>
        <p:nvSpPr>
          <p:cNvPr id="4" name="Text 1"/>
          <p:cNvSpPr/>
          <p:nvPr/>
        </p:nvSpPr>
        <p:spPr>
          <a:xfrm>
            <a:off x="594360" y="868680"/>
            <a:ext cx="11002975" cy="73152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The skills you already have</a:t>
            </a:r>
            <a:endParaRPr lang="en-US" sz="3300" dirty="0"/>
          </a:p>
        </p:txBody>
      </p:sp>
      <p:sp>
        <p:nvSpPr>
          <p:cNvPr id="5" name="Shape 2"/>
          <p:cNvSpPr/>
          <p:nvPr/>
        </p:nvSpPr>
        <p:spPr>
          <a:xfrm>
            <a:off x="594360" y="1965960"/>
            <a:ext cx="5227168" cy="1234440"/>
          </a:xfrm>
          <a:prstGeom prst="roundRect">
            <a:avLst>
              <a:gd name="adj" fmla="val 6667"/>
            </a:avLst>
          </a:prstGeom>
          <a:solidFill>
            <a:srgbClr val="1C1F27"/>
          </a:solidFill>
          <a:ln w="12700">
            <a:solidFill>
              <a:srgbClr val="2C313D"/>
            </a:solidFill>
            <a:prstDash val="solid"/>
          </a:ln>
        </p:spPr>
      </p:sp>
      <p:sp>
        <p:nvSpPr>
          <p:cNvPr id="6" name="Shape 3"/>
          <p:cNvSpPr/>
          <p:nvPr/>
        </p:nvSpPr>
        <p:spPr>
          <a:xfrm>
            <a:off x="868680" y="2276856"/>
            <a:ext cx="603504" cy="603504"/>
          </a:xfrm>
          <a:prstGeom prst="ellipse">
            <a:avLst/>
          </a:prstGeom>
          <a:solidFill>
            <a:srgbClr val="2A2F3A"/>
          </a:solidFill>
          <a:ln/>
        </p:spPr>
      </p:sp>
      <p:pic>
        <p:nvPicPr>
          <p:cNvPr id="7" name="Image 1" descr="preencoded.png">    </p:cNvPr>
          <p:cNvPicPr>
            <a:picLocks noChangeAspect="1"/>
          </p:cNvPicPr>
          <p:nvPr/>
        </p:nvPicPr>
        <p:blipFill>
          <a:blip r:embed="rId2"/>
          <a:stretch>
            <a:fillRect/>
          </a:stretch>
        </p:blipFill>
        <p:spPr>
          <a:xfrm>
            <a:off x="996696" y="2404872"/>
            <a:ext cx="347472" cy="347472"/>
          </a:xfrm>
          <a:prstGeom prst="rect">
            <a:avLst/>
          </a:prstGeom>
        </p:spPr>
      </p:pic>
      <p:sp>
        <p:nvSpPr>
          <p:cNvPr id="8" name="Text 4"/>
          <p:cNvSpPr/>
          <p:nvPr/>
        </p:nvSpPr>
        <p:spPr>
          <a:xfrm>
            <a:off x="1645920" y="2221992"/>
            <a:ext cx="3992728" cy="365760"/>
          </a:xfrm>
          <a:prstGeom prst="rect">
            <a:avLst/>
          </a:prstGeom>
          <a:noFill/>
          <a:ln/>
        </p:spPr>
        <p:txBody>
          <a:bodyPr wrap="square" lIns="0" tIns="0" rIns="0" bIns="0" rtlCol="0" anchor="ctr"/>
          <a:lstStyle/>
          <a:p>
            <a:pPr indent="0" marL="0">
              <a:lnSpc>
                <a:spcPct val="95000"/>
              </a:lnSpc>
              <a:buNone/>
            </a:pPr>
            <a:r>
              <a:rPr lang="en-US" sz="1550" b="1" dirty="0">
                <a:solidFill>
                  <a:srgbClr val="FFFFFF"/>
                </a:solidFill>
                <a:latin typeface="Calibri" pitchFamily="34" charset="0"/>
                <a:ea typeface="Calibri" pitchFamily="34" charset="-122"/>
                <a:cs typeface="Calibri" pitchFamily="34" charset="-120"/>
              </a:rPr>
              <a:t>Tools are contracts</a:t>
            </a:r>
            <a:endParaRPr lang="en-US" sz="1550" dirty="0"/>
          </a:p>
        </p:txBody>
      </p:sp>
      <p:sp>
        <p:nvSpPr>
          <p:cNvPr id="9" name="Text 5"/>
          <p:cNvSpPr/>
          <p:nvPr/>
        </p:nvSpPr>
        <p:spPr>
          <a:xfrm>
            <a:off x="1645920" y="2624328"/>
            <a:ext cx="3947008" cy="457200"/>
          </a:xfrm>
          <a:prstGeom prst="rect">
            <a:avLst/>
          </a:prstGeom>
          <a:noFill/>
          <a:ln/>
        </p:spPr>
        <p:txBody>
          <a:bodyPr wrap="square" lIns="0" tIns="0" rIns="0" bIns="0" rtlCol="0" anchor="ctr"/>
          <a:lstStyle/>
          <a:p>
            <a:pPr indent="0" marL="0">
              <a:lnSpc>
                <a:spcPct val="100000"/>
              </a:lnSpc>
              <a:buNone/>
            </a:pPr>
            <a:r>
              <a:rPr lang="en-US" sz="1250" dirty="0">
                <a:solidFill>
                  <a:srgbClr val="AEB4BF"/>
                </a:solidFill>
                <a:latin typeface="Calibri" pitchFamily="34" charset="0"/>
                <a:ea typeface="Calibri" pitchFamily="34" charset="-122"/>
                <a:cs typeface="Calibri" pitchFamily="34" charset="-120"/>
              </a:rPr>
              <a:t>a name, typed parameters, and a returned result</a:t>
            </a:r>
            <a:endParaRPr lang="en-US" sz="1250" dirty="0"/>
          </a:p>
        </p:txBody>
      </p:sp>
      <p:sp>
        <p:nvSpPr>
          <p:cNvPr id="10" name="Shape 6"/>
          <p:cNvSpPr/>
          <p:nvPr/>
        </p:nvSpPr>
        <p:spPr>
          <a:xfrm>
            <a:off x="6370168" y="1965960"/>
            <a:ext cx="5227168" cy="1234440"/>
          </a:xfrm>
          <a:prstGeom prst="roundRect">
            <a:avLst>
              <a:gd name="adj" fmla="val 6667"/>
            </a:avLst>
          </a:prstGeom>
          <a:solidFill>
            <a:srgbClr val="1C1F27"/>
          </a:solidFill>
          <a:ln w="12700">
            <a:solidFill>
              <a:srgbClr val="2C313D"/>
            </a:solidFill>
            <a:prstDash val="solid"/>
          </a:ln>
        </p:spPr>
      </p:sp>
      <p:sp>
        <p:nvSpPr>
          <p:cNvPr id="11" name="Shape 7"/>
          <p:cNvSpPr/>
          <p:nvPr/>
        </p:nvSpPr>
        <p:spPr>
          <a:xfrm>
            <a:off x="6644488" y="2276856"/>
            <a:ext cx="603504" cy="603504"/>
          </a:xfrm>
          <a:prstGeom prst="ellipse">
            <a:avLst/>
          </a:prstGeom>
          <a:solidFill>
            <a:srgbClr val="2A2F3A"/>
          </a:solidFill>
          <a:ln/>
        </p:spPr>
      </p:sp>
      <p:pic>
        <p:nvPicPr>
          <p:cNvPr id="12" name="Image 2" descr="preencoded.png">    </p:cNvPr>
          <p:cNvPicPr>
            <a:picLocks noChangeAspect="1"/>
          </p:cNvPicPr>
          <p:nvPr/>
        </p:nvPicPr>
        <p:blipFill>
          <a:blip r:embed="rId3"/>
          <a:stretch>
            <a:fillRect/>
          </a:stretch>
        </p:blipFill>
        <p:spPr>
          <a:xfrm>
            <a:off x="6772504" y="2404872"/>
            <a:ext cx="347472" cy="347472"/>
          </a:xfrm>
          <a:prstGeom prst="rect">
            <a:avLst/>
          </a:prstGeom>
        </p:spPr>
      </p:pic>
      <p:sp>
        <p:nvSpPr>
          <p:cNvPr id="13" name="Text 8"/>
          <p:cNvSpPr/>
          <p:nvPr/>
        </p:nvSpPr>
        <p:spPr>
          <a:xfrm>
            <a:off x="7421728" y="2221992"/>
            <a:ext cx="3992728" cy="365760"/>
          </a:xfrm>
          <a:prstGeom prst="rect">
            <a:avLst/>
          </a:prstGeom>
          <a:noFill/>
          <a:ln/>
        </p:spPr>
        <p:txBody>
          <a:bodyPr wrap="square" lIns="0" tIns="0" rIns="0" bIns="0" rtlCol="0" anchor="ctr"/>
          <a:lstStyle/>
          <a:p>
            <a:pPr indent="0" marL="0">
              <a:lnSpc>
                <a:spcPct val="95000"/>
              </a:lnSpc>
              <a:buNone/>
            </a:pPr>
            <a:r>
              <a:rPr lang="en-US" sz="1550" b="1" dirty="0">
                <a:solidFill>
                  <a:srgbClr val="FFFFFF"/>
                </a:solidFill>
                <a:latin typeface="Calibri" pitchFamily="34" charset="0"/>
                <a:ea typeface="Calibri" pitchFamily="34" charset="-122"/>
                <a:cs typeface="Calibri" pitchFamily="34" charset="-120"/>
              </a:rPr>
              <a:t>The model chooses, code executes</a:t>
            </a:r>
            <a:endParaRPr lang="en-US" sz="1550" dirty="0"/>
          </a:p>
        </p:txBody>
      </p:sp>
      <p:sp>
        <p:nvSpPr>
          <p:cNvPr id="14" name="Text 9"/>
          <p:cNvSpPr/>
          <p:nvPr/>
        </p:nvSpPr>
        <p:spPr>
          <a:xfrm>
            <a:off x="7421728" y="2624328"/>
            <a:ext cx="3947008" cy="457200"/>
          </a:xfrm>
          <a:prstGeom prst="rect">
            <a:avLst/>
          </a:prstGeom>
          <a:noFill/>
          <a:ln/>
        </p:spPr>
        <p:txBody>
          <a:bodyPr wrap="square" lIns="0" tIns="0" rIns="0" bIns="0" rtlCol="0" anchor="ctr"/>
          <a:lstStyle/>
          <a:p>
            <a:pPr indent="0" marL="0">
              <a:lnSpc>
                <a:spcPct val="100000"/>
              </a:lnSpc>
              <a:buNone/>
            </a:pPr>
            <a:r>
              <a:rPr lang="en-US" sz="1250" dirty="0">
                <a:solidFill>
                  <a:srgbClr val="AEB4BF"/>
                </a:solidFill>
                <a:latin typeface="Calibri" pitchFamily="34" charset="0"/>
                <a:ea typeface="Calibri" pitchFamily="34" charset="-122"/>
                <a:cs typeface="Calibri" pitchFamily="34" charset="-120"/>
              </a:rPr>
              <a:t>reasoning and execution stay separate</a:t>
            </a:r>
            <a:endParaRPr lang="en-US" sz="1250" dirty="0"/>
          </a:p>
        </p:txBody>
      </p:sp>
      <p:sp>
        <p:nvSpPr>
          <p:cNvPr id="15" name="Shape 10"/>
          <p:cNvSpPr/>
          <p:nvPr/>
        </p:nvSpPr>
        <p:spPr>
          <a:xfrm>
            <a:off x="594360" y="3383280"/>
            <a:ext cx="5227168" cy="1234440"/>
          </a:xfrm>
          <a:prstGeom prst="roundRect">
            <a:avLst>
              <a:gd name="adj" fmla="val 6667"/>
            </a:avLst>
          </a:prstGeom>
          <a:solidFill>
            <a:srgbClr val="1C1F27"/>
          </a:solidFill>
          <a:ln w="12700">
            <a:solidFill>
              <a:srgbClr val="2C313D"/>
            </a:solidFill>
            <a:prstDash val="solid"/>
          </a:ln>
        </p:spPr>
      </p:sp>
      <p:sp>
        <p:nvSpPr>
          <p:cNvPr id="16" name="Shape 11"/>
          <p:cNvSpPr/>
          <p:nvPr/>
        </p:nvSpPr>
        <p:spPr>
          <a:xfrm>
            <a:off x="868680" y="3694176"/>
            <a:ext cx="603504" cy="603504"/>
          </a:xfrm>
          <a:prstGeom prst="ellipse">
            <a:avLst/>
          </a:prstGeom>
          <a:solidFill>
            <a:srgbClr val="2A2F3A"/>
          </a:solidFill>
          <a:ln/>
        </p:spPr>
      </p:sp>
      <p:pic>
        <p:nvPicPr>
          <p:cNvPr id="17" name="Image 3" descr="preencoded.png">    </p:cNvPr>
          <p:cNvPicPr>
            <a:picLocks noChangeAspect="1"/>
          </p:cNvPicPr>
          <p:nvPr/>
        </p:nvPicPr>
        <p:blipFill>
          <a:blip r:embed="rId4"/>
          <a:stretch>
            <a:fillRect/>
          </a:stretch>
        </p:blipFill>
        <p:spPr>
          <a:xfrm>
            <a:off x="996696" y="3822192"/>
            <a:ext cx="347472" cy="347472"/>
          </a:xfrm>
          <a:prstGeom prst="rect">
            <a:avLst/>
          </a:prstGeom>
        </p:spPr>
      </p:pic>
      <p:sp>
        <p:nvSpPr>
          <p:cNvPr id="18" name="Text 12"/>
          <p:cNvSpPr/>
          <p:nvPr/>
        </p:nvSpPr>
        <p:spPr>
          <a:xfrm>
            <a:off x="1645920" y="3639312"/>
            <a:ext cx="3992728" cy="365760"/>
          </a:xfrm>
          <a:prstGeom prst="rect">
            <a:avLst/>
          </a:prstGeom>
          <a:noFill/>
          <a:ln/>
        </p:spPr>
        <p:txBody>
          <a:bodyPr wrap="square" lIns="0" tIns="0" rIns="0" bIns="0" rtlCol="0" anchor="ctr"/>
          <a:lstStyle/>
          <a:p>
            <a:pPr indent="0" marL="0">
              <a:lnSpc>
                <a:spcPct val="95000"/>
              </a:lnSpc>
              <a:buNone/>
            </a:pPr>
            <a:r>
              <a:rPr lang="en-US" sz="1550" b="1" dirty="0">
                <a:solidFill>
                  <a:srgbClr val="FFFFFF"/>
                </a:solidFill>
                <a:latin typeface="Calibri" pitchFamily="34" charset="0"/>
                <a:ea typeface="Calibri" pitchFamily="34" charset="-122"/>
                <a:cs typeface="Calibri" pitchFamily="34" charset="-120"/>
              </a:rPr>
              <a:t>Permissions are a two-way door</a:t>
            </a:r>
            <a:endParaRPr lang="en-US" sz="1550" dirty="0"/>
          </a:p>
        </p:txBody>
      </p:sp>
      <p:sp>
        <p:nvSpPr>
          <p:cNvPr id="19" name="Text 13"/>
          <p:cNvSpPr/>
          <p:nvPr/>
        </p:nvSpPr>
        <p:spPr>
          <a:xfrm>
            <a:off x="1645920" y="4041648"/>
            <a:ext cx="3947008" cy="457200"/>
          </a:xfrm>
          <a:prstGeom prst="rect">
            <a:avLst/>
          </a:prstGeom>
          <a:noFill/>
          <a:ln/>
        </p:spPr>
        <p:txBody>
          <a:bodyPr wrap="square" lIns="0" tIns="0" rIns="0" bIns="0" rtlCol="0" anchor="ctr"/>
          <a:lstStyle/>
          <a:p>
            <a:pPr indent="0" marL="0">
              <a:lnSpc>
                <a:spcPct val="100000"/>
              </a:lnSpc>
              <a:buNone/>
            </a:pPr>
            <a:r>
              <a:rPr lang="en-US" sz="1250" dirty="0">
                <a:solidFill>
                  <a:srgbClr val="AEB4BF"/>
                </a:solidFill>
                <a:latin typeface="Calibri" pitchFamily="34" charset="0"/>
                <a:ea typeface="Calibri" pitchFamily="34" charset="-122"/>
                <a:cs typeface="Calibri" pitchFamily="34" charset="-120"/>
              </a:rPr>
              <a:t>and people forget the second one</a:t>
            </a:r>
            <a:endParaRPr lang="en-US" sz="1250" dirty="0"/>
          </a:p>
        </p:txBody>
      </p:sp>
      <p:sp>
        <p:nvSpPr>
          <p:cNvPr id="20" name="Shape 14"/>
          <p:cNvSpPr/>
          <p:nvPr/>
        </p:nvSpPr>
        <p:spPr>
          <a:xfrm>
            <a:off x="6370168" y="3383280"/>
            <a:ext cx="5227168" cy="1234440"/>
          </a:xfrm>
          <a:prstGeom prst="roundRect">
            <a:avLst>
              <a:gd name="adj" fmla="val 6667"/>
            </a:avLst>
          </a:prstGeom>
          <a:solidFill>
            <a:srgbClr val="1C1F27"/>
          </a:solidFill>
          <a:ln w="12700">
            <a:solidFill>
              <a:srgbClr val="2C313D"/>
            </a:solidFill>
            <a:prstDash val="solid"/>
          </a:ln>
        </p:spPr>
      </p:sp>
      <p:sp>
        <p:nvSpPr>
          <p:cNvPr id="21" name="Shape 15"/>
          <p:cNvSpPr/>
          <p:nvPr/>
        </p:nvSpPr>
        <p:spPr>
          <a:xfrm>
            <a:off x="6644488" y="3694176"/>
            <a:ext cx="603504" cy="603504"/>
          </a:xfrm>
          <a:prstGeom prst="ellipse">
            <a:avLst/>
          </a:prstGeom>
          <a:solidFill>
            <a:srgbClr val="2A2F3A"/>
          </a:solidFill>
          <a:ln/>
        </p:spPr>
      </p:sp>
      <p:pic>
        <p:nvPicPr>
          <p:cNvPr id="22" name="Image 4" descr="preencoded.png">    </p:cNvPr>
          <p:cNvPicPr>
            <a:picLocks noChangeAspect="1"/>
          </p:cNvPicPr>
          <p:nvPr/>
        </p:nvPicPr>
        <p:blipFill>
          <a:blip r:embed="rId5"/>
          <a:stretch>
            <a:fillRect/>
          </a:stretch>
        </p:blipFill>
        <p:spPr>
          <a:xfrm>
            <a:off x="6772504" y="3822192"/>
            <a:ext cx="347472" cy="347472"/>
          </a:xfrm>
          <a:prstGeom prst="rect">
            <a:avLst/>
          </a:prstGeom>
        </p:spPr>
      </p:pic>
      <p:sp>
        <p:nvSpPr>
          <p:cNvPr id="23" name="Text 16"/>
          <p:cNvSpPr/>
          <p:nvPr/>
        </p:nvSpPr>
        <p:spPr>
          <a:xfrm>
            <a:off x="7421728" y="3639312"/>
            <a:ext cx="3992728" cy="365760"/>
          </a:xfrm>
          <a:prstGeom prst="rect">
            <a:avLst/>
          </a:prstGeom>
          <a:noFill/>
          <a:ln/>
        </p:spPr>
        <p:txBody>
          <a:bodyPr wrap="square" lIns="0" tIns="0" rIns="0" bIns="0" rtlCol="0" anchor="ctr"/>
          <a:lstStyle/>
          <a:p>
            <a:pPr indent="0" marL="0">
              <a:lnSpc>
                <a:spcPct val="95000"/>
              </a:lnSpc>
              <a:buNone/>
            </a:pPr>
            <a:r>
              <a:rPr lang="en-US" sz="1550" b="1" dirty="0">
                <a:solidFill>
                  <a:srgbClr val="FFFFFF"/>
                </a:solidFill>
                <a:latin typeface="Calibri" pitchFamily="34" charset="0"/>
                <a:ea typeface="Calibri" pitchFamily="34" charset="-122"/>
                <a:cs typeface="Calibri" pitchFamily="34" charset="-120"/>
              </a:rPr>
              <a:t>Irreversible actions stay gated</a:t>
            </a:r>
            <a:endParaRPr lang="en-US" sz="1550" dirty="0"/>
          </a:p>
        </p:txBody>
      </p:sp>
      <p:sp>
        <p:nvSpPr>
          <p:cNvPr id="24" name="Text 17"/>
          <p:cNvSpPr/>
          <p:nvPr/>
        </p:nvSpPr>
        <p:spPr>
          <a:xfrm>
            <a:off x="7421728" y="4041648"/>
            <a:ext cx="3947008" cy="457200"/>
          </a:xfrm>
          <a:prstGeom prst="rect">
            <a:avLst/>
          </a:prstGeom>
          <a:noFill/>
          <a:ln/>
        </p:spPr>
        <p:txBody>
          <a:bodyPr wrap="square" lIns="0" tIns="0" rIns="0" bIns="0" rtlCol="0" anchor="ctr"/>
          <a:lstStyle/>
          <a:p>
            <a:pPr indent="0" marL="0">
              <a:lnSpc>
                <a:spcPct val="100000"/>
              </a:lnSpc>
              <a:buNone/>
            </a:pPr>
            <a:r>
              <a:rPr lang="en-US" sz="1250" dirty="0">
                <a:solidFill>
                  <a:srgbClr val="AEB4BF"/>
                </a:solidFill>
                <a:latin typeface="Calibri" pitchFamily="34" charset="0"/>
                <a:ea typeface="Calibri" pitchFamily="34" charset="-122"/>
                <a:cs typeface="Calibri" pitchFamily="34" charset="-120"/>
              </a:rPr>
              <a:t>by simply omitting the tool</a:t>
            </a:r>
            <a:endParaRPr lang="en-US" sz="1250" dirty="0"/>
          </a:p>
        </p:txBody>
      </p:sp>
      <p:sp>
        <p:nvSpPr>
          <p:cNvPr id="25" name="Shape 18"/>
          <p:cNvSpPr/>
          <p:nvPr/>
        </p:nvSpPr>
        <p:spPr>
          <a:xfrm>
            <a:off x="594360" y="5074920"/>
            <a:ext cx="11002975" cy="0"/>
          </a:xfrm>
          <a:prstGeom prst="line">
            <a:avLst/>
          </a:prstGeom>
          <a:noFill/>
          <a:ln w="12700">
            <a:solidFill>
              <a:srgbClr val="3A3F4B"/>
            </a:solidFill>
            <a:prstDash val="solid"/>
          </a:ln>
        </p:spPr>
      </p:sp>
      <p:sp>
        <p:nvSpPr>
          <p:cNvPr id="26" name="Text 19"/>
          <p:cNvSpPr/>
          <p:nvPr/>
        </p:nvSpPr>
        <p:spPr>
          <a:xfrm>
            <a:off x="594360" y="5257800"/>
            <a:ext cx="11002975" cy="822960"/>
          </a:xfrm>
          <a:prstGeom prst="rect">
            <a:avLst/>
          </a:prstGeom>
          <a:noFill/>
          <a:ln/>
        </p:spPr>
        <p:txBody>
          <a:bodyPr wrap="square" lIns="0" tIns="0" rIns="0" bIns="0" rtlCol="0" anchor="ctr"/>
          <a:lstStyle/>
          <a:p>
            <a:pPr algn="ctr" indent="0" marL="0">
              <a:buNone/>
            </a:pPr>
            <a:r>
              <a:rPr lang="en-US" sz="3200" b="1" i="1" dirty="0">
                <a:solidFill>
                  <a:srgbClr val="E4A45E"/>
                </a:solidFill>
                <a:latin typeface="Cambria" pitchFamily="34" charset="0"/>
                <a:ea typeface="Cambria" pitchFamily="34" charset="-122"/>
                <a:cs typeface="Cambria" pitchFamily="34" charset="-120"/>
              </a:rPr>
              <a:t>Learn the loop once.  </a:t>
            </a:r>
            <a:pPr algn="ctr" indent="0" marL="0">
              <a:buNone/>
            </a:pPr>
            <a:r>
              <a:rPr lang="en-US" sz="3200" b="1" i="1" dirty="0">
                <a:solidFill>
                  <a:srgbClr val="FFFFFF"/>
                </a:solidFill>
                <a:latin typeface="Cambria" pitchFamily="34" charset="0"/>
                <a:ea typeface="Cambria" pitchFamily="34" charset="-122"/>
                <a:cs typeface="Cambria" pitchFamily="34" charset="-120"/>
              </a:rPr>
              <a:t>Run it anywhere.</a:t>
            </a:r>
            <a:endParaRPr lang="en-US" sz="3200" dirty="0"/>
          </a:p>
        </p:txBody>
      </p:sp>
      <p:sp>
        <p:nvSpPr>
          <p:cNvPr id="27" name="Text 20"/>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The skills transfer</a:t>
            </a:r>
            <a:endParaRPr lang="en-US" sz="950" dirty="0"/>
          </a:p>
        </p:txBody>
      </p:sp>
      <p:sp>
        <p:nvSpPr>
          <p:cNvPr id="28" name="Text 21"/>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94360" y="457200"/>
            <a:ext cx="11002975" cy="274320"/>
          </a:xfrm>
          <a:prstGeom prst="rect">
            <a:avLst/>
          </a:prstGeom>
          <a:noFill/>
          <a:ln/>
        </p:spPr>
        <p:txBody>
          <a:bodyPr wrap="square" lIns="0" tIns="0" rIns="0" bIns="0" rtlCol="0" anchor="ctr"/>
          <a:lstStyle/>
          <a:p>
            <a:pPr algn="l" indent="0" marL="0">
              <a:buNone/>
            </a:pPr>
            <a:r>
              <a:rPr lang="en-US" sz="1200" b="1" spc="300" kern="0" dirty="0">
                <a:solidFill>
                  <a:srgbClr val="6A7280"/>
                </a:solidFill>
                <a:latin typeface="Calibri" pitchFamily="34" charset="0"/>
                <a:ea typeface="Calibri" pitchFamily="34" charset="-122"/>
                <a:cs typeface="Calibri" pitchFamily="34" charset="-120"/>
              </a:rPr>
              <a:t>NEXT SESSION</a:t>
            </a:r>
            <a:endParaRPr lang="en-US" sz="1200" dirty="0"/>
          </a:p>
        </p:txBody>
      </p:sp>
      <p:sp>
        <p:nvSpPr>
          <p:cNvPr id="3" name="Text 1"/>
          <p:cNvSpPr/>
          <p:nvPr/>
        </p:nvSpPr>
        <p:spPr>
          <a:xfrm>
            <a:off x="594360" y="731520"/>
            <a:ext cx="11002975" cy="822960"/>
          </a:xfrm>
          <a:prstGeom prst="rect">
            <a:avLst/>
          </a:prstGeom>
          <a:noFill/>
          <a:ln/>
        </p:spPr>
        <p:txBody>
          <a:bodyPr wrap="square" lIns="0" tIns="0" rIns="0" bIns="0" rtlCol="0" anchor="ctr"/>
          <a:lstStyle/>
          <a:p>
            <a:pPr algn="l" indent="0" marL="0">
              <a:lnSpc>
                <a:spcPct val="98000"/>
              </a:lnSpc>
              <a:buNone/>
            </a:pPr>
            <a:r>
              <a:rPr lang="en-US" sz="3300" b="1" dirty="0">
                <a:solidFill>
                  <a:srgbClr val="1A1D23"/>
                </a:solidFill>
                <a:latin typeface="Cambria" pitchFamily="34" charset="0"/>
                <a:ea typeface="Cambria" pitchFamily="34" charset="-122"/>
                <a:cs typeface="Cambria" pitchFamily="34" charset="-120"/>
              </a:rPr>
              <a:t>Give your agent something to read</a:t>
            </a:r>
            <a:endParaRPr lang="en-US" sz="3300" dirty="0"/>
          </a:p>
        </p:txBody>
      </p:sp>
      <p:sp>
        <p:nvSpPr>
          <p:cNvPr id="4" name="Text 2"/>
          <p:cNvSpPr/>
          <p:nvPr/>
        </p:nvSpPr>
        <p:spPr>
          <a:xfrm>
            <a:off x="594360" y="1417320"/>
            <a:ext cx="11002975" cy="457200"/>
          </a:xfrm>
          <a:prstGeom prst="rect">
            <a:avLst/>
          </a:prstGeom>
          <a:noFill/>
          <a:ln/>
        </p:spPr>
        <p:txBody>
          <a:bodyPr wrap="square" lIns="0" tIns="0" rIns="0" bIns="0" rtlCol="0" anchor="ctr"/>
          <a:lstStyle/>
          <a:p>
            <a:pPr algn="l" indent="0" marL="0">
              <a:buNone/>
            </a:pPr>
            <a:r>
              <a:rPr lang="en-US" sz="1500" i="1" dirty="0">
                <a:solidFill>
                  <a:srgbClr val="6A7280"/>
                </a:solidFill>
                <a:latin typeface="Calibri" pitchFamily="34" charset="0"/>
                <a:ea typeface="Calibri" pitchFamily="34" charset="-122"/>
                <a:cs typeface="Calibri" pitchFamily="34" charset="-120"/>
              </a:rPr>
              <a:t>Your agent can reason and act. Next it gets the optional fourth piece: a knowledge base.</a:t>
            </a:r>
            <a:endParaRPr lang="en-US" sz="1500" dirty="0"/>
          </a:p>
        </p:txBody>
      </p:sp>
      <p:sp>
        <p:nvSpPr>
          <p:cNvPr id="5" name="Shape 3"/>
          <p:cNvSpPr/>
          <p:nvPr/>
        </p:nvSpPr>
        <p:spPr>
          <a:xfrm>
            <a:off x="594360" y="2148840"/>
            <a:ext cx="2468880" cy="868680"/>
          </a:xfrm>
          <a:prstGeom prst="roundRect">
            <a:avLst>
              <a:gd name="adj" fmla="val 8421"/>
            </a:avLst>
          </a:prstGeom>
          <a:solidFill>
            <a:srgbClr val="14161C"/>
          </a:solidFill>
          <a:ln w="12700">
            <a:solidFill>
              <a:srgbClr val="E4E7EB"/>
            </a:solidFill>
            <a:prstDash val="solid"/>
          </a:ln>
          <a:effectLst>
            <a:outerShdw sx="100000" sy="100000" kx="0" ky="0" algn="bl" rotWithShape="0" blurRad="88900" dist="38100" dir="5400000">
              <a:srgbClr val="000000">
                <a:alpha val="8000"/>
              </a:srgbClr>
            </a:outerShdw>
          </a:effectLst>
        </p:spPr>
      </p:sp>
      <p:sp>
        <p:nvSpPr>
          <p:cNvPr id="6" name="Text 4"/>
          <p:cNvSpPr/>
          <p:nvPr/>
        </p:nvSpPr>
        <p:spPr>
          <a:xfrm>
            <a:off x="667512" y="2148840"/>
            <a:ext cx="2322576" cy="868680"/>
          </a:xfrm>
          <a:prstGeom prst="rect">
            <a:avLst/>
          </a:prstGeom>
          <a:noFill/>
          <a:ln/>
        </p:spPr>
        <p:txBody>
          <a:bodyPr wrap="square" lIns="0" tIns="0" rIns="0" bIns="0" rtlCol="0" anchor="ctr"/>
          <a:lstStyle/>
          <a:p>
            <a:pPr algn="ctr" indent="0" marL="0">
              <a:lnSpc>
                <a:spcPct val="98000"/>
              </a:lnSpc>
              <a:buNone/>
            </a:pPr>
            <a:r>
              <a:rPr lang="en-US" sz="1500" b="1" dirty="0">
                <a:solidFill>
                  <a:srgbClr val="FFFFFF"/>
                </a:solidFill>
                <a:latin typeface="Calibri" pitchFamily="34" charset="0"/>
                <a:ea typeface="Calibri" pitchFamily="34" charset="-122"/>
                <a:cs typeface="Calibri" pitchFamily="34" charset="-120"/>
              </a:rPr>
              <a:t>Agent</a:t>
            </a:r>
            <a:endParaRPr lang="en-US" sz="1500" dirty="0"/>
          </a:p>
        </p:txBody>
      </p:sp>
      <p:sp>
        <p:nvSpPr>
          <p:cNvPr id="7" name="Shape 5"/>
          <p:cNvSpPr/>
          <p:nvPr/>
        </p:nvSpPr>
        <p:spPr>
          <a:xfrm>
            <a:off x="3840480" y="2148840"/>
            <a:ext cx="2834640" cy="868680"/>
          </a:xfrm>
          <a:prstGeom prst="roundRect">
            <a:avLst>
              <a:gd name="adj" fmla="val 8421"/>
            </a:avLst>
          </a:prstGeom>
          <a:solidFill>
            <a:srgbClr val="FFFFFF"/>
          </a:solidFill>
          <a:ln w="12700">
            <a:solidFill>
              <a:srgbClr val="BE7017"/>
            </a:solidFill>
            <a:prstDash val="solid"/>
          </a:ln>
          <a:effectLst>
            <a:outerShdw sx="100000" sy="100000" kx="0" ky="0" algn="bl" rotWithShape="0" blurRad="88900" dist="38100" dir="5400000">
              <a:srgbClr val="000000">
                <a:alpha val="8000"/>
              </a:srgbClr>
            </a:outerShdw>
          </a:effectLst>
        </p:spPr>
      </p:sp>
      <p:sp>
        <p:nvSpPr>
          <p:cNvPr id="8" name="Text 6"/>
          <p:cNvSpPr/>
          <p:nvPr/>
        </p:nvSpPr>
        <p:spPr>
          <a:xfrm>
            <a:off x="3913632" y="2148840"/>
            <a:ext cx="2688336" cy="868680"/>
          </a:xfrm>
          <a:prstGeom prst="rect">
            <a:avLst/>
          </a:prstGeom>
          <a:noFill/>
          <a:ln/>
        </p:spPr>
        <p:txBody>
          <a:bodyPr wrap="square" lIns="0" tIns="0" rIns="0" bIns="0" rtlCol="0" anchor="ctr"/>
          <a:lstStyle/>
          <a:p>
            <a:pPr algn="ctr" indent="0" marL="0">
              <a:lnSpc>
                <a:spcPct val="98000"/>
              </a:lnSpc>
              <a:buNone/>
            </a:pPr>
            <a:r>
              <a:rPr lang="en-US" sz="1500" b="1" dirty="0">
                <a:solidFill>
                  <a:srgbClr val="1A1D23"/>
                </a:solidFill>
                <a:latin typeface="Calibri" pitchFamily="34" charset="0"/>
                <a:ea typeface="Calibri" pitchFamily="34" charset="-122"/>
                <a:cs typeface="Calibri" pitchFamily="34" charset="-120"/>
              </a:rPr>
              <a:t>Knowledge base</a:t>
            </a:r>
            <a:endParaRPr lang="en-US" sz="1500" dirty="0"/>
          </a:p>
        </p:txBody>
      </p:sp>
      <p:sp>
        <p:nvSpPr>
          <p:cNvPr id="9" name="Shape 7"/>
          <p:cNvSpPr/>
          <p:nvPr/>
        </p:nvSpPr>
        <p:spPr>
          <a:xfrm>
            <a:off x="7452360" y="2148840"/>
            <a:ext cx="4144975" cy="868680"/>
          </a:xfrm>
          <a:prstGeom prst="roundRect">
            <a:avLst>
              <a:gd name="adj" fmla="val 8421"/>
            </a:avLst>
          </a:prstGeom>
          <a:solidFill>
            <a:srgbClr val="E6EEE9"/>
          </a:solidFill>
          <a:ln w="12700">
            <a:solidFill>
              <a:srgbClr val="CFE0D6"/>
            </a:solidFill>
            <a:prstDash val="solid"/>
          </a:ln>
          <a:effectLst>
            <a:outerShdw sx="100000" sy="100000" kx="0" ky="0" algn="bl" rotWithShape="0" blurRad="88900" dist="38100" dir="5400000">
              <a:srgbClr val="000000">
                <a:alpha val="8000"/>
              </a:srgbClr>
            </a:outerShdw>
          </a:effectLst>
        </p:spPr>
      </p:sp>
      <p:sp>
        <p:nvSpPr>
          <p:cNvPr id="10" name="Text 8"/>
          <p:cNvSpPr/>
          <p:nvPr/>
        </p:nvSpPr>
        <p:spPr>
          <a:xfrm>
            <a:off x="7525512" y="2148840"/>
            <a:ext cx="3998671" cy="868680"/>
          </a:xfrm>
          <a:prstGeom prst="rect">
            <a:avLst/>
          </a:prstGeom>
          <a:noFill/>
          <a:ln/>
        </p:spPr>
        <p:txBody>
          <a:bodyPr wrap="square" lIns="0" tIns="0" rIns="0" bIns="0" rtlCol="0" anchor="ctr"/>
          <a:lstStyle/>
          <a:p>
            <a:pPr algn="ctr" indent="0" marL="0">
              <a:lnSpc>
                <a:spcPct val="98000"/>
              </a:lnSpc>
              <a:buNone/>
            </a:pPr>
            <a:r>
              <a:rPr lang="en-US" sz="1500" b="1" dirty="0">
                <a:solidFill>
                  <a:srgbClr val="3C7A5B"/>
                </a:solidFill>
                <a:latin typeface="Calibri" pitchFamily="34" charset="0"/>
                <a:ea typeface="Calibri" pitchFamily="34" charset="-122"/>
                <a:cs typeface="Calibri" pitchFamily="34" charset="-120"/>
              </a:rPr>
              <a:t>Grounded answer</a:t>
            </a:r>
            <a:endParaRPr lang="en-US" sz="1500" dirty="0"/>
          </a:p>
        </p:txBody>
      </p:sp>
      <p:sp>
        <p:nvSpPr>
          <p:cNvPr id="11" name="Shape 9"/>
          <p:cNvSpPr/>
          <p:nvPr/>
        </p:nvSpPr>
        <p:spPr>
          <a:xfrm>
            <a:off x="3108960" y="2583180"/>
            <a:ext cx="685800" cy="0"/>
          </a:xfrm>
          <a:prstGeom prst="line">
            <a:avLst/>
          </a:prstGeom>
          <a:noFill/>
          <a:ln w="25400">
            <a:solidFill>
              <a:srgbClr val="BE7017"/>
            </a:solidFill>
            <a:prstDash val="solid"/>
            <a:tailEnd type="triangle"/>
          </a:ln>
        </p:spPr>
      </p:sp>
      <p:sp>
        <p:nvSpPr>
          <p:cNvPr id="12" name="Shape 10"/>
          <p:cNvSpPr/>
          <p:nvPr/>
        </p:nvSpPr>
        <p:spPr>
          <a:xfrm>
            <a:off x="6720840" y="2583180"/>
            <a:ext cx="685800" cy="0"/>
          </a:xfrm>
          <a:prstGeom prst="line">
            <a:avLst/>
          </a:prstGeom>
          <a:noFill/>
          <a:ln w="25400">
            <a:solidFill>
              <a:srgbClr val="BE7017"/>
            </a:solidFill>
            <a:prstDash val="solid"/>
            <a:tailEnd type="triangle"/>
          </a:ln>
        </p:spPr>
      </p:sp>
      <p:sp>
        <p:nvSpPr>
          <p:cNvPr id="13" name="Text 11"/>
          <p:cNvSpPr/>
          <p:nvPr/>
        </p:nvSpPr>
        <p:spPr>
          <a:xfrm>
            <a:off x="2971800" y="1856232"/>
            <a:ext cx="1005840" cy="237744"/>
          </a:xfrm>
          <a:prstGeom prst="rect">
            <a:avLst/>
          </a:prstGeom>
          <a:noFill/>
          <a:ln/>
        </p:spPr>
        <p:txBody>
          <a:bodyPr wrap="square" lIns="0" tIns="0" rIns="0" bIns="0" rtlCol="0" anchor="ctr"/>
          <a:lstStyle/>
          <a:p>
            <a:pPr algn="ctr" indent="0" marL="0">
              <a:buNone/>
            </a:pPr>
            <a:r>
              <a:rPr lang="en-US" sz="1050" dirty="0">
                <a:solidFill>
                  <a:srgbClr val="BE7017"/>
                </a:solidFill>
                <a:latin typeface="Courier New" pitchFamily="34" charset="0"/>
                <a:ea typeface="Courier New" pitchFamily="34" charset="-122"/>
                <a:cs typeface="Courier New" pitchFamily="34" charset="-120"/>
              </a:rPr>
              <a:t>retrieve</a:t>
            </a:r>
            <a:endParaRPr lang="en-US" sz="1050" dirty="0"/>
          </a:p>
        </p:txBody>
      </p:sp>
      <p:sp>
        <p:nvSpPr>
          <p:cNvPr id="14" name="Text 12"/>
          <p:cNvSpPr/>
          <p:nvPr/>
        </p:nvSpPr>
        <p:spPr>
          <a:xfrm>
            <a:off x="3840480" y="3072384"/>
            <a:ext cx="2834640" cy="237744"/>
          </a:xfrm>
          <a:prstGeom prst="rect">
            <a:avLst/>
          </a:prstGeom>
          <a:noFill/>
          <a:ln/>
        </p:spPr>
        <p:txBody>
          <a:bodyPr wrap="square" lIns="0" tIns="0" rIns="0" bIns="0" rtlCol="0" anchor="ctr"/>
          <a:lstStyle/>
          <a:p>
            <a:pPr algn="ctr" indent="0" marL="0">
              <a:buNone/>
            </a:pPr>
            <a:r>
              <a:rPr lang="en-US" sz="1050" i="1" dirty="0">
                <a:solidFill>
                  <a:srgbClr val="6A7280"/>
                </a:solidFill>
                <a:latin typeface="Calibri" pitchFamily="34" charset="0"/>
                <a:ea typeface="Calibri" pitchFamily="34" charset="-122"/>
                <a:cs typeface="Calibri" pitchFamily="34" charset="-120"/>
              </a:rPr>
              <a:t>your documents, chunked and embedded</a:t>
            </a:r>
            <a:endParaRPr lang="en-US" sz="1050" dirty="0"/>
          </a:p>
        </p:txBody>
      </p:sp>
      <p:sp>
        <p:nvSpPr>
          <p:cNvPr id="15" name="Shape 13"/>
          <p:cNvSpPr/>
          <p:nvPr/>
        </p:nvSpPr>
        <p:spPr>
          <a:xfrm>
            <a:off x="594360" y="3749040"/>
            <a:ext cx="3454298" cy="1600200"/>
          </a:xfrm>
          <a:prstGeom prst="roundRect">
            <a:avLst>
              <a:gd name="adj" fmla="val 5143"/>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16" name="Shape 14"/>
          <p:cNvSpPr/>
          <p:nvPr/>
        </p:nvSpPr>
        <p:spPr>
          <a:xfrm>
            <a:off x="868680" y="4005072"/>
            <a:ext cx="548640" cy="548640"/>
          </a:xfrm>
          <a:prstGeom prst="ellipse">
            <a:avLst/>
          </a:prstGeom>
          <a:solidFill>
            <a:srgbClr val="F5EAD8"/>
          </a:solidFill>
          <a:ln/>
        </p:spPr>
      </p:sp>
      <p:pic>
        <p:nvPicPr>
          <p:cNvPr id="17" name="Image 0" descr="preencoded.png">    </p:cNvPr>
          <p:cNvPicPr>
            <a:picLocks noChangeAspect="1"/>
          </p:cNvPicPr>
          <p:nvPr/>
        </p:nvPicPr>
        <p:blipFill>
          <a:blip r:embed="rId1"/>
          <a:stretch>
            <a:fillRect/>
          </a:stretch>
        </p:blipFill>
        <p:spPr>
          <a:xfrm>
            <a:off x="972922" y="4109314"/>
            <a:ext cx="340157" cy="340157"/>
          </a:xfrm>
          <a:prstGeom prst="rect">
            <a:avLst/>
          </a:prstGeom>
        </p:spPr>
      </p:pic>
      <p:sp>
        <p:nvSpPr>
          <p:cNvPr id="18" name="Text 15"/>
          <p:cNvSpPr/>
          <p:nvPr/>
        </p:nvSpPr>
        <p:spPr>
          <a:xfrm>
            <a:off x="1554480" y="4041648"/>
            <a:ext cx="2357018" cy="365760"/>
          </a:xfrm>
          <a:prstGeom prst="rect">
            <a:avLst/>
          </a:prstGeom>
          <a:noFill/>
          <a:ln/>
        </p:spPr>
        <p:txBody>
          <a:bodyPr wrap="square" lIns="0" tIns="0" rIns="0" bIns="0" rtlCol="0" anchor="ctr"/>
          <a:lstStyle/>
          <a:p>
            <a:pPr indent="0" marL="0">
              <a:buNone/>
            </a:pPr>
            <a:r>
              <a:rPr lang="en-US" sz="1500" b="1" dirty="0">
                <a:solidFill>
                  <a:srgbClr val="1A1D23"/>
                </a:solidFill>
                <a:latin typeface="Calibri" pitchFamily="34" charset="0"/>
                <a:ea typeface="Calibri" pitchFamily="34" charset="-122"/>
                <a:cs typeface="Calibri" pitchFamily="34" charset="-120"/>
              </a:rPr>
              <a:t>What it is</a:t>
            </a:r>
            <a:endParaRPr lang="en-US" sz="1500" dirty="0"/>
          </a:p>
        </p:txBody>
      </p:sp>
      <p:sp>
        <p:nvSpPr>
          <p:cNvPr id="19" name="Text 16"/>
          <p:cNvSpPr/>
          <p:nvPr/>
        </p:nvSpPr>
        <p:spPr>
          <a:xfrm>
            <a:off x="868680" y="4617720"/>
            <a:ext cx="2951378" cy="658368"/>
          </a:xfrm>
          <a:prstGeom prst="rect">
            <a:avLst/>
          </a:prstGeom>
          <a:noFill/>
          <a:ln/>
        </p:spPr>
        <p:txBody>
          <a:bodyPr wrap="square" lIns="0" tIns="0" rIns="0" bIns="0" rtlCol="0" anchor="ctr"/>
          <a:lstStyle/>
          <a:p>
            <a:pPr indent="0" marL="0">
              <a:lnSpc>
                <a:spcPct val="102000"/>
              </a:lnSpc>
              <a:buNone/>
            </a:pPr>
            <a:r>
              <a:rPr lang="en-US" sz="1250" dirty="0">
                <a:solidFill>
                  <a:srgbClr val="6A7280"/>
                </a:solidFill>
                <a:latin typeface="Calibri" pitchFamily="34" charset="0"/>
                <a:ea typeface="Calibri" pitchFamily="34" charset="-122"/>
                <a:cs typeface="Calibri" pitchFamily="34" charset="-120"/>
              </a:rPr>
              <a:t>retrieval over your own documents, so the agent cites facts instead of guessing them</a:t>
            </a:r>
            <a:endParaRPr lang="en-US" sz="1250" dirty="0"/>
          </a:p>
        </p:txBody>
      </p:sp>
      <p:sp>
        <p:nvSpPr>
          <p:cNvPr id="20" name="Shape 17"/>
          <p:cNvSpPr/>
          <p:nvPr/>
        </p:nvSpPr>
        <p:spPr>
          <a:xfrm>
            <a:off x="4368698" y="3749040"/>
            <a:ext cx="3454298" cy="1600200"/>
          </a:xfrm>
          <a:prstGeom prst="roundRect">
            <a:avLst>
              <a:gd name="adj" fmla="val 5143"/>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21" name="Shape 18"/>
          <p:cNvSpPr/>
          <p:nvPr/>
        </p:nvSpPr>
        <p:spPr>
          <a:xfrm>
            <a:off x="4643018" y="4005072"/>
            <a:ext cx="548640" cy="548640"/>
          </a:xfrm>
          <a:prstGeom prst="ellipse">
            <a:avLst/>
          </a:prstGeom>
          <a:solidFill>
            <a:srgbClr val="F5EAD8"/>
          </a:solidFill>
          <a:ln/>
        </p:spPr>
      </p:sp>
      <p:pic>
        <p:nvPicPr>
          <p:cNvPr id="22" name="Image 1" descr="preencoded.png">    </p:cNvPr>
          <p:cNvPicPr>
            <a:picLocks noChangeAspect="1"/>
          </p:cNvPicPr>
          <p:nvPr/>
        </p:nvPicPr>
        <p:blipFill>
          <a:blip r:embed="rId2"/>
          <a:stretch>
            <a:fillRect/>
          </a:stretch>
        </p:blipFill>
        <p:spPr>
          <a:xfrm>
            <a:off x="4747260" y="4109314"/>
            <a:ext cx="340157" cy="340157"/>
          </a:xfrm>
          <a:prstGeom prst="rect">
            <a:avLst/>
          </a:prstGeom>
        </p:spPr>
      </p:pic>
      <p:sp>
        <p:nvSpPr>
          <p:cNvPr id="23" name="Text 19"/>
          <p:cNvSpPr/>
          <p:nvPr/>
        </p:nvSpPr>
        <p:spPr>
          <a:xfrm>
            <a:off x="5328818" y="4041648"/>
            <a:ext cx="2357018" cy="365760"/>
          </a:xfrm>
          <a:prstGeom prst="rect">
            <a:avLst/>
          </a:prstGeom>
          <a:noFill/>
          <a:ln/>
        </p:spPr>
        <p:txBody>
          <a:bodyPr wrap="square" lIns="0" tIns="0" rIns="0" bIns="0" rtlCol="0" anchor="ctr"/>
          <a:lstStyle/>
          <a:p>
            <a:pPr indent="0" marL="0">
              <a:buNone/>
            </a:pPr>
            <a:r>
              <a:rPr lang="en-US" sz="1500" b="1" dirty="0">
                <a:solidFill>
                  <a:srgbClr val="1A1D23"/>
                </a:solidFill>
                <a:latin typeface="Calibri" pitchFamily="34" charset="0"/>
                <a:ea typeface="Calibri" pitchFamily="34" charset="-122"/>
                <a:cs typeface="Calibri" pitchFamily="34" charset="-120"/>
              </a:rPr>
              <a:t>The options you choose</a:t>
            </a:r>
            <a:endParaRPr lang="en-US" sz="1500" dirty="0"/>
          </a:p>
        </p:txBody>
      </p:sp>
      <p:sp>
        <p:nvSpPr>
          <p:cNvPr id="24" name="Text 20"/>
          <p:cNvSpPr/>
          <p:nvPr/>
        </p:nvSpPr>
        <p:spPr>
          <a:xfrm>
            <a:off x="4643018" y="4617720"/>
            <a:ext cx="2951378" cy="658368"/>
          </a:xfrm>
          <a:prstGeom prst="rect">
            <a:avLst/>
          </a:prstGeom>
          <a:noFill/>
          <a:ln/>
        </p:spPr>
        <p:txBody>
          <a:bodyPr wrap="square" lIns="0" tIns="0" rIns="0" bIns="0" rtlCol="0" anchor="ctr"/>
          <a:lstStyle/>
          <a:p>
            <a:pPr indent="0" marL="0">
              <a:lnSpc>
                <a:spcPct val="102000"/>
              </a:lnSpc>
              <a:buNone/>
            </a:pPr>
            <a:r>
              <a:rPr lang="en-US" sz="1250" dirty="0">
                <a:solidFill>
                  <a:srgbClr val="6A7280"/>
                </a:solidFill>
                <a:latin typeface="Calibri" pitchFamily="34" charset="0"/>
                <a:ea typeface="Calibri" pitchFamily="34" charset="-122"/>
                <a:cs typeface="Calibri" pitchFamily="34" charset="-120"/>
              </a:rPr>
              <a:t>the data source, how documents are chunked, and where the vectors live</a:t>
            </a:r>
            <a:endParaRPr lang="en-US" sz="1250" dirty="0"/>
          </a:p>
        </p:txBody>
      </p:sp>
      <p:sp>
        <p:nvSpPr>
          <p:cNvPr id="25" name="Shape 21"/>
          <p:cNvSpPr/>
          <p:nvPr/>
        </p:nvSpPr>
        <p:spPr>
          <a:xfrm>
            <a:off x="8143037" y="3749040"/>
            <a:ext cx="3454298" cy="1600200"/>
          </a:xfrm>
          <a:prstGeom prst="roundRect">
            <a:avLst>
              <a:gd name="adj" fmla="val 5143"/>
            </a:avLst>
          </a:prstGeom>
          <a:solidFill>
            <a:srgbClr val="FFFFFF"/>
          </a:solidFill>
          <a:ln w="12700">
            <a:solidFill>
              <a:srgbClr val="E4E7EB"/>
            </a:solidFill>
            <a:prstDash val="solid"/>
          </a:ln>
          <a:effectLst>
            <a:outerShdw sx="100000" sy="100000" kx="0" ky="0" algn="bl" rotWithShape="0" blurRad="114300" dist="38100" dir="5400000">
              <a:srgbClr val="000000">
                <a:alpha val="10000"/>
              </a:srgbClr>
            </a:outerShdw>
          </a:effectLst>
        </p:spPr>
      </p:sp>
      <p:sp>
        <p:nvSpPr>
          <p:cNvPr id="26" name="Shape 22"/>
          <p:cNvSpPr/>
          <p:nvPr/>
        </p:nvSpPr>
        <p:spPr>
          <a:xfrm>
            <a:off x="8417357" y="4005072"/>
            <a:ext cx="548640" cy="548640"/>
          </a:xfrm>
          <a:prstGeom prst="ellipse">
            <a:avLst/>
          </a:prstGeom>
          <a:solidFill>
            <a:srgbClr val="F5EAD8"/>
          </a:solidFill>
          <a:ln/>
        </p:spPr>
      </p:sp>
      <p:pic>
        <p:nvPicPr>
          <p:cNvPr id="27" name="Image 2" descr="preencoded.png">    </p:cNvPr>
          <p:cNvPicPr>
            <a:picLocks noChangeAspect="1"/>
          </p:cNvPicPr>
          <p:nvPr/>
        </p:nvPicPr>
        <p:blipFill>
          <a:blip r:embed="rId3"/>
          <a:stretch>
            <a:fillRect/>
          </a:stretch>
        </p:blipFill>
        <p:spPr>
          <a:xfrm>
            <a:off x="8521598" y="4109314"/>
            <a:ext cx="340157" cy="340157"/>
          </a:xfrm>
          <a:prstGeom prst="rect">
            <a:avLst/>
          </a:prstGeom>
        </p:spPr>
      </p:pic>
      <p:sp>
        <p:nvSpPr>
          <p:cNvPr id="28" name="Text 23"/>
          <p:cNvSpPr/>
          <p:nvPr/>
        </p:nvSpPr>
        <p:spPr>
          <a:xfrm>
            <a:off x="9103157" y="4041648"/>
            <a:ext cx="2357018" cy="365760"/>
          </a:xfrm>
          <a:prstGeom prst="rect">
            <a:avLst/>
          </a:prstGeom>
          <a:noFill/>
          <a:ln/>
        </p:spPr>
        <p:txBody>
          <a:bodyPr wrap="square" lIns="0" tIns="0" rIns="0" bIns="0" rtlCol="0" anchor="ctr"/>
          <a:lstStyle/>
          <a:p>
            <a:pPr indent="0" marL="0">
              <a:buNone/>
            </a:pPr>
            <a:r>
              <a:rPr lang="en-US" sz="1500" b="1" dirty="0">
                <a:solidFill>
                  <a:srgbClr val="1A1D23"/>
                </a:solidFill>
                <a:latin typeface="Calibri" pitchFamily="34" charset="0"/>
                <a:ea typeface="Calibri" pitchFamily="34" charset="-122"/>
                <a:cs typeface="Calibri" pitchFamily="34" charset="-120"/>
              </a:rPr>
              <a:t>Real use cases, not toys</a:t>
            </a:r>
            <a:endParaRPr lang="en-US" sz="1500" dirty="0"/>
          </a:p>
        </p:txBody>
      </p:sp>
      <p:sp>
        <p:nvSpPr>
          <p:cNvPr id="29" name="Text 24"/>
          <p:cNvSpPr/>
          <p:nvPr/>
        </p:nvSpPr>
        <p:spPr>
          <a:xfrm>
            <a:off x="8417357" y="4617720"/>
            <a:ext cx="2951378" cy="658368"/>
          </a:xfrm>
          <a:prstGeom prst="rect">
            <a:avLst/>
          </a:prstGeom>
          <a:noFill/>
          <a:ln/>
        </p:spPr>
        <p:txBody>
          <a:bodyPr wrap="square" lIns="0" tIns="0" rIns="0" bIns="0" rtlCol="0" anchor="ctr"/>
          <a:lstStyle/>
          <a:p>
            <a:pPr indent="0" marL="0">
              <a:lnSpc>
                <a:spcPct val="102000"/>
              </a:lnSpc>
              <a:buNone/>
            </a:pPr>
            <a:r>
              <a:rPr lang="en-US" sz="1250" dirty="0">
                <a:solidFill>
                  <a:srgbClr val="6A7280"/>
                </a:solidFill>
                <a:latin typeface="Calibri" pitchFamily="34" charset="0"/>
                <a:ea typeface="Calibri" pitchFamily="34" charset="-122"/>
                <a:cs typeface="Calibri" pitchFamily="34" charset="-120"/>
              </a:rPr>
              <a:t>fare rules, disruption playbooks, and policy documents the agent must not invent</a:t>
            </a:r>
            <a:endParaRPr lang="en-US" sz="1250" dirty="0"/>
          </a:p>
        </p:txBody>
      </p:sp>
      <p:sp>
        <p:nvSpPr>
          <p:cNvPr id="30" name="Shape 25"/>
          <p:cNvSpPr/>
          <p:nvPr/>
        </p:nvSpPr>
        <p:spPr>
          <a:xfrm>
            <a:off x="594360" y="5669280"/>
            <a:ext cx="11002975" cy="658368"/>
          </a:xfrm>
          <a:prstGeom prst="roundRect">
            <a:avLst>
              <a:gd name="adj" fmla="val 11111"/>
            </a:avLst>
          </a:prstGeom>
          <a:solidFill>
            <a:srgbClr val="14161C"/>
          </a:solidFill>
          <a:ln/>
        </p:spPr>
      </p:sp>
      <p:pic>
        <p:nvPicPr>
          <p:cNvPr id="31" name="Image 3" descr="preencoded.png">    </p:cNvPr>
          <p:cNvPicPr>
            <a:picLocks noChangeAspect="1"/>
          </p:cNvPicPr>
          <p:nvPr/>
        </p:nvPicPr>
        <p:blipFill>
          <a:blip r:embed="rId4"/>
          <a:stretch>
            <a:fillRect/>
          </a:stretch>
        </p:blipFill>
        <p:spPr>
          <a:xfrm>
            <a:off x="886968" y="5870448"/>
            <a:ext cx="274320" cy="274320"/>
          </a:xfrm>
          <a:prstGeom prst="rect">
            <a:avLst/>
          </a:prstGeom>
        </p:spPr>
      </p:pic>
      <p:sp>
        <p:nvSpPr>
          <p:cNvPr id="32" name="Text 26"/>
          <p:cNvSpPr/>
          <p:nvPr/>
        </p:nvSpPr>
        <p:spPr>
          <a:xfrm>
            <a:off x="1371600" y="5669280"/>
            <a:ext cx="9905695" cy="658368"/>
          </a:xfrm>
          <a:prstGeom prst="rect">
            <a:avLst/>
          </a:prstGeom>
          <a:noFill/>
          <a:ln/>
        </p:spPr>
        <p:txBody>
          <a:bodyPr wrap="square" lIns="0" tIns="0" rIns="0" bIns="0" rtlCol="0" anchor="ctr"/>
          <a:lstStyle/>
          <a:p>
            <a:pPr indent="0" marL="0">
              <a:lnSpc>
                <a:spcPct val="102000"/>
              </a:lnSpc>
              <a:buNone/>
            </a:pPr>
            <a:r>
              <a:rPr lang="en-US" sz="1400" b="1" dirty="0">
                <a:solidFill>
                  <a:srgbClr val="FFFFFF"/>
                </a:solidFill>
                <a:latin typeface="Calibri" pitchFamily="34" charset="0"/>
                <a:ea typeface="Calibri" pitchFamily="34" charset="-122"/>
                <a:cs typeface="Calibri" pitchFamily="34" charset="-120"/>
              </a:rPr>
              <a:t>Next: you get your hands dirty.  </a:t>
            </a:r>
            <a:pPr indent="0" marL="0">
              <a:lnSpc>
                <a:spcPct val="102000"/>
              </a:lnSpc>
              <a:buNone/>
            </a:pPr>
            <a:r>
              <a:rPr lang="en-US" sz="1400" dirty="0">
                <a:solidFill>
                  <a:srgbClr val="C7CBD3"/>
                </a:solidFill>
                <a:latin typeface="Calibri" pitchFamily="34" charset="0"/>
                <a:ea typeface="Calibri" pitchFamily="34" charset="-122"/>
                <a:cs typeface="Calibri" pitchFamily="34" charset="-120"/>
              </a:rPr>
              <a:t>Point a knowledge base at real documents and watch the same agent stop guessing.</a:t>
            </a:r>
            <a:endParaRPr lang="en-US" sz="1400" dirty="0"/>
          </a:p>
        </p:txBody>
      </p:sp>
      <p:sp>
        <p:nvSpPr>
          <p:cNvPr id="33" name="Text 27"/>
          <p:cNvSpPr/>
          <p:nvPr/>
        </p:nvSpPr>
        <p:spPr>
          <a:xfrm>
            <a:off x="594360" y="6473952"/>
            <a:ext cx="10454335" cy="256032"/>
          </a:xfrm>
          <a:prstGeom prst="rect">
            <a:avLst/>
          </a:prstGeom>
          <a:noFill/>
          <a:ln/>
        </p:spPr>
        <p:txBody>
          <a:bodyPr wrap="square" lIns="0" tIns="0" rIns="0" bIns="0" rtlCol="0" anchor="ctr"/>
          <a:lstStyle/>
          <a:p>
            <a:pPr algn="l" indent="0" marL="0">
              <a:buNone/>
            </a:pPr>
            <a:r>
              <a:rPr lang="en-US" sz="950" dirty="0">
                <a:solidFill>
                  <a:srgbClr val="9AA1AB"/>
                </a:solidFill>
                <a:latin typeface="Calibri" pitchFamily="34" charset="0"/>
                <a:ea typeface="Calibri" pitchFamily="34" charset="-122"/>
                <a:cs typeface="Calibri" pitchFamily="34" charset="-120"/>
              </a:rPr>
              <a:t>TravelMind · Agent Builder</a:t>
            </a:r>
            <a:pPr algn="l" indent="0" marL="0">
              <a:buNone/>
            </a:pPr>
            <a:r>
              <a:rPr lang="en-US" sz="950" dirty="0">
                <a:solidFill>
                  <a:srgbClr val="E4E7EB"/>
                </a:solidFill>
                <a:latin typeface="Calibri" pitchFamily="34" charset="0"/>
                <a:ea typeface="Calibri" pitchFamily="34" charset="-122"/>
                <a:cs typeface="Calibri" pitchFamily="34" charset="-120"/>
              </a:rPr>
              <a:t>   ·   </a:t>
            </a:r>
            <a:pPr algn="l" indent="0" marL="0">
              <a:buNone/>
            </a:pPr>
            <a:r>
              <a:rPr lang="en-US" sz="950" dirty="0">
                <a:solidFill>
                  <a:srgbClr val="6A7280"/>
                </a:solidFill>
                <a:latin typeface="Calibri" pitchFamily="34" charset="0"/>
                <a:ea typeface="Calibri" pitchFamily="34" charset="-122"/>
                <a:cs typeface="Calibri" pitchFamily="34" charset="-120"/>
              </a:rPr>
              <a:t>Next: knowledge bases</a:t>
            </a:r>
            <a:endParaRPr lang="en-US" sz="950" dirty="0"/>
          </a:p>
        </p:txBody>
      </p:sp>
      <p:sp>
        <p:nvSpPr>
          <p:cNvPr id="34" name="Text 28"/>
          <p:cNvSpPr/>
          <p:nvPr/>
        </p:nvSpPr>
        <p:spPr>
          <a:xfrm>
            <a:off x="11185855" y="6473952"/>
            <a:ext cx="457200" cy="256032"/>
          </a:xfrm>
          <a:prstGeom prst="rect">
            <a:avLst/>
          </a:prstGeom>
          <a:noFill/>
          <a:ln/>
        </p:spPr>
        <p:txBody>
          <a:bodyPr wrap="square" lIns="0" tIns="0" rIns="0" bIns="0" rtlCol="0" anchor="ctr"/>
          <a:lstStyle/>
          <a:p>
            <a:pPr algn="r" indent="0" marL="0">
              <a:buNone/>
            </a:pPr>
            <a:r>
              <a:rPr lang="en-US" sz="950" dirty="0">
                <a:solidFill>
                  <a:srgbClr val="6A7280"/>
                </a:solidFill>
                <a:latin typeface="Calibri" pitchFamily="34" charset="0"/>
                <a:ea typeface="Calibri" pitchFamily="34" charset="-122"/>
                <a:cs typeface="Calibri" pitchFamily="34" charset="-120"/>
              </a:rPr>
              <a:t>20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TravelMind on Agent Builder — Day 5</dc:title>
  <dc:subject>PptxGenJS Presentation</dc:subject>
  <dc:creator>Akash Das</dc:creator>
  <cp:lastModifiedBy>Akash Das</cp:lastModifiedBy>
  <cp:revision>1</cp:revision>
  <dcterms:created xsi:type="dcterms:W3CDTF">2026-07-01T05:19:18Z</dcterms:created>
  <dcterms:modified xsi:type="dcterms:W3CDTF">2026-07-01T05:19:18Z</dcterms:modified>
</cp:coreProperties>
</file>