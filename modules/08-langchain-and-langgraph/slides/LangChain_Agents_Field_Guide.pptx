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01168" cy="20116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2062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·  FIELD GUIDE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47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Agents, End to End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75488" y="416052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kind of agent, from a bare model to multi-agent graphs. Built in LangChain 1.0, compared line for line against Strands. One scenario throughout: TravelMind airline support.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" y="5806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 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us.anthropic.claude-haiku-4-5  ·  us-east-1  ·  PNR JX48Q2 (Rao, Gold, BLR-DEL cancelled)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this deck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type gets the same six-part treatment. Same rhythm each time, so the new idea is the only thing you have to track.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566160" cy="1554480"/>
          </a:xfrm>
          <a:prstGeom prst="roundRect">
            <a:avLst>
              <a:gd name="adj" fmla="val 41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Premise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2542032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agent is for, in one 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79392" y="1828800"/>
            <a:ext cx="3566160" cy="1554480"/>
          </a:xfrm>
          <a:prstGeom prst="roundRect">
            <a:avLst>
              <a:gd name="adj" fmla="val 41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What is new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80560" y="2542032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capability added vs the last 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01584" y="1828800"/>
            <a:ext cx="3566160" cy="1554480"/>
          </a:xfrm>
          <a:prstGeom prst="roundRect">
            <a:avLst>
              <a:gd name="adj" fmla="val 41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02752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Anatomy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02752" y="2542032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diagram of the moving parts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675888"/>
            <a:ext cx="3566160" cy="1554480"/>
          </a:xfrm>
          <a:prstGeom prst="roundRect">
            <a:avLst>
              <a:gd name="adj" fmla="val 41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" y="3858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Where it fits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" y="4389120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slot in a larger system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79392" y="3675888"/>
            <a:ext cx="3566160" cy="1554480"/>
          </a:xfrm>
          <a:prstGeom prst="roundRect">
            <a:avLst>
              <a:gd name="adj" fmla="val 41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80560" y="3858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Code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4389120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1.0 and Strands, side by side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01584" y="3675888"/>
            <a:ext cx="3566160" cy="1554480"/>
          </a:xfrm>
          <a:prstGeom prst="roundRect">
            <a:avLst>
              <a:gd name="adj" fmla="val 41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02752" y="3858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 Live output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2752" y="4389120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actually prints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code lines</a:t>
            </a:r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mark exactly what changed from the previous agent.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LangChain 1.0 vs Strands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DNA: model plus tools, running a loop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is named for the twin strands of DNA: model and tools. LangChain wraps the same pair. Every agent in this deck is a variation on this one loop. What changes is the tools and who coordinates them.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2697480"/>
            <a:ext cx="5486400" cy="2788920"/>
          </a:xfrm>
          <a:prstGeom prst="roundRect">
            <a:avLst>
              <a:gd name="adj" fmla="val 2295"/>
            </a:avLst>
          </a:prstGeom>
          <a:solidFill>
            <a:srgbClr val="E0F2F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frameworks, one idea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= a model that can call tools in a loop until it has an answer.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reasons. Tools touch the world. The runtime runs the loop. You stop writing that loop by hand.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75120" y="1965960"/>
            <a:ext cx="14630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02552" y="1965960"/>
            <a:ext cx="1408176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goal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595360" y="1965960"/>
            <a:ext cx="2194560" cy="64008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778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22792" y="1965960"/>
            <a:ext cx="2139696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plans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38160" y="2286000"/>
            <a:ext cx="45720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595360" y="3200400"/>
            <a:ext cx="21945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22792" y="3200400"/>
            <a:ext cx="2139696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692640" y="2606040"/>
            <a:ext cx="0" cy="59436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37960" y="320040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778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3200400"/>
            <a:ext cx="1682496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tool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75320" y="3520440"/>
            <a:ext cx="32004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triangl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8138160" y="2953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06640" y="2606040"/>
            <a:ext cx="0" cy="59436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406640" y="2606040"/>
            <a:ext cx="118872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492240" y="278892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595360" y="4434840"/>
            <a:ext cx="2194560" cy="64008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778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22792" y="4434840"/>
            <a:ext cx="2139696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92640" y="3840480"/>
            <a:ext cx="0" cy="59436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9784080" y="3886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75120" y="5257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loop is universal. The next 8 agents change only the toolbox and who coordinates it.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LangChain 1.0 vs Strands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ladder: nine agents, rising complexity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left to right. Each rung adds exactly one capability. You rarely need the top rungs, so learn the bottom ones cold.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36576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2093976"/>
            <a:ext cx="402336" cy="40233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2093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70432" y="202082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agent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70432" y="23317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935224"/>
            <a:ext cx="36576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" y="3154680"/>
            <a:ext cx="402336" cy="40233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70432" y="3081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built-in tool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70432" y="33924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capability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995928"/>
            <a:ext cx="36576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4215384"/>
            <a:ext cx="402336" cy="40233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4215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142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tools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70432" y="44531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chooses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16552" y="1874520"/>
            <a:ext cx="36576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81144" y="2093976"/>
            <a:ext cx="402336" cy="40233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4581144" y="2093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29784" y="202082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+ custom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129784" y="23317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both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16552" y="2935224"/>
            <a:ext cx="36576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81144" y="3154680"/>
            <a:ext cx="402336" cy="40233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4581144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9784" y="3081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 a tool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129784" y="33924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nesting begins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416552" y="3995928"/>
            <a:ext cx="3657600" cy="841248"/>
          </a:xfrm>
          <a:prstGeom prst="roundRect">
            <a:avLst>
              <a:gd name="adj" fmla="val 7609"/>
            </a:avLst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81144" y="4215384"/>
            <a:ext cx="402336" cy="402336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31" name="Text 29"/>
          <p:cNvSpPr/>
          <p:nvPr/>
        </p:nvSpPr>
        <p:spPr>
          <a:xfrm>
            <a:off x="4581144" y="4215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29784" y="4142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5129784" y="44531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delegation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375904" y="1874520"/>
            <a:ext cx="3657600" cy="841248"/>
          </a:xfrm>
          <a:prstGeom prst="roundRect">
            <a:avLst>
              <a:gd name="adj" fmla="val 7609"/>
            </a:avLst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540496" y="2093976"/>
            <a:ext cx="402336" cy="402336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36" name="Text 34"/>
          <p:cNvSpPr/>
          <p:nvPr/>
        </p:nvSpPr>
        <p:spPr>
          <a:xfrm>
            <a:off x="8540496" y="2093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089136" y="202082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9089136" y="23317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handoff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375904" y="2935224"/>
            <a:ext cx="3657600" cy="841248"/>
          </a:xfrm>
          <a:prstGeom prst="roundRect">
            <a:avLst>
              <a:gd name="adj" fmla="val 7609"/>
            </a:avLst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540496" y="3154680"/>
            <a:ext cx="402336" cy="402336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41" name="Text 39"/>
          <p:cNvSpPr/>
          <p:nvPr/>
        </p:nvSpPr>
        <p:spPr>
          <a:xfrm>
            <a:off x="8540496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089136" y="3081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workflow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9089136" y="33924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paths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375904" y="3995928"/>
            <a:ext cx="3657600" cy="841248"/>
          </a:xfrm>
          <a:prstGeom prst="roundRect">
            <a:avLst>
              <a:gd name="adj" fmla="val 7609"/>
            </a:avLst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540496" y="4215384"/>
            <a:ext cx="402336" cy="402336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46" name="Text 44"/>
          <p:cNvSpPr/>
          <p:nvPr/>
        </p:nvSpPr>
        <p:spPr>
          <a:xfrm>
            <a:off x="8540496" y="4215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089136" y="4142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9089136" y="44531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shapes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Rungs 1 to 5: single agent.   </a:t>
            </a:r>
            <a:pPr algn="l"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Rungs 6 to 9: multiple agents and workflows.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LangChain 1.0 vs Strands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26974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Agents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one loop. We grow the toolbox one step at a time, from zero tools to an agent that calls another agent.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1: Bare agent, no tools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719365" y="384048"/>
            <a:ext cx="4012387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29093" y="384048"/>
            <a:ext cx="37929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</a:t>
            </a:r>
            <a:pPr algn="l" indent="0" marL="0">
              <a:buNone/>
            </a:pPr>
            <a:r>
              <a:rPr lang="en-US" sz="1050" dirty="0">
                <a:solidFill>
                  <a:srgbClr val="7C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baseline. A loop with zero tools is one model call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5532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plus a system prompt. No tools, no world access.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what the model already knows.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agent loop still runs, it just never branches to a tool.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5532120" cy="1691640"/>
          </a:xfrm>
          <a:prstGeom prst="roundRect">
            <a:avLst>
              <a:gd name="adj" fmla="val 3784"/>
            </a:avLst>
          </a:prstGeom>
          <a:solidFill>
            <a:srgbClr val="E0F2F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42793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4590288"/>
            <a:ext cx="5138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line of a support flow: greetings, FAQs, intent classification, drafting. Cheap and instant. Hand off to a tool-equipped agent the moment real data is needed.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1234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1965960"/>
            <a:ext cx="15544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778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76872" y="1965960"/>
            <a:ext cx="1499616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235440" y="1965960"/>
            <a:ext cx="2194560" cy="685800"/>
          </a:xfrm>
          <a:prstGeom prst="roundRect">
            <a:avLst>
              <a:gd name="adj" fmla="val 9333"/>
            </a:avLst>
          </a:prstGeom>
          <a:solidFill>
            <a:srgbClr val="FEF3C7"/>
          </a:solidFill>
          <a:ln w="1778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62872" y="1965960"/>
            <a:ext cx="2139696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prompt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503920" y="2313432"/>
            <a:ext cx="73152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235440" y="3337560"/>
            <a:ext cx="2194560" cy="685800"/>
          </a:xfrm>
          <a:prstGeom prst="roundRect">
            <a:avLst>
              <a:gd name="adj" fmla="val 9333"/>
            </a:avLst>
          </a:prstGeom>
          <a:solidFill>
            <a:srgbClr val="DCFCE7"/>
          </a:solidFill>
          <a:ln w="1778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62872" y="3337560"/>
            <a:ext cx="2139696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332720" y="2651760"/>
            <a:ext cx="0" cy="68580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75120" y="4480560"/>
            <a:ext cx="4754880" cy="777240"/>
          </a:xfrm>
          <a:prstGeom prst="roundRect">
            <a:avLst>
              <a:gd name="adj" fmla="val 8235"/>
            </a:avLst>
          </a:prstGeom>
          <a:solidFill>
            <a:srgbClr val="F1F5F9"/>
          </a:solidFill>
          <a:ln w="1778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02552" y="4480560"/>
            <a:ext cx="4700016" cy="7772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Toolbox: empty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55321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node is ever reached. Simplest possible agent.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LangChain 1.0 vs Strands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1: Bare agent, code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233611" y="384048"/>
            <a:ext cx="2498141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43339" y="384048"/>
            <a:ext cx="22786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</a:t>
            </a:r>
            <a:pPr algn="l" indent="0" marL="0">
              <a:buNone/>
            </a:pPr>
            <a:r>
              <a:rPr lang="en-US" sz="1050" dirty="0">
                <a:solidFill>
                  <a:srgbClr val="7C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model call, no tool loop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3504" y="1335024"/>
            <a:ext cx="1266444" cy="292608"/>
          </a:xfrm>
          <a:prstGeom prst="roundRect">
            <a:avLst>
              <a:gd name="adj" fmla="val 15625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335024"/>
            <a:ext cx="12664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1.0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1719072"/>
            <a:ext cx="512064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langchain_aws import ChatBedrockConverse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langchain.agents import create_agent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ChatBedrockConverse(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model="us.anthropic.claude-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haiku-4-5-20251001-v1:0",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region_name="us-east-1",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create_agent(model, tools=[],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system_prompt="You are TravelMind.")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agent.invoke({"messages": [{"role":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"user","content":"Do you fly to Doha?"}]})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print(r["messages"][-1].content)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45352" y="1207008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91656" y="1335024"/>
            <a:ext cx="800100" cy="292608"/>
          </a:xfrm>
          <a:prstGeom prst="roundRect">
            <a:avLst>
              <a:gd name="adj" fmla="val 15625"/>
            </a:avLst>
          </a:prstGeom>
          <a:solidFill>
            <a:srgbClr val="0369A1"/>
          </a:solidFill>
          <a:ln/>
        </p:spPr>
      </p:sp>
      <p:sp>
        <p:nvSpPr>
          <p:cNvPr id="11" name="Text 9"/>
          <p:cNvSpPr/>
          <p:nvPr/>
        </p:nvSpPr>
        <p:spPr>
          <a:xfrm>
            <a:off x="6391656" y="1335024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46520" y="1719072"/>
            <a:ext cx="512064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strands import Agent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strands.models import BedrockModel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BedrockModel(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model_id="us.anthropic.claude-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haiku-4-5-20251001-v1:0",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region_name="us-east-1",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Agent(model=model,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system_prompt="You are TravelMind.")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print(agent("Do you fly to Doha?"))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5138928"/>
            <a:ext cx="11274552" cy="1280160"/>
          </a:xfrm>
          <a:prstGeom prst="roundRect">
            <a:avLst>
              <a:gd name="adj" fmla="val 4286"/>
            </a:avLst>
          </a:prstGeom>
          <a:solidFill>
            <a:srgbClr val="0B1220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51937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agent output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5413248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Do you fly to Doha?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TravelMind: I help with bookings and disruptions. Share your dates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I can check route availability for you.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LangChain 1.0 vs Strands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2: One built-in tool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916875" y="384048"/>
            <a:ext cx="3814877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26603" y="384048"/>
            <a:ext cx="35954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</a:t>
            </a:r>
            <a:pPr algn="l" indent="0" marL="0">
              <a:buNone/>
            </a:pPr>
            <a:r>
              <a:rPr lang="en-US" sz="1050" dirty="0">
                <a:solidFill>
                  <a:srgbClr val="7C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ready-made tool. The loop can now touch the world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5532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agent a tool you did not write, from the framework's library.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loop activates: model decides, tool runs, model reads the result.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data, calculations, web lookups, with zero tool code from you.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5532120" cy="1691640"/>
          </a:xfrm>
          <a:prstGeom prst="roundRect">
            <a:avLst>
              <a:gd name="adj" fmla="val 3784"/>
            </a:avLst>
          </a:prstGeom>
          <a:solidFill>
            <a:srgbClr val="E0F2F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42793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4590288"/>
            <a:ext cx="5138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lookup tasks: current strike news, weather, fare math. The fastest way to make an agent useful without building anything yourself.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1234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2423160"/>
            <a:ext cx="13716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778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423160"/>
            <a:ext cx="1316736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66760" y="2423160"/>
            <a:ext cx="1737360" cy="685800"/>
          </a:xfrm>
          <a:prstGeom prst="roundRect">
            <a:avLst>
              <a:gd name="adj" fmla="val 9333"/>
            </a:avLst>
          </a:prstGeom>
          <a:solidFill>
            <a:srgbClr val="FEF3C7"/>
          </a:solidFill>
          <a:ln w="1778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192" y="2423160"/>
            <a:ext cx="1682496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55280" y="2770632"/>
            <a:ext cx="41148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515600" y="2423160"/>
            <a:ext cx="1554480" cy="685800"/>
          </a:xfrm>
          <a:prstGeom prst="roundRect">
            <a:avLst>
              <a:gd name="adj" fmla="val 9333"/>
            </a:avLst>
          </a:prstGeom>
          <a:solidFill>
            <a:srgbClr val="E0F2FE"/>
          </a:solidFill>
          <a:ln w="1778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43032" y="2423160"/>
            <a:ext cx="1499616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tool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104120" y="2770632"/>
            <a:ext cx="41148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515600" y="3017520"/>
            <a:ext cx="-411480" cy="0"/>
          </a:xfrm>
          <a:prstGeom prst="line">
            <a:avLst/>
          </a:prstGeom>
          <a:noFill/>
          <a:ln w="22225">
            <a:solidFill>
              <a:srgbClr val="0369A1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378440" y="31729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provided,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written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366760" y="406908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778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94192" y="4069080"/>
            <a:ext cx="1682496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235440" y="3108960"/>
            <a:ext cx="0" cy="96012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400800" y="55321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LangChain: langchain_tavily, and other provider packages.  Strands: strands_tools (http_request, calculator...).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LangChain 1.0 vs Strands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2: One built-in tool, code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29800" y="3840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</a:t>
            </a:r>
            <a:pPr algn="l" indent="0" marL="0">
              <a:buNone/>
            </a:pPr>
            <a:r>
              <a:rPr lang="en-US" sz="1050" dirty="0">
                <a:solidFill>
                  <a:srgbClr val="7C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tools=[a prebuilt tool]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3504" y="1335024"/>
            <a:ext cx="1266444" cy="292608"/>
          </a:xfrm>
          <a:prstGeom prst="roundRect">
            <a:avLst>
              <a:gd name="adj" fmla="val 15625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335024"/>
            <a:ext cx="12664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1.0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1719072"/>
            <a:ext cx="512064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langchain_tavily import TavilySearch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langchain.agents import create_agent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= TavilySearch(max_results=3)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needs TAVILY_API_KEY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create_agent(model,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tools=[search],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system_prompt="Answer travel Qs.")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agent.invoke({"messages": [{"role":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"user","content":"Airport strikes in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France today?"}]})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print(r["messages"][-1].content)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45352" y="1207008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91656" y="1335024"/>
            <a:ext cx="800100" cy="292608"/>
          </a:xfrm>
          <a:prstGeom prst="roundRect">
            <a:avLst>
              <a:gd name="adj" fmla="val 15625"/>
            </a:avLst>
          </a:prstGeom>
          <a:solidFill>
            <a:srgbClr val="0369A1"/>
          </a:solidFill>
          <a:ln/>
        </p:spPr>
      </p:sp>
      <p:sp>
        <p:nvSpPr>
          <p:cNvPr id="11" name="Text 9"/>
          <p:cNvSpPr/>
          <p:nvPr/>
        </p:nvSpPr>
        <p:spPr>
          <a:xfrm>
            <a:off x="6391656" y="1335024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46520" y="1719072"/>
            <a:ext cx="512064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strands import Agent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strands_tools import http_request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built-ins need no decorator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Agent(model=model,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tools=[http_request],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system_prompt="Answer travel Qs.")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print(agent(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"Airport strikes in France today?"))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5138928"/>
            <a:ext cx="11274552" cy="1280160"/>
          </a:xfrm>
          <a:prstGeom prst="roundRect">
            <a:avLst>
              <a:gd name="adj" fmla="val 4286"/>
            </a:avLst>
          </a:prstGeom>
          <a:solidFill>
            <a:srgbClr val="0B1220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51937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agent output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5413248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Airport strikes in France today?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TravelMind (calls search): A regional strike affects Marseille (MRS)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the 6th. Charles de Gaulle (CDG) is operating normally.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LangChain 1.0 vs Strands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3: Multiple custom tools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653528" y="384048"/>
            <a:ext cx="4078224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63256" y="384048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</a:t>
            </a:r>
            <a:pPr algn="l" indent="0" marL="0">
              <a:buNone/>
            </a:pPr>
            <a:r>
              <a:rPr lang="en-US" sz="1050" dirty="0">
                <a:solidFill>
                  <a:srgbClr val="7C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tools. The model must now choose the right 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5532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tools with @tool. The docstring is the tool's whole interface.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picks which tool, in what order, from the user's words.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real TravelMind desk: look up, then search, then act.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5532120" cy="1691640"/>
          </a:xfrm>
          <a:prstGeom prst="roundRect">
            <a:avLst>
              <a:gd name="adj" fmla="val 3784"/>
            </a:avLst>
          </a:prstGeom>
          <a:solidFill>
            <a:srgbClr val="E0F2F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42793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4590288"/>
            <a:ext cx="5138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workhorse pattern. Almost every business agent is one model with three to eight domain tools. Tool selection quality lives or dies on clear docstrings.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1234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1920240"/>
            <a:ext cx="1828800" cy="731520"/>
          </a:xfrm>
          <a:prstGeom prst="roundRect">
            <a:avLst>
              <a:gd name="adj" fmla="val 8750"/>
            </a:avLst>
          </a:prstGeom>
          <a:solidFill>
            <a:srgbClr val="FEF3C7"/>
          </a:solidFill>
          <a:ln w="1778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920240"/>
            <a:ext cx="1773936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37960" y="3337560"/>
            <a:ext cx="1600200" cy="685800"/>
          </a:xfrm>
          <a:prstGeom prst="roundRect">
            <a:avLst>
              <a:gd name="adj" fmla="val 9333"/>
            </a:avLst>
          </a:prstGeom>
          <a:solidFill>
            <a:srgbClr val="F1F5F9"/>
          </a:solidFill>
          <a:ln w="1778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3337560"/>
            <a:ext cx="1545336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lookup_pnr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21040" y="3337560"/>
            <a:ext cx="1645920" cy="685800"/>
          </a:xfrm>
          <a:prstGeom prst="roundRect">
            <a:avLst>
              <a:gd name="adj" fmla="val 9333"/>
            </a:avLst>
          </a:prstGeom>
          <a:solidFill>
            <a:srgbClr val="F1F5F9"/>
          </a:solidFill>
          <a:ln w="1778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48472" y="3337560"/>
            <a:ext cx="1591056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search_flights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149840" y="3337560"/>
            <a:ext cx="1417320" cy="685800"/>
          </a:xfrm>
          <a:prstGeom prst="roundRect">
            <a:avLst>
              <a:gd name="adj" fmla="val 9333"/>
            </a:avLst>
          </a:prstGeom>
          <a:solidFill>
            <a:srgbClr val="F1F5F9"/>
          </a:solidFill>
          <a:ln w="1778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77272" y="3337560"/>
            <a:ext cx="1362456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778240" y="2651760"/>
            <a:ext cx="-1097280" cy="68580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triangl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44000" y="2651760"/>
            <a:ext cx="0" cy="68580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triangl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509760" y="2651760"/>
            <a:ext cx="1280160" cy="68580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triangl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53796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routes to the right tool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0" y="4754880"/>
            <a:ext cx="2743200" cy="548640"/>
          </a:xfrm>
          <a:prstGeom prst="roundRect">
            <a:avLst>
              <a:gd name="adj" fmla="val 11667"/>
            </a:avLst>
          </a:prstGeom>
          <a:solidFill>
            <a:srgbClr val="FEF3C7"/>
          </a:solidFill>
          <a:ln w="1778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99832" y="4754880"/>
            <a:ext cx="2688336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@tool functions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LangChain 1.0 vs Strands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3: Multiple custom tools, code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311896" y="384048"/>
            <a:ext cx="3419856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21624" y="384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</a:t>
            </a:r>
            <a:pPr algn="l" indent="0" marL="0">
              <a:buNone/>
            </a:pPr>
            <a:r>
              <a:rPr lang="en-US" sz="1050" dirty="0">
                <a:solidFill>
                  <a:srgbClr val="7C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@tool code is identical across frameworks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3504" y="1335024"/>
            <a:ext cx="1266444" cy="292608"/>
          </a:xfrm>
          <a:prstGeom prst="roundRect">
            <a:avLst>
              <a:gd name="adj" fmla="val 15625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335024"/>
            <a:ext cx="12664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1.0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1719072"/>
            <a:ext cx="512064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langchain.tools import tool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langchain.agents import create_agent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lookup_pnr(pnr: str) -&gt; str: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"""Return booking status for a PNR."""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DB.get(pnr, 'not found')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search_flights(o, d, date) -&gt; str: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"""Find alternate flights."""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"AI-506 09:40, AI-812 14:15"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create_agent(model,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tools=[lookup_pnr, search_flights])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45352" y="1207008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91656" y="1335024"/>
            <a:ext cx="800100" cy="292608"/>
          </a:xfrm>
          <a:prstGeom prst="roundRect">
            <a:avLst>
              <a:gd name="adj" fmla="val 15625"/>
            </a:avLst>
          </a:prstGeom>
          <a:solidFill>
            <a:srgbClr val="0369A1"/>
          </a:solidFill>
          <a:ln/>
        </p:spPr>
      </p:sp>
      <p:sp>
        <p:nvSpPr>
          <p:cNvPr id="11" name="Text 9"/>
          <p:cNvSpPr/>
          <p:nvPr/>
        </p:nvSpPr>
        <p:spPr>
          <a:xfrm>
            <a:off x="6391656" y="1335024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46520" y="1719072"/>
            <a:ext cx="512064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strands import Agent, tool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lookup_pnr(pnr: str) -&gt; str: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"""Return booking status for a PNR."""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DB.get(pnr, 'not found')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search_flights(o, d, date) -&gt; str: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"""Find alternate flights."""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"AI-506 09:40, AI-812 14:15"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Agent(model=model,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tools=[lookup_pnr, search_flights])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5138928"/>
            <a:ext cx="11274552" cy="1280160"/>
          </a:xfrm>
          <a:prstGeom prst="roundRect">
            <a:avLst>
              <a:gd name="adj" fmla="val 4286"/>
            </a:avLst>
          </a:prstGeom>
          <a:solidFill>
            <a:srgbClr val="0B1220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51937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agent output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5413248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My flight got cancelled, PNR JX48Q2. Any options?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TravelMind (lookup_pnr -&gt; search_flights): JX48Q2 BLR-DEL is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cancelled. Alternatives today: AI-506 09:40, AI-812 14:15.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LangChain 1.0 vs Strands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4: Built-in and custom tools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180222" y="384048"/>
            <a:ext cx="355153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89950" y="384048"/>
            <a:ext cx="33320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</a:t>
            </a:r>
            <a:pPr algn="l" indent="0" marL="0">
              <a:buNone/>
            </a:pPr>
            <a:r>
              <a:rPr lang="en-US" sz="1050" dirty="0">
                <a:solidFill>
                  <a:srgbClr val="7C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provided and authored tools in one list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5532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a ready-made tool with your domain tools in the same tools=[...].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treats them all the same: names plus docstrings.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assistants blend both: your data tools plus a search or a clock.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5532120" cy="1691640"/>
          </a:xfrm>
          <a:prstGeom prst="roundRect">
            <a:avLst>
              <a:gd name="adj" fmla="val 3784"/>
            </a:avLst>
          </a:prstGeom>
          <a:solidFill>
            <a:srgbClr val="E0F2F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42793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4590288"/>
            <a:ext cx="5138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assistants almost always mix. Your PNR lookup is custom, live news is built-in. No reason to rebuild what the library already ships.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1234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874520"/>
            <a:ext cx="1828800" cy="685800"/>
          </a:xfrm>
          <a:prstGeom prst="roundRect">
            <a:avLst>
              <a:gd name="adj" fmla="val 9333"/>
            </a:avLst>
          </a:prstGeom>
          <a:solidFill>
            <a:srgbClr val="FEF3C7"/>
          </a:solidFill>
          <a:ln w="1778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5592" y="1874520"/>
            <a:ext cx="1773936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92240" y="3200400"/>
            <a:ext cx="1554480" cy="64008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778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3200400"/>
            <a:ext cx="1499616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lookup_pnr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3931920"/>
            <a:ext cx="1554480" cy="64008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778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3931920"/>
            <a:ext cx="1499616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search_flights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058400" y="3200400"/>
            <a:ext cx="1554480" cy="64008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7780">
            <a:solidFill>
              <a:srgbClr val="0369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85832" y="3200400"/>
            <a:ext cx="1499616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0" y="3931920"/>
            <a:ext cx="1554480" cy="64008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7780">
            <a:solidFill>
              <a:srgbClr val="0369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85832" y="3931920"/>
            <a:ext cx="1499616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current_time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95360" y="2560320"/>
            <a:ext cx="-1188720" cy="64008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2560320"/>
            <a:ext cx="1188720" cy="64008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492240" y="4663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0" y="4663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LangChain 1.0 vs Strands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4: Built-in and custom, code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496958" y="384048"/>
            <a:ext cx="2234794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6686" y="384048"/>
            <a:ext cx="2015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</a:t>
            </a:r>
            <a:pPr algn="l" indent="0" marL="0">
              <a:buNone/>
            </a:pPr>
            <a:r>
              <a:rPr lang="en-US" sz="1050" dirty="0">
                <a:solidFill>
                  <a:srgbClr val="7C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list, two kinds of tool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3504" y="1335024"/>
            <a:ext cx="1266444" cy="292608"/>
          </a:xfrm>
          <a:prstGeom prst="roundRect">
            <a:avLst>
              <a:gd name="adj" fmla="val 15625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335024"/>
            <a:ext cx="12664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1.0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1719072"/>
            <a:ext cx="512064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langchain_tavily import TavilySearch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langchain.agents import create_agent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= TavilySearch(max_results=3)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create_agent(model, tools=[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lookup_pnr, search_flights,   # custom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search,                       # built-in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system_prompt="You are TravelMind.")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 blends both by name + docstring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45352" y="1207008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91656" y="1335024"/>
            <a:ext cx="800100" cy="292608"/>
          </a:xfrm>
          <a:prstGeom prst="roundRect">
            <a:avLst>
              <a:gd name="adj" fmla="val 15625"/>
            </a:avLst>
          </a:prstGeom>
          <a:solidFill>
            <a:srgbClr val="0369A1"/>
          </a:solidFill>
          <a:ln/>
        </p:spPr>
      </p:sp>
      <p:sp>
        <p:nvSpPr>
          <p:cNvPr id="11" name="Text 9"/>
          <p:cNvSpPr/>
          <p:nvPr/>
        </p:nvSpPr>
        <p:spPr>
          <a:xfrm>
            <a:off x="6391656" y="1335024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46520" y="1719072"/>
            <a:ext cx="512064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strands import Agent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strands_tools import current_time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Agent(model=model, tools=[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lookup_pnr, search_flights,   # custom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current_time,                 # built-in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system_prompt="You are TravelMind.")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5138928"/>
            <a:ext cx="11274552" cy="1280160"/>
          </a:xfrm>
          <a:prstGeom prst="roundRect">
            <a:avLst>
              <a:gd name="adj" fmla="val 4286"/>
            </a:avLst>
          </a:prstGeom>
          <a:solidFill>
            <a:srgbClr val="0B1220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51937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agent output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5413248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Is my morning connection still bookable right now?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TravelMind (current_time -&gt; lookup_pnr -&gt; search_flights): It is 08:12.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AI-506 at 09:40 is still open. Want me to hold it?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LangChain 1.0 vs Strands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5: Agent as a tool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653528" y="384048"/>
            <a:ext cx="4078224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63256" y="384048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</a:t>
            </a:r>
            <a:pPr algn="l" indent="0" marL="0">
              <a:buNone/>
            </a:pPr>
            <a:r>
              <a:rPr lang="en-US" sz="1050" dirty="0">
                <a:solidFill>
                  <a:srgbClr val="7C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agent's output becomes a tool result. Nesting starts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5532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 whole agent so a parent agent can call it like any tool.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 runs its own loop, returns text, the parent continues.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 toward multi-agent: a specialist packaged as a capability.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5532120" cy="1691640"/>
          </a:xfrm>
          <a:prstGeom prst="roundRect">
            <a:avLst>
              <a:gd name="adj" fmla="val 3784"/>
            </a:avLst>
          </a:prstGeom>
          <a:solidFill>
            <a:srgbClr val="E0F2F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42793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4590288"/>
            <a:ext cx="5138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 a domain expert once, reuse it everywhere. A fare-policy agent becomes a single ask_policy tool the main desk can call without knowing the details.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1234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1920240"/>
            <a:ext cx="2103120" cy="685800"/>
          </a:xfrm>
          <a:prstGeom prst="roundRect">
            <a:avLst>
              <a:gd name="adj" fmla="val 9333"/>
            </a:avLst>
          </a:prstGeom>
          <a:solidFill>
            <a:srgbClr val="FEF3C7"/>
          </a:solidFill>
          <a:ln w="1778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2552" y="1920240"/>
            <a:ext cx="2048256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agent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26680" y="2606040"/>
            <a:ext cx="0" cy="54864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675120" y="3200400"/>
            <a:ext cx="4937760" cy="1691640"/>
          </a:xfrm>
          <a:prstGeom prst="roundRect">
            <a:avLst>
              <a:gd name="adj" fmla="val 3784"/>
            </a:avLst>
          </a:prstGeom>
          <a:solidFill>
            <a:srgbClr val="E0F2FE"/>
          </a:solidFill>
          <a:ln w="17780">
            <a:solidFill>
              <a:srgbClr val="0369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= child agent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3794760"/>
            <a:ext cx="13716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778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76872" y="3794760"/>
            <a:ext cx="1316736" cy="594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86800" y="3794760"/>
            <a:ext cx="146304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7780">
            <a:solidFill>
              <a:srgbClr val="0369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14232" y="3794760"/>
            <a:ext cx="1408176" cy="594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fare_rules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21040" y="4087368"/>
            <a:ext cx="365760" cy="0"/>
          </a:xfrm>
          <a:prstGeom prst="line">
            <a:avLst/>
          </a:prstGeom>
          <a:noFill/>
          <a:ln w="22225">
            <a:solidFill>
              <a:srgbClr val="0369A1"/>
            </a:solidFill>
            <a:prstDash val="solid"/>
            <a:headEnd type="triangl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378440" y="3794760"/>
            <a:ext cx="10515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7780">
            <a:solidFill>
              <a:srgbClr val="0369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05872" y="3794760"/>
            <a:ext cx="996696" cy="594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text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149840" y="4087368"/>
            <a:ext cx="228600" cy="0"/>
          </a:xfrm>
          <a:prstGeom prst="line">
            <a:avLst/>
          </a:prstGeom>
          <a:noFill/>
          <a:ln w="22225">
            <a:solidFill>
              <a:srgbClr val="0369A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778240" y="3200400"/>
            <a:ext cx="0" cy="-594360"/>
          </a:xfrm>
          <a:prstGeom prst="line">
            <a:avLst/>
          </a:prstGeom>
          <a:noFill/>
          <a:ln w="22225">
            <a:solidFill>
              <a:srgbClr val="0369A1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675120" y="4983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flows back up to the parent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0" y="55321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can also pass an agent directly in tools=[...] or use .as_tool().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LangChain 1.0 vs Strands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5: Agent as a tool, code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167774" y="384048"/>
            <a:ext cx="2563978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77502" y="384048"/>
            <a:ext cx="23445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</a:t>
            </a:r>
            <a:pPr algn="l" indent="0" marL="0">
              <a:buNone/>
            </a:pPr>
            <a:r>
              <a:rPr lang="en-US" sz="1050" dirty="0">
                <a:solidFill>
                  <a:srgbClr val="7C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agent.invoke inside a @tool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3504" y="1335024"/>
            <a:ext cx="1266444" cy="292608"/>
          </a:xfrm>
          <a:prstGeom prst="roundRect">
            <a:avLst>
              <a:gd name="adj" fmla="val 15625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335024"/>
            <a:ext cx="12664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1.0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1719072"/>
            <a:ext cx="512064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= create_agent(model,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tools=[fare_rules],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system_prompt="You explain refunds.")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ask_policy(question: str) -&gt; str: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"""Delegate fare/refund questions."""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policy.invoke({'messages':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[{'role':'user','content':question}]})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r['messages'][-1].content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 = create_agent(model, tools=[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lookup_pnr, search_flights, ask_policy])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45352" y="1207008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91656" y="1335024"/>
            <a:ext cx="800100" cy="292608"/>
          </a:xfrm>
          <a:prstGeom prst="roundRect">
            <a:avLst>
              <a:gd name="adj" fmla="val 15625"/>
            </a:avLst>
          </a:prstGeom>
          <a:solidFill>
            <a:srgbClr val="0369A1"/>
          </a:solidFill>
          <a:ln/>
        </p:spPr>
      </p:sp>
      <p:sp>
        <p:nvSpPr>
          <p:cNvPr id="11" name="Text 9"/>
          <p:cNvSpPr/>
          <p:nvPr/>
        </p:nvSpPr>
        <p:spPr>
          <a:xfrm>
            <a:off x="6391656" y="1335024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46520" y="1719072"/>
            <a:ext cx="512064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= Agent(model=model,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tools=[fare_rules],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system_prompt="You explain refunds.")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ask_policy(question: str) -&gt; str: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"""Delegate fare/refund questions."""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str(policy(question))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or: Agent(tools=[policy])  # direct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 = Agent(model=model, tools=[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lookup_pnr, search_flights, ask_policy])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5138928"/>
            <a:ext cx="11274552" cy="1280160"/>
          </a:xfrm>
          <a:prstGeom prst="roundRect">
            <a:avLst>
              <a:gd name="adj" fmla="val 4286"/>
            </a:avLst>
          </a:prstGeom>
          <a:solidFill>
            <a:srgbClr val="0B1220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51937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agent output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5413248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Will I be charged to move to AI-506, and what's the refund rule?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TravelMind (ask_policy): No fare difference on same-day disruption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rebooking. Full refund is available if you cancel instead.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LangChain 1.0 vs Strands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26974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Systems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toolbox gets crowded or spans unrelated domains, split into specialists. Three shapes: supervisor, swarm, graph.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6: Supervisor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575243" y="384048"/>
            <a:ext cx="3156509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4971" y="384048"/>
            <a:ext cx="29370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</a:t>
            </a:r>
            <a:pPr algn="l" indent="0" marL="0">
              <a:buNone/>
            </a:pPr>
            <a:r>
              <a:rPr lang="en-US" sz="1050" dirty="0">
                <a:solidFill>
                  <a:srgbClr val="7C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boss agent routes to specialist workers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5532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supervisor delegates to focused worker agents, then synthesizes.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worker owns one domain and its own tools.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control and a clean audit point for every decision.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5532120" cy="1691640"/>
          </a:xfrm>
          <a:prstGeom prst="roundRect">
            <a:avLst>
              <a:gd name="adj" fmla="val 3784"/>
            </a:avLst>
          </a:prstGeom>
          <a:solidFill>
            <a:srgbClr val="E0F2F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42793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4590288"/>
            <a:ext cx="5138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domains with central policy: a disruption desk with a PNR agent, a rebooking agent, and a comms agent. Workers report up, they do not talk to the user.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1234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874520"/>
            <a:ext cx="1920240" cy="731520"/>
          </a:xfrm>
          <a:prstGeom prst="roundRect">
            <a:avLst>
              <a:gd name="adj" fmla="val 8750"/>
            </a:avLst>
          </a:prstGeom>
          <a:solidFill>
            <a:srgbClr val="FEF3C7"/>
          </a:solidFill>
          <a:ln w="1778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5592" y="1874520"/>
            <a:ext cx="1865376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92240" y="3520440"/>
            <a:ext cx="1600200" cy="777240"/>
          </a:xfrm>
          <a:prstGeom prst="roundRect">
            <a:avLst>
              <a:gd name="adj" fmla="val 8235"/>
            </a:avLst>
          </a:prstGeom>
          <a:solidFill>
            <a:srgbClr val="E0F2FE"/>
          </a:solidFill>
          <a:ln w="1778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3520440"/>
            <a:ext cx="1545336" cy="7772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 agent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75320" y="3520440"/>
            <a:ext cx="1645920" cy="777240"/>
          </a:xfrm>
          <a:prstGeom prst="roundRect">
            <a:avLst>
              <a:gd name="adj" fmla="val 8235"/>
            </a:avLst>
          </a:prstGeom>
          <a:solidFill>
            <a:srgbClr val="E0F2FE"/>
          </a:solidFill>
          <a:ln w="1778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3520440"/>
            <a:ext cx="1591056" cy="7772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Rebooking agent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104120" y="3520440"/>
            <a:ext cx="1463040" cy="777240"/>
          </a:xfrm>
          <a:prstGeom prst="roundRect">
            <a:avLst>
              <a:gd name="adj" fmla="val 8235"/>
            </a:avLst>
          </a:prstGeom>
          <a:solidFill>
            <a:srgbClr val="E0F2FE"/>
          </a:solidFill>
          <a:ln w="17780">
            <a:solidFill>
              <a:srgbClr val="0369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31552" y="3520440"/>
            <a:ext cx="1408176" cy="7772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 agent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778240" y="2606040"/>
            <a:ext cx="-1463040" cy="91440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triangl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44000" y="2606040"/>
            <a:ext cx="0" cy="91440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triangl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509760" y="2606040"/>
            <a:ext cx="1463040" cy="91440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triangl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492240" y="44805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down, results up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55321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 goes on the top-level supervisor, not each worker.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LangChain 1.0 vs Strands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6: Supervisor, code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126834" y="384048"/>
            <a:ext cx="4604918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36562" y="384048"/>
            <a:ext cx="43854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</a:t>
            </a:r>
            <a:pPr algn="l" indent="0" marL="0">
              <a:buNone/>
            </a:pPr>
            <a:r>
              <a:rPr lang="en-US" sz="1050" dirty="0">
                <a:solidFill>
                  <a:srgbClr val="7C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ships create_supervisor; Strands uses agents-as-tools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3504" y="1335024"/>
            <a:ext cx="1266444" cy="292608"/>
          </a:xfrm>
          <a:prstGeom prst="roundRect">
            <a:avLst>
              <a:gd name="adj" fmla="val 15625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335024"/>
            <a:ext cx="12664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1.0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1719072"/>
            <a:ext cx="512064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langgraph_supervisor import \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create_supervisor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pnr = create_agent(model, name='pnr',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tools=[lookup_pnr, disruption_reason])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rebook = create_agent(model, name='rbk',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tools=[search_flights, rebook_tool])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 = create_supervisor(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[pnr, rebook], model=model,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prompt="Route to the specialist.",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).compile(checkpointer=InMemorySaver())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45352" y="1207008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91656" y="1335024"/>
            <a:ext cx="800100" cy="292608"/>
          </a:xfrm>
          <a:prstGeom prst="roundRect">
            <a:avLst>
              <a:gd name="adj" fmla="val 15625"/>
            </a:avLst>
          </a:prstGeom>
          <a:solidFill>
            <a:srgbClr val="0369A1"/>
          </a:solidFill>
          <a:ln/>
        </p:spPr>
      </p:sp>
      <p:sp>
        <p:nvSpPr>
          <p:cNvPr id="11" name="Text 9"/>
          <p:cNvSpPr/>
          <p:nvPr/>
        </p:nvSpPr>
        <p:spPr>
          <a:xfrm>
            <a:off x="6391656" y="1335024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46520" y="1719072"/>
            <a:ext cx="512064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strands import Agent, tool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pnr(q: str) -&gt; str: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"""Lookups + disruption reasons."""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str(Agent(tools=[lookup_pnr,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disruption_reason])(q))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rebook(q: str) -&gt; str: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"""Search + rebooking."""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str(Agent(tools=[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search_flights, rebook_tool])(q))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 = Agent(tools=[pnr, rebook])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5138928"/>
            <a:ext cx="11274552" cy="1280160"/>
          </a:xfrm>
          <a:prstGeom prst="roundRect">
            <a:avLst>
              <a:gd name="adj" fmla="val 4286"/>
            </a:avLst>
          </a:prstGeom>
          <a:solidFill>
            <a:srgbClr val="0B1220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51937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agent output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5413248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Flight cancelled, rebook me and tell me what happened. JX48Q2.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Supervisor -&gt; pnr: 'cancelled, weather'  -&gt; rebook: 'AI-506 booked'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TravelMind: Booked AI-506 09:40. Cancellation cause: weather at BLR.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LangChain 1.0 vs Strands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7: Swarm and handoff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311896" y="384048"/>
            <a:ext cx="3419856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21624" y="384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</a:t>
            </a:r>
            <a:pPr algn="l" indent="0" marL="0">
              <a:buNone/>
            </a:pPr>
            <a:r>
              <a:rPr lang="en-US" sz="1050" dirty="0">
                <a:solidFill>
                  <a:srgbClr val="7C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peers pass control laterally, no central boss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5532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hand the live conversation to each other via handoff tools.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holds control talks to the user until they hand off.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when two experts genuinely need a back-and-forth.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5532120" cy="1691640"/>
          </a:xfrm>
          <a:prstGeom prst="roundRect">
            <a:avLst>
              <a:gd name="adj" fmla="val 3784"/>
            </a:avLst>
          </a:prstGeom>
          <a:solidFill>
            <a:srgbClr val="E0F2F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42793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4590288"/>
            <a:ext cx="5138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collaboration: a finder agent and a booker agent trading control as the user's need shifts. More flexible than a supervisor, wider failure surface.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1234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0" y="2514600"/>
            <a:ext cx="1920240" cy="822960"/>
          </a:xfrm>
          <a:prstGeom prst="roundRect">
            <a:avLst>
              <a:gd name="adj" fmla="val 7778"/>
            </a:avLst>
          </a:prstGeom>
          <a:solidFill>
            <a:srgbClr val="FEF3C7"/>
          </a:solidFill>
          <a:ln w="1778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93992" y="2514600"/>
            <a:ext cx="1865376" cy="822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 agent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418320" y="2514600"/>
            <a:ext cx="1920240" cy="822960"/>
          </a:xfrm>
          <a:prstGeom prst="roundRect">
            <a:avLst>
              <a:gd name="adj" fmla="val 7778"/>
            </a:avLst>
          </a:prstGeom>
          <a:solidFill>
            <a:srgbClr val="E0F2FE"/>
          </a:solidFill>
          <a:ln w="1778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45752" y="2514600"/>
            <a:ext cx="1865376" cy="822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Booker agent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0" y="2788920"/>
            <a:ext cx="73152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418320" y="3063240"/>
            <a:ext cx="-731520" cy="0"/>
          </a:xfrm>
          <a:prstGeom prst="line">
            <a:avLst/>
          </a:prstGeom>
          <a:noFill/>
          <a:ln w="22225">
            <a:solidFill>
              <a:srgbClr val="0369A1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549640" y="2167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66760" y="3227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back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63840" y="411480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778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91272" y="4114800"/>
            <a:ext cx="2322576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conversation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0" y="3383280"/>
            <a:ext cx="822960" cy="73152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332720" y="3383280"/>
            <a:ext cx="-822960" cy="73152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400800" y="55321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with a checkpointer or the swarm forgets who was active.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LangChain 1.0 vs Strands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7: Swarm, code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851038" y="384048"/>
            <a:ext cx="3880714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60766" y="384048"/>
            <a:ext cx="3661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</a:t>
            </a:r>
            <a:pPr algn="l" indent="0" marL="0">
              <a:buNone/>
            </a:pPr>
            <a:r>
              <a:rPr lang="en-US" sz="1050" dirty="0">
                <a:solidFill>
                  <a:srgbClr val="7C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handoff tools vs a built-in Swarm primitive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3504" y="1335024"/>
            <a:ext cx="1266444" cy="292608"/>
          </a:xfrm>
          <a:prstGeom prst="roundRect">
            <a:avLst>
              <a:gd name="adj" fmla="val 15625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335024"/>
            <a:ext cx="12664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1.0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1719072"/>
            <a:ext cx="512064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langgraph_swarm import \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create_swarm, create_handoff_tool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finder = create_agent(model, name='finder',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tools=[search_flights,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create_handoff_tool('Booker',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'Transfer to rebook')])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booker = create_agent(model, name='Booker',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tools=[rebook_tool,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create_handoff_tool('finder','back')])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swarm = create_swarm([finder, booker],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default_active_agent='finder').compile(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checkpointer=InMemorySaver())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45352" y="1207008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91656" y="1335024"/>
            <a:ext cx="800100" cy="292608"/>
          </a:xfrm>
          <a:prstGeom prst="roundRect">
            <a:avLst>
              <a:gd name="adj" fmla="val 15625"/>
            </a:avLst>
          </a:prstGeom>
          <a:solidFill>
            <a:srgbClr val="0369A1"/>
          </a:solidFill>
          <a:ln/>
        </p:spPr>
      </p:sp>
      <p:sp>
        <p:nvSpPr>
          <p:cNvPr id="11" name="Text 9"/>
          <p:cNvSpPr/>
          <p:nvPr/>
        </p:nvSpPr>
        <p:spPr>
          <a:xfrm>
            <a:off x="6391656" y="1335024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46520" y="1719072"/>
            <a:ext cx="512064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strands import Agent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strands.multiagent import Swarm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finder = Agent(name='finder',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tools=[search_flights])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booker = Agent(name='booker',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tools=[rebook_tool])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swarm = Swarm([finder, booker])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swarm(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"Rebook JX48Q2 on the earliest flight")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Swarm auto-manages handoffs + context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5138928"/>
            <a:ext cx="11274552" cy="1280160"/>
          </a:xfrm>
          <a:prstGeom prst="roundRect">
            <a:avLst>
              <a:gd name="adj" fmla="val 4286"/>
            </a:avLst>
          </a:prstGeom>
          <a:solidFill>
            <a:srgbClr val="0B1220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51937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agent output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5413248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Find me the earliest flight and just book it.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finder: AI-506 09:40 is earliest -&gt; handoff to booker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booker: Booked AI-506 09:40 for JX48Q2. Confirmation sent.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LangChain 1.0 vs Strands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8: Graph workflow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772754" y="384048"/>
            <a:ext cx="2958998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82482" y="384048"/>
            <a:ext cx="27395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</a:t>
            </a:r>
            <a:pPr algn="l" indent="0" marL="0">
              <a:buNone/>
            </a:pPr>
            <a:r>
              <a:rPr lang="en-US" sz="1050" dirty="0">
                <a:solidFill>
                  <a:srgbClr val="7C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owns the path, not the 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5532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are steps. Edges are transitions. A router picks the next node.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on a computed value, not the model's whim. Fully testable.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extractor-then-branch shape, made deterministic.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5532120" cy="1691640"/>
          </a:xfrm>
          <a:prstGeom prst="roundRect">
            <a:avLst>
              <a:gd name="adj" fmla="val 3784"/>
            </a:avLst>
          </a:prstGeom>
          <a:solidFill>
            <a:srgbClr val="E0F2F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42793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4590288"/>
            <a:ext cx="5138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pipelines and deterministic routing: extract, then branch to a writer on high confidence or an ambiguity handler on low. Auditable, unit-testable paths.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1234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1920240"/>
            <a:ext cx="10515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778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920240"/>
            <a:ext cx="996696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0" y="1920240"/>
            <a:ext cx="1371600" cy="502920"/>
          </a:xfrm>
          <a:prstGeom prst="roundRect">
            <a:avLst>
              <a:gd name="adj" fmla="val 12727"/>
            </a:avLst>
          </a:prstGeom>
          <a:solidFill>
            <a:srgbClr val="FEF3C7"/>
          </a:solidFill>
          <a:ln w="1778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9832" y="1920240"/>
            <a:ext cx="1316736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43800" y="2171700"/>
            <a:ext cx="22860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372600" y="192024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778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00032" y="1920240"/>
            <a:ext cx="1362456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0" y="2171700"/>
            <a:ext cx="22860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304020" y="3017520"/>
            <a:ext cx="1554480" cy="502920"/>
          </a:xfrm>
          <a:prstGeom prst="roundRect">
            <a:avLst>
              <a:gd name="adj" fmla="val 12727"/>
            </a:avLst>
          </a:prstGeom>
          <a:solidFill>
            <a:srgbClr val="F1F5F9"/>
          </a:solidFill>
          <a:ln w="1778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31452" y="3017520"/>
            <a:ext cx="1499616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081260" y="2423160"/>
            <a:ext cx="0" cy="59436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281160" y="25328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&lt;0.7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304020" y="3886200"/>
            <a:ext cx="1554480" cy="502920"/>
          </a:xfrm>
          <a:prstGeom prst="roundRect">
            <a:avLst>
              <a:gd name="adj" fmla="val 12727"/>
            </a:avLst>
          </a:prstGeom>
          <a:solidFill>
            <a:srgbClr val="DCFCE7"/>
          </a:solidFill>
          <a:ln w="1778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31452" y="3886200"/>
            <a:ext cx="1499616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081260" y="3520440"/>
            <a:ext cx="0" cy="36576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304020" y="4754880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78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31452" y="4754880"/>
            <a:ext cx="149961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081260" y="4389120"/>
            <a:ext cx="0" cy="36576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789920" y="2171700"/>
            <a:ext cx="32004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1109960" y="2171700"/>
            <a:ext cx="0" cy="196596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0858500" y="4137660"/>
            <a:ext cx="25146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triangl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10515600" y="25328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&gt;=0.7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92240" y="5394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is plain Python, tested with no model in the loop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LangChain 1.0 vs Strands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8: Graph workflow, code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377733" y="384048"/>
            <a:ext cx="3354019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87461" y="384048"/>
            <a:ext cx="3134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</a:t>
            </a:r>
            <a:pPr algn="l" indent="0" marL="0">
              <a:buNone/>
            </a:pPr>
            <a:r>
              <a:rPr lang="en-US" sz="1050" dirty="0">
                <a:solidFill>
                  <a:srgbClr val="7C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StateGraph vs Strands GraphBuilder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3504" y="1335024"/>
            <a:ext cx="1266444" cy="292608"/>
          </a:xfrm>
          <a:prstGeom prst="roundRect">
            <a:avLst>
              <a:gd name="adj" fmla="val 15625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335024"/>
            <a:ext cx="12664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1.0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1719072"/>
            <a:ext cx="512064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langgraph.graph import \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StateGraph, START, END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route(s):                 # deterministic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'writer' if s['conf']&gt;=0.7 \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else 'ambiguity'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StateGraph(DeskState)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g.add_node('extractor', extractor)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g.add_node('ambiguity', ambiguity)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g.add_node('writer', writer)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g.add_edge(START, 'extractor')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g.add_conditional_edges('extractor', route)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g.add_edge('writer', END)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 = g.compile()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45352" y="1207008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91656" y="1335024"/>
            <a:ext cx="800100" cy="292608"/>
          </a:xfrm>
          <a:prstGeom prst="roundRect">
            <a:avLst>
              <a:gd name="adj" fmla="val 15625"/>
            </a:avLst>
          </a:prstGeom>
          <a:solidFill>
            <a:srgbClr val="0369A1"/>
          </a:solidFill>
          <a:ln/>
        </p:spPr>
      </p:sp>
      <p:sp>
        <p:nvSpPr>
          <p:cNvPr id="11" name="Text 9"/>
          <p:cNvSpPr/>
          <p:nvPr/>
        </p:nvSpPr>
        <p:spPr>
          <a:xfrm>
            <a:off x="6391656" y="1335024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46520" y="1719072"/>
            <a:ext cx="512064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strands.multiagent import \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GraphBuilder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GraphBuilder()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b.add_node(extractor_agent, 'extractor')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b.add_node(ambiguity_agent, 'ambiguity')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b.add_node(writer_agent, 'writer')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b.set_entry_point('extractor')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b.add_edge('extractor', 'ambiguity',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condition=lambda s: s.conf &lt; 0.7)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b.add_edge('extractor', 'writer',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condition=lambda s: s.conf &gt;= 0.7)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b.add_edge('ambiguity', 'writer')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= b.build()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5138928"/>
            <a:ext cx="11274552" cy="1280160"/>
          </a:xfrm>
          <a:prstGeom prst="roundRect">
            <a:avLst>
              <a:gd name="adj" fmla="val 4286"/>
            </a:avLst>
          </a:prstGeom>
          <a:solidFill>
            <a:srgbClr val="0B1220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51937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agent output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5413248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the thing on the 6th   (vague: extractor confidence 0.4)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-&gt; ambiguity: 'Which booking, JX48Q2 or the return leg?'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(high confidence would have gone straight to writer)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LangChain 1.0 vs Strands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26974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Design Patterns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Named, reusable shapes for wiring agents and steps. Know these five and you can name almost any production architecture.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patterns that cover most systems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Anthropic's building-blocks taxonomy. Workflows follow fixed code paths. Agents let the model direct its own path. Most real systems mix both.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EF3C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901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chaining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395728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sequential steps. Each output feeds the next.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3218688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-&gt; B -&gt; 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79392" y="173736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E0F2F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901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2395728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input, dispatch to a specialized handler.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80560" y="3218688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-&gt; [pick] -&gt; A|B|C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01584" y="173736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EF3C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02752" y="1901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Parallelization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02752" y="2395728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work or vote across runs, then aggregate.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02752" y="3218688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fan-out -&gt; merge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68296" y="388620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E0F2F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69464" y="4050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Orchestrator-workers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69464" y="4544568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 splits work into subtasks on the fly, then synthesizes.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569464" y="5367528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 -&gt; workers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90488" y="388620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EF3C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91656" y="4050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Evaluator-optimizer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91656" y="4544568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critique, refine in a loop until good.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91656" y="5367528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-&gt; judge -&gt; redo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LangChain 1.0 vs Strands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Patterns, mapped to both frameworks</a:t>
            </a:r>
            <a:endParaRPr lang="en-US" sz="27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480560"/>
                <a:gridCol w="368503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/ LangGraph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chaining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StateGraph nodes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agents in a graph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add_conditional_edges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GraphBuilder condition edges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Fan-out / fan-in nodes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graph nodes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Orchestrator-workers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create_supervisor / deepagents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Agents-as-tools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Evaluator-optimizer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with an evaluator node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with a review agent + 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 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create_agent (model-driven loop)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(model-driven loop)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simplest thing (a single agent). Add a pattern only when a real requirement, an ordering guarantee or a loop, forces it.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LangChain 1.0 vs Strands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agent, and which framework</a:t>
            </a:r>
            <a:endParaRPr lang="en-US" sz="27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67665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8346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situation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 for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simple call, no tools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agent (rung 1)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live data with no tool code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tool (rung 2)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few domain actions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custom tools (rung 3)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a specialist for reuse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as a tool (rung 5)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 domains, central control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 (rung 6)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experts trading a conversation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Swarm (rung 7)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branching or pipelines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workflow (rung 8)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498080" y="1234440"/>
            <a:ext cx="4233672" cy="4343400"/>
          </a:xfrm>
          <a:prstGeom prst="roundRect">
            <a:avLst>
              <a:gd name="adj" fmla="val 151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699248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or Strands?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699248" y="187452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Bedrock-first shop, lean runtime, fewer layers, tight AWS fit.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1.0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model vendors, provider portability, middleware, LangSmith tracing and eval.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loop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call, no tools. A framework is pure overhead.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LangChain 1.0 vs Strands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Strands to LangChain cheat sheet</a:t>
            </a:r>
            <a:endParaRPr lang="en-US" sz="27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023360"/>
                <a:gridCol w="441655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want 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1.0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an 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369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Agent(model, tools, prompt)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4530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create_agent(model, tools, prompt)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 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369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@tool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4530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@tool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once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369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agent('query')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4530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agent.invoke({'messages':[...]})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tools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369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strands_tools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4530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langchain_tavily, etc.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as a 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369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pass agent / .as_tool()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4530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wrap agent.invoke in @tool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369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agents-as-tools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4530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create_supervisor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369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Swarm([...])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4530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create_swarm + handoff tools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369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GraphBuilder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4530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StateGraph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369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sessions / agent.state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4530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checkpointer + thread_id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underneath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369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Strands runtime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4530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LangGraph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LangChain 1.0 vs Strands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201168" cy="20116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80/20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work lives on rung 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75488" y="274320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with the right handful of tools solves the large majority of real problems.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 to multi-agent and graphs only when a concrete requirement, a domain split, an ordering guarantee, a human gate, forces the step.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concepts are portable. Strands and LangChain are the same DNA with different hands on the wheel. Learn one well and the other is a translation table.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" y="5669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Skeptic's question: does the framework earn its complexity tax on this project? Sometimes the honest answer is a raw loop.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Agents End to End: LangChain 1.0 Field Guide</dc:title>
  <dc:subject>PptxGenJS Presentation</dc:subject>
  <dc:creator>Akash Das</dc:creator>
  <cp:lastModifiedBy>Akash Das</cp:lastModifiedBy>
  <cp:revision>1</cp:revision>
  <dcterms:created xsi:type="dcterms:W3CDTF">2026-07-06T02:03:47Z</dcterms:created>
  <dcterms:modified xsi:type="dcterms:W3CDTF">2026-07-06T02:03:47Z</dcterms:modified>
</cp:coreProperties>
</file>