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promise: by the end they should feel WHICH LangChain piece a problem calls for, not just recall syntax. Audience knows basic LLM terms + Bedrock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arc. Point at the right card: the muscle we are building is pattern-matching a problem to a 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their world: the model is a genius with amnesia and no hands. Every LangChain concept later plugs one of these five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have written this boto3 call. The red list is exactly the work LangChain removes. Keep it concrete to their bootcamp: same model id, same region.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definition, three verbs: compose, port, scale. End on the ecosystem line, it is the map for the rest of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useful idea in LangChain: everything speaks invoke/stream/batch. Uniformity is what makes composition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 is the aha. Each stage is a Runnable; | just says feed left into right. Unix analogy lands with anyone who has used a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as the reference map. Six families. Everything else in the deck is a zoom-in on one of these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vs chef is the fastest way to separate deterministic pipelines from agentic loops. Most bugs come from using an agent where a chain would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reframes 'agent' from magic to plumbing: a model plus three configurable things. It directly maps to create_agent's arguments.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ladder: Deep Agents -&gt; create_agent -&gt; LangGraph, with LangSmith across all of it. The key message is you are never locked in at the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diagram. The loop (model &lt;-&gt; tools) is the whole game. Middleware can hook before/after the model and each tool call. Everything later is a variation on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Messages are role-tagged. content_blocks is the v1 upgrade: structured output parts instead of one opaque string. Bedrock class is ChatBedrockConverse from langchain-aws.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init_chat_model is the provider-agnostic front door. Great story for Bedrock shops that may A/B models. The rest of the chain never notices.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Templates keep prompt text out of your logic and make roles explicit. The payoff is reuse and clean composition, not just tidiness.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schema, the model fills it. This is how LLM output becomes safe to pass into downstream code. Pydantic or TypedDict both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object, different execution. batch parallelizes for you; stream gives token-by-token UX. Async versions for FastAPI-style servers.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take-home card for module 3. If they memorize one slide, this is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Skeptic prompt for the room: retrieval fixes lookup, not reasoning. If the task is math or logic, more passages will not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phases people conflate. Indexing is offline and occasional. Retrieval is online and constant. Chunking quality in Phase A decides answer quality in Phase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build paths: assemble the pieces yourself for control, or use Bedrock Knowledge Bases (AmazonKnowledgeBasesRetriever) to skip the plumbing. Same retriever interface either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in v1 is LangGraph state: a checkpointer plus thread_id. That is the whole mechanism. Persistence is just a durable checkpointer.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tool is just a decorated function. The model never runs code; it requests a call, your runtime executes it, the result returns. This is the heart of every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are not magic; they are this loop. The model alternates between thinking and calling tools until it is confident enough to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agent in v1. model + tools + system_prompt is the minimum. It compiles down to a LangGraph graph you can inspect and extend.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Middleware is the v1 superpower: guardrails, memory, safety, and retries as composable hooks, provider-agnostic, without editing the model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Agents (create_deep_agent) are for Claude-Code-style tasks: plan, decompose, delegate. Be honest about the tradeoff: less control over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control flow stops being a single loop, drop to LangGraph. Nodes are functions, edges are transitions, state is the shared dict every node sees.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concrete reasons to drop down. The supervisor pattern is the most common multi-agent shape: one router, many specialists, shared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Observability is non-negotiable for agents because the path is non-deterministic. LangSmith is the debugger; prompt caching is the cheapest Bedrock cost win for long system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judgment, not loyalty. The strongest engineers know when NOT to reach for the framework. Present criticisms fairly, then the v1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slide. Drill it. The last row is deliberate: the best answer is sometimes no framework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take-home reference. Left: the LangChain layers. Right: the exact Bedrock names and values from the bootcamp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thesis: tools and syntax churn, but the mental models transfer. Leave them with three concrete actions on their own Bedrock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image" Target="../media/image-39-7.png"/><Relationship Id="rId8" Type="http://schemas.openxmlformats.org/officeDocument/2006/relationships/image" Target="../media/image-39-8.png"/><Relationship Id="rId9" Type="http://schemas.openxmlformats.org/officeDocument/2006/relationships/image" Target="../media/image-39-9.png"/><Relationship Id="rId10" Type="http://schemas.openxmlformats.org/officeDocument/2006/relationships/image" Target="../media/image-39-10.png"/><Relationship Id="rId11" Type="http://schemas.openxmlformats.org/officeDocument/2006/relationships/image" Target="../media/image-39-11.png"/><Relationship Id="rId12" Type="http://schemas.openxmlformats.org/officeDocument/2006/relationships/image" Target="../media/image-3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298448"/>
            <a:ext cx="457200" cy="100584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1170432" y="1188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GROUND-UP GUIDE   ·   LANGCHAIN v1.x  (GA OCT 2025)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78308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530352" y="2852928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0" b="1" dirty="0">
                <a:solidFill>
                  <a:srgbClr val="0E8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Zero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66928" y="4160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D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intuition to reach for the right piece, every time.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4754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8A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builders who know basic LLM terms and Amazon Bedrock. Built to install intuition, not just syntax.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Bedrock-native examples throughout  ·  us-east-1  ·  claude-haiku-4-5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from a raw model to a reliable agent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402336" cy="402336"/>
          </a:xfrm>
          <a:prstGeom prst="ellipse">
            <a:avLst/>
          </a:prstGeom>
          <a:solidFill>
            <a:srgbClr val="E4F0ED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3856" y="17282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LangChain exists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33856" y="198424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model-to-app gap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318004"/>
            <a:ext cx="402336" cy="402336"/>
          </a:xfrm>
          <a:prstGeom prst="ellipse">
            <a:avLst/>
          </a:prstGeom>
          <a:solidFill>
            <a:srgbClr val="E4F0ED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3088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33856" y="22631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LangChain thinks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33856" y="251917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mental models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852928"/>
            <a:ext cx="402336" cy="402336"/>
          </a:xfrm>
          <a:prstGeom prst="ellipse">
            <a:avLst/>
          </a:prstGeom>
          <a:solidFill>
            <a:srgbClr val="E4F0ED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33856" y="27980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33856" y="305409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prompts, parsers, the pipe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387852"/>
            <a:ext cx="402336" cy="402336"/>
          </a:xfrm>
          <a:prstGeom prst="ellipse">
            <a:avLst/>
          </a:prstGeom>
          <a:solidFill>
            <a:srgbClr val="E4F0ED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3787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329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(RAG)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3856" y="358902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 to open-book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922776"/>
            <a:ext cx="402336" cy="402336"/>
          </a:xfrm>
          <a:prstGeom prst="ellipse">
            <a:avLst/>
          </a:prstGeom>
          <a:solidFill>
            <a:srgbClr val="E4F0ED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3856" y="38679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and tools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3856" y="412394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notebook, then hands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457700"/>
            <a:ext cx="402336" cy="402336"/>
          </a:xfrm>
          <a:prstGeom prst="ellipse">
            <a:avLst/>
          </a:prstGeom>
          <a:solidFill>
            <a:srgbClr val="E4F0ED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4485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33856" y="440283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33856" y="46588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loop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4992624"/>
            <a:ext cx="402336" cy="402336"/>
          </a:xfrm>
          <a:prstGeom prst="ellipse">
            <a:avLst/>
          </a:prstGeom>
          <a:solidFill>
            <a:srgbClr val="E4F0ED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4983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33856" y="4937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33856" y="519379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cycles, state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5527548"/>
            <a:ext cx="402336" cy="402336"/>
          </a:xfrm>
          <a:prstGeom prst="ellipse">
            <a:avLst/>
          </a:prstGeom>
          <a:solidFill>
            <a:srgbClr val="E4F0ED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55184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33856" y="54726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it, judge it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33856" y="57287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observe, cost, when to skip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03720" y="1783080"/>
            <a:ext cx="4709160" cy="4114800"/>
          </a:xfrm>
          <a:prstGeom prst="roundRect">
            <a:avLst>
              <a:gd name="adj" fmla="val 2000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78040" y="2057400"/>
            <a:ext cx="566928" cy="566928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1111" y="2210471"/>
            <a:ext cx="260787" cy="260787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7909560" y="21396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end, on instinct you can:</a:t>
            </a:r>
            <a:endParaRPr lang="en-US" sz="1600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999232"/>
            <a:ext cx="219456" cy="219456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7607808" y="292608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raw Bedrock call into a composable pipeline</a:t>
            </a:r>
            <a:endParaRPr lang="en-US" sz="125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575304"/>
            <a:ext cx="219456" cy="219456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7607808" y="350215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private knowledge with retrieval (RAG)</a:t>
            </a:r>
            <a:endParaRPr lang="en-US" sz="1250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151376"/>
            <a:ext cx="219456" cy="219456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607808" y="407822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model memory and let it call your tools</a:t>
            </a:r>
            <a:endParaRPr lang="en-US" sz="125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4727448"/>
            <a:ext cx="219456" cy="219456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7607808" y="46542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 with create_agent, then take control with LangGraph</a:t>
            </a:r>
            <a:endParaRPr lang="en-US" sz="125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5303520"/>
            <a:ext cx="219456" cy="219456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7607808" y="523036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and evaluate it, and know when to skip the framework</a:t>
            </a:r>
            <a:endParaRPr lang="en-US" sz="1250" dirty="0"/>
          </a:p>
        </p:txBody>
      </p:sp>
      <p:sp>
        <p:nvSpPr>
          <p:cNvPr id="51" name="Text 43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52" name="Text 44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2064" y="12344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0" b="1" dirty="0">
                <a:solidFill>
                  <a:srgbClr val="0A5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200" dirty="0"/>
          </a:p>
        </p:txBody>
      </p:sp>
      <p:sp>
        <p:nvSpPr>
          <p:cNvPr id="4" name="Shape 2"/>
          <p:cNvSpPr/>
          <p:nvPr/>
        </p:nvSpPr>
        <p:spPr>
          <a:xfrm>
            <a:off x="10161727" y="1554480"/>
            <a:ext cx="1371600" cy="1371600"/>
          </a:xfrm>
          <a:prstGeom prst="ellipse">
            <a:avLst/>
          </a:prstGeom>
          <a:solidFill>
            <a:srgbClr val="0E8574"/>
          </a:solidFill>
          <a:ln/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2059" y="1924812"/>
            <a:ext cx="630936" cy="63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611880"/>
            <a:ext cx="106920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LangChain Exists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66928" y="4709160"/>
            <a:ext cx="9686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EB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a raw model and a real application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from Zero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model is brilliant, and helpless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2788920" cy="914400"/>
          </a:xfrm>
          <a:prstGeom prst="roundRect">
            <a:avLst>
              <a:gd name="adj" fmla="val 9000"/>
            </a:avLst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828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"Rebook JX48Q2"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3008" y="2286000"/>
            <a:ext cx="685800" cy="0"/>
          </a:xfrm>
          <a:prstGeom prst="line">
            <a:avLst/>
          </a:prstGeom>
          <a:noFill/>
          <a:ln w="2857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61688" y="1874520"/>
            <a:ext cx="822960" cy="822960"/>
          </a:xfrm>
          <a:prstGeom prst="ellipse">
            <a:avLst/>
          </a:prstGeom>
          <a:solidFill>
            <a:srgbClr val="BE7A3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3887" y="2096719"/>
            <a:ext cx="378562" cy="3785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270248" y="27614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13248" y="2286000"/>
            <a:ext cx="685800" cy="0"/>
          </a:xfrm>
          <a:prstGeom prst="line">
            <a:avLst/>
          </a:prstGeom>
          <a:noFill/>
          <a:ln w="2857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281928" y="182880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9088" y="1828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"Sure, which flight?"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6928" y="2926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again next call and it has forgotten you, your booking, and the question. Text in, text out, no state, no world.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66928" y="361188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" y="3794760"/>
            <a:ext cx="457200" cy="45720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3918204"/>
            <a:ext cx="210312" cy="2103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9808" y="43434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749808" y="461772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the last turn.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766060" y="361188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948940" y="3794760"/>
            <a:ext cx="457200" cy="45720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3918204"/>
            <a:ext cx="210312" cy="2103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948940" y="43434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data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2948940" y="461772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only its training set.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965192" y="361188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148072" y="3794760"/>
            <a:ext cx="457200" cy="45720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516" y="3918204"/>
            <a:ext cx="210312" cy="2103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48072" y="43434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5148072" y="461772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call your APIs.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164324" y="361188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347204" y="3794760"/>
            <a:ext cx="457200" cy="45720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3918204"/>
            <a:ext cx="210312" cy="2103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347204" y="43434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7347204" y="461772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prose, not typed data.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9363456" y="361188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9546336" y="3794760"/>
            <a:ext cx="457200" cy="45720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9780" y="3918204"/>
            <a:ext cx="210312" cy="21031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546336" y="43434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9546336" y="461772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shot, no multi-step plan.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LangChain exists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feel this on Bedrock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989320" cy="3611880"/>
          </a:xfrm>
          <a:prstGeom prst="roundRect">
            <a:avLst>
              <a:gd name="adj" fmla="val 1266"/>
            </a:avLst>
          </a:prstGeom>
          <a:solidFill>
            <a:srgbClr val="0C1A18"/>
          </a:solidFill>
          <a:ln w="12700">
            <a:solidFill>
              <a:srgbClr val="20423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965960"/>
            <a:ext cx="56235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boto3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boto3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"bedrock-runtime"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region_name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"us-east-1"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modelId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"us.anthropic.claude-haiku-4-5-20251001-v1:0"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=[{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[{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"Rebook JX48Q2"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}]}],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"output"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][0][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E8D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works... now bolt on everything real: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12280" y="1828800"/>
            <a:ext cx="480060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86600" y="2057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anything real, you hand-roll: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2" y="251460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88352" y="24505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templating and message plumbing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297180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88352" y="29077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streaming, token accounting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342900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88352" y="3364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across turns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38862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88352" y="3822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over your own documents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4343400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388352" y="42793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and multi-step loops</a:t>
            </a:r>
            <a:endParaRPr lang="en-US" sz="12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4800600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388352" y="47365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models without a rewrite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795528" y="55961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glue is undifferentiated work. </a:t>
            </a:r>
            <a:pPr indent="0" marL="0">
              <a:buNone/>
            </a:pPr>
            <a:r>
              <a:rPr lang="en-US" sz="14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is that glue, standardized and battle-tested.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LangChain exists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is a harness around the model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783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</a:t>
            </a:r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an open-source framework for wiring LLMs to prompts, your data, memory, tools, and control flow, behind one consistent interface.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28803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3108960"/>
            <a:ext cx="548640" cy="54864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3257093"/>
            <a:ext cx="252374" cy="2523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95528" y="3794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pieces into a pipeline with one operator: prompt | model | parser.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15968" y="28803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44568" y="3108960"/>
            <a:ext cx="548640" cy="54864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3257093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30368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544568" y="3794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Claude, GPT, or Gemini with a single line. No rewrite.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65008" y="28803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93608" y="3108960"/>
            <a:ext cx="548640" cy="54864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41" y="3257093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79408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93608" y="3794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primitives grow into RAG, tools, agents, and graphs.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66928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ecosystem, three jobs: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66928" y="5120640"/>
            <a:ext cx="3566160" cy="868680"/>
          </a:xfrm>
          <a:prstGeom prst="roundRect">
            <a:avLst>
              <a:gd name="adj" fmla="val 9474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68096" y="5120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</a:t>
            </a:r>
            <a:pPr indent="0" marL="0">
              <a:buNone/>
            </a:pPr>
            <a:r>
              <a:rPr lang="en-US" sz="13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agents fast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315968" y="5120640"/>
            <a:ext cx="3566160" cy="868680"/>
          </a:xfrm>
          <a:prstGeom prst="roundRect">
            <a:avLst>
              <a:gd name="adj" fmla="val 9474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17136" y="5120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</a:t>
            </a:r>
            <a:pPr indent="0" marL="0">
              <a:buNone/>
            </a:pPr>
            <a:r>
              <a:rPr lang="en-US" sz="13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them reliably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065008" y="5120640"/>
            <a:ext cx="3566160" cy="868680"/>
          </a:xfrm>
          <a:prstGeom prst="roundRect">
            <a:avLst>
              <a:gd name="adj" fmla="val 9474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266176" y="5120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 </a:t>
            </a:r>
            <a:pPr indent="0" marL="0">
              <a:buNone/>
            </a:pPr>
            <a:r>
              <a:rPr lang="en-US" sz="13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 and improves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LangChain exists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2064" y="12344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0" b="1" dirty="0">
                <a:solidFill>
                  <a:srgbClr val="0A5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200" dirty="0"/>
          </a:p>
        </p:txBody>
      </p:sp>
      <p:sp>
        <p:nvSpPr>
          <p:cNvPr id="4" name="Shape 2"/>
          <p:cNvSpPr/>
          <p:nvPr/>
        </p:nvSpPr>
        <p:spPr>
          <a:xfrm>
            <a:off x="10161727" y="1554480"/>
            <a:ext cx="1371600" cy="1371600"/>
          </a:xfrm>
          <a:prstGeom prst="ellipse">
            <a:avLst/>
          </a:prstGeom>
          <a:solidFill>
            <a:srgbClr val="0E8574"/>
          </a:solidFill>
          <a:ln/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2059" y="1924812"/>
            <a:ext cx="630936" cy="63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611880"/>
            <a:ext cx="106920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LangChain Thinks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66928" y="4709160"/>
            <a:ext cx="9686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EB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mental models that make everything click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from Zero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1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is a Runnable: one brick, one connector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470916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Runnable contract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542032"/>
            <a:ext cx="1371600" cy="402336"/>
          </a:xfrm>
          <a:prstGeom prst="roundRect">
            <a:avLst>
              <a:gd name="adj" fmla="val 11364"/>
            </a:avLst>
          </a:prstGeom>
          <a:solidFill>
            <a:srgbClr val="0C1A1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420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invoke()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50008" y="25420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input, one output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1371600" cy="402336"/>
          </a:xfrm>
          <a:prstGeom prst="roundRect">
            <a:avLst>
              <a:gd name="adj" fmla="val 11364"/>
            </a:avLst>
          </a:prstGeom>
          <a:solidFill>
            <a:srgbClr val="0C1A1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089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stream()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50008" y="31089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as they arrive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675888"/>
            <a:ext cx="1371600" cy="402336"/>
          </a:xfrm>
          <a:prstGeom prst="roundRect">
            <a:avLst>
              <a:gd name="adj" fmla="val 11364"/>
            </a:avLst>
          </a:prstGeom>
          <a:solidFill>
            <a:srgbClr val="0C1A1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758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batch()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50008" y="36758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inputs, in parallel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twins:  ainvoke / astream / abatch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32120" y="1828800"/>
            <a:ext cx="6080760" cy="3429000"/>
          </a:xfrm>
          <a:prstGeom prst="roundRect">
            <a:avLst>
              <a:gd name="adj" fmla="val 2400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06440" y="201168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all of these are the same kind of brick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06440" y="2542032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1DC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2744" y="2697480"/>
            <a:ext cx="237744" cy="2377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263640" y="25420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772400" y="2542032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1DC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4" y="2697480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0" y="25420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9738360" y="2542032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1DC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697480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195560" y="25420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806440" y="3227832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1DC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3383280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263640" y="32278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772400" y="3227832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1D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4" y="3383280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229600" y="32278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9738360" y="3227832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1DC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4664" y="3383280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195560" y="32278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5806440" y="402336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any brick's output straight into the next brick's input.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566928" y="544068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22960" y="544068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one interface once, and you can already drive every component in the library.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LangChain thinks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2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  |  is an assembly line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240280"/>
            <a:ext cx="457200" cy="45720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36372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44168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7889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your variables into a set of messages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43984" y="205740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240280"/>
            <a:ext cx="457200" cy="45720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6" y="236372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21224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45152" y="27889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those messages into an AI reply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321040" y="205740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22208" y="2240280"/>
            <a:ext cx="457200" cy="45720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652" y="2363724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9828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522208" y="27889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reply into clean, typed data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785616" y="2542032"/>
            <a:ext cx="548640" cy="402336"/>
          </a:xfrm>
          <a:prstGeom prst="rightArrow">
            <a:avLst/>
          </a:prstGeom>
          <a:solidFill>
            <a:srgbClr val="0E8574"/>
          </a:solidFill>
          <a:ln/>
        </p:spPr>
      </p:sp>
      <p:sp>
        <p:nvSpPr>
          <p:cNvPr id="21" name="Shape 16"/>
          <p:cNvSpPr/>
          <p:nvPr/>
        </p:nvSpPr>
        <p:spPr>
          <a:xfrm>
            <a:off x="7662672" y="2542032"/>
            <a:ext cx="548640" cy="402336"/>
          </a:xfrm>
          <a:prstGeom prst="rightArrow">
            <a:avLst/>
          </a:prstGeom>
          <a:solidFill>
            <a:srgbClr val="0E8574"/>
          </a:solidFill>
          <a:ln/>
        </p:spPr>
      </p:sp>
      <p:sp>
        <p:nvSpPr>
          <p:cNvPr id="22" name="Text 17"/>
          <p:cNvSpPr/>
          <p:nvPr/>
        </p:nvSpPr>
        <p:spPr>
          <a:xfrm>
            <a:off x="3456432" y="18105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7333488" y="18105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reply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66928" y="3794760"/>
            <a:ext cx="7040880" cy="658368"/>
          </a:xfrm>
          <a:prstGeom prst="roundRect">
            <a:avLst>
              <a:gd name="adj" fmla="val 6944"/>
            </a:avLst>
          </a:prstGeom>
          <a:solidFill>
            <a:srgbClr val="0C1A18"/>
          </a:solidFill>
          <a:ln w="12700">
            <a:solidFill>
              <a:srgbClr val="20423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49808" y="393192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7818120" y="3794760"/>
            <a:ext cx="3794760" cy="658368"/>
          </a:xfrm>
          <a:prstGeom prst="roundRect">
            <a:avLst>
              <a:gd name="adj" fmla="val 12500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001000" y="37947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each feeds the next. Read left to right.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66928" y="4709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</a:t>
            </a:r>
            <a:pPr indent="0" marL="0">
              <a:buNone/>
            </a:pPr>
            <a:r>
              <a:rPr lang="en-US" sz="13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</a:t>
            </a:r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(LangChain Expression Language), the composition layer that still underlies v1.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66928" y="5138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instinct as a Unix pipe:   cat log.txt | grep ERROR | sort | uniq -c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read a shell pipe, you can read a LangChain chain.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LangChain thinks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picture of every moving part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029968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884" y="2165756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20482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I/O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68096" y="26700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  ·  Messages  ·  Prompt template  ·  Output parser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15968" y="182880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17136" y="2029968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24" y="2165756"/>
            <a:ext cx="231343" cy="231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38928" y="20482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(RAG)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517136" y="26700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  ·  Splitter  ·  Embeddings  ·  Vector store  ·  Retriever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65008" y="182880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66176" y="2029968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964" y="2165756"/>
            <a:ext cx="231343" cy="231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87968" y="20482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66176" y="26700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functions  ·  the tool-calling loop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66928" y="370332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8096" y="3904488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884" y="4040276"/>
            <a:ext cx="231343" cy="23134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89888" y="39227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State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68096" y="45445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  ·  thread_id  ·  summarization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15968" y="370332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17136" y="3904488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924" y="4040276"/>
            <a:ext cx="231343" cy="23134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38928" y="39227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517136" y="45445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create_agent  ·  middleware  ·  structured output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065008" y="370332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66176" y="3904488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964" y="4040276"/>
            <a:ext cx="231343" cy="23134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87968" y="39227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266176" y="45445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·  nodes  ·  edges  ·  state  ·  cycles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( | ) composes the small pieces. create_agent assembles the big one. LangGraph wires the complex ones.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LangChain thinks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3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vs agent: a recipe or a chef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1371600" cy="457200"/>
          </a:xfrm>
          <a:prstGeom prst="roundRect">
            <a:avLst/>
          </a:prstGeom>
          <a:solidFill>
            <a:srgbClr val="E4F0E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50008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recipe: you decide the steps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86968" y="2834640"/>
            <a:ext cx="1143000" cy="502920"/>
          </a:xfrm>
          <a:prstGeom prst="roundRect">
            <a:avLst>
              <a:gd name="adj" fmla="val 16364"/>
            </a:avLst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8346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29968" y="3086100"/>
            <a:ext cx="274320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04288" y="2834640"/>
            <a:ext cx="1143000" cy="502920"/>
          </a:xfrm>
          <a:prstGeom prst="roundRect">
            <a:avLst>
              <a:gd name="adj" fmla="val 16364"/>
            </a:avLst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4288" y="28346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47288" y="3086100"/>
            <a:ext cx="274320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21608" y="2834640"/>
            <a:ext cx="1143000" cy="502920"/>
          </a:xfrm>
          <a:prstGeom prst="roundRect">
            <a:avLst>
              <a:gd name="adj" fmla="val 16364"/>
            </a:avLst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1608" y="28346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703320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5568" y="3639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path on every run</a:t>
            </a:r>
            <a:endParaRPr lang="en-US" sz="12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087368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15568" y="4023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and cheap</a:t>
            </a:r>
            <a:endParaRPr lang="en-US" sz="12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471416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15568" y="44074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the steps are known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245352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01384" y="2057400"/>
            <a:ext cx="1371600" cy="457200"/>
          </a:xfrm>
          <a:prstGeom prst="roundRect">
            <a:avLst/>
          </a:prstGeom>
          <a:solidFill>
            <a:srgbClr val="F3E9DE"/>
          </a:solidFill>
          <a:ln/>
        </p:spPr>
      </p:sp>
      <p:sp>
        <p:nvSpPr>
          <p:cNvPr id="25" name="Text 20"/>
          <p:cNvSpPr/>
          <p:nvPr/>
        </p:nvSpPr>
        <p:spPr>
          <a:xfrm>
            <a:off x="6501384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028432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chef: the model decides the steps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565392" y="2788920"/>
            <a:ext cx="1143000" cy="457200"/>
          </a:xfrm>
          <a:prstGeom prst="roundRect">
            <a:avLst>
              <a:gd name="adj" fmla="val 18000"/>
            </a:avLst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565392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7708392" y="3017520"/>
            <a:ext cx="274320" cy="0"/>
          </a:xfrm>
          <a:prstGeom prst="line">
            <a:avLst/>
          </a:prstGeom>
          <a:noFill/>
          <a:ln w="25400">
            <a:solidFill>
              <a:srgbClr val="BE7A3A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7982712" y="2788920"/>
            <a:ext cx="1143000" cy="457200"/>
          </a:xfrm>
          <a:prstGeom prst="roundRect">
            <a:avLst>
              <a:gd name="adj" fmla="val 18000"/>
            </a:avLst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982712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9125712" y="3017520"/>
            <a:ext cx="274320" cy="0"/>
          </a:xfrm>
          <a:prstGeom prst="line">
            <a:avLst/>
          </a:prstGeom>
          <a:noFill/>
          <a:ln w="25400">
            <a:solidFill>
              <a:srgbClr val="BE7A3A"/>
            </a:solidFill>
            <a:prstDash val="solid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9400032" y="2788920"/>
            <a:ext cx="1143000" cy="457200"/>
          </a:xfrm>
          <a:prstGeom prst="roundRect">
            <a:avLst>
              <a:gd name="adj" fmla="val 18000"/>
            </a:avLst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400032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7132320" y="3520440"/>
            <a:ext cx="2788920" cy="0"/>
          </a:xfrm>
          <a:prstGeom prst="line">
            <a:avLst/>
          </a:prstGeom>
          <a:noFill/>
          <a:ln w="25400">
            <a:solidFill>
              <a:srgbClr val="BE7A3A"/>
            </a:solidFill>
            <a:prstDash val="solid"/>
            <a:headEnd type="triangle"/>
            <a:tailEnd type="none"/>
          </a:ln>
        </p:spPr>
      </p:sp>
      <p:sp>
        <p:nvSpPr>
          <p:cNvPr id="36" name="Text 31"/>
          <p:cNvSpPr/>
          <p:nvPr/>
        </p:nvSpPr>
        <p:spPr>
          <a:xfrm>
            <a:off x="731520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5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done</a:t>
            </a:r>
            <a:endParaRPr lang="en-US" sz="10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931920"/>
            <a:ext cx="182880" cy="18288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793992" y="3867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tools at runtime</a:t>
            </a:r>
            <a:endParaRPr lang="en-US" sz="125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4297680"/>
            <a:ext cx="182880" cy="18288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793992" y="42336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each input</a:t>
            </a:r>
            <a:endParaRPr lang="en-US" sz="125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4663440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793992" y="45994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open-ended goals</a:t>
            </a:r>
            <a:endParaRPr lang="en-US" sz="1250" dirty="0"/>
          </a:p>
        </p:txBody>
      </p:sp>
      <p:sp>
        <p:nvSpPr>
          <p:cNvPr id="43" name="Shape 35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 known steps  -&gt;  chain.      open-ended goal + tools  -&gt;  agent.</a:t>
            </a:r>
            <a:endParaRPr lang="en-US" sz="1350" dirty="0"/>
          </a:p>
        </p:txBody>
      </p:sp>
      <p:sp>
        <p:nvSpPr>
          <p:cNvPr id="45" name="Text 37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LangChain thinks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4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model wrapped in a harness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120640" cy="3566160"/>
          </a:xfrm>
          <a:prstGeom prst="roundRect">
            <a:avLst>
              <a:gd name="adj" fmla="val 2308"/>
            </a:avLst>
          </a:prstGeom>
          <a:solidFill>
            <a:srgbClr val="FBFCFC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= what makes a text predictor act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50008" y="3063240"/>
            <a:ext cx="1188720" cy="1188720"/>
          </a:xfrm>
          <a:prstGeom prst="ellipse">
            <a:avLst/>
          </a:prstGeom>
          <a:solidFill>
            <a:srgbClr val="BE7A3A"/>
          </a:solidFill>
          <a:ln/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0962" y="3384194"/>
            <a:ext cx="546811" cy="54681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50008" y="4279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984248" y="2468880"/>
            <a:ext cx="1920240" cy="457200"/>
          </a:xfrm>
          <a:prstGeom prst="roundRect">
            <a:avLst>
              <a:gd name="adj" fmla="val 18000"/>
            </a:avLst>
          </a:prstGeom>
          <a:solidFill>
            <a:srgbClr val="0E8574"/>
          </a:solidFill>
          <a:ln w="12700">
            <a:solidFill>
              <a:srgbClr val="0E857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84248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41248" y="4617720"/>
            <a:ext cx="1554480" cy="457200"/>
          </a:xfrm>
          <a:prstGeom prst="roundRect">
            <a:avLst>
              <a:gd name="adj" fmla="val 18000"/>
            </a:avLst>
          </a:prstGeom>
          <a:solidFill>
            <a:srgbClr val="0E8574"/>
          </a:solidFill>
          <a:ln w="12700">
            <a:solidFill>
              <a:srgbClr val="0E857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4617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93008" y="4617720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0E8574"/>
          </a:solidFill>
          <a:ln w="12700">
            <a:solidFill>
              <a:srgbClr val="0E857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93008" y="4617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944368" y="2926080"/>
            <a:ext cx="0" cy="137160"/>
          </a:xfrm>
          <a:prstGeom prst="line">
            <a:avLst/>
          </a:prstGeom>
          <a:noFill/>
          <a:ln w="19050">
            <a:solidFill>
              <a:srgbClr val="8A939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06040" y="4160520"/>
            <a:ext cx="-411480" cy="457200"/>
          </a:xfrm>
          <a:prstGeom prst="line">
            <a:avLst/>
          </a:prstGeom>
          <a:noFill/>
          <a:ln w="19050">
            <a:solidFill>
              <a:srgbClr val="8A939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1840" y="4160520"/>
            <a:ext cx="502920" cy="457200"/>
          </a:xfrm>
          <a:prstGeom prst="line">
            <a:avLst/>
          </a:prstGeom>
          <a:noFill/>
          <a:ln w="19050">
            <a:solidFill>
              <a:srgbClr val="8A939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35040" y="1828800"/>
            <a:ext cx="557784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09360" y="2103120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148" y="2238908"/>
            <a:ext cx="231343" cy="23134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49440" y="2103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949440" y="23957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standing role and instructions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309360" y="2971800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148" y="3107588"/>
            <a:ext cx="231343" cy="23134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49440" y="2971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949440" y="3264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actions it is allowed to take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309360" y="3840480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148" y="3976268"/>
            <a:ext cx="231343" cy="23134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49440" y="3840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6949440" y="4133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memory, and retries around every step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309360" y="4709160"/>
            <a:ext cx="5029200" cy="566928"/>
          </a:xfrm>
          <a:prstGeom prst="roundRect">
            <a:avLst>
              <a:gd name="adj" fmla="val 8065"/>
            </a:avLst>
          </a:prstGeom>
          <a:solidFill>
            <a:srgbClr val="0C1A18"/>
          </a:solidFill>
          <a:ln w="12700">
            <a:solidFill>
              <a:srgbClr val="20423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6492240" y="4846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create_agent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system_prompt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harness, change the behavior. The model underneath stays the same.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LangChain thinks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5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stack: what runs on what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10312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level, less code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2194560"/>
            <a:ext cx="4023360" cy="868680"/>
          </a:xfrm>
          <a:prstGeom prst="roundRect">
            <a:avLst>
              <a:gd name="adj" fmla="val 9474"/>
            </a:avLst>
          </a:prstGeom>
          <a:solidFill>
            <a:srgbClr val="BE7A3A"/>
          </a:solidFill>
          <a:ln w="12700">
            <a:solidFill>
              <a:srgbClr val="BE7A3A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31720" y="21945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Agents</a:t>
            </a:r>
            <a:pPr indent="0" marL="0">
              <a:buNone/>
            </a:pPr>
            <a:r>
              <a:rPr lang="en-US" sz="1250" dirty="0">
                <a:solidFill>
                  <a:srgbClr val="FB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plan + subagents, batteries included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463040" y="3154680"/>
            <a:ext cx="5303520" cy="868680"/>
          </a:xfrm>
          <a:prstGeom prst="roundRect">
            <a:avLst>
              <a:gd name="adj" fmla="val 9474"/>
            </a:avLst>
          </a:prstGeom>
          <a:solidFill>
            <a:srgbClr val="0E8574"/>
          </a:solidFill>
          <a:ln w="12700">
            <a:solidFill>
              <a:srgbClr val="0E8574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91640" y="31546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create_agent</a:t>
            </a:r>
            <a:pPr indent="0" marL="0">
              <a:buNone/>
            </a:pPr>
            <a:r>
              <a:rPr lang="en-US" sz="1250" dirty="0">
                <a:solidFill>
                  <a:srgbClr val="E1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customizable harness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6400800" cy="868680"/>
          </a:xfrm>
          <a:prstGeom prst="roundRect">
            <a:avLst>
              <a:gd name="adj" fmla="val 9474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411480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pPr indent="0" marL="0">
              <a:buNone/>
            </a:pPr>
            <a:r>
              <a:rPr lang="en-US" sz="1250" dirty="0">
                <a:solidFill>
                  <a:srgbClr val="D7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durable runtime: state, persistence, cycles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level, more control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2194560"/>
            <a:ext cx="3931920" cy="1325880"/>
          </a:xfrm>
          <a:prstGeom prst="roundRect">
            <a:avLst>
              <a:gd name="adj" fmla="val 6207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09560" y="2423160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5348" y="2558948"/>
            <a:ext cx="231343" cy="23134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54964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909560" y="2880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Observe, evaluate, improve. Watches every layer.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80960" y="3657600"/>
            <a:ext cx="3931920" cy="1325880"/>
          </a:xfrm>
          <a:prstGeom prst="roundRect">
            <a:avLst>
              <a:gd name="adj" fmla="val 6207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909560" y="3886200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348" y="4021988"/>
            <a:ext cx="231343" cy="23134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549640" y="3840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Platform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7909560" y="4343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scale agents in production.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the top, drop down a layer only when you need more control. Nothing underneath is hidden from you.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LangChain thinks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end to end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1417320" cy="822960"/>
          </a:xfrm>
          <a:prstGeom prst="roundRect">
            <a:avLst>
              <a:gd name="adj" fmla="val 10000"/>
            </a:avLst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9659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84248" y="2377440"/>
            <a:ext cx="411480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95728" y="1965960"/>
            <a:ext cx="18745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95728" y="19659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/ harness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0248" y="2377440"/>
            <a:ext cx="411480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81728" y="1965960"/>
            <a:ext cx="17830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2139696"/>
            <a:ext cx="457200" cy="457200"/>
          </a:xfrm>
          <a:prstGeom prst="ellipse">
            <a:avLst/>
          </a:prstGeom>
          <a:solidFill>
            <a:srgbClr val="BE7A3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4044" y="2263140"/>
            <a:ext cx="210312" cy="2103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257800" y="19659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64808" y="2377440"/>
            <a:ext cx="347472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812280" y="1847088"/>
            <a:ext cx="1371600" cy="105156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0E857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12280" y="1847088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call?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183880" y="2377440"/>
            <a:ext cx="457200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8183880" y="19842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686800" y="196596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686800" y="20939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686800" y="23865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 content_blocks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498080" y="2898648"/>
            <a:ext cx="0" cy="777240"/>
          </a:xfrm>
          <a:prstGeom prst="line">
            <a:avLst/>
          </a:prstGeom>
          <a:noFill/>
          <a:ln w="25400">
            <a:solidFill>
              <a:srgbClr val="BE7A3A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7589520" y="30175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5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675120" y="3657600"/>
            <a:ext cx="18288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3813048"/>
            <a:ext cx="457200" cy="45720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724" y="3936492"/>
            <a:ext cx="210312" cy="21031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269480" y="36576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tool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126480" y="4041648"/>
            <a:ext cx="548640" cy="0"/>
          </a:xfrm>
          <a:prstGeom prst="line">
            <a:avLst/>
          </a:prstGeom>
          <a:noFill/>
          <a:ln w="25400">
            <a:solidFill>
              <a:srgbClr val="BE7A3A"/>
            </a:solidFill>
            <a:prstDash val="solid"/>
            <a:headEnd type="triangle"/>
            <a:tailEnd type="none"/>
          </a:ln>
        </p:spPr>
      </p:sp>
      <p:sp>
        <p:nvSpPr>
          <p:cNvPr id="30" name="Shape 26"/>
          <p:cNvSpPr/>
          <p:nvPr/>
        </p:nvSpPr>
        <p:spPr>
          <a:xfrm>
            <a:off x="4297680" y="3657600"/>
            <a:ext cx="18288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434840" y="3813048"/>
            <a:ext cx="457200" cy="45720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284" y="3936492"/>
            <a:ext cx="210312" cy="21031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892040" y="365760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5212080" y="2898648"/>
            <a:ext cx="0" cy="758952"/>
          </a:xfrm>
          <a:prstGeom prst="line">
            <a:avLst/>
          </a:prstGeom>
          <a:noFill/>
          <a:ln w="25400">
            <a:solidFill>
              <a:srgbClr val="BE7A3A"/>
            </a:solidFill>
            <a:prstDash val="solid"/>
            <a:headEnd type="triangle"/>
            <a:tailEnd type="none"/>
          </a:ln>
        </p:spPr>
      </p:sp>
      <p:sp>
        <p:nvSpPr>
          <p:cNvPr id="35" name="Text 30"/>
          <p:cNvSpPr/>
          <p:nvPr/>
        </p:nvSpPr>
        <p:spPr>
          <a:xfrm>
            <a:off x="3931920" y="32461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5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back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566928" y="4800600"/>
            <a:ext cx="310896" cy="310896"/>
          </a:xfrm>
          <a:prstGeom prst="ellipse">
            <a:avLst/>
          </a:prstGeom>
          <a:solidFill>
            <a:srgbClr val="E4F0ED"/>
          </a:solidFill>
          <a:ln/>
        </p:spPr>
      </p:sp>
      <p:sp>
        <p:nvSpPr>
          <p:cNvPr id="37" name="Text 32"/>
          <p:cNvSpPr/>
          <p:nvPr/>
        </p:nvSpPr>
        <p:spPr>
          <a:xfrm>
            <a:off x="566928" y="4791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1024128" y="47731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Prompt/harness assembles the messages: system rules, history, and the user turn.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566928" y="5166360"/>
            <a:ext cx="310896" cy="310896"/>
          </a:xfrm>
          <a:prstGeom prst="ellipse">
            <a:avLst/>
          </a:prstGeom>
          <a:solidFill>
            <a:srgbClr val="E4F0ED"/>
          </a:solidFill>
          <a:ln/>
        </p:spPr>
      </p:sp>
      <p:sp>
        <p:nvSpPr>
          <p:cNvPr id="40" name="Text 35"/>
          <p:cNvSpPr/>
          <p:nvPr/>
        </p:nvSpPr>
        <p:spPr>
          <a:xfrm>
            <a:off x="566928" y="5157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1024128" y="5138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them and either answers or asks to call a tool.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566928" y="5532120"/>
            <a:ext cx="310896" cy="310896"/>
          </a:xfrm>
          <a:prstGeom prst="ellipse">
            <a:avLst/>
          </a:prstGeom>
          <a:solidFill>
            <a:srgbClr val="E4F0ED"/>
          </a:solidFill>
          <a:ln/>
        </p:spPr>
      </p:sp>
      <p:sp>
        <p:nvSpPr>
          <p:cNvPr id="43" name="Text 38"/>
          <p:cNvSpPr/>
          <p:nvPr/>
        </p:nvSpPr>
        <p:spPr>
          <a:xfrm>
            <a:off x="566928" y="5522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1024128" y="55046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tool is called, it runs and returns an observation (data).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566928" y="5897880"/>
            <a:ext cx="310896" cy="310896"/>
          </a:xfrm>
          <a:prstGeom prst="ellipse">
            <a:avLst/>
          </a:prstGeom>
          <a:solidFill>
            <a:srgbClr val="E4F0ED"/>
          </a:solidFill>
          <a:ln/>
        </p:spPr>
      </p:sp>
      <p:sp>
        <p:nvSpPr>
          <p:cNvPr id="46" name="Text 41"/>
          <p:cNvSpPr/>
          <p:nvPr/>
        </p:nvSpPr>
        <p:spPr>
          <a:xfrm>
            <a:off x="566928" y="5888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2"/>
          <p:cNvSpPr/>
          <p:nvPr/>
        </p:nvSpPr>
        <p:spPr>
          <a:xfrm>
            <a:off x="1024128" y="58704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observation goes back to the model. It loops until the goal is met.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566928" y="6263640"/>
            <a:ext cx="310896" cy="310896"/>
          </a:xfrm>
          <a:prstGeom prst="ellipse">
            <a:avLst/>
          </a:prstGeom>
          <a:solidFill>
            <a:srgbClr val="E4F0ED"/>
          </a:solidFill>
          <a:ln/>
        </p:spPr>
      </p:sp>
      <p:sp>
        <p:nvSpPr>
          <p:cNvPr id="49" name="Text 44"/>
          <p:cNvSpPr/>
          <p:nvPr/>
        </p:nvSpPr>
        <p:spPr>
          <a:xfrm>
            <a:off x="566928" y="6254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0" name="Text 45"/>
          <p:cNvSpPr/>
          <p:nvPr/>
        </p:nvSpPr>
        <p:spPr>
          <a:xfrm>
            <a:off x="1024128" y="62362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reply comes back as typed content_blocks, ready to use.</a:t>
            </a:r>
            <a:endParaRPr lang="en-US" sz="1200" dirty="0"/>
          </a:p>
        </p:txBody>
      </p:sp>
      <p:sp>
        <p:nvSpPr>
          <p:cNvPr id="51" name="Text 46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LangChain thinks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2064" y="12344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0" b="1" dirty="0">
                <a:solidFill>
                  <a:srgbClr val="0A5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200" dirty="0"/>
          </a:p>
        </p:txBody>
      </p:sp>
      <p:sp>
        <p:nvSpPr>
          <p:cNvPr id="4" name="Shape 2"/>
          <p:cNvSpPr/>
          <p:nvPr/>
        </p:nvSpPr>
        <p:spPr>
          <a:xfrm>
            <a:off x="10161727" y="1554480"/>
            <a:ext cx="1371600" cy="1371600"/>
          </a:xfrm>
          <a:prstGeom prst="ellipse">
            <a:avLst/>
          </a:prstGeom>
          <a:solidFill>
            <a:srgbClr val="0E8574"/>
          </a:solidFill>
          <a:ln/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2059" y="1924812"/>
            <a:ext cx="630936" cy="63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611880"/>
            <a:ext cx="106920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Primitives, From Scratch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66928" y="4709160"/>
            <a:ext cx="9686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EB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messages, prompts, parsers, and the pipe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from Zero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models and messages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send is a list of messages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94560"/>
            <a:ext cx="1234440" cy="658368"/>
          </a:xfrm>
          <a:prstGeom prst="roundRect">
            <a:avLst/>
          </a:prstGeom>
          <a:solidFill>
            <a:srgbClr val="0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1945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38528" y="2194560"/>
            <a:ext cx="3657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1945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concise travel assistant.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980944"/>
            <a:ext cx="1234440" cy="658368"/>
          </a:xfrm>
          <a:prstGeom prst="roundRect">
            <a:avLst/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98094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38528" y="2980944"/>
            <a:ext cx="3657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98094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Rebook PNR JX48Q2 to the morning flight.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767328"/>
            <a:ext cx="1234440" cy="658368"/>
          </a:xfrm>
          <a:prstGeom prst="roundRect">
            <a:avLst/>
          </a:prstGeom>
          <a:solidFill>
            <a:srgbClr val="F3E9DE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76732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38528" y="3767328"/>
            <a:ext cx="3657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376732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Done. New segment AI302, 07:10 BLR-DEL.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4617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arrive as content_blocks:  text  ·  reasoning  ·  tool_call  ·  citation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06440" y="1783080"/>
            <a:ext cx="5806440" cy="3657600"/>
          </a:xfrm>
          <a:prstGeom prst="roundRect">
            <a:avLst>
              <a:gd name="adj" fmla="val 1250"/>
            </a:avLst>
          </a:prstGeom>
          <a:solidFill>
            <a:srgbClr val="0C1A18"/>
          </a:solidFill>
          <a:ln w="12700">
            <a:solidFill>
              <a:srgbClr val="20423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1920240"/>
            <a:ext cx="5440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langchain_aws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ChatBedrockConverse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ChatBedrockConverse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model_id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"us.anthropic.claude-haiku-4-5-20251001-v1:0"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region_name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"us-east-1"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=0.2,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"system"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concise travel assistant."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"human"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"Rebook PNR JX48Q2 to morning."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content_blocks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message interface for every provider. Only the model line changes.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1B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model, keep the code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852160" cy="2606040"/>
          </a:xfrm>
          <a:prstGeom prst="roundRect">
            <a:avLst>
              <a:gd name="adj" fmla="val 1754"/>
            </a:avLst>
          </a:prstGeom>
          <a:solidFill>
            <a:srgbClr val="0C1A18"/>
          </a:solidFill>
          <a:ln w="12700">
            <a:solidFill>
              <a:srgbClr val="20423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965960"/>
            <a:ext cx="5486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chat_models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init_chat_model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init_chat_model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"us.anthropic.claude-haiku-4-5-20251001-v1:0"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model_provider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"bedrock_converse"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region_name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"us-east-1"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46177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initializer, many back ends: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49834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(prompts, parsers, tools, agents) stays byte-for-byte the same.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828800"/>
          <a:ext cx="4800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3317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57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model_provider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57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on Bedrock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"bedrock_converse"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direct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"anthropic"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"openai"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"google_genai"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12280" y="4937760"/>
            <a:ext cx="4800600" cy="658368"/>
          </a:xfrm>
          <a:prstGeom prst="roundRect">
            <a:avLst>
              <a:gd name="adj" fmla="val 12500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95160" y="493776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becomes a one-line diff.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 is a feature, not an accident. Prototype on one model, ship on another.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templates, not f-strings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989320" cy="3200400"/>
          </a:xfrm>
          <a:prstGeom prst="roundRect">
            <a:avLst>
              <a:gd name="adj" fmla="val 1429"/>
            </a:avLst>
          </a:prstGeom>
          <a:solidFill>
            <a:srgbClr val="0C1A18"/>
          </a:solidFill>
          <a:ln w="12700">
            <a:solidFill>
              <a:srgbClr val="20423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965960"/>
            <a:ext cx="5623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langchain_core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ChatPromptTemplate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ChatPromptTemplate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from_messages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"system"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answer as {persona}."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"human"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"{question}"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"persona"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Bedrock solutions architect"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"question"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is an inference profile?"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12280" y="1828800"/>
            <a:ext cx="480060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86600" y="2057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raw f-string?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2" y="254203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0664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the template from the data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310896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30540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across calls and chains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3675888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06640" y="36210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message roles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424281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06640" y="4187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the pipe:  prompt | model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template is a Runnable too, so it clicks straight into the same pipe.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typed objects, not prose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989320" cy="3200400"/>
          </a:xfrm>
          <a:prstGeom prst="roundRect">
            <a:avLst>
              <a:gd name="adj" fmla="val 1429"/>
            </a:avLst>
          </a:prstGeom>
          <a:solidFill>
            <a:srgbClr val="0C1A18"/>
          </a:solidFill>
          <a:ln w="12700">
            <a:solidFill>
              <a:srgbClr val="20423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965960"/>
            <a:ext cx="5623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pydantic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BaseModel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Rebooking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BaseModel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new_flight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fare_difference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with_structured_output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Rebooking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"Rebook JX48Q2 to AI302, "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"fare diff 45 USD"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E8D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Rebooking(pnr='JX48Q2',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E8D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new_flight='AI302', fare_difference=45.0)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12280" y="1828800"/>
            <a:ext cx="480060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202996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993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059168" y="23317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"Sure! I've rebooked you onto AI302..."  then you regex it and pray.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12280" y="3456432"/>
            <a:ext cx="4800600" cy="1572768"/>
          </a:xfrm>
          <a:prstGeom prst="roundRect">
            <a:avLst>
              <a:gd name="adj" fmla="val 5233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365760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36210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059168" y="395020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Python object you use directly:  result.new_flight, result.fare_difference.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v1, structured output is built into the agent loop, so it costs no extra model call.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Compose, then run three ways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989320" cy="3200400"/>
          </a:xfrm>
          <a:prstGeom prst="roundRect">
            <a:avLst>
              <a:gd name="adj" fmla="val 1429"/>
            </a:avLst>
          </a:prstGeom>
          <a:solidFill>
            <a:srgbClr val="0C1A18"/>
          </a:solidFill>
          <a:ln w="12700">
            <a:solidFill>
              <a:srgbClr val="20423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965960"/>
            <a:ext cx="5623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"question"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   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E8D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result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([{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"question"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    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E8D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parallel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{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"question"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}])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"question"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}):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E8D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token by token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12280" y="1828800"/>
            <a:ext cx="48006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0" y="2029968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6668" y="2165756"/>
            <a:ext cx="231343" cy="23134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0" y="19568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8096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request, one result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12280" y="2852928"/>
            <a:ext cx="48006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040880" y="3054096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668" y="3189884"/>
            <a:ext cx="231343" cy="23134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80960" y="29809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680960" y="3310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inputs, run concurrently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812280" y="3877056"/>
            <a:ext cx="48006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40880" y="4078224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668" y="4214012"/>
            <a:ext cx="231343" cy="23134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80960" y="4005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680960" y="43342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tokens for chat UIs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66928" y="5166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Servers use the async twins:  await chain.ainvoke(...)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chain object, three ways to run it. Concurrency and streaming come free.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primitives at a glance</a:t>
            </a:r>
            <a:endParaRPr lang="en-US" sz="2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3891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57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you make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57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for it when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57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ChatBedrockConverse(model_id=...)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a model reply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("system"/"human"/"ai", text)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talk to any chat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ChatPromptTemplate.from_messages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template inputs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llm.with_structured_output(Model)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clean data, not prose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 (LCEL)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prompt | llm | parser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chain fixed steps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invoke / batch / stream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/ many / live 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paths shift across minor versions. Confirm current imports at docs.langchain.com.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2064" y="12344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0" b="1" dirty="0">
                <a:solidFill>
                  <a:srgbClr val="0A5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200" dirty="0"/>
          </a:p>
        </p:txBody>
      </p:sp>
      <p:sp>
        <p:nvSpPr>
          <p:cNvPr id="4" name="Shape 2"/>
          <p:cNvSpPr/>
          <p:nvPr/>
        </p:nvSpPr>
        <p:spPr>
          <a:xfrm>
            <a:off x="10161727" y="1554480"/>
            <a:ext cx="1371600" cy="1371600"/>
          </a:xfrm>
          <a:prstGeom prst="ellipse">
            <a:avLst/>
          </a:prstGeom>
          <a:solidFill>
            <a:srgbClr val="0E8574"/>
          </a:solidFill>
          <a:ln/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2059" y="1924812"/>
            <a:ext cx="630936" cy="63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611880"/>
            <a:ext cx="106920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Model Knowledge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66928" y="4709160"/>
            <a:ext cx="9686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EB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closed-book model into an open-book one (RAG)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from Zero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RETRIEVAL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book vs open book (RAG)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200400" cy="329184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B45B4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748" y="2193188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5608" y="20848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book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alone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6324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999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memory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2044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456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Guesses when unsure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77640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913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cite a source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434840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4370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at its training cutoff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041648" y="1828800"/>
            <a:ext cx="3200400" cy="3291840"/>
          </a:xfrm>
          <a:prstGeom prst="roundRect">
            <a:avLst>
              <a:gd name="adj" fmla="val 2571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297680" y="2057400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3468" y="2193188"/>
            <a:ext cx="231343" cy="23134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10328" y="20848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book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429768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retrieval</a:t>
            </a:r>
            <a:endParaRPr lang="en-US" sz="11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3063240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572000" y="2999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relevant passages first</a:t>
            </a:r>
            <a:endParaRPr lang="en-US" sz="12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0" y="3520440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572000" y="3456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in them</a:t>
            </a:r>
            <a:endParaRPr lang="en-US" sz="12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0" y="3977640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4572000" y="3913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cite what it used</a:t>
            </a:r>
            <a:endParaRPr lang="en-US" sz="12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7680" y="4434840"/>
            <a:ext cx="182880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4572000" y="4370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fresh, private data</a:t>
            </a:r>
            <a:endParaRPr lang="en-US" sz="1200" dirty="0"/>
          </a:p>
        </p:txBody>
      </p:sp>
      <p:sp>
        <p:nvSpPr>
          <p:cNvPr id="31" name="Shape 19"/>
          <p:cNvSpPr/>
          <p:nvPr/>
        </p:nvSpPr>
        <p:spPr>
          <a:xfrm>
            <a:off x="7452360" y="1828800"/>
            <a:ext cx="4160520" cy="3291840"/>
          </a:xfrm>
          <a:prstGeom prst="roundRect">
            <a:avLst>
              <a:gd name="adj" fmla="val 2500"/>
            </a:avLst>
          </a:prstGeom>
          <a:solidFill>
            <a:srgbClr val="FBFCFC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32" name="Text 20"/>
          <p:cNvSpPr/>
          <p:nvPr/>
        </p:nvSpPr>
        <p:spPr>
          <a:xfrm>
            <a:off x="768096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plugs in</a:t>
            </a:r>
            <a:endParaRPr lang="en-US" sz="1300" dirty="0"/>
          </a:p>
        </p:txBody>
      </p:sp>
      <p:sp>
        <p:nvSpPr>
          <p:cNvPr id="33" name="Shape 21"/>
          <p:cNvSpPr/>
          <p:nvPr/>
        </p:nvSpPr>
        <p:spPr>
          <a:xfrm>
            <a:off x="7726680" y="2423160"/>
            <a:ext cx="3611880" cy="384048"/>
          </a:xfrm>
          <a:prstGeom prst="roundRect">
            <a:avLst>
              <a:gd name="adj" fmla="val 11905"/>
            </a:avLst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34" name="Text 22"/>
          <p:cNvSpPr/>
          <p:nvPr/>
        </p:nvSpPr>
        <p:spPr>
          <a:xfrm>
            <a:off x="7726680" y="24231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50" dirty="0"/>
          </a:p>
        </p:txBody>
      </p:sp>
      <p:sp>
        <p:nvSpPr>
          <p:cNvPr id="35" name="Shape 23"/>
          <p:cNvSpPr/>
          <p:nvPr/>
        </p:nvSpPr>
        <p:spPr>
          <a:xfrm>
            <a:off x="9528048" y="2807208"/>
            <a:ext cx="0" cy="128016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36" name="Shape 24"/>
          <p:cNvSpPr/>
          <p:nvPr/>
        </p:nvSpPr>
        <p:spPr>
          <a:xfrm>
            <a:off x="7726680" y="2935224"/>
            <a:ext cx="3611880" cy="384048"/>
          </a:xfrm>
          <a:prstGeom prst="roundRect">
            <a:avLst>
              <a:gd name="adj" fmla="val 11905"/>
            </a:avLst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7726680" y="293522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your docs</a:t>
            </a:r>
            <a:endParaRPr lang="en-US" sz="1150" dirty="0"/>
          </a:p>
        </p:txBody>
      </p:sp>
      <p:sp>
        <p:nvSpPr>
          <p:cNvPr id="38" name="Shape 26"/>
          <p:cNvSpPr/>
          <p:nvPr/>
        </p:nvSpPr>
        <p:spPr>
          <a:xfrm>
            <a:off x="9528048" y="3319272"/>
            <a:ext cx="0" cy="128016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39" name="Shape 27"/>
          <p:cNvSpPr/>
          <p:nvPr/>
        </p:nvSpPr>
        <p:spPr>
          <a:xfrm>
            <a:off x="7726680" y="3447288"/>
            <a:ext cx="3611880" cy="384048"/>
          </a:xfrm>
          <a:prstGeom prst="roundRect">
            <a:avLst>
              <a:gd name="adj" fmla="val 11905"/>
            </a:avLst>
          </a:prstGeom>
          <a:solidFill>
            <a:srgbClr val="E4F0ED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7726680" y="34472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passages</a:t>
            </a:r>
            <a:endParaRPr lang="en-US" sz="1150" dirty="0"/>
          </a:p>
        </p:txBody>
      </p:sp>
      <p:sp>
        <p:nvSpPr>
          <p:cNvPr id="41" name="Shape 29"/>
          <p:cNvSpPr/>
          <p:nvPr/>
        </p:nvSpPr>
        <p:spPr>
          <a:xfrm>
            <a:off x="9528048" y="3831336"/>
            <a:ext cx="0" cy="128016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42" name="Shape 30"/>
          <p:cNvSpPr/>
          <p:nvPr/>
        </p:nvSpPr>
        <p:spPr>
          <a:xfrm>
            <a:off x="7726680" y="3959352"/>
            <a:ext cx="3611880" cy="384048"/>
          </a:xfrm>
          <a:prstGeom prst="roundRect">
            <a:avLst>
              <a:gd name="adj" fmla="val 11905"/>
            </a:avLst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7726680" y="39593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44" name="Shape 32"/>
          <p:cNvSpPr/>
          <p:nvPr/>
        </p:nvSpPr>
        <p:spPr>
          <a:xfrm>
            <a:off x="9528048" y="4343400"/>
            <a:ext cx="0" cy="128016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45" name="Shape 33"/>
          <p:cNvSpPr/>
          <p:nvPr/>
        </p:nvSpPr>
        <p:spPr>
          <a:xfrm>
            <a:off x="7726680" y="4471416"/>
            <a:ext cx="3611880" cy="384048"/>
          </a:xfrm>
          <a:prstGeom prst="roundRect">
            <a:avLst>
              <a:gd name="adj" fmla="val 11905"/>
            </a:avLst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7726680" y="44714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150" dirty="0"/>
          </a:p>
        </p:txBody>
      </p:sp>
      <p:sp>
        <p:nvSpPr>
          <p:cNvPr id="47" name="Shape 35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48" name="Text 36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does not retrain the model. It hands over the right pages at question time.</a:t>
            </a:r>
            <a:endParaRPr lang="en-US" sz="1350" dirty="0"/>
          </a:p>
        </p:txBody>
      </p:sp>
      <p:sp>
        <p:nvSpPr>
          <p:cNvPr id="49" name="Text 37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(RAG)</a:t>
            </a:r>
            <a:endParaRPr lang="en-US" sz="900" dirty="0"/>
          </a:p>
        </p:txBody>
      </p:sp>
      <p:sp>
        <p:nvSpPr>
          <p:cNvPr id="50" name="Text 38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once, retrieve every time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109728" cy="109728"/>
          </a:xfrm>
          <a:prstGeom prst="rect">
            <a:avLst/>
          </a:prstGeom>
          <a:solidFill>
            <a:srgbClr val="5B6670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830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 ·  INDEXING (OFFLINE, WHEN DOCS CHANGE)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240280"/>
            <a:ext cx="16002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2402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67128" y="2628900"/>
            <a:ext cx="411480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78608" y="2240280"/>
            <a:ext cx="16002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78608" y="22402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78808" y="2628900"/>
            <a:ext cx="411480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90288" y="2240280"/>
            <a:ext cx="16002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0288" y="22402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0488" y="2628900"/>
            <a:ext cx="411480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01968" y="2240280"/>
            <a:ext cx="16002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01968" y="22402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02168" y="2628900"/>
            <a:ext cx="411480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13648" y="2194560"/>
            <a:ext cx="1600200" cy="868680"/>
          </a:xfrm>
          <a:prstGeom prst="can">
            <a:avLst/>
          </a:prstGeom>
          <a:solidFill>
            <a:srgbClr val="0E8574"/>
          </a:solidFill>
          <a:ln w="12700">
            <a:solidFill>
              <a:srgbClr val="0B6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13648" y="22860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538728"/>
            <a:ext cx="109728" cy="109728"/>
          </a:xfrm>
          <a:prstGeom prst="rect">
            <a:avLst/>
          </a:prstGeom>
          <a:solidFill>
            <a:srgbClr val="5B6670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34747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  ·  QUERY (PER QUESTION)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3931920"/>
            <a:ext cx="16002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39319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167128" y="4320540"/>
            <a:ext cx="411480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578608" y="3886200"/>
            <a:ext cx="1600200" cy="868680"/>
          </a:xfrm>
          <a:prstGeom prst="can">
            <a:avLst/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78608" y="39319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78808" y="4320540"/>
            <a:ext cx="411480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90288" y="3931920"/>
            <a:ext cx="16002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90288" y="39319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(+context)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90488" y="4320540"/>
            <a:ext cx="411480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01968" y="3931920"/>
            <a:ext cx="16002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01968" y="39319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202168" y="4320540"/>
            <a:ext cx="411480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613648" y="3931920"/>
            <a:ext cx="1600200" cy="777240"/>
          </a:xfrm>
          <a:prstGeom prst="roundRect">
            <a:avLst>
              <a:gd name="adj" fmla="val 10588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13648" y="39319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852160" y="36758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top-k passages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is a batch job when documents change. Retrieval runs on every single question.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(RAG)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job, its part, its Bedrock option</a:t>
            </a:r>
            <a:endParaRPr lang="en-US" sz="2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59436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606040"/>
                <a:gridCol w="192024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57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piece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57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AWS / Bedrock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57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docs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DocumentLoader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S3, web pages, files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RecursiveCharacterTextSplitter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 chunk size + overlap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BedrockEmbeddings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 or Cohere on Bedrock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+ 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VectorStore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OpenSearch, PGVector, FAISS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.as_retriever()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Knowledge Bases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29400" y="1828800"/>
            <a:ext cx="4983480" cy="3063240"/>
          </a:xfrm>
          <a:prstGeom prst="roundRect">
            <a:avLst>
              <a:gd name="adj" fmla="val 1493"/>
            </a:avLst>
          </a:prstGeom>
          <a:solidFill>
            <a:srgbClr val="0C1A18"/>
          </a:solidFill>
          <a:ln w="12700">
            <a:solidFill>
              <a:srgbClr val="20423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12280" y="1965960"/>
            <a:ext cx="4617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langchain_aws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AmazonKnowledgeBasesRetriever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AmazonKnowledgeBasesRetriever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knowledge_base_id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"KB123"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retrieval_config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"vectorSearchConfiguration"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{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"numberOfResults"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4}},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"cancellation policy, Gold tier"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shortcut: Bedrock Knowledge Bases bundles load, split, embed, store, and retrieve as one service.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(RAG)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2064" y="12344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0" b="1" dirty="0">
                <a:solidFill>
                  <a:srgbClr val="0A5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200" dirty="0"/>
          </a:p>
        </p:txBody>
      </p:sp>
      <p:sp>
        <p:nvSpPr>
          <p:cNvPr id="4" name="Shape 2"/>
          <p:cNvSpPr/>
          <p:nvPr/>
        </p:nvSpPr>
        <p:spPr>
          <a:xfrm>
            <a:off x="10161727" y="1554480"/>
            <a:ext cx="1371600" cy="1371600"/>
          </a:xfrm>
          <a:prstGeom prst="ellipse">
            <a:avLst/>
          </a:prstGeom>
          <a:solidFill>
            <a:srgbClr val="0E8574"/>
          </a:solidFill>
          <a:ln/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2059" y="1924812"/>
            <a:ext cx="630936" cy="63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611880"/>
            <a:ext cx="106920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and Tools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66928" y="4709160"/>
            <a:ext cx="9686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EB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notebook, then give it hands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from Zero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NOTEBOOK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from stateless to stateful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5778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persist the message history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48716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2144" y="24323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memory  </a:t>
            </a:r>
            <a:pPr indent="0" marL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starts blank.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4436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28529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checkpointer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thread_id; history is saved and reloaded.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41248" y="3611880"/>
            <a:ext cx="5029200" cy="566928"/>
          </a:xfrm>
          <a:prstGeom prst="roundRect">
            <a:avLst>
              <a:gd name="adj" fmla="val 14516"/>
            </a:avLst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24128" y="36118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one thread_id.    </a:t>
            </a:r>
            <a:pPr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 durable store.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41248" y="4343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middleware compresses old turns so context stays small.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828800"/>
            <a:ext cx="5303520" cy="3291840"/>
          </a:xfrm>
          <a:prstGeom prst="roundRect">
            <a:avLst>
              <a:gd name="adj" fmla="val 1389"/>
            </a:avLst>
          </a:prstGeom>
          <a:solidFill>
            <a:srgbClr val="0C1A18"/>
          </a:solidFill>
          <a:ln w="12700">
            <a:solidFill>
              <a:srgbClr val="20423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92240" y="19659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create_agent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InMemorySaver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create_agent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checkpointer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InMemorySaver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"configurable"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"thread_id"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"user-42"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"messages"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[...]},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E8D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thread_id next time -&gt; it remembers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thread_id means same memory. Swap InMemorySaver for a database to survive restarts.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and tools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HANDS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let the model call your code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806440" cy="2743200"/>
          </a:xfrm>
          <a:prstGeom prst="roundRect">
            <a:avLst>
              <a:gd name="adj" fmla="val 1667"/>
            </a:avLst>
          </a:prstGeom>
          <a:solidFill>
            <a:srgbClr val="0C1A18"/>
          </a:solidFill>
          <a:ln w="12700">
            <a:solidFill>
              <a:srgbClr val="20423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965960"/>
            <a:ext cx="5440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langchain_core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get_pnr_status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"Return booking status for a PNR."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airline_api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709160"/>
            <a:ext cx="5806440" cy="658368"/>
          </a:xfrm>
          <a:prstGeom prst="roundRect">
            <a:avLst>
              <a:gd name="adj" fmla="val 12500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470916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docstring and type hints become the schema the model reads.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29400" y="1828800"/>
            <a:ext cx="4983480" cy="353872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03720" y="20116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tool-calling loop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03720" y="239572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E4F0ED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67728" y="244144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967728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24928" y="23957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asks:  get_pnr_status('JX48Q2')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0" y="2852928"/>
            <a:ext cx="0" cy="118872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03720" y="297180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67728" y="301752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96772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24928" y="2971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function runs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0" y="3429000"/>
            <a:ext cx="0" cy="118872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03720" y="3547872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EEF2F1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67728" y="359359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967728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24928" y="3547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 CONFIRMED, seat 14C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0" y="4005072"/>
            <a:ext cx="0" cy="118872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03720" y="4123944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F3E9DE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67728" y="416966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967728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24928" y="41239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answers using the result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1109960" y="2624328"/>
            <a:ext cx="0" cy="1499616"/>
          </a:xfrm>
          <a:prstGeom prst="line">
            <a:avLst/>
          </a:prstGeom>
          <a:noFill/>
          <a:ln w="22225">
            <a:solidFill>
              <a:srgbClr val="BE7A3A"/>
            </a:solidFill>
            <a:prstDash val="solid"/>
            <a:headEnd type="triangl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10515600" y="35661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5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tools?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expose plain Python functions. The model decides when to call them, and with what arguments.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and tools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2064" y="12344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0" b="1" dirty="0">
                <a:solidFill>
                  <a:srgbClr val="0A5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200" dirty="0"/>
          </a:p>
        </p:txBody>
      </p:sp>
      <p:sp>
        <p:nvSpPr>
          <p:cNvPr id="4" name="Shape 2"/>
          <p:cNvSpPr/>
          <p:nvPr/>
        </p:nvSpPr>
        <p:spPr>
          <a:xfrm>
            <a:off x="10161727" y="1554480"/>
            <a:ext cx="1371600" cy="1371600"/>
          </a:xfrm>
          <a:prstGeom prst="ellipse">
            <a:avLst/>
          </a:prstGeom>
          <a:solidFill>
            <a:srgbClr val="0E8574"/>
          </a:solidFill>
          <a:ln/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2059" y="1924812"/>
            <a:ext cx="630936" cy="63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611880"/>
            <a:ext cx="106920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Agents: the Reasoning Loop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66928" y="4709160"/>
            <a:ext cx="9686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EB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decides the steps, not you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from Zero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AGENT 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in a loop: reason, act, observe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486400" cy="3566160"/>
          </a:xfrm>
          <a:prstGeom prst="roundRect">
            <a:avLst>
              <a:gd name="adj" fmla="val 2308"/>
            </a:avLst>
          </a:prstGeom>
          <a:solidFill>
            <a:srgbClr val="FBFCFC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240280"/>
            <a:ext cx="2011680" cy="640080"/>
          </a:xfrm>
          <a:prstGeom prst="roundRect">
            <a:avLst>
              <a:gd name="adj" fmla="val 12857"/>
            </a:avLst>
          </a:prstGeom>
          <a:solidFill>
            <a:srgbClr val="0E8574"/>
          </a:solidFill>
          <a:ln w="12700">
            <a:solidFill>
              <a:srgbClr val="0E8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240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48840" y="2880360"/>
            <a:ext cx="0" cy="219456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143000" y="3099816"/>
            <a:ext cx="2011680" cy="640080"/>
          </a:xfrm>
          <a:prstGeom prst="roundRect">
            <a:avLst>
              <a:gd name="adj" fmla="val 12857"/>
            </a:avLst>
          </a:prstGeom>
          <a:solidFill>
            <a:srgbClr val="0E8574"/>
          </a:solidFill>
          <a:ln w="12700">
            <a:solidFill>
              <a:srgbClr val="0E85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09981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48840" y="3739896"/>
            <a:ext cx="0" cy="219456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143000" y="3959352"/>
            <a:ext cx="2011680" cy="640080"/>
          </a:xfrm>
          <a:prstGeom prst="roundRect">
            <a:avLst>
              <a:gd name="adj" fmla="val 12857"/>
            </a:avLst>
          </a:prstGeom>
          <a:solidFill>
            <a:srgbClr val="0E8574"/>
          </a:solidFill>
          <a:ln w="12700">
            <a:solidFill>
              <a:srgbClr val="0E85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9593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29000" y="2560320"/>
            <a:ext cx="0" cy="1362456"/>
          </a:xfrm>
          <a:prstGeom prst="line">
            <a:avLst/>
          </a:prstGeom>
          <a:noFill/>
          <a:ln w="25400">
            <a:solidFill>
              <a:srgbClr val="BE7A3A"/>
            </a:solidFill>
            <a:prstDash val="solid"/>
            <a:headEnd type="triangl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3520440" y="31546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5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54680" y="2560320"/>
            <a:ext cx="914400" cy="0"/>
          </a:xfrm>
          <a:prstGeom prst="line">
            <a:avLst/>
          </a:prstGeom>
          <a:noFill/>
          <a:ln w="25400">
            <a:solidFill>
              <a:srgbClr val="0B6E6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246120" y="2331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60520" y="2240280"/>
            <a:ext cx="1783080" cy="640080"/>
          </a:xfrm>
          <a:prstGeom prst="roundRect">
            <a:avLst>
              <a:gd name="adj" fmla="val 12857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6052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663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decides each turn:  loop again, or answer.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2103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37960" y="23957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thinks about the goal and picks the next tool, or decides it is done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2926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537960" y="32186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calls that tool with concrete arguments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3749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37960" y="40416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result is added to the running context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4572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until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537960" y="48646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returns a final answer instead of a tool call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= Reason + Act. The loop is exactly what separates an agent from a single model call.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create_agent, the fast path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6537960" cy="3657600"/>
          </a:xfrm>
          <a:prstGeom prst="roundRect">
            <a:avLst>
              <a:gd name="adj" fmla="val 1250"/>
            </a:avLst>
          </a:prstGeom>
          <a:solidFill>
            <a:srgbClr val="0C1A18"/>
          </a:solidFill>
          <a:ln w="12700">
            <a:solidFill>
              <a:srgbClr val="20423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965960"/>
            <a:ext cx="6172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create_agent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create_agent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"us.anthropic.claude-haiku-4-5-20251001-v1:0"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model_provider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"bedrock_converse"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get_pnr_status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rebook_segment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system_prompt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TravelMind, "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 airline support agent."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"messages"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 BLR-DEL leg was cancelled."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}]})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"messages"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][-1].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content_blocks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269480" y="1828800"/>
            <a:ext cx="43434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0" y="2011680"/>
            <a:ext cx="457200" cy="45720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1524" y="2135124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92440" y="1938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92440" y="22494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LLM to use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69480" y="2743200"/>
            <a:ext cx="43434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98080" y="2926080"/>
            <a:ext cx="457200" cy="45720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524" y="3049524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92440" y="2852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092440" y="31638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actions it can take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269480" y="3657600"/>
            <a:ext cx="43434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98080" y="3840480"/>
            <a:ext cx="457200" cy="45720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524" y="3963924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92440" y="3767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system_prompt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092440" y="40782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role and rules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269480" y="4572000"/>
            <a:ext cx="43434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0" y="4754880"/>
            <a:ext cx="457200" cy="45720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524" y="4878324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092440" y="4681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092440" y="49926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guardrails (next slide)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arguments and you have a working, tool-using agent on Bedrock, running on the LangGraph runtime.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hooks around every step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212080" cy="3200400"/>
          </a:xfrm>
          <a:prstGeom prst="roundRect">
            <a:avLst>
              <a:gd name="adj" fmla="val 2571"/>
            </a:avLst>
          </a:prstGeom>
          <a:solidFill>
            <a:srgbClr val="FBFCFC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03120"/>
            <a:ext cx="1737360" cy="621792"/>
          </a:xfrm>
          <a:prstGeom prst="roundRect">
            <a:avLst>
              <a:gd name="adj" fmla="val 13235"/>
            </a:avLst>
          </a:prstGeom>
          <a:solidFill>
            <a:srgbClr val="0E8574"/>
          </a:solidFill>
          <a:ln w="12700">
            <a:solidFill>
              <a:srgbClr val="0E8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031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18688" y="2103120"/>
            <a:ext cx="1737360" cy="621792"/>
          </a:xfrm>
          <a:prstGeom prst="roundRect">
            <a:avLst>
              <a:gd name="adj" fmla="val 13235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21031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78608" y="2414016"/>
            <a:ext cx="640080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709928" y="2880360"/>
            <a:ext cx="2194560" cy="0"/>
          </a:xfrm>
          <a:prstGeom prst="line">
            <a:avLst/>
          </a:prstGeom>
          <a:noFill/>
          <a:ln w="25400">
            <a:solidFill>
              <a:srgbClr val="BE7A3A"/>
            </a:solidFill>
            <a:prstDash val="solid"/>
            <a:headEnd type="triangl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41248" y="3200400"/>
            <a:ext cx="1600200" cy="365760"/>
          </a:xfrm>
          <a:prstGeom prst="roundRect">
            <a:avLst>
              <a:gd name="adj" fmla="val 12500"/>
            </a:avLst>
          </a:prstGeom>
          <a:solidFill>
            <a:srgbClr val="0C1A18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200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before_model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78608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tweak the request before the model runs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" y="3657600"/>
            <a:ext cx="1600200" cy="365760"/>
          </a:xfrm>
          <a:prstGeom prst="roundRect">
            <a:avLst>
              <a:gd name="adj" fmla="val 12500"/>
            </a:avLst>
          </a:prstGeom>
          <a:solidFill>
            <a:srgbClr val="0C1A1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657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after_model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78608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or edit the reply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1248" y="4114800"/>
            <a:ext cx="1600200" cy="365760"/>
          </a:xfrm>
          <a:prstGeom prst="roundRect">
            <a:avLst>
              <a:gd name="adj" fmla="val 12500"/>
            </a:avLst>
          </a:prstGeom>
          <a:solidFill>
            <a:srgbClr val="0C1A18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4114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before_tool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78608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or block a tool call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" y="4572000"/>
            <a:ext cx="1600200" cy="365760"/>
          </a:xfrm>
          <a:prstGeom prst="roundRect">
            <a:avLst>
              <a:gd name="adj" fmla="val 12500"/>
            </a:avLst>
          </a:prstGeom>
          <a:solidFill>
            <a:srgbClr val="0C1A18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572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after_tool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78608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 the tool result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1828800"/>
            <a:ext cx="53035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1993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the box</a:t>
            </a:r>
            <a:endParaRPr lang="en-US" sz="13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404872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903720" y="2350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903720" y="2624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for approval on risky actions</a:t>
            </a:r>
            <a:endParaRPr lang="en-US" sz="11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063240"/>
            <a:ext cx="237744" cy="23774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903720" y="3008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903720" y="3282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long histories automatically</a:t>
            </a:r>
            <a:endParaRPr lang="en-US" sz="11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721608"/>
            <a:ext cx="237744" cy="23774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903720" y="3666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6903720" y="3941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sensitive data before the model sees it</a:t>
            </a:r>
            <a:endParaRPr lang="en-US" sz="11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379976"/>
            <a:ext cx="237744" cy="23774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03720" y="4325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(v1.1)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6903720" y="4599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on transient errors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566928" y="516636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0C1A18"/>
          </a:solidFill>
          <a:ln w="12700">
            <a:solidFill>
              <a:srgbClr val="20423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39" name="Text 33"/>
          <p:cNvSpPr/>
          <p:nvPr/>
        </p:nvSpPr>
        <p:spPr>
          <a:xfrm>
            <a:off x="749808" y="5303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create_agent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PIIRedactionMiddleware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SummarizationMiddleware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HumanInTheLoopMiddleware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()])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INCLUDED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Agents: plan and delegate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029200" cy="3566160"/>
          </a:xfrm>
          <a:prstGeom prst="roundRect">
            <a:avLst>
              <a:gd name="adj" fmla="val 2308"/>
            </a:avLst>
          </a:prstGeom>
          <a:solidFill>
            <a:srgbClr val="FBFCFC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2194560"/>
            <a:ext cx="2377440" cy="566928"/>
          </a:xfrm>
          <a:prstGeom prst="roundRect">
            <a:avLst>
              <a:gd name="adj" fmla="val 14516"/>
            </a:avLst>
          </a:prstGeom>
          <a:solidFill>
            <a:srgbClr val="0E8574"/>
          </a:solidFill>
          <a:ln w="12700">
            <a:solidFill>
              <a:srgbClr val="0E8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21945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2761488"/>
            <a:ext cx="0" cy="310896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417320" y="3072384"/>
            <a:ext cx="2377440" cy="566928"/>
          </a:xfrm>
          <a:prstGeom prst="roundRect">
            <a:avLst>
              <a:gd name="adj" fmla="val 14516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17320" y="30723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(todo list)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3639312"/>
            <a:ext cx="0" cy="310896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" y="4114800"/>
            <a:ext cx="8686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114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20240" y="4114800"/>
            <a:ext cx="8686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20240" y="4114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71800" y="4114800"/>
            <a:ext cx="8686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71800" y="4114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4754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 subagents, collects results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828800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1993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3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395728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693408" y="2331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and task decomposition</a:t>
            </a:r>
            <a:endParaRPr lang="en-US" sz="12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852928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693408" y="2788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for parallel work</a:t>
            </a:r>
            <a:endParaRPr lang="en-US" sz="12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310128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693408" y="3246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ToDo, Filesystem, Summarization middleware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126480" y="402336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3E9DE"/>
          </a:solidFill>
          <a:ln w="12700">
            <a:solidFill>
              <a:srgbClr val="E4C79E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6355080" y="41605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8A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Skeptic's note.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autonomy is not always better. The built-in middleware is opinionated and hard to disable piecemeal. Start with create_agent; reach for Deep Agents only when planning and subagents truly earn their keep.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Agents trade control for capability. A powerful default, not a free lunch.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0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2064" y="12344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0" b="1" dirty="0">
                <a:solidFill>
                  <a:srgbClr val="0A5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200" dirty="0"/>
          </a:p>
        </p:txBody>
      </p:sp>
      <p:sp>
        <p:nvSpPr>
          <p:cNvPr id="4" name="Shape 2"/>
          <p:cNvSpPr/>
          <p:nvPr/>
        </p:nvSpPr>
        <p:spPr>
          <a:xfrm>
            <a:off x="10161727" y="1554480"/>
            <a:ext cx="1371600" cy="1371600"/>
          </a:xfrm>
          <a:prstGeom prst="ellipse">
            <a:avLst/>
          </a:prstGeom>
          <a:solidFill>
            <a:srgbClr val="0E8574"/>
          </a:solidFill>
          <a:ln/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2059" y="1924812"/>
            <a:ext cx="630936" cy="63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611880"/>
            <a:ext cx="106920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LangGraph: When Linear Breaks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66928" y="4709160"/>
            <a:ext cx="9686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EB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cycles, state, and human checkpoints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from Zero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LINEAR BREAKS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nodes, edges, and state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577840" cy="3566160"/>
          </a:xfrm>
          <a:prstGeom prst="roundRect">
            <a:avLst>
              <a:gd name="adj" fmla="val 2308"/>
            </a:avLst>
          </a:prstGeom>
          <a:solidFill>
            <a:srgbClr val="FBFCFC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workflow: nodes, branches, loops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697480"/>
            <a:ext cx="141732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6974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2994660"/>
            <a:ext cx="411480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97480" y="2560320"/>
            <a:ext cx="1188720" cy="86868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0E85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5603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86200" y="2994660"/>
            <a:ext cx="411480" cy="0"/>
          </a:xfrm>
          <a:prstGeom prst="line">
            <a:avLst/>
          </a:prstGeom>
          <a:noFill/>
          <a:ln w="25400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886200" y="27706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0" y="2697480"/>
            <a:ext cx="1417320" cy="594360"/>
          </a:xfrm>
          <a:prstGeom prst="roundRect">
            <a:avLst>
              <a:gd name="adj" fmla="val 13846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26974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3429000"/>
            <a:ext cx="0" cy="594360"/>
          </a:xfrm>
          <a:prstGeom prst="line">
            <a:avLst/>
          </a:prstGeom>
          <a:noFill/>
          <a:ln w="25400">
            <a:solidFill>
              <a:srgbClr val="BE7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3474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5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577340" y="4023360"/>
            <a:ext cx="1714500" cy="0"/>
          </a:xfrm>
          <a:prstGeom prst="line">
            <a:avLst/>
          </a:prstGeom>
          <a:noFill/>
          <a:ln w="25400">
            <a:solidFill>
              <a:srgbClr val="BE7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7340" y="3291840"/>
            <a:ext cx="0" cy="731520"/>
          </a:xfrm>
          <a:prstGeom prst="line">
            <a:avLst/>
          </a:prstGeom>
          <a:noFill/>
          <a:ln w="25400">
            <a:solidFill>
              <a:srgbClr val="BE7A3A"/>
            </a:solidFill>
            <a:prstDash val="solid"/>
            <a:headEnd type="triangl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828800" y="40690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5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4617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flows through every node, so each step reads and updates shared context.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1828800"/>
            <a:ext cx="5349240" cy="3566160"/>
          </a:xfrm>
          <a:prstGeom prst="roundRect">
            <a:avLst>
              <a:gd name="adj" fmla="val 1282"/>
            </a:avLst>
          </a:prstGeom>
          <a:solidFill>
            <a:srgbClr val="0C1A18"/>
          </a:solidFill>
          <a:ln w="12700">
            <a:solidFill>
              <a:srgbClr val="20423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196596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StateGraph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StateGraph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add_node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"retrieve"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add_node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"answer"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"retrieve"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add_conditional_edges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"retrieve"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enough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"answer"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checkpointer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InMemorySaver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create_agent gives you one loop. LangGraph lets you draw any shape: branches, cycles, many agents.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DROP 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graph buys you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24871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029968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884" y="2165756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state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" y="299923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state persists. Resume after a crash mid-run.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828800"/>
            <a:ext cx="24871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01568" y="2029968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356" y="2165756"/>
            <a:ext cx="231343" cy="231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1568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01568" y="299923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and resume across sessions: multi-day approvals, background jobs.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833872" y="1828800"/>
            <a:ext cx="24871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2029968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28" y="2165756"/>
            <a:ext cx="231343" cy="231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035040" y="299923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 pauses for review, then continues where it stopped.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467344" y="1828800"/>
            <a:ext cx="24871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668512" y="2029968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4300" y="2165756"/>
            <a:ext cx="231343" cy="23134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68512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668512" y="299923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routes work to specialist agents.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937760" y="3749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example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120640" y="3977640"/>
            <a:ext cx="1920240" cy="548640"/>
          </a:xfrm>
          <a:prstGeom prst="roundRect">
            <a:avLst>
              <a:gd name="adj" fmla="val 15000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5120640" y="3977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2103120" y="489204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2103120" y="4892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6080760" y="4526280"/>
            <a:ext cx="-3108960" cy="365760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5212080" y="489204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5212080" y="4892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6080760" y="4526280"/>
            <a:ext cx="0" cy="365760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8321040" y="489204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8321040" y="4892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080760" y="4526280"/>
            <a:ext cx="3108960" cy="365760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LangGraph when you need control the single-loop agent cannot express.</a:t>
            </a:r>
            <a:endParaRPr lang="en-US" sz="1350" dirty="0"/>
          </a:p>
        </p:txBody>
      </p:sp>
      <p:sp>
        <p:nvSpPr>
          <p:cNvPr id="39" name="Text 33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0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2064" y="12344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0" b="1" dirty="0">
                <a:solidFill>
                  <a:srgbClr val="0A5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200" dirty="0"/>
          </a:p>
        </p:txBody>
      </p:sp>
      <p:sp>
        <p:nvSpPr>
          <p:cNvPr id="4" name="Shape 2"/>
          <p:cNvSpPr/>
          <p:nvPr/>
        </p:nvSpPr>
        <p:spPr>
          <a:xfrm>
            <a:off x="10161727" y="1554480"/>
            <a:ext cx="1371600" cy="1371600"/>
          </a:xfrm>
          <a:prstGeom prst="ellipse">
            <a:avLst/>
          </a:prstGeom>
          <a:solidFill>
            <a:srgbClr val="0E8574"/>
          </a:solidFill>
          <a:ln/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2059" y="1924812"/>
            <a:ext cx="630936" cy="63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611880"/>
            <a:ext cx="106920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It, Judge It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66928" y="4709160"/>
            <a:ext cx="9686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EB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Observability, cost, and when to skip the framework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from Zero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Observe, evaluate, and cut cost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486400" cy="3566160"/>
          </a:xfrm>
          <a:prstGeom prst="roundRect">
            <a:avLst>
              <a:gd name="adj" fmla="val 2308"/>
            </a:avLst>
          </a:prstGeom>
          <a:solidFill>
            <a:srgbClr val="FBFCFC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improvement loop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371600" y="2377440"/>
            <a:ext cx="21945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68880" y="2834640"/>
            <a:ext cx="0" cy="109728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371600" y="2944368"/>
            <a:ext cx="21945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944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468880" y="3401568"/>
            <a:ext cx="0" cy="109728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371600" y="3511296"/>
            <a:ext cx="21945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5112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468880" y="3968496"/>
            <a:ext cx="0" cy="109728"/>
          </a:xfrm>
          <a:prstGeom prst="line">
            <a:avLst/>
          </a:prstGeom>
          <a:noFill/>
          <a:ln w="22225">
            <a:solidFill>
              <a:srgbClr val="5B66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71600" y="4078224"/>
            <a:ext cx="21945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0782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840480" y="2606040"/>
            <a:ext cx="0" cy="1472184"/>
          </a:xfrm>
          <a:prstGeom prst="line">
            <a:avLst/>
          </a:prstGeom>
          <a:noFill/>
          <a:ln w="25400">
            <a:solidFill>
              <a:srgbClr val="BE7A3A"/>
            </a:solidFill>
            <a:prstDash val="solid"/>
            <a:headEnd type="triangl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3931920" y="32918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5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" y="4800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it on:  export LANGSMITH_TRACING=true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2057400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8028" y="2193188"/>
            <a:ext cx="231343" cy="23134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114032" y="20848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492240" y="26517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step, token, and tool call. Build eval datasets. Debug why the agent did X.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263640" y="370332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92240" y="3931920"/>
            <a:ext cx="502920" cy="50292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028" y="4067708"/>
            <a:ext cx="231343" cy="231343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114032" y="39593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prompt caching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6492240" y="45262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 big repeated system prompt to cut cost and latency (cachePoint or BedrockPromptCachingMiddleware).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566928" y="562356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0201E"/>
          </a:solidFill>
          <a:ln w="12700">
            <a:solidFill>
              <a:srgbClr val="10201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22960" y="56235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improve what you cannot see. Trace first, evaluate second, optimize third.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it, judge it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LangChain, and when to skip it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4864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29968"/>
            <a:ext cx="457200" cy="457200"/>
          </a:xfrm>
          <a:prstGeom prst="ellipse">
            <a:avLst/>
          </a:prstGeom>
          <a:solidFill>
            <a:srgbClr val="0E857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153412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5608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it when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532888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88136" y="24780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pipelines or agents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990088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88136" y="29352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provider portability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447288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8136" y="33924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RAG, tools, or memory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2532888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831336" y="24780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tracing and evaluation</a:t>
            </a:r>
            <a:endParaRPr lang="en-US" sz="11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2990088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831336" y="29352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needs one shared standard</a:t>
            </a:r>
            <a:endParaRPr lang="en-US" sz="1150" dirty="0"/>
          </a:p>
        </p:txBody>
      </p:sp>
      <p:sp>
        <p:nvSpPr>
          <p:cNvPr id="19" name="Shape 11"/>
          <p:cNvSpPr/>
          <p:nvPr/>
        </p:nvSpPr>
        <p:spPr>
          <a:xfrm>
            <a:off x="6263640" y="182880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9E7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6519672" y="2029968"/>
            <a:ext cx="457200" cy="457200"/>
          </a:xfrm>
          <a:prstGeom prst="ellipse">
            <a:avLst/>
          </a:prstGeom>
          <a:solidFill>
            <a:srgbClr val="B45B4E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153412"/>
            <a:ext cx="210312" cy="21031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13232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it when</a:t>
            </a:r>
            <a:endParaRPr lang="en-US" sz="15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2542032"/>
            <a:ext cx="164592" cy="16459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784848" y="24871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to one model</a:t>
            </a:r>
            <a:endParaRPr lang="en-US" sz="11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2852928"/>
            <a:ext cx="164592" cy="16459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784848" y="27980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Ultra-tight latency budget</a:t>
            </a:r>
            <a:endParaRPr lang="en-US" sz="11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3163824"/>
            <a:ext cx="164592" cy="16459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784848" y="31089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constraint</a:t>
            </a:r>
            <a:endParaRPr lang="en-US" sz="115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3474720"/>
            <a:ext cx="164592" cy="164592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6784848" y="34198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full control of the raw API</a:t>
            </a:r>
            <a:endParaRPr lang="en-US" sz="115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3785616"/>
            <a:ext cx="164592" cy="164592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6784848" y="37307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20-line script</a:t>
            </a:r>
            <a:endParaRPr lang="en-US" sz="1150" dirty="0"/>
          </a:p>
        </p:txBody>
      </p:sp>
      <p:sp>
        <p:nvSpPr>
          <p:cNvPr id="33" name="Shape 19"/>
          <p:cNvSpPr/>
          <p:nvPr/>
        </p:nvSpPr>
        <p:spPr>
          <a:xfrm>
            <a:off x="566928" y="429768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3E9DE"/>
          </a:solidFill>
          <a:ln w="12700">
            <a:solidFill>
              <a:srgbClr val="E4C79E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34" name="Text 20"/>
          <p:cNvSpPr/>
          <p:nvPr/>
        </p:nvSpPr>
        <p:spPr>
          <a:xfrm>
            <a:off x="795528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criticisms</a:t>
            </a:r>
            <a:endParaRPr lang="en-US" sz="1300" dirty="0"/>
          </a:p>
        </p:txBody>
      </p:sp>
      <p:sp>
        <p:nvSpPr>
          <p:cNvPr id="35" name="Text 21"/>
          <p:cNvSpPr/>
          <p:nvPr/>
        </p:nvSpPr>
        <p:spPr>
          <a:xfrm>
            <a:off x="795528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churn (v0 to v1 was a real migration). Abstractions can hide what the model actually receives. Deep call stacks make debugging harder.</a:t>
            </a:r>
            <a:endParaRPr lang="en-US" sz="1100" dirty="0"/>
          </a:p>
        </p:txBody>
      </p:sp>
      <p:sp>
        <p:nvSpPr>
          <p:cNvPr id="36" name="Shape 22"/>
          <p:cNvSpPr/>
          <p:nvPr/>
        </p:nvSpPr>
        <p:spPr>
          <a:xfrm>
            <a:off x="6263640" y="429768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E4F0ED"/>
          </a:solidFill>
          <a:ln w="12700">
            <a:solidFill>
              <a:srgbClr val="CFE1D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37" name="Text 23"/>
          <p:cNvSpPr/>
          <p:nvPr/>
        </p:nvSpPr>
        <p:spPr>
          <a:xfrm>
            <a:off x="6492240" y="4434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v1 fixed</a:t>
            </a:r>
            <a:endParaRPr lang="en-US" sz="1300" dirty="0"/>
          </a:p>
        </p:txBody>
      </p:sp>
      <p:sp>
        <p:nvSpPr>
          <p:cNvPr id="38" name="Text 24"/>
          <p:cNvSpPr/>
          <p:nvPr/>
        </p:nvSpPr>
        <p:spPr>
          <a:xfrm>
            <a:off x="6492240" y="4754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API through 2.0. Content blocks standardize outputs. LangGraph runtime for reliability. LangSmith for full visibility.</a:t>
            </a:r>
            <a:endParaRPr lang="en-US" sz="1100" dirty="0"/>
          </a:p>
        </p:txBody>
      </p:sp>
      <p:sp>
        <p:nvSpPr>
          <p:cNvPr id="39" name="Text 25"/>
          <p:cNvSpPr/>
          <p:nvPr/>
        </p:nvSpPr>
        <p:spPr>
          <a:xfrm>
            <a:off x="566928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a tool, not a religion. Use it where it removes work; drop it where it only adds ceremony.</a:t>
            </a:r>
            <a:endParaRPr lang="en-US" sz="1250" dirty="0"/>
          </a:p>
        </p:txBody>
      </p:sp>
      <p:sp>
        <p:nvSpPr>
          <p:cNvPr id="40" name="Text 26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it, judge it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MUSCLE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problem, reach for the right piece</a:t>
            </a:r>
            <a:endParaRPr lang="en-US" sz="29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6309360"/>
                <a:gridCol w="47548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problem you have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57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piece to reach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57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over our private PDFs or wiki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6E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retriever / Knowledge Bases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Claude for GPT next quarter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6E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init_chat_model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chatbot that remembers the conversation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6E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checkpointer + thread_id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the model call our APIs or the 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6E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@tool + tool calling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assistant that picks steps and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6E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create_agent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output into a strict schema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6E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with_structured_output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Branches, retries, human approval in a 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+ human-in-the-loop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 several specialist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multi-agent / Deep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cost on a big repeated system prompt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prompt caching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why the agent did something weird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 tracing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A5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one prompt, one call, tight 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C4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LangChain; call Bedrock directly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muscle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11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page: LangChain, Bedrock edition</a:t>
            </a:r>
            <a:endParaRPr lang="en-US" sz="29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57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write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57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model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ChatBedrockConverse / init_chat_model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ChatPromptTemplate.from_messages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output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llm.with_structured_output(M)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prompt | model | parser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.as_retriever() / Knowledge Bases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checkpointer + thread_id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@tool def f(...) -&gt; ...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create_agent(model, tools, ...)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StateGraph / add_node / edges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LangSmith (LANGSMITH_TRACING)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28800"/>
          <a:ext cx="5349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749040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57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57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langchain-aws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class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ChatBedrockConverse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Anthropic-native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ChatAnthropicBedrock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us.anthropic.claude-haiku-4-5-...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us-east-1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string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bedrock_converse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BedrockEmbeddings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RAG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AmazonKnowledgeBasesRetriever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caching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BedrockPromptCachingMiddleware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profile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"us." prefix required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0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457200" cy="100584"/>
          </a:xfrm>
          <a:prstGeom prst="rect">
            <a:avLst/>
          </a:prstGeom>
          <a:solidFill>
            <a:srgbClr val="0E8574"/>
          </a:solidFill>
          <a:ln/>
        </p:spPr>
      </p:sp>
      <p:sp>
        <p:nvSpPr>
          <p:cNvPr id="3" name="Text 1"/>
          <p:cNvSpPr/>
          <p:nvPr/>
        </p:nvSpPr>
        <p:spPr>
          <a:xfrm>
            <a:off x="1170432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agent, start to finish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6263640" cy="3977640"/>
          </a:xfrm>
          <a:prstGeom prst="roundRect">
            <a:avLst>
              <a:gd name="adj" fmla="val 1149"/>
            </a:avLst>
          </a:prstGeom>
          <a:solidFill>
            <a:srgbClr val="0C1A18"/>
          </a:solidFill>
          <a:ln w="12700">
            <a:solidFill>
              <a:srgbClr val="20423C"/>
            </a:solidFill>
            <a:prstDash val="solid"/>
          </a:ln>
          <a:effectLst>
            <a:outerShdw sx="100000" sy="100000" kx="0" ky="0" algn="bl" rotWithShape="0" blurRad="88900" dist="3175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920240"/>
            <a:ext cx="58978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create_agent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langchain_core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"Booking status for a PNR."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create_agent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"us.anthropic.claude-haiku-4-5-20251001-v1:0"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model_provider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"bedrock_converse"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system_prompt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TravelMind."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"messages"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3B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 of JX48Q2?"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E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}]})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three next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2286000"/>
            <a:ext cx="402336" cy="402336"/>
          </a:xfrm>
          <a:prstGeom prst="ellipse">
            <a:avLst/>
          </a:prstGeom>
          <a:solidFill>
            <a:srgbClr val="0A5F5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2276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06640" y="22402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D7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agent above on your own Bedrock account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0" y="2944368"/>
            <a:ext cx="402336" cy="402336"/>
          </a:xfrm>
          <a:prstGeom prst="ellipse">
            <a:avLst/>
          </a:prstGeom>
          <a:solidFill>
            <a:srgbClr val="0A5F5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2935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0" y="28986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D7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real tool, then one RAG retriever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0" y="3602736"/>
            <a:ext cx="402336" cy="402336"/>
          </a:xfrm>
          <a:prstGeom prst="ellipse">
            <a:avLst/>
          </a:prstGeom>
          <a:solidFill>
            <a:srgbClr val="0A5F5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35570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D7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LangSmith and read one trace end to end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0" y="4343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4681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docs.langchain.com/oss/python  (official v1 docs)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49560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aws.amazon.com/what-is/langchain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5230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langchain-aws Bedrock integration guide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55046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intro video walkthroughs you referenced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EB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syntax will keep changing. The intuition (model + harness, the pipe, the loop) will not.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from Zero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 from Zero</dc:title>
  <dc:subject>PptxGenJS Presentation</dc:subject>
  <dc:creator>Akash Das</dc:creator>
  <cp:lastModifiedBy>Akash Das</cp:lastModifiedBy>
  <cp:revision>1</cp:revision>
  <dcterms:created xsi:type="dcterms:W3CDTF">2026-07-06T04:28:57Z</dcterms:created>
  <dcterms:modified xsi:type="dcterms:W3CDTF">2026-07-06T04:28:57Z</dcterms:modified>
</cp:coreProperties>
</file>