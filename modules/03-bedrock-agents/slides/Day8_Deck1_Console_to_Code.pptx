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4. Yesterday we built and clicked inside the console. Today we call the agent from a script, read its reasoning trace in code, and rebuild the orchestration loop by hand — the only way to debug it when it breaks. Same TravelMind use case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Re-anchor. The loop was not a config bug — the orchestrator did exactly what it is told: keep acting until there is an answer or the clock runs out. Today we make that machinery visible, then controllable.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arc: invoke, observe, rebuild, control. Items 1-3 are this deck. Item 4 is the whole of Deck 2. Everything stays on TravelMind so there is no new domain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Anti-pattern #1 and the most common 30-minute sink. Control-plane ops are rare and IAM-heavy; data-plane ops are frequent and latency-sensitive — different endpoints, different throttling, different permissions. AgentCore adds bedrock-agentcore, which is the day-after.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today is us-east-1 only — that is where their access is scoped; a different region is the AccessDenied we fought yesterday. The production note matters: students must not ship the access-key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bridge from 'we clicked it' to 'an app calls it'. Three things to stress: the response key is completion and it is a stream you must iterate; sessionId is the memory handle; enableTrace=True is how the trace panel they loved is delivered to code. PROD: use a numbered alias, not TSTALIASID, and wrap in retry/backoff.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Demystify. The thing they spent yesterday inside is a thin UI over one API call. That is empowering — anything the console does, their code can do. Nothing magic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straight onto yesterday: THINK = thinking block, ACT = tool-use block, OBSERVE = result / final answer. Other trace types exist: preProcessingTrace, postProcessingTrace, failureTrace, guardrailTrace. Yesterday's debugging muscle — 'look at the last trace, is the answer block empty?' — now works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two people asked yesterday, answered cleanly. The LLM is a text-in/text-out function — no hands, no memory. Bedrock is the runtime that reads the text, presses the buttons (tools), and keeps the conversation going. Every 'agent' is some version of this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slideware — these are the real promptType values in the agent config. The KB phase is optional; TravelMind has no KB attached so it is skipped. The override-Lambda concept from yesterday plugs into exactly these phase boundaries — we go deep in Deck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 so it transfers. When they later meet Strands or AgentCore they will recognise the Reason/Act/Observe spine. The loop yesterday was ReAct with no exit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code-level twin of the action-group function definitions they wrote in JSON yesterday. The description field is not decoration — it drives tool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Exactly this morning's pain — Claude failing in us-east-1 until we used a profile, Nova working directly. The us. prefix is a cross-region inference profile; forgetting it is the #1 silent failure. Verified against AWS Converse and extended-thinking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they screenshot. Three anti-patterns: (1) the us. prefix on the model id; (2) append the assistant message including its toolUse block — skip it and the next call has no idea what it asked for; (3) max_turns — the one line that would have stopped yesterday's 50-loop. end_turn / max_tokens / stop_sequence all exit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anti-patterns: tool results live in a user-role message (wrong role is the role-mixing trap), and you must echo toolUseId unchanged. The final return is the fallback when max_turns is hit — Deck 2 makes that a real fallback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Reproduce yesterday's failure on purpose, in 20 lines they control. The model is not broken — it is obediently trying to Act on a capability that does not exist, and nothing tells it to stop. The cliffhanger into Deck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Managed is faster to ship with less control; hand-built gives total control with more code. The capstone uses the hand-built loop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two scripts (managed invoke; hand-built loop) that both run in us-east-1. One slide of horizon so they are not surprised by the newer stateful APIs later — we stay on Converse because it is the clearest place to see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 up Deck 2: they can now make the loop happen on demand; next we make it stop, and make it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Console to Code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Invoking your Bedrock Agent — and seeing what runs under the hood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7498080" cy="2004365"/>
          </a:xfrm>
          <a:prstGeom prst="roundRect">
            <a:avLst>
              <a:gd name="adj" fmla="val 2737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935224"/>
            <a:ext cx="77724" cy="77724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935224"/>
            <a:ext cx="77724" cy="77724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935224"/>
            <a:ext cx="77724" cy="77724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529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talk to the agent you built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3099816"/>
            <a:ext cx="7114032" cy="156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region_name="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invoke_agent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agentAliasId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inputText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enableTrace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"]:     </a:t>
            </a:r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the answer streams back here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5820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UC-A1  booking exception handler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UC-A2  disruption replanning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58200" y="4343400"/>
            <a:ext cx="1086307" cy="237744"/>
          </a:xfrm>
          <a:prstGeom prst="roundRect">
            <a:avLst>
              <a:gd name="adj" fmla="val 15385"/>
            </a:avLst>
          </a:prstGeom>
          <a:solidFill>
            <a:srgbClr val="FBE5D2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4343400"/>
            <a:ext cx="1086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left off yesterday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TravelMind in Agent Builder — the graphical way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a Lambda: lookup_booking · get_disruption_reason · get_rebooking_options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it in the console and read the trace panel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it spin 50+ times when asked to confirm a booking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3749040" cy="1828800"/>
          </a:xfrm>
          <a:prstGeom prst="roundRect">
            <a:avLst>
              <a:gd name="adj" fmla="val 3500"/>
            </a:avLst>
          </a:prstGeom>
          <a:solidFill>
            <a:srgbClr val="FBE9E9"/>
          </a:solidFill>
          <a:ln w="12700">
            <a:solidFill>
              <a:srgbClr val="F0C9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0" y="2697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before the timeout cut it off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10972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4800600"/>
            <a:ext cx="64008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56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room kept asking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2852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model doing  vs.  what is Bedrock doing?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you'll be able to do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18105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 the agent from code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bedrock-agent-runtime. No console.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47688" y="155448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1828800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70648" y="18105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trace in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70648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THINK / ACT / OBSERVE you saw in the panel.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39136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 the ReAct loop by hand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89888" y="4480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API + tools. No framework — you own every line.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47688" y="365760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3931920"/>
            <a:ext cx="384048" cy="384048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70648" y="39136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it  (next deck)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70648" y="4480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runaway loop. Tune the model. Block hallucinations.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Bedrock clients — get this wrong, lose an hour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185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14884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boto3 client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Plane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You use it for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models · create guardrails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bedrock-runtime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converse · invoke_model · apply_guardrail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bedrock-agent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(agents)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update / prepare agent · action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bedrock-agent-runtime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(agents)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invoke_agent · retrieve · retrieve_and_generate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074920"/>
            <a:ext cx="11018520" cy="868680"/>
          </a:xfrm>
          <a:prstGeom prst="rect">
            <a:avLst/>
          </a:prstGeom>
          <a:solidFill>
            <a:srgbClr val="FBE5D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5074920"/>
            <a:ext cx="6400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212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it 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bedrock-agent.  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to it 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bedrock-agent-runtime.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in 3 steps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34924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64008" cy="28803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310896" cy="310896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2037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 →  activate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953512"/>
            <a:ext cx="310896" cy="310896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Creds:  aws configure  (or env vars)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AWS_DEFAULT_REGION=us-east-1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66744"/>
            <a:ext cx="310896" cy="310896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  →  select .venv kernel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81928" y="1554480"/>
            <a:ext cx="534924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1554480"/>
            <a:ext cx="64008" cy="2880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Colab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37960" y="2240280"/>
            <a:ext cx="310896" cy="310896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2037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boto3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2953512"/>
            <a:ext cx="310896" cy="310896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9169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Creds via Colab Secrets or os.environ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(never paste keys in a cell)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3666744"/>
            <a:ext cx="310896" cy="310896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36301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region_name="us-east-1" everywhere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663440"/>
            <a:ext cx="11018520" cy="1234440"/>
          </a:xfrm>
          <a:prstGeom prst="rect">
            <a:avLst/>
          </a:prstGeom>
          <a:solidFill>
            <a:srgbClr val="FBE9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663440"/>
            <a:ext cx="64008" cy="1234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828032"/>
            <a:ext cx="1876349" cy="237744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828032"/>
            <a:ext cx="1876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PRODUCTION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" y="5138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 on disk. The workload runs under an IAM role (Lambda execution role / EC2 instance profile). Region comes from the environment, least-privilege policies, retries + backoff, and logging on every call.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INVOKE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the agent you built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7269480" cy="3335731"/>
          </a:xfrm>
          <a:prstGeom prst="roundRect">
            <a:avLst>
              <a:gd name="adj" fmla="val 1645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55064"/>
            <a:ext cx="77724" cy="77724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655064"/>
            <a:ext cx="77724" cy="77724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55064"/>
            <a:ext cx="77724" cy="77724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1572768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9656"/>
            <a:ext cx="6885432" cy="289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region_name="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from the agent overview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TSTALIASID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test alias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uuid4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same id =&gt; same conversation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invoke_agent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agentAliasId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inputText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enableTrace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"]: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iterate the STREAM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"].decode("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20440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 is a STREAM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it — it is not a dict you index into.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3017520"/>
            <a:ext cx="3520440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 =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520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id to continue a conversation.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4480560"/>
            <a:ext cx="3520440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enableTrace=True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983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console 'Show trace' panel to your code.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console 'Test' panel is one API call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5720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— 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350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 ●  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278892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926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flight on PNR ABC123 was disrupted.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my options?"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443484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148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 (schematic)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3017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5257800" cy="1808683"/>
          </a:xfrm>
          <a:prstGeom prst="roundRect">
            <a:avLst>
              <a:gd name="adj" fmla="val 3033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478024"/>
            <a:ext cx="77724" cy="77724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2478024"/>
            <a:ext cx="77724" cy="77724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47688" y="2478024"/>
            <a:ext cx="77724" cy="77724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39572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64808" y="2642616"/>
            <a:ext cx="4873752" cy="1369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invoke_agent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agentAliasId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inputText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enableTrace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INSPECT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trace from code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6766560" cy="2265883"/>
          </a:xfrm>
          <a:prstGeom prst="roundRect">
            <a:avLst>
              <a:gd name="adj" fmla="val 2421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55064"/>
            <a:ext cx="6382512" cy="199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collected from the stream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orchestrationTrace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the model THINKING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invocationInput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the model ACTING (tool)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:",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invocationInput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result coming back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==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finalResponse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blocks you read in the panel: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01168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130552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13055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3252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ot["rationale"]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0" y="2432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'thinking' block you saw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292608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044952"/>
            <a:ext cx="362102" cy="237744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3044952"/>
            <a:ext cx="3621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32520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ot["invocationInput"]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3346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tool-use block (PNR going in)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89520" y="384048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3959352"/>
            <a:ext cx="625450" cy="237744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959352"/>
            <a:ext cx="625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ot["observation"]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42611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/ the FINAL answer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vs Bedrock — who does what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11C32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 (FM)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in  →  text 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raw text: reasoning, which tool, final answer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it does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no memory between calls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85232" cy="4023360"/>
          </a:xfrm>
          <a:prstGeom prst="roundRect">
            <a:avLst>
              <a:gd name="adj" fmla="val 1591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 (orchestrator)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runtime around the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6248" y="26974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that raw text (a heuristic parser Lambda)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next step · calls the Lambda · feeds results back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loop, session memory, timeout, guardrails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orchestration runs in phases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9544" y="2523744"/>
            <a:ext cx="219456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01168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0116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35624" y="2523744"/>
            <a:ext cx="219456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01168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(optional)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61704" y="2523744"/>
            <a:ext cx="219456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9418320" y="201168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0116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072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881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64008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502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phase:  </a:t>
            </a:r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emits raw text  →  </a:t>
            </a:r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(a Lambda) reads it  →  </a:t>
            </a:r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are literal config values:  promptType = PRE_PROCESSING · ORCHESTRATION · KNOWLEDGE_BASE_RESPONSE_GENERATION · POST_PROCESSING  (+ MEMORY_SUMMARIZATION).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has a name: ReAct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thinks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BE5D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54880" y="2350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a tool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947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0" y="2350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returns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2240280"/>
            <a:ext cx="658368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2240280"/>
            <a:ext cx="658368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246120"/>
            <a:ext cx="5943600" cy="274320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547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there's an answer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4251960"/>
            <a:ext cx="4206240" cy="237744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519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+ Act  ·  NOT React.js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0" y="4224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Bedrock Agents, AgentCore, Strands, and Claude in chat — same backbone.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80160" y="4800600"/>
            <a:ext cx="10241280" cy="914400"/>
          </a:xfrm>
          <a:prstGeom prst="rect">
            <a:avLst/>
          </a:prstGeom>
          <a:solidFill>
            <a:srgbClr val="FBE9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4800600"/>
            <a:ext cx="64008" cy="914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4937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50-loop = ReAct with no exit:  it kept Reasoning and trying to Act, never reached a satisfying Observe (no booking tool), so it never stopped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REBUILD BY HAND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Converse API — the request shape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6949440" cy="2982773"/>
          </a:xfrm>
          <a:prstGeom prst="roundRect">
            <a:avLst>
              <a:gd name="adj" fmla="val 1839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55064"/>
            <a:ext cx="77724" cy="77724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655064"/>
            <a:ext cx="77724" cy="77724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55064"/>
            <a:ext cx="77724" cy="77724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157276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define the 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9656"/>
            <a:ext cx="6565392" cy="254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tool_config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toolSpec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PNR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inputSchema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pnr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"}},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["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pnr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}},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get_disruption_reason, get_rebooking_options: same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1600200"/>
            <a:ext cx="379476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600200"/>
            <a:ext cx="64008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973568" y="1746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73568" y="21305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conversation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2926080"/>
            <a:ext cx="379476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926080"/>
            <a:ext cx="64008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973568" y="30723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toolConfig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34564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(name + description + schema)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4251960"/>
            <a:ext cx="379476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251960"/>
            <a:ext cx="64008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7973568" y="43982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inferenceConfig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73568" y="47823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topP · maxTokens · stopSequences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ONLY thing the model reads to decide whether to call the tool. Vague description → wrong tool → loops.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model-ID prefix that cost us this morning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954634" cy="237744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17320"/>
            <a:ext cx="954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0972800" cy="1051560"/>
          </a:xfrm>
          <a:prstGeom prst="roundRect">
            <a:avLst>
              <a:gd name="adj" fmla="val 6087"/>
            </a:avLst>
          </a:prstGeom>
          <a:solidFill>
            <a:srgbClr val="E7F4EA"/>
          </a:solidFill>
          <a:ln w="12700">
            <a:solidFill>
              <a:srgbClr val="BFE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 in us-east-1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9659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amazon.nova-lite-v1:0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on-demand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10972800" cy="1051560"/>
          </a:xfrm>
          <a:prstGeom prst="roundRect">
            <a:avLst>
              <a:gd name="adj" fmla="val 6087"/>
            </a:avLst>
          </a:prstGeom>
          <a:solidFill>
            <a:srgbClr val="FBE9E9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in us-east-1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154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anthropic.claude-3-5-haiku-...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profile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10972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34340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988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 us.  prefix is a cross-region inference profile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91947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(the Claude family here) are only reachable through it in this region. Bare  anthropic.claude-...  →  ValidationException / AccessDenied. This was exactly today's failure until we switched to a profile.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LOOP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hand-built loop — the heart of it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7818120" cy="315468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9344"/>
            <a:ext cx="77724" cy="77724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609344"/>
            <a:ext cx="77724" cy="77724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09344"/>
            <a:ext cx="77724" cy="77724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1527048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run_agent()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773936"/>
            <a:ext cx="743407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region_name="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20241022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run_agent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":[{"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}]}]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toolConfig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tool_config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inferenceConfig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":0,"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maxTokens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"]["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 !=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"][-1].get("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0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41080" y="1737360"/>
            <a:ext cx="2926080" cy="1143000"/>
          </a:xfrm>
          <a:prstGeom prst="roundRect">
            <a:avLst>
              <a:gd name="adj" fmla="val 5600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96528" y="1865376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796528" y="18653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8972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 prefix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96528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it 400s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3063240"/>
            <a:ext cx="2926080" cy="1143000"/>
          </a:xfrm>
          <a:prstGeom prst="roundRect">
            <a:avLst>
              <a:gd name="adj" fmla="val 5600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3191256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796528" y="31912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9720" y="3172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the assistant turn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96528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its toolUse block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4389120"/>
            <a:ext cx="2926080" cy="1143000"/>
          </a:xfrm>
          <a:prstGeom prst="roundRect">
            <a:avLst>
              <a:gd name="adj" fmla="val 5600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96528" y="4517136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8796528" y="45171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89720" y="4498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796528" y="4892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we lacked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LOOP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tools, feed results back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7315200" cy="2627986"/>
          </a:xfrm>
          <a:prstGeom prst="roundRect">
            <a:avLst>
              <a:gd name="adj" fmla="val 2088"/>
            </a:avLst>
          </a:prstGeom>
          <a:solidFill>
            <a:srgbClr val="0F172A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55064"/>
            <a:ext cx="6931152" cy="23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model wants tools -&gt; run each, return in ONE message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toolUse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toolUse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TOOL_IMPL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"]](**tu["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toolResult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toolUseId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tu["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toolUseId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"],  </a:t>
            </a:r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echo id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}})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tool_results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Sorry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escalating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.",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1554480"/>
            <a:ext cx="3474720" cy="1463040"/>
          </a:xfrm>
          <a:prstGeom prst="rect">
            <a:avLst/>
          </a:prstGeom>
          <a:solidFill>
            <a:srgbClr val="FBE9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554480"/>
            <a:ext cx="64008" cy="14630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8275320" y="1691640"/>
            <a:ext cx="757123" cy="237744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91640"/>
            <a:ext cx="7571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TRAP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75320" y="2011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go in a  user  message — not assistant, not 'tool'. Wrong role = role-mixing error.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3200400"/>
            <a:ext cx="34747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3200400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3328416"/>
            <a:ext cx="1086307" cy="237744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328416"/>
            <a:ext cx="1086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toolUseId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75320" y="36576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exact id back. A mismatched id is rejected by the API.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  read tools from a real source (DynamoDB / your booking API), not hard-coded dicts. Catch ClientError, add backoff, log every turn with the session id.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TRACE IT YOURSELF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path  vs  the loop, reproduced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114800"/>
          </a:xfrm>
          <a:prstGeom prst="roundRect">
            <a:avLst>
              <a:gd name="adj" fmla="val 1556"/>
            </a:avLst>
          </a:prstGeom>
          <a:solidFill>
            <a:srgbClr val="E7F4EA"/>
          </a:solidFill>
          <a:ln w="12700">
            <a:solidFill>
              <a:srgbClr val="BFE3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PNR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310896" cy="310896"/>
          </a:xfrm>
          <a:prstGeom prst="oval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852928"/>
            <a:ext cx="310896" cy="310896"/>
          </a:xfrm>
          <a:prstGeom prst="oval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get_disruption_reason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419856"/>
            <a:ext cx="310896" cy="310896"/>
          </a:xfrm>
          <a:prstGeom prst="oval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get_rebooking_options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stopReason: </a:t>
            </a:r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end_turn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acts, then exit. Same as yesterday's correct 3-step trace.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285232" cy="4114800"/>
          </a:xfrm>
          <a:prstGeom prst="roundRect">
            <a:avLst>
              <a:gd name="adj" fmla="val 1556"/>
            </a:avLst>
          </a:prstGeom>
          <a:solidFill>
            <a:srgbClr val="FBE9E9"/>
          </a:solidFill>
          <a:ln w="12700">
            <a:solidFill>
              <a:srgbClr val="F0C9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to "confirm booking"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2267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 → no confirm tool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401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968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  …  (×50)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stopReason: </a:t>
            </a:r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  (never changes)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max_turns cuts it off. Without it: infinite, billable.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agent  vs  hand-built loop</a:t>
            </a:r>
            <a:endParaRPr lang="en-US" sz="3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185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4160520"/>
                <a:gridCol w="4160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Bedrock Agents (console)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Hand-built Converse loop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for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Session-managed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You manage  messages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groups → Lambda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Python callable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Loop-exit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(timeout, prompt)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 (max_turns, conditions)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your own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'better'. Managed = faster to ship, less control. Hand-built = total control, more code. The mini-project uses the hand-built path on purpose — learn the machinery before a framework hides it.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 +  where this is heading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94944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64008" cy="4069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— this session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347472" cy="347472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24942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your TravelMind agent from a script; print the answer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347472" cy="347472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02666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trace; print THINK / ACT / FINAL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347472" cy="347472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loop with Converse + the 3 tools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347472" cy="347472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58114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 (ask to confirm a booking) — watch stopReason stay tool_use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0" y="1554480"/>
            <a:ext cx="3767328" cy="4069080"/>
          </a:xfrm>
          <a:prstGeom prst="roundRect">
            <a:avLst>
              <a:gd name="adj" fmla="val 1699"/>
            </a:avLst>
          </a:prstGeom>
          <a:solidFill>
            <a:srgbClr val="111C32"/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010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look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0" y="21945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= today's unified workhorse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is adding a stateful Responses API + Chat Completions for agentic apps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more managed, more stateful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7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the more it's abstracted, the more learning the loop matters when it breaks at 2am.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From Console to Code — Agentic AI Practitioner Bootcamp · Day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now do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097280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64792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— one talks to the agent: bedrock-agent-runtime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441448"/>
            <a:ext cx="1097280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06040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'Test' panel is one API call (invoke_agent)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3282696"/>
            <a:ext cx="1097280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47288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stateless text;  Bedrock = parser + loop + memory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66928" y="4123944"/>
            <a:ext cx="1097280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88536"/>
            <a:ext cx="384048" cy="384048"/>
          </a:xfrm>
          <a:prstGeom prst="oval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12394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ReAct: Reason → Act → Observe → repeat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6928" y="4965192"/>
            <a:ext cx="10972800" cy="713232"/>
          </a:xfrm>
          <a:prstGeom prst="roundRect">
            <a:avLst>
              <a:gd name="adj" fmla="val 8974"/>
            </a:avLst>
          </a:prstGeom>
          <a:solidFill>
            <a:srgbClr val="FBE5D2"/>
          </a:solidFill>
          <a:ln w="12700">
            <a:solidFill>
              <a:srgbClr val="E7C9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9784"/>
            <a:ext cx="384048" cy="384048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96519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reproduce the loop on demand — next: control it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Bedrock Agents — From Console to Code</dc:title>
  <dc:subject>PptxGenJS Presentation</dc:subject>
  <dc:creator>Akash Das</dc:creator>
  <cp:lastModifiedBy>Akash Das</cp:lastModifiedBy>
  <cp:revision>1</cp:revision>
  <dcterms:created xsi:type="dcterms:W3CDTF">2026-06-02T13:13:06Z</dcterms:created>
  <dcterms:modified xsi:type="dcterms:W3CDTF">2026-06-02T13:13:06Z</dcterms:modified>
</cp:coreProperties>
</file>