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Day 4. Deck 1 made the machinery visible — invoke, trace, the hand-built ReAct loop. Now we control it. Three skills in the order they will fight you: the runaway loop first, sampling parameters second, hallucination last. All still on TravelMind, no new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root cause in one breath. Missing capability, missing fallback, no loop guard — three separate holes that happened to line up. The rest of the loop section closes each one. Key reframe: obedient, not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fix from Deck 1, promoted to a principle. range(max_turns) guarantees termination. The fallback return at the bottom is what runs when the cap is hit — make it a safe human-handoff message, never a half-finished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Yesterday's diagnosis was precise: re-appended thinking adds no new context. This is that turned into a guard. Identical consecutive calls = spinning. One of the hacks promised for catching the pattern before the timeout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insight from yesterday, made central: the best way to reduce looping is a fallback tool. TravelMind can look up, explain, and offer options — it cannot book. Without a fallback, 'book option one' has no legal action, so it spins. handoff_to_human is the always-available exit. The description tells the model exactly when to reach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Yesterday's nuance kept honest: a prompt-only fallback can make the model quit prematurely. A fallback tool is a deliberate action you can inspect and rate in the trace. Do both — prompt points at the tool, tool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yesterday: every managed-agent change needs prepare_agent before it takes effect. The managed loop gives less direct control, so the fallback tool and a tight instruction carry more weight. idleSessionTTLInSeconds is the API home of the 60s timeout knob set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saw temperature 1, topP 1, topK 1 in the trace yesterday and asked what they mean. Temperature is the 'how surprising can the next token be' dial. For tool-argument extraction you want 0 — the same PNR every time. For a customer-facing apology you might want 0.5-0.7. Same agent, different sub-tasks.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answer to yesterday's question about temperature changing across steps. Honest version: in standard Converse, you set the params per call — they do not drift on their own. Dynamic = your code changes them between turns. Legit use: extract at temp 0, raise once to break a stall. Cranking temperature on tool-arg generation backfires.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Skeptic prompt answered: more tuning is not always better. Most agent bugs are tool or prompt bugs. Tuning temperature to fix a missing-tool loop is aspirin for a broken leg. Params are a last resort, after the tools and prompt are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precise version of what was said in the room, worth getting exactly right because they will hit the 400. Confirmed against AWS docs: extended thinking is incompatible with temperature/top-p/top-k modifications. Claude 3.7 and 4.0 take a manual budget_tokens; Opus 4.6+ use thinking adaptive plus output_config effort, and 4.7/4.8 reject manual budget entirely. On thinking models you control effort, not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API inconsistency so they do not fight it: the field is maximumLength here, not maxTokens, and topK/topP are spelled out. You can set inference per phase. When reasoning is on for orchestration, defaults shift to temperature 0 with topK/topP unset — explains the trace values they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hallucination concretely in their domain: the model stating a flight number no tool returned. The existing prompt line is necessary but weak — models drift, users jailbreak, and a prompt gives you nothing to measure. That motivates five layers, cheap to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structure makes the topic teachable. Layers 1-2 are free and always on. Layer 3 — the contextual grounding guardrail — is the Bedrock-native workhorse. Layers 4-5 are advanced and situational. We do each with code or config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Cheapest and highest-leverage. If the model literally only has the tool results in context, it has nothing to hallucinate from except its own priors — and that residue is what layers 3+ catch. UC-A1 is clean: the booking record is ground truth, anything not in it is suspect.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Bedrock-native hallucination control, built for RAG / summarization / extraction. Confirmed against AWS docs: grounding + relevance filters, configurable thresholds, BLOCK or NONE. Set NONE first to observe scores without blocking, tune against real traffic, then flip to BLOCK. Higher threshold = fewer hallucinations slip through but more false blocks — the same benchmarking trade-off they raised about timeouts.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clients again: create_guardrail is control plane (bedrock), apply_guardrail is runtime (bedrock-runtime). grounding_source is your concatenated tool outputs, query is the user ask, the third block is the answer under test. If grounding falls below threshold, action comes back GUARDRAIL_INTERVENED — your clean signal to reprompt without writing a parser. For managed agents, attach the guardrail and tune applyGuardrailInterval, the streaming knob from Deck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straight, no overselling. AWS itself lists conversational QA as unsupported, and field reports show grounding accuracy dropping as context grows. Pass the relevant tool output as the source each turn, not the whole transcript. Never promise a client zero hallucinations — promise a measurable, tunable reduction with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override Lambda they asked about yesterday, fully specified. It plugs into the phase boundaries from Deck 1 — the promptType values. What it is for: BFSI/healthcare-grade output control. Validate the model's reasoning, sanitize the answer, or force a reprompt when you detect a hallucination, instead of burning tokens in a loop. Attach to the most vulnerable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the warning given yesterday — overriding the parser is a whole different ballgame. The trace is produced by the parser, so a broken parser blinds your main debugging tool; you fall back to CloudWatch logs on the Lambda. High power, high maintenance. Not for a simple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Yesterday's explicit recommendation: do not nest a Lambda that calls an agent that has its own Lambda — the debugging depth is brutal. A multi-agent flow does the same job in the open. Trade-off is latency; the payoff is you can see and fix each step. This is the bridge to multi-agent orchestration on the day-after.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slide to photograph. Order of reach: fix the tools and prompt first, params second, guardrails for grounding, parser/verifier only when stakes demand it. Loop control and hallucination control are the two skills they use every day of agentic work — everything else is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on TravelMind UC-A1. Deliverable: a loop that cannot run away and a guardrail that catches an invented flight number. The day-after picks up with Strands, AgentCore, and multi-agent flows — where these same controls reappear inside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B45309"/>
          </a:solidFill>
          <a:ln/>
        </p:spPr>
      </p:sp>
      <p:sp>
        <p:nvSpPr>
          <p:cNvPr id="3" name="Text 1"/>
          <p:cNvSpPr/>
          <p:nvPr/>
        </p:nvSpPr>
        <p:spPr>
          <a:xfrm>
            <a:off x="640080" y="777240"/>
            <a:ext cx="10058400" cy="320040"/>
          </a:xfrm>
          <a:prstGeom prst="rect">
            <a:avLst/>
          </a:prstGeom>
          <a:noFill/>
          <a:ln/>
        </p:spPr>
        <p:txBody>
          <a:bodyPr wrap="square" lIns="0" tIns="0" rIns="0" bIns="0" rtlCol="0" anchor="ctr"/>
          <a:lstStyle/>
          <a:p>
            <a:pPr indent="0" marL="0">
              <a:buNone/>
            </a:pPr>
            <a:r>
              <a:rPr lang="en-US" sz="1300" b="1" spc="200" kern="0" dirty="0">
                <a:solidFill>
                  <a:srgbClr val="B45309"/>
                </a:solidFill>
                <a:latin typeface="Calibri" pitchFamily="34" charset="0"/>
                <a:ea typeface="Calibri" pitchFamily="34" charset="-122"/>
                <a:cs typeface="Calibri" pitchFamily="34" charset="-120"/>
              </a:rPr>
              <a:t>AGENTIC AI PRACTITIONER BOOTCAMP  ·  DAY 4</a:t>
            </a:r>
            <a:endParaRPr lang="en-US" sz="1300" dirty="0"/>
          </a:p>
        </p:txBody>
      </p:sp>
      <p:sp>
        <p:nvSpPr>
          <p:cNvPr id="4" name="Text 2"/>
          <p:cNvSpPr/>
          <p:nvPr/>
        </p:nvSpPr>
        <p:spPr>
          <a:xfrm>
            <a:off x="603504" y="1097280"/>
            <a:ext cx="11155680" cy="914400"/>
          </a:xfrm>
          <a:prstGeom prst="rect">
            <a:avLst/>
          </a:prstGeom>
          <a:noFill/>
          <a:ln/>
        </p:spPr>
        <p:txBody>
          <a:bodyPr wrap="square" lIns="0" tIns="0" rIns="0" bIns="0" rtlCol="0" anchor="ctr"/>
          <a:lstStyle/>
          <a:p>
            <a:pPr indent="0" marL="0">
              <a:buNone/>
            </a:pPr>
            <a:r>
              <a:rPr lang="en-US" sz="4800" b="1" dirty="0">
                <a:solidFill>
                  <a:srgbClr val="1F2937"/>
                </a:solidFill>
                <a:latin typeface="Georgia" pitchFamily="34" charset="0"/>
                <a:ea typeface="Georgia" pitchFamily="34" charset="-122"/>
                <a:cs typeface="Georgia" pitchFamily="34" charset="-120"/>
              </a:rPr>
              <a:t>Controlling Agent Behavior</a:t>
            </a:r>
            <a:endParaRPr lang="en-US" sz="4800" dirty="0"/>
          </a:p>
        </p:txBody>
      </p:sp>
      <p:sp>
        <p:nvSpPr>
          <p:cNvPr id="5" name="Text 3"/>
          <p:cNvSpPr/>
          <p:nvPr/>
        </p:nvSpPr>
        <p:spPr>
          <a:xfrm>
            <a:off x="640080" y="2029968"/>
            <a:ext cx="10789920" cy="45720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Kill the runaway loop · tune the model · stop it inventing flights</a:t>
            </a:r>
            <a:endParaRPr lang="en-US" sz="1800" dirty="0"/>
          </a:p>
        </p:txBody>
      </p:sp>
      <p:sp>
        <p:nvSpPr>
          <p:cNvPr id="6" name="Shape 4"/>
          <p:cNvSpPr/>
          <p:nvPr/>
        </p:nvSpPr>
        <p:spPr>
          <a:xfrm>
            <a:off x="640080" y="2788920"/>
            <a:ext cx="7498080" cy="1417320"/>
          </a:xfrm>
          <a:prstGeom prst="roundRect">
            <a:avLst>
              <a:gd name="adj" fmla="val 3871"/>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804672" y="2935224"/>
            <a:ext cx="77724" cy="77724"/>
          </a:xfrm>
          <a:prstGeom prst="oval">
            <a:avLst/>
          </a:prstGeom>
          <a:solidFill>
            <a:srgbClr val="FF5F56"/>
          </a:solidFill>
          <a:ln/>
        </p:spPr>
      </p:sp>
      <p:sp>
        <p:nvSpPr>
          <p:cNvPr id="8" name="Shape 6"/>
          <p:cNvSpPr/>
          <p:nvPr/>
        </p:nvSpPr>
        <p:spPr>
          <a:xfrm>
            <a:off x="914400" y="2935224"/>
            <a:ext cx="77724" cy="77724"/>
          </a:xfrm>
          <a:prstGeom prst="oval">
            <a:avLst/>
          </a:prstGeom>
          <a:solidFill>
            <a:srgbClr val="FFBD2E"/>
          </a:solidFill>
          <a:ln/>
        </p:spPr>
      </p:sp>
      <p:sp>
        <p:nvSpPr>
          <p:cNvPr id="9" name="Shape 7"/>
          <p:cNvSpPr/>
          <p:nvPr/>
        </p:nvSpPr>
        <p:spPr>
          <a:xfrm>
            <a:off x="1024128" y="2935224"/>
            <a:ext cx="77724" cy="77724"/>
          </a:xfrm>
          <a:prstGeom prst="oval">
            <a:avLst/>
          </a:prstGeom>
          <a:solidFill>
            <a:srgbClr val="27C93F"/>
          </a:solidFill>
          <a:ln/>
        </p:spPr>
      </p:sp>
      <p:sp>
        <p:nvSpPr>
          <p:cNvPr id="10" name="Text 8"/>
          <p:cNvSpPr/>
          <p:nvPr/>
        </p:nvSpPr>
        <p:spPr>
          <a:xfrm>
            <a:off x="1188720" y="2852928"/>
            <a:ext cx="676656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the one-line fix that was missing</a:t>
            </a:r>
            <a:endParaRPr lang="en-US" sz="900" dirty="0"/>
          </a:p>
        </p:txBody>
      </p:sp>
      <p:sp>
        <p:nvSpPr>
          <p:cNvPr id="11" name="Text 9"/>
          <p:cNvSpPr/>
          <p:nvPr/>
        </p:nvSpPr>
        <p:spPr>
          <a:xfrm>
            <a:off x="841248" y="3099816"/>
            <a:ext cx="7114032" cy="978408"/>
          </a:xfrm>
          <a:prstGeom prst="rect">
            <a:avLst/>
          </a:prstGeom>
          <a:noFill/>
          <a:ln/>
        </p:spPr>
        <p:txBody>
          <a:bodyPr wrap="square" lIns="0" tIns="0" rIns="0" bIns="0" rtlCol="0" anchor="t"/>
          <a:lstStyle/>
          <a:p>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for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turn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range</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i="1" dirty="0">
                <a:solidFill>
                  <a:srgbClr val="8893A7"/>
                </a:solidFill>
                <a:latin typeface="Consolas" pitchFamily="34" charset="0"/>
                <a:ea typeface="Consolas" pitchFamily="34" charset="-122"/>
                <a:cs typeface="Consolas" pitchFamily="34" charset="-120"/>
              </a:rPr>
              <a:t> # the ceiling we never set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brt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converse</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if</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stopReason</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tool_use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return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turn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0A86A"/>
                </a:solidFill>
                <a:latin typeface="Consolas" pitchFamily="34" charset="0"/>
                <a:ea typeface="Consolas" pitchFamily="34" charset="-122"/>
                <a:cs typeface="Consolas" pitchFamily="34" charset="-120"/>
              </a:rPr>
              <a:t>1</a:t>
            </a:r>
            <a:endParaRPr lang="en-US" sz="1150" dirty="0"/>
          </a:p>
          <a:p>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return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Handing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you</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to</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human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i="1" dirty="0">
                <a:solidFill>
                  <a:srgbClr val="8893A7"/>
                </a:solidFill>
                <a:latin typeface="Consolas" pitchFamily="34" charset="0"/>
                <a:ea typeface="Consolas" pitchFamily="34" charset="-122"/>
                <a:cs typeface="Consolas" pitchFamily="34" charset="-120"/>
              </a:rPr>
              <a:t> # always exit</a:t>
            </a:r>
            <a:endParaRPr lang="en-US" sz="1150" dirty="0"/>
          </a:p>
        </p:txBody>
      </p:sp>
      <p:sp>
        <p:nvSpPr>
          <p:cNvPr id="12" name="Text 10"/>
          <p:cNvSpPr/>
          <p:nvPr/>
        </p:nvSpPr>
        <p:spPr>
          <a:xfrm>
            <a:off x="8458200" y="3063240"/>
            <a:ext cx="3154680" cy="128016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Three controls</a:t>
            </a:r>
            <a:endParaRPr lang="en-US" sz="1500" dirty="0"/>
          </a:p>
          <a:p>
            <a:pPr indent="0" marL="0">
              <a:buNone/>
            </a:pPr>
            <a:r>
              <a:rPr lang="en-US" sz="1250" dirty="0">
                <a:solidFill>
                  <a:srgbClr val="6B7280"/>
                </a:solidFill>
                <a:latin typeface="Calibri" pitchFamily="34" charset="0"/>
                <a:ea typeface="Calibri" pitchFamily="34" charset="-122"/>
                <a:cs typeface="Calibri" pitchFamily="34" charset="-120"/>
              </a:rPr>
              <a:t>1  Loop  — stop the spin</a:t>
            </a:r>
            <a:endParaRPr lang="en-US" sz="1500" dirty="0"/>
          </a:p>
          <a:p>
            <a:pPr indent="0" marL="0">
              <a:buNone/>
            </a:pPr>
            <a:r>
              <a:rPr lang="en-US" sz="1250" dirty="0">
                <a:solidFill>
                  <a:srgbClr val="6B7280"/>
                </a:solidFill>
                <a:latin typeface="Calibri" pitchFamily="34" charset="0"/>
                <a:ea typeface="Calibri" pitchFamily="34" charset="-122"/>
                <a:cs typeface="Calibri" pitchFamily="34" charset="-120"/>
              </a:rPr>
              <a:t>2  Inference  — tune (or not)</a:t>
            </a:r>
            <a:endParaRPr lang="en-US" sz="1500" dirty="0"/>
          </a:p>
          <a:p>
            <a:pPr indent="0" marL="0">
              <a:buNone/>
            </a:pPr>
            <a:r>
              <a:rPr lang="en-US" sz="1250" dirty="0">
                <a:solidFill>
                  <a:srgbClr val="6B7280"/>
                </a:solidFill>
                <a:latin typeface="Calibri" pitchFamily="34" charset="0"/>
                <a:ea typeface="Calibri" pitchFamily="34" charset="-122"/>
                <a:cs typeface="Calibri" pitchFamily="34" charset="-120"/>
              </a:rPr>
              <a:t>3  Hallucination  — keep it honest</a:t>
            </a:r>
            <a:endParaRPr lang="en-US" sz="1500" dirty="0"/>
          </a:p>
        </p:txBody>
      </p:sp>
      <p:sp>
        <p:nvSpPr>
          <p:cNvPr id="13" name="Shape 11"/>
          <p:cNvSpPr/>
          <p:nvPr/>
        </p:nvSpPr>
        <p:spPr>
          <a:xfrm>
            <a:off x="8458200" y="4526280"/>
            <a:ext cx="2743200" cy="237744"/>
          </a:xfrm>
          <a:prstGeom prst="roundRect">
            <a:avLst>
              <a:gd name="adj" fmla="val 15385"/>
            </a:avLst>
          </a:prstGeom>
          <a:solidFill>
            <a:srgbClr val="FBE5D2"/>
          </a:solidFill>
          <a:ln/>
        </p:spPr>
      </p:sp>
      <p:sp>
        <p:nvSpPr>
          <p:cNvPr id="14" name="Text 12"/>
          <p:cNvSpPr/>
          <p:nvPr/>
        </p:nvSpPr>
        <p:spPr>
          <a:xfrm>
            <a:off x="8458200" y="4526280"/>
            <a:ext cx="2743200" cy="237744"/>
          </a:xfrm>
          <a:prstGeom prst="rect">
            <a:avLst/>
          </a:prstGeom>
          <a:noFill/>
          <a:ln/>
        </p:spPr>
        <p:txBody>
          <a:bodyPr wrap="square" lIns="0" tIns="0" rIns="0" bIns="0" rtlCol="0" anchor="ctr"/>
          <a:lstStyle/>
          <a:p>
            <a:pPr algn="ctr" indent="0" marL="0">
              <a:buNone/>
            </a:pPr>
            <a:r>
              <a:rPr lang="en-US" sz="950" b="1" spc="50" kern="0" dirty="0">
                <a:solidFill>
                  <a:srgbClr val="B45309"/>
                </a:solidFill>
                <a:latin typeface="Calibri" pitchFamily="34" charset="0"/>
                <a:ea typeface="Calibri" pitchFamily="34" charset="-122"/>
                <a:cs typeface="Calibri" pitchFamily="34" charset="-120"/>
              </a:rPr>
              <a:t>TravelMind UC-A1 / UC-A2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RECAP</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50-loop, diagnosed</a:t>
            </a:r>
            <a:endParaRPr lang="en-US" sz="3100" dirty="0"/>
          </a:p>
        </p:txBody>
      </p:sp>
      <p:sp>
        <p:nvSpPr>
          <p:cNvPr id="6" name="Text 4"/>
          <p:cNvSpPr/>
          <p:nvPr/>
        </p:nvSpPr>
        <p:spPr>
          <a:xfrm>
            <a:off x="566928" y="1417320"/>
            <a:ext cx="10972800" cy="36576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Three independent failures stacked. Each has a fix.</a:t>
            </a:r>
            <a:endParaRPr lang="en-US" sz="1500" dirty="0"/>
          </a:p>
        </p:txBody>
      </p:sp>
      <p:sp>
        <p:nvSpPr>
          <p:cNvPr id="7" name="Shape 5"/>
          <p:cNvSpPr/>
          <p:nvPr/>
        </p:nvSpPr>
        <p:spPr>
          <a:xfrm>
            <a:off x="566928" y="1920240"/>
            <a:ext cx="7772400" cy="914400"/>
          </a:xfrm>
          <a:prstGeom prst="rect">
            <a:avLst/>
          </a:prstGeom>
          <a:solidFill>
            <a:srgbClr val="FBE9E9"/>
          </a:solidFill>
          <a:ln w="12700">
            <a:solidFill>
              <a:srgbClr val="E2E8F0"/>
            </a:solidFill>
            <a:prstDash val="solid"/>
          </a:ln>
        </p:spPr>
      </p:sp>
      <p:sp>
        <p:nvSpPr>
          <p:cNvPr id="8" name="Shape 6"/>
          <p:cNvSpPr/>
          <p:nvPr/>
        </p:nvSpPr>
        <p:spPr>
          <a:xfrm>
            <a:off x="566928" y="1920240"/>
            <a:ext cx="64008" cy="914400"/>
          </a:xfrm>
          <a:prstGeom prst="rect">
            <a:avLst/>
          </a:prstGeom>
          <a:solidFill>
            <a:srgbClr val="B91C1C"/>
          </a:solidFill>
          <a:ln/>
        </p:spPr>
      </p:sp>
      <p:sp>
        <p:nvSpPr>
          <p:cNvPr id="9" name="Shape 7"/>
          <p:cNvSpPr/>
          <p:nvPr/>
        </p:nvSpPr>
        <p:spPr>
          <a:xfrm>
            <a:off x="777240" y="2185416"/>
            <a:ext cx="384048" cy="384048"/>
          </a:xfrm>
          <a:prstGeom prst="oval">
            <a:avLst/>
          </a:prstGeom>
          <a:solidFill>
            <a:srgbClr val="B91C1C"/>
          </a:solidFill>
          <a:ln/>
        </p:spPr>
      </p:sp>
      <p:sp>
        <p:nvSpPr>
          <p:cNvPr id="10" name="Text 8"/>
          <p:cNvSpPr/>
          <p:nvPr/>
        </p:nvSpPr>
        <p:spPr>
          <a:xfrm>
            <a:off x="777240" y="21854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325880" y="2039112"/>
            <a:ext cx="6858000" cy="320040"/>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No capability</a:t>
            </a:r>
            <a:endParaRPr lang="en-US" sz="1600" dirty="0"/>
          </a:p>
        </p:txBody>
      </p:sp>
      <p:sp>
        <p:nvSpPr>
          <p:cNvPr id="12" name="Text 10"/>
          <p:cNvSpPr/>
          <p:nvPr/>
        </p:nvSpPr>
        <p:spPr>
          <a:xfrm>
            <a:off x="1325880" y="2350008"/>
            <a:ext cx="6858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customer said "confirm booking" — no tool can book. The model keeps trying to Act on a thing that does not exist.</a:t>
            </a:r>
            <a:endParaRPr lang="en-US" sz="1200" dirty="0"/>
          </a:p>
        </p:txBody>
      </p:sp>
      <p:sp>
        <p:nvSpPr>
          <p:cNvPr id="13" name="Shape 11"/>
          <p:cNvSpPr/>
          <p:nvPr/>
        </p:nvSpPr>
        <p:spPr>
          <a:xfrm>
            <a:off x="566928" y="2999232"/>
            <a:ext cx="7772400" cy="914400"/>
          </a:xfrm>
          <a:prstGeom prst="rect">
            <a:avLst/>
          </a:prstGeom>
          <a:solidFill>
            <a:srgbClr val="FBE9E9"/>
          </a:solidFill>
          <a:ln w="12700">
            <a:solidFill>
              <a:srgbClr val="E2E8F0"/>
            </a:solidFill>
            <a:prstDash val="solid"/>
          </a:ln>
        </p:spPr>
      </p:sp>
      <p:sp>
        <p:nvSpPr>
          <p:cNvPr id="14" name="Shape 12"/>
          <p:cNvSpPr/>
          <p:nvPr/>
        </p:nvSpPr>
        <p:spPr>
          <a:xfrm>
            <a:off x="566928" y="2999232"/>
            <a:ext cx="64008" cy="914400"/>
          </a:xfrm>
          <a:prstGeom prst="rect">
            <a:avLst/>
          </a:prstGeom>
          <a:solidFill>
            <a:srgbClr val="B91C1C"/>
          </a:solidFill>
          <a:ln/>
        </p:spPr>
      </p:sp>
      <p:sp>
        <p:nvSpPr>
          <p:cNvPr id="15" name="Shape 13"/>
          <p:cNvSpPr/>
          <p:nvPr/>
        </p:nvSpPr>
        <p:spPr>
          <a:xfrm>
            <a:off x="777240" y="3264408"/>
            <a:ext cx="384048" cy="384048"/>
          </a:xfrm>
          <a:prstGeom prst="oval">
            <a:avLst/>
          </a:prstGeom>
          <a:solidFill>
            <a:srgbClr val="B91C1C"/>
          </a:solidFill>
          <a:ln/>
        </p:spPr>
      </p:sp>
      <p:sp>
        <p:nvSpPr>
          <p:cNvPr id="16" name="Text 14"/>
          <p:cNvSpPr/>
          <p:nvPr/>
        </p:nvSpPr>
        <p:spPr>
          <a:xfrm>
            <a:off x="777240" y="3264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7" name="Text 15"/>
          <p:cNvSpPr/>
          <p:nvPr/>
        </p:nvSpPr>
        <p:spPr>
          <a:xfrm>
            <a:off x="1325880" y="3118104"/>
            <a:ext cx="6858000" cy="320040"/>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No fallback</a:t>
            </a:r>
            <a:endParaRPr lang="en-US" sz="1600" dirty="0"/>
          </a:p>
        </p:txBody>
      </p:sp>
      <p:sp>
        <p:nvSpPr>
          <p:cNvPr id="18" name="Text 16"/>
          <p:cNvSpPr/>
          <p:nvPr/>
        </p:nvSpPr>
        <p:spPr>
          <a:xfrm>
            <a:off x="1325880" y="3429000"/>
            <a:ext cx="6858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Nothing tells the model what to do when no tool fits. So it re-reasons and tries again.</a:t>
            </a:r>
            <a:endParaRPr lang="en-US" sz="1200" dirty="0"/>
          </a:p>
        </p:txBody>
      </p:sp>
      <p:sp>
        <p:nvSpPr>
          <p:cNvPr id="19" name="Shape 17"/>
          <p:cNvSpPr/>
          <p:nvPr/>
        </p:nvSpPr>
        <p:spPr>
          <a:xfrm>
            <a:off x="566928" y="4078224"/>
            <a:ext cx="7772400" cy="914400"/>
          </a:xfrm>
          <a:prstGeom prst="rect">
            <a:avLst/>
          </a:prstGeom>
          <a:solidFill>
            <a:srgbClr val="FBE9E9"/>
          </a:solidFill>
          <a:ln w="12700">
            <a:solidFill>
              <a:srgbClr val="E2E8F0"/>
            </a:solidFill>
            <a:prstDash val="solid"/>
          </a:ln>
        </p:spPr>
      </p:sp>
      <p:sp>
        <p:nvSpPr>
          <p:cNvPr id="20" name="Shape 18"/>
          <p:cNvSpPr/>
          <p:nvPr/>
        </p:nvSpPr>
        <p:spPr>
          <a:xfrm>
            <a:off x="566928" y="4078224"/>
            <a:ext cx="64008" cy="914400"/>
          </a:xfrm>
          <a:prstGeom prst="rect">
            <a:avLst/>
          </a:prstGeom>
          <a:solidFill>
            <a:srgbClr val="B91C1C"/>
          </a:solidFill>
          <a:ln/>
        </p:spPr>
      </p:sp>
      <p:sp>
        <p:nvSpPr>
          <p:cNvPr id="21" name="Shape 19"/>
          <p:cNvSpPr/>
          <p:nvPr/>
        </p:nvSpPr>
        <p:spPr>
          <a:xfrm>
            <a:off x="777240" y="4343400"/>
            <a:ext cx="384048" cy="384048"/>
          </a:xfrm>
          <a:prstGeom prst="oval">
            <a:avLst/>
          </a:prstGeom>
          <a:solidFill>
            <a:srgbClr val="B91C1C"/>
          </a:solidFill>
          <a:ln/>
        </p:spPr>
      </p:sp>
      <p:sp>
        <p:nvSpPr>
          <p:cNvPr id="22" name="Text 20"/>
          <p:cNvSpPr/>
          <p:nvPr/>
        </p:nvSpPr>
        <p:spPr>
          <a:xfrm>
            <a:off x="777240" y="4343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3" name="Text 21"/>
          <p:cNvSpPr/>
          <p:nvPr/>
        </p:nvSpPr>
        <p:spPr>
          <a:xfrm>
            <a:off x="1325880" y="4197096"/>
            <a:ext cx="6858000" cy="320040"/>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No loop guard</a:t>
            </a:r>
            <a:endParaRPr lang="en-US" sz="1600" dirty="0"/>
          </a:p>
        </p:txBody>
      </p:sp>
      <p:sp>
        <p:nvSpPr>
          <p:cNvPr id="24" name="Text 22"/>
          <p:cNvSpPr/>
          <p:nvPr/>
        </p:nvSpPr>
        <p:spPr>
          <a:xfrm>
            <a:off x="1325880" y="4507992"/>
            <a:ext cx="6858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stopReason stayed tool_use forever. Only the 60s idle timeout cut it off — not our code.</a:t>
            </a:r>
            <a:endParaRPr lang="en-US" sz="1200" dirty="0"/>
          </a:p>
        </p:txBody>
      </p:sp>
      <p:sp>
        <p:nvSpPr>
          <p:cNvPr id="25" name="Shape 23"/>
          <p:cNvSpPr/>
          <p:nvPr/>
        </p:nvSpPr>
        <p:spPr>
          <a:xfrm>
            <a:off x="8595360" y="1920240"/>
            <a:ext cx="2926080" cy="2980944"/>
          </a:xfrm>
          <a:prstGeom prst="roundRect">
            <a:avLst>
              <a:gd name="adj" fmla="val 2188"/>
            </a:avLst>
          </a:prstGeom>
          <a:solidFill>
            <a:srgbClr val="111C32"/>
          </a:solidFill>
          <a:ln w="12700">
            <a:solidFill>
              <a:srgbClr val="24324C"/>
            </a:solidFill>
            <a:prstDash val="solid"/>
          </a:ln>
          <a:effectLst>
            <a:outerShdw sx="100000" sy="100000" kx="0" ky="0" algn="bl" rotWithShape="0" blurRad="76200" dist="25400" dir="8100000">
              <a:srgbClr val="000000">
                <a:alpha val="10000"/>
              </a:srgbClr>
            </a:outerShdw>
          </a:effectLst>
        </p:spPr>
      </p:sp>
      <p:sp>
        <p:nvSpPr>
          <p:cNvPr id="26" name="Text 24"/>
          <p:cNvSpPr/>
          <p:nvPr/>
        </p:nvSpPr>
        <p:spPr>
          <a:xfrm>
            <a:off x="8823960" y="2240280"/>
            <a:ext cx="2468880" cy="365760"/>
          </a:xfrm>
          <a:prstGeom prst="rect">
            <a:avLst/>
          </a:prstGeom>
          <a:noFill/>
          <a:ln/>
        </p:spPr>
        <p:txBody>
          <a:bodyPr wrap="square" lIns="0" tIns="0" rIns="0" bIns="0" rtlCol="0" anchor="ctr"/>
          <a:lstStyle/>
          <a:p>
            <a:pPr indent="0" marL="0">
              <a:buNone/>
            </a:pPr>
            <a:r>
              <a:rPr lang="en-US" sz="1400" b="1" dirty="0">
                <a:solidFill>
                  <a:srgbClr val="7DD3FC"/>
                </a:solidFill>
                <a:latin typeface="Consolas" pitchFamily="34" charset="0"/>
                <a:ea typeface="Consolas" pitchFamily="34" charset="-122"/>
                <a:cs typeface="Consolas" pitchFamily="34" charset="-120"/>
              </a:rPr>
              <a:t>stopReason</a:t>
            </a:r>
            <a:endParaRPr lang="en-US" sz="1400" dirty="0"/>
          </a:p>
        </p:txBody>
      </p:sp>
      <p:sp>
        <p:nvSpPr>
          <p:cNvPr id="27" name="Text 25"/>
          <p:cNvSpPr/>
          <p:nvPr/>
        </p:nvSpPr>
        <p:spPr>
          <a:xfrm>
            <a:off x="8823960" y="2743200"/>
            <a:ext cx="2468880" cy="1554480"/>
          </a:xfrm>
          <a:prstGeom prst="rect">
            <a:avLst/>
          </a:prstGeom>
          <a:noFill/>
          <a:ln/>
        </p:spPr>
        <p:txBody>
          <a:bodyPr wrap="square" lIns="0" tIns="0" rIns="0" bIns="0" rtlCol="0" anchor="t"/>
          <a:lstStyle/>
          <a:p>
            <a:pPr indent="0" marL="0">
              <a:lnSpc>
                <a:spcPct val="110000"/>
              </a:lnSpc>
              <a:buNone/>
            </a:pPr>
            <a:r>
              <a:rPr lang="en-US" sz="1700" b="1" dirty="0">
                <a:solidFill>
                  <a:srgbClr val="F7A23B"/>
                </a:solidFill>
                <a:latin typeface="Consolas" pitchFamily="34" charset="0"/>
                <a:ea typeface="Consolas" pitchFamily="34" charset="-122"/>
                <a:cs typeface="Consolas" pitchFamily="34" charset="-120"/>
              </a:rPr>
              <a:t>tool_use</a:t>
            </a:r>
            <a:endParaRPr lang="en-US" sz="1700" dirty="0"/>
          </a:p>
          <a:p>
            <a:pPr indent="0" marL="0">
              <a:lnSpc>
                <a:spcPct val="110000"/>
              </a:lnSpc>
              <a:buNone/>
            </a:pPr>
            <a:r>
              <a:rPr lang="en-US" sz="1700" b="1" dirty="0">
                <a:solidFill>
                  <a:srgbClr val="F7A23B"/>
                </a:solidFill>
                <a:latin typeface="Consolas" pitchFamily="34" charset="0"/>
                <a:ea typeface="Consolas" pitchFamily="34" charset="-122"/>
                <a:cs typeface="Consolas" pitchFamily="34" charset="-120"/>
              </a:rPr>
              <a:t>tool_use</a:t>
            </a:r>
            <a:endParaRPr lang="en-US" sz="1700" dirty="0"/>
          </a:p>
          <a:p>
            <a:pPr indent="0" marL="0">
              <a:lnSpc>
                <a:spcPct val="110000"/>
              </a:lnSpc>
              <a:buNone/>
            </a:pPr>
            <a:r>
              <a:rPr lang="en-US" sz="1700" b="1" dirty="0">
                <a:solidFill>
                  <a:srgbClr val="F7A23B"/>
                </a:solidFill>
                <a:latin typeface="Consolas" pitchFamily="34" charset="0"/>
                <a:ea typeface="Consolas" pitchFamily="34" charset="-122"/>
                <a:cs typeface="Consolas" pitchFamily="34" charset="-120"/>
              </a:rPr>
              <a:t>tool_use</a:t>
            </a:r>
            <a:endParaRPr lang="en-US" sz="1700" dirty="0"/>
          </a:p>
          <a:p>
            <a:pPr indent="0" marL="0">
              <a:lnSpc>
                <a:spcPct val="110000"/>
              </a:lnSpc>
              <a:buNone/>
            </a:pPr>
            <a:r>
              <a:rPr lang="en-US" sz="1500" dirty="0">
                <a:solidFill>
                  <a:srgbClr val="9AA3B2"/>
                </a:solidFill>
                <a:latin typeface="Consolas" pitchFamily="34" charset="0"/>
                <a:ea typeface="Consolas" pitchFamily="34" charset="-122"/>
                <a:cs typeface="Consolas" pitchFamily="34" charset="-120"/>
              </a:rPr>
              <a:t>…  ×50</a:t>
            </a:r>
            <a:endParaRPr lang="en-US" sz="1700" dirty="0"/>
          </a:p>
        </p:txBody>
      </p:sp>
      <p:sp>
        <p:nvSpPr>
          <p:cNvPr id="28" name="Text 26"/>
          <p:cNvSpPr/>
          <p:nvPr/>
        </p:nvSpPr>
        <p:spPr>
          <a:xfrm>
            <a:off x="8823960" y="4434840"/>
            <a:ext cx="2468880" cy="365760"/>
          </a:xfrm>
          <a:prstGeom prst="rect">
            <a:avLst/>
          </a:prstGeom>
          <a:noFill/>
          <a:ln/>
        </p:spPr>
        <p:txBody>
          <a:bodyPr wrap="square" lIns="0" tIns="0" rIns="0" bIns="0" rtlCol="0" anchor="ctr"/>
          <a:lstStyle/>
          <a:p>
            <a:pPr indent="0" marL="0">
              <a:buNone/>
            </a:pPr>
            <a:r>
              <a:rPr lang="en-US" sz="1200" i="1" dirty="0">
                <a:solidFill>
                  <a:srgbClr val="B91C1C"/>
                </a:solidFill>
                <a:latin typeface="Consolas" pitchFamily="34" charset="0"/>
                <a:ea typeface="Consolas" pitchFamily="34" charset="-122"/>
                <a:cs typeface="Consolas" pitchFamily="34" charset="-120"/>
              </a:rPr>
              <a:t>never end_turn</a:t>
            </a:r>
            <a:endParaRPr lang="en-US" sz="1200" dirty="0"/>
          </a:p>
        </p:txBody>
      </p:sp>
      <p:sp>
        <p:nvSpPr>
          <p:cNvPr id="29" name="Text 27"/>
          <p:cNvSpPr/>
          <p:nvPr/>
        </p:nvSpPr>
        <p:spPr>
          <a:xfrm>
            <a:off x="566928" y="5212080"/>
            <a:ext cx="10972800" cy="640080"/>
          </a:xfrm>
          <a:prstGeom prst="rect">
            <a:avLst/>
          </a:prstGeom>
          <a:noFill/>
          <a:ln/>
        </p:spPr>
        <p:txBody>
          <a:bodyPr wrap="square" lIns="0" tIns="0" rIns="0" bIns="0" rtlCol="0" anchor="t"/>
          <a:lstStyle/>
          <a:p>
            <a:pPr indent="0" marL="0">
              <a:buNone/>
            </a:pPr>
            <a:r>
              <a:rPr lang="en-US" sz="1350" i="1" dirty="0">
                <a:solidFill>
                  <a:srgbClr val="1F2937"/>
                </a:solidFill>
                <a:latin typeface="Calibri" pitchFamily="34" charset="0"/>
                <a:ea typeface="Calibri" pitchFamily="34" charset="-122"/>
                <a:cs typeface="Calibri" pitchFamily="34" charset="-120"/>
              </a:rPr>
              <a:t>The model was not broken. It obediently tried to Act until the clock ran out. Fix the three causes and the loop cannot run away.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2</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LOOP · FIX 1</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turn cap — the floor, not the ceiling</a:t>
            </a:r>
            <a:endParaRPr lang="en-US" sz="3100" dirty="0"/>
          </a:p>
        </p:txBody>
      </p:sp>
      <p:sp>
        <p:nvSpPr>
          <p:cNvPr id="6" name="Shape 4"/>
          <p:cNvSpPr/>
          <p:nvPr/>
        </p:nvSpPr>
        <p:spPr>
          <a:xfrm>
            <a:off x="566928" y="1508760"/>
            <a:ext cx="7315200" cy="2395728"/>
          </a:xfrm>
          <a:prstGeom prst="roundRect">
            <a:avLst>
              <a:gd name="adj" fmla="val 2290"/>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731520" y="1655064"/>
            <a:ext cx="77724" cy="77724"/>
          </a:xfrm>
          <a:prstGeom prst="oval">
            <a:avLst/>
          </a:prstGeom>
          <a:solidFill>
            <a:srgbClr val="FF5F56"/>
          </a:solidFill>
          <a:ln/>
        </p:spPr>
      </p:sp>
      <p:sp>
        <p:nvSpPr>
          <p:cNvPr id="8" name="Shape 6"/>
          <p:cNvSpPr/>
          <p:nvPr/>
        </p:nvSpPr>
        <p:spPr>
          <a:xfrm>
            <a:off x="841248" y="1655064"/>
            <a:ext cx="77724" cy="77724"/>
          </a:xfrm>
          <a:prstGeom prst="oval">
            <a:avLst/>
          </a:prstGeom>
          <a:solidFill>
            <a:srgbClr val="FFBD2E"/>
          </a:solidFill>
          <a:ln/>
        </p:spPr>
      </p:sp>
      <p:sp>
        <p:nvSpPr>
          <p:cNvPr id="9" name="Shape 7"/>
          <p:cNvSpPr/>
          <p:nvPr/>
        </p:nvSpPr>
        <p:spPr>
          <a:xfrm>
            <a:off x="950976" y="1655064"/>
            <a:ext cx="77724" cy="77724"/>
          </a:xfrm>
          <a:prstGeom prst="oval">
            <a:avLst/>
          </a:prstGeom>
          <a:solidFill>
            <a:srgbClr val="27C93F"/>
          </a:solidFill>
          <a:ln/>
        </p:spPr>
      </p:sp>
      <p:sp>
        <p:nvSpPr>
          <p:cNvPr id="10" name="Text 8"/>
          <p:cNvSpPr/>
          <p:nvPr/>
        </p:nvSpPr>
        <p:spPr>
          <a:xfrm>
            <a:off x="1115568" y="1572768"/>
            <a:ext cx="658368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hand-built loop</a:t>
            </a:r>
            <a:endParaRPr lang="en-US" sz="900" dirty="0"/>
          </a:p>
        </p:txBody>
      </p:sp>
      <p:sp>
        <p:nvSpPr>
          <p:cNvPr id="11" name="Text 9"/>
          <p:cNvSpPr/>
          <p:nvPr/>
        </p:nvSpPr>
        <p:spPr>
          <a:xfrm>
            <a:off x="768096" y="1819656"/>
            <a:ext cx="6931152" cy="1956816"/>
          </a:xfrm>
          <a:prstGeom prst="rect">
            <a:avLst/>
          </a:prstGeom>
          <a:noFill/>
          <a:ln/>
        </p:spPr>
        <p:txBody>
          <a:bodyPr wrap="square" lIns="0" tIns="0" rIns="0" bIns="0" rtlCol="0" anchor="t"/>
          <a:lstStyle/>
          <a:p>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def</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run_agent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user_text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6</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messages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role</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user</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content</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user_text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for</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turn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in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range</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hard ceiling</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brt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converse</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out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output</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message</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messages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append</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out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if</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stopReason</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tool_use</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return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out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turn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1</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clean exit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return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SAFE_FALLBACK</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cap hit</a:t>
            </a:r>
            <a:endParaRPr lang="en-US" sz="1200" dirty="0"/>
          </a:p>
        </p:txBody>
      </p:sp>
      <p:sp>
        <p:nvSpPr>
          <p:cNvPr id="12" name="Shape 10"/>
          <p:cNvSpPr/>
          <p:nvPr/>
        </p:nvSpPr>
        <p:spPr>
          <a:xfrm>
            <a:off x="8092440" y="1600200"/>
            <a:ext cx="3456432" cy="1188720"/>
          </a:xfrm>
          <a:prstGeom prst="rect">
            <a:avLst/>
          </a:prstGeom>
          <a:solidFill>
            <a:srgbClr val="F8FAFC"/>
          </a:solidFill>
          <a:ln w="12700">
            <a:solidFill>
              <a:srgbClr val="E2E8F0"/>
            </a:solidFill>
            <a:prstDash val="solid"/>
          </a:ln>
        </p:spPr>
      </p:sp>
      <p:sp>
        <p:nvSpPr>
          <p:cNvPr id="13" name="Shape 11"/>
          <p:cNvSpPr/>
          <p:nvPr/>
        </p:nvSpPr>
        <p:spPr>
          <a:xfrm>
            <a:off x="8092440" y="1600200"/>
            <a:ext cx="64008" cy="1188720"/>
          </a:xfrm>
          <a:prstGeom prst="rect">
            <a:avLst/>
          </a:prstGeom>
          <a:solidFill>
            <a:srgbClr val="B45309"/>
          </a:solidFill>
          <a:ln/>
        </p:spPr>
      </p:sp>
      <p:sp>
        <p:nvSpPr>
          <p:cNvPr id="14" name="Text 12"/>
          <p:cNvSpPr/>
          <p:nvPr/>
        </p:nvSpPr>
        <p:spPr>
          <a:xfrm>
            <a:off x="8293608" y="1746504"/>
            <a:ext cx="3108960" cy="365760"/>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Always present</a:t>
            </a:r>
            <a:endParaRPr lang="en-US" sz="1500" dirty="0"/>
          </a:p>
        </p:txBody>
      </p:sp>
      <p:sp>
        <p:nvSpPr>
          <p:cNvPr id="15" name="Text 13"/>
          <p:cNvSpPr/>
          <p:nvPr/>
        </p:nvSpPr>
        <p:spPr>
          <a:xfrm>
            <a:off x="8293608" y="2112264"/>
            <a:ext cx="315468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agent loop ships without a hard turn cap. Cheap insurance against infinite spend.</a:t>
            </a:r>
            <a:endParaRPr lang="en-US" sz="1200" dirty="0"/>
          </a:p>
        </p:txBody>
      </p:sp>
      <p:sp>
        <p:nvSpPr>
          <p:cNvPr id="16" name="Shape 14"/>
          <p:cNvSpPr/>
          <p:nvPr/>
        </p:nvSpPr>
        <p:spPr>
          <a:xfrm>
            <a:off x="8092440" y="3017520"/>
            <a:ext cx="3456432" cy="1188720"/>
          </a:xfrm>
          <a:prstGeom prst="rect">
            <a:avLst/>
          </a:prstGeom>
          <a:solidFill>
            <a:srgbClr val="F8FAFC"/>
          </a:solidFill>
          <a:ln w="12700">
            <a:solidFill>
              <a:srgbClr val="E2E8F0"/>
            </a:solidFill>
            <a:prstDash val="solid"/>
          </a:ln>
        </p:spPr>
      </p:sp>
      <p:sp>
        <p:nvSpPr>
          <p:cNvPr id="17" name="Shape 15"/>
          <p:cNvSpPr/>
          <p:nvPr/>
        </p:nvSpPr>
        <p:spPr>
          <a:xfrm>
            <a:off x="8092440" y="3017520"/>
            <a:ext cx="64008" cy="1188720"/>
          </a:xfrm>
          <a:prstGeom prst="rect">
            <a:avLst/>
          </a:prstGeom>
          <a:solidFill>
            <a:srgbClr val="D97706"/>
          </a:solidFill>
          <a:ln/>
        </p:spPr>
      </p:sp>
      <p:sp>
        <p:nvSpPr>
          <p:cNvPr id="18" name="Text 16"/>
          <p:cNvSpPr/>
          <p:nvPr/>
        </p:nvSpPr>
        <p:spPr>
          <a:xfrm>
            <a:off x="8293608" y="3163824"/>
            <a:ext cx="3108960" cy="365760"/>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But it is blunt</a:t>
            </a:r>
            <a:endParaRPr lang="en-US" sz="1500" dirty="0"/>
          </a:p>
        </p:txBody>
      </p:sp>
      <p:sp>
        <p:nvSpPr>
          <p:cNvPr id="19" name="Text 17"/>
          <p:cNvSpPr/>
          <p:nvPr/>
        </p:nvSpPr>
        <p:spPr>
          <a:xfrm>
            <a:off x="8293608" y="3529584"/>
            <a:ext cx="315468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stops the bleeding. It does not tell the model what to do instead — that is Fix 2 and Fix 3.</a:t>
            </a:r>
            <a:endParaRPr lang="en-US" sz="1200" dirty="0"/>
          </a:p>
        </p:txBody>
      </p:sp>
      <p:sp>
        <p:nvSpPr>
          <p:cNvPr id="20" name="Shape 18"/>
          <p:cNvSpPr/>
          <p:nvPr/>
        </p:nvSpPr>
        <p:spPr>
          <a:xfrm>
            <a:off x="566928" y="5440680"/>
            <a:ext cx="10972800" cy="777240"/>
          </a:xfrm>
          <a:prstGeom prst="rect">
            <a:avLst/>
          </a:prstGeom>
          <a:solidFill>
            <a:srgbClr val="F8FAFC"/>
          </a:solidFill>
          <a:ln w="12700">
            <a:solidFill>
              <a:srgbClr val="E2E8F0"/>
            </a:solidFill>
            <a:prstDash val="solid"/>
          </a:ln>
        </p:spPr>
      </p:sp>
      <p:sp>
        <p:nvSpPr>
          <p:cNvPr id="21" name="Shape 19"/>
          <p:cNvSpPr/>
          <p:nvPr/>
        </p:nvSpPr>
        <p:spPr>
          <a:xfrm>
            <a:off x="566928" y="5440680"/>
            <a:ext cx="64008" cy="777240"/>
          </a:xfrm>
          <a:prstGeom prst="rect">
            <a:avLst/>
          </a:prstGeom>
          <a:solidFill>
            <a:srgbClr val="1F2937"/>
          </a:solidFill>
          <a:ln/>
        </p:spPr>
      </p:sp>
      <p:sp>
        <p:nvSpPr>
          <p:cNvPr id="22" name="Text 20"/>
          <p:cNvSpPr/>
          <p:nvPr/>
        </p:nvSpPr>
        <p:spPr>
          <a:xfrm>
            <a:off x="822960" y="5577840"/>
            <a:ext cx="10515600" cy="50292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Principle:  </a:t>
            </a:r>
            <a:pPr indent="0" marL="0">
              <a:buNone/>
            </a:pPr>
            <a:r>
              <a:rPr lang="en-US" sz="1400" dirty="0">
                <a:solidFill>
                  <a:srgbClr val="1F2937"/>
                </a:solidFill>
                <a:latin typeface="Calibri" pitchFamily="34" charset="0"/>
                <a:ea typeface="Calibri" pitchFamily="34" charset="-122"/>
                <a:cs typeface="Calibri" pitchFamily="34" charset="-120"/>
              </a:rPr>
              <a:t>never run an agent loop without a hard </a:t>
            </a:r>
            <a:pPr indent="0" marL="0">
              <a:buNone/>
            </a:pPr>
            <a:r>
              <a:rPr lang="en-US" sz="1400" b="1" dirty="0">
                <a:solidFill>
                  <a:srgbClr val="B45309"/>
                </a:solidFill>
                <a:latin typeface="Calibri" pitchFamily="34" charset="0"/>
                <a:ea typeface="Calibri" pitchFamily="34" charset="-122"/>
                <a:cs typeface="Calibri" pitchFamily="34" charset="-120"/>
              </a:rPr>
              <a:t>max_turns</a:t>
            </a:r>
            <a:pPr indent="0" marL="0">
              <a:buNone/>
            </a:pPr>
            <a:r>
              <a:rPr lang="en-US" sz="1400" dirty="0">
                <a:solidFill>
                  <a:srgbClr val="1F2937"/>
                </a:solidFill>
                <a:latin typeface="Calibri" pitchFamily="34" charset="0"/>
                <a:ea typeface="Calibri" pitchFamily="34" charset="-122"/>
                <a:cs typeface="Calibri" pitchFamily="34" charset="-120"/>
              </a:rPr>
              <a:t>.  It is the one guard that is non-negotiable.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3</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LOOP · FIX 2</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Detect the spin — same call, no progress</a:t>
            </a:r>
            <a:endParaRPr lang="en-US" sz="3100" dirty="0"/>
          </a:p>
        </p:txBody>
      </p:sp>
      <p:sp>
        <p:nvSpPr>
          <p:cNvPr id="6" name="Shape 4"/>
          <p:cNvSpPr/>
          <p:nvPr/>
        </p:nvSpPr>
        <p:spPr>
          <a:xfrm>
            <a:off x="566928" y="1508760"/>
            <a:ext cx="7315200" cy="2982773"/>
          </a:xfrm>
          <a:prstGeom prst="roundRect">
            <a:avLst>
              <a:gd name="adj" fmla="val 1839"/>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731520" y="1655064"/>
            <a:ext cx="77724" cy="77724"/>
          </a:xfrm>
          <a:prstGeom prst="oval">
            <a:avLst/>
          </a:prstGeom>
          <a:solidFill>
            <a:srgbClr val="FF5F56"/>
          </a:solidFill>
          <a:ln/>
        </p:spPr>
      </p:sp>
      <p:sp>
        <p:nvSpPr>
          <p:cNvPr id="8" name="Shape 6"/>
          <p:cNvSpPr/>
          <p:nvPr/>
        </p:nvSpPr>
        <p:spPr>
          <a:xfrm>
            <a:off x="841248" y="1655064"/>
            <a:ext cx="77724" cy="77724"/>
          </a:xfrm>
          <a:prstGeom prst="oval">
            <a:avLst/>
          </a:prstGeom>
          <a:solidFill>
            <a:srgbClr val="FFBD2E"/>
          </a:solidFill>
          <a:ln/>
        </p:spPr>
      </p:sp>
      <p:sp>
        <p:nvSpPr>
          <p:cNvPr id="9" name="Shape 7"/>
          <p:cNvSpPr/>
          <p:nvPr/>
        </p:nvSpPr>
        <p:spPr>
          <a:xfrm>
            <a:off x="950976" y="1655064"/>
            <a:ext cx="77724" cy="77724"/>
          </a:xfrm>
          <a:prstGeom prst="oval">
            <a:avLst/>
          </a:prstGeom>
          <a:solidFill>
            <a:srgbClr val="27C93F"/>
          </a:solidFill>
          <a:ln/>
        </p:spPr>
      </p:sp>
      <p:sp>
        <p:nvSpPr>
          <p:cNvPr id="10" name="Text 8"/>
          <p:cNvSpPr/>
          <p:nvPr/>
        </p:nvSpPr>
        <p:spPr>
          <a:xfrm>
            <a:off x="1115568" y="1572768"/>
            <a:ext cx="658368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break when it repeats itself</a:t>
            </a:r>
            <a:endParaRPr lang="en-US" sz="900" dirty="0"/>
          </a:p>
        </p:txBody>
      </p:sp>
      <p:sp>
        <p:nvSpPr>
          <p:cNvPr id="11" name="Text 9"/>
          <p:cNvSpPr/>
          <p:nvPr/>
        </p:nvSpPr>
        <p:spPr>
          <a:xfrm>
            <a:off x="768096" y="1819656"/>
            <a:ext cx="6931152" cy="2543861"/>
          </a:xfrm>
          <a:prstGeom prst="rect">
            <a:avLst/>
          </a:prstGeom>
          <a:noFill/>
          <a:ln/>
        </p:spPr>
        <p:txBody>
          <a:bodyPr wrap="square" lIns="0" tIns="0" rIns="0" bIns="0" rtlCol="0" anchor="t"/>
          <a:lstStyle/>
          <a:p>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import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json</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last_sig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None</a:t>
            </a:r>
            <a:endParaRPr lang="en-US" sz="1150" dirty="0"/>
          </a:p>
          <a:p>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for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turn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range</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brt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converse</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out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output</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message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for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block</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out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content</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if</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toolUse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block</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block</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toolUse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sig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name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json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dumps</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input</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sort_keys</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True</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if</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sig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last_sig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i="1" dirty="0">
                <a:solidFill>
                  <a:srgbClr val="8893A7"/>
                </a:solidFill>
                <a:latin typeface="Consolas" pitchFamily="34" charset="0"/>
                <a:ea typeface="Consolas" pitchFamily="34" charset="-122"/>
                <a:cs typeface="Consolas" pitchFamily="34" charset="-120"/>
              </a:rPr>
              <a:t> # no new information</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return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No</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new</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info</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Escalating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turn</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last_sig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sig</a:t>
            </a:r>
            <a:endParaRPr lang="en-US" sz="1150" dirty="0"/>
          </a:p>
        </p:txBody>
      </p:sp>
      <p:sp>
        <p:nvSpPr>
          <p:cNvPr id="12" name="Shape 10"/>
          <p:cNvSpPr/>
          <p:nvPr/>
        </p:nvSpPr>
        <p:spPr>
          <a:xfrm>
            <a:off x="8092440" y="1600200"/>
            <a:ext cx="3456432" cy="1691640"/>
          </a:xfrm>
          <a:prstGeom prst="rect">
            <a:avLst/>
          </a:prstGeom>
          <a:solidFill>
            <a:srgbClr val="F8FAFC"/>
          </a:solidFill>
          <a:ln w="12700">
            <a:solidFill>
              <a:srgbClr val="E2E8F0"/>
            </a:solidFill>
            <a:prstDash val="solid"/>
          </a:ln>
        </p:spPr>
      </p:sp>
      <p:sp>
        <p:nvSpPr>
          <p:cNvPr id="13" name="Shape 11"/>
          <p:cNvSpPr/>
          <p:nvPr/>
        </p:nvSpPr>
        <p:spPr>
          <a:xfrm>
            <a:off x="8092440" y="1600200"/>
            <a:ext cx="64008" cy="1691640"/>
          </a:xfrm>
          <a:prstGeom prst="rect">
            <a:avLst/>
          </a:prstGeom>
          <a:solidFill>
            <a:srgbClr val="B45309"/>
          </a:solidFill>
          <a:ln/>
        </p:spPr>
      </p:sp>
      <p:sp>
        <p:nvSpPr>
          <p:cNvPr id="14" name="Text 12"/>
          <p:cNvSpPr/>
          <p:nvPr/>
        </p:nvSpPr>
        <p:spPr>
          <a:xfrm>
            <a:off x="8293608" y="1737360"/>
            <a:ext cx="3108960" cy="365760"/>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The diagnosis, in code</a:t>
            </a:r>
            <a:endParaRPr lang="en-US" sz="1500" dirty="0"/>
          </a:p>
        </p:txBody>
      </p:sp>
      <p:sp>
        <p:nvSpPr>
          <p:cNvPr id="15" name="Text 13"/>
          <p:cNvSpPr/>
          <p:nvPr/>
        </p:nvSpPr>
        <p:spPr>
          <a:xfrm>
            <a:off x="8293608" y="2121408"/>
            <a:ext cx="3154680" cy="109728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Identical tool name + identical input, twice in a row, means the loop is spinning, not working. Exit early, save tokens.</a:t>
            </a:r>
            <a:endParaRPr lang="en-US" sz="1250" dirty="0"/>
          </a:p>
        </p:txBody>
      </p:sp>
      <p:sp>
        <p:nvSpPr>
          <p:cNvPr id="16" name="Shape 14"/>
          <p:cNvSpPr/>
          <p:nvPr/>
        </p:nvSpPr>
        <p:spPr>
          <a:xfrm>
            <a:off x="8092440" y="3474720"/>
            <a:ext cx="3456432" cy="1417320"/>
          </a:xfrm>
          <a:prstGeom prst="roundRect">
            <a:avLst>
              <a:gd name="adj" fmla="val 4516"/>
            </a:avLst>
          </a:prstGeom>
          <a:solidFill>
            <a:srgbClr val="FBE5D2"/>
          </a:solidFill>
          <a:ln w="12700">
            <a:solidFill>
              <a:srgbClr val="E7C9A6"/>
            </a:solidFill>
            <a:prstDash val="solid"/>
          </a:ln>
        </p:spPr>
      </p:sp>
      <p:sp>
        <p:nvSpPr>
          <p:cNvPr id="17" name="Text 15"/>
          <p:cNvSpPr/>
          <p:nvPr/>
        </p:nvSpPr>
        <p:spPr>
          <a:xfrm>
            <a:off x="8293608" y="3621024"/>
            <a:ext cx="3108960" cy="868680"/>
          </a:xfrm>
          <a:prstGeom prst="rect">
            <a:avLst/>
          </a:prstGeom>
          <a:noFill/>
          <a:ln/>
        </p:spPr>
        <p:txBody>
          <a:bodyPr wrap="square" lIns="0" tIns="0" rIns="0" bIns="0" rtlCol="0" anchor="t"/>
          <a:lstStyle/>
          <a:p>
            <a:pPr indent="0" marL="0">
              <a:buNone/>
            </a:pPr>
            <a:r>
              <a:rPr lang="en-US" sz="1350" b="1" i="1" dirty="0">
                <a:solidFill>
                  <a:srgbClr val="B45309"/>
                </a:solidFill>
                <a:latin typeface="Georgia" pitchFamily="34" charset="0"/>
                <a:ea typeface="Georgia" pitchFamily="34" charset="-122"/>
                <a:cs typeface="Georgia" pitchFamily="34" charset="-120"/>
              </a:rPr>
              <a:t>“Appending thinking, thinking, thinking is not adding any new context.”</a:t>
            </a:r>
            <a:endParaRPr lang="en-US" sz="1350" dirty="0"/>
          </a:p>
        </p:txBody>
      </p:sp>
      <p:sp>
        <p:nvSpPr>
          <p:cNvPr id="18" name="Text 16"/>
          <p:cNvSpPr/>
          <p:nvPr/>
        </p:nvSpPr>
        <p:spPr>
          <a:xfrm>
            <a:off x="8293608" y="4526280"/>
            <a:ext cx="3108960" cy="320040"/>
          </a:xfrm>
          <a:prstGeom prst="rect">
            <a:avLst/>
          </a:prstGeom>
          <a:noFill/>
          <a:ln/>
        </p:spPr>
        <p:txBody>
          <a:bodyPr wrap="square" lIns="0" tIns="0" rIns="0" bIns="0" rtlCol="0" anchor="ctr"/>
          <a:lstStyle/>
          <a:p>
            <a:pPr indent="0" marL="0">
              <a:buNone/>
            </a:pPr>
            <a:r>
              <a:rPr lang="en-US" sz="1050" dirty="0">
                <a:solidFill>
                  <a:srgbClr val="D97706"/>
                </a:solidFill>
                <a:latin typeface="Calibri" pitchFamily="34" charset="0"/>
                <a:ea typeface="Calibri" pitchFamily="34" charset="-122"/>
                <a:cs typeface="Calibri" pitchFamily="34" charset="-120"/>
              </a:rPr>
              <a:t>— yesterday, watching the trace</a:t>
            </a:r>
            <a:endParaRPr lang="en-US" sz="1050" dirty="0"/>
          </a:p>
        </p:txBody>
      </p:sp>
      <p:sp>
        <p:nvSpPr>
          <p:cNvPr id="19" name="Text 17"/>
          <p:cNvSpPr/>
          <p:nvPr/>
        </p:nvSpPr>
        <p:spPr>
          <a:xfrm>
            <a:off x="566928" y="5532120"/>
            <a:ext cx="10972800" cy="640080"/>
          </a:xfrm>
          <a:prstGeom prst="rect">
            <a:avLst/>
          </a:prstGeom>
          <a:noFill/>
          <a:ln/>
        </p:spPr>
        <p:txBody>
          <a:bodyPr wrap="square" lIns="0" tIns="0" rIns="0" bIns="0" rtlCol="0" anchor="t"/>
          <a:lstStyle/>
          <a:p>
            <a:pPr indent="0" marL="0">
              <a:buNone/>
            </a:pPr>
            <a:r>
              <a:rPr lang="en-US" sz="1250" i="1" dirty="0">
                <a:solidFill>
                  <a:srgbClr val="1F2937"/>
                </a:solidFill>
                <a:latin typeface="Calibri" pitchFamily="34" charset="0"/>
                <a:ea typeface="Calibri" pitchFamily="34" charset="-122"/>
                <a:cs typeface="Calibri" pitchFamily="34" charset="-120"/>
              </a:rPr>
              <a:t>sort_keys=True matters: it makes {"pnr":"X"} and {"pnr":"X"} compare equal regardless of key order — so a real repeat is caught, not missed on formatting.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4</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LOOP · FIX 3</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Give it somewhere to go — the fallback tool</a:t>
            </a:r>
            <a:endParaRPr lang="en-US" sz="3100" dirty="0"/>
          </a:p>
        </p:txBody>
      </p:sp>
      <p:sp>
        <p:nvSpPr>
          <p:cNvPr id="6" name="Text 4"/>
          <p:cNvSpPr/>
          <p:nvPr/>
        </p:nvSpPr>
        <p:spPr>
          <a:xfrm>
            <a:off x="566928" y="1463040"/>
            <a:ext cx="4572000" cy="2377440"/>
          </a:xfrm>
          <a:prstGeom prst="rect">
            <a:avLst/>
          </a:prstGeom>
          <a:noFill/>
          <a:ln/>
        </p:spPr>
        <p:txBody>
          <a:bodyPr wrap="square" lIns="0" tIns="0" rIns="0" bIns="0" rtlCol="0" anchor="t"/>
          <a:lstStyle/>
          <a:p>
            <a:pPr marL="177800" indent="-177800">
              <a:spcAft>
                <a:spcPts val="1400"/>
              </a:spcAft>
              <a:buSzPct val="100000"/>
              <a:buChar char="•"/>
            </a:pPr>
            <a:r>
              <a:rPr lang="en-US" sz="1450" b="1" dirty="0">
                <a:solidFill>
                  <a:srgbClr val="1F2937"/>
                </a:solidFill>
                <a:latin typeface="Calibri" pitchFamily="34" charset="0"/>
                <a:ea typeface="Calibri" pitchFamily="34" charset="-122"/>
                <a:cs typeface="Calibri" pitchFamily="34" charset="-120"/>
              </a:rPr>
              <a:t>The real fix is not stopping the loop — it is removing the reason to loop</a:t>
            </a:r>
            <a:endParaRPr lang="en-US" sz="1450" dirty="0"/>
          </a:p>
          <a:p>
            <a:pPr marL="177800" indent="-177800">
              <a:spcAft>
                <a:spcPts val="1400"/>
              </a:spcAft>
              <a:buSzPct val="100000"/>
              <a:buChar char="•"/>
            </a:pPr>
            <a:r>
              <a:rPr lang="en-US" sz="1450" b="1" dirty="0">
                <a:solidFill>
                  <a:srgbClr val="B45309"/>
                </a:solidFill>
                <a:latin typeface="Calibri" pitchFamily="34" charset="0"/>
                <a:ea typeface="Calibri" pitchFamily="34" charset="-122"/>
                <a:cs typeface="Calibri" pitchFamily="34" charset="-120"/>
              </a:rPr>
              <a:t>Add a fallback tool:  handoff_to_human(reason)</a:t>
            </a:r>
            <a:endParaRPr lang="en-US" sz="1450" dirty="0"/>
          </a:p>
          <a:p>
            <a:pPr marL="177800" indent="-177800">
              <a:spcAft>
                <a:spcPts val="1400"/>
              </a:spcAft>
              <a:buSzPct val="100000"/>
              <a:buChar char="•"/>
            </a:pPr>
            <a:r>
              <a:rPr lang="en-US" sz="1450" dirty="0">
                <a:solidFill>
                  <a:srgbClr val="1F2937"/>
                </a:solidFill>
                <a:latin typeface="Calibri" pitchFamily="34" charset="0"/>
                <a:ea typeface="Calibri" pitchFamily="34" charset="-122"/>
                <a:cs typeface="Calibri" pitchFamily="34" charset="-120"/>
              </a:rPr>
              <a:t>Now the model always has a legal Act, even when it cannot fulfil the request</a:t>
            </a:r>
            <a:endParaRPr lang="en-US" sz="1450" dirty="0"/>
          </a:p>
        </p:txBody>
      </p:sp>
      <p:sp>
        <p:nvSpPr>
          <p:cNvPr id="7" name="Shape 5"/>
          <p:cNvSpPr/>
          <p:nvPr/>
        </p:nvSpPr>
        <p:spPr>
          <a:xfrm>
            <a:off x="566928" y="4160520"/>
            <a:ext cx="4572000" cy="1783080"/>
          </a:xfrm>
          <a:prstGeom prst="roundRect">
            <a:avLst>
              <a:gd name="adj" fmla="val 3590"/>
            </a:avLst>
          </a:prstGeom>
          <a:solidFill>
            <a:srgbClr val="E7F4EA"/>
          </a:solidFill>
          <a:ln w="12700">
            <a:solidFill>
              <a:srgbClr val="BFE3C8"/>
            </a:solidFill>
            <a:prstDash val="solid"/>
          </a:ln>
        </p:spPr>
      </p:sp>
      <p:sp>
        <p:nvSpPr>
          <p:cNvPr id="8" name="Text 6"/>
          <p:cNvSpPr/>
          <p:nvPr/>
        </p:nvSpPr>
        <p:spPr>
          <a:xfrm>
            <a:off x="777240" y="4297680"/>
            <a:ext cx="4114800" cy="365760"/>
          </a:xfrm>
          <a:prstGeom prst="rect">
            <a:avLst/>
          </a:prstGeom>
          <a:noFill/>
          <a:ln/>
        </p:spPr>
        <p:txBody>
          <a:bodyPr wrap="square" lIns="0" tIns="0" rIns="0" bIns="0" rtlCol="0" anchor="ctr"/>
          <a:lstStyle/>
          <a:p>
            <a:pPr indent="0" marL="0">
              <a:buNone/>
            </a:pPr>
            <a:r>
              <a:rPr lang="en-US" sz="1500" b="1" dirty="0">
                <a:solidFill>
                  <a:srgbClr val="15803D"/>
                </a:solidFill>
                <a:latin typeface="Georgia" pitchFamily="34" charset="0"/>
                <a:ea typeface="Georgia" pitchFamily="34" charset="-122"/>
                <a:cs typeface="Georgia" pitchFamily="34" charset="-120"/>
              </a:rPr>
              <a:t>Why it ends the spin</a:t>
            </a:r>
            <a:endParaRPr lang="en-US" sz="1500" dirty="0"/>
          </a:p>
        </p:txBody>
      </p:sp>
      <p:sp>
        <p:nvSpPr>
          <p:cNvPr id="9" name="Text 7"/>
          <p:cNvSpPr/>
          <p:nvPr/>
        </p:nvSpPr>
        <p:spPr>
          <a:xfrm>
            <a:off x="777240" y="4681728"/>
            <a:ext cx="4160520" cy="11430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“Book option one” had no valid action before. Now the loop ends because the model SUCCEEDS at handing off — not because a timer fired.</a:t>
            </a:r>
            <a:endParaRPr lang="en-US" sz="1300" dirty="0"/>
          </a:p>
        </p:txBody>
      </p:sp>
      <p:sp>
        <p:nvSpPr>
          <p:cNvPr id="10" name="Shape 8"/>
          <p:cNvSpPr/>
          <p:nvPr/>
        </p:nvSpPr>
        <p:spPr>
          <a:xfrm>
            <a:off x="5349240" y="1463040"/>
            <a:ext cx="6199632" cy="2973629"/>
          </a:xfrm>
          <a:prstGeom prst="roundRect">
            <a:avLst>
              <a:gd name="adj" fmla="val 1845"/>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11" name="Shape 9"/>
          <p:cNvSpPr/>
          <p:nvPr/>
        </p:nvSpPr>
        <p:spPr>
          <a:xfrm>
            <a:off x="5513832" y="1609344"/>
            <a:ext cx="77724" cy="77724"/>
          </a:xfrm>
          <a:prstGeom prst="oval">
            <a:avLst/>
          </a:prstGeom>
          <a:solidFill>
            <a:srgbClr val="FF5F56"/>
          </a:solidFill>
          <a:ln/>
        </p:spPr>
      </p:sp>
      <p:sp>
        <p:nvSpPr>
          <p:cNvPr id="12" name="Shape 10"/>
          <p:cNvSpPr/>
          <p:nvPr/>
        </p:nvSpPr>
        <p:spPr>
          <a:xfrm>
            <a:off x="5623560" y="1609344"/>
            <a:ext cx="77724" cy="77724"/>
          </a:xfrm>
          <a:prstGeom prst="oval">
            <a:avLst/>
          </a:prstGeom>
          <a:solidFill>
            <a:srgbClr val="FFBD2E"/>
          </a:solidFill>
          <a:ln/>
        </p:spPr>
      </p:sp>
      <p:sp>
        <p:nvSpPr>
          <p:cNvPr id="13" name="Shape 11"/>
          <p:cNvSpPr/>
          <p:nvPr/>
        </p:nvSpPr>
        <p:spPr>
          <a:xfrm>
            <a:off x="5733288" y="1609344"/>
            <a:ext cx="77724" cy="77724"/>
          </a:xfrm>
          <a:prstGeom prst="oval">
            <a:avLst/>
          </a:prstGeom>
          <a:solidFill>
            <a:srgbClr val="27C93F"/>
          </a:solidFill>
          <a:ln/>
        </p:spPr>
      </p:sp>
      <p:sp>
        <p:nvSpPr>
          <p:cNvPr id="14" name="Text 12"/>
          <p:cNvSpPr/>
          <p:nvPr/>
        </p:nvSpPr>
        <p:spPr>
          <a:xfrm>
            <a:off x="5897880" y="1527048"/>
            <a:ext cx="5468112"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the always-legal move</a:t>
            </a:r>
            <a:endParaRPr lang="en-US" sz="900" dirty="0"/>
          </a:p>
        </p:txBody>
      </p:sp>
      <p:sp>
        <p:nvSpPr>
          <p:cNvPr id="15" name="Text 13"/>
          <p:cNvSpPr/>
          <p:nvPr/>
        </p:nvSpPr>
        <p:spPr>
          <a:xfrm>
            <a:off x="5550408" y="1773936"/>
            <a:ext cx="5815584" cy="2534717"/>
          </a:xfrm>
          <a:prstGeom prst="rect">
            <a:avLst/>
          </a:prstGeom>
          <a:noFill/>
          <a:ln/>
        </p:spPr>
        <p:txBody>
          <a:bodyPr wrap="square" lIns="0" tIns="0" rIns="0" bIns="0" rtlCol="0" anchor="t"/>
          <a:lstStyle/>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toolSpec</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name</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handoff_to_human</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description</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Use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when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you</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cannot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fulfil</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the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request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7DD3FC"/>
                </a:solidFill>
                <a:latin typeface="Consolas" pitchFamily="34" charset="0"/>
                <a:ea typeface="Consolas" pitchFamily="34" charset="-122"/>
                <a:cs typeface="Consolas" pitchFamily="34" charset="-120"/>
              </a:rPr>
              <a:t>with</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the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other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tools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g</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the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customer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wants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to</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confirm</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7DD3FC"/>
                </a:solidFill>
                <a:latin typeface="Consolas" pitchFamily="34" charset="0"/>
                <a:ea typeface="Consolas" pitchFamily="34" charset="-122"/>
                <a:cs typeface="Consolas" pitchFamily="34" charset="-120"/>
              </a:rPr>
              <a:t>or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cancel</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booking</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Hands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off</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to</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human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inputSchema</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json</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type</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object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properties</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reason</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type</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string</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required</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reason</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5</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LOOP · FIX 3</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Fallback: prompt vs tool — do both, lean on the tool</a:t>
            </a:r>
            <a:endParaRPr lang="en-US" sz="3100" dirty="0"/>
          </a:p>
        </p:txBody>
      </p:sp>
      <p:sp>
        <p:nvSpPr>
          <p:cNvPr id="6" name="Shape 4"/>
          <p:cNvSpPr/>
          <p:nvPr/>
        </p:nvSpPr>
        <p:spPr>
          <a:xfrm>
            <a:off x="566928" y="1600200"/>
            <a:ext cx="5394960" cy="3200400"/>
          </a:xfrm>
          <a:prstGeom prst="roundRect">
            <a:avLst>
              <a:gd name="adj" fmla="val 2000"/>
            </a:avLst>
          </a:prstGeom>
          <a:solidFill>
            <a:srgbClr val="F8FAFC"/>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7" name="Text 5"/>
          <p:cNvSpPr/>
          <p:nvPr/>
        </p:nvSpPr>
        <p:spPr>
          <a:xfrm>
            <a:off x="822960" y="1783080"/>
            <a:ext cx="4937760" cy="411480"/>
          </a:xfrm>
          <a:prstGeom prst="rect">
            <a:avLst/>
          </a:prstGeom>
          <a:noFill/>
          <a:ln/>
        </p:spPr>
        <p:txBody>
          <a:bodyPr wrap="square" lIns="0" tIns="0" rIns="0" bIns="0" rtlCol="0" anchor="ctr"/>
          <a:lstStyle/>
          <a:p>
            <a:pPr indent="0" marL="0">
              <a:buNone/>
            </a:pPr>
            <a:r>
              <a:rPr lang="en-US" sz="1800" b="1" dirty="0">
                <a:solidFill>
                  <a:srgbClr val="1F2937"/>
                </a:solidFill>
                <a:latin typeface="Georgia" pitchFamily="34" charset="0"/>
                <a:ea typeface="Georgia" pitchFamily="34" charset="-122"/>
                <a:cs typeface="Georgia" pitchFamily="34" charset="-120"/>
              </a:rPr>
              <a:t>System-prompt fallback</a:t>
            </a:r>
            <a:endParaRPr lang="en-US" sz="1800" dirty="0"/>
          </a:p>
        </p:txBody>
      </p:sp>
      <p:sp>
        <p:nvSpPr>
          <p:cNvPr id="8" name="Text 6"/>
          <p:cNvSpPr/>
          <p:nvPr/>
        </p:nvSpPr>
        <p:spPr>
          <a:xfrm>
            <a:off x="822960" y="2212848"/>
            <a:ext cx="4937760" cy="320040"/>
          </a:xfrm>
          <a:prstGeom prst="rect">
            <a:avLst/>
          </a:prstGeom>
          <a:noFill/>
          <a:ln/>
        </p:spPr>
        <p:txBody>
          <a:bodyPr wrap="square" lIns="0" tIns="0" rIns="0" bIns="0" rtlCol="0" anchor="ctr"/>
          <a:lstStyle/>
          <a:p>
            <a:pPr indent="0" marL="0">
              <a:buNone/>
            </a:pPr>
            <a:r>
              <a:rPr lang="en-US" sz="1250" dirty="0">
                <a:solidFill>
                  <a:srgbClr val="6B7280"/>
                </a:solidFill>
                <a:latin typeface="Consolas" pitchFamily="34" charset="0"/>
                <a:ea typeface="Consolas" pitchFamily="34" charset="-122"/>
                <a:cs typeface="Consolas" pitchFamily="34" charset="-120"/>
              </a:rPr>
              <a:t>“If no tool fits, hand off.”</a:t>
            </a:r>
            <a:endParaRPr lang="en-US" sz="1250" dirty="0"/>
          </a:p>
        </p:txBody>
      </p:sp>
      <p:sp>
        <p:nvSpPr>
          <p:cNvPr id="9" name="Text 7"/>
          <p:cNvSpPr/>
          <p:nvPr/>
        </p:nvSpPr>
        <p:spPr>
          <a:xfrm>
            <a:off x="868680" y="2697480"/>
            <a:ext cx="4846320" cy="1920240"/>
          </a:xfrm>
          <a:prstGeom prst="rect">
            <a:avLst/>
          </a:prstGeom>
          <a:noFill/>
          <a:ln/>
        </p:spPr>
        <p:txBody>
          <a:bodyPr wrap="square" lIns="0" tIns="0" rIns="0" bIns="0" rtlCol="0" anchor="t"/>
          <a:lstStyle/>
          <a:p>
            <a:pPr marL="177800" indent="-177800">
              <a:spcAft>
                <a:spcPts val="1200"/>
              </a:spcAft>
              <a:buSzPct val="100000"/>
              <a:buChar char="•"/>
            </a:pPr>
            <a:r>
              <a:rPr lang="en-US" sz="1350" dirty="0">
                <a:solidFill>
                  <a:srgbClr val="15803D"/>
                </a:solidFill>
                <a:latin typeface="Calibri" pitchFamily="34" charset="0"/>
                <a:ea typeface="Calibri" pitchFamily="34" charset="-122"/>
                <a:cs typeface="Calibri" pitchFamily="34" charset="-120"/>
              </a:rPr>
              <a:t>Easy — one line of instruction</a:t>
            </a:r>
            <a:endParaRPr lang="en-US" sz="1350" dirty="0"/>
          </a:p>
          <a:p>
            <a:pPr marL="177800" indent="-177800">
              <a:spcAft>
                <a:spcPts val="1200"/>
              </a:spcAft>
              <a:buSzPct val="100000"/>
              <a:buChar char="•"/>
            </a:pPr>
            <a:r>
              <a:rPr lang="en-US" sz="1350" dirty="0">
                <a:solidFill>
                  <a:srgbClr val="B91C1C"/>
                </a:solidFill>
                <a:latin typeface="Calibri" pitchFamily="34" charset="0"/>
                <a:ea typeface="Calibri" pitchFamily="34" charset="-122"/>
                <a:cs typeface="Calibri" pitchFamily="34" charset="-120"/>
              </a:rPr>
              <a:t>Risky — model may bail on turn 1</a:t>
            </a:r>
            <a:endParaRPr lang="en-US" sz="1350" dirty="0"/>
          </a:p>
          <a:p>
            <a:pPr marL="177800" indent="-177800">
              <a:spcAft>
                <a:spcPts val="1200"/>
              </a:spcAft>
              <a:buSzPct val="100000"/>
              <a:buChar char="•"/>
            </a:pPr>
            <a:r>
              <a:rPr lang="en-US" sz="1350" dirty="0">
                <a:solidFill>
                  <a:srgbClr val="B91C1C"/>
                </a:solidFill>
                <a:latin typeface="Calibri" pitchFamily="34" charset="0"/>
                <a:ea typeface="Calibri" pitchFamily="34" charset="-122"/>
                <a:cs typeface="Calibri" pitchFamily="34" charset="-120"/>
              </a:rPr>
              <a:t>Invisible in the trace</a:t>
            </a:r>
            <a:endParaRPr lang="en-US" sz="1350" dirty="0"/>
          </a:p>
        </p:txBody>
      </p:sp>
      <p:sp>
        <p:nvSpPr>
          <p:cNvPr id="10" name="Shape 8"/>
          <p:cNvSpPr/>
          <p:nvPr/>
        </p:nvSpPr>
        <p:spPr>
          <a:xfrm>
            <a:off x="6144768" y="1600200"/>
            <a:ext cx="5394960" cy="3200400"/>
          </a:xfrm>
          <a:prstGeom prst="roundRect">
            <a:avLst>
              <a:gd name="adj" fmla="val 2000"/>
            </a:avLst>
          </a:prstGeom>
          <a:solidFill>
            <a:srgbClr val="FBE5D2"/>
          </a:solidFill>
          <a:ln w="12700">
            <a:solidFill>
              <a:srgbClr val="E7C9A6"/>
            </a:solidFill>
            <a:prstDash val="solid"/>
          </a:ln>
          <a:effectLst>
            <a:outerShdw sx="100000" sy="100000" kx="0" ky="0" algn="bl" rotWithShape="0" blurRad="76200" dist="25400" dir="8100000">
              <a:srgbClr val="000000">
                <a:alpha val="10000"/>
              </a:srgbClr>
            </a:outerShdw>
          </a:effectLst>
        </p:spPr>
      </p:sp>
      <p:sp>
        <p:nvSpPr>
          <p:cNvPr id="11" name="Text 9"/>
          <p:cNvSpPr/>
          <p:nvPr/>
        </p:nvSpPr>
        <p:spPr>
          <a:xfrm>
            <a:off x="6400800" y="1783080"/>
            <a:ext cx="4937760" cy="41148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Tool fallback</a:t>
            </a:r>
            <a:endParaRPr lang="en-US" sz="1800" dirty="0"/>
          </a:p>
        </p:txBody>
      </p:sp>
      <p:sp>
        <p:nvSpPr>
          <p:cNvPr id="12" name="Text 10"/>
          <p:cNvSpPr/>
          <p:nvPr/>
        </p:nvSpPr>
        <p:spPr>
          <a:xfrm>
            <a:off x="6400800" y="2212848"/>
            <a:ext cx="4937760" cy="320040"/>
          </a:xfrm>
          <a:prstGeom prst="rect">
            <a:avLst/>
          </a:prstGeom>
          <a:noFill/>
          <a:ln/>
        </p:spPr>
        <p:txBody>
          <a:bodyPr wrap="square" lIns="0" tIns="0" rIns="0" bIns="0" rtlCol="0" anchor="ctr"/>
          <a:lstStyle/>
          <a:p>
            <a:pPr indent="0" marL="0">
              <a:buNone/>
            </a:pPr>
            <a:r>
              <a:rPr lang="en-US" sz="1250" dirty="0">
                <a:solidFill>
                  <a:srgbClr val="D97706"/>
                </a:solidFill>
                <a:latin typeface="Consolas" pitchFamily="34" charset="0"/>
                <a:ea typeface="Consolas" pitchFamily="34" charset="-122"/>
                <a:cs typeface="Consolas" pitchFamily="34" charset="-120"/>
              </a:rPr>
              <a:t>handoff_to_human  as an action</a:t>
            </a:r>
            <a:endParaRPr lang="en-US" sz="1250" dirty="0"/>
          </a:p>
        </p:txBody>
      </p:sp>
      <p:sp>
        <p:nvSpPr>
          <p:cNvPr id="13" name="Text 11"/>
          <p:cNvSpPr/>
          <p:nvPr/>
        </p:nvSpPr>
        <p:spPr>
          <a:xfrm>
            <a:off x="6446520" y="2697480"/>
            <a:ext cx="4846320" cy="1920240"/>
          </a:xfrm>
          <a:prstGeom prst="rect">
            <a:avLst/>
          </a:prstGeom>
          <a:noFill/>
          <a:ln/>
        </p:spPr>
        <p:txBody>
          <a:bodyPr wrap="square" lIns="0" tIns="0" rIns="0" bIns="0" rtlCol="0" anchor="t"/>
          <a:lstStyle/>
          <a:p>
            <a:pPr marL="177800" indent="-177800">
              <a:spcAft>
                <a:spcPts val="1200"/>
              </a:spcAft>
              <a:buSzPct val="100000"/>
              <a:buChar char="•"/>
            </a:pPr>
            <a:r>
              <a:rPr lang="en-US" sz="1350" dirty="0">
                <a:solidFill>
                  <a:srgbClr val="1F2937"/>
                </a:solidFill>
                <a:latin typeface="Calibri" pitchFamily="34" charset="0"/>
                <a:ea typeface="Calibri" pitchFamily="34" charset="-122"/>
                <a:cs typeface="Calibri" pitchFamily="34" charset="-120"/>
              </a:rPr>
              <a:t>Model must choose the action</a:t>
            </a:r>
            <a:endParaRPr lang="en-US" sz="1350" dirty="0"/>
          </a:p>
          <a:p>
            <a:pPr marL="177800" indent="-177800">
              <a:spcAft>
                <a:spcPts val="1200"/>
              </a:spcAft>
              <a:buSzPct val="100000"/>
              <a:buChar char="•"/>
            </a:pPr>
            <a:r>
              <a:rPr lang="en-US" sz="1350" dirty="0">
                <a:solidFill>
                  <a:srgbClr val="15803D"/>
                </a:solidFill>
                <a:latin typeface="Calibri" pitchFamily="34" charset="0"/>
                <a:ea typeface="Calibri" pitchFamily="34" charset="-122"/>
                <a:cs typeface="Calibri" pitchFamily="34" charset="-120"/>
              </a:rPr>
              <a:t>Shows up in the trace — auditable</a:t>
            </a:r>
            <a:endParaRPr lang="en-US" sz="1350" dirty="0"/>
          </a:p>
          <a:p>
            <a:pPr marL="177800" indent="-177800">
              <a:spcAft>
                <a:spcPts val="1200"/>
              </a:spcAft>
              <a:buSzPct val="100000"/>
              <a:buChar char="•"/>
            </a:pPr>
            <a:r>
              <a:rPr lang="en-US" sz="1350" dirty="0">
                <a:solidFill>
                  <a:srgbClr val="15803D"/>
                </a:solidFill>
                <a:latin typeface="Calibri" pitchFamily="34" charset="0"/>
                <a:ea typeface="Calibri" pitchFamily="34" charset="-122"/>
                <a:cs typeface="Calibri" pitchFamily="34" charset="-120"/>
              </a:rPr>
              <a:t>You can rate it like any tool call</a:t>
            </a:r>
            <a:endParaRPr lang="en-US" sz="1350" dirty="0"/>
          </a:p>
        </p:txBody>
      </p:sp>
      <p:sp>
        <p:nvSpPr>
          <p:cNvPr id="14" name="Shape 12"/>
          <p:cNvSpPr/>
          <p:nvPr/>
        </p:nvSpPr>
        <p:spPr>
          <a:xfrm>
            <a:off x="566928" y="5074920"/>
            <a:ext cx="10972800" cy="868680"/>
          </a:xfrm>
          <a:prstGeom prst="rect">
            <a:avLst/>
          </a:prstGeom>
          <a:solidFill>
            <a:srgbClr val="F8FAFC"/>
          </a:solidFill>
          <a:ln w="12700">
            <a:solidFill>
              <a:srgbClr val="E2E8F0"/>
            </a:solidFill>
            <a:prstDash val="solid"/>
          </a:ln>
        </p:spPr>
      </p:sp>
      <p:sp>
        <p:nvSpPr>
          <p:cNvPr id="15" name="Shape 13"/>
          <p:cNvSpPr/>
          <p:nvPr/>
        </p:nvSpPr>
        <p:spPr>
          <a:xfrm>
            <a:off x="566928" y="5074920"/>
            <a:ext cx="64008" cy="868680"/>
          </a:xfrm>
          <a:prstGeom prst="rect">
            <a:avLst/>
          </a:prstGeom>
          <a:solidFill>
            <a:srgbClr val="B45309"/>
          </a:solidFill>
          <a:ln/>
        </p:spPr>
      </p:sp>
      <p:sp>
        <p:nvSpPr>
          <p:cNvPr id="16" name="Text 14"/>
          <p:cNvSpPr/>
          <p:nvPr/>
        </p:nvSpPr>
        <p:spPr>
          <a:xfrm>
            <a:off x="822960" y="5212080"/>
            <a:ext cx="10515600" cy="594360"/>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Best:  </a:t>
            </a:r>
            <a:pPr indent="0" marL="0">
              <a:buNone/>
            </a:pPr>
            <a:r>
              <a:rPr lang="en-US" sz="1500" dirty="0">
                <a:solidFill>
                  <a:srgbClr val="1F2937"/>
                </a:solidFill>
                <a:latin typeface="Calibri" pitchFamily="34" charset="0"/>
                <a:ea typeface="Calibri" pitchFamily="34" charset="-122"/>
                <a:cs typeface="Calibri" pitchFamily="34" charset="-120"/>
              </a:rPr>
              <a:t>the fallback tool  +  a prompt line that points to it.  Belt and braces.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6</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LOOP · MANAGED AGENT</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No max_turns knob — what you control instead</a:t>
            </a:r>
            <a:endParaRPr lang="en-US" sz="3100" dirty="0"/>
          </a:p>
        </p:txBody>
      </p:sp>
      <p:sp>
        <p:nvSpPr>
          <p:cNvPr id="6" name="Text 4"/>
          <p:cNvSpPr/>
          <p:nvPr/>
        </p:nvSpPr>
        <p:spPr>
          <a:xfrm>
            <a:off x="566928" y="1463040"/>
            <a:ext cx="4663440" cy="3017520"/>
          </a:xfrm>
          <a:prstGeom prst="rect">
            <a:avLst/>
          </a:prstGeom>
          <a:noFill/>
          <a:ln/>
        </p:spPr>
        <p:txBody>
          <a:bodyPr wrap="square" lIns="0" tIns="0" rIns="0" bIns="0" rtlCol="0" anchor="t"/>
          <a:lstStyle/>
          <a:p>
            <a:pPr marL="177800" indent="-177800">
              <a:spcAft>
                <a:spcPts val="1100"/>
              </a:spcAft>
              <a:buSzPct val="100000"/>
              <a:buChar char="•"/>
            </a:pPr>
            <a:r>
              <a:rPr lang="en-US" sz="1350" b="1" dirty="0">
                <a:solidFill>
                  <a:srgbClr val="1F2937"/>
                </a:solidFill>
                <a:latin typeface="Calibri" pitchFamily="34" charset="0"/>
                <a:ea typeface="Calibri" pitchFamily="34" charset="-122"/>
                <a:cs typeface="Calibri" pitchFamily="34" charset="-120"/>
              </a:rPr>
              <a:t>The managed agent runs the loop for you — there is no max_turns to set</a:t>
            </a:r>
            <a:endParaRPr lang="en-US" sz="1350" dirty="0"/>
          </a:p>
          <a:p>
            <a:pPr marL="177800" indent="-177800">
              <a:spcAft>
                <a:spcPts val="1100"/>
              </a:spcAft>
              <a:buSzPct val="100000"/>
              <a:buChar char="•"/>
            </a:pPr>
            <a:r>
              <a:rPr lang="en-US" sz="1350" dirty="0">
                <a:solidFill>
                  <a:srgbClr val="1F2937"/>
                </a:solidFill>
                <a:latin typeface="Calibri" pitchFamily="34" charset="0"/>
                <a:ea typeface="Calibri" pitchFamily="34" charset="-122"/>
                <a:cs typeface="Calibri" pitchFamily="34" charset="-120"/>
              </a:rPr>
              <a:t>Levers you DO have:</a:t>
            </a:r>
            <a:endParaRPr lang="en-US" sz="1350" dirty="0"/>
          </a:p>
          <a:p>
            <a:pPr lvl="1" marL="355600" indent="-177800">
              <a:spcAft>
                <a:spcPts val="1100"/>
              </a:spcAft>
              <a:buSzPct val="100000"/>
              <a:buChar char="•"/>
            </a:pPr>
            <a:r>
              <a:rPr lang="en-US" sz="1350" dirty="0">
                <a:solidFill>
                  <a:srgbClr val="B45309"/>
                </a:solidFill>
                <a:latin typeface="Calibri" pitchFamily="34" charset="0"/>
                <a:ea typeface="Calibri" pitchFamily="34" charset="-122"/>
                <a:cs typeface="Calibri" pitchFamily="34" charset="-120"/>
              </a:rPr>
              <a:t>idleSessionTTLInSeconds — your console “60 seconds” knob</a:t>
            </a:r>
            <a:endParaRPr lang="en-US" sz="1350" dirty="0"/>
          </a:p>
          <a:p>
            <a:pPr lvl="1" marL="355600" indent="-177800">
              <a:spcAft>
                <a:spcPts val="1100"/>
              </a:spcAft>
              <a:buSzPct val="100000"/>
              <a:buChar char="•"/>
            </a:pPr>
            <a:r>
              <a:rPr lang="en-US" sz="1350" dirty="0">
                <a:solidFill>
                  <a:srgbClr val="B45309"/>
                </a:solidFill>
                <a:latin typeface="Calibri" pitchFamily="34" charset="0"/>
                <a:ea typeface="Calibri" pitchFamily="34" charset="-122"/>
                <a:cs typeface="Calibri" pitchFamily="34" charset="-120"/>
              </a:rPr>
              <a:t>the fallback tool (action group) — same as the hand-built case</a:t>
            </a:r>
            <a:endParaRPr lang="en-US" sz="1350" dirty="0"/>
          </a:p>
          <a:p>
            <a:pPr lvl="1" marL="355600" indent="-177800">
              <a:spcAft>
                <a:spcPts val="1100"/>
              </a:spcAft>
              <a:buSzPct val="100000"/>
              <a:buChar char="•"/>
            </a:pPr>
            <a:r>
              <a:rPr lang="en-US" sz="1350" dirty="0">
                <a:solidFill>
                  <a:srgbClr val="B45309"/>
                </a:solidFill>
                <a:latin typeface="Calibri" pitchFamily="34" charset="0"/>
                <a:ea typeface="Calibri" pitchFamily="34" charset="-122"/>
                <a:cs typeface="Calibri" pitchFamily="34" charset="-120"/>
              </a:rPr>
              <a:t>a clear system instruction</a:t>
            </a:r>
            <a:endParaRPr lang="en-US" sz="1350" dirty="0"/>
          </a:p>
        </p:txBody>
      </p:sp>
      <p:sp>
        <p:nvSpPr>
          <p:cNvPr id="7" name="Shape 5"/>
          <p:cNvSpPr/>
          <p:nvPr/>
        </p:nvSpPr>
        <p:spPr>
          <a:xfrm>
            <a:off x="566928" y="4572000"/>
            <a:ext cx="4663440" cy="1371600"/>
          </a:xfrm>
          <a:prstGeom prst="roundRect">
            <a:avLst>
              <a:gd name="adj" fmla="val 4667"/>
            </a:avLst>
          </a:prstGeom>
          <a:solidFill>
            <a:srgbClr val="FBE5D2"/>
          </a:solidFill>
          <a:ln w="12700">
            <a:solidFill>
              <a:srgbClr val="E7C9A6"/>
            </a:solidFill>
            <a:prstDash val="solid"/>
          </a:ln>
        </p:spPr>
      </p:sp>
      <p:sp>
        <p:nvSpPr>
          <p:cNvPr id="8" name="Text 6"/>
          <p:cNvSpPr/>
          <p:nvPr/>
        </p:nvSpPr>
        <p:spPr>
          <a:xfrm>
            <a:off x="804672" y="4736592"/>
            <a:ext cx="4206240" cy="1051560"/>
          </a:xfrm>
          <a:prstGeom prst="rect">
            <a:avLst/>
          </a:prstGeom>
          <a:noFill/>
          <a:ln/>
        </p:spPr>
        <p:txBody>
          <a:bodyPr wrap="square" lIns="0" tIns="0" rIns="0" bIns="0" rtlCol="0" anchor="t"/>
          <a:lstStyle/>
          <a:p>
            <a:pPr indent="0" marL="0">
              <a:buNone/>
            </a:pPr>
            <a:r>
              <a:rPr lang="en-US" sz="1400" b="1" i="1" dirty="0">
                <a:solidFill>
                  <a:srgbClr val="B45309"/>
                </a:solidFill>
                <a:latin typeface="Georgia" pitchFamily="34" charset="0"/>
                <a:ea typeface="Georgia" pitchFamily="34" charset="-122"/>
                <a:cs typeface="Georgia" pitchFamily="34" charset="-120"/>
              </a:rPr>
              <a:t>Less direct control here — so the fallback tool matters MORE in the managed agent, not less.</a:t>
            </a:r>
            <a:endParaRPr lang="en-US" sz="1400" dirty="0"/>
          </a:p>
        </p:txBody>
      </p:sp>
      <p:sp>
        <p:nvSpPr>
          <p:cNvPr id="9" name="Shape 7"/>
          <p:cNvSpPr/>
          <p:nvPr/>
        </p:nvSpPr>
        <p:spPr>
          <a:xfrm>
            <a:off x="5440680" y="1463040"/>
            <a:ext cx="6108192" cy="2611526"/>
          </a:xfrm>
          <a:prstGeom prst="roundRect">
            <a:avLst>
              <a:gd name="adj" fmla="val 2101"/>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10" name="Shape 8"/>
          <p:cNvSpPr/>
          <p:nvPr/>
        </p:nvSpPr>
        <p:spPr>
          <a:xfrm>
            <a:off x="5605272" y="1609344"/>
            <a:ext cx="77724" cy="77724"/>
          </a:xfrm>
          <a:prstGeom prst="oval">
            <a:avLst/>
          </a:prstGeom>
          <a:solidFill>
            <a:srgbClr val="FF5F56"/>
          </a:solidFill>
          <a:ln/>
        </p:spPr>
      </p:sp>
      <p:sp>
        <p:nvSpPr>
          <p:cNvPr id="11" name="Shape 9"/>
          <p:cNvSpPr/>
          <p:nvPr/>
        </p:nvSpPr>
        <p:spPr>
          <a:xfrm>
            <a:off x="5715000" y="1609344"/>
            <a:ext cx="77724" cy="77724"/>
          </a:xfrm>
          <a:prstGeom prst="oval">
            <a:avLst/>
          </a:prstGeom>
          <a:solidFill>
            <a:srgbClr val="FFBD2E"/>
          </a:solidFill>
          <a:ln/>
        </p:spPr>
      </p:sp>
      <p:sp>
        <p:nvSpPr>
          <p:cNvPr id="12" name="Shape 10"/>
          <p:cNvSpPr/>
          <p:nvPr/>
        </p:nvSpPr>
        <p:spPr>
          <a:xfrm>
            <a:off x="5824728" y="1609344"/>
            <a:ext cx="77724" cy="77724"/>
          </a:xfrm>
          <a:prstGeom prst="oval">
            <a:avLst/>
          </a:prstGeom>
          <a:solidFill>
            <a:srgbClr val="27C93F"/>
          </a:solidFill>
          <a:ln/>
        </p:spPr>
      </p:sp>
      <p:sp>
        <p:nvSpPr>
          <p:cNvPr id="13" name="Text 11"/>
          <p:cNvSpPr/>
          <p:nvPr/>
        </p:nvSpPr>
        <p:spPr>
          <a:xfrm>
            <a:off x="5989320" y="1527048"/>
            <a:ext cx="5376672"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bedrock-agent (CONTROL plane)</a:t>
            </a:r>
            <a:endParaRPr lang="en-US" sz="900" dirty="0"/>
          </a:p>
        </p:txBody>
      </p:sp>
      <p:sp>
        <p:nvSpPr>
          <p:cNvPr id="14" name="Text 12"/>
          <p:cNvSpPr/>
          <p:nvPr/>
        </p:nvSpPr>
        <p:spPr>
          <a:xfrm>
            <a:off x="5641848" y="1773936"/>
            <a:ext cx="5724144" cy="2172614"/>
          </a:xfrm>
          <a:prstGeom prst="rect">
            <a:avLst/>
          </a:prstGeom>
          <a:noFill/>
          <a:ln/>
        </p:spPr>
        <p:txBody>
          <a:bodyPr wrap="square" lIns="0" tIns="0" rIns="0" bIns="0" rtlCol="0" anchor="t"/>
          <a:lstStyle/>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ba</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boto3</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client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bedrock</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region_name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us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east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1</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ba</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update_agent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agentId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AGENT_ID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agentName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TravelMind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UC1</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agentResourceRoleArn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ROLE_ARN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foundationModel</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MODEL_ID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idleSessionTTLInSeconds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120</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i="1" dirty="0">
                <a:solidFill>
                  <a:srgbClr val="8893A7"/>
                </a:solidFill>
                <a:latin typeface="Consolas" pitchFamily="34" charset="0"/>
                <a:ea typeface="Consolas" pitchFamily="34" charset="-122"/>
                <a:cs typeface="Consolas" pitchFamily="34" charset="-120"/>
              </a:rPr>
              <a:t> # the timeout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instruction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ba</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prepare_agent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agentId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AGENT_ID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i="1" dirty="0">
                <a:solidFill>
                  <a:srgbClr val="8893A7"/>
                </a:solidFill>
                <a:latin typeface="Consolas" pitchFamily="34" charset="0"/>
                <a:ea typeface="Consolas" pitchFamily="34" charset="-122"/>
                <a:cs typeface="Consolas" pitchFamily="34" charset="-120"/>
              </a:rPr>
              <a:t> # ALWAYS</a:t>
            </a:r>
            <a:endParaRPr lang="en-US" sz="1100" dirty="0"/>
          </a:p>
        </p:txBody>
      </p:sp>
      <p:sp>
        <p:nvSpPr>
          <p:cNvPr id="15" name="Text 13"/>
          <p:cNvSpPr/>
          <p:nvPr/>
        </p:nvSpPr>
        <p:spPr>
          <a:xfrm>
            <a:off x="5440680" y="5440680"/>
            <a:ext cx="6108192" cy="64008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Every change to a managed agent needs prepare_agent — the API twin of “prepare the agent again” you did all day yesterday.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7</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INFERENCE</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sampling dials — what they actually do</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0972800" cy="914400"/>
        </p:xfrm>
        <a:graphic>
          <a:graphicData uri="http://schemas.openxmlformats.org/drawingml/2006/table">
            <a:tbl>
              <a:tblPr/>
              <a:tblGrid>
                <a:gridCol w="2651760"/>
                <a:gridCol w="2834640"/>
                <a:gridCol w="2743200"/>
                <a:gridCol w="2743200"/>
              </a:tblGrid>
              <a:tr h="411480">
                <a:tc>
                  <a:txBody>
                    <a:bodyPr/>
                    <a:lstStyle/>
                    <a:p>
                      <a:pPr algn="l" indent="0" marL="0">
                        <a:buNone/>
                      </a:pPr>
                      <a:r>
                        <a:rPr lang="en-US" sz="1300" b="1" dirty="0">
                          <a:solidFill>
                            <a:srgbClr val="FFFFFF"/>
                          </a:solidFill>
                        </a:rPr>
                        <a:t>Param</a:t>
                      </a:r>
                      <a:endParaRPr lang="en-US" sz="1300" dirty="0"/>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c>
                  <a:txBody>
                    <a:bodyPr/>
                    <a:lstStyle/>
                    <a:p>
                      <a:pPr algn="l" indent="0" marL="0">
                        <a:buNone/>
                      </a:pPr>
                      <a:r>
                        <a:rPr lang="en-US" sz="1300" b="1" dirty="0">
                          <a:solidFill>
                            <a:srgbClr val="FFFFFF"/>
                          </a:solidFill>
                        </a:rPr>
                        <a:t>Controls</a:t>
                      </a:r>
                      <a:endParaRPr lang="en-US" sz="1300" dirty="0"/>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c>
                  <a:txBody>
                    <a:bodyPr/>
                    <a:lstStyle/>
                    <a:p>
                      <a:pPr algn="ctr" indent="0" marL="0">
                        <a:buNone/>
                      </a:pPr>
                      <a:r>
                        <a:rPr lang="en-US" sz="1300" b="1" dirty="0">
                          <a:solidFill>
                            <a:srgbClr val="FFFFFF"/>
                          </a:solidFill>
                        </a:rPr>
                        <a:t>Low value</a:t>
                      </a:r>
                      <a:endParaRPr lang="en-US" sz="1300" dirty="0"/>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c>
                  <a:txBody>
                    <a:bodyPr/>
                    <a:lstStyle/>
                    <a:p>
                      <a:pPr algn="ctr" indent="0" marL="0">
                        <a:buNone/>
                      </a:pPr>
                      <a:r>
                        <a:rPr lang="en-US" sz="1300" b="1" dirty="0">
                          <a:solidFill>
                            <a:srgbClr val="FFFFFF"/>
                          </a:solidFill>
                        </a:rPr>
                        <a:t>High value</a:t>
                      </a:r>
                      <a:endParaRPr lang="en-US" sz="1300" dirty="0"/>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r>
              <a:tr h="457200">
                <a:tc>
                  <a:txBody>
                    <a:bodyPr/>
                    <a:lstStyle/>
                    <a:p>
                      <a:pPr algn="l" indent="0" marL="0">
                        <a:buNone/>
                      </a:pPr>
                      <a:r>
                        <a:rPr lang="en-US" sz="1300" b="1" dirty="0">
                          <a:solidFill>
                            <a:srgbClr val="B45309"/>
                          </a:solidFill>
                          <a:latin typeface="Consolas" pitchFamily="34" charset="0"/>
                          <a:ea typeface="Consolas" pitchFamily="34" charset="-122"/>
                          <a:cs typeface="Consolas" pitchFamily="34" charset="-120"/>
                        </a:rPr>
                        <a:t>temperature</a:t>
                      </a:r>
                      <a:endParaRPr lang="en-US" sz="1300" dirty="0">
                        <a:latin typeface="Consolas" charset="0"/>
                        <a:ea typeface="Consolas" charset="0"/>
                        <a:cs typeface="Consolas"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randomness</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deterministic</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creative / varied</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300" b="1" dirty="0">
                          <a:solidFill>
                            <a:srgbClr val="B45309"/>
                          </a:solidFill>
                          <a:latin typeface="Consolas" pitchFamily="34" charset="0"/>
                          <a:ea typeface="Consolas" pitchFamily="34" charset="-122"/>
                          <a:cs typeface="Consolas" pitchFamily="34" charset="-120"/>
                        </a:rPr>
                        <a:t>topP</a:t>
                      </a:r>
                      <a:endParaRPr lang="en-US" sz="1300" dirty="0">
                        <a:latin typeface="Consolas" charset="0"/>
                        <a:ea typeface="Consolas" charset="0"/>
                        <a:cs typeface="Consolas"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nucleus sampling</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narrow pool</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wide pool</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B45309"/>
                          </a:solidFill>
                          <a:latin typeface="Consolas" pitchFamily="34" charset="0"/>
                          <a:ea typeface="Consolas" pitchFamily="34" charset="-122"/>
                          <a:cs typeface="Consolas" pitchFamily="34" charset="-120"/>
                        </a:rPr>
                        <a:t>topK</a:t>
                      </a:r>
                      <a:endParaRPr lang="en-US" sz="1300" dirty="0">
                        <a:latin typeface="Consolas" charset="0"/>
                        <a:ea typeface="Consolas" charset="0"/>
                        <a:cs typeface="Consolas"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candidate count</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few options</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many options</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300" b="1" dirty="0">
                          <a:solidFill>
                            <a:srgbClr val="B45309"/>
                          </a:solidFill>
                          <a:latin typeface="Consolas" pitchFamily="34" charset="0"/>
                          <a:ea typeface="Consolas" pitchFamily="34" charset="-122"/>
                          <a:cs typeface="Consolas" pitchFamily="34" charset="-120"/>
                        </a:rPr>
                        <a:t>maxTokens</a:t>
                      </a:r>
                      <a:endParaRPr lang="en-US" sz="1300" dirty="0">
                        <a:latin typeface="Consolas" charset="0"/>
                        <a:ea typeface="Consolas" charset="0"/>
                        <a:cs typeface="Consolas"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length cap</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short</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long</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B45309"/>
                          </a:solidFill>
                          <a:latin typeface="Consolas" pitchFamily="34" charset="0"/>
                          <a:ea typeface="Consolas" pitchFamily="34" charset="-122"/>
                          <a:cs typeface="Consolas" pitchFamily="34" charset="-120"/>
                        </a:rPr>
                        <a:t>stopSequences</a:t>
                      </a:r>
                      <a:endParaRPr lang="en-US" sz="1300" dirty="0">
                        <a:latin typeface="Consolas" charset="0"/>
                        <a:ea typeface="Consolas" charset="0"/>
                        <a:cs typeface="Consolas"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hard stops</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63500" marR="635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7" name="Shape 4"/>
          <p:cNvSpPr/>
          <p:nvPr/>
        </p:nvSpPr>
        <p:spPr>
          <a:xfrm>
            <a:off x="566928" y="4892040"/>
            <a:ext cx="10972800" cy="1051560"/>
          </a:xfrm>
          <a:prstGeom prst="rect">
            <a:avLst/>
          </a:prstGeom>
          <a:solidFill>
            <a:srgbClr val="FBE5D2"/>
          </a:solidFill>
          <a:ln w="12700">
            <a:solidFill>
              <a:srgbClr val="E2E8F0"/>
            </a:solidFill>
            <a:prstDash val="solid"/>
          </a:ln>
        </p:spPr>
      </p:sp>
      <p:sp>
        <p:nvSpPr>
          <p:cNvPr id="8" name="Shape 5"/>
          <p:cNvSpPr/>
          <p:nvPr/>
        </p:nvSpPr>
        <p:spPr>
          <a:xfrm>
            <a:off x="566928" y="4892040"/>
            <a:ext cx="64008" cy="1051560"/>
          </a:xfrm>
          <a:prstGeom prst="rect">
            <a:avLst/>
          </a:prstGeom>
          <a:solidFill>
            <a:srgbClr val="B45309"/>
          </a:solidFill>
          <a:ln/>
        </p:spPr>
      </p:sp>
      <p:sp>
        <p:nvSpPr>
          <p:cNvPr id="9" name="Text 6"/>
          <p:cNvSpPr/>
          <p:nvPr/>
        </p:nvSpPr>
        <p:spPr>
          <a:xfrm>
            <a:off x="822960" y="5047488"/>
            <a:ext cx="10424160" cy="77724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Same agent, different sub-tasks, different settings.  </a:t>
            </a:r>
            <a:pPr indent="0" marL="0">
              <a:buNone/>
            </a:pPr>
            <a:r>
              <a:rPr lang="en-US" sz="1400" dirty="0">
                <a:solidFill>
                  <a:srgbClr val="1F2937"/>
                </a:solidFill>
                <a:latin typeface="Calibri" pitchFamily="34" charset="0"/>
                <a:ea typeface="Calibri" pitchFamily="34" charset="-122"/>
                <a:cs typeface="Calibri" pitchFamily="34" charset="-120"/>
              </a:rPr>
              <a:t>Extract a PNR → </a:t>
            </a:r>
            <a:pPr indent="0" marL="0">
              <a:buNone/>
            </a:pPr>
            <a:r>
              <a:rPr lang="en-US" sz="1400" b="1" dirty="0">
                <a:solidFill>
                  <a:srgbClr val="B45309"/>
                </a:solidFill>
                <a:latin typeface="Calibri" pitchFamily="34" charset="0"/>
                <a:ea typeface="Calibri" pitchFamily="34" charset="-122"/>
                <a:cs typeface="Calibri" pitchFamily="34" charset="-120"/>
              </a:rPr>
              <a:t>temperature 0</a:t>
            </a:r>
            <a:pPr indent="0" marL="0">
              <a:buNone/>
            </a:pPr>
            <a:r>
              <a:rPr lang="en-US" sz="1400" dirty="0">
                <a:solidFill>
                  <a:srgbClr val="1F2937"/>
                </a:solidFill>
                <a:latin typeface="Calibri" pitchFamily="34" charset="0"/>
                <a:ea typeface="Calibri" pitchFamily="34" charset="-122"/>
                <a:cs typeface="Calibri" pitchFamily="34" charset="-120"/>
              </a:rPr>
              <a:t> (same answer every time).  Draft a customer apology → </a:t>
            </a:r>
            <a:pPr indent="0" marL="0">
              <a:buNone/>
            </a:pPr>
            <a:r>
              <a:rPr lang="en-US" sz="1400" b="1" dirty="0">
                <a:solidFill>
                  <a:srgbClr val="B45309"/>
                </a:solidFill>
                <a:latin typeface="Calibri" pitchFamily="34" charset="0"/>
                <a:ea typeface="Calibri" pitchFamily="34" charset="-122"/>
                <a:cs typeface="Calibri" pitchFamily="34" charset="-120"/>
              </a:rPr>
              <a:t>0.5–0.7</a:t>
            </a:r>
            <a:pP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8</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INFERENCE</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Dynamic control — vary it per call</a:t>
            </a:r>
            <a:endParaRPr lang="en-US" sz="3100" dirty="0"/>
          </a:p>
        </p:txBody>
      </p:sp>
      <p:sp>
        <p:nvSpPr>
          <p:cNvPr id="6" name="Shape 4"/>
          <p:cNvSpPr/>
          <p:nvPr/>
        </p:nvSpPr>
        <p:spPr>
          <a:xfrm>
            <a:off x="566928" y="1508760"/>
            <a:ext cx="7315200" cy="2787091"/>
          </a:xfrm>
          <a:prstGeom prst="roundRect">
            <a:avLst>
              <a:gd name="adj" fmla="val 1969"/>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731520" y="1655064"/>
            <a:ext cx="77724" cy="77724"/>
          </a:xfrm>
          <a:prstGeom prst="oval">
            <a:avLst/>
          </a:prstGeom>
          <a:solidFill>
            <a:srgbClr val="FF5F56"/>
          </a:solidFill>
          <a:ln/>
        </p:spPr>
      </p:sp>
      <p:sp>
        <p:nvSpPr>
          <p:cNvPr id="8" name="Shape 6"/>
          <p:cNvSpPr/>
          <p:nvPr/>
        </p:nvSpPr>
        <p:spPr>
          <a:xfrm>
            <a:off x="841248" y="1655064"/>
            <a:ext cx="77724" cy="77724"/>
          </a:xfrm>
          <a:prstGeom prst="oval">
            <a:avLst/>
          </a:prstGeom>
          <a:solidFill>
            <a:srgbClr val="FFBD2E"/>
          </a:solidFill>
          <a:ln/>
        </p:spPr>
      </p:sp>
      <p:sp>
        <p:nvSpPr>
          <p:cNvPr id="9" name="Shape 7"/>
          <p:cNvSpPr/>
          <p:nvPr/>
        </p:nvSpPr>
        <p:spPr>
          <a:xfrm>
            <a:off x="950976" y="1655064"/>
            <a:ext cx="77724" cy="77724"/>
          </a:xfrm>
          <a:prstGeom prst="oval">
            <a:avLst/>
          </a:prstGeom>
          <a:solidFill>
            <a:srgbClr val="27C93F"/>
          </a:solidFill>
          <a:ln/>
        </p:spPr>
      </p:sp>
      <p:sp>
        <p:nvSpPr>
          <p:cNvPr id="10" name="Text 8"/>
          <p:cNvSpPr/>
          <p:nvPr/>
        </p:nvSpPr>
        <p:spPr>
          <a:xfrm>
            <a:off x="1115568" y="1572768"/>
            <a:ext cx="658368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you set inference each turn</a:t>
            </a:r>
            <a:endParaRPr lang="en-US" sz="900" dirty="0"/>
          </a:p>
        </p:txBody>
      </p:sp>
      <p:sp>
        <p:nvSpPr>
          <p:cNvPr id="11" name="Text 9"/>
          <p:cNvSpPr/>
          <p:nvPr/>
        </p:nvSpPr>
        <p:spPr>
          <a:xfrm>
            <a:off x="768096" y="1819656"/>
            <a:ext cx="6931152" cy="2348179"/>
          </a:xfrm>
          <a:prstGeom prst="rect">
            <a:avLst/>
          </a:prstGeom>
          <a:noFill/>
          <a:ln/>
        </p:spPr>
        <p:txBody>
          <a:bodyPr wrap="square" lIns="0" tIns="0" rIns="0" bIns="0" rtlCol="0" anchor="t"/>
          <a:lstStyle/>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temp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deterministic start</a:t>
            </a:r>
            <a:endParaRPr lang="en-US" sz="1200" dirty="0"/>
          </a:p>
          <a:p>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for</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turn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in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range</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max_turns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brt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converse</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modelId</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MODEL_ID</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messages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messages</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toolConfig</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tool_config</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inferenceConfig</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temperature</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temp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maxTokens</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512</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7DD3FC"/>
                </a:solidFill>
                <a:latin typeface="Consolas" pitchFamily="34" charset="0"/>
                <a:ea typeface="Consolas" pitchFamily="34" charset="-122"/>
                <a:cs typeface="Consolas" pitchFamily="34" charset="-120"/>
              </a:rPr>
              <a:t>if</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F7A23B"/>
                </a:solidFill>
                <a:latin typeface="Consolas" pitchFamily="34" charset="0"/>
                <a:ea typeface="Consolas" pitchFamily="34" charset="-122"/>
                <a:cs typeface="Consolas" pitchFamily="34" charset="-120"/>
              </a:rPr>
              <a:t>spinning</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repeated call</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temp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min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temp</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4</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1</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nudge out of the rut</a:t>
            </a:r>
            <a:endParaRPr lang="en-US" sz="1200" dirty="0"/>
          </a:p>
        </p:txBody>
      </p:sp>
      <p:sp>
        <p:nvSpPr>
          <p:cNvPr id="12" name="Shape 10"/>
          <p:cNvSpPr/>
          <p:nvPr/>
        </p:nvSpPr>
        <p:spPr>
          <a:xfrm>
            <a:off x="8092440" y="1600200"/>
            <a:ext cx="3456432" cy="1554480"/>
          </a:xfrm>
          <a:prstGeom prst="rect">
            <a:avLst/>
          </a:prstGeom>
          <a:solidFill>
            <a:srgbClr val="F8FAFC"/>
          </a:solidFill>
          <a:ln w="12700">
            <a:solidFill>
              <a:srgbClr val="E2E8F0"/>
            </a:solidFill>
            <a:prstDash val="solid"/>
          </a:ln>
        </p:spPr>
      </p:sp>
      <p:sp>
        <p:nvSpPr>
          <p:cNvPr id="13" name="Shape 11"/>
          <p:cNvSpPr/>
          <p:nvPr/>
        </p:nvSpPr>
        <p:spPr>
          <a:xfrm>
            <a:off x="8092440" y="1600200"/>
            <a:ext cx="64008" cy="1554480"/>
          </a:xfrm>
          <a:prstGeom prst="rect">
            <a:avLst/>
          </a:prstGeom>
          <a:solidFill>
            <a:srgbClr val="B45309"/>
          </a:solidFill>
          <a:ln/>
        </p:spPr>
      </p:sp>
      <p:sp>
        <p:nvSpPr>
          <p:cNvPr id="14" name="Text 12"/>
          <p:cNvSpPr/>
          <p:nvPr/>
        </p:nvSpPr>
        <p:spPr>
          <a:xfrm>
            <a:off x="8293608" y="1737360"/>
            <a:ext cx="3108960" cy="365760"/>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What “dynamic” means</a:t>
            </a:r>
            <a:endParaRPr lang="en-US" sz="1500" dirty="0"/>
          </a:p>
        </p:txBody>
      </p:sp>
      <p:sp>
        <p:nvSpPr>
          <p:cNvPr id="15" name="Text 13"/>
          <p:cNvSpPr/>
          <p:nvPr/>
        </p:nvSpPr>
        <p:spPr>
          <a:xfrm>
            <a:off x="8293608" y="2121408"/>
            <a:ext cx="3154680" cy="10058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Params do not drift on their own mid-call. YOUR code changes them between turns. In the hand-built loop you own that.</a:t>
            </a:r>
            <a:endParaRPr lang="en-US" sz="1250" dirty="0"/>
          </a:p>
        </p:txBody>
      </p:sp>
      <p:sp>
        <p:nvSpPr>
          <p:cNvPr id="16" name="Shape 14"/>
          <p:cNvSpPr/>
          <p:nvPr/>
        </p:nvSpPr>
        <p:spPr>
          <a:xfrm>
            <a:off x="8092440" y="3337560"/>
            <a:ext cx="3456432" cy="1554480"/>
          </a:xfrm>
          <a:prstGeom prst="roundRect">
            <a:avLst>
              <a:gd name="adj" fmla="val 4118"/>
            </a:avLst>
          </a:prstGeom>
          <a:solidFill>
            <a:srgbClr val="E7F4EA"/>
          </a:solidFill>
          <a:ln w="12700">
            <a:solidFill>
              <a:srgbClr val="BFE3C8"/>
            </a:solidFill>
            <a:prstDash val="solid"/>
          </a:ln>
        </p:spPr>
      </p:sp>
      <p:sp>
        <p:nvSpPr>
          <p:cNvPr id="17" name="Text 15"/>
          <p:cNvSpPr/>
          <p:nvPr/>
        </p:nvSpPr>
        <p:spPr>
          <a:xfrm>
            <a:off x="8293608" y="3474720"/>
            <a:ext cx="3108960" cy="365760"/>
          </a:xfrm>
          <a:prstGeom prst="rect">
            <a:avLst/>
          </a:prstGeom>
          <a:noFill/>
          <a:ln/>
        </p:spPr>
        <p:txBody>
          <a:bodyPr wrap="square" lIns="0" tIns="0" rIns="0" bIns="0" rtlCol="0" anchor="ctr"/>
          <a:lstStyle/>
          <a:p>
            <a:pPr indent="0" marL="0">
              <a:buNone/>
            </a:pPr>
            <a:r>
              <a:rPr lang="en-US" sz="1400" b="1" dirty="0">
                <a:solidFill>
                  <a:srgbClr val="15803D"/>
                </a:solidFill>
                <a:latin typeface="Georgia" pitchFamily="34" charset="0"/>
                <a:ea typeface="Georgia" pitchFamily="34" charset="-122"/>
                <a:cs typeface="Georgia" pitchFamily="34" charset="-120"/>
              </a:rPr>
              <a:t>The legit pattern</a:t>
            </a:r>
            <a:endParaRPr lang="en-US" sz="1400" dirty="0"/>
          </a:p>
        </p:txBody>
      </p:sp>
      <p:sp>
        <p:nvSpPr>
          <p:cNvPr id="18" name="Text 16"/>
          <p:cNvSpPr/>
          <p:nvPr/>
        </p:nvSpPr>
        <p:spPr>
          <a:xfrm>
            <a:off x="8293608" y="3858768"/>
            <a:ext cx="3154680" cy="10058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Deterministic extraction at temp 0. If the loop stalls, raise temperature ONCE to break a repeated identical reply. Then stop.</a:t>
            </a:r>
            <a:endParaRPr lang="en-US" sz="1200" dirty="0"/>
          </a:p>
        </p:txBody>
      </p:sp>
      <p:sp>
        <p:nvSpPr>
          <p:cNvPr id="19" name="Shape 17"/>
          <p:cNvSpPr/>
          <p:nvPr/>
        </p:nvSpPr>
        <p:spPr>
          <a:xfrm>
            <a:off x="566928" y="5440680"/>
            <a:ext cx="10972800" cy="777240"/>
          </a:xfrm>
          <a:prstGeom prst="rect">
            <a:avLst/>
          </a:prstGeom>
          <a:solidFill>
            <a:srgbClr val="FBE9E9"/>
          </a:solidFill>
          <a:ln w="12700">
            <a:solidFill>
              <a:srgbClr val="E2E8F0"/>
            </a:solidFill>
            <a:prstDash val="solid"/>
          </a:ln>
        </p:spPr>
      </p:sp>
      <p:sp>
        <p:nvSpPr>
          <p:cNvPr id="20" name="Shape 18"/>
          <p:cNvSpPr/>
          <p:nvPr/>
        </p:nvSpPr>
        <p:spPr>
          <a:xfrm>
            <a:off x="566928" y="5440680"/>
            <a:ext cx="64008" cy="777240"/>
          </a:xfrm>
          <a:prstGeom prst="rect">
            <a:avLst/>
          </a:prstGeom>
          <a:solidFill>
            <a:srgbClr val="B91C1C"/>
          </a:solidFill>
          <a:ln/>
        </p:spPr>
      </p:sp>
      <p:sp>
        <p:nvSpPr>
          <p:cNvPr id="21" name="Text 19"/>
          <p:cNvSpPr/>
          <p:nvPr/>
        </p:nvSpPr>
        <p:spPr>
          <a:xfrm>
            <a:off x="822960" y="5577840"/>
            <a:ext cx="10515600" cy="50292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Do not crank it blindly — high temperature on tool-argument generation produces malformed inputs and more loops, not fewer.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9</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INFERENCE</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When you should NOT touch them</a:t>
            </a:r>
            <a:endParaRPr lang="en-US" sz="3100" dirty="0"/>
          </a:p>
        </p:txBody>
      </p:sp>
      <p:sp>
        <p:nvSpPr>
          <p:cNvPr id="6" name="Shape 4"/>
          <p:cNvSpPr/>
          <p:nvPr/>
        </p:nvSpPr>
        <p:spPr>
          <a:xfrm>
            <a:off x="566928" y="1508760"/>
            <a:ext cx="6949440" cy="877824"/>
          </a:xfrm>
          <a:prstGeom prst="rect">
            <a:avLst/>
          </a:prstGeom>
          <a:solidFill>
            <a:srgbClr val="F8FAFC"/>
          </a:solidFill>
          <a:ln w="12700">
            <a:solidFill>
              <a:srgbClr val="E2E8F0"/>
            </a:solidFill>
            <a:prstDash val="solid"/>
          </a:ln>
        </p:spPr>
      </p:sp>
      <p:sp>
        <p:nvSpPr>
          <p:cNvPr id="7" name="Shape 5"/>
          <p:cNvSpPr/>
          <p:nvPr/>
        </p:nvSpPr>
        <p:spPr>
          <a:xfrm>
            <a:off x="566928" y="1508760"/>
            <a:ext cx="64008" cy="877824"/>
          </a:xfrm>
          <a:prstGeom prst="rect">
            <a:avLst/>
          </a:prstGeom>
          <a:solidFill>
            <a:srgbClr val="B45309"/>
          </a:solidFill>
          <a:ln/>
        </p:spPr>
      </p:sp>
      <p:sp>
        <p:nvSpPr>
          <p:cNvPr id="8" name="Shape 6"/>
          <p:cNvSpPr/>
          <p:nvPr/>
        </p:nvSpPr>
        <p:spPr>
          <a:xfrm>
            <a:off x="777240" y="1755648"/>
            <a:ext cx="384048" cy="384048"/>
          </a:xfrm>
          <a:prstGeom prst="oval">
            <a:avLst/>
          </a:prstGeom>
          <a:solidFill>
            <a:srgbClr val="B45309"/>
          </a:solidFill>
          <a:ln/>
        </p:spPr>
      </p:sp>
      <p:sp>
        <p:nvSpPr>
          <p:cNvPr id="9" name="Text 7"/>
          <p:cNvSpPr/>
          <p:nvPr/>
        </p:nvSpPr>
        <p:spPr>
          <a:xfrm>
            <a:off x="777240" y="1755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0" name="Text 8"/>
          <p:cNvSpPr/>
          <p:nvPr/>
        </p:nvSpPr>
        <p:spPr>
          <a:xfrm>
            <a:off x="1325880" y="1618488"/>
            <a:ext cx="6035040" cy="347472"/>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Deterministic work → temperature 0</a:t>
            </a:r>
            <a:endParaRPr lang="en-US" sz="1500" dirty="0"/>
          </a:p>
        </p:txBody>
      </p:sp>
      <p:sp>
        <p:nvSpPr>
          <p:cNvPr id="11" name="Text 9"/>
          <p:cNvSpPr/>
          <p:nvPr/>
        </p:nvSpPr>
        <p:spPr>
          <a:xfrm>
            <a:off x="1325880" y="1947672"/>
            <a:ext cx="6035040" cy="38404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Extraction, routing, tool-arg generation. Leave topP and topK alone.</a:t>
            </a:r>
            <a:endParaRPr lang="en-US" sz="1200" dirty="0"/>
          </a:p>
        </p:txBody>
      </p:sp>
      <p:sp>
        <p:nvSpPr>
          <p:cNvPr id="12" name="Shape 10"/>
          <p:cNvSpPr/>
          <p:nvPr/>
        </p:nvSpPr>
        <p:spPr>
          <a:xfrm>
            <a:off x="566928" y="2532888"/>
            <a:ext cx="6949440" cy="877824"/>
          </a:xfrm>
          <a:prstGeom prst="rect">
            <a:avLst/>
          </a:prstGeom>
          <a:solidFill>
            <a:srgbClr val="F8FAFC"/>
          </a:solidFill>
          <a:ln w="12700">
            <a:solidFill>
              <a:srgbClr val="E2E8F0"/>
            </a:solidFill>
            <a:prstDash val="solid"/>
          </a:ln>
        </p:spPr>
      </p:sp>
      <p:sp>
        <p:nvSpPr>
          <p:cNvPr id="13" name="Shape 11"/>
          <p:cNvSpPr/>
          <p:nvPr/>
        </p:nvSpPr>
        <p:spPr>
          <a:xfrm>
            <a:off x="566928" y="2532888"/>
            <a:ext cx="64008" cy="877824"/>
          </a:xfrm>
          <a:prstGeom prst="rect">
            <a:avLst/>
          </a:prstGeom>
          <a:solidFill>
            <a:srgbClr val="B45309"/>
          </a:solidFill>
          <a:ln/>
        </p:spPr>
      </p:sp>
      <p:sp>
        <p:nvSpPr>
          <p:cNvPr id="14" name="Shape 12"/>
          <p:cNvSpPr/>
          <p:nvPr/>
        </p:nvSpPr>
        <p:spPr>
          <a:xfrm>
            <a:off x="777240" y="2779776"/>
            <a:ext cx="384048" cy="384048"/>
          </a:xfrm>
          <a:prstGeom prst="oval">
            <a:avLst/>
          </a:prstGeom>
          <a:solidFill>
            <a:srgbClr val="B45309"/>
          </a:solidFill>
          <a:ln/>
        </p:spPr>
      </p:sp>
      <p:sp>
        <p:nvSpPr>
          <p:cNvPr id="15" name="Text 13"/>
          <p:cNvSpPr/>
          <p:nvPr/>
        </p:nvSpPr>
        <p:spPr>
          <a:xfrm>
            <a:off x="777240" y="27797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1325880" y="2642616"/>
            <a:ext cx="6035040" cy="347472"/>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Change one dial, then measure</a:t>
            </a:r>
            <a:endParaRPr lang="en-US" sz="1500" dirty="0"/>
          </a:p>
        </p:txBody>
      </p:sp>
      <p:sp>
        <p:nvSpPr>
          <p:cNvPr id="17" name="Text 15"/>
          <p:cNvSpPr/>
          <p:nvPr/>
        </p:nvSpPr>
        <p:spPr>
          <a:xfrm>
            <a:off x="1325880" y="2971800"/>
            <a:ext cx="6035040" cy="38404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Tuning three at once means you learn nothing from the result.</a:t>
            </a:r>
            <a:endParaRPr lang="en-US" sz="1200" dirty="0"/>
          </a:p>
        </p:txBody>
      </p:sp>
      <p:sp>
        <p:nvSpPr>
          <p:cNvPr id="18" name="Shape 16"/>
          <p:cNvSpPr/>
          <p:nvPr/>
        </p:nvSpPr>
        <p:spPr>
          <a:xfrm>
            <a:off x="566928" y="3557016"/>
            <a:ext cx="6949440" cy="877824"/>
          </a:xfrm>
          <a:prstGeom prst="rect">
            <a:avLst/>
          </a:prstGeom>
          <a:solidFill>
            <a:srgbClr val="F8FAFC"/>
          </a:solidFill>
          <a:ln w="12700">
            <a:solidFill>
              <a:srgbClr val="E2E8F0"/>
            </a:solidFill>
            <a:prstDash val="solid"/>
          </a:ln>
        </p:spPr>
      </p:sp>
      <p:sp>
        <p:nvSpPr>
          <p:cNvPr id="19" name="Shape 17"/>
          <p:cNvSpPr/>
          <p:nvPr/>
        </p:nvSpPr>
        <p:spPr>
          <a:xfrm>
            <a:off x="566928" y="3557016"/>
            <a:ext cx="64008" cy="877824"/>
          </a:xfrm>
          <a:prstGeom prst="rect">
            <a:avLst/>
          </a:prstGeom>
          <a:solidFill>
            <a:srgbClr val="B45309"/>
          </a:solidFill>
          <a:ln/>
        </p:spPr>
      </p:sp>
      <p:sp>
        <p:nvSpPr>
          <p:cNvPr id="20" name="Shape 18"/>
          <p:cNvSpPr/>
          <p:nvPr/>
        </p:nvSpPr>
        <p:spPr>
          <a:xfrm>
            <a:off x="777240" y="3803904"/>
            <a:ext cx="384048" cy="384048"/>
          </a:xfrm>
          <a:prstGeom prst="oval">
            <a:avLst/>
          </a:prstGeom>
          <a:solidFill>
            <a:srgbClr val="B45309"/>
          </a:solidFill>
          <a:ln/>
        </p:spPr>
      </p:sp>
      <p:sp>
        <p:nvSpPr>
          <p:cNvPr id="21" name="Text 19"/>
          <p:cNvSpPr/>
          <p:nvPr/>
        </p:nvSpPr>
        <p:spPr>
          <a:xfrm>
            <a:off x="777240" y="3803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2" name="Text 20"/>
          <p:cNvSpPr/>
          <p:nvPr/>
        </p:nvSpPr>
        <p:spPr>
          <a:xfrm>
            <a:off x="1325880" y="3666744"/>
            <a:ext cx="6035040" cy="347472"/>
          </a:xfrm>
          <a:prstGeom prst="rect">
            <a:avLst/>
          </a:prstGeom>
          <a:noFill/>
          <a:ln/>
        </p:spPr>
        <p:txBody>
          <a:bodyPr wrap="square" lIns="0" tIns="0" rIns="0" bIns="0" rtlCol="0" anchor="ctr"/>
          <a:lstStyle/>
          <a:p>
            <a:pPr indent="0" marL="0">
              <a:buNone/>
            </a:pPr>
            <a:r>
              <a:rPr lang="en-US" sz="1500" b="1" dirty="0">
                <a:solidFill>
                  <a:srgbClr val="1F2937"/>
                </a:solidFill>
                <a:latin typeface="Georgia" pitchFamily="34" charset="0"/>
                <a:ea typeface="Georgia" pitchFamily="34" charset="-122"/>
                <a:cs typeface="Georgia" pitchFamily="34" charset="-120"/>
              </a:rPr>
              <a:t>On reasoning models you cannot</a:t>
            </a:r>
            <a:endParaRPr lang="en-US" sz="1500" dirty="0"/>
          </a:p>
        </p:txBody>
      </p:sp>
      <p:sp>
        <p:nvSpPr>
          <p:cNvPr id="23" name="Text 21"/>
          <p:cNvSpPr/>
          <p:nvPr/>
        </p:nvSpPr>
        <p:spPr>
          <a:xfrm>
            <a:off x="1325880" y="3995928"/>
            <a:ext cx="6035040" cy="38404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Thinking on → sampling params are off-limits. Next slide.</a:t>
            </a:r>
            <a:endParaRPr lang="en-US" sz="1200" dirty="0"/>
          </a:p>
        </p:txBody>
      </p:sp>
      <p:sp>
        <p:nvSpPr>
          <p:cNvPr id="24" name="Shape 22"/>
          <p:cNvSpPr/>
          <p:nvPr/>
        </p:nvSpPr>
        <p:spPr>
          <a:xfrm>
            <a:off x="7726680" y="1508760"/>
            <a:ext cx="3813048" cy="3026664"/>
          </a:xfrm>
          <a:prstGeom prst="roundRect">
            <a:avLst>
              <a:gd name="adj" fmla="val 2115"/>
            </a:avLst>
          </a:prstGeom>
          <a:solidFill>
            <a:srgbClr val="111C32"/>
          </a:solidFill>
          <a:ln w="12700">
            <a:solidFill>
              <a:srgbClr val="24324C"/>
            </a:solidFill>
            <a:prstDash val="solid"/>
          </a:ln>
          <a:effectLst>
            <a:outerShdw sx="100000" sy="100000" kx="0" ky="0" algn="bl" rotWithShape="0" blurRad="76200" dist="25400" dir="8100000">
              <a:srgbClr val="000000">
                <a:alpha val="10000"/>
              </a:srgbClr>
            </a:outerShdw>
          </a:effectLst>
        </p:spPr>
      </p:sp>
      <p:sp>
        <p:nvSpPr>
          <p:cNvPr id="25" name="Text 23"/>
          <p:cNvSpPr/>
          <p:nvPr/>
        </p:nvSpPr>
        <p:spPr>
          <a:xfrm>
            <a:off x="7955280" y="1691640"/>
            <a:ext cx="3383280" cy="274320"/>
          </a:xfrm>
          <a:prstGeom prst="rect">
            <a:avLst/>
          </a:prstGeom>
          <a:noFill/>
          <a:ln/>
        </p:spPr>
        <p:txBody>
          <a:bodyPr wrap="square" lIns="0" tIns="0" rIns="0" bIns="0" rtlCol="0" anchor="ctr"/>
          <a:lstStyle/>
          <a:p>
            <a:pPr indent="0" marL="0">
              <a:buNone/>
            </a:pPr>
            <a:r>
              <a:rPr lang="en-US" sz="1100" b="1" spc="200" kern="0" dirty="0">
                <a:solidFill>
                  <a:srgbClr val="F7A23B"/>
                </a:solidFill>
                <a:latin typeface="Calibri" pitchFamily="34" charset="0"/>
                <a:ea typeface="Calibri" pitchFamily="34" charset="-122"/>
                <a:cs typeface="Calibri" pitchFamily="34" charset="-120"/>
              </a:rPr>
              <a:t>SKEPTIC</a:t>
            </a:r>
            <a:endParaRPr lang="en-US" sz="1100" dirty="0"/>
          </a:p>
        </p:txBody>
      </p:sp>
      <p:sp>
        <p:nvSpPr>
          <p:cNvPr id="26" name="Text 24"/>
          <p:cNvSpPr/>
          <p:nvPr/>
        </p:nvSpPr>
        <p:spPr>
          <a:xfrm>
            <a:off x="7955280" y="1993392"/>
            <a:ext cx="3383280" cy="594360"/>
          </a:xfrm>
          <a:prstGeom prst="rect">
            <a:avLst/>
          </a:prstGeom>
          <a:noFill/>
          <a:ln/>
        </p:spPr>
        <p:txBody>
          <a:bodyPr wrap="square" lIns="0" tIns="0" rIns="0" bIns="0" rtlCol="0" anchor="t"/>
          <a:lstStyle/>
          <a:p>
            <a:pPr indent="0" marL="0">
              <a:buNone/>
            </a:pPr>
            <a:r>
              <a:rPr lang="en-US" sz="1500" b="1" i="1" dirty="0">
                <a:solidFill>
                  <a:srgbClr val="FFFFFF"/>
                </a:solidFill>
                <a:latin typeface="Georgia" pitchFamily="34" charset="0"/>
                <a:ea typeface="Georgia" pitchFamily="34" charset="-122"/>
                <a:cs typeface="Georgia" pitchFamily="34" charset="-120"/>
              </a:rPr>
              <a:t>“Isn't more tuning always better?”</a:t>
            </a:r>
            <a:endParaRPr lang="en-US" sz="1500" dirty="0"/>
          </a:p>
        </p:txBody>
      </p:sp>
      <p:sp>
        <p:nvSpPr>
          <p:cNvPr id="27" name="Text 25"/>
          <p:cNvSpPr/>
          <p:nvPr/>
        </p:nvSpPr>
        <p:spPr>
          <a:xfrm>
            <a:off x="7955280" y="2670048"/>
            <a:ext cx="3401568" cy="777240"/>
          </a:xfrm>
          <a:prstGeom prst="rect">
            <a:avLst/>
          </a:prstGeom>
          <a:noFill/>
          <a:ln/>
        </p:spPr>
        <p:txBody>
          <a:bodyPr wrap="square" lIns="0" tIns="0" rIns="0" bIns="0" rtlCol="0" anchor="t"/>
          <a:lstStyle/>
          <a:p>
            <a:pPr indent="0" marL="0">
              <a:buNone/>
            </a:pPr>
            <a:r>
              <a:rPr lang="en-US" sz="1250" dirty="0">
                <a:solidFill>
                  <a:srgbClr val="E5E9F0"/>
                </a:solidFill>
                <a:latin typeface="Calibri" pitchFamily="34" charset="0"/>
                <a:ea typeface="Calibri" pitchFamily="34" charset="-122"/>
                <a:cs typeface="Calibri" pitchFamily="34" charset="-120"/>
              </a:rPr>
              <a:t>No. Most agent bugs are tool or prompt bugs, not sampling bugs.</a:t>
            </a:r>
            <a:endParaRPr lang="en-US" sz="1250" dirty="0"/>
          </a:p>
        </p:txBody>
      </p:sp>
      <p:sp>
        <p:nvSpPr>
          <p:cNvPr id="28" name="Text 26"/>
          <p:cNvSpPr/>
          <p:nvPr/>
        </p:nvSpPr>
        <p:spPr>
          <a:xfrm>
            <a:off x="7955280" y="3429000"/>
            <a:ext cx="3401568" cy="960120"/>
          </a:xfrm>
          <a:prstGeom prst="rect">
            <a:avLst/>
          </a:prstGeom>
          <a:noFill/>
          <a:ln/>
        </p:spPr>
        <p:txBody>
          <a:bodyPr wrap="square" lIns="0" tIns="0" rIns="0" bIns="0" rtlCol="0" anchor="t"/>
          <a:lstStyle/>
          <a:p>
            <a:pPr indent="0" marL="0">
              <a:buNone/>
            </a:pPr>
            <a:r>
              <a:rPr lang="en-US" sz="1250" dirty="0">
                <a:solidFill>
                  <a:srgbClr val="F7A23B"/>
                </a:solidFill>
                <a:latin typeface="Calibri" pitchFamily="34" charset="0"/>
                <a:ea typeface="Calibri" pitchFamily="34" charset="-122"/>
                <a:cs typeface="Calibri" pitchFamily="34" charset="-120"/>
              </a:rPr>
              <a:t>Tuning temperature to fix a missing-tool loop is treating a broken leg with aspirin.</a:t>
            </a:r>
            <a:endParaRPr lang="en-US" sz="1250" dirty="0"/>
          </a:p>
        </p:txBody>
      </p:sp>
      <p:sp>
        <p:nvSpPr>
          <p:cNvPr id="29" name="Shape 27"/>
          <p:cNvSpPr/>
          <p:nvPr/>
        </p:nvSpPr>
        <p:spPr>
          <a:xfrm>
            <a:off x="566928" y="5074920"/>
            <a:ext cx="10972800" cy="868680"/>
          </a:xfrm>
          <a:prstGeom prst="rect">
            <a:avLst/>
          </a:prstGeom>
          <a:solidFill>
            <a:srgbClr val="F8FAFC"/>
          </a:solidFill>
          <a:ln w="12700">
            <a:solidFill>
              <a:srgbClr val="E2E8F0"/>
            </a:solidFill>
            <a:prstDash val="solid"/>
          </a:ln>
        </p:spPr>
      </p:sp>
      <p:sp>
        <p:nvSpPr>
          <p:cNvPr id="30" name="Shape 28"/>
          <p:cNvSpPr/>
          <p:nvPr/>
        </p:nvSpPr>
        <p:spPr>
          <a:xfrm>
            <a:off x="566928" y="5074920"/>
            <a:ext cx="64008" cy="868680"/>
          </a:xfrm>
          <a:prstGeom prst="rect">
            <a:avLst/>
          </a:prstGeom>
          <a:solidFill>
            <a:srgbClr val="1F2937"/>
          </a:solidFill>
          <a:ln/>
        </p:spPr>
      </p:sp>
      <p:sp>
        <p:nvSpPr>
          <p:cNvPr id="31" name="Text 29"/>
          <p:cNvSpPr/>
          <p:nvPr/>
        </p:nvSpPr>
        <p:spPr>
          <a:xfrm>
            <a:off x="822960" y="5212080"/>
            <a:ext cx="10515600" cy="594360"/>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Order of reach:  </a:t>
            </a:r>
            <a:pPr indent="0" marL="0">
              <a:buNone/>
            </a:pPr>
            <a:r>
              <a:rPr lang="en-US" sz="1500" dirty="0">
                <a:solidFill>
                  <a:srgbClr val="1F2937"/>
                </a:solidFill>
                <a:latin typeface="Calibri" pitchFamily="34" charset="0"/>
                <a:ea typeface="Calibri" pitchFamily="34" charset="-122"/>
                <a:cs typeface="Calibri" pitchFamily="34" charset="-120"/>
              </a:rPr>
              <a:t>fix the tools and the prompt first.  Reach for sampling params last, not first.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10</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INFERENCE · REASONING MODELS</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Thinking on = sampling params off</a:t>
            </a:r>
            <a:endParaRPr lang="en-US" sz="3100" dirty="0"/>
          </a:p>
        </p:txBody>
      </p:sp>
      <p:sp>
        <p:nvSpPr>
          <p:cNvPr id="6" name="Text 4"/>
          <p:cNvSpPr/>
          <p:nvPr/>
        </p:nvSpPr>
        <p:spPr>
          <a:xfrm>
            <a:off x="566928" y="1417320"/>
            <a:ext cx="10972800" cy="137160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rgbClr val="B91C1C"/>
                </a:solidFill>
                <a:latin typeface="Calibri" pitchFamily="34" charset="0"/>
                <a:ea typeface="Calibri" pitchFamily="34" charset="-122"/>
                <a:cs typeface="Calibri" pitchFamily="34" charset="-120"/>
              </a:rPr>
              <a:t>Turn extended thinking on → temperature, topP, topK are rejected (400 error)</a:t>
            </a:r>
            <a:endParaRPr lang="en-US" sz="1400" dirty="0"/>
          </a:p>
          <a:p>
            <a:pPr marL="177800" indent="-1778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Newest Opus (4.6 recommended; 4.7 / 4.8 required) use adaptive thinking + an effort knob</a:t>
            </a:r>
            <a:endParaRPr lang="en-US" sz="1400" dirty="0"/>
          </a:p>
          <a:p>
            <a:pPr marL="177800" indent="-177800">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Manual budget_tokens is rejected on 4.7 / 4.8</a:t>
            </a:r>
            <a:endParaRPr lang="en-US" sz="1400" dirty="0"/>
          </a:p>
        </p:txBody>
      </p:sp>
      <p:sp>
        <p:nvSpPr>
          <p:cNvPr id="7" name="Shape 5"/>
          <p:cNvSpPr/>
          <p:nvPr/>
        </p:nvSpPr>
        <p:spPr>
          <a:xfrm>
            <a:off x="566928" y="2834640"/>
            <a:ext cx="5532120" cy="1525219"/>
          </a:xfrm>
          <a:prstGeom prst="roundRect">
            <a:avLst>
              <a:gd name="adj" fmla="val 3597"/>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8" name="Shape 6"/>
          <p:cNvSpPr/>
          <p:nvPr/>
        </p:nvSpPr>
        <p:spPr>
          <a:xfrm>
            <a:off x="731520" y="2980944"/>
            <a:ext cx="77724" cy="77724"/>
          </a:xfrm>
          <a:prstGeom prst="oval">
            <a:avLst/>
          </a:prstGeom>
          <a:solidFill>
            <a:srgbClr val="FF5F56"/>
          </a:solidFill>
          <a:ln/>
        </p:spPr>
      </p:sp>
      <p:sp>
        <p:nvSpPr>
          <p:cNvPr id="9" name="Shape 7"/>
          <p:cNvSpPr/>
          <p:nvPr/>
        </p:nvSpPr>
        <p:spPr>
          <a:xfrm>
            <a:off x="841248" y="2980944"/>
            <a:ext cx="77724" cy="77724"/>
          </a:xfrm>
          <a:prstGeom prst="oval">
            <a:avLst/>
          </a:prstGeom>
          <a:solidFill>
            <a:srgbClr val="FFBD2E"/>
          </a:solidFill>
          <a:ln/>
        </p:spPr>
      </p:sp>
      <p:sp>
        <p:nvSpPr>
          <p:cNvPr id="10" name="Shape 8"/>
          <p:cNvSpPr/>
          <p:nvPr/>
        </p:nvSpPr>
        <p:spPr>
          <a:xfrm>
            <a:off x="950976" y="2980944"/>
            <a:ext cx="77724" cy="77724"/>
          </a:xfrm>
          <a:prstGeom prst="oval">
            <a:avLst/>
          </a:prstGeom>
          <a:solidFill>
            <a:srgbClr val="27C93F"/>
          </a:solidFill>
          <a:ln/>
        </p:spPr>
      </p:sp>
      <p:sp>
        <p:nvSpPr>
          <p:cNvPr id="11" name="Text 9"/>
          <p:cNvSpPr/>
          <p:nvPr/>
        </p:nvSpPr>
        <p:spPr>
          <a:xfrm>
            <a:off x="1115568" y="2898648"/>
            <a:ext cx="480060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Claude 3.7 / Claude 4 — manual budget</a:t>
            </a:r>
            <a:endParaRPr lang="en-US" sz="900" dirty="0"/>
          </a:p>
        </p:txBody>
      </p:sp>
      <p:sp>
        <p:nvSpPr>
          <p:cNvPr id="12" name="Text 10"/>
          <p:cNvSpPr/>
          <p:nvPr/>
        </p:nvSpPr>
        <p:spPr>
          <a:xfrm>
            <a:off x="768096" y="3145536"/>
            <a:ext cx="5148072" cy="1086307"/>
          </a:xfrm>
          <a:prstGeom prst="rect">
            <a:avLst/>
          </a:prstGeom>
          <a:noFill/>
          <a:ln/>
        </p:spPr>
        <p:txBody>
          <a:bodyPr wrap="square" lIns="0" tIns="0" rIns="0" bIns="0" rtlCol="0" anchor="t"/>
          <a:lstStyle/>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additionalModelRequestFields</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thinking</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type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enabled</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budget_tokens</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0A86A"/>
                </a:solidFill>
                <a:latin typeface="Consolas" pitchFamily="34" charset="0"/>
                <a:ea typeface="Consolas" pitchFamily="34" charset="-122"/>
                <a:cs typeface="Consolas" pitchFamily="34" charset="-120"/>
              </a:rPr>
              <a:t>1024</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p:txBody>
      </p:sp>
      <p:sp>
        <p:nvSpPr>
          <p:cNvPr id="13" name="Shape 11"/>
          <p:cNvSpPr/>
          <p:nvPr/>
        </p:nvSpPr>
        <p:spPr>
          <a:xfrm>
            <a:off x="6263640" y="2834640"/>
            <a:ext cx="5285232" cy="1525219"/>
          </a:xfrm>
          <a:prstGeom prst="roundRect">
            <a:avLst>
              <a:gd name="adj" fmla="val 3597"/>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14" name="Shape 12"/>
          <p:cNvSpPr/>
          <p:nvPr/>
        </p:nvSpPr>
        <p:spPr>
          <a:xfrm>
            <a:off x="6428232" y="2980944"/>
            <a:ext cx="77724" cy="77724"/>
          </a:xfrm>
          <a:prstGeom prst="oval">
            <a:avLst/>
          </a:prstGeom>
          <a:solidFill>
            <a:srgbClr val="FF5F56"/>
          </a:solidFill>
          <a:ln/>
        </p:spPr>
      </p:sp>
      <p:sp>
        <p:nvSpPr>
          <p:cNvPr id="15" name="Shape 13"/>
          <p:cNvSpPr/>
          <p:nvPr/>
        </p:nvSpPr>
        <p:spPr>
          <a:xfrm>
            <a:off x="6537960" y="2980944"/>
            <a:ext cx="77724" cy="77724"/>
          </a:xfrm>
          <a:prstGeom prst="oval">
            <a:avLst/>
          </a:prstGeom>
          <a:solidFill>
            <a:srgbClr val="FFBD2E"/>
          </a:solidFill>
          <a:ln/>
        </p:spPr>
      </p:sp>
      <p:sp>
        <p:nvSpPr>
          <p:cNvPr id="16" name="Shape 14"/>
          <p:cNvSpPr/>
          <p:nvPr/>
        </p:nvSpPr>
        <p:spPr>
          <a:xfrm>
            <a:off x="6647688" y="2980944"/>
            <a:ext cx="77724" cy="77724"/>
          </a:xfrm>
          <a:prstGeom prst="oval">
            <a:avLst/>
          </a:prstGeom>
          <a:solidFill>
            <a:srgbClr val="27C93F"/>
          </a:solidFill>
          <a:ln/>
        </p:spPr>
      </p:sp>
      <p:sp>
        <p:nvSpPr>
          <p:cNvPr id="17" name="Text 15"/>
          <p:cNvSpPr/>
          <p:nvPr/>
        </p:nvSpPr>
        <p:spPr>
          <a:xfrm>
            <a:off x="6812280" y="2898648"/>
            <a:ext cx="4553712"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Opus 4.6+  (required on 4.7 / 4.8)</a:t>
            </a:r>
            <a:endParaRPr lang="en-US" sz="900" dirty="0"/>
          </a:p>
        </p:txBody>
      </p:sp>
      <p:sp>
        <p:nvSpPr>
          <p:cNvPr id="18" name="Text 16"/>
          <p:cNvSpPr/>
          <p:nvPr/>
        </p:nvSpPr>
        <p:spPr>
          <a:xfrm>
            <a:off x="6464808" y="3145536"/>
            <a:ext cx="4901184" cy="1086307"/>
          </a:xfrm>
          <a:prstGeom prst="rect">
            <a:avLst/>
          </a:prstGeom>
          <a:noFill/>
          <a:ln/>
        </p:spPr>
        <p:txBody>
          <a:bodyPr wrap="square" lIns="0" tIns="0" rIns="0" bIns="0" rtlCol="0" anchor="t"/>
          <a:lstStyle/>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additionalModelRequestFields</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thinking</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type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adaptive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output_config</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effort</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low</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i="1" dirty="0">
                <a:solidFill>
                  <a:srgbClr val="8893A7"/>
                </a:solidFill>
                <a:latin typeface="Consolas" pitchFamily="34" charset="0"/>
                <a:ea typeface="Consolas" pitchFamily="34" charset="-122"/>
                <a:cs typeface="Consolas" pitchFamily="34" charset="-120"/>
              </a:rPr>
              <a:t> # low | medium | high</a:t>
            </a:r>
            <a:endParaRPr lang="en-US" sz="1050" dirty="0"/>
          </a:p>
          <a:p>
            <a:pPr algn="l" indent="0" marL="0">
              <a:lnSpc>
                <a:spcPct val="100000"/>
              </a:lnSpc>
              <a:buNone/>
            </a:pPr>
            <a:r>
              <a:rPr lang="en-US" sz="1050" i="1" dirty="0">
                <a:solidFill>
                  <a:srgbClr val="8893A7"/>
                </a:solidFill>
                <a:latin typeface="Consolas" pitchFamily="34" charset="0"/>
                <a:ea typeface="Consolas" pitchFamily="34" charset="-122"/>
                <a:cs typeface="Consolas" pitchFamily="34" charset="-120"/>
              </a:rPr>
              <a:t># NO budget_tokens, NO temperature/topP/topK</a:t>
            </a:r>
            <a:endParaRPr lang="en-US" sz="1050" dirty="0"/>
          </a:p>
          <a:p>
            <a:pPr algn="l" indent="0" marL="0">
              <a:lnSpc>
                <a:spcPct val="100000"/>
              </a:lnSpc>
              <a:buNone/>
            </a:pPr>
            <a:r>
              <a:rPr lang="en-US" sz="1050" i="1" dirty="0">
                <a:solidFill>
                  <a:srgbClr val="8893A7"/>
                </a:solidFill>
                <a:latin typeface="Consolas" pitchFamily="34" charset="0"/>
                <a:ea typeface="Consolas" pitchFamily="34" charset="-122"/>
                <a:cs typeface="Consolas" pitchFamily="34" charset="-120"/>
              </a:rPr>
              <a:t># use the current Opus profile id (us. prefix)</a:t>
            </a:r>
            <a:endParaRPr lang="en-US" sz="1050" dirty="0"/>
          </a:p>
        </p:txBody>
      </p:sp>
      <p:sp>
        <p:nvSpPr>
          <p:cNvPr id="19" name="Shape 17"/>
          <p:cNvSpPr/>
          <p:nvPr/>
        </p:nvSpPr>
        <p:spPr>
          <a:xfrm>
            <a:off x="566928" y="5074920"/>
            <a:ext cx="10972800" cy="868680"/>
          </a:xfrm>
          <a:prstGeom prst="rect">
            <a:avLst/>
          </a:prstGeom>
          <a:solidFill>
            <a:srgbClr val="FBE5D2"/>
          </a:solidFill>
          <a:ln w="12700">
            <a:solidFill>
              <a:srgbClr val="E2E8F0"/>
            </a:solidFill>
            <a:prstDash val="solid"/>
          </a:ln>
        </p:spPr>
      </p:sp>
      <p:sp>
        <p:nvSpPr>
          <p:cNvPr id="20" name="Shape 18"/>
          <p:cNvSpPr/>
          <p:nvPr/>
        </p:nvSpPr>
        <p:spPr>
          <a:xfrm>
            <a:off x="566928" y="5074920"/>
            <a:ext cx="64008" cy="868680"/>
          </a:xfrm>
          <a:prstGeom prst="rect">
            <a:avLst/>
          </a:prstGeom>
          <a:solidFill>
            <a:srgbClr val="B45309"/>
          </a:solidFill>
          <a:ln/>
        </p:spPr>
      </p:sp>
      <p:sp>
        <p:nvSpPr>
          <p:cNvPr id="21" name="Text 19"/>
          <p:cNvSpPr/>
          <p:nvPr/>
        </p:nvSpPr>
        <p:spPr>
          <a:xfrm>
            <a:off x="822960" y="5212080"/>
            <a:ext cx="10515600" cy="5943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Two takeaways:  </a:t>
            </a:r>
            <a:pPr indent="0" marL="0">
              <a:buNone/>
            </a:pPr>
            <a:r>
              <a:rPr lang="en-US" sz="1400" dirty="0">
                <a:solidFill>
                  <a:srgbClr val="1F2937"/>
                </a:solidFill>
                <a:latin typeface="Calibri" pitchFamily="34" charset="0"/>
                <a:ea typeface="Calibri" pitchFamily="34" charset="-122"/>
                <a:cs typeface="Calibri" pitchFamily="34" charset="-120"/>
              </a:rPr>
              <a:t>(1) on thinking models you control </a:t>
            </a:r>
            <a:pPr indent="0" marL="0">
              <a:buNone/>
            </a:pPr>
            <a:r>
              <a:rPr lang="en-US" sz="1400" b="1" dirty="0">
                <a:solidFill>
                  <a:srgbClr val="B45309"/>
                </a:solidFill>
                <a:latin typeface="Calibri" pitchFamily="34" charset="0"/>
                <a:ea typeface="Calibri" pitchFamily="34" charset="-122"/>
                <a:cs typeface="Calibri" pitchFamily="34" charset="-120"/>
              </a:rPr>
              <a:t>effort</a:t>
            </a:r>
            <a:pPr indent="0" marL="0">
              <a:buNone/>
            </a:pPr>
            <a:r>
              <a:rPr lang="en-US" sz="1400" dirty="0">
                <a:solidFill>
                  <a:srgbClr val="1F2937"/>
                </a:solidFill>
                <a:latin typeface="Calibri" pitchFamily="34" charset="0"/>
                <a:ea typeface="Calibri" pitchFamily="34" charset="-122"/>
                <a:cs typeface="Calibri" pitchFamily="34" charset="-120"/>
              </a:rPr>
              <a:t>, not sampling.  (2) for the capstone's limited-Opus use, plan for adaptive + effort.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11</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INFERENCE · MANAGED AGENT</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Per-phase inference via the prompt override</a:t>
            </a:r>
            <a:endParaRPr lang="en-US" sz="3100" dirty="0"/>
          </a:p>
        </p:txBody>
      </p:sp>
      <p:sp>
        <p:nvSpPr>
          <p:cNvPr id="6" name="Shape 4"/>
          <p:cNvSpPr/>
          <p:nvPr/>
        </p:nvSpPr>
        <p:spPr>
          <a:xfrm>
            <a:off x="566928" y="1508760"/>
            <a:ext cx="6766560" cy="1808683"/>
          </a:xfrm>
          <a:prstGeom prst="roundRect">
            <a:avLst>
              <a:gd name="adj" fmla="val 3033"/>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7" name="Shape 5"/>
          <p:cNvSpPr/>
          <p:nvPr/>
        </p:nvSpPr>
        <p:spPr>
          <a:xfrm>
            <a:off x="731520" y="1655064"/>
            <a:ext cx="77724" cy="77724"/>
          </a:xfrm>
          <a:prstGeom prst="oval">
            <a:avLst/>
          </a:prstGeom>
          <a:solidFill>
            <a:srgbClr val="FF5F56"/>
          </a:solidFill>
          <a:ln/>
        </p:spPr>
      </p:sp>
      <p:sp>
        <p:nvSpPr>
          <p:cNvPr id="8" name="Shape 6"/>
          <p:cNvSpPr/>
          <p:nvPr/>
        </p:nvSpPr>
        <p:spPr>
          <a:xfrm>
            <a:off x="841248" y="1655064"/>
            <a:ext cx="77724" cy="77724"/>
          </a:xfrm>
          <a:prstGeom prst="oval">
            <a:avLst/>
          </a:prstGeom>
          <a:solidFill>
            <a:srgbClr val="FFBD2E"/>
          </a:solidFill>
          <a:ln/>
        </p:spPr>
      </p:sp>
      <p:sp>
        <p:nvSpPr>
          <p:cNvPr id="9" name="Shape 7"/>
          <p:cNvSpPr/>
          <p:nvPr/>
        </p:nvSpPr>
        <p:spPr>
          <a:xfrm>
            <a:off x="950976" y="1655064"/>
            <a:ext cx="77724" cy="77724"/>
          </a:xfrm>
          <a:prstGeom prst="oval">
            <a:avLst/>
          </a:prstGeom>
          <a:solidFill>
            <a:srgbClr val="27C93F"/>
          </a:solidFill>
          <a:ln/>
        </p:spPr>
      </p:sp>
      <p:sp>
        <p:nvSpPr>
          <p:cNvPr id="10" name="Text 8"/>
          <p:cNvSpPr/>
          <p:nvPr/>
        </p:nvSpPr>
        <p:spPr>
          <a:xfrm>
            <a:off x="1115568" y="1572768"/>
            <a:ext cx="603504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one entry in promptConfigurations</a:t>
            </a:r>
            <a:endParaRPr lang="en-US" sz="900" dirty="0"/>
          </a:p>
        </p:txBody>
      </p:sp>
      <p:sp>
        <p:nvSpPr>
          <p:cNvPr id="11" name="Text 9"/>
          <p:cNvSpPr/>
          <p:nvPr/>
        </p:nvSpPr>
        <p:spPr>
          <a:xfrm>
            <a:off x="768096" y="1819656"/>
            <a:ext cx="6382512" cy="1369771"/>
          </a:xfrm>
          <a:prstGeom prst="rect">
            <a:avLst/>
          </a:prstGeom>
          <a:noFill/>
          <a:ln/>
        </p:spPr>
        <p:txBody>
          <a:bodyPr wrap="square" lIns="0" tIns="0" rIns="0" bIns="0" rtlCol="0" anchor="t"/>
          <a:lstStyle/>
          <a:p>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"inferenceConfiguration"</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temperature</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topK</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250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topP</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1</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0</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maximumLength</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0A86A"/>
                </a:solidFill>
                <a:latin typeface="Consolas" pitchFamily="34" charset="0"/>
                <a:ea typeface="Consolas" pitchFamily="34" charset="-122"/>
                <a:cs typeface="Consolas" pitchFamily="34" charset="-120"/>
              </a:rPr>
              <a:t>2048</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i="1" dirty="0">
                <a:solidFill>
                  <a:srgbClr val="8893A7"/>
                </a:solidFill>
                <a:latin typeface="Consolas" pitchFamily="34" charset="0"/>
                <a:ea typeface="Consolas" pitchFamily="34" charset="-122"/>
                <a:cs typeface="Consolas" pitchFamily="34" charset="-120"/>
              </a:rPr>
              <a:t> # NOT maxTokens</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stopSequences</a:t>
            </a:r>
            <a:pPr algn="l" indent="0" marL="0">
              <a:lnSpc>
                <a:spcPct val="100000"/>
              </a:lnSpc>
              <a:buNone/>
            </a:pPr>
            <a:r>
              <a:rPr lang="en-US" sz="12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&lt;/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invoke</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&gt;", "&lt;/</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&gt;"],</a:t>
            </a:r>
            <a:endParaRPr lang="en-US" sz="1200" dirty="0"/>
          </a:p>
          <a:p>
            <a:pPr algn="l" indent="0" marL="0">
              <a:lnSpc>
                <a:spcPct val="100000"/>
              </a:lnSpc>
              <a:buNone/>
            </a:pPr>
            <a:r>
              <a:rPr lang="en-US" sz="1200" dirty="0">
                <a:solidFill>
                  <a:srgbClr val="E5E9F0"/>
                </a:solidFill>
                <a:latin typeface="Consolas" pitchFamily="34" charset="0"/>
                <a:ea typeface="Consolas" pitchFamily="34" charset="-122"/>
                <a:cs typeface="Consolas" pitchFamily="34" charset="-120"/>
              </a:rPr>
              <a:t>}</a:t>
            </a:r>
            <a:endParaRPr lang="en-US" sz="1200" dirty="0"/>
          </a:p>
        </p:txBody>
      </p:sp>
      <p:sp>
        <p:nvSpPr>
          <p:cNvPr id="12" name="Shape 10"/>
          <p:cNvSpPr/>
          <p:nvPr/>
        </p:nvSpPr>
        <p:spPr>
          <a:xfrm>
            <a:off x="7543800" y="1508760"/>
            <a:ext cx="3995928" cy="1691640"/>
          </a:xfrm>
          <a:prstGeom prst="roundRect">
            <a:avLst>
              <a:gd name="adj" fmla="val 3784"/>
            </a:avLst>
          </a:prstGeom>
          <a:solidFill>
            <a:srgbClr val="FBE9E9"/>
          </a:solidFill>
          <a:ln w="12700">
            <a:solidFill>
              <a:srgbClr val="F0C9C9"/>
            </a:solidFill>
            <a:prstDash val="solid"/>
          </a:ln>
        </p:spPr>
      </p:sp>
      <p:sp>
        <p:nvSpPr>
          <p:cNvPr id="13" name="Shape 11"/>
          <p:cNvSpPr/>
          <p:nvPr/>
        </p:nvSpPr>
        <p:spPr>
          <a:xfrm>
            <a:off x="7754112" y="1664208"/>
            <a:ext cx="822960" cy="237744"/>
          </a:xfrm>
          <a:prstGeom prst="roundRect">
            <a:avLst>
              <a:gd name="adj" fmla="val 15385"/>
            </a:avLst>
          </a:prstGeom>
          <a:solidFill>
            <a:srgbClr val="B91C1C"/>
          </a:solidFill>
          <a:ln/>
        </p:spPr>
      </p:sp>
      <p:sp>
        <p:nvSpPr>
          <p:cNvPr id="14" name="Text 12"/>
          <p:cNvSpPr/>
          <p:nvPr/>
        </p:nvSpPr>
        <p:spPr>
          <a:xfrm>
            <a:off x="7754112" y="1664208"/>
            <a:ext cx="822960" cy="23774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API GOTCHA</a:t>
            </a:r>
            <a:endParaRPr lang="en-US" sz="950" dirty="0"/>
          </a:p>
        </p:txBody>
      </p:sp>
      <p:sp>
        <p:nvSpPr>
          <p:cNvPr id="15" name="Text 13"/>
          <p:cNvSpPr/>
          <p:nvPr/>
        </p:nvSpPr>
        <p:spPr>
          <a:xfrm>
            <a:off x="7754112" y="2029968"/>
            <a:ext cx="3611880" cy="1097280"/>
          </a:xfrm>
          <a:prstGeom prst="rect">
            <a:avLst/>
          </a:prstGeom>
          <a:noFill/>
          <a:ln/>
        </p:spPr>
        <p:txBody>
          <a:bodyPr wrap="square" lIns="0" tIns="0" rIns="0" bIns="0" rtlCol="0" anchor="t"/>
          <a:lstStyle/>
          <a:p>
            <a:pPr indent="0" marL="0">
              <a:buNone/>
            </a:pPr>
            <a:r>
              <a:rPr lang="en-US" sz="1250" b="1" dirty="0">
                <a:solidFill>
                  <a:srgbClr val="B91C1C"/>
                </a:solidFill>
                <a:latin typeface="Consolas" pitchFamily="34" charset="0"/>
                <a:ea typeface="Consolas" pitchFamily="34" charset="-122"/>
                <a:cs typeface="Consolas" pitchFamily="34" charset="-120"/>
              </a:rPr>
              <a:t>maximumLength</a:t>
            </a:r>
            <a:pPr indent="0" marL="0">
              <a:buNone/>
            </a:pPr>
            <a:r>
              <a:rPr lang="en-US" sz="1250" dirty="0">
                <a:solidFill>
                  <a:srgbClr val="1F2937"/>
                </a:solidFill>
                <a:latin typeface="Calibri" pitchFamily="34" charset="0"/>
                <a:ea typeface="Calibri" pitchFamily="34" charset="-122"/>
                <a:cs typeface="Calibri" pitchFamily="34" charset="-120"/>
              </a:rPr>
              <a:t> here, not </a:t>
            </a:r>
            <a:pPr indent="0" marL="0">
              <a:buNone/>
            </a:pPr>
            <a:r>
              <a:rPr lang="en-US" sz="1250" b="1" dirty="0">
                <a:solidFill>
                  <a:srgbClr val="1F2937"/>
                </a:solidFill>
                <a:latin typeface="Consolas" pitchFamily="34" charset="0"/>
                <a:ea typeface="Consolas" pitchFamily="34" charset="-122"/>
                <a:cs typeface="Consolas" pitchFamily="34" charset="-120"/>
              </a:rPr>
              <a:t>maxTokens</a:t>
            </a:r>
            <a:pPr indent="0" marL="0">
              <a:buNone/>
            </a:pPr>
            <a:r>
              <a:rPr lang="en-US" sz="1250" dirty="0">
                <a:solidFill>
                  <a:srgbClr val="1F2937"/>
                </a:solidFill>
                <a:latin typeface="Calibri" pitchFamily="34" charset="0"/>
                <a:ea typeface="Calibri" pitchFamily="34" charset="-122"/>
                <a:cs typeface="Calibri" pitchFamily="34" charset="-120"/>
              </a:rPr>
              <a:t>.  topK and topP spelled out.  Small inconsistency — do not fight it.</a:t>
            </a:r>
            <a:endParaRPr lang="en-US" sz="1250" dirty="0"/>
          </a:p>
        </p:txBody>
      </p:sp>
      <p:sp>
        <p:nvSpPr>
          <p:cNvPr id="16" name="Shape 14"/>
          <p:cNvSpPr/>
          <p:nvPr/>
        </p:nvSpPr>
        <p:spPr>
          <a:xfrm>
            <a:off x="7543800" y="3383280"/>
            <a:ext cx="3995928" cy="1517904"/>
          </a:xfrm>
          <a:prstGeom prst="rect">
            <a:avLst/>
          </a:prstGeom>
          <a:solidFill>
            <a:srgbClr val="F8FAFC"/>
          </a:solidFill>
          <a:ln w="12700">
            <a:solidFill>
              <a:srgbClr val="E2E8F0"/>
            </a:solidFill>
            <a:prstDash val="solid"/>
          </a:ln>
        </p:spPr>
      </p:sp>
      <p:sp>
        <p:nvSpPr>
          <p:cNvPr id="17" name="Shape 15"/>
          <p:cNvSpPr/>
          <p:nvPr/>
        </p:nvSpPr>
        <p:spPr>
          <a:xfrm>
            <a:off x="7543800" y="3383280"/>
            <a:ext cx="64008" cy="1517904"/>
          </a:xfrm>
          <a:prstGeom prst="rect">
            <a:avLst/>
          </a:prstGeom>
          <a:solidFill>
            <a:srgbClr val="B45309"/>
          </a:solidFill>
          <a:ln/>
        </p:spPr>
      </p:sp>
      <p:sp>
        <p:nvSpPr>
          <p:cNvPr id="18" name="Text 16"/>
          <p:cNvSpPr/>
          <p:nvPr/>
        </p:nvSpPr>
        <p:spPr>
          <a:xfrm>
            <a:off x="7754112" y="3529584"/>
            <a:ext cx="3611880" cy="365760"/>
          </a:xfrm>
          <a:prstGeom prst="rect">
            <a:avLst/>
          </a:prstGeom>
          <a:noFill/>
          <a:ln/>
        </p:spPr>
        <p:txBody>
          <a:bodyPr wrap="square" lIns="0" tIns="0" rIns="0" bIns="0" rtlCol="0" anchor="ctr"/>
          <a:lstStyle/>
          <a:p>
            <a:pPr indent="0" marL="0">
              <a:buNone/>
            </a:pPr>
            <a:r>
              <a:rPr lang="en-US" sz="1400" b="1" dirty="0">
                <a:solidFill>
                  <a:srgbClr val="1F2937"/>
                </a:solidFill>
                <a:latin typeface="Georgia" pitchFamily="34" charset="0"/>
                <a:ea typeface="Georgia" pitchFamily="34" charset="-122"/>
                <a:cs typeface="Georgia" pitchFamily="34" charset="-120"/>
              </a:rPr>
              <a:t>Set per phase</a:t>
            </a:r>
            <a:endParaRPr lang="en-US" sz="1400" dirty="0"/>
          </a:p>
        </p:txBody>
      </p:sp>
      <p:sp>
        <p:nvSpPr>
          <p:cNvPr id="19" name="Text 17"/>
          <p:cNvSpPr/>
          <p:nvPr/>
        </p:nvSpPr>
        <p:spPr>
          <a:xfrm>
            <a:off x="7754112" y="3895344"/>
            <a:ext cx="361188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This block lives inside one promptConfigurations entry — so orchestration and post-processing can run at different settings.</a:t>
            </a:r>
            <a:endParaRPr lang="en-US" sz="1200" dirty="0"/>
          </a:p>
        </p:txBody>
      </p:sp>
      <p:sp>
        <p:nvSpPr>
          <p:cNvPr id="20" name="Text 18"/>
          <p:cNvSpPr/>
          <p:nvPr/>
        </p:nvSpPr>
        <p:spPr>
          <a:xfrm>
            <a:off x="566928" y="5212080"/>
            <a:ext cx="10972800" cy="731520"/>
          </a:xfrm>
          <a:prstGeom prst="rect">
            <a:avLst/>
          </a:prstGeom>
          <a:noFill/>
          <a:ln/>
        </p:spPr>
        <p:txBody>
          <a:bodyPr wrap="square" lIns="0" tIns="0" rIns="0" bIns="0" rtlCol="0" anchor="t"/>
          <a:lstStyle/>
          <a:p>
            <a:pPr indent="0" marL="0">
              <a:buNone/>
            </a:pPr>
            <a:r>
              <a:rPr lang="en-US" sz="1250" i="1" dirty="0">
                <a:solidFill>
                  <a:srgbClr val="1F2937"/>
                </a:solidFill>
                <a:latin typeface="Calibri" pitchFamily="34" charset="0"/>
                <a:ea typeface="Calibri" pitchFamily="34" charset="-122"/>
                <a:cs typeface="Calibri" pitchFamily="34" charset="-120"/>
              </a:rPr>
              <a:t>When reasoning is enabled for orchestration, the agent's defaults become temperature 0 with topK / topP unset — which is why the numbers in yesterday's trace looked the way they did.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12</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Define the enemy in TravelMind's terms</a:t>
            </a:r>
            <a:endParaRPr lang="en-US" sz="3100" dirty="0"/>
          </a:p>
        </p:txBody>
      </p:sp>
      <p:sp>
        <p:nvSpPr>
          <p:cNvPr id="6" name="Shape 4"/>
          <p:cNvSpPr/>
          <p:nvPr/>
        </p:nvSpPr>
        <p:spPr>
          <a:xfrm>
            <a:off x="566928" y="1508760"/>
            <a:ext cx="6903720" cy="1280160"/>
          </a:xfrm>
          <a:prstGeom prst="roundRect">
            <a:avLst>
              <a:gd name="adj" fmla="val 5000"/>
            </a:avLst>
          </a:prstGeom>
          <a:solidFill>
            <a:srgbClr val="111C32"/>
          </a:solidFill>
          <a:ln w="12700">
            <a:solidFill>
              <a:srgbClr val="24324C"/>
            </a:solidFill>
            <a:prstDash val="solid"/>
          </a:ln>
          <a:effectLst>
            <a:outerShdw sx="100000" sy="100000" kx="0" ky="0" algn="bl" rotWithShape="0" blurRad="76200" dist="25400" dir="8100000">
              <a:srgbClr val="000000">
                <a:alpha val="10000"/>
              </a:srgbClr>
            </a:outerShdw>
          </a:effectLst>
        </p:spPr>
      </p:sp>
      <p:sp>
        <p:nvSpPr>
          <p:cNvPr id="7" name="Text 5"/>
          <p:cNvSpPr/>
          <p:nvPr/>
        </p:nvSpPr>
        <p:spPr>
          <a:xfrm>
            <a:off x="822960" y="1664208"/>
            <a:ext cx="6400800" cy="365760"/>
          </a:xfrm>
          <a:prstGeom prst="rect">
            <a:avLst/>
          </a:prstGeom>
          <a:noFill/>
          <a:ln/>
        </p:spPr>
        <p:txBody>
          <a:bodyPr wrap="square" lIns="0" tIns="0" rIns="0" bIns="0" rtlCol="0" anchor="ctr"/>
          <a:lstStyle/>
          <a:p>
            <a:pPr indent="0" marL="0">
              <a:buNone/>
            </a:pPr>
            <a:r>
              <a:rPr lang="en-US" sz="1300" dirty="0">
                <a:solidFill>
                  <a:srgbClr val="9AA3B2"/>
                </a:solidFill>
                <a:latin typeface="Calibri" pitchFamily="34" charset="0"/>
                <a:ea typeface="Calibri" pitchFamily="34" charset="-122"/>
                <a:cs typeface="Calibri" pitchFamily="34" charset="-120"/>
              </a:rPr>
              <a:t>A hallucination =</a:t>
            </a:r>
            <a:endParaRPr lang="en-US" sz="1300" dirty="0"/>
          </a:p>
        </p:txBody>
      </p:sp>
      <p:sp>
        <p:nvSpPr>
          <p:cNvPr id="8" name="Text 6"/>
          <p:cNvSpPr/>
          <p:nvPr/>
        </p:nvSpPr>
        <p:spPr>
          <a:xfrm>
            <a:off x="822960" y="2029968"/>
            <a:ext cx="6400800" cy="640080"/>
          </a:xfrm>
          <a:prstGeom prst="rect">
            <a:avLst/>
          </a:prstGeom>
          <a:noFill/>
          <a:ln/>
        </p:spPr>
        <p:txBody>
          <a:bodyPr wrap="square" lIns="0" tIns="0" rIns="0" bIns="0" rtlCol="0" anchor="t"/>
          <a:lstStyle/>
          <a:p>
            <a:pPr indent="0" marL="0">
              <a:buNone/>
            </a:pPr>
            <a:r>
              <a:rPr lang="en-US" sz="2100" b="1" dirty="0">
                <a:solidFill>
                  <a:srgbClr val="FFFFFF"/>
                </a:solidFill>
                <a:latin typeface="Georgia" pitchFamily="34" charset="0"/>
                <a:ea typeface="Georgia" pitchFamily="34" charset="-122"/>
                <a:cs typeface="Georgia" pitchFamily="34" charset="-120"/>
              </a:rPr>
              <a:t>an answer not grounded in the tool outputs</a:t>
            </a:r>
            <a:endParaRPr lang="en-US" sz="2100" dirty="0"/>
          </a:p>
        </p:txBody>
      </p:sp>
      <p:sp>
        <p:nvSpPr>
          <p:cNvPr id="9" name="Text 7"/>
          <p:cNvSpPr/>
          <p:nvPr/>
        </p:nvSpPr>
        <p:spPr>
          <a:xfrm>
            <a:off x="566928" y="3063240"/>
            <a:ext cx="6903720" cy="219456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TravelMind's prompt already says: “Never invent a PNR, flight, or time.”</a:t>
            </a:r>
            <a:endParaRPr lang="en-US" sz="1400" dirty="0"/>
          </a:p>
          <a:p>
            <a:pPr marL="177800" indent="-177800">
              <a:spcAft>
                <a:spcPts val="1200"/>
              </a:spcAft>
              <a:buSzPct val="100000"/>
              <a:buChar char="•"/>
            </a:pPr>
            <a:r>
              <a:rPr lang="en-US" sz="1400" dirty="0">
                <a:solidFill>
                  <a:srgbClr val="6B7280"/>
                </a:solidFill>
                <a:latin typeface="Calibri" pitchFamily="34" charset="0"/>
                <a:ea typeface="Calibri" pitchFamily="34" charset="-122"/>
                <a:cs typeface="Calibri" pitchFamily="34" charset="-120"/>
              </a:rPr>
              <a:t>Concretely: stating a flight number no tool returned</a:t>
            </a:r>
            <a:endParaRPr lang="en-US" sz="1400" dirty="0"/>
          </a:p>
          <a:p>
            <a:pPr marL="177800" indent="-177800">
              <a:spcAft>
                <a:spcPts val="1200"/>
              </a:spcAft>
              <a:buSzPct val="100000"/>
              <a:buChar char="•"/>
            </a:pPr>
            <a:r>
              <a:rPr lang="en-US" sz="1400" b="1" dirty="0">
                <a:solidFill>
                  <a:srgbClr val="B91C1C"/>
                </a:solidFill>
                <a:latin typeface="Calibri" pitchFamily="34" charset="0"/>
                <a:ea typeface="Calibri" pitchFamily="34" charset="-122"/>
                <a:cs typeface="Calibri" pitchFamily="34" charset="-120"/>
              </a:rPr>
              <a:t>One prompt line is necessary — but it is a hope, not a control</a:t>
            </a:r>
            <a:endParaRPr lang="en-US" sz="1400" dirty="0"/>
          </a:p>
        </p:txBody>
      </p:sp>
      <p:sp>
        <p:nvSpPr>
          <p:cNvPr id="10" name="Shape 8"/>
          <p:cNvSpPr/>
          <p:nvPr/>
        </p:nvSpPr>
        <p:spPr>
          <a:xfrm>
            <a:off x="7680960" y="1508760"/>
            <a:ext cx="3858768" cy="3657600"/>
          </a:xfrm>
          <a:prstGeom prst="roundRect">
            <a:avLst>
              <a:gd name="adj" fmla="val 1750"/>
            </a:avLst>
          </a:prstGeom>
          <a:solidFill>
            <a:srgbClr val="FBE5D2"/>
          </a:solidFill>
          <a:ln w="12700">
            <a:solidFill>
              <a:srgbClr val="E7C9A6"/>
            </a:solidFill>
            <a:prstDash val="solid"/>
          </a:ln>
          <a:effectLst>
            <a:outerShdw sx="100000" sy="100000" kx="0" ky="0" algn="bl" rotWithShape="0" blurRad="76200" dist="25400" dir="8100000">
              <a:srgbClr val="000000">
                <a:alpha val="10000"/>
              </a:srgbClr>
            </a:outerShdw>
          </a:effectLst>
        </p:spPr>
      </p:sp>
      <p:sp>
        <p:nvSpPr>
          <p:cNvPr id="11" name="Text 9"/>
          <p:cNvSpPr/>
          <p:nvPr/>
        </p:nvSpPr>
        <p:spPr>
          <a:xfrm>
            <a:off x="7909560" y="1691640"/>
            <a:ext cx="3429000" cy="411480"/>
          </a:xfrm>
          <a:prstGeom prst="rect">
            <a:avLst/>
          </a:prstGeom>
          <a:noFill/>
          <a:ln/>
        </p:spPr>
        <p:txBody>
          <a:bodyPr wrap="square" lIns="0" tIns="0" rIns="0" bIns="0" rtlCol="0" anchor="ctr"/>
          <a:lstStyle/>
          <a:p>
            <a:pPr indent="0" marL="0">
              <a:buNone/>
            </a:pPr>
            <a:r>
              <a:rPr lang="en-US" sz="1600" b="1" dirty="0">
                <a:solidFill>
                  <a:srgbClr val="B45309"/>
                </a:solidFill>
                <a:latin typeface="Georgia" pitchFamily="34" charset="0"/>
                <a:ea typeface="Georgia" pitchFamily="34" charset="-122"/>
                <a:cs typeface="Georgia" pitchFamily="34" charset="-120"/>
              </a:rPr>
              <a:t>Why one line is not enough</a:t>
            </a:r>
            <a:endParaRPr lang="en-US" sz="1600" dirty="0"/>
          </a:p>
        </p:txBody>
      </p:sp>
      <p:sp>
        <p:nvSpPr>
          <p:cNvPr id="12" name="Text 10"/>
          <p:cNvSpPr/>
          <p:nvPr/>
        </p:nvSpPr>
        <p:spPr>
          <a:xfrm>
            <a:off x="7955280" y="2240280"/>
            <a:ext cx="3383280" cy="1554480"/>
          </a:xfrm>
          <a:prstGeom prst="rect">
            <a:avLst/>
          </a:prstGeom>
          <a:noFill/>
          <a:ln/>
        </p:spPr>
        <p:txBody>
          <a:bodyPr wrap="square" lIns="0" tIns="0" rIns="0" bIns="0" rtlCol="0" anchor="t"/>
          <a:lstStyle/>
          <a:p>
            <a:pPr marL="177800" indent="-177800">
              <a:spcAft>
                <a:spcPts val="1100"/>
              </a:spcAft>
              <a:buSzPct val="100000"/>
              <a:buChar char="•"/>
            </a:pPr>
            <a:r>
              <a:rPr lang="en-US" sz="1300" dirty="0">
                <a:solidFill>
                  <a:srgbClr val="1F2937"/>
                </a:solidFill>
                <a:latin typeface="Calibri" pitchFamily="34" charset="0"/>
                <a:ea typeface="Calibri" pitchFamily="34" charset="-122"/>
                <a:cs typeface="Calibri" pitchFamily="34" charset="-120"/>
              </a:rPr>
              <a:t>Models drift over a long chat</a:t>
            </a:r>
            <a:endParaRPr lang="en-US" sz="1300" dirty="0"/>
          </a:p>
          <a:p>
            <a:pPr marL="177800" indent="-177800">
              <a:spcAft>
                <a:spcPts val="1100"/>
              </a:spcAft>
              <a:buSzPct val="100000"/>
              <a:buChar char="•"/>
            </a:pPr>
            <a:r>
              <a:rPr lang="en-US" sz="1300" dirty="0">
                <a:solidFill>
                  <a:srgbClr val="1F2937"/>
                </a:solidFill>
                <a:latin typeface="Calibri" pitchFamily="34" charset="0"/>
                <a:ea typeface="Calibri" pitchFamily="34" charset="-122"/>
                <a:cs typeface="Calibri" pitchFamily="34" charset="-120"/>
              </a:rPr>
              <a:t>Users jailbreak the instruction</a:t>
            </a:r>
            <a:endParaRPr lang="en-US" sz="1300" dirty="0"/>
          </a:p>
          <a:p>
            <a:pPr marL="177800" indent="-177800">
              <a:spcAft>
                <a:spcPts val="1100"/>
              </a:spcAft>
              <a:buSzPct val="100000"/>
              <a:buChar char="•"/>
            </a:pPr>
            <a:r>
              <a:rPr lang="en-US" sz="1300" dirty="0">
                <a:solidFill>
                  <a:srgbClr val="1F2937"/>
                </a:solidFill>
                <a:latin typeface="Calibri" pitchFamily="34" charset="0"/>
                <a:ea typeface="Calibri" pitchFamily="34" charset="-122"/>
                <a:cs typeface="Calibri" pitchFamily="34" charset="-120"/>
              </a:rPr>
              <a:t>No measurement, no audit trail</a:t>
            </a:r>
            <a:endParaRPr lang="en-US" sz="1300" dirty="0"/>
          </a:p>
        </p:txBody>
      </p:sp>
      <p:sp>
        <p:nvSpPr>
          <p:cNvPr id="13" name="Text 11"/>
          <p:cNvSpPr/>
          <p:nvPr/>
        </p:nvSpPr>
        <p:spPr>
          <a:xfrm>
            <a:off x="7909560" y="4160520"/>
            <a:ext cx="3429000" cy="868680"/>
          </a:xfrm>
          <a:prstGeom prst="rect">
            <a:avLst/>
          </a:prstGeom>
          <a:noFill/>
          <a:ln/>
        </p:spPr>
        <p:txBody>
          <a:bodyPr wrap="square" lIns="0" tIns="0" rIns="0" bIns="0" rtlCol="0" anchor="t"/>
          <a:lstStyle/>
          <a:p>
            <a:pPr indent="0" marL="0">
              <a:buNone/>
            </a:pPr>
            <a:r>
              <a:rPr lang="en-US" sz="1400" b="1" i="1" dirty="0">
                <a:solidFill>
                  <a:srgbClr val="B45309"/>
                </a:solidFill>
                <a:latin typeface="Georgia" pitchFamily="34" charset="0"/>
                <a:ea typeface="Georgia" pitchFamily="34" charset="-122"/>
                <a:cs typeface="Georgia" pitchFamily="34" charset="-120"/>
              </a:rPr>
              <a:t>So: defense in depth. Five layers, cheap to expensive.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13</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Defense in depth — the map</a:t>
            </a:r>
            <a:endParaRPr lang="en-US" sz="3100" dirty="0"/>
          </a:p>
        </p:txBody>
      </p:sp>
      <p:sp>
        <p:nvSpPr>
          <p:cNvPr id="6" name="Shape 4"/>
          <p:cNvSpPr/>
          <p:nvPr/>
        </p:nvSpPr>
        <p:spPr>
          <a:xfrm>
            <a:off x="566928" y="1618488"/>
            <a:ext cx="457200" cy="457200"/>
          </a:xfrm>
          <a:prstGeom prst="oval">
            <a:avLst/>
          </a:prstGeom>
          <a:solidFill>
            <a:srgbClr val="B45309"/>
          </a:solidFill>
          <a:ln/>
        </p:spPr>
      </p:sp>
      <p:sp>
        <p:nvSpPr>
          <p:cNvPr id="7" name="Text 5"/>
          <p:cNvSpPr/>
          <p:nvPr/>
        </p:nvSpPr>
        <p:spPr>
          <a:xfrm>
            <a:off x="566928" y="161848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8" name="Shape 6"/>
          <p:cNvSpPr/>
          <p:nvPr/>
        </p:nvSpPr>
        <p:spPr>
          <a:xfrm>
            <a:off x="1207008" y="1508760"/>
            <a:ext cx="8503920" cy="676656"/>
          </a:xfrm>
          <a:prstGeom prst="rect">
            <a:avLst/>
          </a:prstGeom>
          <a:solidFill>
            <a:srgbClr val="F8FAFC"/>
          </a:solidFill>
          <a:ln w="12700">
            <a:solidFill>
              <a:srgbClr val="E2E8F0"/>
            </a:solidFill>
            <a:prstDash val="solid"/>
          </a:ln>
        </p:spPr>
      </p:sp>
      <p:sp>
        <p:nvSpPr>
          <p:cNvPr id="9" name="Shape 7"/>
          <p:cNvSpPr/>
          <p:nvPr/>
        </p:nvSpPr>
        <p:spPr>
          <a:xfrm>
            <a:off x="1207008" y="1508760"/>
            <a:ext cx="64008" cy="676656"/>
          </a:xfrm>
          <a:prstGeom prst="rect">
            <a:avLst/>
          </a:prstGeom>
          <a:solidFill>
            <a:srgbClr val="B45309"/>
          </a:solidFill>
          <a:ln/>
        </p:spPr>
      </p:sp>
      <p:sp>
        <p:nvSpPr>
          <p:cNvPr id="10" name="Text 8"/>
          <p:cNvSpPr/>
          <p:nvPr/>
        </p:nvSpPr>
        <p:spPr>
          <a:xfrm>
            <a:off x="1417320" y="1545336"/>
            <a:ext cx="2194560" cy="603504"/>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Prompt</a:t>
            </a:r>
            <a:endParaRPr lang="en-US" sz="1600" dirty="0"/>
          </a:p>
        </p:txBody>
      </p:sp>
      <p:sp>
        <p:nvSpPr>
          <p:cNvPr id="11" name="Text 9"/>
          <p:cNvSpPr/>
          <p:nvPr/>
        </p:nvSpPr>
        <p:spPr>
          <a:xfrm>
            <a:off x="3611880" y="1545336"/>
            <a:ext cx="5989320" cy="603504"/>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use only tool facts, refuse otherwise</a:t>
            </a:r>
            <a:endParaRPr lang="en-US" sz="1250" dirty="0"/>
          </a:p>
        </p:txBody>
      </p:sp>
      <p:sp>
        <p:nvSpPr>
          <p:cNvPr id="12" name="Shape 10"/>
          <p:cNvSpPr/>
          <p:nvPr/>
        </p:nvSpPr>
        <p:spPr>
          <a:xfrm>
            <a:off x="9921240" y="1728216"/>
            <a:ext cx="1417320" cy="237744"/>
          </a:xfrm>
          <a:prstGeom prst="roundRect">
            <a:avLst>
              <a:gd name="adj" fmla="val 15385"/>
            </a:avLst>
          </a:prstGeom>
          <a:solidFill>
            <a:srgbClr val="15803D"/>
          </a:solidFill>
          <a:ln/>
        </p:spPr>
      </p:sp>
      <p:sp>
        <p:nvSpPr>
          <p:cNvPr id="13" name="Text 11"/>
          <p:cNvSpPr/>
          <p:nvPr/>
        </p:nvSpPr>
        <p:spPr>
          <a:xfrm>
            <a:off x="9921240" y="1728216"/>
            <a:ext cx="1417320" cy="237744"/>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free</a:t>
            </a:r>
            <a:endParaRPr lang="en-US" sz="1000" dirty="0"/>
          </a:p>
        </p:txBody>
      </p:sp>
      <p:sp>
        <p:nvSpPr>
          <p:cNvPr id="14" name="Shape 12"/>
          <p:cNvSpPr/>
          <p:nvPr/>
        </p:nvSpPr>
        <p:spPr>
          <a:xfrm>
            <a:off x="566928" y="2468880"/>
            <a:ext cx="457200" cy="457200"/>
          </a:xfrm>
          <a:prstGeom prst="oval">
            <a:avLst/>
          </a:prstGeom>
          <a:solidFill>
            <a:srgbClr val="B45309"/>
          </a:solidFill>
          <a:ln/>
        </p:spPr>
      </p:sp>
      <p:sp>
        <p:nvSpPr>
          <p:cNvPr id="15" name="Text 13"/>
          <p:cNvSpPr/>
          <p:nvPr/>
        </p:nvSpPr>
        <p:spPr>
          <a:xfrm>
            <a:off x="566928" y="246888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6" name="Shape 14"/>
          <p:cNvSpPr/>
          <p:nvPr/>
        </p:nvSpPr>
        <p:spPr>
          <a:xfrm>
            <a:off x="1207008" y="2359152"/>
            <a:ext cx="8503920" cy="676656"/>
          </a:xfrm>
          <a:prstGeom prst="rect">
            <a:avLst/>
          </a:prstGeom>
          <a:solidFill>
            <a:srgbClr val="F8FAFC"/>
          </a:solidFill>
          <a:ln w="12700">
            <a:solidFill>
              <a:srgbClr val="E2E8F0"/>
            </a:solidFill>
            <a:prstDash val="solid"/>
          </a:ln>
        </p:spPr>
      </p:sp>
      <p:sp>
        <p:nvSpPr>
          <p:cNvPr id="17" name="Shape 15"/>
          <p:cNvSpPr/>
          <p:nvPr/>
        </p:nvSpPr>
        <p:spPr>
          <a:xfrm>
            <a:off x="1207008" y="2359152"/>
            <a:ext cx="64008" cy="676656"/>
          </a:xfrm>
          <a:prstGeom prst="rect">
            <a:avLst/>
          </a:prstGeom>
          <a:solidFill>
            <a:srgbClr val="B45309"/>
          </a:solidFill>
          <a:ln/>
        </p:spPr>
      </p:sp>
      <p:sp>
        <p:nvSpPr>
          <p:cNvPr id="18" name="Text 16"/>
          <p:cNvSpPr/>
          <p:nvPr/>
        </p:nvSpPr>
        <p:spPr>
          <a:xfrm>
            <a:off x="1417320" y="2395728"/>
            <a:ext cx="2194560" cy="603504"/>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Ground</a:t>
            </a:r>
            <a:endParaRPr lang="en-US" sz="1600" dirty="0"/>
          </a:p>
        </p:txBody>
      </p:sp>
      <p:sp>
        <p:nvSpPr>
          <p:cNvPr id="19" name="Text 17"/>
          <p:cNvSpPr/>
          <p:nvPr/>
        </p:nvSpPr>
        <p:spPr>
          <a:xfrm>
            <a:off x="3611880" y="2395728"/>
            <a:ext cx="5989320" cy="603504"/>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tool outputs are the only source the model sees</a:t>
            </a:r>
            <a:endParaRPr lang="en-US" sz="1250" dirty="0"/>
          </a:p>
        </p:txBody>
      </p:sp>
      <p:sp>
        <p:nvSpPr>
          <p:cNvPr id="20" name="Shape 18"/>
          <p:cNvSpPr/>
          <p:nvPr/>
        </p:nvSpPr>
        <p:spPr>
          <a:xfrm>
            <a:off x="9921240" y="2578608"/>
            <a:ext cx="1417320" cy="237744"/>
          </a:xfrm>
          <a:prstGeom prst="roundRect">
            <a:avLst>
              <a:gd name="adj" fmla="val 15385"/>
            </a:avLst>
          </a:prstGeom>
          <a:solidFill>
            <a:srgbClr val="15803D"/>
          </a:solidFill>
          <a:ln/>
        </p:spPr>
      </p:sp>
      <p:sp>
        <p:nvSpPr>
          <p:cNvPr id="21" name="Text 19"/>
          <p:cNvSpPr/>
          <p:nvPr/>
        </p:nvSpPr>
        <p:spPr>
          <a:xfrm>
            <a:off x="9921240" y="2578608"/>
            <a:ext cx="1417320" cy="237744"/>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free</a:t>
            </a:r>
            <a:endParaRPr lang="en-US" sz="1000" dirty="0"/>
          </a:p>
        </p:txBody>
      </p:sp>
      <p:sp>
        <p:nvSpPr>
          <p:cNvPr id="22" name="Shape 20"/>
          <p:cNvSpPr/>
          <p:nvPr/>
        </p:nvSpPr>
        <p:spPr>
          <a:xfrm>
            <a:off x="566928" y="3319272"/>
            <a:ext cx="457200" cy="457200"/>
          </a:xfrm>
          <a:prstGeom prst="oval">
            <a:avLst/>
          </a:prstGeom>
          <a:solidFill>
            <a:srgbClr val="B45309"/>
          </a:solidFill>
          <a:ln/>
        </p:spPr>
      </p:sp>
      <p:sp>
        <p:nvSpPr>
          <p:cNvPr id="23" name="Text 21"/>
          <p:cNvSpPr/>
          <p:nvPr/>
        </p:nvSpPr>
        <p:spPr>
          <a:xfrm>
            <a:off x="566928" y="33192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24" name="Shape 22"/>
          <p:cNvSpPr/>
          <p:nvPr/>
        </p:nvSpPr>
        <p:spPr>
          <a:xfrm>
            <a:off x="1207008" y="3209544"/>
            <a:ext cx="8503920" cy="676656"/>
          </a:xfrm>
          <a:prstGeom prst="rect">
            <a:avLst/>
          </a:prstGeom>
          <a:solidFill>
            <a:srgbClr val="F8FAFC"/>
          </a:solidFill>
          <a:ln w="12700">
            <a:solidFill>
              <a:srgbClr val="E2E8F0"/>
            </a:solidFill>
            <a:prstDash val="solid"/>
          </a:ln>
        </p:spPr>
      </p:sp>
      <p:sp>
        <p:nvSpPr>
          <p:cNvPr id="25" name="Shape 23"/>
          <p:cNvSpPr/>
          <p:nvPr/>
        </p:nvSpPr>
        <p:spPr>
          <a:xfrm>
            <a:off x="1207008" y="3209544"/>
            <a:ext cx="64008" cy="676656"/>
          </a:xfrm>
          <a:prstGeom prst="rect">
            <a:avLst/>
          </a:prstGeom>
          <a:solidFill>
            <a:srgbClr val="B45309"/>
          </a:solidFill>
          <a:ln/>
        </p:spPr>
      </p:sp>
      <p:sp>
        <p:nvSpPr>
          <p:cNvPr id="26" name="Text 24"/>
          <p:cNvSpPr/>
          <p:nvPr/>
        </p:nvSpPr>
        <p:spPr>
          <a:xfrm>
            <a:off x="1417320" y="3246120"/>
            <a:ext cx="2194560" cy="603504"/>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Guardrail</a:t>
            </a:r>
            <a:endParaRPr lang="en-US" sz="1600" dirty="0"/>
          </a:p>
        </p:txBody>
      </p:sp>
      <p:sp>
        <p:nvSpPr>
          <p:cNvPr id="27" name="Text 25"/>
          <p:cNvSpPr/>
          <p:nvPr/>
        </p:nvSpPr>
        <p:spPr>
          <a:xfrm>
            <a:off x="3611880" y="3246120"/>
            <a:ext cx="5989320" cy="603504"/>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contextual grounding check — BLOCK low-grounding answers</a:t>
            </a:r>
            <a:endParaRPr lang="en-US" sz="1250" dirty="0"/>
          </a:p>
        </p:txBody>
      </p:sp>
      <p:sp>
        <p:nvSpPr>
          <p:cNvPr id="28" name="Shape 26"/>
          <p:cNvSpPr/>
          <p:nvPr/>
        </p:nvSpPr>
        <p:spPr>
          <a:xfrm>
            <a:off x="9921240" y="3429000"/>
            <a:ext cx="1417320" cy="237744"/>
          </a:xfrm>
          <a:prstGeom prst="roundRect">
            <a:avLst>
              <a:gd name="adj" fmla="val 15385"/>
            </a:avLst>
          </a:prstGeom>
          <a:solidFill>
            <a:srgbClr val="B45309"/>
          </a:solidFill>
          <a:ln/>
        </p:spPr>
      </p:sp>
      <p:sp>
        <p:nvSpPr>
          <p:cNvPr id="29" name="Text 27"/>
          <p:cNvSpPr/>
          <p:nvPr/>
        </p:nvSpPr>
        <p:spPr>
          <a:xfrm>
            <a:off x="9921240" y="3429000"/>
            <a:ext cx="1417320" cy="237744"/>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native</a:t>
            </a:r>
            <a:endParaRPr lang="en-US" sz="1000" dirty="0"/>
          </a:p>
        </p:txBody>
      </p:sp>
      <p:sp>
        <p:nvSpPr>
          <p:cNvPr id="30" name="Shape 28"/>
          <p:cNvSpPr/>
          <p:nvPr/>
        </p:nvSpPr>
        <p:spPr>
          <a:xfrm>
            <a:off x="566928" y="4169664"/>
            <a:ext cx="457200" cy="457200"/>
          </a:xfrm>
          <a:prstGeom prst="oval">
            <a:avLst/>
          </a:prstGeom>
          <a:solidFill>
            <a:srgbClr val="B91C1C"/>
          </a:solidFill>
          <a:ln/>
        </p:spPr>
      </p:sp>
      <p:sp>
        <p:nvSpPr>
          <p:cNvPr id="31" name="Text 29"/>
          <p:cNvSpPr/>
          <p:nvPr/>
        </p:nvSpPr>
        <p:spPr>
          <a:xfrm>
            <a:off x="566928" y="416966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32" name="Shape 30"/>
          <p:cNvSpPr/>
          <p:nvPr/>
        </p:nvSpPr>
        <p:spPr>
          <a:xfrm>
            <a:off x="1207008" y="4059936"/>
            <a:ext cx="8503920" cy="676656"/>
          </a:xfrm>
          <a:prstGeom prst="rect">
            <a:avLst/>
          </a:prstGeom>
          <a:solidFill>
            <a:srgbClr val="F8FAFC"/>
          </a:solidFill>
          <a:ln w="12700">
            <a:solidFill>
              <a:srgbClr val="E2E8F0"/>
            </a:solidFill>
            <a:prstDash val="solid"/>
          </a:ln>
        </p:spPr>
      </p:sp>
      <p:sp>
        <p:nvSpPr>
          <p:cNvPr id="33" name="Shape 31"/>
          <p:cNvSpPr/>
          <p:nvPr/>
        </p:nvSpPr>
        <p:spPr>
          <a:xfrm>
            <a:off x="1207008" y="4059936"/>
            <a:ext cx="64008" cy="676656"/>
          </a:xfrm>
          <a:prstGeom prst="rect">
            <a:avLst/>
          </a:prstGeom>
          <a:solidFill>
            <a:srgbClr val="B91C1C"/>
          </a:solidFill>
          <a:ln/>
        </p:spPr>
      </p:sp>
      <p:sp>
        <p:nvSpPr>
          <p:cNvPr id="34" name="Text 32"/>
          <p:cNvSpPr/>
          <p:nvPr/>
        </p:nvSpPr>
        <p:spPr>
          <a:xfrm>
            <a:off x="1417320" y="4096512"/>
            <a:ext cx="2194560" cy="603504"/>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Custom parser</a:t>
            </a:r>
            <a:endParaRPr lang="en-US" sz="1600" dirty="0"/>
          </a:p>
        </p:txBody>
      </p:sp>
      <p:sp>
        <p:nvSpPr>
          <p:cNvPr id="35" name="Text 33"/>
          <p:cNvSpPr/>
          <p:nvPr/>
        </p:nvSpPr>
        <p:spPr>
          <a:xfrm>
            <a:off x="3611880" y="4096512"/>
            <a:ext cx="5989320" cy="603504"/>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override Lambda — force a reprompt / early exit</a:t>
            </a:r>
            <a:endParaRPr lang="en-US" sz="1250" dirty="0"/>
          </a:p>
        </p:txBody>
      </p:sp>
      <p:sp>
        <p:nvSpPr>
          <p:cNvPr id="36" name="Shape 34"/>
          <p:cNvSpPr/>
          <p:nvPr/>
        </p:nvSpPr>
        <p:spPr>
          <a:xfrm>
            <a:off x="9921240" y="4279392"/>
            <a:ext cx="1417320" cy="237744"/>
          </a:xfrm>
          <a:prstGeom prst="roundRect">
            <a:avLst>
              <a:gd name="adj" fmla="val 15385"/>
            </a:avLst>
          </a:prstGeom>
          <a:solidFill>
            <a:srgbClr val="B91C1C"/>
          </a:solidFill>
          <a:ln/>
        </p:spPr>
      </p:sp>
      <p:sp>
        <p:nvSpPr>
          <p:cNvPr id="37" name="Text 35"/>
          <p:cNvSpPr/>
          <p:nvPr/>
        </p:nvSpPr>
        <p:spPr>
          <a:xfrm>
            <a:off x="9921240" y="4279392"/>
            <a:ext cx="1417320" cy="237744"/>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advanced</a:t>
            </a:r>
            <a:endParaRPr lang="en-US" sz="1000" dirty="0"/>
          </a:p>
        </p:txBody>
      </p:sp>
      <p:sp>
        <p:nvSpPr>
          <p:cNvPr id="38" name="Shape 36"/>
          <p:cNvSpPr/>
          <p:nvPr/>
        </p:nvSpPr>
        <p:spPr>
          <a:xfrm>
            <a:off x="566928" y="5020056"/>
            <a:ext cx="457200" cy="457200"/>
          </a:xfrm>
          <a:prstGeom prst="oval">
            <a:avLst/>
          </a:prstGeom>
          <a:solidFill>
            <a:srgbClr val="B91C1C"/>
          </a:solidFill>
          <a:ln/>
        </p:spPr>
      </p:sp>
      <p:sp>
        <p:nvSpPr>
          <p:cNvPr id="39" name="Text 37"/>
          <p:cNvSpPr/>
          <p:nvPr/>
        </p:nvSpPr>
        <p:spPr>
          <a:xfrm>
            <a:off x="566928" y="502005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5</a:t>
            </a:r>
            <a:endParaRPr lang="en-US" sz="1700" dirty="0"/>
          </a:p>
        </p:txBody>
      </p:sp>
      <p:sp>
        <p:nvSpPr>
          <p:cNvPr id="40" name="Shape 38"/>
          <p:cNvSpPr/>
          <p:nvPr/>
        </p:nvSpPr>
        <p:spPr>
          <a:xfrm>
            <a:off x="1207008" y="4910328"/>
            <a:ext cx="8503920" cy="676656"/>
          </a:xfrm>
          <a:prstGeom prst="rect">
            <a:avLst/>
          </a:prstGeom>
          <a:solidFill>
            <a:srgbClr val="F8FAFC"/>
          </a:solidFill>
          <a:ln w="12700">
            <a:solidFill>
              <a:srgbClr val="E2E8F0"/>
            </a:solidFill>
            <a:prstDash val="solid"/>
          </a:ln>
        </p:spPr>
      </p:sp>
      <p:sp>
        <p:nvSpPr>
          <p:cNvPr id="41" name="Shape 39"/>
          <p:cNvSpPr/>
          <p:nvPr/>
        </p:nvSpPr>
        <p:spPr>
          <a:xfrm>
            <a:off x="1207008" y="4910328"/>
            <a:ext cx="64008" cy="676656"/>
          </a:xfrm>
          <a:prstGeom prst="rect">
            <a:avLst/>
          </a:prstGeom>
          <a:solidFill>
            <a:srgbClr val="B91C1C"/>
          </a:solidFill>
          <a:ln/>
        </p:spPr>
      </p:sp>
      <p:sp>
        <p:nvSpPr>
          <p:cNvPr id="42" name="Text 40"/>
          <p:cNvSpPr/>
          <p:nvPr/>
        </p:nvSpPr>
        <p:spPr>
          <a:xfrm>
            <a:off x="1417320" y="4946904"/>
            <a:ext cx="2194560" cy="603504"/>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Verifier agent</a:t>
            </a:r>
            <a:endParaRPr lang="en-US" sz="1600" dirty="0"/>
          </a:p>
        </p:txBody>
      </p:sp>
      <p:sp>
        <p:nvSpPr>
          <p:cNvPr id="43" name="Text 41"/>
          <p:cNvSpPr/>
          <p:nvPr/>
        </p:nvSpPr>
        <p:spPr>
          <a:xfrm>
            <a:off x="3611880" y="4946904"/>
            <a:ext cx="5989320" cy="603504"/>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 second agent checks the first</a:t>
            </a:r>
            <a:endParaRPr lang="en-US" sz="1250" dirty="0"/>
          </a:p>
        </p:txBody>
      </p:sp>
      <p:sp>
        <p:nvSpPr>
          <p:cNvPr id="44" name="Shape 42"/>
          <p:cNvSpPr/>
          <p:nvPr/>
        </p:nvSpPr>
        <p:spPr>
          <a:xfrm>
            <a:off x="9921240" y="5129784"/>
            <a:ext cx="1417320" cy="237744"/>
          </a:xfrm>
          <a:prstGeom prst="roundRect">
            <a:avLst>
              <a:gd name="adj" fmla="val 15385"/>
            </a:avLst>
          </a:prstGeom>
          <a:solidFill>
            <a:srgbClr val="B91C1C"/>
          </a:solidFill>
          <a:ln/>
        </p:spPr>
      </p:sp>
      <p:sp>
        <p:nvSpPr>
          <p:cNvPr id="45" name="Text 43"/>
          <p:cNvSpPr/>
          <p:nvPr/>
        </p:nvSpPr>
        <p:spPr>
          <a:xfrm>
            <a:off x="9921240" y="5129784"/>
            <a:ext cx="1417320" cy="237744"/>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advanced</a:t>
            </a:r>
            <a:endParaRPr lang="en-US" sz="1000" dirty="0"/>
          </a:p>
        </p:txBody>
      </p:sp>
      <p:sp>
        <p:nvSpPr>
          <p:cNvPr id="46" name="Shape 44"/>
          <p:cNvSpPr/>
          <p:nvPr/>
        </p:nvSpPr>
        <p:spPr>
          <a:xfrm>
            <a:off x="11018520" y="1508760"/>
            <a:ext cx="109728" cy="4023360"/>
          </a:xfrm>
          <a:prstGeom prst="rect">
            <a:avLst/>
          </a:prstGeom>
          <a:solidFill>
            <a:srgbClr val="9AA3B2"/>
          </a:solidFill>
          <a:ln/>
        </p:spPr>
      </p:sp>
      <p:sp>
        <p:nvSpPr>
          <p:cNvPr id="47" name="Text 45"/>
          <p:cNvSpPr/>
          <p:nvPr/>
        </p:nvSpPr>
        <p:spPr>
          <a:xfrm>
            <a:off x="11155680" y="1554480"/>
            <a:ext cx="914400" cy="274320"/>
          </a:xfrm>
          <a:prstGeom prst="rect">
            <a:avLst/>
          </a:prstGeom>
          <a:noFill/>
          <a:ln/>
        </p:spPr>
        <p:txBody>
          <a:bodyPr wrap="square" lIns="0" tIns="0" rIns="0" bIns="0" rtlCol="0" anchor="ctr"/>
          <a:lstStyle/>
          <a:p>
            <a:pPr indent="0" marL="0">
              <a:buNone/>
            </a:pPr>
            <a:r>
              <a:rPr lang="en-US" sz="1000" dirty="0">
                <a:solidFill>
                  <a:srgbClr val="15803D"/>
                </a:solidFill>
                <a:latin typeface="Calibri" pitchFamily="34" charset="0"/>
                <a:ea typeface="Calibri" pitchFamily="34" charset="-122"/>
                <a:cs typeface="Calibri" pitchFamily="34" charset="-120"/>
              </a:rPr>
              <a:t>cheap</a:t>
            </a:r>
            <a:endParaRPr lang="en-US" sz="1000" dirty="0"/>
          </a:p>
        </p:txBody>
      </p:sp>
      <p:sp>
        <p:nvSpPr>
          <p:cNvPr id="48" name="Text 46"/>
          <p:cNvSpPr/>
          <p:nvPr/>
        </p:nvSpPr>
        <p:spPr>
          <a:xfrm>
            <a:off x="11155680" y="5212080"/>
            <a:ext cx="914400" cy="274320"/>
          </a:xfrm>
          <a:prstGeom prst="rect">
            <a:avLst/>
          </a:prstGeom>
          <a:noFill/>
          <a:ln/>
        </p:spPr>
        <p:txBody>
          <a:bodyPr wrap="square" lIns="0" tIns="0" rIns="0" bIns="0" rtlCol="0" anchor="ctr"/>
          <a:lstStyle/>
          <a:p>
            <a:pPr indent="0" marL="0">
              <a:buNone/>
            </a:pPr>
            <a:r>
              <a:rPr lang="en-US" sz="1000" dirty="0">
                <a:solidFill>
                  <a:srgbClr val="B91C1C"/>
                </a:solidFill>
                <a:latin typeface="Calibri" pitchFamily="34" charset="0"/>
                <a:ea typeface="Calibri" pitchFamily="34" charset="-122"/>
                <a:cs typeface="Calibri" pitchFamily="34" charset="-120"/>
              </a:rPr>
              <a:t>costly</a:t>
            </a:r>
            <a:endParaRPr lang="en-US" sz="1000" dirty="0"/>
          </a:p>
        </p:txBody>
      </p:sp>
      <p:sp>
        <p:nvSpPr>
          <p:cNvPr id="49" name="Text 47"/>
          <p:cNvSpPr/>
          <p:nvPr/>
        </p:nvSpPr>
        <p:spPr>
          <a:xfrm>
            <a:off x="566928" y="5897880"/>
            <a:ext cx="10972800" cy="365760"/>
          </a:xfrm>
          <a:prstGeom prst="rect">
            <a:avLst/>
          </a:prstGeom>
          <a:noFill/>
          <a:ln/>
        </p:spPr>
        <p:txBody>
          <a:bodyPr wrap="square" lIns="0" tIns="0" rIns="0" bIns="0" rtlCol="0" anchor="ctr"/>
          <a:lstStyle/>
          <a:p>
            <a:pPr indent="0" marL="0">
              <a:buNone/>
            </a:pPr>
            <a:r>
              <a:rPr lang="en-US" sz="1250" i="1" dirty="0">
                <a:solidFill>
                  <a:srgbClr val="1F2937"/>
                </a:solidFill>
                <a:latin typeface="Calibri" pitchFamily="34" charset="0"/>
                <a:ea typeface="Calibri" pitchFamily="34" charset="-122"/>
                <a:cs typeface="Calibri" pitchFamily="34" charset="-120"/>
              </a:rPr>
              <a:t>Layers 1–2 are free and you always do them. Layer 3 is the Bedrock-native workhorse. Layers 4–5 are advanced and situational.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14</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LAYERS 1–2</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Prompt + grounding — free and highest-leverage</a:t>
            </a:r>
            <a:endParaRPr lang="en-US" sz="3100" dirty="0"/>
          </a:p>
        </p:txBody>
      </p:sp>
      <p:sp>
        <p:nvSpPr>
          <p:cNvPr id="6" name="Shape 4"/>
          <p:cNvSpPr/>
          <p:nvPr/>
        </p:nvSpPr>
        <p:spPr>
          <a:xfrm>
            <a:off x="566928" y="1600200"/>
            <a:ext cx="5394960" cy="3291840"/>
          </a:xfrm>
          <a:prstGeom prst="roundRect">
            <a:avLst>
              <a:gd name="adj" fmla="val 1944"/>
            </a:avLst>
          </a:prstGeom>
          <a:solidFill>
            <a:srgbClr val="F8FAFC"/>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7" name="Shape 5"/>
          <p:cNvSpPr/>
          <p:nvPr/>
        </p:nvSpPr>
        <p:spPr>
          <a:xfrm>
            <a:off x="777240" y="1783080"/>
            <a:ext cx="420624" cy="420624"/>
          </a:xfrm>
          <a:prstGeom prst="oval">
            <a:avLst/>
          </a:prstGeom>
          <a:solidFill>
            <a:srgbClr val="B45309"/>
          </a:solidFill>
          <a:ln/>
        </p:spPr>
      </p:sp>
      <p:sp>
        <p:nvSpPr>
          <p:cNvPr id="8" name="Text 6"/>
          <p:cNvSpPr/>
          <p:nvPr/>
        </p:nvSpPr>
        <p:spPr>
          <a:xfrm>
            <a:off x="777240" y="1783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9" name="Text 7"/>
          <p:cNvSpPr/>
          <p:nvPr/>
        </p:nvSpPr>
        <p:spPr>
          <a:xfrm>
            <a:off x="1325880" y="1810512"/>
            <a:ext cx="4480560" cy="411480"/>
          </a:xfrm>
          <a:prstGeom prst="rect">
            <a:avLst/>
          </a:prstGeom>
          <a:noFill/>
          <a:ln/>
        </p:spPr>
        <p:txBody>
          <a:bodyPr wrap="square" lIns="0" tIns="0" rIns="0" bIns="0" rtlCol="0" anchor="ctr"/>
          <a:lstStyle/>
          <a:p>
            <a:pPr indent="0" marL="0">
              <a:buNone/>
            </a:pPr>
            <a:r>
              <a:rPr lang="en-US" sz="1800" b="1" dirty="0">
                <a:solidFill>
                  <a:srgbClr val="1F2937"/>
                </a:solidFill>
                <a:latin typeface="Georgia" pitchFamily="34" charset="0"/>
                <a:ea typeface="Georgia" pitchFamily="34" charset="-122"/>
                <a:cs typeface="Georgia" pitchFamily="34" charset="-120"/>
              </a:rPr>
              <a:t>Prompt</a:t>
            </a:r>
            <a:endParaRPr lang="en-US" sz="1800" dirty="0"/>
          </a:p>
        </p:txBody>
      </p:sp>
      <p:sp>
        <p:nvSpPr>
          <p:cNvPr id="10" name="Text 8"/>
          <p:cNvSpPr/>
          <p:nvPr/>
        </p:nvSpPr>
        <p:spPr>
          <a:xfrm>
            <a:off x="868680" y="2468880"/>
            <a:ext cx="4846320" cy="2331720"/>
          </a:xfrm>
          <a:prstGeom prst="rect">
            <a:avLst/>
          </a:prstGeom>
          <a:noFill/>
          <a:ln/>
        </p:spPr>
        <p:txBody>
          <a:bodyPr wrap="square" lIns="0" tIns="0" rIns="0" bIns="0" rtlCol="0" anchor="t"/>
          <a:lstStyle/>
          <a:p>
            <a:pPr marL="177800" indent="-177800">
              <a:spcAft>
                <a:spcPts val="1300"/>
              </a:spcAft>
              <a:buSzPct val="100000"/>
              <a:buChar char="•"/>
            </a:pPr>
            <a:r>
              <a:rPr lang="en-US" sz="1400" dirty="0">
                <a:solidFill>
                  <a:srgbClr val="1F2937"/>
                </a:solidFill>
                <a:latin typeface="Calibri" pitchFamily="34" charset="0"/>
                <a:ea typeface="Calibri" pitchFamily="34" charset="-122"/>
                <a:cs typeface="Calibri" pitchFamily="34" charset="-120"/>
              </a:rPr>
              <a:t>Tool facts only</a:t>
            </a:r>
            <a:endParaRPr lang="en-US" sz="1400" dirty="0"/>
          </a:p>
          <a:p>
            <a:pPr marL="177800" indent="-177800">
              <a:spcAft>
                <a:spcPts val="1300"/>
              </a:spcAft>
              <a:buSzPct val="100000"/>
              <a:buChar char="•"/>
            </a:pPr>
            <a:r>
              <a:rPr lang="en-US" sz="1400" dirty="0">
                <a:solidFill>
                  <a:srgbClr val="1F2937"/>
                </a:solidFill>
                <a:latin typeface="Calibri" pitchFamily="34" charset="0"/>
                <a:ea typeface="Calibri" pitchFamily="34" charset="-122"/>
                <a:cs typeface="Calibri" pitchFamily="34" charset="-120"/>
              </a:rPr>
              <a:t>Refuse when no tool supports it</a:t>
            </a:r>
            <a:endParaRPr lang="en-US" sz="1400" dirty="0"/>
          </a:p>
          <a:p>
            <a:pPr marL="177800" indent="-177800">
              <a:spcAft>
                <a:spcPts val="1300"/>
              </a:spcAft>
              <a:buSzPct val="100000"/>
              <a:buChar char="•"/>
            </a:pPr>
            <a:r>
              <a:rPr lang="en-US" sz="1400" dirty="0">
                <a:solidFill>
                  <a:srgbClr val="6B7280"/>
                </a:solidFill>
                <a:latin typeface="Calibri" pitchFamily="34" charset="0"/>
                <a:ea typeface="Calibri" pitchFamily="34" charset="-122"/>
                <a:cs typeface="Calibri" pitchFamily="34" charset="-120"/>
              </a:rPr>
              <a:t>Keep it under 80 words</a:t>
            </a:r>
            <a:endParaRPr lang="en-US" sz="1400" dirty="0"/>
          </a:p>
        </p:txBody>
      </p:sp>
      <p:sp>
        <p:nvSpPr>
          <p:cNvPr id="11" name="Shape 9"/>
          <p:cNvSpPr/>
          <p:nvPr/>
        </p:nvSpPr>
        <p:spPr>
          <a:xfrm>
            <a:off x="6144768" y="1600200"/>
            <a:ext cx="5394960" cy="3291840"/>
          </a:xfrm>
          <a:prstGeom prst="roundRect">
            <a:avLst>
              <a:gd name="adj" fmla="val 1944"/>
            </a:avLst>
          </a:prstGeom>
          <a:solidFill>
            <a:srgbClr val="FBE5D2"/>
          </a:solidFill>
          <a:ln w="12700">
            <a:solidFill>
              <a:srgbClr val="E7C9A6"/>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6355080" y="1783080"/>
            <a:ext cx="420624" cy="420624"/>
          </a:xfrm>
          <a:prstGeom prst="oval">
            <a:avLst/>
          </a:prstGeom>
          <a:solidFill>
            <a:srgbClr val="B45309"/>
          </a:solidFill>
          <a:ln/>
        </p:spPr>
      </p:sp>
      <p:sp>
        <p:nvSpPr>
          <p:cNvPr id="13" name="Text 11"/>
          <p:cNvSpPr/>
          <p:nvPr/>
        </p:nvSpPr>
        <p:spPr>
          <a:xfrm>
            <a:off x="6355080" y="1783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4" name="Text 12"/>
          <p:cNvSpPr/>
          <p:nvPr/>
        </p:nvSpPr>
        <p:spPr>
          <a:xfrm>
            <a:off x="6903720" y="1810512"/>
            <a:ext cx="4480560" cy="41148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Ground</a:t>
            </a:r>
            <a:endParaRPr lang="en-US" sz="1800" dirty="0"/>
          </a:p>
        </p:txBody>
      </p:sp>
      <p:sp>
        <p:nvSpPr>
          <p:cNvPr id="15" name="Text 13"/>
          <p:cNvSpPr/>
          <p:nvPr/>
        </p:nvSpPr>
        <p:spPr>
          <a:xfrm>
            <a:off x="6446520" y="2468880"/>
            <a:ext cx="4846320" cy="2331720"/>
          </a:xfrm>
          <a:prstGeom prst="rect">
            <a:avLst/>
          </a:prstGeom>
          <a:noFill/>
          <a:ln/>
        </p:spPr>
        <p:txBody>
          <a:bodyPr wrap="square" lIns="0" tIns="0" rIns="0" bIns="0" rtlCol="0" anchor="t"/>
          <a:lstStyle/>
          <a:p>
            <a:pPr marL="177800" indent="-177800">
              <a:spcAft>
                <a:spcPts val="1300"/>
              </a:spcAft>
              <a:buSzPct val="100000"/>
              <a:buChar char="•"/>
            </a:pPr>
            <a:r>
              <a:rPr lang="en-US" sz="1400" dirty="0">
                <a:solidFill>
                  <a:srgbClr val="1F2937"/>
                </a:solidFill>
                <a:latin typeface="Calibri" pitchFamily="34" charset="0"/>
                <a:ea typeface="Calibri" pitchFamily="34" charset="-122"/>
                <a:cs typeface="Calibri" pitchFamily="34" charset="-120"/>
              </a:rPr>
              <a:t>The only source the model sees is the tool output</a:t>
            </a:r>
            <a:endParaRPr lang="en-US" sz="1400" dirty="0"/>
          </a:p>
          <a:p>
            <a:pPr marL="177800" indent="-177800">
              <a:spcAft>
                <a:spcPts val="1300"/>
              </a:spcAft>
              <a:buSzPct val="100000"/>
              <a:buChar char="•"/>
            </a:pPr>
            <a:r>
              <a:rPr lang="en-US" sz="1400" dirty="0">
                <a:solidFill>
                  <a:srgbClr val="1F2937"/>
                </a:solidFill>
                <a:latin typeface="Calibri" pitchFamily="34" charset="0"/>
                <a:ea typeface="Calibri" pitchFamily="34" charset="-122"/>
                <a:cs typeface="Calibri" pitchFamily="34" charset="-120"/>
              </a:rPr>
              <a:t>Booking record · disruption reason · options</a:t>
            </a:r>
            <a:endParaRPr lang="en-US" sz="1400" dirty="0"/>
          </a:p>
          <a:p>
            <a:pPr marL="177800" indent="-177800">
              <a:spcAft>
                <a:spcPts val="1300"/>
              </a:spcAft>
              <a:buSzPct val="100000"/>
              <a:buChar char="•"/>
            </a:pPr>
            <a:r>
              <a:rPr lang="en-US" sz="1400" dirty="0">
                <a:solidFill>
                  <a:srgbClr val="1F2937"/>
                </a:solidFill>
                <a:latin typeface="Calibri" pitchFamily="34" charset="0"/>
                <a:ea typeface="Calibri" pitchFamily="34" charset="-122"/>
                <a:cs typeface="Calibri" pitchFamily="34" charset="-120"/>
              </a:rPr>
              <a:t>No tool data on a claim → ungrounded by construction</a:t>
            </a:r>
            <a:endParaRPr lang="en-US" sz="1400" dirty="0"/>
          </a:p>
        </p:txBody>
      </p:sp>
      <p:sp>
        <p:nvSpPr>
          <p:cNvPr id="16" name="Shape 14"/>
          <p:cNvSpPr/>
          <p:nvPr/>
        </p:nvSpPr>
        <p:spPr>
          <a:xfrm>
            <a:off x="566928" y="5166360"/>
            <a:ext cx="10972800" cy="777240"/>
          </a:xfrm>
          <a:prstGeom prst="rect">
            <a:avLst/>
          </a:prstGeom>
          <a:solidFill>
            <a:srgbClr val="F8FAFC"/>
          </a:solidFill>
          <a:ln w="12700">
            <a:solidFill>
              <a:srgbClr val="E2E8F0"/>
            </a:solidFill>
            <a:prstDash val="solid"/>
          </a:ln>
        </p:spPr>
      </p:sp>
      <p:sp>
        <p:nvSpPr>
          <p:cNvPr id="17" name="Shape 15"/>
          <p:cNvSpPr/>
          <p:nvPr/>
        </p:nvSpPr>
        <p:spPr>
          <a:xfrm>
            <a:off x="566928" y="5166360"/>
            <a:ext cx="64008" cy="777240"/>
          </a:xfrm>
          <a:prstGeom prst="rect">
            <a:avLst/>
          </a:prstGeom>
          <a:solidFill>
            <a:srgbClr val="1F2937"/>
          </a:solidFill>
          <a:ln/>
        </p:spPr>
      </p:sp>
      <p:sp>
        <p:nvSpPr>
          <p:cNvPr id="18" name="Text 16"/>
          <p:cNvSpPr/>
          <p:nvPr/>
        </p:nvSpPr>
        <p:spPr>
          <a:xfrm>
            <a:off x="822960" y="5303520"/>
            <a:ext cx="10515600" cy="502920"/>
          </a:xfrm>
          <a:prstGeom prst="rect">
            <a:avLst/>
          </a:prstGeom>
          <a:noFill/>
          <a:ln/>
        </p:spPr>
        <p:txBody>
          <a:bodyPr wrap="square" lIns="0" tIns="0" rIns="0" bIns="0" rtlCol="0" anchor="ctr"/>
          <a:lstStyle/>
          <a:p>
            <a:pPr indent="0" marL="0">
              <a:buNone/>
            </a:pPr>
            <a:r>
              <a:rPr lang="en-US" sz="1350" i="1" dirty="0">
                <a:solidFill>
                  <a:srgbClr val="1F2937"/>
                </a:solidFill>
                <a:latin typeface="Calibri" pitchFamily="34" charset="0"/>
                <a:ea typeface="Calibri" pitchFamily="34" charset="-122"/>
                <a:cs typeface="Calibri" pitchFamily="34" charset="-120"/>
              </a:rPr>
              <a:t>If the model only has the tool results in context, it has nothing to hallucinate from — except its own priors, which is exactly what Layer 3 catches.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15</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 3</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contextual grounding guardrail</a:t>
            </a:r>
            <a:endParaRPr lang="en-US" sz="3100" dirty="0"/>
          </a:p>
        </p:txBody>
      </p:sp>
      <p:sp>
        <p:nvSpPr>
          <p:cNvPr id="6" name="Text 4"/>
          <p:cNvSpPr/>
          <p:nvPr/>
        </p:nvSpPr>
        <p:spPr>
          <a:xfrm>
            <a:off x="566928" y="1417320"/>
            <a:ext cx="1097280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Bedrock Guardrails scores every response on two axes:</a:t>
            </a:r>
            <a:endParaRPr lang="en-US" sz="1400" dirty="0"/>
          </a:p>
        </p:txBody>
      </p:sp>
      <p:sp>
        <p:nvSpPr>
          <p:cNvPr id="7" name="Shape 5"/>
          <p:cNvSpPr/>
          <p:nvPr/>
        </p:nvSpPr>
        <p:spPr>
          <a:xfrm>
            <a:off x="566928" y="1874520"/>
            <a:ext cx="3520440" cy="914400"/>
          </a:xfrm>
          <a:prstGeom prst="rect">
            <a:avLst/>
          </a:prstGeom>
          <a:solidFill>
            <a:srgbClr val="F8FAFC"/>
          </a:solidFill>
          <a:ln w="12700">
            <a:solidFill>
              <a:srgbClr val="E2E8F0"/>
            </a:solidFill>
            <a:prstDash val="solid"/>
          </a:ln>
        </p:spPr>
      </p:sp>
      <p:sp>
        <p:nvSpPr>
          <p:cNvPr id="8" name="Shape 6"/>
          <p:cNvSpPr/>
          <p:nvPr/>
        </p:nvSpPr>
        <p:spPr>
          <a:xfrm>
            <a:off x="566928" y="1874520"/>
            <a:ext cx="64008" cy="914400"/>
          </a:xfrm>
          <a:prstGeom prst="rect">
            <a:avLst/>
          </a:prstGeom>
          <a:solidFill>
            <a:srgbClr val="B45309"/>
          </a:solidFill>
          <a:ln/>
        </p:spPr>
      </p:sp>
      <p:sp>
        <p:nvSpPr>
          <p:cNvPr id="9" name="Text 7"/>
          <p:cNvSpPr/>
          <p:nvPr/>
        </p:nvSpPr>
        <p:spPr>
          <a:xfrm>
            <a:off x="768096" y="1993392"/>
            <a:ext cx="3154680" cy="365760"/>
          </a:xfrm>
          <a:prstGeom prst="rect">
            <a:avLst/>
          </a:prstGeom>
          <a:noFill/>
          <a:ln/>
        </p:spPr>
        <p:txBody>
          <a:bodyPr wrap="square" lIns="0" tIns="0" rIns="0" bIns="0" rtlCol="0" anchor="ctr"/>
          <a:lstStyle/>
          <a:p>
            <a:pPr indent="0" marL="0">
              <a:buNone/>
            </a:pPr>
            <a:r>
              <a:rPr lang="en-US" sz="1400" b="1" dirty="0">
                <a:solidFill>
                  <a:srgbClr val="B45309"/>
                </a:solidFill>
                <a:latin typeface="Consolas" pitchFamily="34" charset="0"/>
                <a:ea typeface="Consolas" pitchFamily="34" charset="-122"/>
                <a:cs typeface="Consolas" pitchFamily="34" charset="-120"/>
              </a:rPr>
              <a:t>GROUNDING</a:t>
            </a:r>
            <a:endParaRPr lang="en-US" sz="1400" dirty="0"/>
          </a:p>
        </p:txBody>
      </p:sp>
      <p:sp>
        <p:nvSpPr>
          <p:cNvPr id="10" name="Text 8"/>
          <p:cNvSpPr/>
          <p:nvPr/>
        </p:nvSpPr>
        <p:spPr>
          <a:xfrm>
            <a:off x="768096" y="2359152"/>
            <a:ext cx="3154680" cy="38404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is the answer supported by the source?</a:t>
            </a:r>
            <a:endParaRPr lang="en-US" sz="1200" dirty="0"/>
          </a:p>
        </p:txBody>
      </p:sp>
      <p:sp>
        <p:nvSpPr>
          <p:cNvPr id="11" name="Shape 9"/>
          <p:cNvSpPr/>
          <p:nvPr/>
        </p:nvSpPr>
        <p:spPr>
          <a:xfrm>
            <a:off x="4270248" y="1874520"/>
            <a:ext cx="3520440" cy="914400"/>
          </a:xfrm>
          <a:prstGeom prst="rect">
            <a:avLst/>
          </a:prstGeom>
          <a:solidFill>
            <a:srgbClr val="F8FAFC"/>
          </a:solidFill>
          <a:ln w="12700">
            <a:solidFill>
              <a:srgbClr val="E2E8F0"/>
            </a:solidFill>
            <a:prstDash val="solid"/>
          </a:ln>
        </p:spPr>
      </p:sp>
      <p:sp>
        <p:nvSpPr>
          <p:cNvPr id="12" name="Shape 10"/>
          <p:cNvSpPr/>
          <p:nvPr/>
        </p:nvSpPr>
        <p:spPr>
          <a:xfrm>
            <a:off x="4270248" y="1874520"/>
            <a:ext cx="64008" cy="914400"/>
          </a:xfrm>
          <a:prstGeom prst="rect">
            <a:avLst/>
          </a:prstGeom>
          <a:solidFill>
            <a:srgbClr val="B45309"/>
          </a:solidFill>
          <a:ln/>
        </p:spPr>
      </p:sp>
      <p:sp>
        <p:nvSpPr>
          <p:cNvPr id="13" name="Text 11"/>
          <p:cNvSpPr/>
          <p:nvPr/>
        </p:nvSpPr>
        <p:spPr>
          <a:xfrm>
            <a:off x="4471416" y="1993392"/>
            <a:ext cx="3154680" cy="365760"/>
          </a:xfrm>
          <a:prstGeom prst="rect">
            <a:avLst/>
          </a:prstGeom>
          <a:noFill/>
          <a:ln/>
        </p:spPr>
        <p:txBody>
          <a:bodyPr wrap="square" lIns="0" tIns="0" rIns="0" bIns="0" rtlCol="0" anchor="ctr"/>
          <a:lstStyle/>
          <a:p>
            <a:pPr indent="0" marL="0">
              <a:buNone/>
            </a:pPr>
            <a:r>
              <a:rPr lang="en-US" sz="1400" b="1" dirty="0">
                <a:solidFill>
                  <a:srgbClr val="B45309"/>
                </a:solidFill>
                <a:latin typeface="Consolas" pitchFamily="34" charset="0"/>
                <a:ea typeface="Consolas" pitchFamily="34" charset="-122"/>
                <a:cs typeface="Consolas" pitchFamily="34" charset="-120"/>
              </a:rPr>
              <a:t>RELEVANCE</a:t>
            </a:r>
            <a:endParaRPr lang="en-US" sz="1400" dirty="0"/>
          </a:p>
        </p:txBody>
      </p:sp>
      <p:sp>
        <p:nvSpPr>
          <p:cNvPr id="14" name="Text 12"/>
          <p:cNvSpPr/>
          <p:nvPr/>
        </p:nvSpPr>
        <p:spPr>
          <a:xfrm>
            <a:off x="4471416" y="2359152"/>
            <a:ext cx="3154680" cy="38404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does it answer the query?</a:t>
            </a:r>
            <a:endParaRPr lang="en-US" sz="1200" dirty="0"/>
          </a:p>
        </p:txBody>
      </p:sp>
      <p:sp>
        <p:nvSpPr>
          <p:cNvPr id="15" name="Shape 13"/>
          <p:cNvSpPr/>
          <p:nvPr/>
        </p:nvSpPr>
        <p:spPr>
          <a:xfrm>
            <a:off x="7973568" y="1874520"/>
            <a:ext cx="3566160" cy="914400"/>
          </a:xfrm>
          <a:prstGeom prst="roundRect">
            <a:avLst>
              <a:gd name="adj" fmla="val 7000"/>
            </a:avLst>
          </a:prstGeom>
          <a:solidFill>
            <a:srgbClr val="FBE5D2"/>
          </a:solidFill>
          <a:ln w="12700">
            <a:solidFill>
              <a:srgbClr val="E7C9A6"/>
            </a:solidFill>
            <a:prstDash val="solid"/>
          </a:ln>
        </p:spPr>
      </p:sp>
      <p:sp>
        <p:nvSpPr>
          <p:cNvPr id="16" name="Text 14"/>
          <p:cNvSpPr/>
          <p:nvPr/>
        </p:nvSpPr>
        <p:spPr>
          <a:xfrm>
            <a:off x="8183880" y="1993392"/>
            <a:ext cx="3200400" cy="365760"/>
          </a:xfrm>
          <a:prstGeom prst="rect">
            <a:avLst/>
          </a:prstGeom>
          <a:noFill/>
          <a:ln/>
        </p:spPr>
        <p:txBody>
          <a:bodyPr wrap="square" lIns="0" tIns="0" rIns="0" bIns="0" rtlCol="0" anchor="ctr"/>
          <a:lstStyle/>
          <a:p>
            <a:pPr indent="0" marL="0">
              <a:buNone/>
            </a:pPr>
            <a:r>
              <a:rPr lang="en-US" sz="1250" b="1" dirty="0">
                <a:solidFill>
                  <a:srgbClr val="B45309"/>
                </a:solidFill>
                <a:latin typeface="Calibri" pitchFamily="34" charset="0"/>
                <a:ea typeface="Calibri" pitchFamily="34" charset="-122"/>
                <a:cs typeface="Calibri" pitchFamily="34" charset="-120"/>
              </a:rPr>
              <a:t>each: threshold 0–1</a:t>
            </a:r>
            <a:endParaRPr lang="en-US" sz="1250" dirty="0"/>
          </a:p>
        </p:txBody>
      </p:sp>
      <p:sp>
        <p:nvSpPr>
          <p:cNvPr id="17" name="Text 15"/>
          <p:cNvSpPr/>
          <p:nvPr/>
        </p:nvSpPr>
        <p:spPr>
          <a:xfrm>
            <a:off x="8183880" y="2340864"/>
            <a:ext cx="3200400" cy="4114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action: BLOCK or NONE (monitor only)</a:t>
            </a:r>
            <a:endParaRPr lang="en-US" sz="1150" dirty="0"/>
          </a:p>
        </p:txBody>
      </p:sp>
      <p:sp>
        <p:nvSpPr>
          <p:cNvPr id="18" name="Shape 16"/>
          <p:cNvSpPr/>
          <p:nvPr/>
        </p:nvSpPr>
        <p:spPr>
          <a:xfrm>
            <a:off x="566928" y="3063240"/>
            <a:ext cx="10972800" cy="2395728"/>
          </a:xfrm>
          <a:prstGeom prst="roundRect">
            <a:avLst>
              <a:gd name="adj" fmla="val 2290"/>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19" name="Shape 17"/>
          <p:cNvSpPr/>
          <p:nvPr/>
        </p:nvSpPr>
        <p:spPr>
          <a:xfrm>
            <a:off x="731520" y="3209544"/>
            <a:ext cx="77724" cy="77724"/>
          </a:xfrm>
          <a:prstGeom prst="oval">
            <a:avLst/>
          </a:prstGeom>
          <a:solidFill>
            <a:srgbClr val="FF5F56"/>
          </a:solidFill>
          <a:ln/>
        </p:spPr>
      </p:sp>
      <p:sp>
        <p:nvSpPr>
          <p:cNvPr id="20" name="Shape 18"/>
          <p:cNvSpPr/>
          <p:nvPr/>
        </p:nvSpPr>
        <p:spPr>
          <a:xfrm>
            <a:off x="841248" y="3209544"/>
            <a:ext cx="77724" cy="77724"/>
          </a:xfrm>
          <a:prstGeom prst="oval">
            <a:avLst/>
          </a:prstGeom>
          <a:solidFill>
            <a:srgbClr val="FFBD2E"/>
          </a:solidFill>
          <a:ln/>
        </p:spPr>
      </p:sp>
      <p:sp>
        <p:nvSpPr>
          <p:cNvPr id="21" name="Shape 19"/>
          <p:cNvSpPr/>
          <p:nvPr/>
        </p:nvSpPr>
        <p:spPr>
          <a:xfrm>
            <a:off x="950976" y="3209544"/>
            <a:ext cx="77724" cy="77724"/>
          </a:xfrm>
          <a:prstGeom prst="oval">
            <a:avLst/>
          </a:prstGeom>
          <a:solidFill>
            <a:srgbClr val="27C93F"/>
          </a:solidFill>
          <a:ln/>
        </p:spPr>
      </p:sp>
      <p:sp>
        <p:nvSpPr>
          <p:cNvPr id="22" name="Text 20"/>
          <p:cNvSpPr/>
          <p:nvPr/>
        </p:nvSpPr>
        <p:spPr>
          <a:xfrm>
            <a:off x="1115568" y="3127248"/>
            <a:ext cx="1024128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bedrock (CONTROL plane)</a:t>
            </a:r>
            <a:endParaRPr lang="en-US" sz="900" dirty="0"/>
          </a:p>
        </p:txBody>
      </p:sp>
      <p:sp>
        <p:nvSpPr>
          <p:cNvPr id="23" name="Text 21"/>
          <p:cNvSpPr/>
          <p:nvPr/>
        </p:nvSpPr>
        <p:spPr>
          <a:xfrm>
            <a:off x="768096" y="3374136"/>
            <a:ext cx="10588752" cy="1956816"/>
          </a:xfrm>
          <a:prstGeom prst="rect">
            <a:avLst/>
          </a:prstGeom>
          <a:noFill/>
          <a:ln/>
        </p:spPr>
        <p:txBody>
          <a:bodyPr wrap="square" lIns="0" tIns="0" rIns="0" bIns="0" rtlCol="0" anchor="t"/>
          <a:lstStyle/>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bd</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boto3</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client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bedrock</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region_name="</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us</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east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0A86A"/>
                </a:solidFill>
                <a:latin typeface="Consolas" pitchFamily="34" charset="0"/>
                <a:ea typeface="Consolas" pitchFamily="34" charset="-122"/>
                <a:cs typeface="Consolas" pitchFamily="34" charset="-120"/>
              </a:rPr>
              <a:t>1</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bd</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create_guardrail</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name</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travelmind</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grounding</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contextualGroundingPolicyConfig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filtersConfig</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type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GROUNDING</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threshold</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0.7,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action</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BLOCK</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type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RELEVANCE</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threshold</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0.7,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action</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F7A23B"/>
                </a:solidFill>
                <a:latin typeface="Consolas" pitchFamily="34" charset="0"/>
                <a:ea typeface="Consolas" pitchFamily="34" charset="-122"/>
                <a:cs typeface="Consolas" pitchFamily="34" charset="-120"/>
              </a:rPr>
              <a:t>BLOCK</a:t>
            </a:r>
            <a:pPr algn="l" indent="0" marL="0">
              <a:lnSpc>
                <a:spcPct val="100000"/>
              </a:lnSpc>
              <a:buNone/>
            </a:pPr>
            <a:r>
              <a:rPr lang="en-US" sz="1150" dirty="0">
                <a:solidFill>
                  <a:srgbClr val="8FD19E"/>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blockedInputMessaging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I</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can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only</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from</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your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booking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record</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blockedOutputsMessaging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I</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can</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only</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7DD3FC"/>
                </a:solidFill>
                <a:latin typeface="Consolas" pitchFamily="34" charset="0"/>
                <a:ea typeface="Consolas" pitchFamily="34" charset="-122"/>
                <a:cs typeface="Consolas" pitchFamily="34" charset="-120"/>
              </a:rPr>
              <a:t>from</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your</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booking</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record</a:t>
            </a:r>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a:p>
            <a:pPr algn="l" indent="0" marL="0">
              <a:lnSpc>
                <a:spcPct val="100000"/>
              </a:lnSpc>
              <a:buNone/>
            </a:pPr>
            <a:r>
              <a:rPr lang="en-US" sz="1150" dirty="0">
                <a:solidFill>
                  <a:srgbClr val="E5E9F0"/>
                </a:solidFill>
                <a:latin typeface="Consolas" pitchFamily="34" charset="0"/>
                <a:ea typeface="Consolas" pitchFamily="34" charset="-122"/>
                <a:cs typeface="Consolas" pitchFamily="34" charset="-120"/>
              </a:rPr>
              <a:t>)</a:t>
            </a:r>
            <a:endParaRPr lang="en-US" sz="1150" dirty="0"/>
          </a:p>
        </p:txBody>
      </p:sp>
      <p:sp>
        <p:nvSpPr>
          <p:cNvPr id="24" name="Text 22"/>
          <p:cNvSpPr/>
          <p:nvPr/>
        </p:nvSpPr>
        <p:spPr>
          <a:xfrm>
            <a:off x="566928" y="5897880"/>
            <a:ext cx="10972800" cy="36576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Start with action NONE to observe scores without blocking (you are not charged for a disabled filter). Tune the threshold against real traffic, then flip to BLOCK.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16</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 3</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ApplyGuardrail — check any answer in code</a:t>
            </a:r>
            <a:endParaRPr lang="en-US" sz="3100" dirty="0"/>
          </a:p>
        </p:txBody>
      </p:sp>
      <p:sp>
        <p:nvSpPr>
          <p:cNvPr id="6" name="Text 4"/>
          <p:cNvSpPr/>
          <p:nvPr/>
        </p:nvSpPr>
        <p:spPr>
          <a:xfrm>
            <a:off x="566928" y="1371600"/>
            <a:ext cx="10972800" cy="36576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apply_guardrail checks a candidate answer independently of generation — works with any model, including your hand-built loop.</a:t>
            </a:r>
            <a:endParaRPr lang="en-US" sz="1350" dirty="0"/>
          </a:p>
        </p:txBody>
      </p:sp>
      <p:sp>
        <p:nvSpPr>
          <p:cNvPr id="7" name="Shape 5"/>
          <p:cNvSpPr/>
          <p:nvPr/>
        </p:nvSpPr>
        <p:spPr>
          <a:xfrm>
            <a:off x="566928" y="1828800"/>
            <a:ext cx="10972800" cy="2973629"/>
          </a:xfrm>
          <a:prstGeom prst="roundRect">
            <a:avLst>
              <a:gd name="adj" fmla="val 1845"/>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8" name="Shape 6"/>
          <p:cNvSpPr/>
          <p:nvPr/>
        </p:nvSpPr>
        <p:spPr>
          <a:xfrm>
            <a:off x="731520" y="1975104"/>
            <a:ext cx="77724" cy="77724"/>
          </a:xfrm>
          <a:prstGeom prst="oval">
            <a:avLst/>
          </a:prstGeom>
          <a:solidFill>
            <a:srgbClr val="FF5F56"/>
          </a:solidFill>
          <a:ln/>
        </p:spPr>
      </p:sp>
      <p:sp>
        <p:nvSpPr>
          <p:cNvPr id="9" name="Shape 7"/>
          <p:cNvSpPr/>
          <p:nvPr/>
        </p:nvSpPr>
        <p:spPr>
          <a:xfrm>
            <a:off x="841248" y="1975104"/>
            <a:ext cx="77724" cy="77724"/>
          </a:xfrm>
          <a:prstGeom prst="oval">
            <a:avLst/>
          </a:prstGeom>
          <a:solidFill>
            <a:srgbClr val="FFBD2E"/>
          </a:solidFill>
          <a:ln/>
        </p:spPr>
      </p:sp>
      <p:sp>
        <p:nvSpPr>
          <p:cNvPr id="10" name="Shape 8"/>
          <p:cNvSpPr/>
          <p:nvPr/>
        </p:nvSpPr>
        <p:spPr>
          <a:xfrm>
            <a:off x="950976" y="1975104"/>
            <a:ext cx="77724" cy="77724"/>
          </a:xfrm>
          <a:prstGeom prst="oval">
            <a:avLst/>
          </a:prstGeom>
          <a:solidFill>
            <a:srgbClr val="27C93F"/>
          </a:solidFill>
          <a:ln/>
        </p:spPr>
      </p:sp>
      <p:sp>
        <p:nvSpPr>
          <p:cNvPr id="11" name="Text 9"/>
          <p:cNvSpPr/>
          <p:nvPr/>
        </p:nvSpPr>
        <p:spPr>
          <a:xfrm>
            <a:off x="1115568" y="1892808"/>
            <a:ext cx="1024128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bedrock-runtime (RUNTIME plane)</a:t>
            </a:r>
            <a:endParaRPr lang="en-US" sz="900" dirty="0"/>
          </a:p>
        </p:txBody>
      </p:sp>
      <p:sp>
        <p:nvSpPr>
          <p:cNvPr id="12" name="Text 10"/>
          <p:cNvSpPr/>
          <p:nvPr/>
        </p:nvSpPr>
        <p:spPr>
          <a:xfrm>
            <a:off x="768096" y="2139696"/>
            <a:ext cx="10588752" cy="2534717"/>
          </a:xfrm>
          <a:prstGeom prst="rect">
            <a:avLst/>
          </a:prstGeom>
          <a:noFill/>
          <a:ln/>
        </p:spPr>
        <p:txBody>
          <a:bodyPr wrap="square" lIns="0" tIns="0" rIns="0" bIns="0" rtlCol="0" anchor="t"/>
          <a:lstStyle/>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brt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boto3</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client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bedrock</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runtime</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region_name="</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us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east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1</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source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Booking</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6E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203</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CANCELLED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Reason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fog</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Options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6E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415</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18</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40</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6E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422</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21</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0A86A"/>
                </a:solidFill>
                <a:latin typeface="Consolas" pitchFamily="34" charset="0"/>
                <a:ea typeface="Consolas" pitchFamily="34" charset="-122"/>
                <a:cs typeface="Consolas" pitchFamily="34" charset="-120"/>
              </a:rPr>
              <a:t>10</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model_draft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i="1" dirty="0">
                <a:solidFill>
                  <a:srgbClr val="8893A7"/>
                </a:solidFill>
                <a:latin typeface="Consolas" pitchFamily="34" charset="0"/>
                <a:ea typeface="Consolas" pitchFamily="34" charset="-122"/>
                <a:cs typeface="Consolas" pitchFamily="34" charset="-120"/>
              </a:rPr>
              <a:t> # the agent’s proposed reply</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brt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apply_guardrail</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guardrailIdentifier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GUARDRAIL_ID</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guardrailVersion</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DRAFT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source="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OUTPUT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content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source,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qualifiers</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grounding_source</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user_query,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qualifiers</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query</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text</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7DD3FC"/>
                </a:solidFill>
                <a:latin typeface="Consolas" pitchFamily="34" charset="0"/>
                <a:ea typeface="Consolas" pitchFamily="34" charset="-122"/>
                <a:cs typeface="Consolas" pitchFamily="34" charset="-120"/>
              </a:rPr>
              <a:t>if</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resp</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action</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F7A23B"/>
                </a:solidFill>
                <a:latin typeface="Consolas" pitchFamily="34" charset="0"/>
                <a:ea typeface="Consolas" pitchFamily="34" charset="-122"/>
                <a:cs typeface="Consolas" pitchFamily="34" charset="-120"/>
              </a:rPr>
              <a:t>GUARDRAIL_INTERVENED</a:t>
            </a:r>
            <a:pPr algn="l" indent="0" marL="0">
              <a:lnSpc>
                <a:spcPct val="100000"/>
              </a:lnSpc>
              <a:buNone/>
            </a:pPr>
            <a:r>
              <a:rPr lang="en-US" sz="1100" dirty="0">
                <a:solidFill>
                  <a:srgbClr val="8FD19E"/>
                </a:solidFill>
                <a:latin typeface="Consolas" pitchFamily="34" charset="0"/>
                <a:ea typeface="Consolas" pitchFamily="34" charset="-122"/>
                <a:cs typeface="Consolas" pitchFamily="34" charset="-120"/>
              </a:rPr>
              <a:t>":</a:t>
            </a:r>
            <a:endParaRPr lang="en-US" sz="1100" dirty="0"/>
          </a:p>
          <a:p>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Let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me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re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check</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your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booking</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details</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before</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I</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answer</a:t>
            </a:r>
            <a:pPr algn="l" indent="0" marL="0">
              <a:lnSpc>
                <a:spcPct val="100000"/>
              </a:lnSpc>
              <a:buNone/>
            </a:pPr>
            <a:r>
              <a:rPr lang="en-US" sz="1100" dirty="0">
                <a:solidFill>
                  <a:srgbClr val="E5E9F0"/>
                </a:solidFill>
                <a:latin typeface="Consolas" pitchFamily="34" charset="0"/>
                <a:ea typeface="Consolas" pitchFamily="34" charset="-122"/>
                <a:cs typeface="Consolas" pitchFamily="34" charset="-120"/>
              </a:rPr>
              <a:t>."</a:t>
            </a:r>
            <a:endParaRPr lang="en-US" sz="1100" dirty="0"/>
          </a:p>
        </p:txBody>
      </p:sp>
      <p:sp>
        <p:nvSpPr>
          <p:cNvPr id="13" name="Text 11"/>
          <p:cNvSpPr/>
          <p:nvPr/>
        </p:nvSpPr>
        <p:spPr>
          <a:xfrm>
            <a:off x="566928" y="5852160"/>
            <a:ext cx="10972800" cy="411480"/>
          </a:xfrm>
          <a:prstGeom prst="rect">
            <a:avLst/>
          </a:prstGeom>
          <a:noFill/>
          <a:ln/>
        </p:spPr>
        <p:txBody>
          <a:bodyPr wrap="square" lIns="0" tIns="0" rIns="0" bIns="0" rtlCol="0" anchor="t"/>
          <a:lstStyle/>
          <a:p>
            <a:pPr indent="0" marL="0">
              <a:buNone/>
            </a:pPr>
            <a:r>
              <a:rPr lang="en-US" sz="1200" i="1" dirty="0">
                <a:solidFill>
                  <a:srgbClr val="1F2937"/>
                </a:solidFill>
                <a:latin typeface="Calibri" pitchFamily="34" charset="0"/>
                <a:ea typeface="Calibri" pitchFamily="34" charset="-122"/>
                <a:cs typeface="Calibri" pitchFamily="34" charset="-120"/>
              </a:rPr>
              <a:t>PROD: cache the guardrail id / version; log every intervention for an audit trail. The grounding_source is your concatenated tool outputs — not the whole transcript.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17</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 3</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Honest limits of the guardrail</a:t>
            </a:r>
            <a:endParaRPr lang="en-US" sz="3100" dirty="0"/>
          </a:p>
        </p:txBody>
      </p:sp>
      <p:sp>
        <p:nvSpPr>
          <p:cNvPr id="6" name="Text 4"/>
          <p:cNvSpPr/>
          <p:nvPr/>
        </p:nvSpPr>
        <p:spPr>
          <a:xfrm>
            <a:off x="566928" y="1508760"/>
            <a:ext cx="6858000" cy="2926080"/>
          </a:xfrm>
          <a:prstGeom prst="rect">
            <a:avLst/>
          </a:prstGeom>
          <a:noFill/>
          <a:ln/>
        </p:spPr>
        <p:txBody>
          <a:bodyPr wrap="square" lIns="0" tIns="0" rIns="0" bIns="0" rtlCol="0" anchor="t"/>
          <a:lstStyle/>
          <a:p>
            <a:pPr marL="177800" indent="-177800">
              <a:spcAft>
                <a:spcPts val="1600"/>
              </a:spcAft>
              <a:buSzPct val="100000"/>
              <a:buChar char="•"/>
            </a:pPr>
            <a:r>
              <a:rPr lang="en-US" sz="1450" b="1" dirty="0">
                <a:solidFill>
                  <a:srgbClr val="1F2937"/>
                </a:solidFill>
                <a:latin typeface="Calibri" pitchFamily="34" charset="0"/>
                <a:ea typeface="Calibri" pitchFamily="34" charset="-122"/>
                <a:cs typeface="Calibri" pitchFamily="34" charset="-120"/>
              </a:rPr>
              <a:t>Built for summarization / paraphrase / QA over a source — NOT native multi-turn chat</a:t>
            </a:r>
            <a:endParaRPr lang="en-US" sz="1450" dirty="0"/>
          </a:p>
          <a:p>
            <a:pPr marL="177800" indent="-177800">
              <a:spcAft>
                <a:spcPts val="1600"/>
              </a:spcAft>
              <a:buSzPct val="100000"/>
              <a:buChar char="•"/>
            </a:pPr>
            <a:r>
              <a:rPr lang="en-US" sz="1450" dirty="0">
                <a:solidFill>
                  <a:srgbClr val="1F2937"/>
                </a:solidFill>
                <a:latin typeface="Calibri" pitchFamily="34" charset="0"/>
                <a:ea typeface="Calibri" pitchFamily="34" charset="-122"/>
                <a:cs typeface="Calibri" pitchFamily="34" charset="-120"/>
              </a:rPr>
              <a:t>Grounding score degrades over long conversations (per-turn static snapshot)</a:t>
            </a:r>
            <a:endParaRPr lang="en-US" sz="1450" dirty="0"/>
          </a:p>
          <a:p>
            <a:pPr marL="177800" indent="-177800">
              <a:spcAft>
                <a:spcPts val="1600"/>
              </a:spcAft>
              <a:buSzPct val="100000"/>
              <a:buChar char="•"/>
            </a:pPr>
            <a:r>
              <a:rPr lang="en-US" sz="1450" dirty="0">
                <a:solidFill>
                  <a:srgbClr val="6B7280"/>
                </a:solidFill>
                <a:latin typeface="Calibri" pitchFamily="34" charset="0"/>
                <a:ea typeface="Calibri" pitchFamily="34" charset="-122"/>
                <a:cs typeface="Calibri" pitchFamily="34" charset="-120"/>
              </a:rPr>
              <a:t>Limits: source ≤ 100k chars · query ≤ 1k · response ≤ 5k</a:t>
            </a:r>
            <a:endParaRPr lang="en-US" sz="1450" dirty="0"/>
          </a:p>
          <a:p>
            <a:pPr marL="177800" indent="-177800">
              <a:spcAft>
                <a:spcPts val="1600"/>
              </a:spcAft>
              <a:buSzPct val="100000"/>
              <a:buChar char="•"/>
            </a:pPr>
            <a:r>
              <a:rPr lang="en-US" sz="1450" b="1" dirty="0">
                <a:solidFill>
                  <a:srgbClr val="B91C1C"/>
                </a:solidFill>
                <a:latin typeface="Calibri" pitchFamily="34" charset="0"/>
                <a:ea typeface="Calibri" pitchFamily="34" charset="-122"/>
                <a:cs typeface="Calibri" pitchFamily="34" charset="-120"/>
              </a:rPr>
              <a:t>It reduces hallucination — it does NOT guarantee zero</a:t>
            </a:r>
            <a:endParaRPr lang="en-US" sz="1450" dirty="0"/>
          </a:p>
        </p:txBody>
      </p:sp>
      <p:sp>
        <p:nvSpPr>
          <p:cNvPr id="7" name="Shape 5"/>
          <p:cNvSpPr/>
          <p:nvPr/>
        </p:nvSpPr>
        <p:spPr>
          <a:xfrm>
            <a:off x="7635240" y="1600200"/>
            <a:ext cx="3904488" cy="3246120"/>
          </a:xfrm>
          <a:prstGeom prst="roundRect">
            <a:avLst>
              <a:gd name="adj" fmla="val 1972"/>
            </a:avLst>
          </a:prstGeom>
          <a:solidFill>
            <a:srgbClr val="111C32"/>
          </a:solidFill>
          <a:ln w="12700">
            <a:solidFill>
              <a:srgbClr val="24324C"/>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7863840" y="1783080"/>
            <a:ext cx="3474720" cy="411480"/>
          </a:xfrm>
          <a:prstGeom prst="rect">
            <a:avLst/>
          </a:prstGeom>
          <a:noFill/>
          <a:ln/>
        </p:spPr>
        <p:txBody>
          <a:bodyPr wrap="square" lIns="0" tIns="0" rIns="0" bIns="0" rtlCol="0" anchor="ctr"/>
          <a:lstStyle/>
          <a:p>
            <a:pPr indent="0" marL="0">
              <a:buNone/>
            </a:pPr>
            <a:r>
              <a:rPr lang="en-US" sz="1600" b="1" dirty="0">
                <a:solidFill>
                  <a:srgbClr val="F7A23B"/>
                </a:solidFill>
                <a:latin typeface="Georgia" pitchFamily="34" charset="0"/>
                <a:ea typeface="Georgia" pitchFamily="34" charset="-122"/>
                <a:cs typeface="Georgia" pitchFamily="34" charset="-120"/>
              </a:rPr>
              <a:t>Tell the client straight</a:t>
            </a:r>
            <a:endParaRPr lang="en-US" sz="1600" dirty="0"/>
          </a:p>
        </p:txBody>
      </p:sp>
      <p:sp>
        <p:nvSpPr>
          <p:cNvPr id="9" name="Text 7"/>
          <p:cNvSpPr/>
          <p:nvPr/>
        </p:nvSpPr>
        <p:spPr>
          <a:xfrm>
            <a:off x="7863840" y="2286000"/>
            <a:ext cx="3493008" cy="914400"/>
          </a:xfrm>
          <a:prstGeom prst="rect">
            <a:avLst/>
          </a:prstGeom>
          <a:noFill/>
          <a:ln/>
        </p:spPr>
        <p:txBody>
          <a:bodyPr wrap="square" lIns="0" tIns="0" rIns="0" bIns="0" rtlCol="0" anchor="t"/>
          <a:lstStyle/>
          <a:p>
            <a:pPr indent="0" marL="0">
              <a:buNone/>
            </a:pPr>
            <a:r>
              <a:rPr lang="en-US" sz="1300" dirty="0">
                <a:solidFill>
                  <a:srgbClr val="E5E9F0"/>
                </a:solidFill>
                <a:latin typeface="Calibri" pitchFamily="34" charset="0"/>
                <a:ea typeface="Calibri" pitchFamily="34" charset="-122"/>
                <a:cs typeface="Calibri" pitchFamily="34" charset="-120"/>
              </a:rPr>
              <a:t>Pass the RELEVANT tool output as the source each turn — do not dump the whole transcript.</a:t>
            </a:r>
            <a:endParaRPr lang="en-US" sz="1300" dirty="0"/>
          </a:p>
        </p:txBody>
      </p:sp>
      <p:sp>
        <p:nvSpPr>
          <p:cNvPr id="10" name="Text 8"/>
          <p:cNvSpPr/>
          <p:nvPr/>
        </p:nvSpPr>
        <p:spPr>
          <a:xfrm>
            <a:off x="7863840" y="3246120"/>
            <a:ext cx="3493008" cy="1371600"/>
          </a:xfrm>
          <a:prstGeom prst="rect">
            <a:avLst/>
          </a:prstGeom>
          <a:noFill/>
          <a:ln/>
        </p:spPr>
        <p:txBody>
          <a:bodyPr wrap="square" lIns="0" tIns="0" rIns="0" bIns="0" rtlCol="0" anchor="t"/>
          <a:lstStyle/>
          <a:p>
            <a:pPr indent="0" marL="0">
              <a:buNone/>
            </a:pPr>
            <a:r>
              <a:rPr lang="en-US" sz="1400" b="1" i="1" dirty="0">
                <a:solidFill>
                  <a:srgbClr val="FFFFFF"/>
                </a:solidFill>
                <a:latin typeface="Georgia" pitchFamily="34" charset="0"/>
                <a:ea typeface="Georgia" pitchFamily="34" charset="-122"/>
                <a:cs typeface="Georgia" pitchFamily="34" charset="-120"/>
              </a:rPr>
              <a:t>Never promise “no hallucinations.” Promise a measurable, tunable reduction with an audit trail.</a:t>
            </a:r>
            <a:endParaRPr lang="en-US" sz="1400" dirty="0"/>
          </a:p>
        </p:txBody>
      </p:sp>
      <p:sp>
        <p:nvSpPr>
          <p:cNvPr id="11" name="Shape 9"/>
          <p:cNvSpPr/>
          <p:nvPr/>
        </p:nvSpPr>
        <p:spPr>
          <a:xfrm>
            <a:off x="566928" y="5074920"/>
            <a:ext cx="10972800" cy="868680"/>
          </a:xfrm>
          <a:prstGeom prst="rect">
            <a:avLst/>
          </a:prstGeom>
          <a:solidFill>
            <a:srgbClr val="FBE5D2"/>
          </a:solidFill>
          <a:ln w="12700">
            <a:solidFill>
              <a:srgbClr val="E2E8F0"/>
            </a:solidFill>
            <a:prstDash val="solid"/>
          </a:ln>
        </p:spPr>
      </p:sp>
      <p:sp>
        <p:nvSpPr>
          <p:cNvPr id="12" name="Shape 10"/>
          <p:cNvSpPr/>
          <p:nvPr/>
        </p:nvSpPr>
        <p:spPr>
          <a:xfrm>
            <a:off x="566928" y="5074920"/>
            <a:ext cx="64008" cy="868680"/>
          </a:xfrm>
          <a:prstGeom prst="rect">
            <a:avLst/>
          </a:prstGeom>
          <a:solidFill>
            <a:srgbClr val="B45309"/>
          </a:solidFill>
          <a:ln/>
        </p:spPr>
      </p:sp>
      <p:sp>
        <p:nvSpPr>
          <p:cNvPr id="13" name="Text 11"/>
          <p:cNvSpPr/>
          <p:nvPr/>
        </p:nvSpPr>
        <p:spPr>
          <a:xfrm>
            <a:off x="822960" y="5212080"/>
            <a:ext cx="10515600" cy="5943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AWS itself lists conversational QA as unsupported, and field reports show grounding accuracy dropping as context grows. Borrow the principle, not an outcome guarantee.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18</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 4</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custom parser / override Lambda</a:t>
            </a:r>
            <a:endParaRPr lang="en-US" sz="3100" dirty="0"/>
          </a:p>
        </p:txBody>
      </p:sp>
      <p:sp>
        <p:nvSpPr>
          <p:cNvPr id="6" name="Text 4"/>
          <p:cNvSpPr/>
          <p:nvPr/>
        </p:nvSpPr>
        <p:spPr>
          <a:xfrm>
            <a:off x="566928" y="1417320"/>
            <a:ext cx="10972800" cy="1188720"/>
          </a:xfrm>
          <a:prstGeom prst="rect">
            <a:avLst/>
          </a:prstGeom>
          <a:noFill/>
          <a:ln/>
        </p:spPr>
        <p:txBody>
          <a:bodyPr wrap="square" lIns="0" tIns="0" rIns="0" bIns="0" rtlCol="0" anchor="t"/>
          <a:lstStyle/>
          <a:p>
            <a:pPr marL="177800" indent="-177800">
              <a:spcAft>
                <a:spcPts val="900"/>
              </a:spcAft>
              <a:buSzPct val="100000"/>
              <a:buChar char="•"/>
            </a:pPr>
            <a:r>
              <a:rPr lang="en-US" sz="1350" b="1" dirty="0">
                <a:solidFill>
                  <a:srgbClr val="1F2937"/>
                </a:solidFill>
                <a:latin typeface="Calibri" pitchFamily="34" charset="0"/>
                <a:ea typeface="Calibri" pitchFamily="34" charset="-122"/>
                <a:cs typeface="Calibri" pitchFamily="34" charset="-120"/>
              </a:rPr>
              <a:t>Replace Bedrock's built-in parser with YOUR Lambda, per phase</a:t>
            </a:r>
            <a:endParaRPr lang="en-US" sz="1350" dirty="0"/>
          </a:p>
          <a:p>
            <a:pPr marL="177800" indent="-177800">
              <a:spcAft>
                <a:spcPts val="900"/>
              </a:spcAft>
              <a:buSzPct val="100000"/>
              <a:buChar char="•"/>
            </a:pPr>
            <a:r>
              <a:rPr lang="en-US" sz="1350" dirty="0">
                <a:solidFill>
                  <a:srgbClr val="1F2937"/>
                </a:solidFill>
                <a:latin typeface="Calibri" pitchFamily="34" charset="0"/>
                <a:ea typeface="Calibri" pitchFamily="34" charset="-122"/>
                <a:cs typeface="Calibri" pitchFamily="34" charset="-120"/>
              </a:rPr>
              <a:t>Use it to validate reasoning, force a reprompt, or sanitize output</a:t>
            </a:r>
            <a:endParaRPr lang="en-US" sz="1350" dirty="0"/>
          </a:p>
          <a:p>
            <a:pPr marL="177800" indent="-177800">
              <a:spcAft>
                <a:spcPts val="900"/>
              </a:spcAft>
              <a:buSzPct val="100000"/>
              <a:buChar char="•"/>
            </a:pPr>
            <a:r>
              <a:rPr lang="en-US" sz="1350" dirty="0">
                <a:solidFill>
                  <a:srgbClr val="B45309"/>
                </a:solidFill>
                <a:latin typeface="Calibri" pitchFamily="34" charset="0"/>
                <a:ea typeface="Calibri" pitchFamily="34" charset="-122"/>
                <a:cs typeface="Calibri" pitchFamily="34" charset="-120"/>
              </a:rPr>
              <a:t>Config: promptOverrideConfiguration + parserMode OVERRIDDEN</a:t>
            </a:r>
            <a:endParaRPr lang="en-US" sz="1350" dirty="0"/>
          </a:p>
        </p:txBody>
      </p:sp>
      <p:sp>
        <p:nvSpPr>
          <p:cNvPr id="7" name="Shape 5"/>
          <p:cNvSpPr/>
          <p:nvPr/>
        </p:nvSpPr>
        <p:spPr>
          <a:xfrm>
            <a:off x="566928" y="2697480"/>
            <a:ext cx="10972800" cy="2973629"/>
          </a:xfrm>
          <a:prstGeom prst="roundRect">
            <a:avLst>
              <a:gd name="adj" fmla="val 1845"/>
            </a:avLst>
          </a:prstGeom>
          <a:solidFill>
            <a:srgbClr val="0F172A"/>
          </a:solidFill>
          <a:ln w="12700">
            <a:solidFill>
              <a:srgbClr val="24324C"/>
            </a:solidFill>
            <a:prstDash val="solid"/>
          </a:ln>
          <a:effectLst>
            <a:outerShdw sx="100000" sy="100000" kx="0" ky="0" algn="bl" rotWithShape="0" blurRad="88900" dist="38100" dir="8100000">
              <a:srgbClr val="000000">
                <a:alpha val="18000"/>
              </a:srgbClr>
            </a:outerShdw>
          </a:effectLst>
        </p:spPr>
      </p:sp>
      <p:sp>
        <p:nvSpPr>
          <p:cNvPr id="8" name="Shape 6"/>
          <p:cNvSpPr/>
          <p:nvPr/>
        </p:nvSpPr>
        <p:spPr>
          <a:xfrm>
            <a:off x="731520" y="2843784"/>
            <a:ext cx="77724" cy="77724"/>
          </a:xfrm>
          <a:prstGeom prst="oval">
            <a:avLst/>
          </a:prstGeom>
          <a:solidFill>
            <a:srgbClr val="FF5F56"/>
          </a:solidFill>
          <a:ln/>
        </p:spPr>
      </p:sp>
      <p:sp>
        <p:nvSpPr>
          <p:cNvPr id="9" name="Shape 7"/>
          <p:cNvSpPr/>
          <p:nvPr/>
        </p:nvSpPr>
        <p:spPr>
          <a:xfrm>
            <a:off x="841248" y="2843784"/>
            <a:ext cx="77724" cy="77724"/>
          </a:xfrm>
          <a:prstGeom prst="oval">
            <a:avLst/>
          </a:prstGeom>
          <a:solidFill>
            <a:srgbClr val="FFBD2E"/>
          </a:solidFill>
          <a:ln/>
        </p:spPr>
      </p:sp>
      <p:sp>
        <p:nvSpPr>
          <p:cNvPr id="10" name="Shape 8"/>
          <p:cNvSpPr/>
          <p:nvPr/>
        </p:nvSpPr>
        <p:spPr>
          <a:xfrm>
            <a:off x="950976" y="2843784"/>
            <a:ext cx="77724" cy="77724"/>
          </a:xfrm>
          <a:prstGeom prst="oval">
            <a:avLst/>
          </a:prstGeom>
          <a:solidFill>
            <a:srgbClr val="27C93F"/>
          </a:solidFill>
          <a:ln/>
        </p:spPr>
      </p:sp>
      <p:sp>
        <p:nvSpPr>
          <p:cNvPr id="11" name="Text 9"/>
          <p:cNvSpPr/>
          <p:nvPr/>
        </p:nvSpPr>
        <p:spPr>
          <a:xfrm>
            <a:off x="1115568" y="2761488"/>
            <a:ext cx="10241280" cy="201168"/>
          </a:xfrm>
          <a:prstGeom prst="rect">
            <a:avLst/>
          </a:prstGeom>
          <a:noFill/>
          <a:ln/>
        </p:spPr>
        <p:txBody>
          <a:bodyPr wrap="square" lIns="0" tIns="0" rIns="0" bIns="0" rtlCol="0" anchor="ctr"/>
          <a:lstStyle/>
          <a:p>
            <a:pPr algn="l" indent="0" marL="0">
              <a:buNone/>
            </a:pPr>
            <a:r>
              <a:rPr lang="en-US" sz="900" dirty="0">
                <a:solidFill>
                  <a:srgbClr val="9AA3B2"/>
                </a:solidFill>
                <a:latin typeface="Consolas" pitchFamily="34" charset="0"/>
                <a:ea typeface="Consolas" pitchFamily="34" charset="-122"/>
                <a:cs typeface="Consolas" pitchFamily="34" charset="-120"/>
              </a:rPr>
              <a:t>python — bedrock-agent (CONTROL plane)</a:t>
            </a:r>
            <a:endParaRPr lang="en-US" sz="900" dirty="0"/>
          </a:p>
        </p:txBody>
      </p:sp>
      <p:sp>
        <p:nvSpPr>
          <p:cNvPr id="12" name="Text 10"/>
          <p:cNvSpPr/>
          <p:nvPr/>
        </p:nvSpPr>
        <p:spPr>
          <a:xfrm>
            <a:off x="768096" y="3008376"/>
            <a:ext cx="10588752" cy="2534717"/>
          </a:xfrm>
          <a:prstGeom prst="rect">
            <a:avLst/>
          </a:prstGeom>
          <a:noFill/>
          <a:ln/>
        </p:spPr>
        <p:txBody>
          <a:bodyPr wrap="square" lIns="0" tIns="0" rIns="0" bIns="0" rtlCol="0" anchor="t"/>
          <a:lstStyle/>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ba</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update_agent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agentId</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AGENT_ID</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agentName</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TravelMind</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UC1</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agentResourceRoleArn</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ROLE_ARN</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foundationModel</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MODEL_ID</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instruction</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promptOverrideConfiguration</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overrideLambda</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PARSER_LAMBDA_ARN</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promptConfigurations</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promptType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POST_PROCESSING</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i="1" dirty="0">
                <a:solidFill>
                  <a:srgbClr val="8893A7"/>
                </a:solidFill>
                <a:latin typeface="Consolas" pitchFamily="34" charset="0"/>
                <a:ea typeface="Consolas" pitchFamily="34" charset="-122"/>
                <a:cs typeface="Consolas" pitchFamily="34" charset="-120"/>
              </a:rPr>
              <a:t> # or ORCHESTRATION / PRE_PROCESSING</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parserMode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OVERRIDDEN</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i="1" dirty="0">
                <a:solidFill>
                  <a:srgbClr val="8893A7"/>
                </a:solidFill>
                <a:latin typeface="Consolas" pitchFamily="34" charset="0"/>
                <a:ea typeface="Consolas" pitchFamily="34" charset="-122"/>
                <a:cs typeface="Consolas" pitchFamily="34" charset="-120"/>
              </a:rPr>
              <a:t> # use my Lambda for this phase</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promptCreationMode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DEFAULT</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i="1" dirty="0">
                <a:solidFill>
                  <a:srgbClr val="8893A7"/>
                </a:solidFill>
                <a:latin typeface="Consolas" pitchFamily="34" charset="0"/>
                <a:ea typeface="Consolas" pitchFamily="34" charset="-122"/>
                <a:cs typeface="Consolas" pitchFamily="34" charset="-120"/>
              </a:rPr>
              <a:t> # keep AWS default prompt text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promptState</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 "</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ENABLED</a:t>
            </a:r>
            <a:pPr algn="l" indent="0" marL="0">
              <a:lnSpc>
                <a:spcPct val="100000"/>
              </a:lnSpc>
              <a:buNone/>
            </a:pPr>
            <a:r>
              <a:rPr lang="en-US" sz="1050" dirty="0">
                <a:solidFill>
                  <a:srgbClr val="8FD19E"/>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    },</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a:p>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ba</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F7A23B"/>
                </a:solidFill>
                <a:latin typeface="Consolas" pitchFamily="34" charset="0"/>
                <a:ea typeface="Consolas" pitchFamily="34" charset="-122"/>
                <a:cs typeface="Consolas" pitchFamily="34" charset="-120"/>
              </a:rPr>
              <a:t>prepare_agent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agentId</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AGENT_ID</a:t>
            </a:r>
            <a:pPr algn="l" indent="0" marL="0">
              <a:lnSpc>
                <a:spcPct val="100000"/>
              </a:lnSpc>
              <a:buNone/>
            </a:pPr>
            <a:r>
              <a:rPr lang="en-US" sz="1050" dirty="0">
                <a:solidFill>
                  <a:srgbClr val="E5E9F0"/>
                </a:solidFill>
                <a:latin typeface="Consolas" pitchFamily="34" charset="0"/>
                <a:ea typeface="Consolas" pitchFamily="34" charset="-122"/>
                <a:cs typeface="Consolas" pitchFamily="34" charset="-120"/>
              </a:rPr>
              <a:t>)</a:t>
            </a:r>
            <a:endParaRPr lang="en-US" sz="1050" dirty="0"/>
          </a:p>
        </p:txBody>
      </p:sp>
      <p:sp>
        <p:nvSpPr>
          <p:cNvPr id="13" name="Text 11"/>
          <p:cNvSpPr/>
          <p:nvPr/>
        </p:nvSpPr>
        <p:spPr>
          <a:xfrm>
            <a:off x="566928" y="5897880"/>
            <a:ext cx="10972800" cy="36576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Plugs into the phase boundaries from Deck 1 (the promptType values). For BFSI / healthcare-grade output control — attach it to the most vulnerable phases: KB response and post-processing.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19</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 4</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catch — high power, high maintenance</a:t>
            </a:r>
            <a:endParaRPr lang="en-US" sz="3100" dirty="0"/>
          </a:p>
        </p:txBody>
      </p:sp>
      <p:sp>
        <p:nvSpPr>
          <p:cNvPr id="6" name="Shape 4"/>
          <p:cNvSpPr/>
          <p:nvPr/>
        </p:nvSpPr>
        <p:spPr>
          <a:xfrm>
            <a:off x="566928" y="1417320"/>
            <a:ext cx="4846320" cy="237744"/>
          </a:xfrm>
          <a:prstGeom prst="roundRect">
            <a:avLst>
              <a:gd name="adj" fmla="val 15385"/>
            </a:avLst>
          </a:prstGeom>
          <a:solidFill>
            <a:srgbClr val="B91C1C"/>
          </a:solidFill>
          <a:ln/>
        </p:spPr>
      </p:sp>
      <p:sp>
        <p:nvSpPr>
          <p:cNvPr id="7" name="Text 5"/>
          <p:cNvSpPr/>
          <p:nvPr/>
        </p:nvSpPr>
        <p:spPr>
          <a:xfrm>
            <a:off x="566928" y="1417320"/>
            <a:ext cx="4846320" cy="23774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USE ONLY FOR REGULATED / ADVANCED CASES</a:t>
            </a:r>
            <a:endParaRPr lang="en-US" sz="950" dirty="0"/>
          </a:p>
        </p:txBody>
      </p:sp>
      <p:sp>
        <p:nvSpPr>
          <p:cNvPr id="8" name="Shape 6"/>
          <p:cNvSpPr/>
          <p:nvPr/>
        </p:nvSpPr>
        <p:spPr>
          <a:xfrm>
            <a:off x="566928" y="1965960"/>
            <a:ext cx="5349240" cy="1417320"/>
          </a:xfrm>
          <a:prstGeom prst="rect">
            <a:avLst/>
          </a:prstGeom>
          <a:solidFill>
            <a:srgbClr val="FBE9E9"/>
          </a:solidFill>
          <a:ln w="12700">
            <a:solidFill>
              <a:srgbClr val="E2E8F0"/>
            </a:solidFill>
            <a:prstDash val="solid"/>
          </a:ln>
        </p:spPr>
      </p:sp>
      <p:sp>
        <p:nvSpPr>
          <p:cNvPr id="9" name="Shape 7"/>
          <p:cNvSpPr/>
          <p:nvPr/>
        </p:nvSpPr>
        <p:spPr>
          <a:xfrm>
            <a:off x="566928" y="1965960"/>
            <a:ext cx="64008" cy="1417320"/>
          </a:xfrm>
          <a:prstGeom prst="rect">
            <a:avLst/>
          </a:prstGeom>
          <a:solidFill>
            <a:srgbClr val="B91C1C"/>
          </a:solidFill>
          <a:ln/>
        </p:spPr>
      </p:sp>
      <p:sp>
        <p:nvSpPr>
          <p:cNvPr id="10" name="Text 8"/>
          <p:cNvSpPr/>
          <p:nvPr/>
        </p:nvSpPr>
        <p:spPr>
          <a:xfrm>
            <a:off x="768096" y="2112264"/>
            <a:ext cx="4937760" cy="502920"/>
          </a:xfrm>
          <a:prstGeom prst="rect">
            <a:avLst/>
          </a:prstGeom>
          <a:noFill/>
          <a:ln/>
        </p:spPr>
        <p:txBody>
          <a:bodyPr wrap="square" lIns="0" tIns="0" rIns="0" bIns="0" rtlCol="0" anchor="t"/>
          <a:lstStyle/>
          <a:p>
            <a:pPr indent="0" marL="0">
              <a:buNone/>
            </a:pPr>
            <a:r>
              <a:rPr lang="en-US" sz="1450" b="1" dirty="0">
                <a:solidFill>
                  <a:srgbClr val="1F2937"/>
                </a:solidFill>
                <a:latin typeface="Georgia" pitchFamily="34" charset="0"/>
                <a:ea typeface="Georgia" pitchFamily="34" charset="-122"/>
                <a:cs typeface="Georgia" pitchFamily="34" charset="-120"/>
              </a:rPr>
              <a:t>Extra Lambda = extra cost + latency</a:t>
            </a:r>
            <a:endParaRPr lang="en-US" sz="1450" dirty="0"/>
          </a:p>
        </p:txBody>
      </p:sp>
      <p:sp>
        <p:nvSpPr>
          <p:cNvPr id="11" name="Text 9"/>
          <p:cNvSpPr/>
          <p:nvPr/>
        </p:nvSpPr>
        <p:spPr>
          <a:xfrm>
            <a:off x="768096" y="2624328"/>
            <a:ext cx="498348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managed parser is free. You are now paying per phase invocation.</a:t>
            </a:r>
            <a:endParaRPr lang="en-US" sz="1200" dirty="0"/>
          </a:p>
        </p:txBody>
      </p:sp>
      <p:sp>
        <p:nvSpPr>
          <p:cNvPr id="12" name="Shape 10"/>
          <p:cNvSpPr/>
          <p:nvPr/>
        </p:nvSpPr>
        <p:spPr>
          <a:xfrm>
            <a:off x="6144768" y="1965960"/>
            <a:ext cx="5349240" cy="1417320"/>
          </a:xfrm>
          <a:prstGeom prst="rect">
            <a:avLst/>
          </a:prstGeom>
          <a:solidFill>
            <a:srgbClr val="FBE9E9"/>
          </a:solidFill>
          <a:ln w="12700">
            <a:solidFill>
              <a:srgbClr val="E2E8F0"/>
            </a:solidFill>
            <a:prstDash val="solid"/>
          </a:ln>
        </p:spPr>
      </p:sp>
      <p:sp>
        <p:nvSpPr>
          <p:cNvPr id="13" name="Shape 11"/>
          <p:cNvSpPr/>
          <p:nvPr/>
        </p:nvSpPr>
        <p:spPr>
          <a:xfrm>
            <a:off x="6144768" y="1965960"/>
            <a:ext cx="64008" cy="1417320"/>
          </a:xfrm>
          <a:prstGeom prst="rect">
            <a:avLst/>
          </a:prstGeom>
          <a:solidFill>
            <a:srgbClr val="B91C1C"/>
          </a:solidFill>
          <a:ln/>
        </p:spPr>
      </p:sp>
      <p:sp>
        <p:nvSpPr>
          <p:cNvPr id="14" name="Text 12"/>
          <p:cNvSpPr/>
          <p:nvPr/>
        </p:nvSpPr>
        <p:spPr>
          <a:xfrm>
            <a:off x="6345936" y="2112264"/>
            <a:ext cx="4937760" cy="502920"/>
          </a:xfrm>
          <a:prstGeom prst="rect">
            <a:avLst/>
          </a:prstGeom>
          <a:noFill/>
          <a:ln/>
        </p:spPr>
        <p:txBody>
          <a:bodyPr wrap="square" lIns="0" tIns="0" rIns="0" bIns="0" rtlCol="0" anchor="t"/>
          <a:lstStyle/>
          <a:p>
            <a:pPr indent="0" marL="0">
              <a:buNone/>
            </a:pPr>
            <a:r>
              <a:rPr lang="en-US" sz="1450" b="1" dirty="0">
                <a:solidFill>
                  <a:srgbClr val="1F2937"/>
                </a:solidFill>
                <a:latin typeface="Georgia" pitchFamily="34" charset="0"/>
                <a:ea typeface="Georgia" pitchFamily="34" charset="-122"/>
                <a:cs typeface="Georgia" pitchFamily="34" charset="-120"/>
              </a:rPr>
              <a:t>A misread breaks the agent</a:t>
            </a:r>
            <a:endParaRPr lang="en-US" sz="1450" dirty="0"/>
          </a:p>
        </p:txBody>
      </p:sp>
      <p:sp>
        <p:nvSpPr>
          <p:cNvPr id="15" name="Text 13"/>
          <p:cNvSpPr/>
          <p:nvPr/>
        </p:nvSpPr>
        <p:spPr>
          <a:xfrm>
            <a:off x="6345936" y="2624328"/>
            <a:ext cx="498348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If your parser mis-parses the model's XML, orchestration fails — and the trace cannot help you.</a:t>
            </a:r>
            <a:endParaRPr lang="en-US" sz="1200" dirty="0"/>
          </a:p>
        </p:txBody>
      </p:sp>
      <p:sp>
        <p:nvSpPr>
          <p:cNvPr id="16" name="Shape 14"/>
          <p:cNvSpPr/>
          <p:nvPr/>
        </p:nvSpPr>
        <p:spPr>
          <a:xfrm>
            <a:off x="566928" y="3566160"/>
            <a:ext cx="5349240" cy="1417320"/>
          </a:xfrm>
          <a:prstGeom prst="rect">
            <a:avLst/>
          </a:prstGeom>
          <a:solidFill>
            <a:srgbClr val="FBE9E9"/>
          </a:solidFill>
          <a:ln w="12700">
            <a:solidFill>
              <a:srgbClr val="E2E8F0"/>
            </a:solidFill>
            <a:prstDash val="solid"/>
          </a:ln>
        </p:spPr>
      </p:sp>
      <p:sp>
        <p:nvSpPr>
          <p:cNvPr id="17" name="Shape 15"/>
          <p:cNvSpPr/>
          <p:nvPr/>
        </p:nvSpPr>
        <p:spPr>
          <a:xfrm>
            <a:off x="566928" y="3566160"/>
            <a:ext cx="64008" cy="1417320"/>
          </a:xfrm>
          <a:prstGeom prst="rect">
            <a:avLst/>
          </a:prstGeom>
          <a:solidFill>
            <a:srgbClr val="B91C1C"/>
          </a:solidFill>
          <a:ln/>
        </p:spPr>
      </p:sp>
      <p:sp>
        <p:nvSpPr>
          <p:cNvPr id="18" name="Text 16"/>
          <p:cNvSpPr/>
          <p:nvPr/>
        </p:nvSpPr>
        <p:spPr>
          <a:xfrm>
            <a:off x="768096" y="3712464"/>
            <a:ext cx="4937760" cy="502920"/>
          </a:xfrm>
          <a:prstGeom prst="rect">
            <a:avLst/>
          </a:prstGeom>
          <a:noFill/>
          <a:ln/>
        </p:spPr>
        <p:txBody>
          <a:bodyPr wrap="square" lIns="0" tIns="0" rIns="0" bIns="0" rtlCol="0" anchor="t"/>
          <a:lstStyle/>
          <a:p>
            <a:pPr indent="0" marL="0">
              <a:buNone/>
            </a:pPr>
            <a:r>
              <a:rPr lang="en-US" sz="1450" b="1" dirty="0">
                <a:solidFill>
                  <a:srgbClr val="1F2937"/>
                </a:solidFill>
                <a:latin typeface="Georgia" pitchFamily="34" charset="0"/>
                <a:ea typeface="Georgia" pitchFamily="34" charset="-122"/>
                <a:cs typeface="Georgia" pitchFamily="34" charset="-120"/>
              </a:rPr>
              <a:t>The trace itself is produced by the parser</a:t>
            </a:r>
            <a:endParaRPr lang="en-US" sz="1450" dirty="0"/>
          </a:p>
        </p:txBody>
      </p:sp>
      <p:sp>
        <p:nvSpPr>
          <p:cNvPr id="19" name="Text 17"/>
          <p:cNvSpPr/>
          <p:nvPr/>
        </p:nvSpPr>
        <p:spPr>
          <a:xfrm>
            <a:off x="768096" y="4224528"/>
            <a:ext cx="498348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Break it and you blind your main debugging tool — you fall back to CloudWatch logs on the Lambda.</a:t>
            </a:r>
            <a:endParaRPr lang="en-US" sz="1200" dirty="0"/>
          </a:p>
        </p:txBody>
      </p:sp>
      <p:sp>
        <p:nvSpPr>
          <p:cNvPr id="20" name="Shape 18"/>
          <p:cNvSpPr/>
          <p:nvPr/>
        </p:nvSpPr>
        <p:spPr>
          <a:xfrm>
            <a:off x="6144768" y="3566160"/>
            <a:ext cx="5349240" cy="1417320"/>
          </a:xfrm>
          <a:prstGeom prst="rect">
            <a:avLst/>
          </a:prstGeom>
          <a:solidFill>
            <a:srgbClr val="FBE9E9"/>
          </a:solidFill>
          <a:ln w="12700">
            <a:solidFill>
              <a:srgbClr val="E2E8F0"/>
            </a:solidFill>
            <a:prstDash val="solid"/>
          </a:ln>
        </p:spPr>
      </p:sp>
      <p:sp>
        <p:nvSpPr>
          <p:cNvPr id="21" name="Shape 19"/>
          <p:cNvSpPr/>
          <p:nvPr/>
        </p:nvSpPr>
        <p:spPr>
          <a:xfrm>
            <a:off x="6144768" y="3566160"/>
            <a:ext cx="64008" cy="1417320"/>
          </a:xfrm>
          <a:prstGeom prst="rect">
            <a:avLst/>
          </a:prstGeom>
          <a:solidFill>
            <a:srgbClr val="B91C1C"/>
          </a:solidFill>
          <a:ln/>
        </p:spPr>
      </p:sp>
      <p:sp>
        <p:nvSpPr>
          <p:cNvPr id="22" name="Text 20"/>
          <p:cNvSpPr/>
          <p:nvPr/>
        </p:nvSpPr>
        <p:spPr>
          <a:xfrm>
            <a:off x="6345936" y="3712464"/>
            <a:ext cx="4937760" cy="502920"/>
          </a:xfrm>
          <a:prstGeom prst="rect">
            <a:avLst/>
          </a:prstGeom>
          <a:noFill/>
          <a:ln/>
        </p:spPr>
        <p:txBody>
          <a:bodyPr wrap="square" lIns="0" tIns="0" rIns="0" bIns="0" rtlCol="0" anchor="t"/>
          <a:lstStyle/>
          <a:p>
            <a:pPr indent="0" marL="0">
              <a:buNone/>
            </a:pPr>
            <a:r>
              <a:rPr lang="en-US" sz="1450" b="1" dirty="0">
                <a:solidFill>
                  <a:srgbClr val="1F2937"/>
                </a:solidFill>
                <a:latin typeface="Georgia" pitchFamily="34" charset="0"/>
                <a:ea typeface="Georgia" pitchFamily="34" charset="-122"/>
                <a:cs typeface="Georgia" pitchFamily="34" charset="-120"/>
              </a:rPr>
              <a:t>You own the error logging</a:t>
            </a:r>
            <a:endParaRPr lang="en-US" sz="1450" dirty="0"/>
          </a:p>
        </p:txBody>
      </p:sp>
      <p:sp>
        <p:nvSpPr>
          <p:cNvPr id="23" name="Text 21"/>
          <p:cNvSpPr/>
          <p:nvPr/>
        </p:nvSpPr>
        <p:spPr>
          <a:xfrm>
            <a:off x="6345936" y="4224528"/>
            <a:ext cx="498348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Everything the built-in parser did for free is now your responsibility.</a:t>
            </a:r>
            <a:endParaRPr lang="en-US" sz="1200" dirty="0"/>
          </a:p>
        </p:txBody>
      </p:sp>
      <p:sp>
        <p:nvSpPr>
          <p:cNvPr id="24" name="Text 22"/>
          <p:cNvSpPr/>
          <p:nvPr/>
        </p:nvSpPr>
        <p:spPr>
          <a:xfrm>
            <a:off x="566928" y="5349240"/>
            <a:ext cx="10972800" cy="457200"/>
          </a:xfrm>
          <a:prstGeom prst="rect">
            <a:avLst/>
          </a:prstGeom>
          <a:noFill/>
          <a:ln/>
        </p:spPr>
        <p:txBody>
          <a:bodyPr wrap="square" lIns="0" tIns="0" rIns="0" bIns="0" rtlCol="0" anchor="ctr"/>
          <a:lstStyle/>
          <a:p>
            <a:pPr indent="0" marL="0">
              <a:buNone/>
            </a:pPr>
            <a:r>
              <a:rPr lang="en-US" sz="1400" b="1" i="1" dirty="0">
                <a:solidFill>
                  <a:srgbClr val="B45309"/>
                </a:solidFill>
                <a:latin typeface="Georgia" pitchFamily="34" charset="0"/>
                <a:ea typeface="Georgia" pitchFamily="34" charset="-122"/>
                <a:cs typeface="Georgia" pitchFamily="34" charset="-120"/>
              </a:rPr>
              <a:t>Overriding the parser is “a whole different ballgame.” Do not reach for it on a simple agent.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20</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HALLUCINATION · LAYER 5</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verifier agent — preferred over nesting</a:t>
            </a:r>
            <a:endParaRPr lang="en-US" sz="3100" dirty="0"/>
          </a:p>
        </p:txBody>
      </p:sp>
      <p:sp>
        <p:nvSpPr>
          <p:cNvPr id="6" name="Shape 4"/>
          <p:cNvSpPr/>
          <p:nvPr/>
        </p:nvSpPr>
        <p:spPr>
          <a:xfrm>
            <a:off x="566928" y="1417320"/>
            <a:ext cx="822960" cy="237744"/>
          </a:xfrm>
          <a:prstGeom prst="roundRect">
            <a:avLst>
              <a:gd name="adj" fmla="val 15385"/>
            </a:avLst>
          </a:prstGeom>
          <a:solidFill>
            <a:srgbClr val="B91C1C"/>
          </a:solidFill>
          <a:ln/>
        </p:spPr>
      </p:sp>
      <p:sp>
        <p:nvSpPr>
          <p:cNvPr id="7" name="Text 5"/>
          <p:cNvSpPr/>
          <p:nvPr/>
        </p:nvSpPr>
        <p:spPr>
          <a:xfrm>
            <a:off x="566928" y="1417320"/>
            <a:ext cx="822960" cy="23774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DON'T NEST</a:t>
            </a:r>
            <a:endParaRPr lang="en-US" sz="950" dirty="0"/>
          </a:p>
        </p:txBody>
      </p:sp>
      <p:sp>
        <p:nvSpPr>
          <p:cNvPr id="8" name="Text 6"/>
          <p:cNvSpPr/>
          <p:nvPr/>
        </p:nvSpPr>
        <p:spPr>
          <a:xfrm>
            <a:off x="1920240" y="1417320"/>
            <a:ext cx="960120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Instead of a parser that secretly calls another agent (which has its own Lambda) → use an open flow.</a:t>
            </a:r>
            <a:endParaRPr lang="en-US" sz="1300" dirty="0"/>
          </a:p>
        </p:txBody>
      </p:sp>
      <p:sp>
        <p:nvSpPr>
          <p:cNvPr id="9" name="Shape 7"/>
          <p:cNvSpPr/>
          <p:nvPr/>
        </p:nvSpPr>
        <p:spPr>
          <a:xfrm>
            <a:off x="566928" y="2148840"/>
            <a:ext cx="2926080" cy="1280160"/>
          </a:xfrm>
          <a:prstGeom prst="roundRect">
            <a:avLst>
              <a:gd name="adj" fmla="val 5000"/>
            </a:avLst>
          </a:prstGeom>
          <a:solidFill>
            <a:srgbClr val="111C32"/>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10" name="Text 8"/>
          <p:cNvSpPr/>
          <p:nvPr/>
        </p:nvSpPr>
        <p:spPr>
          <a:xfrm>
            <a:off x="566928" y="2331720"/>
            <a:ext cx="292608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Agent A</a:t>
            </a:r>
            <a:endParaRPr lang="en-US" sz="1700" dirty="0"/>
          </a:p>
        </p:txBody>
      </p:sp>
      <p:sp>
        <p:nvSpPr>
          <p:cNvPr id="11" name="Text 9"/>
          <p:cNvSpPr/>
          <p:nvPr/>
        </p:nvSpPr>
        <p:spPr>
          <a:xfrm>
            <a:off x="704088" y="2788920"/>
            <a:ext cx="2651760" cy="548640"/>
          </a:xfrm>
          <a:prstGeom prst="rect">
            <a:avLst/>
          </a:prstGeom>
          <a:noFill/>
          <a:ln/>
        </p:spPr>
        <p:txBody>
          <a:bodyPr wrap="square" lIns="0" tIns="0" rIns="0" bIns="0" rtlCol="0" anchor="t"/>
          <a:lstStyle/>
          <a:p>
            <a:pPr algn="ctr" indent="0" marL="0">
              <a:buNone/>
            </a:pPr>
            <a:r>
              <a:rPr lang="en-US" sz="1150" dirty="0">
                <a:solidFill>
                  <a:srgbClr val="E5E9F0"/>
                </a:solidFill>
                <a:latin typeface="Calibri" pitchFamily="34" charset="0"/>
                <a:ea typeface="Calibri" pitchFamily="34" charset="-122"/>
                <a:cs typeface="Calibri" pitchFamily="34" charset="-120"/>
              </a:rPr>
              <a:t>drafts the answer</a:t>
            </a:r>
            <a:endParaRPr lang="en-US" sz="1150" dirty="0"/>
          </a:p>
        </p:txBody>
      </p:sp>
      <p:sp>
        <p:nvSpPr>
          <p:cNvPr id="12" name="Shape 10"/>
          <p:cNvSpPr/>
          <p:nvPr/>
        </p:nvSpPr>
        <p:spPr>
          <a:xfrm>
            <a:off x="4315968" y="2148840"/>
            <a:ext cx="2926080" cy="1280160"/>
          </a:xfrm>
          <a:prstGeom prst="roundRect">
            <a:avLst>
              <a:gd name="adj" fmla="val 5000"/>
            </a:avLst>
          </a:prstGeom>
          <a:solidFill>
            <a:srgbClr val="FBE5D2"/>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13" name="Text 11"/>
          <p:cNvSpPr/>
          <p:nvPr/>
        </p:nvSpPr>
        <p:spPr>
          <a:xfrm>
            <a:off x="4315968" y="2331720"/>
            <a:ext cx="2926080" cy="457200"/>
          </a:xfrm>
          <a:prstGeom prst="rect">
            <a:avLst/>
          </a:prstGeom>
          <a:noFill/>
          <a:ln/>
        </p:spPr>
        <p:txBody>
          <a:bodyPr wrap="square" lIns="0" tIns="0" rIns="0" bIns="0" rtlCol="0" anchor="ctr"/>
          <a:lstStyle/>
          <a:p>
            <a:pPr algn="ctr" indent="0" marL="0">
              <a:buNone/>
            </a:pPr>
            <a:r>
              <a:rPr lang="en-US" sz="1700" b="1" dirty="0">
                <a:solidFill>
                  <a:srgbClr val="B45309"/>
                </a:solidFill>
                <a:latin typeface="Georgia" pitchFamily="34" charset="0"/>
                <a:ea typeface="Georgia" pitchFamily="34" charset="-122"/>
                <a:cs typeface="Georgia" pitchFamily="34" charset="-120"/>
              </a:rPr>
              <a:t>Agent B</a:t>
            </a:r>
            <a:endParaRPr lang="en-US" sz="1700" dirty="0"/>
          </a:p>
        </p:txBody>
      </p:sp>
      <p:sp>
        <p:nvSpPr>
          <p:cNvPr id="14" name="Text 12"/>
          <p:cNvSpPr/>
          <p:nvPr/>
        </p:nvSpPr>
        <p:spPr>
          <a:xfrm>
            <a:off x="4453128" y="2788920"/>
            <a:ext cx="2651760" cy="54864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verifier — checks vs the source</a:t>
            </a:r>
            <a:endParaRPr lang="en-US" sz="1150" dirty="0"/>
          </a:p>
        </p:txBody>
      </p:sp>
      <p:sp>
        <p:nvSpPr>
          <p:cNvPr id="15" name="Shape 13"/>
          <p:cNvSpPr/>
          <p:nvPr/>
        </p:nvSpPr>
        <p:spPr>
          <a:xfrm>
            <a:off x="8065008" y="2148840"/>
            <a:ext cx="2926080" cy="1280160"/>
          </a:xfrm>
          <a:prstGeom prst="roundRect">
            <a:avLst>
              <a:gd name="adj" fmla="val 5000"/>
            </a:avLst>
          </a:prstGeom>
          <a:solidFill>
            <a:srgbClr val="E7F4EA"/>
          </a:solidFill>
          <a:ln w="12700">
            <a:solidFill>
              <a:srgbClr val="E2E8F0"/>
            </a:solidFill>
            <a:prstDash val="solid"/>
          </a:ln>
          <a:effectLst>
            <a:outerShdw sx="100000" sy="100000" kx="0" ky="0" algn="bl" rotWithShape="0" blurRad="76200" dist="25400" dir="8100000">
              <a:srgbClr val="000000">
                <a:alpha val="10000"/>
              </a:srgbClr>
            </a:outerShdw>
          </a:effectLst>
        </p:spPr>
      </p:sp>
      <p:sp>
        <p:nvSpPr>
          <p:cNvPr id="16" name="Text 14"/>
          <p:cNvSpPr/>
          <p:nvPr/>
        </p:nvSpPr>
        <p:spPr>
          <a:xfrm>
            <a:off x="8065008" y="2331720"/>
            <a:ext cx="2926080" cy="457200"/>
          </a:xfrm>
          <a:prstGeom prst="rect">
            <a:avLst/>
          </a:prstGeom>
          <a:noFill/>
          <a:ln/>
        </p:spPr>
        <p:txBody>
          <a:bodyPr wrap="square" lIns="0" tIns="0" rIns="0" bIns="0" rtlCol="0" anchor="ctr"/>
          <a:lstStyle/>
          <a:p>
            <a:pPr algn="ctr" indent="0" marL="0">
              <a:buNone/>
            </a:pPr>
            <a:r>
              <a:rPr lang="en-US" sz="1700" b="1" dirty="0">
                <a:solidFill>
                  <a:srgbClr val="15803D"/>
                </a:solidFill>
                <a:latin typeface="Georgia" pitchFamily="34" charset="0"/>
                <a:ea typeface="Georgia" pitchFamily="34" charset="-122"/>
                <a:cs typeface="Georgia" pitchFamily="34" charset="-120"/>
              </a:rPr>
              <a:t>Clean answer</a:t>
            </a:r>
            <a:endParaRPr lang="en-US" sz="1700" dirty="0"/>
          </a:p>
        </p:txBody>
      </p:sp>
      <p:sp>
        <p:nvSpPr>
          <p:cNvPr id="17" name="Text 15"/>
          <p:cNvSpPr/>
          <p:nvPr/>
        </p:nvSpPr>
        <p:spPr>
          <a:xfrm>
            <a:off x="8202168" y="2788920"/>
            <a:ext cx="2651760" cy="548640"/>
          </a:xfrm>
          <a:prstGeom prst="rect">
            <a:avLst/>
          </a:prstGeom>
          <a:noFill/>
          <a:ln/>
        </p:spPr>
        <p:txBody>
          <a:bodyPr wrap="square" lIns="0" tIns="0" rIns="0" bIns="0"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returned to the user</a:t>
            </a:r>
            <a:endParaRPr lang="en-US" sz="1150" dirty="0"/>
          </a:p>
        </p:txBody>
      </p:sp>
      <p:sp>
        <p:nvSpPr>
          <p:cNvPr id="18" name="Shape 16"/>
          <p:cNvSpPr/>
          <p:nvPr/>
        </p:nvSpPr>
        <p:spPr>
          <a:xfrm>
            <a:off x="3584448" y="2697480"/>
            <a:ext cx="640080" cy="201168"/>
          </a:xfrm>
          <a:prstGeom prst="rightArrow">
            <a:avLst/>
          </a:prstGeom>
          <a:solidFill>
            <a:srgbClr val="B45309"/>
          </a:solidFill>
          <a:ln/>
        </p:spPr>
      </p:sp>
      <p:sp>
        <p:nvSpPr>
          <p:cNvPr id="19" name="Shape 17"/>
          <p:cNvSpPr/>
          <p:nvPr/>
        </p:nvSpPr>
        <p:spPr>
          <a:xfrm>
            <a:off x="7333488" y="2697480"/>
            <a:ext cx="640080" cy="201168"/>
          </a:xfrm>
          <a:prstGeom prst="rightArrow">
            <a:avLst/>
          </a:prstGeom>
          <a:solidFill>
            <a:srgbClr val="B45309"/>
          </a:solidFill>
          <a:ln/>
        </p:spPr>
      </p:sp>
      <p:sp>
        <p:nvSpPr>
          <p:cNvPr id="20" name="Shape 18"/>
          <p:cNvSpPr/>
          <p:nvPr/>
        </p:nvSpPr>
        <p:spPr>
          <a:xfrm>
            <a:off x="3657600" y="3703320"/>
            <a:ext cx="4297680" cy="274320"/>
          </a:xfrm>
          <a:prstGeom prst="leftArrow">
            <a:avLst/>
          </a:prstGeom>
          <a:solidFill>
            <a:srgbClr val="B45309"/>
          </a:solidFill>
          <a:ln/>
        </p:spPr>
      </p:sp>
      <p:sp>
        <p:nvSpPr>
          <p:cNvPr id="21" name="Text 19"/>
          <p:cNvSpPr/>
          <p:nvPr/>
        </p:nvSpPr>
        <p:spPr>
          <a:xfrm>
            <a:off x="3657600" y="4005072"/>
            <a:ext cx="4297680" cy="274320"/>
          </a:xfrm>
          <a:prstGeom prst="rect">
            <a:avLst/>
          </a:prstGeom>
          <a:noFill/>
          <a:ln/>
        </p:spPr>
        <p:txBody>
          <a:bodyPr wrap="square" lIns="0" tIns="0" rIns="0" bIns="0" rtlCol="0" anchor="ctr"/>
          <a:lstStyle/>
          <a:p>
            <a:pPr algn="ctr" indent="0" marL="0">
              <a:buNone/>
            </a:pPr>
            <a:r>
              <a:rPr lang="en-US" sz="1150" i="1" dirty="0">
                <a:solidFill>
                  <a:srgbClr val="B45309"/>
                </a:solidFill>
                <a:latin typeface="Calibri" pitchFamily="34" charset="0"/>
                <a:ea typeface="Calibri" pitchFamily="34" charset="-122"/>
                <a:cs typeface="Calibri" pitchFamily="34" charset="-120"/>
              </a:rPr>
              <a:t>fails check → loop until clean</a:t>
            </a:r>
            <a:endParaRPr lang="en-US" sz="1150" dirty="0"/>
          </a:p>
        </p:txBody>
      </p:sp>
      <p:sp>
        <p:nvSpPr>
          <p:cNvPr id="22" name="Shape 20"/>
          <p:cNvSpPr/>
          <p:nvPr/>
        </p:nvSpPr>
        <p:spPr>
          <a:xfrm>
            <a:off x="566928" y="4572000"/>
            <a:ext cx="5394960" cy="1325880"/>
          </a:xfrm>
          <a:prstGeom prst="roundRect">
            <a:avLst>
              <a:gd name="adj" fmla="val 4828"/>
            </a:avLst>
          </a:prstGeom>
          <a:solidFill>
            <a:srgbClr val="E7F4EA"/>
          </a:solidFill>
          <a:ln w="12700">
            <a:solidFill>
              <a:srgbClr val="BFE3C8"/>
            </a:solidFill>
            <a:prstDash val="solid"/>
          </a:ln>
        </p:spPr>
      </p:sp>
      <p:sp>
        <p:nvSpPr>
          <p:cNvPr id="23" name="Text 21"/>
          <p:cNvSpPr/>
          <p:nvPr/>
        </p:nvSpPr>
        <p:spPr>
          <a:xfrm>
            <a:off x="777240" y="4718304"/>
            <a:ext cx="4937760" cy="365760"/>
          </a:xfrm>
          <a:prstGeom prst="rect">
            <a:avLst/>
          </a:prstGeom>
          <a:noFill/>
          <a:ln/>
        </p:spPr>
        <p:txBody>
          <a:bodyPr wrap="square" lIns="0" tIns="0" rIns="0" bIns="0" rtlCol="0" anchor="ctr"/>
          <a:lstStyle/>
          <a:p>
            <a:pPr indent="0" marL="0">
              <a:buNone/>
            </a:pPr>
            <a:r>
              <a:rPr lang="en-US" sz="1450" b="1" dirty="0">
                <a:solidFill>
                  <a:srgbClr val="15803D"/>
                </a:solidFill>
                <a:latin typeface="Georgia" pitchFamily="34" charset="0"/>
                <a:ea typeface="Georgia" pitchFamily="34" charset="-122"/>
                <a:cs typeface="Georgia" pitchFamily="34" charset="-120"/>
              </a:rPr>
              <a:t>Why a flow wins</a:t>
            </a:r>
            <a:endParaRPr lang="en-US" sz="1450" dirty="0"/>
          </a:p>
        </p:txBody>
      </p:sp>
      <p:sp>
        <p:nvSpPr>
          <p:cNvPr id="24" name="Text 22"/>
          <p:cNvSpPr/>
          <p:nvPr/>
        </p:nvSpPr>
        <p:spPr>
          <a:xfrm>
            <a:off x="777240" y="5084064"/>
            <a:ext cx="4983480" cy="7315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Each step is visible. You can see, rate, and fix Agent B independently. Easy to debug, maintain, upgrade.</a:t>
            </a:r>
            <a:endParaRPr lang="en-US" sz="1250" dirty="0"/>
          </a:p>
        </p:txBody>
      </p:sp>
      <p:sp>
        <p:nvSpPr>
          <p:cNvPr id="25" name="Shape 23"/>
          <p:cNvSpPr/>
          <p:nvPr/>
        </p:nvSpPr>
        <p:spPr>
          <a:xfrm>
            <a:off x="6144768" y="4572000"/>
            <a:ext cx="5394960" cy="1325880"/>
          </a:xfrm>
          <a:prstGeom prst="roundRect">
            <a:avLst>
              <a:gd name="adj" fmla="val 4828"/>
            </a:avLst>
          </a:prstGeom>
          <a:solidFill>
            <a:srgbClr val="F8FAFC"/>
          </a:solidFill>
          <a:ln w="12700">
            <a:solidFill>
              <a:srgbClr val="E2E8F0"/>
            </a:solidFill>
            <a:prstDash val="solid"/>
          </a:ln>
        </p:spPr>
      </p:sp>
      <p:sp>
        <p:nvSpPr>
          <p:cNvPr id="26" name="Text 24"/>
          <p:cNvSpPr/>
          <p:nvPr/>
        </p:nvSpPr>
        <p:spPr>
          <a:xfrm>
            <a:off x="6355080" y="4718304"/>
            <a:ext cx="4937760" cy="365760"/>
          </a:xfrm>
          <a:prstGeom prst="rect">
            <a:avLst/>
          </a:prstGeom>
          <a:noFill/>
          <a:ln/>
        </p:spPr>
        <p:txBody>
          <a:bodyPr wrap="square" lIns="0" tIns="0" rIns="0" bIns="0" rtlCol="0" anchor="ctr"/>
          <a:lstStyle/>
          <a:p>
            <a:pPr indent="0" marL="0">
              <a:buNone/>
            </a:pPr>
            <a:r>
              <a:rPr lang="en-US" sz="1450" b="1" dirty="0">
                <a:solidFill>
                  <a:srgbClr val="1F2937"/>
                </a:solidFill>
                <a:latin typeface="Georgia" pitchFamily="34" charset="0"/>
                <a:ea typeface="Georgia" pitchFamily="34" charset="-122"/>
                <a:cs typeface="Georgia" pitchFamily="34" charset="-120"/>
              </a:rPr>
              <a:t>The trade-off</a:t>
            </a:r>
            <a:endParaRPr lang="en-US" sz="1450" dirty="0"/>
          </a:p>
        </p:txBody>
      </p:sp>
      <p:sp>
        <p:nvSpPr>
          <p:cNvPr id="27" name="Text 25"/>
          <p:cNvSpPr/>
          <p:nvPr/>
        </p:nvSpPr>
        <p:spPr>
          <a:xfrm>
            <a:off x="6355080" y="5084064"/>
            <a:ext cx="4983480" cy="7315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Slower — two model calls per answer. The payoff is you can actually see each step. Bridge to multi-agent (day-after).</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21</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RECAP</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The one slide to photograph</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0972800" cy="914400"/>
        </p:xfrm>
        <a:graphic>
          <a:graphicData uri="http://schemas.openxmlformats.org/drawingml/2006/table">
            <a:tbl>
              <a:tblPr/>
              <a:tblGrid>
                <a:gridCol w="3657600"/>
                <a:gridCol w="7315200"/>
              </a:tblGrid>
              <a:tr h="420624">
                <a:tc>
                  <a:txBody>
                    <a:bodyPr/>
                    <a:lstStyle/>
                    <a:p>
                      <a:pPr algn="l" indent="0" marL="0">
                        <a:buNone/>
                      </a:pPr>
                      <a:r>
                        <a:rPr lang="en-US" sz="1350" b="1" dirty="0">
                          <a:solidFill>
                            <a:srgbClr val="FFFFFF"/>
                          </a:solidFill>
                        </a:rPr>
                        <a:t>When you hit…</a:t>
                      </a:r>
                      <a:endParaRPr lang="en-US" sz="1350" dirty="0"/>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c>
                  <a:txBody>
                    <a:bodyPr/>
                    <a:lstStyle/>
                    <a:p>
                      <a:pPr algn="l" indent="0" marL="0">
                        <a:buNone/>
                      </a:pPr>
                      <a:r>
                        <a:rPr lang="en-US" sz="1350" b="1" dirty="0">
                          <a:solidFill>
                            <a:srgbClr val="FFFFFF"/>
                          </a:solidFill>
                        </a:rPr>
                        <a:t>Reach for</a:t>
                      </a:r>
                      <a:endParaRPr lang="en-US" sz="1350" dirty="0"/>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F2937"/>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Runaway loop</a:t>
                      </a:r>
                      <a:endParaRPr lang="en-US" sz="1300" dirty="0">
                        <a:latin typeface="Calibri" charset="0"/>
                        <a:ea typeface="Calibri" charset="0"/>
                        <a:cs typeface="Calibri"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B45309"/>
                          </a:solidFill>
                          <a:latin typeface="Consolas" pitchFamily="34" charset="0"/>
                          <a:ea typeface="Consolas" pitchFamily="34" charset="-122"/>
                          <a:cs typeface="Consolas" pitchFamily="34" charset="-120"/>
                        </a:rPr>
                        <a:t>max_turns + spin-detection + fallback tool</a:t>
                      </a:r>
                      <a:endParaRPr lang="en-US" sz="1300" dirty="0">
                        <a:latin typeface="Consolas" charset="0"/>
                        <a:ea typeface="Consolas" charset="0"/>
                        <a:cs typeface="Consolas"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Need determinism</a:t>
                      </a:r>
                      <a:endParaRPr lang="en-US" sz="1300" dirty="0">
                        <a:latin typeface="Calibri" charset="0"/>
                        <a:ea typeface="Calibri" charset="0"/>
                        <a:cs typeface="Calibri"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45309"/>
                          </a:solidFill>
                          <a:latin typeface="Consolas" pitchFamily="34" charset="0"/>
                          <a:ea typeface="Consolas" pitchFamily="34" charset="-122"/>
                          <a:cs typeface="Consolas" pitchFamily="34" charset="-120"/>
                        </a:rPr>
                        <a:t>temperature = 0</a:t>
                      </a:r>
                      <a:endParaRPr lang="en-US" sz="1300" dirty="0">
                        <a:latin typeface="Consolas" charset="0"/>
                        <a:ea typeface="Consolas" charset="0"/>
                        <a:cs typeface="Consolas"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Reasoning model</a:t>
                      </a:r>
                      <a:endParaRPr lang="en-US" sz="1300" dirty="0">
                        <a:latin typeface="Calibri" charset="0"/>
                        <a:ea typeface="Calibri" charset="0"/>
                        <a:cs typeface="Calibri"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B45309"/>
                          </a:solidFill>
                          <a:latin typeface="Consolas" pitchFamily="34" charset="0"/>
                          <a:ea typeface="Consolas" pitchFamily="34" charset="-122"/>
                          <a:cs typeface="Consolas" pitchFamily="34" charset="-120"/>
                        </a:rPr>
                        <a:t>adaptive thinking + effort  (no sampling params)</a:t>
                      </a:r>
                      <a:endParaRPr lang="en-US" sz="1300" dirty="0">
                        <a:latin typeface="Consolas" charset="0"/>
                        <a:ea typeface="Consolas" charset="0"/>
                        <a:cs typeface="Consolas"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Ungrounded answers</a:t>
                      </a:r>
                      <a:endParaRPr lang="en-US" sz="1300" dirty="0">
                        <a:latin typeface="Calibri" charset="0"/>
                        <a:ea typeface="Calibri" charset="0"/>
                        <a:cs typeface="Calibri"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45309"/>
                          </a:solidFill>
                          <a:latin typeface="Consolas" pitchFamily="34" charset="0"/>
                          <a:ea typeface="Consolas" pitchFamily="34" charset="-122"/>
                          <a:cs typeface="Consolas" pitchFamily="34" charset="-120"/>
                        </a:rPr>
                        <a:t>grounding guardrail (BLOCK) + tool-only source</a:t>
                      </a:r>
                      <a:endParaRPr lang="en-US" sz="1300" dirty="0">
                        <a:latin typeface="Consolas" charset="0"/>
                        <a:ea typeface="Consolas" charset="0"/>
                        <a:cs typeface="Consolas"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Regulated / custom output</a:t>
                      </a:r>
                      <a:endParaRPr lang="en-US" sz="1300" dirty="0">
                        <a:latin typeface="Calibri" charset="0"/>
                        <a:ea typeface="Calibri" charset="0"/>
                        <a:cs typeface="Calibri"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300" dirty="0">
                          <a:solidFill>
                            <a:srgbClr val="B45309"/>
                          </a:solidFill>
                          <a:latin typeface="Consolas" pitchFamily="34" charset="0"/>
                          <a:ea typeface="Consolas" pitchFamily="34" charset="-122"/>
                          <a:cs typeface="Consolas" pitchFamily="34" charset="-120"/>
                        </a:rPr>
                        <a:t>override-Lambda parser  (last resort)</a:t>
                      </a:r>
                      <a:endParaRPr lang="en-US" sz="1300" dirty="0">
                        <a:latin typeface="Consolas" charset="0"/>
                        <a:ea typeface="Consolas" charset="0"/>
                        <a:cs typeface="Consolas"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Verify before answering</a:t>
                      </a:r>
                      <a:endParaRPr lang="en-US" sz="1300" dirty="0">
                        <a:latin typeface="Calibri" charset="0"/>
                        <a:ea typeface="Calibri" charset="0"/>
                        <a:cs typeface="Calibri"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B45309"/>
                          </a:solidFill>
                          <a:latin typeface="Consolas" pitchFamily="34" charset="0"/>
                          <a:ea typeface="Consolas" pitchFamily="34" charset="-122"/>
                          <a:cs typeface="Consolas" pitchFamily="34" charset="-120"/>
                        </a:rPr>
                        <a:t>verifier-agent flow</a:t>
                      </a:r>
                      <a:endParaRPr lang="en-US" sz="1300" dirty="0">
                        <a:latin typeface="Consolas" charset="0"/>
                        <a:ea typeface="Consolas" charset="0"/>
                        <a:cs typeface="Consolas" charset="0"/>
                      </a:endParaRPr>
                    </a:p>
                  </a:txBody>
                  <a:tcPr marL="76200" marR="76200" marT="76200" marB="762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0972800" cy="868680"/>
          </a:xfrm>
          <a:prstGeom prst="rect">
            <a:avLst/>
          </a:prstGeom>
          <a:solidFill>
            <a:srgbClr val="FBE5D2"/>
          </a:solidFill>
          <a:ln w="12700">
            <a:solidFill>
              <a:srgbClr val="E2E8F0"/>
            </a:solidFill>
            <a:prstDash val="solid"/>
          </a:ln>
        </p:spPr>
      </p:sp>
      <p:sp>
        <p:nvSpPr>
          <p:cNvPr id="8" name="Shape 5"/>
          <p:cNvSpPr/>
          <p:nvPr/>
        </p:nvSpPr>
        <p:spPr>
          <a:xfrm>
            <a:off x="566928" y="5074920"/>
            <a:ext cx="64008" cy="868680"/>
          </a:xfrm>
          <a:prstGeom prst="rect">
            <a:avLst/>
          </a:prstGeom>
          <a:solidFill>
            <a:srgbClr val="B45309"/>
          </a:solidFill>
          <a:ln/>
        </p:spPr>
      </p:sp>
      <p:sp>
        <p:nvSpPr>
          <p:cNvPr id="9" name="Text 6"/>
          <p:cNvSpPr/>
          <p:nvPr/>
        </p:nvSpPr>
        <p:spPr>
          <a:xfrm>
            <a:off x="822960" y="5212080"/>
            <a:ext cx="10515600" cy="5943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Order of reach:  </a:t>
            </a:r>
            <a:pPr indent="0" marL="0">
              <a:buNone/>
            </a:pPr>
            <a:r>
              <a:rPr lang="en-US" sz="1400" dirty="0">
                <a:solidFill>
                  <a:srgbClr val="1F2937"/>
                </a:solidFill>
                <a:latin typeface="Calibri" pitchFamily="34" charset="0"/>
                <a:ea typeface="Calibri" pitchFamily="34" charset="-122"/>
                <a:cs typeface="Calibri" pitchFamily="34" charset="-120"/>
              </a:rPr>
              <a:t>tools and prompt first, params second, guardrails for grounding, parser / verifier only when the stakes demand 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64808"/>
            <a:ext cx="7315200" cy="274320"/>
          </a:xfrm>
          <a:prstGeom prst="rect">
            <a:avLst/>
          </a:prstGeom>
          <a:noFill/>
          <a:ln/>
        </p:spPr>
        <p:txBody>
          <a:bodyPr wrap="square" lIns="0" tIns="0" rIns="0" bIns="0" rtlCol="0" anchor="ctr"/>
          <a:lstStyle/>
          <a:p>
            <a:pPr algn="l" indent="0" marL="0">
              <a:buNone/>
            </a:pPr>
            <a:r>
              <a:rPr lang="en-US" sz="850" dirty="0">
                <a:solidFill>
                  <a:srgbClr val="9AA3B2"/>
                </a:solidFill>
                <a:latin typeface="Calibri" pitchFamily="34" charset="0"/>
                <a:ea typeface="Calibri" pitchFamily="34" charset="-122"/>
                <a:cs typeface="Calibri" pitchFamily="34" charset="-120"/>
              </a:rPr>
              <a:t>Bedrock Agents · Controlling Agent Behavior — Agentic AI Practitioner Bootcamp · Day 4</a:t>
            </a:r>
            <a:endParaRPr lang="en-US" sz="850" dirty="0"/>
          </a:p>
        </p:txBody>
      </p:sp>
      <p:sp>
        <p:nvSpPr>
          <p:cNvPr id="3" name="Text 1"/>
          <p:cNvSpPr/>
          <p:nvPr/>
        </p:nvSpPr>
        <p:spPr>
          <a:xfrm>
            <a:off x="11247120" y="6464808"/>
            <a:ext cx="457200" cy="274320"/>
          </a:xfrm>
          <a:prstGeom prst="rect">
            <a:avLst/>
          </a:prstGeom>
          <a:noFill/>
          <a:ln/>
        </p:spPr>
        <p:txBody>
          <a:bodyPr wrap="square" lIns="0" tIns="0" rIns="0" bIns="0" rtlCol="0" anchor="ctr"/>
          <a:lstStyle/>
          <a:p>
            <a:pPr algn="r" indent="0" marL="0">
              <a:buNone/>
            </a:pPr>
            <a:r>
              <a:rPr lang="en-US" sz="850" dirty="0">
                <a:solidFill>
                  <a:srgbClr val="9AA3B2"/>
                </a:solidFill>
                <a:latin typeface="Calibri" pitchFamily="34" charset="0"/>
                <a:ea typeface="Calibri" pitchFamily="34" charset="-122"/>
                <a:cs typeface="Calibri" pitchFamily="34" charset="-120"/>
              </a:rPr>
              <a:t>22</a:t>
            </a:r>
            <a:endParaRPr lang="en-US" sz="850" dirty="0"/>
          </a:p>
        </p:txBody>
      </p:sp>
      <p:sp>
        <p:nvSpPr>
          <p:cNvPr id="4" name="Text 2"/>
          <p:cNvSpPr/>
          <p:nvPr/>
        </p:nvSpPr>
        <p:spPr>
          <a:xfrm>
            <a:off x="548640" y="411480"/>
            <a:ext cx="10972800" cy="27432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YOUR TURN</a:t>
            </a:r>
            <a:endParaRPr lang="en-US" sz="1200" dirty="0"/>
          </a:p>
        </p:txBody>
      </p:sp>
      <p:sp>
        <p:nvSpPr>
          <p:cNvPr id="5" name="Text 3"/>
          <p:cNvSpPr/>
          <p:nvPr/>
        </p:nvSpPr>
        <p:spPr>
          <a:xfrm>
            <a:off x="530352" y="685800"/>
            <a:ext cx="11064240" cy="777240"/>
          </a:xfrm>
          <a:prstGeom prst="rect">
            <a:avLst/>
          </a:prstGeom>
          <a:noFill/>
          <a:ln/>
        </p:spPr>
        <p:txBody>
          <a:bodyPr wrap="square" lIns="0" tIns="0" rIns="0" bIns="0" rtlCol="0" anchor="t"/>
          <a:lstStyle/>
          <a:p>
            <a:pPr indent="0" marL="0">
              <a:lnSpc>
                <a:spcPct val="98000"/>
              </a:lnSpc>
              <a:buNone/>
            </a:pPr>
            <a:r>
              <a:rPr lang="en-US" sz="3100" b="1" dirty="0">
                <a:solidFill>
                  <a:srgbClr val="1F2937"/>
                </a:solidFill>
                <a:latin typeface="Georgia" pitchFamily="34" charset="0"/>
                <a:ea typeface="Georgia" pitchFamily="34" charset="-122"/>
                <a:cs typeface="Georgia" pitchFamily="34" charset="-120"/>
              </a:rPr>
              <a:t>Lab — this session</a:t>
            </a:r>
            <a:endParaRPr lang="en-US" sz="3100" dirty="0"/>
          </a:p>
        </p:txBody>
      </p:sp>
      <p:sp>
        <p:nvSpPr>
          <p:cNvPr id="6" name="Shape 4"/>
          <p:cNvSpPr/>
          <p:nvPr/>
        </p:nvSpPr>
        <p:spPr>
          <a:xfrm>
            <a:off x="566928" y="1563624"/>
            <a:ext cx="457200" cy="457200"/>
          </a:xfrm>
          <a:prstGeom prst="oval">
            <a:avLst/>
          </a:prstGeom>
          <a:solidFill>
            <a:srgbClr val="B45309"/>
          </a:solidFill>
          <a:ln/>
        </p:spPr>
      </p:sp>
      <p:sp>
        <p:nvSpPr>
          <p:cNvPr id="7" name="Text 5"/>
          <p:cNvSpPr/>
          <p:nvPr/>
        </p:nvSpPr>
        <p:spPr>
          <a:xfrm>
            <a:off x="566928" y="15636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8" name="Shape 6"/>
          <p:cNvSpPr/>
          <p:nvPr/>
        </p:nvSpPr>
        <p:spPr>
          <a:xfrm>
            <a:off x="1207008" y="1508760"/>
            <a:ext cx="6675120" cy="585216"/>
          </a:xfrm>
          <a:prstGeom prst="rect">
            <a:avLst/>
          </a:prstGeom>
          <a:solidFill>
            <a:srgbClr val="F8FAFC"/>
          </a:solidFill>
          <a:ln w="12700">
            <a:solidFill>
              <a:srgbClr val="E2E8F0"/>
            </a:solidFill>
            <a:prstDash val="solid"/>
          </a:ln>
        </p:spPr>
      </p:sp>
      <p:sp>
        <p:nvSpPr>
          <p:cNvPr id="9" name="Shape 7"/>
          <p:cNvSpPr/>
          <p:nvPr/>
        </p:nvSpPr>
        <p:spPr>
          <a:xfrm>
            <a:off x="1207008" y="1508760"/>
            <a:ext cx="64008" cy="585216"/>
          </a:xfrm>
          <a:prstGeom prst="rect">
            <a:avLst/>
          </a:prstGeom>
          <a:solidFill>
            <a:srgbClr val="B45309"/>
          </a:solidFill>
          <a:ln/>
        </p:spPr>
      </p:sp>
      <p:sp>
        <p:nvSpPr>
          <p:cNvPr id="10" name="Text 8"/>
          <p:cNvSpPr/>
          <p:nvPr/>
        </p:nvSpPr>
        <p:spPr>
          <a:xfrm>
            <a:off x="1417320" y="1527048"/>
            <a:ext cx="635508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Add  handoff_to_human  to your loop — confirm the spin stops</a:t>
            </a:r>
            <a:endParaRPr lang="en-US" sz="1250" dirty="0"/>
          </a:p>
        </p:txBody>
      </p:sp>
      <p:sp>
        <p:nvSpPr>
          <p:cNvPr id="11" name="Shape 9"/>
          <p:cNvSpPr/>
          <p:nvPr/>
        </p:nvSpPr>
        <p:spPr>
          <a:xfrm>
            <a:off x="566928" y="2313432"/>
            <a:ext cx="457200" cy="457200"/>
          </a:xfrm>
          <a:prstGeom prst="oval">
            <a:avLst/>
          </a:prstGeom>
          <a:solidFill>
            <a:srgbClr val="B45309"/>
          </a:solidFill>
          <a:ln/>
        </p:spPr>
      </p:sp>
      <p:sp>
        <p:nvSpPr>
          <p:cNvPr id="12" name="Text 10"/>
          <p:cNvSpPr/>
          <p:nvPr/>
        </p:nvSpPr>
        <p:spPr>
          <a:xfrm>
            <a:off x="566928" y="23134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3" name="Shape 11"/>
          <p:cNvSpPr/>
          <p:nvPr/>
        </p:nvSpPr>
        <p:spPr>
          <a:xfrm>
            <a:off x="1207008" y="2258568"/>
            <a:ext cx="6675120" cy="585216"/>
          </a:xfrm>
          <a:prstGeom prst="rect">
            <a:avLst/>
          </a:prstGeom>
          <a:solidFill>
            <a:srgbClr val="F8FAFC"/>
          </a:solidFill>
          <a:ln w="12700">
            <a:solidFill>
              <a:srgbClr val="E2E8F0"/>
            </a:solidFill>
            <a:prstDash val="solid"/>
          </a:ln>
        </p:spPr>
      </p:sp>
      <p:sp>
        <p:nvSpPr>
          <p:cNvPr id="14" name="Shape 12"/>
          <p:cNvSpPr/>
          <p:nvPr/>
        </p:nvSpPr>
        <p:spPr>
          <a:xfrm>
            <a:off x="1207008" y="2258568"/>
            <a:ext cx="64008" cy="585216"/>
          </a:xfrm>
          <a:prstGeom prst="rect">
            <a:avLst/>
          </a:prstGeom>
          <a:solidFill>
            <a:srgbClr val="B45309"/>
          </a:solidFill>
          <a:ln/>
        </p:spPr>
      </p:sp>
      <p:sp>
        <p:nvSpPr>
          <p:cNvPr id="15" name="Text 13"/>
          <p:cNvSpPr/>
          <p:nvPr/>
        </p:nvSpPr>
        <p:spPr>
          <a:xfrm>
            <a:off x="1417320" y="2276856"/>
            <a:ext cx="635508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Add spin-detection — repeated identical call → break early</a:t>
            </a:r>
            <a:endParaRPr lang="en-US" sz="1250" dirty="0"/>
          </a:p>
        </p:txBody>
      </p:sp>
      <p:sp>
        <p:nvSpPr>
          <p:cNvPr id="16" name="Shape 14"/>
          <p:cNvSpPr/>
          <p:nvPr/>
        </p:nvSpPr>
        <p:spPr>
          <a:xfrm>
            <a:off x="566928" y="3063240"/>
            <a:ext cx="457200" cy="457200"/>
          </a:xfrm>
          <a:prstGeom prst="oval">
            <a:avLst/>
          </a:prstGeom>
          <a:solidFill>
            <a:srgbClr val="B45309"/>
          </a:solidFill>
          <a:ln/>
        </p:spPr>
      </p:sp>
      <p:sp>
        <p:nvSpPr>
          <p:cNvPr id="17" name="Text 15"/>
          <p:cNvSpPr/>
          <p:nvPr/>
        </p:nvSpPr>
        <p:spPr>
          <a:xfrm>
            <a:off x="566928" y="30632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18" name="Shape 16"/>
          <p:cNvSpPr/>
          <p:nvPr/>
        </p:nvSpPr>
        <p:spPr>
          <a:xfrm>
            <a:off x="1207008" y="3008376"/>
            <a:ext cx="6675120" cy="585216"/>
          </a:xfrm>
          <a:prstGeom prst="rect">
            <a:avLst/>
          </a:prstGeom>
          <a:solidFill>
            <a:srgbClr val="F8FAFC"/>
          </a:solidFill>
          <a:ln w="12700">
            <a:solidFill>
              <a:srgbClr val="E2E8F0"/>
            </a:solidFill>
            <a:prstDash val="solid"/>
          </a:ln>
        </p:spPr>
      </p:sp>
      <p:sp>
        <p:nvSpPr>
          <p:cNvPr id="19" name="Shape 17"/>
          <p:cNvSpPr/>
          <p:nvPr/>
        </p:nvSpPr>
        <p:spPr>
          <a:xfrm>
            <a:off x="1207008" y="3008376"/>
            <a:ext cx="64008" cy="585216"/>
          </a:xfrm>
          <a:prstGeom prst="rect">
            <a:avLst/>
          </a:prstGeom>
          <a:solidFill>
            <a:srgbClr val="B45309"/>
          </a:solidFill>
          <a:ln/>
        </p:spPr>
      </p:sp>
      <p:sp>
        <p:nvSpPr>
          <p:cNvPr id="20" name="Text 18"/>
          <p:cNvSpPr/>
          <p:nvPr/>
        </p:nvSpPr>
        <p:spPr>
          <a:xfrm>
            <a:off x="1417320" y="3026664"/>
            <a:ext cx="635508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Create a grounding guardrail; run  apply_guardrail  on a good answer and an invented one — compare scores</a:t>
            </a:r>
            <a:endParaRPr lang="en-US" sz="1250" dirty="0"/>
          </a:p>
        </p:txBody>
      </p:sp>
      <p:sp>
        <p:nvSpPr>
          <p:cNvPr id="21" name="Shape 19"/>
          <p:cNvSpPr/>
          <p:nvPr/>
        </p:nvSpPr>
        <p:spPr>
          <a:xfrm>
            <a:off x="566928" y="3813048"/>
            <a:ext cx="457200" cy="457200"/>
          </a:xfrm>
          <a:prstGeom prst="oval">
            <a:avLst/>
          </a:prstGeom>
          <a:solidFill>
            <a:srgbClr val="D97706"/>
          </a:solidFill>
          <a:ln/>
        </p:spPr>
      </p:sp>
      <p:sp>
        <p:nvSpPr>
          <p:cNvPr id="22" name="Text 20"/>
          <p:cNvSpPr/>
          <p:nvPr/>
        </p:nvSpPr>
        <p:spPr>
          <a:xfrm>
            <a:off x="566928" y="381304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23" name="Shape 21"/>
          <p:cNvSpPr/>
          <p:nvPr/>
        </p:nvSpPr>
        <p:spPr>
          <a:xfrm>
            <a:off x="1207008" y="3758184"/>
            <a:ext cx="6675120" cy="585216"/>
          </a:xfrm>
          <a:prstGeom prst="rect">
            <a:avLst/>
          </a:prstGeom>
          <a:solidFill>
            <a:srgbClr val="F8FAFC"/>
          </a:solidFill>
          <a:ln w="12700">
            <a:solidFill>
              <a:srgbClr val="E2E8F0"/>
            </a:solidFill>
            <a:prstDash val="solid"/>
          </a:ln>
        </p:spPr>
      </p:sp>
      <p:sp>
        <p:nvSpPr>
          <p:cNvPr id="24" name="Shape 22"/>
          <p:cNvSpPr/>
          <p:nvPr/>
        </p:nvSpPr>
        <p:spPr>
          <a:xfrm>
            <a:off x="1207008" y="3758184"/>
            <a:ext cx="64008" cy="585216"/>
          </a:xfrm>
          <a:prstGeom prst="rect">
            <a:avLst/>
          </a:prstGeom>
          <a:solidFill>
            <a:srgbClr val="D97706"/>
          </a:solidFill>
          <a:ln/>
        </p:spPr>
      </p:sp>
      <p:sp>
        <p:nvSpPr>
          <p:cNvPr id="25" name="Text 23"/>
          <p:cNvSpPr/>
          <p:nvPr/>
        </p:nvSpPr>
        <p:spPr>
          <a:xfrm>
            <a:off x="1417320" y="3776472"/>
            <a:ext cx="635508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Stretch:  set action NONE and log grounding scores across 5 prompts</a:t>
            </a:r>
            <a:endParaRPr lang="en-US" sz="1250" dirty="0"/>
          </a:p>
        </p:txBody>
      </p:sp>
      <p:sp>
        <p:nvSpPr>
          <p:cNvPr id="26" name="Shape 24"/>
          <p:cNvSpPr/>
          <p:nvPr/>
        </p:nvSpPr>
        <p:spPr>
          <a:xfrm>
            <a:off x="8183880" y="1508760"/>
            <a:ext cx="3355848" cy="2240280"/>
          </a:xfrm>
          <a:prstGeom prst="roundRect">
            <a:avLst>
              <a:gd name="adj" fmla="val 2857"/>
            </a:avLst>
          </a:prstGeom>
          <a:solidFill>
            <a:srgbClr val="0F172A"/>
          </a:solidFill>
          <a:ln w="12700">
            <a:solidFill>
              <a:srgbClr val="24324C"/>
            </a:solidFill>
            <a:prstDash val="solid"/>
          </a:ln>
          <a:effectLst>
            <a:outerShdw sx="100000" sy="100000" kx="0" ky="0" algn="bl" rotWithShape="0" blurRad="76200" dist="25400" dir="8100000">
              <a:srgbClr val="000000">
                <a:alpha val="10000"/>
              </a:srgbClr>
            </a:outerShdw>
          </a:effectLst>
        </p:spPr>
      </p:sp>
      <p:sp>
        <p:nvSpPr>
          <p:cNvPr id="27" name="Text 25"/>
          <p:cNvSpPr/>
          <p:nvPr/>
        </p:nvSpPr>
        <p:spPr>
          <a:xfrm>
            <a:off x="8412480" y="1691640"/>
            <a:ext cx="2926080" cy="320040"/>
          </a:xfrm>
          <a:prstGeom prst="rect">
            <a:avLst/>
          </a:prstGeom>
          <a:noFill/>
          <a:ln/>
        </p:spPr>
        <p:txBody>
          <a:bodyPr wrap="square" lIns="0" tIns="0" rIns="0" bIns="0" rtlCol="0" anchor="ctr"/>
          <a:lstStyle/>
          <a:p>
            <a:pPr indent="0" marL="0">
              <a:buNone/>
            </a:pPr>
            <a:r>
              <a:rPr lang="en-US" sz="1100" b="1" spc="200" kern="0" dirty="0">
                <a:solidFill>
                  <a:srgbClr val="F7A23B"/>
                </a:solidFill>
                <a:latin typeface="Calibri" pitchFamily="34" charset="0"/>
                <a:ea typeface="Calibri" pitchFamily="34" charset="-122"/>
                <a:cs typeface="Calibri" pitchFamily="34" charset="-120"/>
              </a:rPr>
              <a:t>Deliverable</a:t>
            </a:r>
            <a:endParaRPr lang="en-US" sz="1100" dirty="0"/>
          </a:p>
        </p:txBody>
      </p:sp>
      <p:sp>
        <p:nvSpPr>
          <p:cNvPr id="28" name="Text 26"/>
          <p:cNvSpPr/>
          <p:nvPr/>
        </p:nvSpPr>
        <p:spPr>
          <a:xfrm>
            <a:off x="8412480" y="2011680"/>
            <a:ext cx="2971800" cy="1645920"/>
          </a:xfrm>
          <a:prstGeom prst="rect">
            <a:avLst/>
          </a:prstGeom>
          <a:noFill/>
          <a:ln/>
        </p:spPr>
        <p:txBody>
          <a:bodyPr wrap="square" lIns="0" tIns="0" rIns="0" bIns="0" rtlCol="0" anchor="t"/>
          <a:lstStyle/>
          <a:p>
            <a:pPr indent="0" marL="0">
              <a:buNone/>
            </a:pPr>
            <a:r>
              <a:rPr lang="en-US" sz="1500" i="1" dirty="0">
                <a:solidFill>
                  <a:srgbClr val="FFFFFF"/>
                </a:solidFill>
                <a:latin typeface="Georgia" pitchFamily="34" charset="0"/>
                <a:ea typeface="Georgia" pitchFamily="34" charset="-122"/>
                <a:cs typeface="Georgia" pitchFamily="34" charset="-120"/>
              </a:rPr>
              <a:t>A loop that cannot run away, and a guardrail that catches an invented flight number.</a:t>
            </a:r>
            <a:endParaRPr lang="en-US" sz="1500" dirty="0"/>
          </a:p>
        </p:txBody>
      </p:sp>
      <p:sp>
        <p:nvSpPr>
          <p:cNvPr id="29" name="Shape 27"/>
          <p:cNvSpPr/>
          <p:nvPr/>
        </p:nvSpPr>
        <p:spPr>
          <a:xfrm>
            <a:off x="566928" y="4160520"/>
            <a:ext cx="10972800" cy="914400"/>
          </a:xfrm>
          <a:prstGeom prst="rect">
            <a:avLst/>
          </a:prstGeom>
          <a:solidFill>
            <a:srgbClr val="FBE5D2"/>
          </a:solidFill>
          <a:ln w="12700">
            <a:solidFill>
              <a:srgbClr val="E2E8F0"/>
            </a:solidFill>
            <a:prstDash val="solid"/>
          </a:ln>
        </p:spPr>
      </p:sp>
      <p:sp>
        <p:nvSpPr>
          <p:cNvPr id="30" name="Shape 28"/>
          <p:cNvSpPr/>
          <p:nvPr/>
        </p:nvSpPr>
        <p:spPr>
          <a:xfrm>
            <a:off x="566928" y="4160520"/>
            <a:ext cx="64008" cy="914400"/>
          </a:xfrm>
          <a:prstGeom prst="rect">
            <a:avLst/>
          </a:prstGeom>
          <a:solidFill>
            <a:srgbClr val="B45309"/>
          </a:solidFill>
          <a:ln/>
        </p:spPr>
      </p:sp>
      <p:sp>
        <p:nvSpPr>
          <p:cNvPr id="31" name="Text 29"/>
          <p:cNvSpPr/>
          <p:nvPr/>
        </p:nvSpPr>
        <p:spPr>
          <a:xfrm>
            <a:off x="777240" y="4297680"/>
            <a:ext cx="10515600" cy="32004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Forward look</a:t>
            </a:r>
            <a:endParaRPr lang="en-US" sz="1200" dirty="0"/>
          </a:p>
        </p:txBody>
      </p:sp>
      <p:sp>
        <p:nvSpPr>
          <p:cNvPr id="32" name="Text 30"/>
          <p:cNvSpPr/>
          <p:nvPr/>
        </p:nvSpPr>
        <p:spPr>
          <a:xfrm>
            <a:off x="777240" y="4617720"/>
            <a:ext cx="10515600" cy="411480"/>
          </a:xfrm>
          <a:prstGeom prst="rect">
            <a:avLst/>
          </a:prstGeom>
          <a:noFill/>
          <a:ln/>
        </p:spPr>
        <p:txBody>
          <a:bodyPr wrap="square" lIns="0" tIns="0" rIns="0" bIns="0" rtlCol="0" anchor="ctr"/>
          <a:lstStyle/>
          <a:p>
            <a:pPr indent="0" marL="0">
              <a:buNone/>
            </a:pPr>
            <a:r>
              <a:rPr lang="en-US" sz="1600" b="1" dirty="0">
                <a:solidFill>
                  <a:srgbClr val="1F2937"/>
                </a:solidFill>
                <a:latin typeface="Georgia" pitchFamily="34" charset="0"/>
                <a:ea typeface="Georgia" pitchFamily="34" charset="-122"/>
                <a:cs typeface="Georgia" pitchFamily="34" charset="-120"/>
              </a:rPr>
              <a:t>The day-after picks up with Strands, AgentCore, and multi-agent flows — where these same controls reappear inside frameworks.</a:t>
            </a:r>
            <a:endParaRPr lang="en-US" sz="1600" dirty="0"/>
          </a:p>
        </p:txBody>
      </p:sp>
      <p:sp>
        <p:nvSpPr>
          <p:cNvPr id="33" name="Text 31"/>
          <p:cNvSpPr/>
          <p:nvPr/>
        </p:nvSpPr>
        <p:spPr>
          <a:xfrm>
            <a:off x="566928" y="5257800"/>
            <a:ext cx="1097280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All on TravelMind UC-A1. Loop control and grounding are the two everyday skills — frameworks just wrap them.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Bedrock Agents — Controlling Agent Behavior</dc:title>
  <dc:subject>PptxGenJS Presentation</dc:subject>
  <dc:creator>Akash Das</dc:creator>
  <cp:lastModifiedBy>Akash Das</cp:lastModifiedBy>
  <cp:revision>1</cp:revision>
  <dcterms:created xsi:type="dcterms:W3CDTF">2026-06-02T13:19:06Z</dcterms:created>
  <dcterms:modified xsi:type="dcterms:W3CDTF">2026-06-02T13:19:06Z</dcterms:modified>
</cp:coreProperties>
</file>