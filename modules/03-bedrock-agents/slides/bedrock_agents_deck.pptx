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image" Target="../media/image-21-5.png"/><Relationship Id="rId6" Type="http://schemas.openxmlformats.org/officeDocument/2006/relationships/image" Target="../media/image-21-6.png"/><Relationship Id="rId7" Type="http://schemas.openxmlformats.org/officeDocument/2006/relationships/image" Target="../media/image-21-7.png"/><Relationship Id="rId8" Type="http://schemas.openxmlformats.org/officeDocument/2006/relationships/image" Target="../media/image-21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image" Target="../media/image-2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19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868680"/>
            <a:ext cx="201168" cy="201168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868680"/>
            <a:ext cx="201168" cy="20116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4" name="Shape 2"/>
          <p:cNvSpPr/>
          <p:nvPr/>
        </p:nvSpPr>
        <p:spPr>
          <a:xfrm>
            <a:off x="1097280" y="868680"/>
            <a:ext cx="201168" cy="201168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37160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AGENTIC AI PRACTITIONER BOOTCAMP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874520"/>
            <a:ext cx="10607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Agents Run on</a:t>
            </a:r>
            <a:endParaRPr lang="en-US" sz="5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Amazon Bedrock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548640" y="3977640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D6D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orchestrator, the moving parts, and how to choose between Agent Builder, Strands, and AgentCore.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48640" y="5486400"/>
            <a:ext cx="2926080" cy="0"/>
          </a:xfrm>
          <a:prstGeom prst="line">
            <a:avLst/>
          </a:prstGeom>
          <a:noFill/>
          <a:ln w="25400">
            <a:solidFill>
              <a:srgbClr val="B4530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565099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 ·  Bedrock Agents deep dive  ·  Intermediate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59893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871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TravelMind — airline booking-exception agent (running example)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WE'LL COVER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310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one model call to a production agent platform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94960" cy="1207008"/>
          </a:xfrm>
          <a:prstGeom prst="roundRect">
            <a:avLst>
              <a:gd name="adj" fmla="val 5303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sx="100000" sy="100000" kx="0" ky="0" algn="bl" rotWithShape="0" blurRad="63500" dist="19050" dir="72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86384" y="2057400"/>
            <a:ext cx="658368" cy="658368"/>
          </a:xfrm>
          <a:prstGeom prst="ellipse">
            <a:avLst/>
          </a:prstGeom>
          <a:solidFill>
            <a:srgbClr val="B45309"/>
          </a:solidFill>
          <a:ln/>
          <a:effectLst>
            <a:outerShdw sx="100000" sy="100000" kx="0" ky="0" algn="bl" rotWithShape="0" blurRad="63500" dist="19050" dir="72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86384" y="205740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645920" y="19659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core idea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645920" y="2350008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agent is a loop, not a model. Why that distinction explains everything.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45352" y="1783080"/>
            <a:ext cx="5394960" cy="1207008"/>
          </a:xfrm>
          <a:prstGeom prst="roundRect">
            <a:avLst>
              <a:gd name="adj" fmla="val 5303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sx="100000" sy="100000" kx="0" ky="0" algn="bl" rotWithShape="0" blurRad="63500" dist="19050" dir="72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83096" y="2057400"/>
            <a:ext cx="658368" cy="658368"/>
          </a:xfrm>
          <a:prstGeom prst="ellipse">
            <a:avLst/>
          </a:prstGeom>
          <a:solidFill>
            <a:srgbClr val="B45309"/>
          </a:solidFill>
          <a:ln/>
          <a:effectLst>
            <a:outerShdw sx="100000" sy="100000" kx="0" ky="0" algn="bl" rotWithShape="0" blurRad="63500" dist="19050" dir="72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83096" y="205740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342632" y="19659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Bedrock's components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7342632" y="2350008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orchestrator, action groups, knowledge bases, guardrails, memory — mapped.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264408"/>
            <a:ext cx="5394960" cy="1207008"/>
          </a:xfrm>
          <a:prstGeom prst="roundRect">
            <a:avLst>
              <a:gd name="adj" fmla="val 5303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sx="100000" sy="100000" kx="0" ky="0" algn="bl" rotWithShape="0" blurRad="63500" dist="19050" dir="72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86384" y="3538728"/>
            <a:ext cx="658368" cy="658368"/>
          </a:xfrm>
          <a:prstGeom prst="ellipse">
            <a:avLst/>
          </a:prstGeom>
          <a:solidFill>
            <a:srgbClr val="B45309"/>
          </a:solidFill>
          <a:ln/>
          <a:effectLst>
            <a:outerShdw sx="100000" sy="100000" kx="0" ky="0" algn="bl" rotWithShape="0" blurRad="63500" dist="19050" dir="72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86384" y="353872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645920" y="344728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orchestrator, step by step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645920" y="3831336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actually happens on each turn of the loop, intuitively.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45352" y="3264408"/>
            <a:ext cx="5394960" cy="1207008"/>
          </a:xfrm>
          <a:prstGeom prst="roundRect">
            <a:avLst>
              <a:gd name="adj" fmla="val 5303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sx="100000" sy="100000" kx="0" ky="0" algn="bl" rotWithShape="0" blurRad="63500" dist="19050" dir="72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83096" y="3538728"/>
            <a:ext cx="658368" cy="658368"/>
          </a:xfrm>
          <a:prstGeom prst="ellipse">
            <a:avLst/>
          </a:prstGeom>
          <a:solidFill>
            <a:srgbClr val="B45309"/>
          </a:solidFill>
          <a:ln/>
          <a:effectLst>
            <a:outerShdw sx="100000" sy="100000" kx="0" ky="0" algn="bl" rotWithShape="0" blurRad="63500" dist="19050" dir="72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483096" y="353872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342632" y="344728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Walking a real trace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7342632" y="3831336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TravelMind's happy path — and the loop that broke it.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48640" y="4745736"/>
            <a:ext cx="5394960" cy="1207008"/>
          </a:xfrm>
          <a:prstGeom prst="roundRect">
            <a:avLst>
              <a:gd name="adj" fmla="val 5303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sx="100000" sy="100000" kx="0" ky="0" algn="bl" rotWithShape="0" blurRad="63500" dist="19050" dir="72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86384" y="5020056"/>
            <a:ext cx="658368" cy="658368"/>
          </a:xfrm>
          <a:prstGeom prst="ellipse">
            <a:avLst/>
          </a:prstGeom>
          <a:solidFill>
            <a:srgbClr val="B45309"/>
          </a:solidFill>
          <a:ln/>
          <a:effectLst>
            <a:outerShdw sx="100000" sy="100000" kx="0" ky="0" algn="bl" rotWithShape="0" blurRad="63500" dist="19050" dir="72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786384" y="5020056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645920" y="4928616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ways to build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1645920" y="5312664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Builder vs Strands vs AgentCore — technical differences and steps.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6245352" y="4745736"/>
            <a:ext cx="5394960" cy="1207008"/>
          </a:xfrm>
          <a:prstGeom prst="roundRect">
            <a:avLst>
              <a:gd name="adj" fmla="val 5303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sx="100000" sy="100000" kx="0" ky="0" algn="bl" rotWithShape="0" blurRad="63500" dist="19050" dir="72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483096" y="5020056"/>
            <a:ext cx="658368" cy="658368"/>
          </a:xfrm>
          <a:prstGeom prst="ellipse">
            <a:avLst/>
          </a:prstGeom>
          <a:solidFill>
            <a:srgbClr val="B45309"/>
          </a:solidFill>
          <a:ln/>
          <a:effectLst>
            <a:outerShdw sx="100000" sy="100000" kx="0" ky="0" algn="bl" rotWithShape="0" blurRad="63500" dist="19050" dir="720000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483096" y="5020056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7342632" y="4928616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Industrial decision guide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7342632" y="5312664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use which, with complex travel-domain use cases.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Practitioner Bootcamp  ·  Day 3  ·  Amazon Bedrock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185855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CORE IDEA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310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 agent is a loop, not a model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349240" cy="3931920"/>
          </a:xfrm>
          <a:prstGeom prst="roundRect">
            <a:avLst>
              <a:gd name="adj" fmla="val 1628"/>
            </a:avLst>
          </a:prstGeom>
          <a:solidFill>
            <a:srgbClr val="FBF1E6"/>
          </a:solidFill>
          <a:ln w="12700">
            <a:solidFill>
              <a:srgbClr val="F0D9BD"/>
            </a:solidFill>
            <a:prstDash val="solid"/>
          </a:ln>
          <a:effectLst>
            <a:outerShdw sx="100000" sy="100000" kx="0" ky="0" algn="bl" rotWithShape="0" blurRad="63500" dist="19050" dir="720000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148840"/>
            <a:ext cx="54864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54480" y="219456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9240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model is stateless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914400" y="2971800"/>
            <a:ext cx="4617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input goes in, one output comes out. It has no memory of the last call, no way to act in the world, and no loop of its own.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914400" y="4114800"/>
            <a:ext cx="109728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9050">
            <a:solidFill>
              <a:srgbClr val="B4530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69264" y="4114800"/>
            <a:ext cx="987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6000"/>
              </a:lnSpc>
              <a:buNone/>
            </a:pPr>
            <a:r>
              <a:rPr lang="en-US" sz="12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2423160" y="4023360"/>
            <a:ext cx="1554480" cy="822960"/>
          </a:xfrm>
          <a:prstGeom prst="roundRect">
            <a:avLst>
              <a:gd name="adj" fmla="val 6667"/>
            </a:avLst>
          </a:prstGeom>
          <a:solidFill>
            <a:srgbClr val="B45309"/>
          </a:solidFill>
          <a:ln w="19050">
            <a:solidFill>
              <a:srgbClr val="B4530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478024" y="4023360"/>
            <a:ext cx="14447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6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389120" y="4114800"/>
            <a:ext cx="109728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9050">
            <a:solidFill>
              <a:srgbClr val="B4530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443984" y="4114800"/>
            <a:ext cx="987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6000"/>
              </a:lnSpc>
              <a:buNone/>
            </a:pPr>
            <a:r>
              <a:rPr lang="en-US" sz="12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endParaRPr lang="en-US" sz="1200" dirty="0"/>
          </a:p>
          <a:p>
            <a:pPr algn="ctr" indent="0" marL="0">
              <a:lnSpc>
                <a:spcPct val="96000"/>
              </a:lnSpc>
              <a:buNone/>
            </a:pPr>
            <a:r>
              <a:rPr lang="en-US" sz="12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2011680" y="4434840"/>
            <a:ext cx="411480" cy="0"/>
          </a:xfrm>
          <a:prstGeom prst="line">
            <a:avLst/>
          </a:prstGeom>
          <a:noFill/>
          <a:ln w="25400">
            <a:solidFill>
              <a:srgbClr val="92400E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 rot="5400000">
            <a:off x="2359152" y="4370832"/>
            <a:ext cx="128016" cy="128016"/>
          </a:xfrm>
          <a:prstGeom prst="triangle">
            <a:avLst/>
          </a:prstGeom>
          <a:solidFill>
            <a:srgbClr val="92400E"/>
          </a:solidFill>
          <a:ln/>
        </p:spPr>
      </p:sp>
      <p:sp>
        <p:nvSpPr>
          <p:cNvPr id="16" name="Shape 13"/>
          <p:cNvSpPr/>
          <p:nvPr/>
        </p:nvSpPr>
        <p:spPr>
          <a:xfrm>
            <a:off x="3977640" y="4434840"/>
            <a:ext cx="411480" cy="0"/>
          </a:xfrm>
          <a:prstGeom prst="line">
            <a:avLst/>
          </a:prstGeom>
          <a:noFill/>
          <a:ln w="25400">
            <a:solidFill>
              <a:srgbClr val="92400E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 rot="5400000">
            <a:off x="4325112" y="4370832"/>
            <a:ext cx="128016" cy="128016"/>
          </a:xfrm>
          <a:prstGeom prst="triangle">
            <a:avLst/>
          </a:prstGeom>
          <a:solidFill>
            <a:srgbClr val="92400E"/>
          </a:solidFill>
          <a:ln/>
        </p:spPr>
      </p:sp>
      <p:sp>
        <p:nvSpPr>
          <p:cNvPr id="18" name="Text 15"/>
          <p:cNvSpPr/>
          <p:nvPr/>
        </p:nvSpPr>
        <p:spPr>
          <a:xfrm>
            <a:off x="914400" y="512064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2400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 thinks. It does not do.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6263640" y="1828800"/>
            <a:ext cx="5349240" cy="3931920"/>
          </a:xfrm>
          <a:prstGeom prst="roundRect">
            <a:avLst>
              <a:gd name="adj" fmla="val 1628"/>
            </a:avLst>
          </a:prstGeom>
          <a:solidFill>
            <a:srgbClr val="F1F5F9"/>
          </a:solidFill>
          <a:ln w="12700">
            <a:solidFill>
              <a:srgbClr val="DBE3EC"/>
            </a:solidFill>
            <a:prstDash val="solid"/>
          </a:ln>
          <a:effectLst>
            <a:outerShdw sx="100000" sy="100000" kx="0" ky="0" algn="bl" rotWithShape="0" blurRad="63500" dist="19050" dir="7200000">
              <a:srgbClr val="000000">
                <a:alpha val="12000"/>
              </a:srgbClr>
            </a:outerShdw>
          </a:effectLst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2148840"/>
            <a:ext cx="548640" cy="54864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7269480" y="219456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 agent is model + tools + loop</a:t>
            </a:r>
            <a:endParaRPr lang="en-US" sz="1900" dirty="0"/>
          </a:p>
        </p:txBody>
      </p:sp>
      <p:sp>
        <p:nvSpPr>
          <p:cNvPr id="22" name="Text 18"/>
          <p:cNvSpPr/>
          <p:nvPr/>
        </p:nvSpPr>
        <p:spPr>
          <a:xfrm>
            <a:off x="6629400" y="2971800"/>
            <a:ext cx="4617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control loop calls the model again and again, runs whatever tools it asks for, feeds the results back, and stops only when the model says “done.”</a:t>
            </a:r>
            <a:endParaRPr lang="en-US" sz="1450" dirty="0"/>
          </a:p>
        </p:txBody>
      </p:sp>
      <p:sp>
        <p:nvSpPr>
          <p:cNvPr id="23" name="Shape 19"/>
          <p:cNvSpPr/>
          <p:nvPr/>
        </p:nvSpPr>
        <p:spPr>
          <a:xfrm>
            <a:off x="6675120" y="4160520"/>
            <a:ext cx="1417320" cy="777240"/>
          </a:xfrm>
          <a:prstGeom prst="roundRect">
            <a:avLst>
              <a:gd name="adj" fmla="val 7059"/>
            </a:avLst>
          </a:prstGeom>
          <a:solidFill>
            <a:srgbClr val="B45309"/>
          </a:solidFill>
          <a:ln w="19050">
            <a:solidFill>
              <a:srgbClr val="B45309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6729984" y="4160520"/>
            <a:ext cx="13075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6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300" dirty="0"/>
          </a:p>
        </p:txBody>
      </p:sp>
      <p:sp>
        <p:nvSpPr>
          <p:cNvPr id="25" name="Shape 21"/>
          <p:cNvSpPr/>
          <p:nvPr/>
        </p:nvSpPr>
        <p:spPr>
          <a:xfrm>
            <a:off x="9646920" y="4160520"/>
            <a:ext cx="1463040" cy="777240"/>
          </a:xfrm>
          <a:prstGeom prst="roundRect">
            <a:avLst>
              <a:gd name="adj" fmla="val 7059"/>
            </a:avLst>
          </a:prstGeom>
          <a:solidFill>
            <a:srgbClr val="0F766E"/>
          </a:solidFill>
          <a:ln w="19050">
            <a:solidFill>
              <a:srgbClr val="0F766E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9701784" y="4160520"/>
            <a:ext cx="13533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6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tool</a:t>
            </a:r>
            <a:endParaRPr lang="en-US" sz="1300" dirty="0"/>
          </a:p>
        </p:txBody>
      </p:sp>
      <p:sp>
        <p:nvSpPr>
          <p:cNvPr id="27" name="Shape 23"/>
          <p:cNvSpPr/>
          <p:nvPr/>
        </p:nvSpPr>
        <p:spPr>
          <a:xfrm>
            <a:off x="8092440" y="4370832"/>
            <a:ext cx="1554480" cy="0"/>
          </a:xfrm>
          <a:prstGeom prst="line">
            <a:avLst/>
          </a:prstGeom>
          <a:noFill/>
          <a:ln w="25400">
            <a:solidFill>
              <a:srgbClr val="334155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 rot="5400000">
            <a:off x="9582912" y="4306824"/>
            <a:ext cx="128016" cy="128016"/>
          </a:xfrm>
          <a:prstGeom prst="triangle">
            <a:avLst/>
          </a:prstGeom>
          <a:solidFill>
            <a:srgbClr val="334155"/>
          </a:solidFill>
          <a:ln/>
        </p:spPr>
      </p:sp>
      <p:sp>
        <p:nvSpPr>
          <p:cNvPr id="29" name="Shape 25"/>
          <p:cNvSpPr/>
          <p:nvPr/>
        </p:nvSpPr>
        <p:spPr>
          <a:xfrm flipH="1">
            <a:off x="8092440" y="4754880"/>
            <a:ext cx="1554480" cy="0"/>
          </a:xfrm>
          <a:prstGeom prst="line">
            <a:avLst/>
          </a:prstGeom>
          <a:noFill/>
          <a:ln w="25400">
            <a:solidFill>
              <a:srgbClr val="334155"/>
            </a:solidFill>
            <a:prstDash val="solid"/>
          </a:ln>
        </p:spPr>
      </p:sp>
      <p:sp>
        <p:nvSpPr>
          <p:cNvPr id="30" name="Shape 26"/>
          <p:cNvSpPr/>
          <p:nvPr/>
        </p:nvSpPr>
        <p:spPr>
          <a:xfrm rot="16200000">
            <a:off x="8028432" y="4690872"/>
            <a:ext cx="128016" cy="128016"/>
          </a:xfrm>
          <a:prstGeom prst="triangle">
            <a:avLst/>
          </a:prstGeom>
          <a:solidFill>
            <a:srgbClr val="334155"/>
          </a:solidFill>
          <a:ln/>
        </p:spPr>
      </p:sp>
      <p:sp>
        <p:nvSpPr>
          <p:cNvPr id="31" name="Text 27"/>
          <p:cNvSpPr/>
          <p:nvPr/>
        </p:nvSpPr>
        <p:spPr>
          <a:xfrm>
            <a:off x="6629400" y="512064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reason → act → observe → repeat</a:t>
            </a:r>
            <a:endParaRPr lang="en-US" sz="1200" dirty="0"/>
          </a:p>
        </p:txBody>
      </p:sp>
      <p:sp>
        <p:nvSpPr>
          <p:cNvPr id="32" name="Shape 28"/>
          <p:cNvSpPr/>
          <p:nvPr/>
        </p:nvSpPr>
        <p:spPr>
          <a:xfrm>
            <a:off x="548640" y="5897880"/>
            <a:ext cx="11094415" cy="457200"/>
          </a:xfrm>
          <a:prstGeom prst="roundRect">
            <a:avLst>
              <a:gd name="adj" fmla="val 14000"/>
            </a:avLst>
          </a:prstGeom>
          <a:solidFill>
            <a:srgbClr val="1C1917"/>
          </a:solidFill>
          <a:ln/>
        </p:spPr>
      </p:sp>
      <p:sp>
        <p:nvSpPr>
          <p:cNvPr id="33" name="Text 29"/>
          <p:cNvSpPr/>
          <p:nvPr/>
        </p:nvSpPr>
        <p:spPr>
          <a:xfrm>
            <a:off x="822960" y="5897880"/>
            <a:ext cx="10545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Skeptic:  </a:t>
            </a:r>
            <a:pPr indent="0" marL="0">
              <a:buNone/>
            </a:pPr>
            <a:r>
              <a:rPr lang="en-US" sz="1250" dirty="0">
                <a:solidFill>
                  <a:srgbClr val="E7E5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“So the LLM isn't the agent?”  Correct. The LLM is the brain. The agent is the brain plus the nervous system that lets it sense and act.</a:t>
            </a:r>
            <a:endParaRPr lang="en-US" sz="1200" dirty="0"/>
          </a:p>
        </p:txBody>
      </p:sp>
      <p:sp>
        <p:nvSpPr>
          <p:cNvPr id="34" name="Text 30"/>
          <p:cNvSpPr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Practitioner Bootcamp  ·  Day 3  ·  Amazon Bedrock</a:t>
            </a:r>
            <a:endParaRPr lang="en-US" sz="900" dirty="0"/>
          </a:p>
        </p:txBody>
      </p:sp>
      <p:sp>
        <p:nvSpPr>
          <p:cNvPr id="35" name="Text 31"/>
          <p:cNvSpPr/>
          <p:nvPr/>
        </p:nvSpPr>
        <p:spPr>
          <a:xfrm>
            <a:off x="11185855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MOVING PARTS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310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Bedrock Agents: the component map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4663440" y="2834640"/>
            <a:ext cx="2834640" cy="1371600"/>
          </a:xfrm>
          <a:prstGeom prst="roundRect">
            <a:avLst>
              <a:gd name="adj" fmla="val 5333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72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92040" y="3090672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663440" y="3127248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Orchestrator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4663440" y="3547872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managed loop</a:t>
            </a:r>
            <a:endParaRPr lang="en-US" sz="11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runs the show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1280160" y="1691640"/>
            <a:ext cx="2743200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sx="100000" sy="100000" kx="0" ky="0" algn="bl" rotWithShape="0" blurRad="63500" dist="19050" dir="72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1280160" y="1691640"/>
            <a:ext cx="82296" cy="1051560"/>
          </a:xfrm>
          <a:prstGeom prst="rect">
            <a:avLst/>
          </a:prstGeom>
          <a:solidFill>
            <a:srgbClr val="B45309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6192" y="1965960"/>
            <a:ext cx="475488" cy="47548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148840" y="18745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Foundation Model</a:t>
            </a:r>
            <a:endParaRPr lang="en-US" sz="1450" dirty="0"/>
          </a:p>
        </p:txBody>
      </p:sp>
      <p:sp>
        <p:nvSpPr>
          <p:cNvPr id="12" name="Text 8"/>
          <p:cNvSpPr/>
          <p:nvPr/>
        </p:nvSpPr>
        <p:spPr>
          <a:xfrm>
            <a:off x="2148840" y="225856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reasons, picks actions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4681728" y="1554480"/>
            <a:ext cx="2743200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sx="100000" sy="100000" kx="0" ky="0" algn="bl" rotWithShape="0" blurRad="63500" dist="19050" dir="7200000">
              <a:srgbClr val="00000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4681728" y="1554480"/>
            <a:ext cx="82296" cy="1051560"/>
          </a:xfrm>
          <a:prstGeom prst="rect">
            <a:avLst/>
          </a:prstGeom>
          <a:solidFill>
            <a:srgbClr val="0F766E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1828800"/>
            <a:ext cx="475488" cy="47548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550408" y="17373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Action Groups</a:t>
            </a:r>
            <a:endParaRPr lang="en-US" sz="1450" dirty="0"/>
          </a:p>
        </p:txBody>
      </p:sp>
      <p:sp>
        <p:nvSpPr>
          <p:cNvPr id="17" name="Text 12"/>
          <p:cNvSpPr/>
          <p:nvPr/>
        </p:nvSpPr>
        <p:spPr>
          <a:xfrm>
            <a:off x="5550408" y="212140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backed by Lambda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8229600" y="1691640"/>
            <a:ext cx="2743200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sx="100000" sy="100000" kx="0" ky="0" algn="bl" rotWithShape="0" blurRad="63500" dist="19050" dir="7200000">
              <a:srgbClr val="000000">
                <a:alpha val="12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8229600" y="1691640"/>
            <a:ext cx="82296" cy="1051560"/>
          </a:xfrm>
          <a:prstGeom prst="rect">
            <a:avLst/>
          </a:prstGeom>
          <a:solidFill>
            <a:srgbClr val="0F766E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965960"/>
            <a:ext cx="475488" cy="47548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9098280" y="18745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Knowledge Bases</a:t>
            </a:r>
            <a:endParaRPr lang="en-US" sz="1450" dirty="0"/>
          </a:p>
        </p:txBody>
      </p:sp>
      <p:sp>
        <p:nvSpPr>
          <p:cNvPr id="22" name="Text 16"/>
          <p:cNvSpPr/>
          <p:nvPr/>
        </p:nvSpPr>
        <p:spPr>
          <a:xfrm>
            <a:off x="9098280" y="225856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over your data</a:t>
            </a:r>
            <a:endParaRPr lang="en-US" sz="1150" dirty="0"/>
          </a:p>
        </p:txBody>
      </p:sp>
      <p:sp>
        <p:nvSpPr>
          <p:cNvPr id="23" name="Shape 17"/>
          <p:cNvSpPr/>
          <p:nvPr/>
        </p:nvSpPr>
        <p:spPr>
          <a:xfrm>
            <a:off x="8229600" y="4526280"/>
            <a:ext cx="2743200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sx="100000" sy="100000" kx="0" ky="0" algn="bl" rotWithShape="0" blurRad="63500" dist="19050" dir="7200000">
              <a:srgbClr val="000000">
                <a:alpha val="12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8229600" y="4526280"/>
            <a:ext cx="82296" cy="1051560"/>
          </a:xfrm>
          <a:prstGeom prst="rect">
            <a:avLst/>
          </a:prstGeom>
          <a:solidFill>
            <a:srgbClr val="B45309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85632" y="4800600"/>
            <a:ext cx="475488" cy="475488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9098280" y="47091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Guardrails</a:t>
            </a:r>
            <a:endParaRPr lang="en-US" sz="1450" dirty="0"/>
          </a:p>
        </p:txBody>
      </p:sp>
      <p:sp>
        <p:nvSpPr>
          <p:cNvPr id="27" name="Text 20"/>
          <p:cNvSpPr/>
          <p:nvPr/>
        </p:nvSpPr>
        <p:spPr>
          <a:xfrm>
            <a:off x="9098280" y="509320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&amp; PII policy</a:t>
            </a:r>
            <a:endParaRPr lang="en-US" sz="1150" dirty="0"/>
          </a:p>
        </p:txBody>
      </p:sp>
      <p:sp>
        <p:nvSpPr>
          <p:cNvPr id="28" name="Shape 21"/>
          <p:cNvSpPr/>
          <p:nvPr/>
        </p:nvSpPr>
        <p:spPr>
          <a:xfrm>
            <a:off x="4681728" y="4800600"/>
            <a:ext cx="2743200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sx="100000" sy="100000" kx="0" ky="0" algn="bl" rotWithShape="0" blurRad="63500" dist="19050" dir="7200000">
              <a:srgbClr val="000000">
                <a:alpha val="12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4681728" y="4800600"/>
            <a:ext cx="82296" cy="1051560"/>
          </a:xfrm>
          <a:prstGeom prst="rect">
            <a:avLst/>
          </a:prstGeom>
          <a:solidFill>
            <a:srgbClr val="1E293B"/>
          </a:solidFill>
          <a:ln/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7760" y="5074920"/>
            <a:ext cx="475488" cy="475488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5550408" y="49834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Memory &amp; Session</a:t>
            </a:r>
            <a:endParaRPr lang="en-US" sz="1450" dirty="0"/>
          </a:p>
        </p:txBody>
      </p:sp>
      <p:sp>
        <p:nvSpPr>
          <p:cNvPr id="32" name="Text 24"/>
          <p:cNvSpPr/>
          <p:nvPr/>
        </p:nvSpPr>
        <p:spPr>
          <a:xfrm>
            <a:off x="5550408" y="536752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 &amp; long-term recall</a:t>
            </a:r>
            <a:endParaRPr lang="en-US" sz="1150" dirty="0"/>
          </a:p>
        </p:txBody>
      </p:sp>
      <p:sp>
        <p:nvSpPr>
          <p:cNvPr id="33" name="Shape 25"/>
          <p:cNvSpPr/>
          <p:nvPr/>
        </p:nvSpPr>
        <p:spPr>
          <a:xfrm>
            <a:off x="1280160" y="4526280"/>
            <a:ext cx="2743200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sx="100000" sy="100000" kx="0" ky="0" algn="bl" rotWithShape="0" blurRad="63500" dist="19050" dir="7200000">
              <a:srgbClr val="000000">
                <a:alpha val="12000"/>
              </a:srgbClr>
            </a:outerShdw>
          </a:effectLst>
        </p:spPr>
      </p:sp>
      <p:sp>
        <p:nvSpPr>
          <p:cNvPr id="34" name="Shape 26"/>
          <p:cNvSpPr/>
          <p:nvPr/>
        </p:nvSpPr>
        <p:spPr>
          <a:xfrm>
            <a:off x="1280160" y="4526280"/>
            <a:ext cx="82296" cy="1051560"/>
          </a:xfrm>
          <a:prstGeom prst="rect">
            <a:avLst/>
          </a:prstGeom>
          <a:solidFill>
            <a:srgbClr val="1E293B"/>
          </a:solidFill>
          <a:ln/>
        </p:spPr>
      </p:sp>
      <p:pic>
        <p:nvPicPr>
          <p:cNvPr id="3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36192" y="4800600"/>
            <a:ext cx="475488" cy="475488"/>
          </a:xfrm>
          <a:prstGeom prst="rect">
            <a:avLst/>
          </a:prstGeom>
        </p:spPr>
      </p:pic>
      <p:sp>
        <p:nvSpPr>
          <p:cNvPr id="36" name="Text 27"/>
          <p:cNvSpPr/>
          <p:nvPr/>
        </p:nvSpPr>
        <p:spPr>
          <a:xfrm>
            <a:off x="2148840" y="47091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IAM role + Traces</a:t>
            </a:r>
            <a:endParaRPr lang="en-US" sz="1450" dirty="0"/>
          </a:p>
        </p:txBody>
      </p:sp>
      <p:sp>
        <p:nvSpPr>
          <p:cNvPr id="37" name="Text 28"/>
          <p:cNvSpPr/>
          <p:nvPr/>
        </p:nvSpPr>
        <p:spPr>
          <a:xfrm>
            <a:off x="2148840" y="509320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permissions &amp; observability</a:t>
            </a:r>
            <a:endParaRPr lang="en-US" sz="1150" dirty="0"/>
          </a:p>
        </p:txBody>
      </p:sp>
      <p:sp>
        <p:nvSpPr>
          <p:cNvPr id="38" name="Shape 29"/>
          <p:cNvSpPr/>
          <p:nvPr/>
        </p:nvSpPr>
        <p:spPr>
          <a:xfrm flipH="1" flipV="1">
            <a:off x="4023360" y="2743200"/>
            <a:ext cx="640080" cy="457200"/>
          </a:xfrm>
          <a:prstGeom prst="line">
            <a:avLst/>
          </a:prstGeom>
          <a:noFill/>
          <a:ln w="12700">
            <a:solidFill>
              <a:srgbClr val="E7E5E4"/>
            </a:solidFill>
            <a:prstDash val="solid"/>
          </a:ln>
        </p:spPr>
      </p:sp>
      <p:sp>
        <p:nvSpPr>
          <p:cNvPr id="39" name="Shape 30"/>
          <p:cNvSpPr/>
          <p:nvPr/>
        </p:nvSpPr>
        <p:spPr>
          <a:xfrm flipH="1" flipV="1">
            <a:off x="6035040" y="2606040"/>
            <a:ext cx="45720" cy="228600"/>
          </a:xfrm>
          <a:prstGeom prst="line">
            <a:avLst/>
          </a:prstGeom>
          <a:noFill/>
          <a:ln w="12700">
            <a:solidFill>
              <a:srgbClr val="E7E5E4"/>
            </a:solidFill>
            <a:prstDash val="solid"/>
          </a:ln>
        </p:spPr>
      </p:sp>
      <p:sp>
        <p:nvSpPr>
          <p:cNvPr id="40" name="Shape 31"/>
          <p:cNvSpPr/>
          <p:nvPr/>
        </p:nvSpPr>
        <p:spPr>
          <a:xfrm flipV="1">
            <a:off x="7498080" y="2743200"/>
            <a:ext cx="2103120" cy="457200"/>
          </a:xfrm>
          <a:prstGeom prst="line">
            <a:avLst/>
          </a:prstGeom>
          <a:noFill/>
          <a:ln w="12700">
            <a:solidFill>
              <a:srgbClr val="E7E5E4"/>
            </a:solidFill>
            <a:prstDash val="solid"/>
          </a:ln>
        </p:spPr>
      </p:sp>
      <p:sp>
        <p:nvSpPr>
          <p:cNvPr id="41" name="Shape 32"/>
          <p:cNvSpPr/>
          <p:nvPr/>
        </p:nvSpPr>
        <p:spPr>
          <a:xfrm>
            <a:off x="7498080" y="3840480"/>
            <a:ext cx="2103120" cy="685800"/>
          </a:xfrm>
          <a:prstGeom prst="line">
            <a:avLst/>
          </a:prstGeom>
          <a:noFill/>
          <a:ln w="12700">
            <a:solidFill>
              <a:srgbClr val="E7E5E4"/>
            </a:solidFill>
            <a:prstDash val="solid"/>
          </a:ln>
        </p:spPr>
      </p:sp>
      <p:sp>
        <p:nvSpPr>
          <p:cNvPr id="42" name="Shape 33"/>
          <p:cNvSpPr/>
          <p:nvPr/>
        </p:nvSpPr>
        <p:spPr>
          <a:xfrm flipH="1">
            <a:off x="6035040" y="4206240"/>
            <a:ext cx="45720" cy="594360"/>
          </a:xfrm>
          <a:prstGeom prst="line">
            <a:avLst/>
          </a:prstGeom>
          <a:noFill/>
          <a:ln w="12700">
            <a:solidFill>
              <a:srgbClr val="E7E5E4"/>
            </a:solidFill>
            <a:prstDash val="solid"/>
          </a:ln>
        </p:spPr>
      </p:sp>
      <p:sp>
        <p:nvSpPr>
          <p:cNvPr id="43" name="Shape 34"/>
          <p:cNvSpPr/>
          <p:nvPr/>
        </p:nvSpPr>
        <p:spPr>
          <a:xfrm flipH="1">
            <a:off x="4023360" y="3840480"/>
            <a:ext cx="640080" cy="685800"/>
          </a:xfrm>
          <a:prstGeom prst="line">
            <a:avLst/>
          </a:prstGeom>
          <a:noFill/>
          <a:ln w="12700">
            <a:solidFill>
              <a:srgbClr val="E7E5E4"/>
            </a:solidFill>
            <a:prstDash val="solid"/>
          </a:ln>
        </p:spPr>
      </p:sp>
      <p:sp>
        <p:nvSpPr>
          <p:cNvPr id="44" name="Text 35"/>
          <p:cNvSpPr/>
          <p:nvPr/>
        </p:nvSpPr>
        <p:spPr>
          <a:xfrm>
            <a:off x="548640" y="59893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InvokeAgent  →  orchestrator coordinates every other part on each turn.</a:t>
            </a:r>
            <a:endParaRPr lang="en-US" sz="1150" dirty="0"/>
          </a:p>
        </p:txBody>
      </p:sp>
      <p:sp>
        <p:nvSpPr>
          <p:cNvPr id="45" name="Text 36"/>
          <p:cNvSpPr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Practitioner Bootcamp  ·  Day 3  ·  Amazon Bedrock</a:t>
            </a:r>
            <a:endParaRPr lang="en-US" sz="900" dirty="0"/>
          </a:p>
        </p:txBody>
      </p:sp>
      <p:sp>
        <p:nvSpPr>
          <p:cNvPr id="46" name="Text 37"/>
          <p:cNvSpPr/>
          <p:nvPr/>
        </p:nvSpPr>
        <p:spPr>
          <a:xfrm>
            <a:off x="11185855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COMPONENT 1 OF 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310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Foundation Model — the reasoning engine</a:t>
            </a:r>
            <a:endParaRPr lang="en-US" sz="31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920240"/>
            <a:ext cx="640080" cy="640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17320" y="1874520"/>
            <a:ext cx="5440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B4530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brain.  </a:t>
            </a:r>
            <a:pPr algn="l"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Nova, Claude, Llama, and others. It reads the assembled prompt and emits a thought plus either a tool to call or a final answer.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48640" y="3108960"/>
            <a:ext cx="63093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Stateless. It remembers nothing between calls — the orchestrator re-sends the full history every turn.</a:t>
            </a:r>
            <a:endParaRPr lang="en-US" sz="13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decides; it does not execute. “Call lookup_booking(JX48Q2)” is a request, not an action.</a:t>
            </a:r>
            <a:endParaRPr lang="en-US" sz="13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Decoding params live here: topK=1 is greedy (one fixed token), so identical inputs give identical outputs.</a:t>
            </a:r>
            <a:endParaRPr lang="en-US" sz="13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choice changes reliability far more than prompt tweaks for multi-step tool use.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7132320" y="1874520"/>
            <a:ext cx="4510735" cy="3886200"/>
          </a:xfrm>
          <a:prstGeom prst="roundRect">
            <a:avLst>
              <a:gd name="adj" fmla="val 1647"/>
            </a:avLst>
          </a:prstGeom>
          <a:solidFill>
            <a:srgbClr val="FBF1E6"/>
          </a:solidFill>
          <a:ln w="12700">
            <a:solidFill>
              <a:srgbClr val="F0D9BD"/>
            </a:solidFill>
            <a:prstDash val="solid"/>
          </a:ln>
          <a:effectLst>
            <a:outerShdw sx="100000" sy="100000" kx="0" ky="0" algn="bl" rotWithShape="0" blurRad="63500" dist="19050" dir="72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452360" y="2148840"/>
            <a:ext cx="38706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92400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 gotcha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452360" y="2532888"/>
            <a:ext cx="38706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70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Claude was “blocked,” Nova worked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7452360" y="3291840"/>
            <a:ext cx="38706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3.5+ on Bedrock cannot be called by bare model ID. It needs a cross-region inference profile. Pick the us. variant in the model picker: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7452360" y="4572000"/>
            <a:ext cx="3870655" cy="777240"/>
          </a:xfrm>
          <a:prstGeom prst="roundRect">
            <a:avLst>
              <a:gd name="adj" fmla="val 8235"/>
            </a:avLst>
          </a:prstGeom>
          <a:solidFill>
            <a:srgbClr val="1C1917"/>
          </a:solidFill>
          <a:ln/>
        </p:spPr>
      </p:sp>
      <p:sp>
        <p:nvSpPr>
          <p:cNvPr id="12" name="Text 9"/>
          <p:cNvSpPr/>
          <p:nvPr/>
        </p:nvSpPr>
        <p:spPr>
          <a:xfrm>
            <a:off x="7589520" y="4572000"/>
            <a:ext cx="35963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us.anthropic.claude-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3-5-haiku-...-v1:0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Practitioner Bootcamp  ·  Day 3  ·  Amazon Bedrock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185855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COMPONENT 2 OF 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310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Action Groups — what the agent can do</a:t>
            </a:r>
            <a:endParaRPr lang="en-US" sz="31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920240"/>
            <a:ext cx="640080" cy="640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17320" y="1874520"/>
            <a:ext cx="5440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0F76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hands.  </a:t>
            </a:r>
            <a:pPr algn="l"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tool is a function backed by a Lambda (or return-of-control to your app). You declare its parameters; Bedrock validates them.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48640" y="3108960"/>
            <a:ext cx="6309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Defined by a function schema or OpenAPI spec — name, description, typed parameters.</a:t>
            </a:r>
            <a:endParaRPr lang="en-US" sz="13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picks the tool and fills the arguments; the orchestrator invokes the Lambda.</a:t>
            </a:r>
            <a:endParaRPr lang="en-US" sz="13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 returns as an observation that the model reads on the next turn.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548640" y="5029200"/>
            <a:ext cx="6309360" cy="713232"/>
          </a:xfrm>
          <a:prstGeom prst="roundRect">
            <a:avLst>
              <a:gd name="adj" fmla="val 8974"/>
            </a:avLst>
          </a:prstGeom>
          <a:solidFill>
            <a:srgbClr val="FEF2F2"/>
          </a:solidFill>
          <a:ln w="12700">
            <a:solidFill>
              <a:srgbClr val="F3C9C9"/>
            </a:solidFill>
            <a:prstDash val="solid"/>
          </a:ln>
          <a:effectLst>
            <a:outerShdw sx="100000" sy="100000" kx="0" ky="0" algn="bl" rotWithShape="0" blurRad="63500" dist="19050" dir="72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22960" y="5029200"/>
            <a:ext cx="5760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B91C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Design rule:  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292524"/>
                </a:solidFill>
              </a:rPr>
              <a:t>every goal needs a terminal action. No confirm_rebooking tool → the agent literally cannot finish.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132320" y="1874520"/>
            <a:ext cx="4510735" cy="3886200"/>
          </a:xfrm>
          <a:prstGeom prst="roundRect">
            <a:avLst>
              <a:gd name="adj" fmla="val 1647"/>
            </a:avLst>
          </a:prstGeom>
          <a:solidFill>
            <a:srgbClr val="F0FDFA"/>
          </a:solidFill>
          <a:ln w="12700">
            <a:solidFill>
              <a:srgbClr val="CFE9E4"/>
            </a:solidFill>
            <a:prstDash val="solid"/>
          </a:ln>
          <a:effectLst>
            <a:outerShdw sx="100000" sy="100000" kx="0" ky="0" algn="bl" rotWithShape="0" blurRad="63500" dist="19050" dir="720000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7452360" y="2148840"/>
            <a:ext cx="38706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5E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TravelMind action group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7452360" y="2743200"/>
            <a:ext cx="3870655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2700">
            <a:solidFill>
              <a:srgbClr val="CFE9E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589520" y="2743200"/>
            <a:ext cx="35963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5E5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lookup_booking(pnr)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7452360" y="3456432"/>
            <a:ext cx="3870655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2700">
            <a:solidFill>
              <a:srgbClr val="CFE9E4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589520" y="3456432"/>
            <a:ext cx="35963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5E5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get_disruption_reason(pnr)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7452360" y="4169664"/>
            <a:ext cx="3870655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2700">
            <a:solidFill>
              <a:srgbClr val="CFE9E4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589520" y="4169664"/>
            <a:ext cx="35963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5E5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get_rebooking_options(pnr)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7452360" y="4882896"/>
            <a:ext cx="3870655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589520" y="4882896"/>
            <a:ext cx="35963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91C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confirm_rebooking(pnr, flight)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10180015" y="4882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B91C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missing!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Practitioner Bootcamp  ·  Day 3  ·  Amazon Bedrock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1185855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COMPONENT 3 OF 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310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Knowledge Bases — grounding in your data</a:t>
            </a:r>
            <a:endParaRPr lang="en-US" sz="31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28800"/>
            <a:ext cx="594360" cy="59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71600" y="1783080"/>
            <a:ext cx="102714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0F76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memory of facts.  </a:t>
            </a:r>
            <a:pPr algn="l"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Retrieval-augmented generation (RAG) lets the agent answer from your documents without retraining the model.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685800" y="3200400"/>
            <a:ext cx="182880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sx="100000" sy="100000" kx="0" ky="0" algn="bl" rotWithShape="0" blurRad="63500" dist="19050" dir="72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85800" y="3200400"/>
            <a:ext cx="1828800" cy="7315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3346704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Documents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777240" y="3675888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05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fare rules,</a:t>
            </a:r>
            <a:endParaRPr lang="en-US" sz="105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105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policies, manuals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2514600" y="3680460"/>
            <a:ext cx="329184" cy="0"/>
          </a:xfrm>
          <a:prstGeom prst="line">
            <a:avLst/>
          </a:prstGeom>
          <a:noFill/>
          <a:ln w="22225">
            <a:solidFill>
              <a:srgbClr val="33415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 rot="5400000">
            <a:off x="2779776" y="3616452"/>
            <a:ext cx="128016" cy="128016"/>
          </a:xfrm>
          <a:prstGeom prst="triangle">
            <a:avLst/>
          </a:prstGeom>
          <a:solidFill>
            <a:srgbClr val="334155"/>
          </a:solidFill>
          <a:ln/>
        </p:spPr>
      </p:sp>
      <p:sp>
        <p:nvSpPr>
          <p:cNvPr id="12" name="Shape 9"/>
          <p:cNvSpPr/>
          <p:nvPr/>
        </p:nvSpPr>
        <p:spPr>
          <a:xfrm>
            <a:off x="2843784" y="3200400"/>
            <a:ext cx="182880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sx="100000" sy="100000" kx="0" ky="0" algn="bl" rotWithShape="0" blurRad="63500" dist="19050" dir="72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2843784" y="3200400"/>
            <a:ext cx="1828800" cy="73152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4" name="Text 11"/>
          <p:cNvSpPr/>
          <p:nvPr/>
        </p:nvSpPr>
        <p:spPr>
          <a:xfrm>
            <a:off x="2935224" y="3346704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Chunk + embed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2935224" y="3675888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05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→ vectors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4672584" y="3680460"/>
            <a:ext cx="329184" cy="0"/>
          </a:xfrm>
          <a:prstGeom prst="line">
            <a:avLst/>
          </a:prstGeom>
          <a:noFill/>
          <a:ln w="22225">
            <a:solidFill>
              <a:srgbClr val="334155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 rot="5400000">
            <a:off x="4937760" y="3616452"/>
            <a:ext cx="128016" cy="128016"/>
          </a:xfrm>
          <a:prstGeom prst="triangle">
            <a:avLst/>
          </a:prstGeom>
          <a:solidFill>
            <a:srgbClr val="334155"/>
          </a:solidFill>
          <a:ln/>
        </p:spPr>
      </p:sp>
      <p:sp>
        <p:nvSpPr>
          <p:cNvPr id="18" name="Shape 15"/>
          <p:cNvSpPr/>
          <p:nvPr/>
        </p:nvSpPr>
        <p:spPr>
          <a:xfrm>
            <a:off x="5001768" y="3200400"/>
            <a:ext cx="182880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sx="100000" sy="100000" kx="0" ky="0" algn="bl" rotWithShape="0" blurRad="63500" dist="19050" dir="7200000">
              <a:srgbClr val="000000">
                <a:alpha val="1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5001768" y="3200400"/>
            <a:ext cx="1828800" cy="73152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20" name="Text 17"/>
          <p:cNvSpPr/>
          <p:nvPr/>
        </p:nvSpPr>
        <p:spPr>
          <a:xfrm>
            <a:off x="5093208" y="3346704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Vector store</a:t>
            </a:r>
            <a:endParaRPr lang="en-US" sz="1350" dirty="0"/>
          </a:p>
        </p:txBody>
      </p:sp>
      <p:sp>
        <p:nvSpPr>
          <p:cNvPr id="21" name="Text 18"/>
          <p:cNvSpPr/>
          <p:nvPr/>
        </p:nvSpPr>
        <p:spPr>
          <a:xfrm>
            <a:off x="5093208" y="3675888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05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OpenSearch / Aurora</a:t>
            </a:r>
            <a:endParaRPr lang="en-US" sz="105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105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pgvector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6830568" y="3680460"/>
            <a:ext cx="329184" cy="0"/>
          </a:xfrm>
          <a:prstGeom prst="line">
            <a:avLst/>
          </a:prstGeom>
          <a:noFill/>
          <a:ln w="22225">
            <a:solidFill>
              <a:srgbClr val="334155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 rot="5400000">
            <a:off x="7095744" y="3616452"/>
            <a:ext cx="128016" cy="128016"/>
          </a:xfrm>
          <a:prstGeom prst="triangle">
            <a:avLst/>
          </a:prstGeom>
          <a:solidFill>
            <a:srgbClr val="334155"/>
          </a:solidFill>
          <a:ln/>
        </p:spPr>
      </p:sp>
      <p:sp>
        <p:nvSpPr>
          <p:cNvPr id="24" name="Shape 21"/>
          <p:cNvSpPr/>
          <p:nvPr/>
        </p:nvSpPr>
        <p:spPr>
          <a:xfrm>
            <a:off x="7159752" y="3200400"/>
            <a:ext cx="182880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sx="100000" sy="100000" kx="0" ky="0" algn="bl" rotWithShape="0" blurRad="63500" dist="19050" dir="7200000">
              <a:srgbClr val="000000">
                <a:alpha val="12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7159752" y="3200400"/>
            <a:ext cx="1828800" cy="73152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26" name="Text 23"/>
          <p:cNvSpPr/>
          <p:nvPr/>
        </p:nvSpPr>
        <p:spPr>
          <a:xfrm>
            <a:off x="7251192" y="3346704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Retrieve</a:t>
            </a:r>
            <a:endParaRPr lang="en-US" sz="1350" dirty="0"/>
          </a:p>
        </p:txBody>
      </p:sp>
      <p:sp>
        <p:nvSpPr>
          <p:cNvPr id="27" name="Text 24"/>
          <p:cNvSpPr/>
          <p:nvPr/>
        </p:nvSpPr>
        <p:spPr>
          <a:xfrm>
            <a:off x="7251192" y="3675888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05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top-k relevant</a:t>
            </a:r>
            <a:endParaRPr lang="en-US" sz="105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105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chunks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8988552" y="3680460"/>
            <a:ext cx="329184" cy="0"/>
          </a:xfrm>
          <a:prstGeom prst="line">
            <a:avLst/>
          </a:prstGeom>
          <a:noFill/>
          <a:ln w="22225">
            <a:solidFill>
              <a:srgbClr val="334155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 rot="5400000">
            <a:off x="9253728" y="3616452"/>
            <a:ext cx="128016" cy="128016"/>
          </a:xfrm>
          <a:prstGeom prst="triangle">
            <a:avLst/>
          </a:prstGeom>
          <a:solidFill>
            <a:srgbClr val="334155"/>
          </a:solidFill>
          <a:ln/>
        </p:spPr>
      </p:sp>
      <p:sp>
        <p:nvSpPr>
          <p:cNvPr id="30" name="Shape 27"/>
          <p:cNvSpPr/>
          <p:nvPr/>
        </p:nvSpPr>
        <p:spPr>
          <a:xfrm>
            <a:off x="9317736" y="3200400"/>
            <a:ext cx="182880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sx="100000" sy="100000" kx="0" ky="0" algn="bl" rotWithShape="0" blurRad="63500" dist="19050" dir="7200000">
              <a:srgbClr val="000000">
                <a:alpha val="12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9317736" y="3200400"/>
            <a:ext cx="1828800" cy="73152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2" name="Text 29"/>
          <p:cNvSpPr/>
          <p:nvPr/>
        </p:nvSpPr>
        <p:spPr>
          <a:xfrm>
            <a:off x="9409176" y="3346704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 answers</a:t>
            </a:r>
            <a:endParaRPr lang="en-US" sz="1350" dirty="0"/>
          </a:p>
        </p:txBody>
      </p:sp>
      <p:sp>
        <p:nvSpPr>
          <p:cNvPr id="33" name="Text 30"/>
          <p:cNvSpPr/>
          <p:nvPr/>
        </p:nvSpPr>
        <p:spPr>
          <a:xfrm>
            <a:off x="9409176" y="3675888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05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in</a:t>
            </a:r>
            <a:endParaRPr lang="en-US" sz="105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105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retrieved text</a:t>
            </a:r>
            <a:endParaRPr lang="en-US" sz="1050" dirty="0"/>
          </a:p>
        </p:txBody>
      </p:sp>
      <p:sp>
        <p:nvSpPr>
          <p:cNvPr id="34" name="Shape 31"/>
          <p:cNvSpPr/>
          <p:nvPr/>
        </p:nvSpPr>
        <p:spPr>
          <a:xfrm>
            <a:off x="548640" y="4663440"/>
            <a:ext cx="11094415" cy="1005840"/>
          </a:xfrm>
          <a:prstGeom prst="roundRect">
            <a:avLst>
              <a:gd name="adj" fmla="val 6364"/>
            </a:avLst>
          </a:prstGeom>
          <a:solidFill>
            <a:srgbClr val="F1F5F9"/>
          </a:solidFill>
          <a:ln w="12700">
            <a:solidFill>
              <a:srgbClr val="DBE3EC"/>
            </a:solidFill>
            <a:prstDash val="solid"/>
          </a:ln>
          <a:effectLst>
            <a:outerShdw sx="100000" sy="100000" kx="0" ky="0" algn="bl" rotWithShape="0" blurRad="63500" dist="19050" dir="7200000">
              <a:srgbClr val="000000">
                <a:alpha val="12000"/>
              </a:srgbClr>
            </a:outerShdw>
          </a:effectLst>
        </p:spPr>
      </p:sp>
      <p:sp>
        <p:nvSpPr>
          <p:cNvPr id="35" name="Text 32"/>
          <p:cNvSpPr/>
          <p:nvPr/>
        </p:nvSpPr>
        <p:spPr>
          <a:xfrm>
            <a:off x="868680" y="4663440"/>
            <a:ext cx="1045433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Why it matters:  </a:t>
            </a:r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292524"/>
                </a:solidFill>
              </a:rPr>
              <a:t>the agent cites current, private facts instead of guessing. Update the documents and behaviour updates — no fine-tuning, no redeploy. For : fare rules, baggage policy, and IROPS playbooks become queryable knowledge.</a:t>
            </a:r>
            <a:endParaRPr lang="en-US" sz="1250" dirty="0"/>
          </a:p>
        </p:txBody>
      </p:sp>
      <p:sp>
        <p:nvSpPr>
          <p:cNvPr id="36" name="Text 33"/>
          <p:cNvSpPr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Practitioner Bootcamp  ·  Day 3  ·  Amazon Bedrock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11185855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COMPONENT 4 OF 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310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Guardrails — the safety and policy layer</a:t>
            </a:r>
            <a:endParaRPr lang="en-US" sz="31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28800"/>
            <a:ext cx="594360" cy="59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71600" y="1783080"/>
            <a:ext cx="102714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B4530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filter on the door.  </a:t>
            </a:r>
            <a:pPr algn="l"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 screen both the user's input and the model's output, independently of the prompt.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48640" y="2926080"/>
            <a:ext cx="5394960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sx="100000" sy="100000" kx="0" ky="0" algn="bl" rotWithShape="0" blurRad="63500" dist="19050" dir="72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48640" y="2926080"/>
            <a:ext cx="82296" cy="105156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8" name="Text 5"/>
          <p:cNvSpPr/>
          <p:nvPr/>
        </p:nvSpPr>
        <p:spPr>
          <a:xfrm>
            <a:off x="868680" y="309067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Content filters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868680" y="347472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hate, violence, and unsafe categories at chosen strengths.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245352" y="2926080"/>
            <a:ext cx="5394960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sx="100000" sy="100000" kx="0" ky="0" algn="bl" rotWithShape="0" blurRad="63500" dist="19050" dir="72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245352" y="2926080"/>
            <a:ext cx="82296" cy="10515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2" name="Text 9"/>
          <p:cNvSpPr/>
          <p:nvPr/>
        </p:nvSpPr>
        <p:spPr>
          <a:xfrm>
            <a:off x="6565392" y="309067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Denied topics</a:t>
            </a:r>
            <a:endParaRPr lang="en-US" sz="1550" dirty="0"/>
          </a:p>
        </p:txBody>
      </p:sp>
      <p:sp>
        <p:nvSpPr>
          <p:cNvPr id="13" name="Text 10"/>
          <p:cNvSpPr/>
          <p:nvPr/>
        </p:nvSpPr>
        <p:spPr>
          <a:xfrm>
            <a:off x="6565392" y="347472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off-limits subjects in plain language (e.g. legal advice).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548640" y="4251960"/>
            <a:ext cx="5394960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sx="100000" sy="100000" kx="0" ky="0" algn="bl" rotWithShape="0" blurRad="63500" dist="19050" dir="72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548640" y="4251960"/>
            <a:ext cx="82296" cy="105156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6" name="Text 13"/>
          <p:cNvSpPr/>
          <p:nvPr/>
        </p:nvSpPr>
        <p:spPr>
          <a:xfrm>
            <a:off x="868680" y="441655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PII redaction</a:t>
            </a:r>
            <a:endParaRPr lang="en-US" sz="1550" dirty="0"/>
          </a:p>
        </p:txBody>
      </p:sp>
      <p:sp>
        <p:nvSpPr>
          <p:cNvPr id="17" name="Text 14"/>
          <p:cNvSpPr/>
          <p:nvPr/>
        </p:nvSpPr>
        <p:spPr>
          <a:xfrm>
            <a:off x="868680" y="480060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 or block emails, phone numbers, passport and card data.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6245352" y="4251960"/>
            <a:ext cx="5394960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sx="100000" sy="100000" kx="0" ky="0" algn="bl" rotWithShape="0" blurRad="63500" dist="19050" dir="7200000">
              <a:srgbClr val="000000">
                <a:alpha val="1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6245352" y="4251960"/>
            <a:ext cx="82296" cy="105156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20" name="Text 17"/>
          <p:cNvSpPr/>
          <p:nvPr/>
        </p:nvSpPr>
        <p:spPr>
          <a:xfrm>
            <a:off x="6565392" y="441655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Grounding checks</a:t>
            </a:r>
            <a:endParaRPr lang="en-US" sz="1550" dirty="0"/>
          </a:p>
        </p:txBody>
      </p:sp>
      <p:sp>
        <p:nvSpPr>
          <p:cNvPr id="21" name="Text 18"/>
          <p:cNvSpPr/>
          <p:nvPr/>
        </p:nvSpPr>
        <p:spPr>
          <a:xfrm>
            <a:off x="6565392" y="480060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 answers not supported by retrieved knowledge.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548640" y="5532120"/>
            <a:ext cx="11094415" cy="457200"/>
          </a:xfrm>
          <a:prstGeom prst="roundRect">
            <a:avLst>
              <a:gd name="adj" fmla="val 14000"/>
            </a:avLst>
          </a:prstGeom>
          <a:solidFill>
            <a:srgbClr val="1C1917"/>
          </a:solidFill>
          <a:ln/>
        </p:spPr>
      </p:sp>
      <p:sp>
        <p:nvSpPr>
          <p:cNvPr id="23" name="Text 20"/>
          <p:cNvSpPr/>
          <p:nvPr/>
        </p:nvSpPr>
        <p:spPr>
          <a:xfrm>
            <a:off x="822960" y="5532120"/>
            <a:ext cx="10545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angle:  </a:t>
            </a:r>
            <a:pPr indent="0" marL="0">
              <a:buNone/>
            </a:pPr>
            <a:r>
              <a:rPr lang="en-US" sz="1250" dirty="0">
                <a:solidFill>
                  <a:srgbClr val="E7E5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passenger PII redaction is the easiest path to a PDPA-defensible servicing agent.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Practitioner Bootcamp  ·  Day 3  ·  Amazon Bedrock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11185855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COMPONENT 5 OF 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310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Memory &amp; Session — what carries over</a:t>
            </a:r>
            <a:endParaRPr lang="en-US" sz="31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28800"/>
            <a:ext cx="594360" cy="59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71600" y="1783080"/>
            <a:ext cx="102714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continuity layer.  </a:t>
            </a:r>
            <a:pPr algn="l"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is stateless, so anything that should persist lives here, managed by the orchestrator.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48640" y="2971800"/>
            <a:ext cx="5394960" cy="2331720"/>
          </a:xfrm>
          <a:prstGeom prst="roundRect">
            <a:avLst>
              <a:gd name="adj" fmla="val 2745"/>
            </a:avLst>
          </a:prstGeom>
          <a:solidFill>
            <a:srgbClr val="F1F5F9"/>
          </a:solidFill>
          <a:ln w="12700">
            <a:solidFill>
              <a:srgbClr val="DBE3EC"/>
            </a:solidFill>
            <a:prstDash val="solid"/>
          </a:ln>
          <a:effectLst>
            <a:outerShdw sx="100000" sy="100000" kx="0" ky="0" algn="bl" rotWithShape="0" blurRad="63500" dist="19050" dir="72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68680" y="32461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Session (short-term)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68680" y="3749040"/>
            <a:ext cx="4754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running conversation for one task.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Re-sent to the model on every turn — this is the history that ballooned to 11k tokens in the loop.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Expires after idle timeout (idleSessionTTL).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245352" y="2971800"/>
            <a:ext cx="5394960" cy="2331720"/>
          </a:xfrm>
          <a:prstGeom prst="roundRect">
            <a:avLst>
              <a:gd name="adj" fmla="val 2745"/>
            </a:avLst>
          </a:prstGeom>
          <a:solidFill>
            <a:srgbClr val="FBF1E6"/>
          </a:solidFill>
          <a:ln w="12700">
            <a:solidFill>
              <a:srgbClr val="F0D9BD"/>
            </a:solidFill>
            <a:prstDash val="solid"/>
          </a:ln>
          <a:effectLst>
            <a:outerShdw sx="100000" sy="100000" kx="0" ky="0" algn="bl" rotWithShape="0" blurRad="63500" dist="19050" dir="720000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565392" y="32461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9240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Memory (long-term)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6565392" y="3749040"/>
            <a:ext cx="4754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summary that survives across sessions.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Lets the agent recall a returning passenger's context without re-asking.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Opt-in, and a privacy decision — store the minimum that earns its keep.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48640" y="55321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Stateless model + orchestrator-managed history = the “memory” you saw growing turn over turn in the trace.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Practitioner Bootcamp  ·  Day 3  ·  Amazon Bedrock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185855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HOW BEDROCK WRAPS THE MODEL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310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four prompt stages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 can run the model through up to four templated stages. Each is an overridable prompt; orchestration is the only one that loops.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2578608" cy="2331720"/>
          </a:xfrm>
          <a:prstGeom prst="roundRect">
            <a:avLst>
              <a:gd name="adj" fmla="val 2745"/>
            </a:avLst>
          </a:prstGeom>
          <a:solidFill>
            <a:srgbClr val="F1F5F9"/>
          </a:solidFill>
          <a:ln w="12700">
            <a:solidFill>
              <a:srgbClr val="DBE3EC"/>
            </a:solidFill>
            <a:prstDash val="solid"/>
          </a:ln>
          <a:effectLst>
            <a:outerShdw sx="100000" sy="100000" kx="0" ky="0" algn="bl" rotWithShape="0" blurRad="63500" dist="19050" dir="72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517904" y="2633472"/>
            <a:ext cx="640080" cy="640080"/>
          </a:xfrm>
          <a:prstGeom prst="ellipse">
            <a:avLst/>
          </a:prstGeom>
          <a:solidFill>
            <a:srgbClr val="1E293B"/>
          </a:solidFill>
          <a:ln/>
          <a:effectLst>
            <a:outerShdw sx="100000" sy="100000" kx="0" ky="0" algn="bl" rotWithShape="0" blurRad="63500" dist="19050" dir="72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517904" y="263347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85800" y="3401568"/>
            <a:ext cx="23042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55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Pre-processing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731520" y="3931920"/>
            <a:ext cx="22128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and classify the input. Can catch malicious prompts. Optional.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127248" y="3543300"/>
            <a:ext cx="246888" cy="0"/>
          </a:xfrm>
          <a:prstGeom prst="line">
            <a:avLst/>
          </a:prstGeom>
          <a:noFill/>
          <a:ln w="25400">
            <a:solidFill>
              <a:srgbClr val="3341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rot="5400000">
            <a:off x="3310128" y="3479292"/>
            <a:ext cx="128016" cy="128016"/>
          </a:xfrm>
          <a:prstGeom prst="triangle">
            <a:avLst/>
          </a:prstGeom>
          <a:solidFill>
            <a:srgbClr val="334155"/>
          </a:solidFill>
          <a:ln/>
        </p:spPr>
      </p:sp>
      <p:sp>
        <p:nvSpPr>
          <p:cNvPr id="12" name="Shape 10"/>
          <p:cNvSpPr/>
          <p:nvPr/>
        </p:nvSpPr>
        <p:spPr>
          <a:xfrm>
            <a:off x="3374136" y="2267712"/>
            <a:ext cx="2578608" cy="2551176"/>
          </a:xfrm>
          <a:prstGeom prst="roundRect">
            <a:avLst>
              <a:gd name="adj" fmla="val 2509"/>
            </a:avLst>
          </a:prstGeom>
          <a:solidFill>
            <a:srgbClr val="FBF1E6"/>
          </a:solidFill>
          <a:ln w="12700">
            <a:solidFill>
              <a:srgbClr val="F0D9BD"/>
            </a:solidFill>
            <a:prstDash val="solid"/>
          </a:ln>
          <a:effectLst>
            <a:outerShdw sx="100000" sy="100000" kx="0" ky="0" algn="bl" rotWithShape="0" blurRad="101600" dist="25400" dir="72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343400" y="2523744"/>
            <a:ext cx="640080" cy="640080"/>
          </a:xfrm>
          <a:prstGeom prst="ellipse">
            <a:avLst/>
          </a:prstGeom>
          <a:solidFill>
            <a:srgbClr val="B45309"/>
          </a:solidFill>
          <a:ln/>
          <a:effectLst>
            <a:outerShdw sx="100000" sy="100000" kx="0" ky="0" algn="bl" rotWithShape="0" blurRad="63500" dist="19050" dir="72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343400" y="252374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511296" y="3291840"/>
            <a:ext cx="23042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700" b="1" dirty="0">
                <a:solidFill>
                  <a:srgbClr val="B4530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Orchestration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3557016" y="3822192"/>
            <a:ext cx="22128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ReAct loop: think, call a tool, observe, repeat. The main event.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952744" y="3543300"/>
            <a:ext cx="246888" cy="0"/>
          </a:xfrm>
          <a:prstGeom prst="line">
            <a:avLst/>
          </a:prstGeom>
          <a:noFill/>
          <a:ln w="25400">
            <a:solidFill>
              <a:srgbClr val="33415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rot="5400000">
            <a:off x="6135624" y="3479292"/>
            <a:ext cx="128016" cy="128016"/>
          </a:xfrm>
          <a:prstGeom prst="triangle">
            <a:avLst/>
          </a:prstGeom>
          <a:solidFill>
            <a:srgbClr val="334155"/>
          </a:solidFill>
          <a:ln/>
        </p:spPr>
      </p:sp>
      <p:sp>
        <p:nvSpPr>
          <p:cNvPr id="19" name="Shape 17"/>
          <p:cNvSpPr/>
          <p:nvPr/>
        </p:nvSpPr>
        <p:spPr>
          <a:xfrm>
            <a:off x="6199632" y="2377440"/>
            <a:ext cx="2578608" cy="2331720"/>
          </a:xfrm>
          <a:prstGeom prst="roundRect">
            <a:avLst>
              <a:gd name="adj" fmla="val 2745"/>
            </a:avLst>
          </a:prstGeom>
          <a:solidFill>
            <a:srgbClr val="F0FDFA"/>
          </a:solidFill>
          <a:ln w="12700">
            <a:solidFill>
              <a:srgbClr val="CFE9E4"/>
            </a:solidFill>
            <a:prstDash val="solid"/>
          </a:ln>
          <a:effectLst>
            <a:outerShdw sx="100000" sy="100000" kx="0" ky="0" algn="bl" rotWithShape="0" blurRad="63500" dist="19050" dir="72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168896" y="2633472"/>
            <a:ext cx="640080" cy="640080"/>
          </a:xfrm>
          <a:prstGeom prst="ellipse">
            <a:avLst/>
          </a:prstGeom>
          <a:solidFill>
            <a:srgbClr val="0F766E"/>
          </a:solidFill>
          <a:ln/>
          <a:effectLst>
            <a:outerShdw sx="100000" sy="100000" kx="0" ky="0" algn="bl" rotWithShape="0" blurRad="63500" dist="19050" dir="72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168896" y="263347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336792" y="3401568"/>
            <a:ext cx="23042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550" b="1" dirty="0">
                <a:solidFill>
                  <a:srgbClr val="0F76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KB response gen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6382512" y="3931920"/>
            <a:ext cx="22128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retrieved knowledge chunks into a grounded draft answer.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778240" y="3543300"/>
            <a:ext cx="246888" cy="0"/>
          </a:xfrm>
          <a:prstGeom prst="line">
            <a:avLst/>
          </a:prstGeom>
          <a:noFill/>
          <a:ln w="25400">
            <a:solidFill>
              <a:srgbClr val="33415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 rot="5400000">
            <a:off x="8961120" y="3479292"/>
            <a:ext cx="128016" cy="128016"/>
          </a:xfrm>
          <a:prstGeom prst="triangle">
            <a:avLst/>
          </a:prstGeom>
          <a:solidFill>
            <a:srgbClr val="334155"/>
          </a:solidFill>
          <a:ln/>
        </p:spPr>
      </p:sp>
      <p:sp>
        <p:nvSpPr>
          <p:cNvPr id="26" name="Shape 24"/>
          <p:cNvSpPr/>
          <p:nvPr/>
        </p:nvSpPr>
        <p:spPr>
          <a:xfrm>
            <a:off x="9025128" y="2377440"/>
            <a:ext cx="2578608" cy="2331720"/>
          </a:xfrm>
          <a:prstGeom prst="roundRect">
            <a:avLst>
              <a:gd name="adj" fmla="val 2745"/>
            </a:avLst>
          </a:prstGeom>
          <a:solidFill>
            <a:srgbClr val="F1F5F9"/>
          </a:solidFill>
          <a:ln w="12700">
            <a:solidFill>
              <a:srgbClr val="DBE3EC"/>
            </a:solidFill>
            <a:prstDash val="solid"/>
          </a:ln>
          <a:effectLst>
            <a:outerShdw sx="100000" sy="100000" kx="0" ky="0" algn="bl" rotWithShape="0" blurRad="63500" dist="19050" dir="72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9994392" y="2633472"/>
            <a:ext cx="640080" cy="640080"/>
          </a:xfrm>
          <a:prstGeom prst="ellipse">
            <a:avLst/>
          </a:prstGeom>
          <a:solidFill>
            <a:srgbClr val="1E293B"/>
          </a:solidFill>
          <a:ln/>
          <a:effectLst>
            <a:outerShdw sx="100000" sy="100000" kx="0" ky="0" algn="bl" rotWithShape="0" blurRad="63500" dist="19050" dir="72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9994392" y="263347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9162288" y="3401568"/>
            <a:ext cx="23042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55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Post-processing</a:t>
            </a:r>
            <a:endParaRPr lang="en-US" sz="1550" dirty="0"/>
          </a:p>
        </p:txBody>
      </p:sp>
      <p:sp>
        <p:nvSpPr>
          <p:cNvPr id="30" name="Text 28"/>
          <p:cNvSpPr/>
          <p:nvPr/>
        </p:nvSpPr>
        <p:spPr>
          <a:xfrm>
            <a:off x="9208008" y="3931920"/>
            <a:ext cx="22128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Polish or reformat the final reply. Off by default.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48640" y="512064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 four are configurable via promptOverrideConfiguration. Most teams customise orchestration and leave the rest default.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Practitioner Bootcamp  ·  Day 3  ·  Amazon Bedrock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185855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MEET THE ORCHESTRATOR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310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project manager who can't do the work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intuition that makes every Bedrock trace readable. Three roles, one loop.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3520440" cy="2743200"/>
          </a:xfrm>
          <a:prstGeom prst="roundRect">
            <a:avLst>
              <a:gd name="adj" fmla="val 2333"/>
            </a:avLst>
          </a:prstGeom>
          <a:solidFill>
            <a:srgbClr val="F1F5F9"/>
          </a:solidFill>
          <a:ln w="12700">
            <a:solidFill>
              <a:srgbClr val="DBE3EC"/>
            </a:solidFill>
            <a:prstDash val="solid"/>
          </a:ln>
          <a:effectLst>
            <a:outerShdw sx="100000" sy="100000" kx="0" ky="0" algn="bl" rotWithShape="0" blurRad="63500" dist="19050" dir="72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851660" y="2560320"/>
            <a:ext cx="914400" cy="9144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E293B"/>
            </a:solidFill>
            <a:prstDash val="solid"/>
          </a:ln>
          <a:effectLst>
            <a:outerShdw sx="100000" sy="100000" kx="0" ky="0" algn="bl" rotWithShape="0" blurRad="63500" dist="19050" dir="7200000">
              <a:srgbClr val="000000">
                <a:alpha val="12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34540" y="2743200"/>
            <a:ext cx="548640" cy="5486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31520" y="356616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PM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731520" y="3950208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7871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ORCHESTRATOR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822960" y="425196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Owns the loop. Briefs the consultant, sends the intern, decides when the job is done. Does no real work itself.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334256" y="2286000"/>
            <a:ext cx="3520440" cy="2743200"/>
          </a:xfrm>
          <a:prstGeom prst="roundRect">
            <a:avLst>
              <a:gd name="adj" fmla="val 2333"/>
            </a:avLst>
          </a:prstGeom>
          <a:solidFill>
            <a:srgbClr val="FBF1E6"/>
          </a:solidFill>
          <a:ln w="12700">
            <a:solidFill>
              <a:srgbClr val="F0D9BD"/>
            </a:solidFill>
            <a:prstDash val="solid"/>
          </a:ln>
          <a:effectLst>
            <a:outerShdw sx="100000" sy="100000" kx="0" ky="0" algn="bl" rotWithShape="0" blurRad="63500" dist="19050" dir="72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637276" y="2560320"/>
            <a:ext cx="914400" cy="9144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B45309"/>
            </a:solidFill>
            <a:prstDash val="solid"/>
          </a:ln>
          <a:effectLst>
            <a:outerShdw sx="100000" sy="100000" kx="0" ky="0" algn="bl" rotWithShape="0" blurRad="63500" dist="19050" dir="7200000">
              <a:srgbClr val="000000">
                <a:alpha val="12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0156" y="2743200"/>
            <a:ext cx="548640" cy="5486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517136" y="356616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B4530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amnesiac consultant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4517136" y="3950208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7871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FOUNDATION MODEL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4608576" y="425196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Brilliant, but forgets everything between questions. Says what to do next, or “we're done.”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8119872" y="2286000"/>
            <a:ext cx="3520440" cy="2743200"/>
          </a:xfrm>
          <a:prstGeom prst="roundRect">
            <a:avLst>
              <a:gd name="adj" fmla="val 2333"/>
            </a:avLst>
          </a:prstGeom>
          <a:solidFill>
            <a:srgbClr val="F0FDFA"/>
          </a:solidFill>
          <a:ln w="12700">
            <a:solidFill>
              <a:srgbClr val="CFE9E4"/>
            </a:solidFill>
            <a:prstDash val="solid"/>
          </a:ln>
          <a:effectLst>
            <a:outerShdw sx="100000" sy="100000" kx="0" ky="0" algn="bl" rotWithShape="0" blurRad="63500" dist="19050" dir="7200000">
              <a:srgbClr val="000000">
                <a:alpha val="12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9422892" y="2560320"/>
            <a:ext cx="914400" cy="9144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F766E"/>
            </a:solidFill>
            <a:prstDash val="solid"/>
          </a:ln>
          <a:effectLst>
            <a:outerShdw sx="100000" sy="100000" kx="0" ky="0" algn="bl" rotWithShape="0" blurRad="63500" dist="19050" dir="7200000">
              <a:srgbClr val="000000">
                <a:alpha val="12000"/>
              </a:srgbClr>
            </a:outerShdw>
          </a:effectLst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5772" y="2743200"/>
            <a:ext cx="548640" cy="54864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302752" y="356616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76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intern</a:t>
            </a:r>
            <a:endParaRPr lang="en-US" sz="1700" dirty="0"/>
          </a:p>
        </p:txBody>
      </p:sp>
      <p:sp>
        <p:nvSpPr>
          <p:cNvPr id="21" name="Text 16"/>
          <p:cNvSpPr/>
          <p:nvPr/>
        </p:nvSpPr>
        <p:spPr>
          <a:xfrm>
            <a:off x="8302752" y="3950208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7871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ACTION GROUP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8394192" y="425196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Fetches exactly what it's told (run a query, call an API) and brings the result back.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548640" y="5349240"/>
            <a:ext cx="11094415" cy="548640"/>
          </a:xfrm>
          <a:prstGeom prst="roundRect">
            <a:avLst>
              <a:gd name="adj" fmla="val 11667"/>
            </a:avLst>
          </a:prstGeom>
          <a:solidFill>
            <a:srgbClr val="1C1917"/>
          </a:solidFill>
          <a:ln/>
        </p:spPr>
      </p:sp>
      <p:sp>
        <p:nvSpPr>
          <p:cNvPr id="24" name="Text 19"/>
          <p:cNvSpPr/>
          <p:nvPr/>
        </p:nvSpPr>
        <p:spPr>
          <a:xfrm>
            <a:off x="868680" y="5349240"/>
            <a:ext cx="104543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amnesia is the key.  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7E5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the consultant forgets, the PM re-hands them the entire file every single turn. That is why history is re-sent on every model call.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Practitioner Bootcamp  ·  Day 3  ·  Amazon Bedrock</a:t>
            </a:r>
            <a:endParaRPr lang="en-US" sz="900" dirty="0"/>
          </a:p>
        </p:txBody>
      </p:sp>
      <p:sp>
        <p:nvSpPr>
          <p:cNvPr id="26" name="Text 21"/>
          <p:cNvSpPr/>
          <p:nvPr/>
        </p:nvSpPr>
        <p:spPr>
          <a:xfrm>
            <a:off x="11185855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LOOP'S ENGINE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310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ReAct: reason, act, observe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orchestration step runs one ReAct cycle. The model's &lt;thinking&gt; block you saw in the trace is the “reason” phase, written out loud.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548640" y="2743200"/>
            <a:ext cx="6035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Thought — the model reasons about the next step (“I have the PNR; look up the booking”).</a:t>
            </a:r>
            <a:endParaRPr lang="en-US" sz="140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— it requests one tool with arguments.</a:t>
            </a:r>
            <a:endParaRPr lang="en-US" sz="140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 — the tool result comes back and is added to history.</a:t>
            </a:r>
            <a:endParaRPr lang="en-US" sz="140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— the model now sees the observation and reasons again, until it can answer.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9921240" y="2606040"/>
            <a:ext cx="541325" cy="1273302"/>
          </a:xfrm>
          <a:prstGeom prst="line">
            <a:avLst/>
          </a:prstGeom>
          <a:noFill/>
          <a:ln w="25400">
            <a:solidFill>
              <a:srgbClr val="33415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10800000">
            <a:off x="10398557" y="3815334"/>
            <a:ext cx="128016" cy="128016"/>
          </a:xfrm>
          <a:prstGeom prst="triangle">
            <a:avLst/>
          </a:prstGeom>
          <a:solidFill>
            <a:srgbClr val="334155"/>
          </a:solidFill>
          <a:ln/>
        </p:spPr>
      </p:sp>
      <p:sp>
        <p:nvSpPr>
          <p:cNvPr id="8" name="Shape 6"/>
          <p:cNvSpPr/>
          <p:nvPr/>
        </p:nvSpPr>
        <p:spPr>
          <a:xfrm flipH="1">
            <a:off x="8785555" y="4610862"/>
            <a:ext cx="1265530" cy="0"/>
          </a:xfrm>
          <a:prstGeom prst="line">
            <a:avLst/>
          </a:prstGeom>
          <a:noFill/>
          <a:ln w="25400">
            <a:solidFill>
              <a:srgbClr val="33415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rot="16200000">
            <a:off x="8721547" y="4546854"/>
            <a:ext cx="128016" cy="128016"/>
          </a:xfrm>
          <a:prstGeom prst="triangle">
            <a:avLst/>
          </a:prstGeom>
          <a:solidFill>
            <a:srgbClr val="334155"/>
          </a:solidFill>
          <a:ln/>
        </p:spPr>
      </p:sp>
      <p:sp>
        <p:nvSpPr>
          <p:cNvPr id="10" name="Shape 8"/>
          <p:cNvSpPr/>
          <p:nvPr/>
        </p:nvSpPr>
        <p:spPr>
          <a:xfrm flipV="1">
            <a:off x="8374075" y="2606040"/>
            <a:ext cx="541325" cy="1273302"/>
          </a:xfrm>
          <a:prstGeom prst="line">
            <a:avLst/>
          </a:prstGeom>
          <a:noFill/>
          <a:ln w="25400">
            <a:solidFill>
              <a:srgbClr val="3341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851392" y="2542032"/>
            <a:ext cx="128016" cy="128016"/>
          </a:xfrm>
          <a:prstGeom prst="triangle">
            <a:avLst/>
          </a:prstGeom>
          <a:solidFill>
            <a:srgbClr val="334155"/>
          </a:solidFill>
          <a:ln/>
        </p:spPr>
      </p:sp>
      <p:sp>
        <p:nvSpPr>
          <p:cNvPr id="12" name="Shape 10"/>
          <p:cNvSpPr/>
          <p:nvPr/>
        </p:nvSpPr>
        <p:spPr>
          <a:xfrm>
            <a:off x="8851392" y="1993392"/>
            <a:ext cx="1133856" cy="768096"/>
          </a:xfrm>
          <a:prstGeom prst="ellipse">
            <a:avLst/>
          </a:prstGeom>
          <a:solidFill>
            <a:srgbClr val="B45309"/>
          </a:solidFill>
          <a:ln/>
          <a:effectLst>
            <a:outerShdw sx="100000" sy="100000" kx="0" ky="0" algn="bl" rotWithShape="0" blurRad="63500" dist="19050" dir="72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851392" y="1993392"/>
            <a:ext cx="113385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Thought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9987077" y="3906774"/>
            <a:ext cx="1133856" cy="768096"/>
          </a:xfrm>
          <a:prstGeom prst="ellipse">
            <a:avLst/>
          </a:prstGeom>
          <a:solidFill>
            <a:srgbClr val="0F766E"/>
          </a:solidFill>
          <a:ln/>
          <a:effectLst>
            <a:outerShdw sx="100000" sy="100000" kx="0" ky="0" algn="bl" rotWithShape="0" blurRad="63500" dist="19050" dir="72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987077" y="3906774"/>
            <a:ext cx="113385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Action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7715707" y="3906774"/>
            <a:ext cx="1133856" cy="768096"/>
          </a:xfrm>
          <a:prstGeom prst="ellipse">
            <a:avLst/>
          </a:prstGeom>
          <a:solidFill>
            <a:srgbClr val="1E293B"/>
          </a:solidFill>
          <a:ln/>
          <a:effectLst>
            <a:outerShdw sx="100000" sy="100000" kx="0" ky="0" algn="bl" rotWithShape="0" blurRad="63500" dist="19050" dir="72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715707" y="3906774"/>
            <a:ext cx="113385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Observe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8961120" y="3447288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871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repeat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Practitioner Bootcamp  ·  Day 3  ·  Amazon Bedrock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185855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ORCHESTRATOR, STEP BY STEP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310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full turn of the managed loop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2514600" cy="9144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19050">
            <a:solidFill>
              <a:srgbClr val="334155"/>
            </a:solidFill>
            <a:prstDash val="solid"/>
          </a:ln>
          <a:effectLst>
            <a:outerShdw sx="100000" sy="100000" kx="0" ky="0" algn="bl" rotWithShape="0" blurRad="63500" dist="19050" dir="72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94944" y="1783080"/>
            <a:ext cx="24048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6000"/>
              </a:lnSpc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Assemble prompt</a:t>
            </a:r>
            <a:endParaRPr lang="en-US" sz="1250" dirty="0"/>
          </a:p>
          <a:p>
            <a:pPr algn="ctr" indent="0" marL="0">
              <a:lnSpc>
                <a:spcPct val="96000"/>
              </a:lnSpc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+ tools + history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703320" y="1783080"/>
            <a:ext cx="2468880" cy="914400"/>
          </a:xfrm>
          <a:prstGeom prst="roundRect">
            <a:avLst>
              <a:gd name="adj" fmla="val 6000"/>
            </a:avLst>
          </a:prstGeom>
          <a:solidFill>
            <a:srgbClr val="B45309"/>
          </a:solidFill>
          <a:ln w="19050">
            <a:solidFill>
              <a:srgbClr val="B45309"/>
            </a:solidFill>
            <a:prstDash val="solid"/>
          </a:ln>
          <a:effectLst>
            <a:outerShdw sx="100000" sy="100000" kx="0" ky="0" algn="bl" rotWithShape="0" blurRad="63500" dist="19050" dir="72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758184" y="1783080"/>
            <a:ext cx="23591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6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Call the model</a:t>
            </a:r>
            <a:endParaRPr lang="en-US" sz="1250" dirty="0"/>
          </a:p>
          <a:p>
            <a:pPr algn="ctr" indent="0" marL="0">
              <a:lnSpc>
                <a:spcPct val="96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stateless output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720840" y="1783080"/>
            <a:ext cx="2468880" cy="9144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9050">
            <a:solidFill>
              <a:srgbClr val="1E293B"/>
            </a:solidFill>
            <a:prstDash val="solid"/>
          </a:ln>
          <a:effectLst>
            <a:outerShdw sx="100000" sy="100000" kx="0" ky="0" algn="bl" rotWithShape="0" blurRad="63500" dist="19050" dir="72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775704" y="1783080"/>
            <a:ext cx="23591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6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Parse output</a:t>
            </a:r>
            <a:endParaRPr lang="en-US" sz="1250" dirty="0"/>
          </a:p>
          <a:p>
            <a:pPr algn="ctr" indent="0" marL="0">
              <a:lnSpc>
                <a:spcPct val="96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did it return?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154680" y="2240280"/>
            <a:ext cx="548640" cy="0"/>
          </a:xfrm>
          <a:prstGeom prst="line">
            <a:avLst/>
          </a:prstGeom>
          <a:noFill/>
          <a:ln w="25400">
            <a:solidFill>
              <a:srgbClr val="3341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rot="5400000">
            <a:off x="3639312" y="2176272"/>
            <a:ext cx="128016" cy="128016"/>
          </a:xfrm>
          <a:prstGeom prst="triangle">
            <a:avLst/>
          </a:prstGeom>
          <a:solidFill>
            <a:srgbClr val="334155"/>
          </a:solidFill>
          <a:ln/>
        </p:spPr>
      </p:sp>
      <p:sp>
        <p:nvSpPr>
          <p:cNvPr id="12" name="Shape 10"/>
          <p:cNvSpPr/>
          <p:nvPr/>
        </p:nvSpPr>
        <p:spPr>
          <a:xfrm>
            <a:off x="6172200" y="2240280"/>
            <a:ext cx="548640" cy="0"/>
          </a:xfrm>
          <a:prstGeom prst="line">
            <a:avLst/>
          </a:prstGeom>
          <a:noFill/>
          <a:ln w="25400">
            <a:solidFill>
              <a:srgbClr val="33415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rot="5400000">
            <a:off x="6656832" y="2176272"/>
            <a:ext cx="128016" cy="128016"/>
          </a:xfrm>
          <a:prstGeom prst="triangle">
            <a:avLst/>
          </a:prstGeom>
          <a:solidFill>
            <a:srgbClr val="334155"/>
          </a:solidFill>
          <a:ln/>
        </p:spPr>
      </p:sp>
      <p:sp>
        <p:nvSpPr>
          <p:cNvPr id="14" name="Shape 12"/>
          <p:cNvSpPr/>
          <p:nvPr/>
        </p:nvSpPr>
        <p:spPr>
          <a:xfrm>
            <a:off x="9646920" y="3154680"/>
            <a:ext cx="2011680" cy="868680"/>
          </a:xfrm>
          <a:prstGeom prst="roundRect">
            <a:avLst>
              <a:gd name="adj" fmla="val 6316"/>
            </a:avLst>
          </a:prstGeom>
          <a:solidFill>
            <a:srgbClr val="ECFDF3"/>
          </a:solidFill>
          <a:ln w="19050">
            <a:solidFill>
              <a:srgbClr val="1580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701784" y="3154680"/>
            <a:ext cx="19019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6000"/>
              </a:lnSpc>
              <a:buNone/>
            </a:pPr>
            <a:r>
              <a:rPr lang="en-US" sz="12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answer</a:t>
            </a:r>
            <a:endParaRPr lang="en-US" sz="1200" dirty="0"/>
          </a:p>
          <a:p>
            <a:pPr algn="ctr" indent="0" marL="0">
              <a:lnSpc>
                <a:spcPct val="96000"/>
              </a:lnSpc>
              <a:buNone/>
            </a:pPr>
            <a:r>
              <a:rPr lang="en-US" sz="12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return to user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646920" y="4251960"/>
            <a:ext cx="2011680" cy="868680"/>
          </a:xfrm>
          <a:prstGeom prst="roundRect">
            <a:avLst>
              <a:gd name="adj" fmla="val 6316"/>
            </a:avLst>
          </a:prstGeom>
          <a:solidFill>
            <a:srgbClr val="FEF2F2"/>
          </a:solidFill>
          <a:ln w="19050">
            <a:solidFill>
              <a:srgbClr val="B91C1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701784" y="4251960"/>
            <a:ext cx="19019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6000"/>
              </a:lnSpc>
              <a:buNone/>
            </a:pPr>
            <a:r>
              <a:rPr lang="en-US" sz="12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 / error</a:t>
            </a:r>
            <a:endParaRPr lang="en-US" sz="1200" dirty="0"/>
          </a:p>
          <a:p>
            <a:pPr algn="ctr" indent="0" marL="0">
              <a:lnSpc>
                <a:spcPct val="96000"/>
              </a:lnSpc>
              <a:buNone/>
            </a:pPr>
            <a:r>
              <a:rPr lang="en-US" sz="12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fallback message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955280" y="2697480"/>
            <a:ext cx="0" cy="320040"/>
          </a:xfrm>
          <a:prstGeom prst="line">
            <a:avLst/>
          </a:prstGeom>
          <a:noFill/>
          <a:ln w="22225">
            <a:solidFill>
              <a:srgbClr val="15803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955280" y="3017520"/>
            <a:ext cx="1691640" cy="0"/>
          </a:xfrm>
          <a:prstGeom prst="line">
            <a:avLst/>
          </a:prstGeom>
          <a:noFill/>
          <a:ln w="22225">
            <a:solidFill>
              <a:srgbClr val="15803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646920" y="3017520"/>
            <a:ext cx="0" cy="137160"/>
          </a:xfrm>
          <a:prstGeom prst="line">
            <a:avLst/>
          </a:prstGeom>
          <a:noFill/>
          <a:ln w="22225">
            <a:solidFill>
              <a:srgbClr val="15803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 rot="10800000">
            <a:off x="9582912" y="3090672"/>
            <a:ext cx="128016" cy="128016"/>
          </a:xfrm>
          <a:prstGeom prst="triangle">
            <a:avLst/>
          </a:prstGeom>
          <a:solidFill>
            <a:srgbClr val="15803D"/>
          </a:solidFill>
          <a:ln/>
        </p:spPr>
      </p:sp>
      <p:sp>
        <p:nvSpPr>
          <p:cNvPr id="22" name="Text 20"/>
          <p:cNvSpPr/>
          <p:nvPr/>
        </p:nvSpPr>
        <p:spPr>
          <a:xfrm>
            <a:off x="8119872" y="2761488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580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 answer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8778240" y="2697480"/>
            <a:ext cx="0" cy="1984248"/>
          </a:xfrm>
          <a:prstGeom prst="line">
            <a:avLst/>
          </a:prstGeom>
          <a:noFill/>
          <a:ln w="22225">
            <a:solidFill>
              <a:srgbClr val="B91C1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778240" y="4681728"/>
            <a:ext cx="868680" cy="0"/>
          </a:xfrm>
          <a:prstGeom prst="line">
            <a:avLst/>
          </a:prstGeom>
          <a:noFill/>
          <a:ln w="22225">
            <a:solidFill>
              <a:srgbClr val="B91C1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 rot="5400000">
            <a:off x="9582912" y="4617720"/>
            <a:ext cx="128016" cy="128016"/>
          </a:xfrm>
          <a:prstGeom prst="triangle">
            <a:avLst/>
          </a:prstGeom>
          <a:solidFill>
            <a:srgbClr val="B91C1C"/>
          </a:solidFill>
          <a:ln/>
        </p:spPr>
      </p:sp>
      <p:sp>
        <p:nvSpPr>
          <p:cNvPr id="26" name="Text 24"/>
          <p:cNvSpPr/>
          <p:nvPr/>
        </p:nvSpPr>
        <p:spPr>
          <a:xfrm>
            <a:off x="8869680" y="437083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91C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cap hit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703320" y="4251960"/>
            <a:ext cx="2468880" cy="914400"/>
          </a:xfrm>
          <a:prstGeom prst="roundRect">
            <a:avLst>
              <a:gd name="adj" fmla="val 6000"/>
            </a:avLst>
          </a:prstGeom>
          <a:solidFill>
            <a:srgbClr val="0F766E"/>
          </a:solidFill>
          <a:ln w="19050">
            <a:solidFill>
              <a:srgbClr val="0F766E"/>
            </a:solidFill>
            <a:prstDash val="solid"/>
          </a:ln>
          <a:effectLst>
            <a:outerShdw sx="100000" sy="100000" kx="0" ky="0" algn="bl" rotWithShape="0" blurRad="63500" dist="19050" dir="72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758184" y="4251960"/>
            <a:ext cx="23591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6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Run action group</a:t>
            </a:r>
            <a:endParaRPr lang="en-US" sz="1250" dirty="0"/>
          </a:p>
          <a:p>
            <a:pPr algn="ctr" indent="0" marL="0">
              <a:lnSpc>
                <a:spcPct val="96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 / KB / ask user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640080" y="4251960"/>
            <a:ext cx="2514600" cy="9144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19050">
            <a:solidFill>
              <a:srgbClr val="334155"/>
            </a:solidFill>
            <a:prstDash val="solid"/>
          </a:ln>
          <a:effectLst>
            <a:outerShdw sx="100000" sy="100000" kx="0" ky="0" algn="bl" rotWithShape="0" blurRad="63500" dist="19050" dir="72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94944" y="4251960"/>
            <a:ext cx="24048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6000"/>
              </a:lnSpc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Append result</a:t>
            </a:r>
            <a:endParaRPr lang="en-US" sz="1250" dirty="0"/>
          </a:p>
          <a:p>
            <a:pPr algn="ctr" indent="0" marL="0">
              <a:lnSpc>
                <a:spcPct val="96000"/>
              </a:lnSpc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the history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7040880" y="2697480"/>
            <a:ext cx="0" cy="2011680"/>
          </a:xfrm>
          <a:prstGeom prst="line">
            <a:avLst/>
          </a:prstGeom>
          <a:noFill/>
          <a:ln w="24130">
            <a:solidFill>
              <a:srgbClr val="0F766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 flipH="1">
            <a:off x="6172200" y="4709160"/>
            <a:ext cx="868680" cy="0"/>
          </a:xfrm>
          <a:prstGeom prst="line">
            <a:avLst/>
          </a:prstGeom>
          <a:noFill/>
          <a:ln w="24130">
            <a:solidFill>
              <a:srgbClr val="0F766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 rot="16200000">
            <a:off x="6108192" y="4645152"/>
            <a:ext cx="128016" cy="128016"/>
          </a:xfrm>
          <a:prstGeom prst="triangle">
            <a:avLst/>
          </a:prstGeom>
          <a:solidFill>
            <a:srgbClr val="0F766E"/>
          </a:solidFill>
          <a:ln/>
        </p:spPr>
      </p:sp>
      <p:sp>
        <p:nvSpPr>
          <p:cNvPr id="34" name="Text 32"/>
          <p:cNvSpPr/>
          <p:nvPr/>
        </p:nvSpPr>
        <p:spPr>
          <a:xfrm>
            <a:off x="6400800" y="39410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7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 call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 flipH="1">
            <a:off x="3154680" y="4709160"/>
            <a:ext cx="548640" cy="0"/>
          </a:xfrm>
          <a:prstGeom prst="line">
            <a:avLst/>
          </a:prstGeom>
          <a:noFill/>
          <a:ln w="24130">
            <a:solidFill>
              <a:srgbClr val="0F766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 rot="16200000">
            <a:off x="3090672" y="4645152"/>
            <a:ext cx="128016" cy="128016"/>
          </a:xfrm>
          <a:prstGeom prst="triangle">
            <a:avLst/>
          </a:prstGeom>
          <a:solidFill>
            <a:srgbClr val="0F766E"/>
          </a:solidFill>
          <a:ln/>
        </p:spPr>
      </p:sp>
      <p:sp>
        <p:nvSpPr>
          <p:cNvPr id="37" name="Shape 35"/>
          <p:cNvSpPr/>
          <p:nvPr/>
        </p:nvSpPr>
        <p:spPr>
          <a:xfrm flipV="1">
            <a:off x="1897380" y="2697480"/>
            <a:ext cx="0" cy="1554480"/>
          </a:xfrm>
          <a:prstGeom prst="line">
            <a:avLst/>
          </a:prstGeom>
          <a:noFill/>
          <a:ln w="25400">
            <a:solidFill>
              <a:srgbClr val="B45309"/>
            </a:solidFill>
            <a:prstDash val="dash"/>
          </a:ln>
        </p:spPr>
      </p:sp>
      <p:sp>
        <p:nvSpPr>
          <p:cNvPr id="38" name="Shape 36"/>
          <p:cNvSpPr/>
          <p:nvPr/>
        </p:nvSpPr>
        <p:spPr>
          <a:xfrm>
            <a:off x="1833372" y="2633472"/>
            <a:ext cx="128016" cy="128016"/>
          </a:xfrm>
          <a:prstGeom prst="triangle">
            <a:avLst/>
          </a:prstGeom>
          <a:solidFill>
            <a:srgbClr val="B45309"/>
          </a:solidFill>
          <a:ln/>
        </p:spPr>
      </p:sp>
      <p:sp>
        <p:nvSpPr>
          <p:cNvPr id="39" name="Text 37"/>
          <p:cNvSpPr/>
          <p:nvPr/>
        </p:nvSpPr>
        <p:spPr>
          <a:xfrm>
            <a:off x="45720" y="310896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2400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 turn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40080" y="141732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 input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1897380" y="1691640"/>
            <a:ext cx="0" cy="91440"/>
          </a:xfrm>
          <a:prstGeom prst="line">
            <a:avLst/>
          </a:prstGeom>
          <a:noFill/>
          <a:ln w="19050">
            <a:solidFill>
              <a:srgbClr val="78716C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 rot="10800000">
            <a:off x="1842516" y="1728216"/>
            <a:ext cx="109728" cy="109728"/>
          </a:xfrm>
          <a:prstGeom prst="triangle">
            <a:avLst/>
          </a:prstGeom>
          <a:solidFill>
            <a:srgbClr val="78716C"/>
          </a:solidFill>
          <a:ln/>
        </p:spPr>
      </p:sp>
      <p:sp>
        <p:nvSpPr>
          <p:cNvPr id="43" name="Shape 41"/>
          <p:cNvSpPr/>
          <p:nvPr/>
        </p:nvSpPr>
        <p:spPr>
          <a:xfrm>
            <a:off x="640080" y="6007608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B45309"/>
          </a:solidFill>
          <a:ln/>
        </p:spPr>
      </p:sp>
      <p:sp>
        <p:nvSpPr>
          <p:cNvPr id="44" name="Text 42"/>
          <p:cNvSpPr/>
          <p:nvPr/>
        </p:nvSpPr>
        <p:spPr>
          <a:xfrm>
            <a:off x="886968" y="595274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1691640" y="6007608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1E293B"/>
          </a:solidFill>
          <a:ln/>
        </p:spPr>
      </p:sp>
      <p:sp>
        <p:nvSpPr>
          <p:cNvPr id="46" name="Text 44"/>
          <p:cNvSpPr/>
          <p:nvPr/>
        </p:nvSpPr>
        <p:spPr>
          <a:xfrm>
            <a:off x="1938528" y="595274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3383280" y="6007608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0F766E"/>
          </a:solidFill>
          <a:ln/>
        </p:spPr>
      </p:sp>
      <p:sp>
        <p:nvSpPr>
          <p:cNvPr id="48" name="Text 46"/>
          <p:cNvSpPr/>
          <p:nvPr/>
        </p:nvSpPr>
        <p:spPr>
          <a:xfrm>
            <a:off x="3630168" y="595274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/ your code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Practitioner Bootcamp  ·  Day 3  ·  Amazon Bedrock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11185855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SAME LOOP, IN WORDS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310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happens on every turn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9496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sx="100000" sy="100000" kx="0" ky="0" algn="bl" rotWithShape="0" blurRad="63500" dist="19050" dir="72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2020824"/>
            <a:ext cx="457200" cy="457200"/>
          </a:xfrm>
          <a:prstGeom prst="ellipse">
            <a:avLst/>
          </a:prstGeom>
          <a:solidFill>
            <a:srgbClr val="1E293B"/>
          </a:solidFill>
          <a:ln/>
          <a:effectLst>
            <a:outerShdw sx="100000" sy="100000" kx="0" ky="0" algn="bl" rotWithShape="0" blurRad="63500" dist="19050" dir="72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49808" y="20208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417320" y="190195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Receive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417320" y="2240280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message plus session state arrive.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45352" y="1783080"/>
            <a:ext cx="539496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sx="100000" sy="100000" kx="0" ky="0" algn="bl" rotWithShape="0" blurRad="63500" dist="19050" dir="72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46520" y="2020824"/>
            <a:ext cx="457200" cy="457200"/>
          </a:xfrm>
          <a:prstGeom prst="ellipse">
            <a:avLst/>
          </a:prstGeom>
          <a:solidFill>
            <a:srgbClr val="1E293B"/>
          </a:solidFill>
          <a:ln/>
          <a:effectLst>
            <a:outerShdw sx="100000" sy="100000" kx="0" ky="0" algn="bl" rotWithShape="0" blurRad="63500" dist="19050" dir="72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46520" y="20208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114032" y="190195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Assemble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114032" y="2240280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prompt: instructions, tool defs, full history, query.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2898648"/>
            <a:ext cx="539496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sx="100000" sy="100000" kx="0" ky="0" algn="bl" rotWithShape="0" blurRad="63500" dist="19050" dir="72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49808" y="3136392"/>
            <a:ext cx="457200" cy="457200"/>
          </a:xfrm>
          <a:prstGeom prst="ellipse">
            <a:avLst/>
          </a:prstGeom>
          <a:solidFill>
            <a:srgbClr val="B45309"/>
          </a:solidFill>
          <a:ln/>
          <a:effectLst>
            <a:outerShdw sx="100000" sy="100000" kx="0" ky="0" algn="bl" rotWithShape="0" blurRad="63500" dist="19050" dir="72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49808" y="31363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417320" y="30175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Invoke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417320" y="3355848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the model once. It is stateless.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45352" y="2898648"/>
            <a:ext cx="539496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sx="100000" sy="100000" kx="0" ky="0" algn="bl" rotWithShape="0" blurRad="63500" dist="19050" dir="72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46520" y="3136392"/>
            <a:ext cx="457200" cy="457200"/>
          </a:xfrm>
          <a:prstGeom prst="ellipse">
            <a:avLst/>
          </a:prstGeom>
          <a:solidFill>
            <a:srgbClr val="1E293B"/>
          </a:solidFill>
          <a:ln/>
          <a:effectLst>
            <a:outerShdw sx="100000" sy="100000" kx="0" ky="0" algn="bl" rotWithShape="0" blurRad="63500" dist="19050" dir="72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446520" y="31363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114032" y="30175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Respond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114032" y="3355848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emits a thought and either an action or a final answer.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4014216"/>
            <a:ext cx="539496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sx="100000" sy="100000" kx="0" ky="0" algn="bl" rotWithShape="0" blurRad="63500" dist="19050" dir="72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49808" y="4251960"/>
            <a:ext cx="457200" cy="457200"/>
          </a:xfrm>
          <a:prstGeom prst="ellipse">
            <a:avLst/>
          </a:prstGeom>
          <a:solidFill>
            <a:srgbClr val="1E293B"/>
          </a:solidFill>
          <a:ln/>
          <a:effectLst>
            <a:outerShdw sx="100000" sy="100000" kx="0" ky="0" algn="bl" rotWithShape="0" blurRad="63500" dist="19050" dir="72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749808" y="4251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417320" y="413308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Parse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417320" y="4471416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 reads the output and classifies it.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245352" y="4014216"/>
            <a:ext cx="539496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sx="100000" sy="100000" kx="0" ky="0" algn="bl" rotWithShape="0" blurRad="63500" dist="19050" dir="72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446520" y="4251960"/>
            <a:ext cx="457200" cy="457200"/>
          </a:xfrm>
          <a:prstGeom prst="ellipse">
            <a:avLst/>
          </a:prstGeom>
          <a:solidFill>
            <a:srgbClr val="0F766E"/>
          </a:solidFill>
          <a:ln/>
          <a:effectLst>
            <a:outerShdw sx="100000" sy="100000" kx="0" ky="0" algn="bl" rotWithShape="0" blurRad="63500" dist="19050" dir="720000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446520" y="4251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7114032" y="413308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7114032" y="4471416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an action: run the Lambda / KB / ask-user; capture the observation.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48640" y="5129784"/>
            <a:ext cx="539496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sx="100000" sy="100000" kx="0" ky="0" algn="bl" rotWithShape="0" blurRad="63500" dist="19050" dir="72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749808" y="5367528"/>
            <a:ext cx="457200" cy="457200"/>
          </a:xfrm>
          <a:prstGeom prst="ellipse">
            <a:avLst/>
          </a:prstGeom>
          <a:solidFill>
            <a:srgbClr val="1E293B"/>
          </a:solidFill>
          <a:ln/>
          <a:effectLst>
            <a:outerShdw sx="100000" sy="100000" kx="0" ky="0" algn="bl" rotWithShape="0" blurRad="63500" dist="19050" dir="720000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749808" y="53675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1417320" y="5248656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Append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1417320" y="5586984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thought + action + observation to the history.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245352" y="5129784"/>
            <a:ext cx="539496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sx="100000" sy="100000" kx="0" ky="0" algn="bl" rotWithShape="0" blurRad="63500" dist="19050" dir="7200000">
              <a:srgbClr val="000000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446520" y="5367528"/>
            <a:ext cx="457200" cy="457200"/>
          </a:xfrm>
          <a:prstGeom prst="ellipse">
            <a:avLst/>
          </a:prstGeom>
          <a:solidFill>
            <a:srgbClr val="1E293B"/>
          </a:solidFill>
          <a:ln/>
          <a:effectLst>
            <a:outerShdw sx="100000" sy="100000" kx="0" ky="0" algn="bl" rotWithShape="0" blurRad="63500" dist="19050" dir="7200000">
              <a:srgbClr val="000000">
                <a:alpha val="12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6446520" y="53675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7114032" y="5248656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Loop or exit</a:t>
            </a:r>
            <a:endParaRPr lang="en-US" sz="1500" dirty="0"/>
          </a:p>
        </p:txBody>
      </p:sp>
      <p:sp>
        <p:nvSpPr>
          <p:cNvPr id="43" name="Text 41"/>
          <p:cNvSpPr/>
          <p:nvPr/>
        </p:nvSpPr>
        <p:spPr>
          <a:xfrm>
            <a:off x="7114032" y="5586984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 to step 2. Exit on final answer, cap, or error.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Practitioner Bootcamp  ·  Day 3  ·  Amazon Bedrock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1185855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WALKING A REAL TRACE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310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TravelMind, happy path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5120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trace as alternating roles. The model thinks and asks; the tool answers; the model finally responds. Four tool calls, one clean exit.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3063240"/>
            <a:ext cx="5120640" cy="2697480"/>
          </a:xfrm>
          <a:prstGeom prst="roundRect">
            <a:avLst>
              <a:gd name="adj" fmla="val 2373"/>
            </a:avLst>
          </a:prstGeom>
          <a:solidFill>
            <a:srgbClr val="F1F5F9"/>
          </a:solidFill>
          <a:ln w="12700">
            <a:solidFill>
              <a:srgbClr val="DBE3EC"/>
            </a:solidFill>
            <a:prstDash val="solid"/>
          </a:ln>
          <a:effectLst>
            <a:outerShdw sx="100000" sy="100000" kx="0" ky="0" algn="bl" rotWithShape="0" blurRad="63500" dist="19050" dir="72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32461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Exit signal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68680" y="361188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emits a final answer with the two options. The orchestrator sees it, stops the loop, and returns.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68680" y="507492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2400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model calls  ·  4 tool calls  ·  1 final answer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035040" y="1837944"/>
            <a:ext cx="420624" cy="420624"/>
          </a:xfrm>
          <a:prstGeom prst="ellipse">
            <a:avLst/>
          </a:prstGeom>
          <a:solidFill>
            <a:srgbClr val="78716C"/>
          </a:solidFill>
          <a:ln/>
        </p:spPr>
      </p:sp>
      <p:sp>
        <p:nvSpPr>
          <p:cNvPr id="10" name="Text 8"/>
          <p:cNvSpPr/>
          <p:nvPr/>
        </p:nvSpPr>
        <p:spPr>
          <a:xfrm>
            <a:off x="6035040" y="18379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601968" y="1783080"/>
            <a:ext cx="5486400" cy="54864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66560" y="178308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“My flight was disrupted”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45352" y="2258568"/>
            <a:ext cx="0" cy="192024"/>
          </a:xfrm>
          <a:prstGeom prst="line">
            <a:avLst/>
          </a:prstGeom>
          <a:noFill/>
          <a:ln w="15875">
            <a:solidFill>
              <a:srgbClr val="E7E5E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035040" y="2450592"/>
            <a:ext cx="420624" cy="420624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245059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601968" y="2395728"/>
            <a:ext cx="5486400" cy="54864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66560" y="239572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ask for the 6-char PNR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245352" y="2871216"/>
            <a:ext cx="0" cy="192024"/>
          </a:xfrm>
          <a:prstGeom prst="line">
            <a:avLst/>
          </a:prstGeom>
          <a:noFill/>
          <a:ln w="15875">
            <a:solidFill>
              <a:srgbClr val="E7E5E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035040" y="3063240"/>
            <a:ext cx="420624" cy="420624"/>
          </a:xfrm>
          <a:prstGeom prst="ellipse">
            <a:avLst/>
          </a:prstGeom>
          <a:solidFill>
            <a:srgbClr val="78716C"/>
          </a:solidFill>
          <a:ln/>
        </p:spPr>
      </p:sp>
      <p:sp>
        <p:nvSpPr>
          <p:cNvPr id="20" name="Text 18"/>
          <p:cNvSpPr/>
          <p:nvPr/>
        </p:nvSpPr>
        <p:spPr>
          <a:xfrm>
            <a:off x="6035040" y="30632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601968" y="3008376"/>
            <a:ext cx="5486400" cy="54864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66560" y="3008376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PNR JX48Q2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245352" y="3483864"/>
            <a:ext cx="0" cy="192024"/>
          </a:xfrm>
          <a:prstGeom prst="line">
            <a:avLst/>
          </a:prstGeom>
          <a:noFill/>
          <a:ln w="15875">
            <a:solidFill>
              <a:srgbClr val="E7E5E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035040" y="3675888"/>
            <a:ext cx="420624" cy="420624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25" name="Text 23"/>
          <p:cNvSpPr/>
          <p:nvPr/>
        </p:nvSpPr>
        <p:spPr>
          <a:xfrm>
            <a:off x="6035040" y="36758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601968" y="3621024"/>
            <a:ext cx="5486400" cy="54864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766560" y="3621024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lookup_booking → CANCELLED, AI-302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245352" y="4096512"/>
            <a:ext cx="0" cy="192024"/>
          </a:xfrm>
          <a:prstGeom prst="line">
            <a:avLst/>
          </a:prstGeom>
          <a:noFill/>
          <a:ln w="15875">
            <a:solidFill>
              <a:srgbClr val="E7E5E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035040" y="4288536"/>
            <a:ext cx="420624" cy="420624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30" name="Text 28"/>
          <p:cNvSpPr/>
          <p:nvPr/>
        </p:nvSpPr>
        <p:spPr>
          <a:xfrm>
            <a:off x="6035040" y="42885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601968" y="4233672"/>
            <a:ext cx="5486400" cy="54864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766560" y="4233672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get_disruption_reason → heavy fog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245352" y="4709160"/>
            <a:ext cx="0" cy="192024"/>
          </a:xfrm>
          <a:prstGeom prst="line">
            <a:avLst/>
          </a:prstGeom>
          <a:noFill/>
          <a:ln w="15875">
            <a:solidFill>
              <a:srgbClr val="E7E5E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035040" y="4901184"/>
            <a:ext cx="420624" cy="420624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35" name="Text 33"/>
          <p:cNvSpPr/>
          <p:nvPr/>
        </p:nvSpPr>
        <p:spPr>
          <a:xfrm>
            <a:off x="6035040" y="49011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6601968" y="4846320"/>
            <a:ext cx="5486400" cy="54864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766560" y="484632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get_rebooking_options → AI-318, 6E-552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245352" y="5321808"/>
            <a:ext cx="0" cy="192024"/>
          </a:xfrm>
          <a:prstGeom prst="line">
            <a:avLst/>
          </a:prstGeom>
          <a:noFill/>
          <a:ln w="15875">
            <a:solidFill>
              <a:srgbClr val="E7E5E4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035040" y="5513832"/>
            <a:ext cx="420624" cy="420624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40" name="Text 38"/>
          <p:cNvSpPr/>
          <p:nvPr/>
        </p:nvSpPr>
        <p:spPr>
          <a:xfrm>
            <a:off x="6035040" y="55138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6601968" y="5458968"/>
            <a:ext cx="5486400" cy="54864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766560" y="54589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 answer: here are your options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Practitioner Bootcamp  ·  Day 3  ·  Amazon Bedrock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1185855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91C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WHEN THE LOOP BREAKS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310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failure you hit: an infinite loop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029200" cy="3886200"/>
          </a:xfrm>
          <a:prstGeom prst="roundRect">
            <a:avLst>
              <a:gd name="adj" fmla="val 1647"/>
            </a:avLst>
          </a:prstGeom>
          <a:solidFill>
            <a:srgbClr val="FEF2F2"/>
          </a:solidFill>
          <a:ln w="12700">
            <a:solidFill>
              <a:srgbClr val="F3C9C9"/>
            </a:solidFill>
            <a:prstDash val="solid"/>
          </a:ln>
          <a:effectLst>
            <a:outerShdw sx="100000" sy="100000" kx="0" ky="0" algn="bl" rotWithShape="0" blurRad="63500" dist="19050" dir="72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214884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9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User picks “option-1”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097280" y="2834640"/>
            <a:ext cx="1828800" cy="777240"/>
          </a:xfrm>
          <a:prstGeom prst="roundRect">
            <a:avLst>
              <a:gd name="adj" fmla="val 7059"/>
            </a:avLst>
          </a:prstGeom>
          <a:solidFill>
            <a:srgbClr val="B45309"/>
          </a:solidFill>
          <a:ln w="19050">
            <a:solidFill>
              <a:srgbClr val="B4530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52144" y="2834640"/>
            <a:ext cx="17190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6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46120" y="2834640"/>
            <a:ext cx="1828800" cy="777240"/>
          </a:xfrm>
          <a:prstGeom prst="roundRect">
            <a:avLst>
              <a:gd name="adj" fmla="val 7059"/>
            </a:avLst>
          </a:prstGeom>
          <a:solidFill>
            <a:srgbClr val="0F766E"/>
          </a:solidFill>
          <a:ln w="19050">
            <a:solidFill>
              <a:srgbClr val="0F76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00984" y="2834640"/>
            <a:ext cx="17190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6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lookup_booking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926080" y="3063240"/>
            <a:ext cx="320040" cy="0"/>
          </a:xfrm>
          <a:prstGeom prst="line">
            <a:avLst/>
          </a:prstGeom>
          <a:noFill/>
          <a:ln w="22225">
            <a:solidFill>
              <a:srgbClr val="3341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rot="5400000">
            <a:off x="3182112" y="2999232"/>
            <a:ext cx="128016" cy="128016"/>
          </a:xfrm>
          <a:prstGeom prst="triangle">
            <a:avLst/>
          </a:prstGeom>
          <a:solidFill>
            <a:srgbClr val="334155"/>
          </a:solidFill>
          <a:ln/>
        </p:spPr>
      </p:sp>
      <p:sp>
        <p:nvSpPr>
          <p:cNvPr id="12" name="Shape 10"/>
          <p:cNvSpPr/>
          <p:nvPr/>
        </p:nvSpPr>
        <p:spPr>
          <a:xfrm flipH="1">
            <a:off x="2926080" y="3410712"/>
            <a:ext cx="320040" cy="0"/>
          </a:xfrm>
          <a:prstGeom prst="line">
            <a:avLst/>
          </a:prstGeom>
          <a:noFill/>
          <a:ln w="22225">
            <a:solidFill>
              <a:srgbClr val="33415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rot="16200000">
            <a:off x="2862072" y="3346704"/>
            <a:ext cx="128016" cy="128016"/>
          </a:xfrm>
          <a:prstGeom prst="triangle">
            <a:avLst/>
          </a:prstGeom>
          <a:solidFill>
            <a:srgbClr val="334155"/>
          </a:solidFill>
          <a:ln/>
        </p:spPr>
      </p:sp>
      <p:sp>
        <p:nvSpPr>
          <p:cNvPr id="14" name="Text 12"/>
          <p:cNvSpPr/>
          <p:nvPr/>
        </p:nvSpPr>
        <p:spPr>
          <a:xfrm>
            <a:off x="1097280" y="37033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9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↻  × ~50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68680" y="416052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thought, same call, same result — forever, until the cap.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68680" y="4846320"/>
            <a:ext cx="4389120" cy="640080"/>
          </a:xfrm>
          <a:prstGeom prst="roundRect">
            <a:avLst>
              <a:gd name="adj" fmla="val 10000"/>
            </a:avLst>
          </a:prstGeom>
          <a:solidFill>
            <a:srgbClr val="1C1917"/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" y="484632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“Sorry, I am unable to assist you with this request.”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897880" y="1874520"/>
            <a:ext cx="57451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Two causes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897880" y="2240280"/>
            <a:ext cx="574517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terminal action. There is no confirm_rebooking tool, so the model falls back to the only tool it has.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Greedy decoding (topK=1). Identical input → identical output, so it can never drift out.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897880" y="3611880"/>
            <a:ext cx="57451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580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Three fixes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897880" y="3977640"/>
            <a:ext cx="5745175" cy="512064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897880" y="3977640"/>
            <a:ext cx="73152" cy="512064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23" name="Text 21"/>
          <p:cNvSpPr/>
          <p:nvPr/>
        </p:nvSpPr>
        <p:spPr>
          <a:xfrm>
            <a:off x="6126480" y="3977640"/>
            <a:ext cx="537941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terminal action  </a:t>
            </a:r>
            <a:pPr indent="0" marL="0">
              <a:lnSpc>
                <a:spcPct val="95000"/>
              </a:lnSpc>
              <a:buNone/>
            </a:pPr>
            <a:r>
              <a:rPr lang="en-US" sz="115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confirm_rebooking(pnr, flight) gives the loop a clean exit.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897880" y="4581144"/>
            <a:ext cx="5745175" cy="512064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897880" y="4581144"/>
            <a:ext cx="73152" cy="512064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26" name="Text 24"/>
          <p:cNvSpPr/>
          <p:nvPr/>
        </p:nvSpPr>
        <p:spPr>
          <a:xfrm>
            <a:off x="6126480" y="4581144"/>
            <a:ext cx="537941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instruct a final answer  </a:t>
            </a:r>
            <a:pPr indent="0" marL="0">
              <a:lnSpc>
                <a:spcPct val="95000"/>
              </a:lnSpc>
              <a:buNone/>
            </a:pPr>
            <a:r>
              <a:rPr lang="en-US" sz="115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selection, reply directly — no tool call needed.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5897880" y="5184648"/>
            <a:ext cx="5745175" cy="512064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897880" y="5184648"/>
            <a:ext cx="73152" cy="512064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9" name="Text 27"/>
          <p:cNvSpPr/>
          <p:nvPr/>
        </p:nvSpPr>
        <p:spPr>
          <a:xfrm>
            <a:off x="6126480" y="5184648"/>
            <a:ext cx="537941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Stronger model + loop guard  </a:t>
            </a:r>
            <a:pPr indent="0" marL="0">
              <a:lnSpc>
                <a:spcPct val="95000"/>
              </a:lnSpc>
              <a:buNone/>
            </a:pPr>
            <a:r>
              <a:rPr lang="en-US" sz="115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Claude/Nova Pro plus a repeated-call circuit breaker.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Practitioner Bootcamp  ·  Day 3  ·  Amazon Bedrock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185855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READING A BEDROCK TRACE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310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Who authored what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field has exactly one author. The one rule: the model wrote only rawResponse. Everything else is orchestrator plumbing or your Lambda.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240280"/>
            <a:ext cx="11094415" cy="457200"/>
          </a:xfrm>
          <a:prstGeom prst="rect">
            <a:avLst/>
          </a:prstGeom>
          <a:solidFill>
            <a:srgbClr val="1C1917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" y="224028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Trace field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919472" y="22402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Author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205472" y="2240280"/>
            <a:ext cx="44192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Means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697480"/>
            <a:ext cx="11094415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7E5E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269748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9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modelInvocationInput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919472" y="269748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205472" y="2697480"/>
            <a:ext cx="43278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prompt it assembled and sent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200400"/>
            <a:ext cx="11094415" cy="502920"/>
          </a:xfrm>
          <a:prstGeom prst="rect">
            <a:avLst/>
          </a:prstGeom>
          <a:solidFill>
            <a:srgbClr val="FAFAF9"/>
          </a:solidFill>
          <a:ln w="9525">
            <a:solidFill>
              <a:srgbClr val="E7E5E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3232" y="320040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9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inferenceConfiguration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919472" y="320040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7205472" y="3200400"/>
            <a:ext cx="43278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Decoding params (topK, temperature)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3703320"/>
            <a:ext cx="11094415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7E5E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3232" y="370332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9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modelInvocationOutput.rawResponse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919472" y="370332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7205472" y="3703320"/>
            <a:ext cx="43278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thing the model wrote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48640" y="4206240"/>
            <a:ext cx="11094415" cy="502920"/>
          </a:xfrm>
          <a:prstGeom prst="rect">
            <a:avLst/>
          </a:prstGeom>
          <a:solidFill>
            <a:srgbClr val="FAFAF9"/>
          </a:solidFill>
          <a:ln w="9525">
            <a:solidFill>
              <a:srgbClr val="E7E5E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13232" y="420624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9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rationale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919472" y="42062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(surfaced)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7205472" y="4206240"/>
            <a:ext cx="43278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&lt;thinking&gt; block, pulled out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548640" y="4709160"/>
            <a:ext cx="11094415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7E5E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13232" y="470916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9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actionGroupInvocationInput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919472" y="470916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7205472" y="4709160"/>
            <a:ext cx="43278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tool dispatch it parsed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548640" y="5212080"/>
            <a:ext cx="11094415" cy="502920"/>
          </a:xfrm>
          <a:prstGeom prst="rect">
            <a:avLst/>
          </a:prstGeom>
          <a:solidFill>
            <a:srgbClr val="FAFAF9"/>
          </a:solidFill>
          <a:ln w="9525">
            <a:solidFill>
              <a:srgbClr val="E7E5E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13232" y="521208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9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actionGroupInvocationOutput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919472" y="521208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Lambda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7205472" y="5212080"/>
            <a:ext cx="43278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tool result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548640" y="5715000"/>
            <a:ext cx="11094415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7E5E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13232" y="571500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9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finalResponse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919472" y="571500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7205472" y="5715000"/>
            <a:ext cx="43278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 output to the user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Practitioner Bootcamp  ·  Day 3  ·  Amazon Bedrock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1185855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THREE WAYS TO BUILD ON AWS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310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 Builder, Strands, AgentCore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answer different questions. The cleanest way to tell them apart: who owns the loop?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3520440" cy="3291840"/>
          </a:xfrm>
          <a:prstGeom prst="roundRect">
            <a:avLst>
              <a:gd name="adj" fmla="val 1944"/>
            </a:avLst>
          </a:prstGeom>
          <a:solidFill>
            <a:srgbClr val="F1F5F9"/>
          </a:solidFill>
          <a:ln w="12700">
            <a:solidFill>
              <a:srgbClr val="DBE3EC"/>
            </a:solidFill>
            <a:prstDash val="solid"/>
          </a:ln>
          <a:effectLst>
            <a:outerShdw sx="100000" sy="100000" kx="0" ky="0" algn="bl" rotWithShape="0" blurRad="63500" dist="19050" dir="72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2651760"/>
            <a:ext cx="868680" cy="8686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E293B"/>
            </a:solidFill>
            <a:prstDash val="solid"/>
          </a:ln>
          <a:effectLst>
            <a:outerShdw sx="100000" sy="100000" kx="0" ky="0" algn="bl" rotWithShape="0" blurRad="63500" dist="19050" dir="7200000">
              <a:srgbClr val="000000">
                <a:alpha val="12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9848" y="2834640"/>
            <a:ext cx="475488" cy="47548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74520" y="2715768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 Builder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1874520" y="3172968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7871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BEDROCK AGENTS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868680" y="3749040"/>
            <a:ext cx="2880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managed agent service. Configure it; AWS runs the loop.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868680" y="4846320"/>
            <a:ext cx="2880360" cy="548640"/>
          </a:xfrm>
          <a:prstGeom prst="roundRect">
            <a:avLst>
              <a:gd name="adj" fmla="val 11667"/>
            </a:avLst>
          </a:prstGeom>
          <a:solidFill>
            <a:srgbClr val="1E293B"/>
          </a:solidFill>
          <a:ln/>
        </p:spPr>
      </p:sp>
      <p:sp>
        <p:nvSpPr>
          <p:cNvPr id="12" name="Text 9"/>
          <p:cNvSpPr/>
          <p:nvPr/>
        </p:nvSpPr>
        <p:spPr>
          <a:xfrm>
            <a:off x="868680" y="484632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AWS owns the loop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334256" y="2331720"/>
            <a:ext cx="3520440" cy="3291840"/>
          </a:xfrm>
          <a:prstGeom prst="roundRect">
            <a:avLst>
              <a:gd name="adj" fmla="val 1944"/>
            </a:avLst>
          </a:prstGeom>
          <a:solidFill>
            <a:srgbClr val="F0FDFA"/>
          </a:solidFill>
          <a:ln w="12700">
            <a:solidFill>
              <a:srgbClr val="CFE9E4"/>
            </a:solidFill>
            <a:prstDash val="solid"/>
          </a:ln>
          <a:effectLst>
            <a:outerShdw sx="100000" sy="100000" kx="0" ky="0" algn="bl" rotWithShape="0" blurRad="63500" dist="19050" dir="720000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654296" y="2651760"/>
            <a:ext cx="868680" cy="8686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F766E"/>
            </a:solidFill>
            <a:prstDash val="solid"/>
          </a:ln>
          <a:effectLst>
            <a:outerShdw sx="100000" sy="100000" kx="0" ky="0" algn="bl" rotWithShape="0" blurRad="63500" dist="19050" dir="7200000">
              <a:srgbClr val="000000">
                <a:alpha val="12000"/>
              </a:srgbClr>
            </a:outerShdw>
          </a:effectLst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5464" y="2834640"/>
            <a:ext cx="475488" cy="47548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660136" y="2715768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76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Strands</a:t>
            </a:r>
            <a:endParaRPr lang="en-US" sz="1900" dirty="0"/>
          </a:p>
        </p:txBody>
      </p:sp>
      <p:sp>
        <p:nvSpPr>
          <p:cNvPr id="17" name="Text 13"/>
          <p:cNvSpPr/>
          <p:nvPr/>
        </p:nvSpPr>
        <p:spPr>
          <a:xfrm>
            <a:off x="5660136" y="3172968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7871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OPEN-SOURCE SDK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4654296" y="3749040"/>
            <a:ext cx="2880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agent in code. The loop runs in your process.</a:t>
            </a:r>
            <a:endParaRPr lang="en-US" sz="1350" dirty="0"/>
          </a:p>
        </p:txBody>
      </p:sp>
      <p:sp>
        <p:nvSpPr>
          <p:cNvPr id="19" name="Shape 15"/>
          <p:cNvSpPr/>
          <p:nvPr/>
        </p:nvSpPr>
        <p:spPr>
          <a:xfrm>
            <a:off x="4654296" y="4846320"/>
            <a:ext cx="2880360" cy="548640"/>
          </a:xfrm>
          <a:prstGeom prst="roundRect">
            <a:avLst>
              <a:gd name="adj" fmla="val 11667"/>
            </a:avLst>
          </a:prstGeom>
          <a:solidFill>
            <a:srgbClr val="0F766E"/>
          </a:solidFill>
          <a:ln/>
        </p:spPr>
      </p:sp>
      <p:sp>
        <p:nvSpPr>
          <p:cNvPr id="20" name="Text 16"/>
          <p:cNvSpPr/>
          <p:nvPr/>
        </p:nvSpPr>
        <p:spPr>
          <a:xfrm>
            <a:off x="4654296" y="484632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Your code owns the loop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8119872" y="2331720"/>
            <a:ext cx="3520440" cy="3291840"/>
          </a:xfrm>
          <a:prstGeom prst="roundRect">
            <a:avLst>
              <a:gd name="adj" fmla="val 1944"/>
            </a:avLst>
          </a:prstGeom>
          <a:solidFill>
            <a:srgbClr val="FBF1E6"/>
          </a:solidFill>
          <a:ln w="12700">
            <a:solidFill>
              <a:srgbClr val="F0D9BD"/>
            </a:solidFill>
            <a:prstDash val="solid"/>
          </a:ln>
          <a:effectLst>
            <a:outerShdw sx="100000" sy="100000" kx="0" ky="0" algn="bl" rotWithShape="0" blurRad="63500" dist="19050" dir="7200000">
              <a:srgbClr val="000000">
                <a:alpha val="12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8439912" y="2651760"/>
            <a:ext cx="868680" cy="8686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B45309"/>
            </a:solidFill>
            <a:prstDash val="solid"/>
          </a:ln>
          <a:effectLst>
            <a:outerShdw sx="100000" sy="100000" kx="0" ky="0" algn="bl" rotWithShape="0" blurRad="63500" dist="19050" dir="7200000">
              <a:srgbClr val="000000">
                <a:alpha val="12000"/>
              </a:srgbClr>
            </a:outerShdw>
          </a:effectLst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1080" y="2834640"/>
            <a:ext cx="475488" cy="475488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9445752" y="2715768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B4530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AgentCore</a:t>
            </a:r>
            <a:endParaRPr lang="en-US" sz="1900" dirty="0"/>
          </a:p>
        </p:txBody>
      </p:sp>
      <p:sp>
        <p:nvSpPr>
          <p:cNvPr id="25" name="Text 20"/>
          <p:cNvSpPr/>
          <p:nvPr/>
        </p:nvSpPr>
        <p:spPr>
          <a:xfrm>
            <a:off x="9445752" y="3172968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7871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RUNTIME + SERVICES</a:t>
            </a:r>
            <a:endParaRPr lang="en-US" sz="1000" dirty="0"/>
          </a:p>
        </p:txBody>
      </p:sp>
      <p:sp>
        <p:nvSpPr>
          <p:cNvPr id="26" name="Text 21"/>
          <p:cNvSpPr/>
          <p:nvPr/>
        </p:nvSpPr>
        <p:spPr>
          <a:xfrm>
            <a:off x="8439912" y="3749040"/>
            <a:ext cx="2880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platform that hosts any framework's agent.</a:t>
            </a:r>
            <a:endParaRPr lang="en-US" sz="1350" dirty="0"/>
          </a:p>
        </p:txBody>
      </p:sp>
      <p:sp>
        <p:nvSpPr>
          <p:cNvPr id="27" name="Shape 22"/>
          <p:cNvSpPr/>
          <p:nvPr/>
        </p:nvSpPr>
        <p:spPr>
          <a:xfrm>
            <a:off x="8439912" y="4846320"/>
            <a:ext cx="2880360" cy="548640"/>
          </a:xfrm>
          <a:prstGeom prst="roundRect">
            <a:avLst>
              <a:gd name="adj" fmla="val 11667"/>
            </a:avLst>
          </a:prstGeom>
          <a:solidFill>
            <a:srgbClr val="B45309"/>
          </a:solidFill>
          <a:ln/>
        </p:spPr>
      </p:sp>
      <p:sp>
        <p:nvSpPr>
          <p:cNvPr id="28" name="Text 23"/>
          <p:cNvSpPr/>
          <p:nvPr/>
        </p:nvSpPr>
        <p:spPr>
          <a:xfrm>
            <a:off x="8439912" y="484632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Runs the loop you bring</a:t>
            </a:r>
            <a:endParaRPr lang="en-US" sz="1200" dirty="0"/>
          </a:p>
        </p:txBody>
      </p:sp>
      <p:sp>
        <p:nvSpPr>
          <p:cNvPr id="29" name="Text 24"/>
          <p:cNvSpPr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Practitioner Bootcamp  ·  Day 3  ·  Amazon Bedrock</a:t>
            </a:r>
            <a:endParaRPr lang="en-US" sz="900" dirty="0"/>
          </a:p>
        </p:txBody>
      </p:sp>
      <p:sp>
        <p:nvSpPr>
          <p:cNvPr id="30" name="Text 25"/>
          <p:cNvSpPr/>
          <p:nvPr/>
        </p:nvSpPr>
        <p:spPr>
          <a:xfrm>
            <a:off x="11185855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OPTION 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310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 Builder (Bedrock Agents)</a:t>
            </a:r>
            <a:endParaRPr lang="en-US" sz="31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28800"/>
            <a:ext cx="548640" cy="548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25880" y="1783080"/>
            <a:ext cx="103171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Managed and declarative.  </a:t>
            </a:r>
            <a:pPr algn="l"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define the agent in the console or API; AWS runs the ReAct loop server-side. This is the agent in today's trace.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48640" y="2788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 steps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48640" y="3154680"/>
            <a:ext cx="1700784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sx="100000" sy="100000" kx="0" ky="0" algn="bl" rotWithShape="0" blurRad="63500" dist="19050" dir="72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1197864" y="3264408"/>
            <a:ext cx="402336" cy="402336"/>
          </a:xfrm>
          <a:prstGeom prst="ellipse">
            <a:avLst/>
          </a:prstGeom>
          <a:solidFill>
            <a:srgbClr val="1E293B"/>
          </a:solidFill>
          <a:ln/>
          <a:effectLst>
            <a:outerShdw sx="100000" sy="100000" kx="0" ky="0" algn="bl" rotWithShape="0" blurRad="63500" dist="19050" dir="72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1197864" y="32644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21792" y="3666744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05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agent</a:t>
            </a:r>
            <a:endParaRPr lang="en-US" sz="105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105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(model + instructions)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2249424" y="3611880"/>
            <a:ext cx="109728" cy="0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 rot="5400000">
            <a:off x="2313432" y="3566160"/>
            <a:ext cx="91440" cy="91440"/>
          </a:xfrm>
          <a:prstGeom prst="triangle">
            <a:avLst/>
          </a:prstGeom>
          <a:solidFill>
            <a:srgbClr val="334155"/>
          </a:solidFill>
          <a:ln/>
        </p:spPr>
      </p:sp>
      <p:sp>
        <p:nvSpPr>
          <p:cNvPr id="13" name="Shape 10"/>
          <p:cNvSpPr/>
          <p:nvPr/>
        </p:nvSpPr>
        <p:spPr>
          <a:xfrm>
            <a:off x="2359152" y="3154680"/>
            <a:ext cx="1700784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sx="100000" sy="100000" kx="0" ky="0" algn="bl" rotWithShape="0" blurRad="63500" dist="19050" dir="720000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008376" y="3264408"/>
            <a:ext cx="402336" cy="402336"/>
          </a:xfrm>
          <a:prstGeom prst="ellipse">
            <a:avLst/>
          </a:prstGeom>
          <a:solidFill>
            <a:srgbClr val="1E293B"/>
          </a:solidFill>
          <a:ln/>
          <a:effectLst>
            <a:outerShdw sx="100000" sy="100000" kx="0" ky="0" algn="bl" rotWithShape="0" blurRad="63500" dist="19050" dir="7200000">
              <a:srgbClr val="000000">
                <a:alpha val="1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3008376" y="32644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2432304" y="3666744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05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action groups</a:t>
            </a:r>
            <a:endParaRPr lang="en-US" sz="105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105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(Lambda)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4059936" y="3611880"/>
            <a:ext cx="109728" cy="0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 rot="5400000">
            <a:off x="4123944" y="3566160"/>
            <a:ext cx="91440" cy="91440"/>
          </a:xfrm>
          <a:prstGeom prst="triangle">
            <a:avLst/>
          </a:prstGeom>
          <a:solidFill>
            <a:srgbClr val="334155"/>
          </a:solidFill>
          <a:ln/>
        </p:spPr>
      </p:sp>
      <p:sp>
        <p:nvSpPr>
          <p:cNvPr id="19" name="Shape 16"/>
          <p:cNvSpPr/>
          <p:nvPr/>
        </p:nvSpPr>
        <p:spPr>
          <a:xfrm>
            <a:off x="4169664" y="3154680"/>
            <a:ext cx="1700784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sx="100000" sy="100000" kx="0" ky="0" algn="bl" rotWithShape="0" blurRad="63500" dist="19050" dir="7200000">
              <a:srgbClr val="000000">
                <a:alpha val="1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4818888" y="3264408"/>
            <a:ext cx="402336" cy="402336"/>
          </a:xfrm>
          <a:prstGeom prst="ellipse">
            <a:avLst/>
          </a:prstGeom>
          <a:solidFill>
            <a:srgbClr val="1E293B"/>
          </a:solidFill>
          <a:ln/>
          <a:effectLst>
            <a:outerShdw sx="100000" sy="100000" kx="0" ky="0" algn="bl" rotWithShape="0" blurRad="63500" dist="19050" dir="7200000">
              <a:srgbClr val="000000">
                <a:alpha val="12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4818888" y="32644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4242816" y="3666744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05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 knowledge</a:t>
            </a:r>
            <a:endParaRPr lang="en-US" sz="105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105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5870448" y="3611880"/>
            <a:ext cx="109728" cy="0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 rot="5400000">
            <a:off x="5934456" y="3566160"/>
            <a:ext cx="91440" cy="91440"/>
          </a:xfrm>
          <a:prstGeom prst="triangle">
            <a:avLst/>
          </a:prstGeom>
          <a:solidFill>
            <a:srgbClr val="334155"/>
          </a:solidFill>
          <a:ln/>
        </p:spPr>
      </p:sp>
      <p:sp>
        <p:nvSpPr>
          <p:cNvPr id="25" name="Shape 22"/>
          <p:cNvSpPr/>
          <p:nvPr/>
        </p:nvSpPr>
        <p:spPr>
          <a:xfrm>
            <a:off x="5980176" y="3154680"/>
            <a:ext cx="1700784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sx="100000" sy="100000" kx="0" ky="0" algn="bl" rotWithShape="0" blurRad="63500" dist="19050" dir="7200000">
              <a:srgbClr val="000000">
                <a:alpha val="12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6629400" y="3264408"/>
            <a:ext cx="402336" cy="402336"/>
          </a:xfrm>
          <a:prstGeom prst="ellipse">
            <a:avLst/>
          </a:prstGeom>
          <a:solidFill>
            <a:srgbClr val="1E293B"/>
          </a:solidFill>
          <a:ln/>
          <a:effectLst>
            <a:outerShdw sx="100000" sy="100000" kx="0" ky="0" algn="bl" rotWithShape="0" blurRad="63500" dist="19050" dir="7200000">
              <a:srgbClr val="000000">
                <a:alpha val="12000"/>
              </a:srgbClr>
            </a:outerShdw>
          </a:effectLst>
        </p:spPr>
      </p:sp>
      <p:sp>
        <p:nvSpPr>
          <p:cNvPr id="27" name="Text 24"/>
          <p:cNvSpPr/>
          <p:nvPr/>
        </p:nvSpPr>
        <p:spPr>
          <a:xfrm>
            <a:off x="6629400" y="32644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6053328" y="3666744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05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guardrails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7680960" y="3611880"/>
            <a:ext cx="109728" cy="0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 rot="5400000">
            <a:off x="7744968" y="3566160"/>
            <a:ext cx="91440" cy="91440"/>
          </a:xfrm>
          <a:prstGeom prst="triangle">
            <a:avLst/>
          </a:prstGeom>
          <a:solidFill>
            <a:srgbClr val="334155"/>
          </a:solidFill>
          <a:ln/>
        </p:spPr>
      </p:sp>
      <p:sp>
        <p:nvSpPr>
          <p:cNvPr id="31" name="Shape 28"/>
          <p:cNvSpPr/>
          <p:nvPr/>
        </p:nvSpPr>
        <p:spPr>
          <a:xfrm>
            <a:off x="7790688" y="3154680"/>
            <a:ext cx="1700784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sx="100000" sy="100000" kx="0" ky="0" algn="bl" rotWithShape="0" blurRad="63500" dist="19050" dir="7200000">
              <a:srgbClr val="000000">
                <a:alpha val="12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8439912" y="3264408"/>
            <a:ext cx="402336" cy="402336"/>
          </a:xfrm>
          <a:prstGeom prst="ellipse">
            <a:avLst/>
          </a:prstGeom>
          <a:solidFill>
            <a:srgbClr val="1E293B"/>
          </a:solidFill>
          <a:ln/>
          <a:effectLst>
            <a:outerShdw sx="100000" sy="100000" kx="0" ky="0" algn="bl" rotWithShape="0" blurRad="63500" dist="19050" dir="7200000">
              <a:srgbClr val="000000">
                <a:alpha val="12000"/>
              </a:srgbClr>
            </a:outerShdw>
          </a:effectLst>
        </p:spPr>
      </p:sp>
      <p:sp>
        <p:nvSpPr>
          <p:cNvPr id="33" name="Text 30"/>
          <p:cNvSpPr/>
          <p:nvPr/>
        </p:nvSpPr>
        <p:spPr>
          <a:xfrm>
            <a:off x="8439912" y="32644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400" dirty="0"/>
          </a:p>
        </p:txBody>
      </p:sp>
      <p:sp>
        <p:nvSpPr>
          <p:cNvPr id="34" name="Text 31"/>
          <p:cNvSpPr/>
          <p:nvPr/>
        </p:nvSpPr>
        <p:spPr>
          <a:xfrm>
            <a:off x="7863840" y="3666744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05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Prepare, test,</a:t>
            </a:r>
            <a:endParaRPr lang="en-US" sz="105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105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traces</a:t>
            </a:r>
            <a:endParaRPr lang="en-US" sz="1050" dirty="0"/>
          </a:p>
        </p:txBody>
      </p:sp>
      <p:sp>
        <p:nvSpPr>
          <p:cNvPr id="35" name="Shape 32"/>
          <p:cNvSpPr/>
          <p:nvPr/>
        </p:nvSpPr>
        <p:spPr>
          <a:xfrm>
            <a:off x="9491472" y="3611880"/>
            <a:ext cx="109728" cy="0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 rot="5400000">
            <a:off x="9555480" y="3566160"/>
            <a:ext cx="91440" cy="91440"/>
          </a:xfrm>
          <a:prstGeom prst="triangle">
            <a:avLst/>
          </a:prstGeom>
          <a:solidFill>
            <a:srgbClr val="334155"/>
          </a:solidFill>
          <a:ln/>
        </p:spPr>
      </p:sp>
      <p:sp>
        <p:nvSpPr>
          <p:cNvPr id="37" name="Shape 34"/>
          <p:cNvSpPr/>
          <p:nvPr/>
        </p:nvSpPr>
        <p:spPr>
          <a:xfrm>
            <a:off x="9601200" y="3154680"/>
            <a:ext cx="1700784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sx="100000" sy="100000" kx="0" ky="0" algn="bl" rotWithShape="0" blurRad="63500" dist="19050" dir="7200000">
              <a:srgbClr val="000000">
                <a:alpha val="12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10250424" y="3264408"/>
            <a:ext cx="402336" cy="402336"/>
          </a:xfrm>
          <a:prstGeom prst="ellipse">
            <a:avLst/>
          </a:prstGeom>
          <a:solidFill>
            <a:srgbClr val="1E293B"/>
          </a:solidFill>
          <a:ln/>
          <a:effectLst>
            <a:outerShdw sx="100000" sy="100000" kx="0" ky="0" algn="bl" rotWithShape="0" blurRad="63500" dist="19050" dir="7200000">
              <a:srgbClr val="000000">
                <a:alpha val="12000"/>
              </a:srgbClr>
            </a:outerShdw>
          </a:effectLst>
        </p:spPr>
      </p:sp>
      <p:sp>
        <p:nvSpPr>
          <p:cNvPr id="39" name="Text 36"/>
          <p:cNvSpPr/>
          <p:nvPr/>
        </p:nvSpPr>
        <p:spPr>
          <a:xfrm>
            <a:off x="10250424" y="32644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400" dirty="0"/>
          </a:p>
        </p:txBody>
      </p:sp>
      <p:sp>
        <p:nvSpPr>
          <p:cNvPr id="40" name="Text 37"/>
          <p:cNvSpPr/>
          <p:nvPr/>
        </p:nvSpPr>
        <p:spPr>
          <a:xfrm>
            <a:off x="9674352" y="3666744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05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alias</a:t>
            </a:r>
            <a:endParaRPr lang="en-US" sz="105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105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deploy</a:t>
            </a:r>
            <a:endParaRPr lang="en-US" sz="1050" dirty="0"/>
          </a:p>
        </p:txBody>
      </p:sp>
      <p:sp>
        <p:nvSpPr>
          <p:cNvPr id="41" name="Shape 38"/>
          <p:cNvSpPr/>
          <p:nvPr/>
        </p:nvSpPr>
        <p:spPr>
          <a:xfrm>
            <a:off x="548640" y="4526280"/>
            <a:ext cx="5394960" cy="1234440"/>
          </a:xfrm>
          <a:prstGeom prst="roundRect">
            <a:avLst>
              <a:gd name="adj" fmla="val 5185"/>
            </a:avLst>
          </a:prstGeom>
          <a:solidFill>
            <a:srgbClr val="ECFDF3"/>
          </a:solidFill>
          <a:ln w="12700">
            <a:solidFill>
              <a:srgbClr val="C9E9D2"/>
            </a:solidFill>
            <a:prstDash val="solid"/>
          </a:ln>
          <a:effectLst>
            <a:outerShdw sx="100000" sy="100000" kx="0" ky="0" algn="bl" rotWithShape="0" blurRad="63500" dist="19050" dir="7200000">
              <a:srgbClr val="000000">
                <a:alpha val="12000"/>
              </a:srgbClr>
            </a:outerShdw>
          </a:effectLst>
        </p:spPr>
      </p:sp>
      <p:sp>
        <p:nvSpPr>
          <p:cNvPr id="42" name="Text 39"/>
          <p:cNvSpPr/>
          <p:nvPr/>
        </p:nvSpPr>
        <p:spPr>
          <a:xfrm>
            <a:off x="868680" y="466344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580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Reach for it when</a:t>
            </a:r>
            <a:endParaRPr lang="en-US" sz="1450" dirty="0"/>
          </a:p>
        </p:txBody>
      </p:sp>
      <p:sp>
        <p:nvSpPr>
          <p:cNvPr id="43" name="Text 40"/>
          <p:cNvSpPr/>
          <p:nvPr/>
        </p:nvSpPr>
        <p:spPr>
          <a:xfrm>
            <a:off x="868680" y="502920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25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Bounded task, fast time-to-value, standard RAG + tools, you want AWS to manage everything.</a:t>
            </a:r>
            <a:endParaRPr lang="en-US" sz="1250" dirty="0"/>
          </a:p>
        </p:txBody>
      </p:sp>
      <p:sp>
        <p:nvSpPr>
          <p:cNvPr id="44" name="Shape 41"/>
          <p:cNvSpPr/>
          <p:nvPr/>
        </p:nvSpPr>
        <p:spPr>
          <a:xfrm>
            <a:off x="6245352" y="4526280"/>
            <a:ext cx="5394960" cy="1234440"/>
          </a:xfrm>
          <a:prstGeom prst="roundRect">
            <a:avLst>
              <a:gd name="adj" fmla="val 5185"/>
            </a:avLst>
          </a:prstGeom>
          <a:solidFill>
            <a:srgbClr val="FEF2F2"/>
          </a:solidFill>
          <a:ln w="12700">
            <a:solidFill>
              <a:srgbClr val="F3C9C9"/>
            </a:solidFill>
            <a:prstDash val="solid"/>
          </a:ln>
          <a:effectLst>
            <a:outerShdw sx="100000" sy="100000" kx="0" ky="0" algn="bl" rotWithShape="0" blurRad="63500" dist="19050" dir="7200000">
              <a:srgbClr val="000000">
                <a:alpha val="12000"/>
              </a:srgbClr>
            </a:outerShdw>
          </a:effectLst>
        </p:spPr>
      </p:sp>
      <p:sp>
        <p:nvSpPr>
          <p:cNvPr id="45" name="Text 42"/>
          <p:cNvSpPr/>
          <p:nvPr/>
        </p:nvSpPr>
        <p:spPr>
          <a:xfrm>
            <a:off x="6565392" y="466344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B9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Trade-offs</a:t>
            </a:r>
            <a:endParaRPr lang="en-US" sz="1450" dirty="0"/>
          </a:p>
        </p:txBody>
      </p:sp>
      <p:sp>
        <p:nvSpPr>
          <p:cNvPr id="46" name="Text 43"/>
          <p:cNvSpPr/>
          <p:nvPr/>
        </p:nvSpPr>
        <p:spPr>
          <a:xfrm>
            <a:off x="6565392" y="502920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25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loop control unless you use custom orchestration; coupled to Bedrock.</a:t>
            </a:r>
            <a:endParaRPr lang="en-US" sz="1250" dirty="0"/>
          </a:p>
        </p:txBody>
      </p:sp>
      <p:sp>
        <p:nvSpPr>
          <p:cNvPr id="47" name="Text 44"/>
          <p:cNvSpPr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Practitioner Bootcamp  ·  Day 3  ·  Amazon Bedrock</a:t>
            </a:r>
            <a:endParaRPr lang="en-US" sz="900" dirty="0"/>
          </a:p>
        </p:txBody>
      </p:sp>
      <p:sp>
        <p:nvSpPr>
          <p:cNvPr id="48" name="Text 45"/>
          <p:cNvSpPr/>
          <p:nvPr/>
        </p:nvSpPr>
        <p:spPr>
          <a:xfrm>
            <a:off x="11185855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OPTION B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310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Strands Agents SDK</a:t>
            </a:r>
            <a:endParaRPr lang="en-US" sz="31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28800"/>
            <a:ext cx="548640" cy="548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25880" y="1783080"/>
            <a:ext cx="103171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0F76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Open-source and model-driven.  </a:t>
            </a:r>
            <a:pPr algn="l"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agent is just model + system prompt + tools. The SDK runs a lightweight loop in your code until the model finishes.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48640" y="2788920"/>
            <a:ext cx="5943600" cy="2971800"/>
          </a:xfrm>
          <a:prstGeom prst="roundRect">
            <a:avLst>
              <a:gd name="adj" fmla="val 2154"/>
            </a:avLst>
          </a:prstGeom>
          <a:solidFill>
            <a:srgbClr val="1C1917"/>
          </a:solidFill>
          <a:ln/>
          <a:effectLst>
            <a:outerShdw sx="100000" sy="100000" kx="0" ky="0" algn="bl" rotWithShape="0" blurRad="63500" dist="19050" dir="72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22960" y="2971800"/>
            <a:ext cx="54864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strands import Agent, tool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@tool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E7E5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lookup_booking(pnr: str) -&gt; dict: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"""Look up a booking by PNR."""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E7E5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db.get(pnr)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E7E5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 = Agent(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E7E5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model="us.anthropic.claude-...",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E7E5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system_prompt=TRAVELMIND,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E7E5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tools=[lookup_booking, rebook],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E7E5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E7E5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agent("My flight JX48Q2 was cancelled")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6812280" y="2788920"/>
            <a:ext cx="48307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F7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 steps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812280" y="3154680"/>
            <a:ext cx="483077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 install strands-agents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tools with @tool (docstring → description, type hints → schema)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Agent(model, prompt, tools)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it; the loop runs model + tools until a final answer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anywhere you run Python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812280" y="4754880"/>
            <a:ext cx="4830775" cy="1005840"/>
          </a:xfrm>
          <a:prstGeom prst="roundRect">
            <a:avLst>
              <a:gd name="adj" fmla="val 6364"/>
            </a:avLst>
          </a:prstGeom>
          <a:solidFill>
            <a:srgbClr val="F0FDFA"/>
          </a:solidFill>
          <a:ln w="12700">
            <a:solidFill>
              <a:srgbClr val="CFE9E4"/>
            </a:solidFill>
            <a:prstDash val="solid"/>
          </a:ln>
          <a:effectLst>
            <a:outerShdw sx="100000" sy="100000" kx="0" ky="0" algn="bl" rotWithShape="0" blurRad="63500" dist="19050" dir="720000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7086600" y="4864608"/>
            <a:ext cx="42821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5E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Reach for it when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7086600" y="5166360"/>
            <a:ext cx="42821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code control, custom or multi-agent logic, provider portability (Bedrock, Anthropic, Llama, Ollama), unit-testable behaviour.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Practitioner Bootcamp  ·  Day 3  ·  Amazon Bedrock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185855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OPTION C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310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Amazon Bedrock AgentCore</a:t>
            </a:r>
            <a:endParaRPr lang="en-US" sz="31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28800"/>
            <a:ext cx="548640" cy="548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25880" y="1783080"/>
            <a:ext cx="103171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B4530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Framework-agnostic production runtime.  </a:t>
            </a:r>
            <a:pPr algn="l"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loop — a platform. Build the agent in any framework (Strands, LangGraph, custom), then run and operate it at scale.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48640" y="2834640"/>
            <a:ext cx="2615184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sx="100000" sy="100000" kx="0" ky="0" algn="bl" rotWithShape="0" blurRad="63500" dist="19050" dir="7200000">
              <a:srgbClr val="000000">
                <a:alpha val="12000"/>
              </a:srgbClr>
            </a:outerShdw>
          </a:effectLst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3081528"/>
            <a:ext cx="457200" cy="4572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325880" y="2980944"/>
            <a:ext cx="1700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Runtime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1325880" y="3346704"/>
            <a:ext cx="17007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105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 host, session isolation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3328416" y="2834640"/>
            <a:ext cx="2615184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sx="100000" sy="100000" kx="0" ky="0" algn="bl" rotWithShape="0" blurRad="63500" dist="19050" dir="7200000">
              <a:srgbClr val="000000">
                <a:alpha val="12000"/>
              </a:srgbClr>
            </a:outerShdw>
          </a:effectLst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9584" y="3081528"/>
            <a:ext cx="457200" cy="4572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105656" y="2980944"/>
            <a:ext cx="1700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Memory</a:t>
            </a:r>
            <a:endParaRPr lang="en-US" sz="1400" dirty="0"/>
          </a:p>
        </p:txBody>
      </p:sp>
      <p:sp>
        <p:nvSpPr>
          <p:cNvPr id="13" name="Text 8"/>
          <p:cNvSpPr/>
          <p:nvPr/>
        </p:nvSpPr>
        <p:spPr>
          <a:xfrm>
            <a:off x="4105656" y="3346704"/>
            <a:ext cx="17007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105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 &amp; long-term</a:t>
            </a:r>
            <a:endParaRPr lang="en-US" sz="1050" dirty="0"/>
          </a:p>
        </p:txBody>
      </p:sp>
      <p:sp>
        <p:nvSpPr>
          <p:cNvPr id="14" name="Shape 9"/>
          <p:cNvSpPr/>
          <p:nvPr/>
        </p:nvSpPr>
        <p:spPr>
          <a:xfrm>
            <a:off x="6108192" y="2834640"/>
            <a:ext cx="2615184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sx="100000" sy="100000" kx="0" ky="0" algn="bl" rotWithShape="0" blurRad="63500" dist="19050" dir="7200000">
              <a:srgbClr val="000000">
                <a:alpha val="12000"/>
              </a:srgbClr>
            </a:outerShdw>
          </a:effectLst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3081528"/>
            <a:ext cx="457200" cy="45720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885432" y="2980944"/>
            <a:ext cx="1700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Identity</a:t>
            </a:r>
            <a:endParaRPr lang="en-US" sz="1400" dirty="0"/>
          </a:p>
        </p:txBody>
      </p:sp>
      <p:sp>
        <p:nvSpPr>
          <p:cNvPr id="17" name="Text 11"/>
          <p:cNvSpPr/>
          <p:nvPr/>
        </p:nvSpPr>
        <p:spPr>
          <a:xfrm>
            <a:off x="6885432" y="3346704"/>
            <a:ext cx="17007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105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 / JWT, secure access</a:t>
            </a:r>
            <a:endParaRPr lang="en-US" sz="1050" dirty="0"/>
          </a:p>
        </p:txBody>
      </p:sp>
      <p:sp>
        <p:nvSpPr>
          <p:cNvPr id="18" name="Shape 12"/>
          <p:cNvSpPr/>
          <p:nvPr/>
        </p:nvSpPr>
        <p:spPr>
          <a:xfrm>
            <a:off x="8887968" y="2834640"/>
            <a:ext cx="2615184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sx="100000" sy="100000" kx="0" ky="0" algn="bl" rotWithShape="0" blurRad="63500" dist="19050" dir="7200000">
              <a:srgbClr val="000000">
                <a:alpha val="12000"/>
              </a:srgbClr>
            </a:outerShdw>
          </a:effectLst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9136" y="3081528"/>
            <a:ext cx="457200" cy="45720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9665208" y="2980944"/>
            <a:ext cx="1700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Gateway</a:t>
            </a:r>
            <a:endParaRPr lang="en-US" sz="1400" dirty="0"/>
          </a:p>
        </p:txBody>
      </p:sp>
      <p:sp>
        <p:nvSpPr>
          <p:cNvPr id="21" name="Text 14"/>
          <p:cNvSpPr/>
          <p:nvPr/>
        </p:nvSpPr>
        <p:spPr>
          <a:xfrm>
            <a:off x="9665208" y="3346704"/>
            <a:ext cx="17007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105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 &amp; Lambdas → MCP tools</a:t>
            </a:r>
            <a:endParaRPr lang="en-US" sz="1050" dirty="0"/>
          </a:p>
        </p:txBody>
      </p:sp>
      <p:sp>
        <p:nvSpPr>
          <p:cNvPr id="22" name="Shape 15"/>
          <p:cNvSpPr/>
          <p:nvPr/>
        </p:nvSpPr>
        <p:spPr>
          <a:xfrm>
            <a:off x="548640" y="3977640"/>
            <a:ext cx="2615184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sx="100000" sy="100000" kx="0" ky="0" algn="bl" rotWithShape="0" blurRad="63500" dist="19050" dir="7200000">
              <a:srgbClr val="000000">
                <a:alpha val="12000"/>
              </a:srgbClr>
            </a:outerShdw>
          </a:effectLst>
        </p:spPr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808" y="4224528"/>
            <a:ext cx="457200" cy="457200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1325880" y="4123944"/>
            <a:ext cx="1700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Browser</a:t>
            </a:r>
            <a:endParaRPr lang="en-US" sz="1400" dirty="0"/>
          </a:p>
        </p:txBody>
      </p:sp>
      <p:sp>
        <p:nvSpPr>
          <p:cNvPr id="25" name="Text 17"/>
          <p:cNvSpPr/>
          <p:nvPr/>
        </p:nvSpPr>
        <p:spPr>
          <a:xfrm>
            <a:off x="1325880" y="4489704"/>
            <a:ext cx="17007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105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headless browsing</a:t>
            </a:r>
            <a:endParaRPr lang="en-US" sz="1050" dirty="0"/>
          </a:p>
        </p:txBody>
      </p:sp>
      <p:sp>
        <p:nvSpPr>
          <p:cNvPr id="26" name="Shape 18"/>
          <p:cNvSpPr/>
          <p:nvPr/>
        </p:nvSpPr>
        <p:spPr>
          <a:xfrm>
            <a:off x="3328416" y="3977640"/>
            <a:ext cx="2615184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sx="100000" sy="100000" kx="0" ky="0" algn="bl" rotWithShape="0" blurRad="63500" dist="19050" dir="7200000">
              <a:srgbClr val="000000">
                <a:alpha val="12000"/>
              </a:srgbClr>
            </a:outerShdw>
          </a:effectLst>
        </p:spPr>
      </p:sp>
      <p:pic>
        <p:nvPicPr>
          <p:cNvPr id="2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29584" y="4224528"/>
            <a:ext cx="457200" cy="457200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4105656" y="4123944"/>
            <a:ext cx="1700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Code Interpreter</a:t>
            </a:r>
            <a:endParaRPr lang="en-US" sz="1400" dirty="0"/>
          </a:p>
        </p:txBody>
      </p:sp>
      <p:sp>
        <p:nvSpPr>
          <p:cNvPr id="29" name="Text 20"/>
          <p:cNvSpPr/>
          <p:nvPr/>
        </p:nvSpPr>
        <p:spPr>
          <a:xfrm>
            <a:off x="4105656" y="4489704"/>
            <a:ext cx="17007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105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sandboxed code execution</a:t>
            </a:r>
            <a:endParaRPr lang="en-US" sz="1050" dirty="0"/>
          </a:p>
        </p:txBody>
      </p:sp>
      <p:sp>
        <p:nvSpPr>
          <p:cNvPr id="30" name="Shape 21"/>
          <p:cNvSpPr/>
          <p:nvPr/>
        </p:nvSpPr>
        <p:spPr>
          <a:xfrm>
            <a:off x="6108192" y="3977640"/>
            <a:ext cx="2615184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sx="100000" sy="100000" kx="0" ky="0" algn="bl" rotWithShape="0" blurRad="63500" dist="19050" dir="7200000">
              <a:srgbClr val="000000">
                <a:alpha val="12000"/>
              </a:srgbClr>
            </a:outerShdw>
          </a:effectLst>
        </p:spPr>
      </p:sp>
      <p:pic>
        <p:nvPicPr>
          <p:cNvPr id="3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09360" y="4224528"/>
            <a:ext cx="457200" cy="457200"/>
          </a:xfrm>
          <a:prstGeom prst="rect">
            <a:avLst/>
          </a:prstGeom>
        </p:spPr>
      </p:pic>
      <p:sp>
        <p:nvSpPr>
          <p:cNvPr id="32" name="Text 22"/>
          <p:cNvSpPr/>
          <p:nvPr/>
        </p:nvSpPr>
        <p:spPr>
          <a:xfrm>
            <a:off x="6885432" y="4123944"/>
            <a:ext cx="1700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Observability</a:t>
            </a:r>
            <a:endParaRPr lang="en-US" sz="1400" dirty="0"/>
          </a:p>
        </p:txBody>
      </p:sp>
      <p:sp>
        <p:nvSpPr>
          <p:cNvPr id="33" name="Text 23"/>
          <p:cNvSpPr/>
          <p:nvPr/>
        </p:nvSpPr>
        <p:spPr>
          <a:xfrm>
            <a:off x="6885432" y="4489704"/>
            <a:ext cx="17007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105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OpenTelemetry + CloudWatch</a:t>
            </a:r>
            <a:endParaRPr lang="en-US" sz="1050" dirty="0"/>
          </a:p>
        </p:txBody>
      </p:sp>
      <p:sp>
        <p:nvSpPr>
          <p:cNvPr id="34" name="Shape 24"/>
          <p:cNvSpPr/>
          <p:nvPr/>
        </p:nvSpPr>
        <p:spPr>
          <a:xfrm>
            <a:off x="8887968" y="3977640"/>
            <a:ext cx="2615184" cy="960120"/>
          </a:xfrm>
          <a:prstGeom prst="roundRect">
            <a:avLst>
              <a:gd name="adj" fmla="val 6667"/>
            </a:avLst>
          </a:prstGeom>
          <a:solidFill>
            <a:srgbClr val="FBF1E6"/>
          </a:solidFill>
          <a:ln w="12700">
            <a:solidFill>
              <a:srgbClr val="F0D9BD"/>
            </a:solidFill>
            <a:prstDash val="solid"/>
          </a:ln>
          <a:effectLst>
            <a:outerShdw sx="100000" sy="100000" kx="0" ky="0" algn="bl" rotWithShape="0" blurRad="63500" dist="19050" dir="7200000">
              <a:srgbClr val="000000">
                <a:alpha val="12000"/>
              </a:srgbClr>
            </a:outerShdw>
          </a:effectLst>
        </p:spPr>
      </p:sp>
      <p:sp>
        <p:nvSpPr>
          <p:cNvPr id="35" name="Text 25"/>
          <p:cNvSpPr/>
          <p:nvPr/>
        </p:nvSpPr>
        <p:spPr>
          <a:xfrm>
            <a:off x="9052560" y="40873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240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Reach for it when</a:t>
            </a:r>
            <a:endParaRPr lang="en-US" sz="1250" dirty="0"/>
          </a:p>
        </p:txBody>
      </p:sp>
      <p:sp>
        <p:nvSpPr>
          <p:cNvPr id="36" name="Text 26"/>
          <p:cNvSpPr/>
          <p:nvPr/>
        </p:nvSpPr>
        <p:spPr>
          <a:xfrm>
            <a:off x="9052560" y="43891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105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scale, security, many systems, framework freedom.</a:t>
            </a:r>
            <a:endParaRPr lang="en-US" sz="1050" dirty="0"/>
          </a:p>
        </p:txBody>
      </p:sp>
      <p:sp>
        <p:nvSpPr>
          <p:cNvPr id="37" name="Text 27"/>
          <p:cNvSpPr/>
          <p:nvPr/>
        </p:nvSpPr>
        <p:spPr>
          <a:xfrm>
            <a:off x="548640" y="516636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 steps:  build in any framework  →  wrap with the AgentCore SDK  →  deploy to Runtime  →  add Memory / Gateway / Identity / Observability as needed.</a:t>
            </a:r>
            <a:endParaRPr lang="en-US" sz="1100" dirty="0"/>
          </a:p>
        </p:txBody>
      </p:sp>
      <p:sp>
        <p:nvSpPr>
          <p:cNvPr id="38" name="Text 28"/>
          <p:cNvSpPr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Practitioner Bootcamp  ·  Day 3  ·  Amazon Bedrock</a:t>
            </a:r>
            <a:endParaRPr lang="en-US" sz="900" dirty="0"/>
          </a:p>
        </p:txBody>
      </p:sp>
      <p:sp>
        <p:nvSpPr>
          <p:cNvPr id="39" name="Text 29"/>
          <p:cNvSpPr/>
          <p:nvPr/>
        </p:nvSpPr>
        <p:spPr>
          <a:xfrm>
            <a:off x="11185855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SIDE BY SIDE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310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Choosing the right tool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14884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2697480" y="1783080"/>
            <a:ext cx="2981858" cy="5029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6" name="Text 4"/>
          <p:cNvSpPr/>
          <p:nvPr/>
        </p:nvSpPr>
        <p:spPr>
          <a:xfrm>
            <a:off x="2697480" y="1783080"/>
            <a:ext cx="29818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 Builder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679338" y="1783080"/>
            <a:ext cx="2981858" cy="5029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8" name="Text 6"/>
          <p:cNvSpPr/>
          <p:nvPr/>
        </p:nvSpPr>
        <p:spPr>
          <a:xfrm>
            <a:off x="5679338" y="1783080"/>
            <a:ext cx="29818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Strands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661197" y="1783080"/>
            <a:ext cx="2981858" cy="50292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0" name="Text 8"/>
          <p:cNvSpPr/>
          <p:nvPr/>
        </p:nvSpPr>
        <p:spPr>
          <a:xfrm>
            <a:off x="8661197" y="1783080"/>
            <a:ext cx="29818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AgentCore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2286000"/>
            <a:ext cx="11094415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7E5E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228600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2807208" y="2286000"/>
            <a:ext cx="276240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5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agent service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789066" y="2286000"/>
            <a:ext cx="276240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5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agent SDK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770925" y="2286000"/>
            <a:ext cx="276240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5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Framework-agnostic runtime + services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2852928"/>
            <a:ext cx="11094415" cy="566928"/>
          </a:xfrm>
          <a:prstGeom prst="rect">
            <a:avLst/>
          </a:prstGeom>
          <a:solidFill>
            <a:srgbClr val="FAFAF9"/>
          </a:solidFill>
          <a:ln w="9525">
            <a:solidFill>
              <a:srgbClr val="E7E5E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2852928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Owns the loop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2807208" y="2852928"/>
            <a:ext cx="276240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5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AWS, server-side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789066" y="2852928"/>
            <a:ext cx="276240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5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code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8770925" y="2852928"/>
            <a:ext cx="276240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5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Hosts any framework's loop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48640" y="3419856"/>
            <a:ext cx="11094415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7E5E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" y="3419856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runs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2807208" y="3419856"/>
            <a:ext cx="276240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5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Bedrock-managed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789066" y="3419856"/>
            <a:ext cx="276240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5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Anywhere you run Python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8770925" y="3419856"/>
            <a:ext cx="276240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5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AgentCore Runtime (serverless)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48640" y="3986784"/>
            <a:ext cx="11094415" cy="566928"/>
          </a:xfrm>
          <a:prstGeom prst="rect">
            <a:avLst/>
          </a:prstGeom>
          <a:solidFill>
            <a:srgbClr val="FAFAF9"/>
          </a:solidFill>
          <a:ln w="9525">
            <a:solidFill>
              <a:srgbClr val="E7E5E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5800" y="3986784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choice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2807208" y="3986784"/>
            <a:ext cx="276240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5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 models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5789066" y="3986784"/>
            <a:ext cx="276240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5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(Bedrock, Anthropic, Llama)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8770925" y="3986784"/>
            <a:ext cx="276240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5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(set by your framework)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548640" y="4553712"/>
            <a:ext cx="11094415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7E5E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85800" y="4553712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Optimises for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2807208" y="4553712"/>
            <a:ext cx="276240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5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to value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5789066" y="4553712"/>
            <a:ext cx="276240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5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control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8770925" y="4553712"/>
            <a:ext cx="276240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5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Scale, security, operations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548640" y="5120640"/>
            <a:ext cx="11094415" cy="566928"/>
          </a:xfrm>
          <a:prstGeom prst="rect">
            <a:avLst/>
          </a:prstGeom>
          <a:solidFill>
            <a:srgbClr val="FAFAF9"/>
          </a:solidFill>
          <a:ln w="9525">
            <a:solidFill>
              <a:srgbClr val="E7E5E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85800" y="512064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2807208" y="5120640"/>
            <a:ext cx="276240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5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Bounded RAG + tool tasks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5789066" y="5120640"/>
            <a:ext cx="276240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5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/ multi-agent logic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8770925" y="5120640"/>
            <a:ext cx="276240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5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production at scale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548640" y="5687568"/>
            <a:ext cx="11094415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7E5E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85800" y="5687568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Lock-in</a:t>
            </a:r>
            <a:endParaRPr lang="en-US" sz="1250" dirty="0"/>
          </a:p>
        </p:txBody>
      </p:sp>
      <p:sp>
        <p:nvSpPr>
          <p:cNvPr id="43" name="Text 41"/>
          <p:cNvSpPr/>
          <p:nvPr/>
        </p:nvSpPr>
        <p:spPr>
          <a:xfrm>
            <a:off x="2807208" y="5687568"/>
            <a:ext cx="276240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5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(Bedrock)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5789066" y="5687568"/>
            <a:ext cx="276240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5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8770925" y="5687568"/>
            <a:ext cx="276240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5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(AWS runtime, framework-free)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2697480" y="1783080"/>
            <a:ext cx="0" cy="4471416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679338" y="1783080"/>
            <a:ext cx="0" cy="4471416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661197" y="1783080"/>
            <a:ext cx="0" cy="4471416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1643055" y="1783080"/>
            <a:ext cx="0" cy="4471416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Practitioner Bootcamp  ·  Day 3  ·  Amazon Bedrock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11185855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 EITHER / OR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310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the three fit together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5852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practice they stack. A common production pattern: write the agent logic in Strands, run it on AgentCore, and call Bedrock models with Bedrock Guardrails and Knowledge Bases underneath.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3246120"/>
            <a:ext cx="5852160" cy="2468880"/>
          </a:xfrm>
          <a:prstGeom prst="roundRect">
            <a:avLst>
              <a:gd name="adj" fmla="val 2593"/>
            </a:avLst>
          </a:prstGeom>
          <a:solidFill>
            <a:srgbClr val="FBF1E6"/>
          </a:solidFill>
          <a:ln w="12700">
            <a:solidFill>
              <a:srgbClr val="F0D9BD"/>
            </a:solidFill>
            <a:prstDash val="solid"/>
          </a:ln>
          <a:effectLst>
            <a:outerShdw sx="100000" sy="100000" kx="0" ky="0" algn="bl" rotWithShape="0" blurRad="63500" dist="19050" dir="72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342900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240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 Builder is the shortcut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3886200"/>
            <a:ext cx="5212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collapses all of these layers into one managed service. Perfect for bounded tasks; you trade the layer-by-layer control that the Strands + AgentCore stack gives you.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92240" y="1828800"/>
            <a:ext cx="5166360" cy="841248"/>
          </a:xfrm>
          <a:prstGeom prst="roundRect">
            <a:avLst>
              <a:gd name="adj" fmla="val 7609"/>
            </a:avLst>
          </a:prstGeom>
          <a:solidFill>
            <a:srgbClr val="F1F5F9"/>
          </a:solidFill>
          <a:ln w="12700">
            <a:solidFill>
              <a:srgbClr val="DBE3EC"/>
            </a:solidFill>
            <a:prstDash val="solid"/>
          </a:ln>
          <a:effectLst>
            <a:outerShdw sx="100000" sy="100000" kx="0" ky="0" algn="bl" rotWithShape="0" blurRad="63500" dist="19050" dir="72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92240" y="1828800"/>
            <a:ext cx="91440" cy="84124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0" y="1947672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application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6766560" y="2304288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/ channel that calls the agent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 rot="10800000">
            <a:off x="9002268" y="2670048"/>
            <a:ext cx="146304" cy="146304"/>
          </a:xfrm>
          <a:prstGeom prst="triangle">
            <a:avLst/>
          </a:prstGeom>
          <a:solidFill>
            <a:srgbClr val="334155"/>
          </a:solidFill>
          <a:ln/>
        </p:spPr>
      </p:sp>
      <p:sp>
        <p:nvSpPr>
          <p:cNvPr id="13" name="Shape 11"/>
          <p:cNvSpPr/>
          <p:nvPr/>
        </p:nvSpPr>
        <p:spPr>
          <a:xfrm>
            <a:off x="6492240" y="2816352"/>
            <a:ext cx="5166360" cy="841248"/>
          </a:xfrm>
          <a:prstGeom prst="roundRect">
            <a:avLst>
              <a:gd name="adj" fmla="val 7609"/>
            </a:avLst>
          </a:prstGeom>
          <a:solidFill>
            <a:srgbClr val="FBF1E6"/>
          </a:solidFill>
          <a:ln w="12700">
            <a:solidFill>
              <a:srgbClr val="F0D9BD"/>
            </a:solidFill>
            <a:prstDash val="solid"/>
          </a:ln>
          <a:effectLst>
            <a:outerShdw sx="100000" sy="100000" kx="0" ky="0" algn="bl" rotWithShape="0" blurRad="63500" dist="19050" dir="72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92240" y="2816352"/>
            <a:ext cx="91440" cy="841248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5" name="Text 13"/>
          <p:cNvSpPr/>
          <p:nvPr/>
        </p:nvSpPr>
        <p:spPr>
          <a:xfrm>
            <a:off x="6766560" y="2935224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B4530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AgentCore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6766560" y="3291840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· memory · identity · gateway · observability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 rot="10800000">
            <a:off x="9002268" y="3657600"/>
            <a:ext cx="146304" cy="146304"/>
          </a:xfrm>
          <a:prstGeom prst="triangle">
            <a:avLst/>
          </a:prstGeom>
          <a:solidFill>
            <a:srgbClr val="334155"/>
          </a:solidFill>
          <a:ln/>
        </p:spPr>
      </p:sp>
      <p:sp>
        <p:nvSpPr>
          <p:cNvPr id="18" name="Shape 16"/>
          <p:cNvSpPr/>
          <p:nvPr/>
        </p:nvSpPr>
        <p:spPr>
          <a:xfrm>
            <a:off x="6492240" y="3803904"/>
            <a:ext cx="5166360" cy="841248"/>
          </a:xfrm>
          <a:prstGeom prst="roundRect">
            <a:avLst>
              <a:gd name="adj" fmla="val 7609"/>
            </a:avLst>
          </a:prstGeom>
          <a:solidFill>
            <a:srgbClr val="F0FDFA"/>
          </a:solidFill>
          <a:ln w="12700">
            <a:solidFill>
              <a:srgbClr val="CFE9E4"/>
            </a:solidFill>
            <a:prstDash val="solid"/>
          </a:ln>
          <a:effectLst>
            <a:outerShdw sx="100000" sy="100000" kx="0" ky="0" algn="bl" rotWithShape="0" blurRad="63500" dist="19050" dir="72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492240" y="3803904"/>
            <a:ext cx="91440" cy="841248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20" name="Text 18"/>
          <p:cNvSpPr/>
          <p:nvPr/>
        </p:nvSpPr>
        <p:spPr>
          <a:xfrm>
            <a:off x="6766560" y="3922776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76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Strands / LangGraph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6766560" y="4279392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logic: the loop, tools, reasoning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 rot="10800000">
            <a:off x="9002268" y="4645152"/>
            <a:ext cx="146304" cy="146304"/>
          </a:xfrm>
          <a:prstGeom prst="triangle">
            <a:avLst/>
          </a:prstGeom>
          <a:solidFill>
            <a:srgbClr val="334155"/>
          </a:solidFill>
          <a:ln/>
        </p:spPr>
      </p:sp>
      <p:sp>
        <p:nvSpPr>
          <p:cNvPr id="23" name="Shape 21"/>
          <p:cNvSpPr/>
          <p:nvPr/>
        </p:nvSpPr>
        <p:spPr>
          <a:xfrm>
            <a:off x="6492240" y="4791456"/>
            <a:ext cx="5166360" cy="841248"/>
          </a:xfrm>
          <a:prstGeom prst="roundRect">
            <a:avLst>
              <a:gd name="adj" fmla="val 7609"/>
            </a:avLst>
          </a:prstGeom>
          <a:solidFill>
            <a:srgbClr val="F1F5F9"/>
          </a:solidFill>
          <a:ln w="12700">
            <a:solidFill>
              <a:srgbClr val="DBE3EC"/>
            </a:solidFill>
            <a:prstDash val="solid"/>
          </a:ln>
          <a:effectLst>
            <a:outerShdw sx="100000" sy="100000" kx="0" ky="0" algn="bl" rotWithShape="0" blurRad="63500" dist="19050" dir="72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492240" y="4791456"/>
            <a:ext cx="91440" cy="84124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5" name="Text 23"/>
          <p:cNvSpPr/>
          <p:nvPr/>
        </p:nvSpPr>
        <p:spPr>
          <a:xfrm>
            <a:off x="6766560" y="4910328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Bedrock models + Guardrails + KB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6766560" y="5266944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reasoning, safety, grounding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Practitioner Bootcamp  ·  Day 3  ·  Amazon Bedrock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185855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PUTTING IT TO WORK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310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Decision guide &amp; complex use cases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Pick by the question you're answering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4297680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sx="100000" sy="100000" kx="0" ky="0" algn="bl" rotWithShape="0" blurRad="63500" dist="19050" dir="72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2148840"/>
            <a:ext cx="82296" cy="10515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7" name="Text 5"/>
          <p:cNvSpPr/>
          <p:nvPr/>
        </p:nvSpPr>
        <p:spPr>
          <a:xfrm>
            <a:off x="841248" y="2313432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Bounded task, ship fast?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41248" y="2697480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 Agent Builder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3355848"/>
            <a:ext cx="4297680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sx="100000" sy="100000" kx="0" ky="0" algn="bl" rotWithShape="0" blurRad="63500" dist="19050" dir="72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3355848"/>
            <a:ext cx="82296" cy="105156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1" name="Text 9"/>
          <p:cNvSpPr/>
          <p:nvPr/>
        </p:nvSpPr>
        <p:spPr>
          <a:xfrm>
            <a:off x="841248" y="352044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logic, portability?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41248" y="3904488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76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 Strands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4562856"/>
            <a:ext cx="4297680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sx="100000" sy="100000" kx="0" ky="0" algn="bl" rotWithShape="0" blurRad="63500" dist="19050" dir="72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48640" y="4562856"/>
            <a:ext cx="82296" cy="105156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5" name="Text 13"/>
          <p:cNvSpPr/>
          <p:nvPr/>
        </p:nvSpPr>
        <p:spPr>
          <a:xfrm>
            <a:off x="841248" y="4727448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Scale, security, any framework?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41248" y="5111496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4530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 AgentCore (often under Strands)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166360" y="1737360"/>
            <a:ext cx="6476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92400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travel-domain scenarios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166360" y="2148840"/>
            <a:ext cx="6476695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sx="100000" sy="100000" kx="0" ky="0" algn="bl" rotWithShape="0" blurRad="63500" dist="19050" dir="7200000">
              <a:srgbClr val="000000">
                <a:alpha val="12000"/>
              </a:srgbClr>
            </a:outerShdw>
          </a:effectLst>
        </p:spPr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0" y="2423160"/>
            <a:ext cx="411480" cy="41148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5943600" y="2258568"/>
            <a:ext cx="551657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IROPS re-accommodation</a:t>
            </a:r>
            <a:endParaRPr lang="en-US" sz="1350" dirty="0"/>
          </a:p>
        </p:txBody>
      </p:sp>
      <p:sp>
        <p:nvSpPr>
          <p:cNvPr id="21" name="Text 18"/>
          <p:cNvSpPr/>
          <p:nvPr/>
        </p:nvSpPr>
        <p:spPr>
          <a:xfrm>
            <a:off x="5943600" y="2532888"/>
            <a:ext cx="551657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11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Multi-passenger disruption replanning across flights, hotels, crew limits.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5943600" y="2807208"/>
            <a:ext cx="55165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7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Strands on AgentCore (multi-agent, long-running)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5166360" y="3227832"/>
            <a:ext cx="6476695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sx="100000" sy="100000" kx="0" ky="0" algn="bl" rotWithShape="0" blurRad="63500" dist="19050" dir="7200000">
              <a:srgbClr val="000000">
                <a:alpha val="12000"/>
              </a:srgbClr>
            </a:outerShdw>
          </a:effectLst>
        </p:spPr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3502152"/>
            <a:ext cx="411480" cy="411480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5943600" y="3337560"/>
            <a:ext cx="551657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Air cargo capacity exceptions</a:t>
            </a:r>
            <a:endParaRPr lang="en-US" sz="1350" dirty="0"/>
          </a:p>
        </p:txBody>
      </p:sp>
      <p:sp>
        <p:nvSpPr>
          <p:cNvPr id="26" name="Text 22"/>
          <p:cNvSpPr/>
          <p:nvPr/>
        </p:nvSpPr>
        <p:spPr>
          <a:xfrm>
            <a:off x="5943600" y="3611880"/>
            <a:ext cx="551657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11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Rebook shipments, optimise ULD/space via calls to capacity systems.</a:t>
            </a:r>
            <a:endParaRPr lang="en-US" sz="1100" dirty="0"/>
          </a:p>
        </p:txBody>
      </p:sp>
      <p:sp>
        <p:nvSpPr>
          <p:cNvPr id="27" name="Text 23"/>
          <p:cNvSpPr/>
          <p:nvPr/>
        </p:nvSpPr>
        <p:spPr>
          <a:xfrm>
            <a:off x="5943600" y="3886200"/>
            <a:ext cx="55165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7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Action groups + Knowledge Bases</a:t>
            </a:r>
            <a:endParaRPr lang="en-US" sz="1000" dirty="0"/>
          </a:p>
        </p:txBody>
      </p:sp>
      <p:sp>
        <p:nvSpPr>
          <p:cNvPr id="28" name="Shape 24"/>
          <p:cNvSpPr/>
          <p:nvPr/>
        </p:nvSpPr>
        <p:spPr>
          <a:xfrm>
            <a:off x="5166360" y="4306824"/>
            <a:ext cx="6476695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sx="100000" sy="100000" kx="0" ky="0" algn="bl" rotWithShape="0" blurRad="63500" dist="19050" dir="7200000">
              <a:srgbClr val="000000">
                <a:alpha val="12000"/>
              </a:srgbClr>
            </a:outerShdw>
          </a:effectLst>
        </p:spPr>
      </p:sp>
      <p:pic>
        <p:nvPicPr>
          <p:cNvPr id="2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960" y="4581144"/>
            <a:ext cx="411480" cy="411480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5943600" y="4416552"/>
            <a:ext cx="551657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Crew &amp; roster disruption</a:t>
            </a:r>
            <a:endParaRPr lang="en-US" sz="1350" dirty="0"/>
          </a:p>
        </p:txBody>
      </p:sp>
      <p:sp>
        <p:nvSpPr>
          <p:cNvPr id="31" name="Text 26"/>
          <p:cNvSpPr/>
          <p:nvPr/>
        </p:nvSpPr>
        <p:spPr>
          <a:xfrm>
            <a:off x="5943600" y="4690872"/>
            <a:ext cx="551657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11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Constraint-heavy fixes calling legacy rostering APIs.</a:t>
            </a:r>
            <a:endParaRPr lang="en-US" sz="1100" dirty="0"/>
          </a:p>
        </p:txBody>
      </p:sp>
      <p:sp>
        <p:nvSpPr>
          <p:cNvPr id="32" name="Text 27"/>
          <p:cNvSpPr/>
          <p:nvPr/>
        </p:nvSpPr>
        <p:spPr>
          <a:xfrm>
            <a:off x="5943600" y="4965192"/>
            <a:ext cx="55165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7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AgentCore Gateway exposes APIs as tools</a:t>
            </a:r>
            <a:endParaRPr lang="en-US" sz="1000" dirty="0"/>
          </a:p>
        </p:txBody>
      </p:sp>
      <p:sp>
        <p:nvSpPr>
          <p:cNvPr id="33" name="Shape 28"/>
          <p:cNvSpPr/>
          <p:nvPr/>
        </p:nvSpPr>
        <p:spPr>
          <a:xfrm>
            <a:off x="5166360" y="5385816"/>
            <a:ext cx="6476695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sx="100000" sy="100000" kx="0" ky="0" algn="bl" rotWithShape="0" blurRad="63500" dist="19050" dir="7200000">
              <a:srgbClr val="000000">
                <a:alpha val="12000"/>
              </a:srgbClr>
            </a:outerShdw>
          </a:effectLst>
        </p:spPr>
      </p:sp>
      <p:pic>
        <p:nvPicPr>
          <p:cNvPr id="3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4960" y="5660136"/>
            <a:ext cx="411480" cy="411480"/>
          </a:xfrm>
          <a:prstGeom prst="rect">
            <a:avLst/>
          </a:prstGeom>
        </p:spPr>
      </p:pic>
      <p:sp>
        <p:nvSpPr>
          <p:cNvPr id="35" name="Text 29"/>
          <p:cNvSpPr/>
          <p:nvPr/>
        </p:nvSpPr>
        <p:spPr>
          <a:xfrm>
            <a:off x="5943600" y="5495544"/>
            <a:ext cx="551657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Passenger servicing (PDPA)</a:t>
            </a:r>
            <a:endParaRPr lang="en-US" sz="1350" dirty="0"/>
          </a:p>
        </p:txBody>
      </p:sp>
      <p:sp>
        <p:nvSpPr>
          <p:cNvPr id="36" name="Text 30"/>
          <p:cNvSpPr/>
          <p:nvPr/>
        </p:nvSpPr>
        <p:spPr>
          <a:xfrm>
            <a:off x="5943600" y="5769864"/>
            <a:ext cx="551657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11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PNR servicing and fare rules with PII redaction and secure access.</a:t>
            </a:r>
            <a:endParaRPr lang="en-US" sz="1100" dirty="0"/>
          </a:p>
        </p:txBody>
      </p:sp>
      <p:sp>
        <p:nvSpPr>
          <p:cNvPr id="37" name="Text 31"/>
          <p:cNvSpPr/>
          <p:nvPr/>
        </p:nvSpPr>
        <p:spPr>
          <a:xfrm>
            <a:off x="5943600" y="6044184"/>
            <a:ext cx="55165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7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 Builder + Guardrails + AgentCore Identity</a:t>
            </a:r>
            <a:endParaRPr lang="en-US" sz="1000" dirty="0"/>
          </a:p>
        </p:txBody>
      </p:sp>
      <p:sp>
        <p:nvSpPr>
          <p:cNvPr id="38" name="Text 32"/>
          <p:cNvSpPr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Practitioner Bootcamp  ·  Day 3  ·  Amazon Bedrock</a:t>
            </a:r>
            <a:endParaRPr lang="en-US" sz="900" dirty="0"/>
          </a:p>
        </p:txBody>
      </p:sp>
      <p:sp>
        <p:nvSpPr>
          <p:cNvPr id="39" name="Text 33"/>
          <p:cNvSpPr/>
          <p:nvPr/>
        </p:nvSpPr>
        <p:spPr>
          <a:xfrm>
            <a:off x="11185855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C19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868680"/>
            <a:ext cx="201168" cy="201168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868680"/>
            <a:ext cx="201168" cy="20116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4" name="Shape 2"/>
          <p:cNvSpPr/>
          <p:nvPr/>
        </p:nvSpPr>
        <p:spPr>
          <a:xfrm>
            <a:off x="1097280" y="868680"/>
            <a:ext cx="201168" cy="201168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3258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 TAKEAWAYS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7373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things to remember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457200" cy="457200"/>
          </a:xfrm>
          <a:prstGeom prst="ellipse">
            <a:avLst/>
          </a:prstGeom>
          <a:solidFill>
            <a:srgbClr val="B45309"/>
          </a:solidFill>
          <a:ln/>
          <a:effectLst>
            <a:outerShdw sx="100000" sy="100000" kx="0" ky="0" algn="bl" rotWithShape="0" blurRad="63500" dist="19050" dir="72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2743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34440" y="2697480"/>
            <a:ext cx="10408615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model thinks; the orchestrator loops.   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confuse the brain with the nervous system that drives it.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456432"/>
            <a:ext cx="457200" cy="457200"/>
          </a:xfrm>
          <a:prstGeom prst="ellipse">
            <a:avLst/>
          </a:prstGeom>
          <a:solidFill>
            <a:srgbClr val="B45309"/>
          </a:solidFill>
          <a:ln/>
          <a:effectLst>
            <a:outerShdw sx="100000" sy="100000" kx="0" ky="0" algn="bl" rotWithShape="0" blurRad="63500" dist="19050" dir="72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48640" y="34564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34440" y="3410712"/>
            <a:ext cx="10408615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goal needs a terminal action.   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one, the agent literally cannot finish — it loops to the cap.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4169664"/>
            <a:ext cx="457200" cy="457200"/>
          </a:xfrm>
          <a:prstGeom prst="ellipse">
            <a:avLst/>
          </a:prstGeom>
          <a:solidFill>
            <a:srgbClr val="B45309"/>
          </a:solidFill>
          <a:ln/>
          <a:effectLst>
            <a:outerShdw sx="100000" sy="100000" kx="0" ky="0" algn="bl" rotWithShape="0" blurRad="63500" dist="19050" dir="72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48640" y="41696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34440" y="4123944"/>
            <a:ext cx="10408615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orchestrator is a faithful dispatcher.   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won't rescue you from a bad design. No dedup, no judgement of its own.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48640" y="4882896"/>
            <a:ext cx="457200" cy="457200"/>
          </a:xfrm>
          <a:prstGeom prst="ellipse">
            <a:avLst/>
          </a:prstGeom>
          <a:solidFill>
            <a:srgbClr val="B45309"/>
          </a:solidFill>
          <a:ln/>
          <a:effectLst>
            <a:outerShdw sx="100000" sy="100000" kx="0" ky="0" algn="bl" rotWithShape="0" blurRad="63500" dist="19050" dir="72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48640" y="48828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34440" y="4837176"/>
            <a:ext cx="10408615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Speed, control, scale.   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Builder for speed, Strands for control, AgentCore for scale. They compose.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48640" y="5596128"/>
            <a:ext cx="457200" cy="457200"/>
          </a:xfrm>
          <a:prstGeom prst="ellipse">
            <a:avLst/>
          </a:prstGeom>
          <a:solidFill>
            <a:srgbClr val="B45309"/>
          </a:solidFill>
          <a:ln/>
          <a:effectLst>
            <a:outerShdw sx="100000" sy="100000" kx="0" ky="0" algn="bl" rotWithShape="0" blurRad="63500" dist="19050" dir="72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55961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234440" y="5550408"/>
            <a:ext cx="10408615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 the trace.   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authored only rawResponse. Everything else is plumbing or your code.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871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Agentic AI Practitioner Bootcamp · Day 3 · Amazon Bedrock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How Agents Run on Amazon Bedrock</dc:title>
  <dc:subject>PptxGenJS Presentation</dc:subject>
  <dc:creator>Akash Das</dc:creator>
  <cp:lastModifiedBy>Akash Das</cp:lastModifiedBy>
  <cp:revision>1</cp:revision>
  <dcterms:created xsi:type="dcterms:W3CDTF">2026-06-02T07:13:40Z</dcterms:created>
  <dcterms:modified xsi:type="dcterms:W3CDTF">2026-06-02T07:13:40Z</dcterms:modified>
</cp:coreProperties>
</file>